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4: Coding dengan AI — Proyek: Halaman Interaktif
Terdiri dari 3 pertemuan (Pertemuan 10–12 Kelas IX),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PEMAKAIAN AI MULAI MODUL INI: santri bergiliran memakai akun AI milik pondok di bawah PENGAWASAN LANGSUNG guru. Pastikan layanan AI yang dipilih mengizinkan pengguna seusia santri dengan pendampingan. Letakkan komputer ber-AI di dekat meja guru; satu santri per kelompok bergiliran mengetik. Guru dapat memeriksa riwayat obrolan.
- Aturan wajib: tanpa data pribadi, tanpa kata sandi; santri harus mampu menjelaskan setiap baris kode yang dipakai.
- Proyek melanjutkan Proposal Solusi Digital kelompok (Modul 2). Halaman yang dibuat adalah versi pertama prototype.
- Guru tidak perlu menguasai JavaScript. Kode contoh tersedia di slide; jika ada error, ikuti pola: bandingkan dengan slide → tanya teman → tanya AI (dengan prompt debugging dari Prompt Library).
CATATAN
Pola coding dengan AI: Pahami → Buat → Uji → Error → Tanya AI → Pahami Perbaikan → Uji Kembali.
Komentar HTML ditulis &lt;!-- ... --&gt;, komentar JavaScript ditulis // ... . Komentar tidak tampil di layar, hanya sebagai catatan.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ke-10, dengan judul "AI sebagai Pasangan Coding". Mulai hari ini kita membangun aplikasi dari proposal, dengan AI sebagai pasangan coding.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Alhamdulillah, kalian sudah punya proposal solusi dan Prompt Library. Mulai hari ini kita membangun aplikasinya.
Kabar baik: mulai modul ini, kalian bergiliran memakai AI secara langsung dengan akun pondok, di bawah pengawasan guru. Ini amanah besar, jadi aturannya harus dijaga.
Sekarang pertanyaan hari ini. Coba pikirkan sejenak:
"Jika AI bisa menulis kode, apakah programmer masih perlu belajar?"
(Beri waktu 1 menit. Minta 2–3 santri menjawab. Hargai semua jawaban.)
Tetap perlu, bahkan sangat perlu. AI bisa salah, bisa membuat kode yang tidak sesuai, dan tidak tahu kebutuhan pesantren kita. Programmer yang memahami kodenya bisa mengarahkan AI, menguji hasilnya, dan memperbaikinya. Yang tidak memahami hanya bisa menyalin dan bingung saat ada error. Hari ini kita belajar menjadi yang pertama.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pola coding dengan AI yang kita pakai di Kelas IX, sesuai pedoman.
PAHAMI DAN MINTA: pahami dulu kebutuhan dari proposal, lalu minta AI dengan prompt lima komponen.
BUAT DAN UJI: ketik atau tempel kode, simpan, lalu buka di browser.
ERROR, TANYA, PERBAIKI: jika ada error, tanyakan penyebabnya kepada AI, pahami penjelasannya, perbaiki, dan uji lagi.
Ingat prinsip kita, tertulis di bawah: santri tidak dituntut menghafal kode, tetapi WAJIB memahami dan mampu menjelaskan setiap kode yang dipakai.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Mulai modul ini kalian memakai AI secara langsung. Ini aturannya.
Yang WAJIB:
Bergiliran di komputer ber-AI yang berada di dekat guru, dan selalu diawasi.
Prompt diambil dari Prompt Library, atau ditulis dulu di Google Docs, agar terencana.
Menjelaskan setiap baris kode sebelum dipakai.
Yang DILARANG:
Memasukkan data pribadi atau kata sandi.
Meminta AI membuat seluruh proyek sekaligus.
Bertanya hal di luar pelajaran atau yang tidak pantas.
Guru dapat memeriksa riwayat percakapan. Pelanggaran membuat giliran memakai AI dicabut. Jagalah amanah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Saat meminta kerangka kode dari AI, perhatikan empat hal.
STRUKTUR: kode harus memiliki struktur lengkap yang sudah kalian kenal dari Kelas VIII: DOCTYPE, head dengan meta charset, viewport, dan title, lalu body.
KOMENTAR: minta AI menambahkan komentar, yaitu catatan dengan tanda kurang dari, seru, dua strip. Komentar tidak tampil di layar, tetapi menjelaskan fungsi setiap bagian.
ISI DARI SKETSA: isinya sesuai prototype kertas dari Modul 2: judul, target, dan tombol.
KECIL DULU: mulai dari kerangka sederhana, lalu tambah fitur satu per satu. Jangan meminta semua fitur sekaligus.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(Atur giliran: setiap kelompok mendapat waktu sekitar 5 menit di komputer ber-AI dekat guru. Sambil menunggu, kelompok menyiapkan prompt di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Prompt Library, ambil prompt template kategori Belajar Coding atau Merancang Proyek. Isi dengan kebutuhan proyek dari proposal dan sketsa.
Contoh di layar: kamu mentor web untuk pemula, saya santri kelas 9. Buat kerangka HTML halaman Setoran Hari Ini: judul, target setoran, dan tombol Sudah Setor. Belum perlu CSS dan JavaScript. Maksimal 20 baris. Beri komentar di setiap bagian.
Perhatikan batasan "belum perlu CSS dan JavaScript": kita membangun sedikit demi sedikit.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Petugas kelompok pergi ke komputer ber-AI di dekat guru, menempel prompt ke kotak pertanyaan, tanda a. Periksa sekali lagi daftar keamanan: tidak ada data pribadi atau kata sandi. Lalu klik kirim, tanda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AI memberi kerangka HTML lengkap dengan komentar dan penjelasan. Bacakan penjelasannya bersama anggota kelompok.
Salin kode itu. Lalu kembali ke meja kelompok, agar kelompok lain mendapat giliran.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Di komputer kelompok, buat folder Proyek, garis bawah, Kel, dan nomor kelompok, di Portofolio, Proyek, Kelas9.
Buka Notepad, tempel kode dari AI, lalu simpan sebagai index.html. Ingat: Save as type All files, Encoding UTF-8, seperti di Kelas VIII.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Klik dua kali index.html. Halaman terbuka di browser: judul, target, dan tombol. Masih polos, karena belum ada CSS.
Bandingkan dengan sketsa kertas. Apakah semua bagian dari sketsa sudah 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Inilah bagian terpenting. Bagi baris-baris kode kepada setiap anggota. Masing-masing menjelaskan tiga sampai empat baris kepada kelompoknya: apa fungsinya?
Baris yang belum dipahami, misalnya meta viewport, ditandai untuk ditanyakan. Ingat, kalian sudah mempelajari sebagian besar tag ini di Kelas VIII.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Pada giliran berikutnya di komputer ber-AI, tanyakan baris yang belum dipahami. Contoh: jelaskan baris meta viewport dengan bahasa sederhana dan satu perumpamaan.
Catat penjelasannya, lalu tulis ulang dengan kata-kata sendiri sebagai komentar di kode.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Kelompok mengumpulkan: prompt kerangka, file index.html yang terbuka di browser, komentar penjelasan dengan kata-kata sendiri, dan daftar baris yang ditanyakan ke AI beserta jawabannya.
(Uji pemahaman: tunjuk satu baris secara acak, minta santri menjelaskan.)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prompt memakai 5 komponen?
- kerangka HTML tersimpan dan terbuka?
- setiap baris diberi komentar penjelasan?
- santri bisa menjelaskan kodenya?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mengapa kita harus memahami kode dari AI?
Pertanyaan kedua: baris mana yang paling sulit kamu pahami?
(Minta 2–3 santri menjawab secara bergantian.)
Pesan adab kita hari ini: AI adalah alat, tetapi ilmu tetap harus masuk ke dalam diri kita. Jangan puas hanya menyalin. Ilmu yang dipahami akan menetap, sedangkan yang hanya disalin akan hilang.
Pekan depan: membangun tampilan dari sketsa dengan CSS.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ke-11, dengan judul "Dari Sketsa ke Tampilan". Kita memberi tampilan pada kerangka aplikasi, lalu memodifikasinya sendiri.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membuat kerangka HTML dengan bantuan AI. Siapa yang ingat, tanda apa untuk menulis komentar di HTML?
(Tunggu jawaban: kurang dari, seru, dua strip, dan ditutup dua strip, lebih dari.)
Sekarang pertanyaan hari ini. Coba pikirkan sejenak:
"Kode dari AI sudah berfungsi. Bagaimana membuatnya sesuai selera dan identitas kita?"
(Beri waktu 1 menit. Minta 2–3 santri menjawab. Hargai semua jawaban.)
Dengan MEMODIFIKASI sendiri. AI memberi titik awal, lalu kita ubah sesuai sketsa, warna pondok, dan kebutuhan pengguna. Kemampuan memodifikasi membuktikan bahwa kita memahami kodenya.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tidak bisa melihat sketsa kertas kalian. Karena itu sketsa harus DIJELASKAN dengan kata-kata.
WARNA DAN IDENTITAS: sebutkan kode warna pondok: hijau tua pagar 0F4C3A dan emas pagar D4A017.
TATA LETAK: header di atas, satu kartu di tengah, tombol di bawah kartu.
PERANGKAT: rapi di HP, lebar kartu maksimal 400 piksel.
BATASAN: CSS ditulis di dalam tag style, memakai class, dan diberi komentar.
Semakin jelas deskripsinya, semakin dekat hasilnya dengan sketsa.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Memodifikasi kode ada caranya.
Yang BAIK: ubah satu hal, simpan, lalu lihat hasilnya. Dengan begitu kita tahu aturan mana yang mengubah apa. Catat perubahan di komentar.
KEBIASAAN BURUK: mengubah banyak sekaligus, lalu bingung mana yang menyebabkan perubahan atau kerusakan. Menghapus baris yang tidak dipahami, padahal mungkin penting. Dan meminta AI mengubah setiap hal kecil, padahal kalian sudah bisa sendiri sejak Kelas VIII, misalnya mengganti warna atau ukuran huruf.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Siapkan sketsa kertas dari Modul 2 dan file index.html kelompok.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Tulis prompt di Docs. Tempel kode HTML kalian, lalu jelaskan sketsa dengan kata-kata: header hijau tua dengan huruf putih, satu kartu putih di tengah dengan lebar maksimal 400 piksel dan sudut bulat, tombol emas, rapi di HP, pakai class, dan beri komentar.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Petugas kelompok mengirim prompt di komputer ber-AI. AI memberi kode lengkap dengan CSS dan komentar. Baca penjelasannya, lalu salin kode.
Perhatikan, komentar di CSS ditulis dengan garis miring bintang, dan ditutup bintang garis miring. Berbeda dengan komentar 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Ganti isi index.html dengan kode baru, simpan, lalu muat ulang browser. Halaman kini memiliki header hijau, kartu putih, dan tombol emas.
Bandingkan dengan sketsa kertas. Apa yang sudah sesuai? Apa yang belum?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Sekarang modifikasi SENDIRI, tanpa AI. Lakukan minimal tiga perubahan, misalnya ukuran huruf judul, warna latar kartu, atau sudut tombol.
Satu perubahan, simpan, lihat. Catat setiap perubahan dengan komentar, seperti contoh: diubah sendiri, dari 8px. Ini bukti bahwa kalian memahami CSS-nya.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Buka kembali catatan hasil uji sketsa di proposal. Terapkan satu masukan pengguna, misalnya: tombolnya kurang besar di HP. Perbaikannya: perbesar padding tombol dan buat lebarnya penuh.
Inilah bedanya pembuat aplikasi yang baik: mendengarkan pengguna.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Uji tampilan HP seperti di Kelas VIII: tekan F12, lalu klik ikon perangkat atau tekan Ctrl, Shift, M. Pilih ukuran HP.
Periksa: apakah kartu pas di layar? Apakah tombol mudah diketuk? Jika belum, perbaiki CSS-nya.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Kelompok mengumpulkan: prompt CSS, index.html dengan tampilan sesuai sketsa, minimal tiga modifikasi sendiri yang ditandai komentar, dan bukti uji tampilan HP.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tampilan sesuai sketsa?
- minimal 3 modifikasi CSS sendiri?
- rapi di tampilan HP?
- bisa menjelaskan aturan CSS?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modifikasi apa yang kamu lakukan sendiri?
Pertanyaan kedua: apa beda kode yang dipahami dan yang hanya disalin?
(Minta 2–3 santri menjawab secara bergantian.)
Pesan adab kita hari ini: tampilkan karya dengan indah dan sederhana, sesuai identitas pesantren. Allah itu indah dan mencintai keindahan, tetapi keindahan yang tidak berlebihan.
Pekan depan: JavaScript pertama: membuat tombol bekerja.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ke-12, dengan judul "Halaman Interaktif". Hari ini tombol di aplikasi kalian mulai bekerja: kita menulis JavaScript pertama.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memberi tampilan dengan CSS. Siapa yang ingat perumpamaan HTML, CSS, dan JavaScript dengan masjid?
(Tunggu jawaban: HTML tiang dan dinding, CSS cat dan hiasan, JavaScript listrik dan pengeras suara.)
Sekarang pertanyaan hari ini. Coba pikirkan sejenak:
"Tombol "Sudah Setor" sudah cantik, tetapi jika diklik tidak terjadi apa-apa. Apa yang kurang?"
(Beri waktu 1 menit. Minta 2–3 santri menjawab. Hargai semua jawaban.)
Yang kurang adalah JAVASCRIPT, listrik yang membuat tombol bekerja. Hari ini kita menulis JavaScript pertama: saat tombol diklik, teks di halaman berubah.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JavaScript pertama kita memakai tiga kunci. Perhatikan kode di layar.
Kunci pertama, berwarna merah: ID. Paragraf diberi id sama dengan "pesan". Id adalah nama unik elemen, seperti nomor induk santri, agar JavaScript bisa menemukannya.
Kunci kedua, berwarna biru: ONCLICK. Tombol diberi atribut onclick sama dengan sudahSetor. Artinya: saat tombol diklik, jalankan fungsi bernama sudahSetor.
Kunci ketiga, berwarna hijau: FUNCTION atau fungsi, ditulis di dalam tag script. Fungsi adalah kumpulan perintah yang diberi nama. Isinya: cari elemen dengan id pesan, lalu ganti teksnya menjadi Alhamdulillah.
Alurnya, tertulis di bawah: klik tombol, onclick memanggil fungsi, fungsi mencari id pesan, lalu teks diganti. Mirip flowchart, bukan?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Buka index.html proyek kelompok. Ingat pola kita: pahami, buat, uji, dan jika error, tanya, pahami, perbaiki.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Susun prompt: tempel kode kalian, lalu jelaskan perilaku yang diinginkan. Contoh: saat tombol Sudah Setor diklik, ubah teks di bawah target menjadi Alhamdulillah, setoran tercatat. Pakai function dan onclick. Jelaskan setiap baris JavaScript.
Kirim di komputer ber-AI pada giliran kelompok kalian.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Baca penjelasan AI bersama kelompok, lalu cocokkan dengan slide Tiga Kunci tadi. Temukan di kode: mana id, mana onclick, dan mana function.
Jika penjelasan AI berbeda dengan slide, tanyakan kepada guru.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Di index.html, beri id sama dengan "pesan" pada paragraf di bawah target, dan onclick pada tombol. Lalu tulis tag script berisi fungsi, tepat sebelum tag penutup body.
Ketik dengan teliti. JavaScript sangat peka terhadap huruf besar-kecil: getElementById harus persis, dengan E, B, dan I besar.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Simpan, muat ulang browser, lalu klik tombol Sudah Setor.
Masya Allah, teks berubah menjadi Alhamdulillah, setoran tercatat! Tombol buatan kalian sudah bekerja.
Jika tidak terjadi apa-apa, tekan F12 dan buka tab Console. Pesan error berwarna merah akan memberi petunjuk. Kita pelajari lebih dalam di Modul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Modifikasi sendiri, tanpa AI. Ubah isi pesan sesuai keinginan kelompok. Lalu tambahkan satu baris untuk mengubah warna teks: document getElementById pesan, titik style titik color sama dengan "green".
Simpan dan uji. Teks berubah sekaligus menjadi hijau. Tandai dengan komentar dua garis miring: diubah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Rapikan kode dan pastikan setiap bagian berkomentar. Lalu, seperti di Kelas VIII, buat repository proyek kelompok di GitHub, misalnya setoran-harian, unggah index.html, dan commit dengan pesan: Versi 1, tombol Sudah Setor bekerja.
Mulai sekarang, setiap kemajuan proyek disimpan dengan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Setiap kelompok mendemokan tombolnya di proyektor, lalu satu anggota menjelaskan id, onclick, dan function dengan kata-kata sendiri, tanpa membaca catatan.
(Uji pemahaman setiap kelompok.)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Halaman Interaktif versi satu dinyatakan selesai jika: tampilannya sesuai sketsa dan rapi di HP, ada minimal satu tombol yang menjalankan fungsi, minimal tiga modifikasi sendiri, serta tersimpan di GitHub dan santri mampu menjelaskan kodenya.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tombol menjalankan fungsi?
- teks berubah saat tombol diklik?
- bisa menjelaskan id, function, onclick?
- proyek tersimpan rapi?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rasanya melihat tombol buatanmu bekerja?
Pertanyaan kedua: bagian JavaScript mana yang perlu kamu pelajari lagi?
(Minta 2–3 santri menjawab secara bergantian.)
Pesan adab kita hari ini: bersyukurlah atas setiap kemajuan kecil. Ilmu dibangun sedikit demi sedikit, seperti hafalan Al-Qur'an: ayat demi ayat, hingga suatu hari menjadi juz-juz yang utuh.
Pekan depan: kita masuk Modul 5: Debugging. Alhamdulillah, Modul 4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slideLayout" Target="../slideLayouts/slideLayout1.xml"/><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slideLayout" Target="../slideLayouts/slideLayout1.xml"/><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29-10.png"/><Relationship Id="rId11" Type="http://schemas.openxmlformats.org/officeDocument/2006/relationships/slideLayout" Target="../slideLayouts/slideLayout1.xml"/><Relationship Id="rId1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1.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slideLayout" Target="../slideLayouts/slideLayout1.xml"/><Relationship Id="rId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slideLayout" Target="../slideLayouts/slideLayout1.xml"/><Relationship Id="rId10"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slideLayout" Target="../slideLayouts/slideLayout1.xml"/><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slideLayout" Target="../slideLayouts/slideLayout1.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slideLayout" Target="../slideLayouts/slideLayout1.xml"/><Relationship Id="rId9"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slideLayout" Target="../slideLayouts/slideLayout1.xml"/><Relationship Id="rId7"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3 WUSTHA  ·  SEMESTER 1  ·  MODUL 4</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Coding dengan AI</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Halaman Interaktif</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membangun tampilan aplikasi dari proposal dengan HTML, CSS, dan JavaScript, menjadikan AI sebagai pasangan coding yang menjelaskan kode, sementara santri memahami, menguji, dan memodifikasi setiap baris.</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10</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AI sebagai Pasangan Coding</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11</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Dari Sketsa ke Tampilan</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12</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Halaman Interaktif</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Notepad, browser Chrome/Edge, layanan AI (akun pondok, dipakai bergiliran dengan pengawasan guru), Prompt Library Kelas 9, proposal dari Modul 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10</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AI sebagai Pasangan Coding</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Meminta kerangka kode dan memahaminya</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4: Coding dengan AI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Jika AI bisa menulis kode, apakah programmer masih perlu belajar?</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10</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pola coding dengan AI dan aturan pemakaiannya</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Meminta AI membuat kerangka HTML sesuai proposal</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setiap baris kode dari AI dengan kata-kata sendiri</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Pola Coding dengan 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2438400" cy="2240280"/>
          </a:xfrm>
          <a:prstGeom prst="roundRect">
            <a:avLst>
              <a:gd name="adj" fmla="val 4898"/>
            </a:avLst>
          </a:prstGeom>
          <a:solidFill>
            <a:srgbClr val="E6F2EC"/>
          </a:solidFill>
          <a:ln w="12700">
            <a:solidFill>
              <a:srgbClr val="E6F2EC"/>
            </a:solidFill>
            <a:prstDash val="solid"/>
          </a:ln>
        </p:spPr>
      </p:sp>
      <p:sp>
        <p:nvSpPr>
          <p:cNvPr id="10" name="Shape 6"/>
          <p:cNvSpPr/>
          <p:nvPr/>
        </p:nvSpPr>
        <p:spPr>
          <a:xfrm>
            <a:off x="1310640" y="1371600"/>
            <a:ext cx="731520" cy="73152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1493520" y="1554480"/>
            <a:ext cx="365760" cy="365760"/>
          </a:xfrm>
          <a:prstGeom prst="rect">
            <a:avLst/>
          </a:prstGeom>
        </p:spPr>
      </p:pic>
      <p:sp>
        <p:nvSpPr>
          <p:cNvPr id="12" name="Text 7"/>
          <p:cNvSpPr txBox="1"/>
          <p:nvPr/>
        </p:nvSpPr>
        <p:spPr>
          <a:xfrm>
            <a:off x="5486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Pahami &amp; Minta</a:t>
            </a:r>
            <a:endParaRPr lang="en-US" sz="1700" dirty="0"/>
          </a:p>
        </p:txBody>
      </p:sp>
      <p:sp>
        <p:nvSpPr>
          <p:cNvPr id="13" name="Text 8"/>
          <p:cNvSpPr txBox="1"/>
          <p:nvPr/>
        </p:nvSpPr>
        <p:spPr>
          <a:xfrm>
            <a:off x="6400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Pahami kebutuhan, minta AI dengan prompt 5 komponen</a:t>
            </a:r>
            <a:endParaRPr lang="en-US" sz="1300" dirty="0"/>
          </a:p>
        </p:txBody>
      </p:sp>
      <p:sp>
        <p:nvSpPr>
          <p:cNvPr id="14" name="Text 9"/>
          <p:cNvSpPr txBox="1"/>
          <p:nvPr/>
        </p:nvSpPr>
        <p:spPr>
          <a:xfrm>
            <a:off x="28956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15" name="Shape 10"/>
          <p:cNvSpPr/>
          <p:nvPr/>
        </p:nvSpPr>
        <p:spPr>
          <a:xfrm>
            <a:off x="3352800" y="1188720"/>
            <a:ext cx="2438400" cy="2240280"/>
          </a:xfrm>
          <a:prstGeom prst="roundRect">
            <a:avLst>
              <a:gd name="adj" fmla="val 4898"/>
            </a:avLst>
          </a:prstGeom>
          <a:solidFill>
            <a:srgbClr val="0F4C3A"/>
          </a:solidFill>
          <a:ln w="12700">
            <a:solidFill>
              <a:srgbClr val="0F4C3A"/>
            </a:solidFill>
            <a:prstDash val="solid"/>
          </a:ln>
        </p:spPr>
      </p:sp>
      <p:sp>
        <p:nvSpPr>
          <p:cNvPr id="16" name="Shape 11"/>
          <p:cNvSpPr/>
          <p:nvPr/>
        </p:nvSpPr>
        <p:spPr>
          <a:xfrm>
            <a:off x="4206240" y="1371600"/>
            <a:ext cx="731520" cy="731520"/>
          </a:xfrm>
          <a:prstGeom prst="ellipse">
            <a:avLst/>
          </a:prstGeom>
          <a:solidFill>
            <a:srgbClr val="D4A017"/>
          </a:solidFill>
          <a:ln/>
        </p:spPr>
      </p:sp>
      <p:pic>
        <p:nvPicPr>
          <p:cNvPr id="17" name="Image 3" descr="preencoded.png">    </p:cNvPr>
          <p:cNvPicPr>
            <a:picLocks noChangeAspect="1"/>
          </p:cNvPicPr>
          <p:nvPr/>
        </p:nvPicPr>
        <p:blipFill>
          <a:blip r:embed="rId4"/>
          <a:stretch>
            <a:fillRect/>
          </a:stretch>
        </p:blipFill>
        <p:spPr>
          <a:xfrm>
            <a:off x="4389120" y="1554480"/>
            <a:ext cx="365760" cy="365760"/>
          </a:xfrm>
          <a:prstGeom prst="rect">
            <a:avLst/>
          </a:prstGeom>
        </p:spPr>
      </p:pic>
      <p:sp>
        <p:nvSpPr>
          <p:cNvPr id="18" name="Text 12"/>
          <p:cNvSpPr txBox="1"/>
          <p:nvPr/>
        </p:nvSpPr>
        <p:spPr>
          <a:xfrm>
            <a:off x="3444240" y="2194560"/>
            <a:ext cx="2255520" cy="365760"/>
          </a:xfrm>
          <a:prstGeom prst="rect">
            <a:avLst/>
          </a:prstGeom>
          <a:noFill/>
          <a:ln/>
        </p:spPr>
        <p:txBody>
          <a:bodyPr wrap="square" lIns="0" tIns="0" rIns="0" bIns="0"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Buat &amp; Uji</a:t>
            </a:r>
            <a:endParaRPr lang="en-US" sz="1700" dirty="0"/>
          </a:p>
        </p:txBody>
      </p:sp>
      <p:sp>
        <p:nvSpPr>
          <p:cNvPr id="19" name="Text 13"/>
          <p:cNvSpPr txBox="1"/>
          <p:nvPr/>
        </p:nvSpPr>
        <p:spPr>
          <a:xfrm>
            <a:off x="3535680" y="2606040"/>
            <a:ext cx="207264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Ketik/tempel kode, simpan, buka di browser</a:t>
            </a:r>
            <a:endParaRPr lang="en-US" sz="1300" dirty="0"/>
          </a:p>
        </p:txBody>
      </p:sp>
      <p:sp>
        <p:nvSpPr>
          <p:cNvPr id="20" name="Text 14"/>
          <p:cNvSpPr txBox="1"/>
          <p:nvPr/>
        </p:nvSpPr>
        <p:spPr>
          <a:xfrm>
            <a:off x="57912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21" name="Shape 15"/>
          <p:cNvSpPr/>
          <p:nvPr/>
        </p:nvSpPr>
        <p:spPr>
          <a:xfrm>
            <a:off x="6248400" y="1188720"/>
            <a:ext cx="2438400" cy="2240280"/>
          </a:xfrm>
          <a:prstGeom prst="roundRect">
            <a:avLst>
              <a:gd name="adj" fmla="val 4898"/>
            </a:avLst>
          </a:prstGeom>
          <a:solidFill>
            <a:srgbClr val="E6F2EC"/>
          </a:solidFill>
          <a:ln w="12700">
            <a:solidFill>
              <a:srgbClr val="E6F2EC"/>
            </a:solidFill>
            <a:prstDash val="solid"/>
          </a:ln>
        </p:spPr>
      </p:sp>
      <p:sp>
        <p:nvSpPr>
          <p:cNvPr id="22" name="Shape 16"/>
          <p:cNvSpPr/>
          <p:nvPr/>
        </p:nvSpPr>
        <p:spPr>
          <a:xfrm>
            <a:off x="7101840" y="1371600"/>
            <a:ext cx="731520" cy="731520"/>
          </a:xfrm>
          <a:prstGeom prst="ellipse">
            <a:avLst/>
          </a:prstGeom>
          <a:solidFill>
            <a:srgbClr val="0F4C3A"/>
          </a:solidFill>
          <a:ln/>
        </p:spPr>
      </p:sp>
      <p:pic>
        <p:nvPicPr>
          <p:cNvPr id="23" name="Image 4" descr="preencoded.png">    </p:cNvPr>
          <p:cNvPicPr>
            <a:picLocks noChangeAspect="1"/>
          </p:cNvPicPr>
          <p:nvPr/>
        </p:nvPicPr>
        <p:blipFill>
          <a:blip r:embed="rId5"/>
          <a:stretch>
            <a:fillRect/>
          </a:stretch>
        </p:blipFill>
        <p:spPr>
          <a:xfrm>
            <a:off x="7284720" y="1554480"/>
            <a:ext cx="365760" cy="365760"/>
          </a:xfrm>
          <a:prstGeom prst="rect">
            <a:avLst/>
          </a:prstGeom>
        </p:spPr>
      </p:pic>
      <p:sp>
        <p:nvSpPr>
          <p:cNvPr id="24" name="Text 17"/>
          <p:cNvSpPr txBox="1"/>
          <p:nvPr/>
        </p:nvSpPr>
        <p:spPr>
          <a:xfrm>
            <a:off x="63398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Error → Tanya → Perbaiki</a:t>
            </a:r>
            <a:endParaRPr lang="en-US" sz="1700" dirty="0"/>
          </a:p>
        </p:txBody>
      </p:sp>
      <p:sp>
        <p:nvSpPr>
          <p:cNvPr id="25" name="Text 18"/>
          <p:cNvSpPr txBox="1"/>
          <p:nvPr/>
        </p:nvSpPr>
        <p:spPr>
          <a:xfrm>
            <a:off x="64312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Tanya AI penyebabnya, pahami, perbaiki, uji lagi</a:t>
            </a:r>
            <a:endParaRPr lang="en-US" sz="1300" dirty="0"/>
          </a:p>
        </p:txBody>
      </p:sp>
      <p:sp>
        <p:nvSpPr>
          <p:cNvPr id="26" name="Shape 19"/>
          <p:cNvSpPr/>
          <p:nvPr/>
        </p:nvSpPr>
        <p:spPr>
          <a:xfrm>
            <a:off x="457200" y="3657600"/>
            <a:ext cx="8229600" cy="960120"/>
          </a:xfrm>
          <a:prstGeom prst="roundRect">
            <a:avLst>
              <a:gd name="adj" fmla="val 9524"/>
            </a:avLst>
          </a:prstGeom>
          <a:solidFill>
            <a:srgbClr val="FBF1D3"/>
          </a:solidFill>
          <a:ln w="12700">
            <a:solidFill>
              <a:srgbClr val="FBF1D3"/>
            </a:solidFill>
            <a:prstDash val="solid"/>
          </a:ln>
        </p:spPr>
      </p:sp>
      <p:sp>
        <p:nvSpPr>
          <p:cNvPr id="27" name="Text 20"/>
          <p:cNvSpPr txBox="1"/>
          <p:nvPr/>
        </p:nvSpPr>
        <p:spPr>
          <a:xfrm>
            <a:off x="685800" y="3703320"/>
            <a:ext cx="7772400" cy="86868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Contoh:  </a:t>
            </a:r>
            <a:pPr indent="0" marL="0">
              <a:buNone/>
            </a:pPr>
            <a:r>
              <a:rPr lang="en-US" sz="1400" dirty="0">
                <a:solidFill>
                  <a:srgbClr val="1E2A26"/>
                </a:solidFill>
                <a:latin typeface="Calibri" pitchFamily="34" charset="0"/>
                <a:ea typeface="Calibri" pitchFamily="34" charset="-122"/>
                <a:cs typeface="Calibri" pitchFamily="34" charset="-120"/>
              </a:rPr>
              <a:t>Santri tidak dituntut menghafal kode, tetapi WAJIB memahami dan mampu menjelaskan kode yang dipakai.</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Aturan Memakai AI Langsung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Wajib</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Bergiliran di komputer ber-AI, diawasi guru</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Prompt dari Library atau ditulis di Docs dulu</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Menjelaskan setiap baris kode sebelum dipakai</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Dilarang</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Memasukkan data pribadi atau kata sandi</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Meminta AI membuat seluruh proyek sekaligus</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Bertanya hal di luar pelajaran atau tidak pantas</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Kerangka Kode: Bagian demi Bagian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Struktur</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DOCTYPE, head (meta charset, viewport, title), body.</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Komentar &lt;!-- --&gt;</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Catatan untuk manusia, tidak tampil di layar.</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Isi dari Sketsa</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Judul, target setoran, tombol: sesuai prototype kertas.</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Kecil Dulu</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Mulai dari kerangka sederhana, tambah fitur satu per satu.</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Membuat Kerangka Proyek dengan AI</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 AI bergiliran, diawasi guru</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Menyusun prompt dan meminta kerangka</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Menyimpan dan menguji</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6–7</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Memahami setiap baris</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Prompt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Prompt_Proyek_Kel3 -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Prompt_Proyek_Kel3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Prompt Kerangka HTML</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Kamu mentor web untuk pemula. Saya santri kelas 9.</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Buat kerangka HTML halaman "Setoran Hari Ini": judul,</a:t>
            </a:r>
            <a:endParaRPr lang="en-US" sz="800" dirty="0"/>
          </a:p>
        </p:txBody>
      </p:sp>
      <p:sp>
        <p:nvSpPr>
          <p:cNvPr id="72" name="Text 61"/>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target setoran, dan tombol "Sudah Setor". Belum perlu</a:t>
            </a:r>
            <a:endParaRPr lang="en-US" sz="800" dirty="0"/>
          </a:p>
        </p:txBody>
      </p:sp>
      <p:sp>
        <p:nvSpPr>
          <p:cNvPr id="73" name="Text 62"/>
          <p:cNvSpPr txBox="1"/>
          <p:nvPr/>
        </p:nvSpPr>
        <p:spPr>
          <a:xfrm>
            <a:off x="1554480" y="345605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CSS dan JavaScript. Maksimal 20 baris. Beri komentar</a:t>
            </a:r>
            <a:endParaRPr lang="en-US" sz="800" dirty="0"/>
          </a:p>
        </p:txBody>
      </p:sp>
      <p:sp>
        <p:nvSpPr>
          <p:cNvPr id="74" name="Text 63"/>
          <p:cNvSpPr txBox="1"/>
          <p:nvPr/>
        </p:nvSpPr>
        <p:spPr>
          <a:xfrm>
            <a:off x="1554480" y="364909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di setiap bagian dan jelaskan secara singkat.</a:t>
            </a:r>
            <a:endParaRPr lang="en-US" sz="800" dirty="0"/>
          </a:p>
        </p:txBody>
      </p:sp>
      <p:sp>
        <p:nvSpPr>
          <p:cNvPr id="75" name="Shape 64"/>
          <p:cNvSpPr/>
          <p:nvPr/>
        </p:nvSpPr>
        <p:spPr>
          <a:xfrm>
            <a:off x="1527048" y="2849506"/>
            <a:ext cx="3072384" cy="974344"/>
          </a:xfrm>
          <a:prstGeom prst="roundRect">
            <a:avLst>
              <a:gd name="adj" fmla="val 4692"/>
            </a:avLst>
          </a:prstGeom>
          <a:solidFill>
            <a:srgbClr val="FFFFFF">
              <a:alpha val="0"/>
            </a:srgbClr>
          </a:solidFill>
          <a:ln w="31750">
            <a:solidFill>
              <a:srgbClr val="E53935"/>
            </a:solidFill>
            <a:prstDash val="solid"/>
          </a:ln>
        </p:spPr>
      </p:sp>
      <p:sp>
        <p:nvSpPr>
          <p:cNvPr id="76" name="Shape 65"/>
          <p:cNvSpPr/>
          <p:nvPr/>
        </p:nvSpPr>
        <p:spPr>
          <a:xfrm>
            <a:off x="4462272" y="2712346"/>
            <a:ext cx="274320" cy="274320"/>
          </a:xfrm>
          <a:prstGeom prst="ellipse">
            <a:avLst/>
          </a:prstGeom>
          <a:solidFill>
            <a:srgbClr val="E53935"/>
          </a:solidFill>
          <a:ln w="12700">
            <a:solidFill>
              <a:srgbClr val="FFFFFF"/>
            </a:solidFill>
            <a:prstDash val="solid"/>
          </a:ln>
        </p:spPr>
      </p:sp>
      <p:sp>
        <p:nvSpPr>
          <p:cNvPr id="77" name="Text 66"/>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78" name="Image 9" descr="preencoded.png">    </p:cNvPr>
          <p:cNvPicPr>
            <a:picLocks noChangeAspect="1"/>
          </p:cNvPicPr>
          <p:nvPr/>
        </p:nvPicPr>
        <p:blipFill>
          <a:blip r:embed="rId10"/>
          <a:stretch>
            <a:fillRect/>
          </a:stretch>
        </p:blipFill>
        <p:spPr>
          <a:xfrm>
            <a:off x="3214116" y="3382652"/>
            <a:ext cx="237744" cy="237744"/>
          </a:xfrm>
          <a:prstGeom prst="rect">
            <a:avLst/>
          </a:prstGeom>
        </p:spPr>
      </p:pic>
      <p:sp>
        <p:nvSpPr>
          <p:cNvPr id="79" name="Text 6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80" name="Text 6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Susun prompt kerangka dari proposal</a:t>
            </a:r>
            <a:endParaRPr lang="en-US" sz="1800" dirty="0"/>
          </a:p>
        </p:txBody>
      </p:sp>
      <p:sp>
        <p:nvSpPr>
          <p:cNvPr id="81" name="Text 6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Ambil prompt template dari Prompt Library. Isi dengan nama aplikasi, isi layar dari sketsa, dan batasan.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Prompt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2" name="Text 25"/>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111111"/>
                </a:solidFill>
                <a:latin typeface="Calibri" pitchFamily="34" charset="0"/>
                <a:ea typeface="Calibri" pitchFamily="34" charset="-122"/>
                <a:cs typeface="Calibri" pitchFamily="34" charset="-120"/>
              </a:rPr>
              <a:t>Kamu mentor web untuk pemula. Saya santri kelas 9. Buat kerangka HTML...</a:t>
            </a:r>
            <a:endParaRPr lang="en-US" sz="750" dirty="0"/>
          </a:p>
        </p:txBody>
      </p:sp>
      <p:sp>
        <p:nvSpPr>
          <p:cNvPr id="33" name="Shape 26"/>
          <p:cNvSpPr/>
          <p:nvPr/>
        </p:nvSpPr>
        <p:spPr>
          <a:xfrm>
            <a:off x="5127224" y="3620480"/>
            <a:ext cx="219456" cy="219456"/>
          </a:xfrm>
          <a:prstGeom prst="ellipse">
            <a:avLst/>
          </a:prstGeom>
          <a:solidFill>
            <a:srgbClr val="0B57D0"/>
          </a:solidFill>
          <a:ln/>
        </p:spPr>
      </p:sp>
      <p:pic>
        <p:nvPicPr>
          <p:cNvPr id="34" name="Image 5" descr="preencoded.png">    </p:cNvPr>
          <p:cNvPicPr>
            <a:picLocks noChangeAspect="1"/>
          </p:cNvPicPr>
          <p:nvPr/>
        </p:nvPicPr>
        <p:blipFill>
          <a:blip r:embed="rId6"/>
          <a:stretch>
            <a:fillRect/>
          </a:stretch>
        </p:blipFill>
        <p:spPr>
          <a:xfrm>
            <a:off x="5182088" y="3675344"/>
            <a:ext cx="109728" cy="109728"/>
          </a:xfrm>
          <a:prstGeom prst="rect">
            <a:avLst/>
          </a:prstGeom>
        </p:spPr>
      </p:pic>
      <p:sp>
        <p:nvSpPr>
          <p:cNvPr id="35" name="Text 27"/>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36" name="Shape 28"/>
          <p:cNvSpPr/>
          <p:nvPr/>
        </p:nvSpPr>
        <p:spPr>
          <a:xfrm>
            <a:off x="1566184" y="3556472"/>
            <a:ext cx="3862791" cy="347472"/>
          </a:xfrm>
          <a:prstGeom prst="roundRect">
            <a:avLst>
              <a:gd name="adj" fmla="val 13158"/>
            </a:avLst>
          </a:prstGeom>
          <a:solidFill>
            <a:srgbClr val="FFFFFF">
              <a:alpha val="0"/>
            </a:srgbClr>
          </a:solidFill>
          <a:ln w="31750">
            <a:solidFill>
              <a:srgbClr val="E53935"/>
            </a:solidFill>
            <a:prstDash val="solid"/>
          </a:ln>
        </p:spPr>
      </p:sp>
      <p:sp>
        <p:nvSpPr>
          <p:cNvPr id="37" name="Shape 29"/>
          <p:cNvSpPr/>
          <p:nvPr/>
        </p:nvSpPr>
        <p:spPr>
          <a:xfrm>
            <a:off x="5291816" y="3419312"/>
            <a:ext cx="274320" cy="274320"/>
          </a:xfrm>
          <a:prstGeom prst="ellipse">
            <a:avLst/>
          </a:prstGeom>
          <a:solidFill>
            <a:srgbClr val="E53935"/>
          </a:solidFill>
          <a:ln w="12700">
            <a:solidFill>
              <a:srgbClr val="FFFFFF"/>
            </a:solidFill>
            <a:prstDash val="solid"/>
          </a:ln>
        </p:spPr>
      </p:sp>
      <p:sp>
        <p:nvSpPr>
          <p:cNvPr id="38" name="Text 30"/>
          <p:cNvSpPr txBox="1"/>
          <p:nvPr/>
        </p:nvSpPr>
        <p:spPr>
          <a:xfrm>
            <a:off x="5291816" y="34193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39" name="Image 6" descr="preencoded.png">    </p:cNvPr>
          <p:cNvPicPr>
            <a:picLocks noChangeAspect="1"/>
          </p:cNvPicPr>
          <p:nvPr/>
        </p:nvPicPr>
        <p:blipFill>
          <a:blip r:embed="rId7"/>
          <a:stretch>
            <a:fillRect/>
          </a:stretch>
        </p:blipFill>
        <p:spPr>
          <a:xfrm>
            <a:off x="3687976" y="3744838"/>
            <a:ext cx="237744" cy="237744"/>
          </a:xfrm>
          <a:prstGeom prst="rect">
            <a:avLst/>
          </a:prstGeom>
        </p:spPr>
      </p:pic>
      <p:sp>
        <p:nvSpPr>
          <p:cNvPr id="40" name="Shape 31"/>
          <p:cNvSpPr/>
          <p:nvPr/>
        </p:nvSpPr>
        <p:spPr>
          <a:xfrm>
            <a:off x="5099792" y="3593048"/>
            <a:ext cx="274320" cy="274320"/>
          </a:xfrm>
          <a:prstGeom prst="roundRect">
            <a:avLst>
              <a:gd name="adj" fmla="val 16667"/>
            </a:avLst>
          </a:prstGeom>
          <a:solidFill>
            <a:srgbClr val="FFFFFF">
              <a:alpha val="0"/>
            </a:srgbClr>
          </a:solidFill>
          <a:ln w="31750">
            <a:solidFill>
              <a:srgbClr val="E53935"/>
            </a:solidFill>
            <a:prstDash val="solid"/>
          </a:ln>
        </p:spPr>
      </p:sp>
      <p:sp>
        <p:nvSpPr>
          <p:cNvPr id="41" name="Shape 32"/>
          <p:cNvSpPr/>
          <p:nvPr/>
        </p:nvSpPr>
        <p:spPr>
          <a:xfrm>
            <a:off x="5236952" y="3455888"/>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36952" y="34558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43" name="Image 7" descr="preencoded.png">    </p:cNvPr>
          <p:cNvPicPr>
            <a:picLocks noChangeAspect="1"/>
          </p:cNvPicPr>
          <p:nvPr/>
        </p:nvPicPr>
        <p:blipFill>
          <a:blip r:embed="rId8"/>
          <a:stretch>
            <a:fillRect/>
          </a:stretch>
        </p:blipFill>
        <p:spPr>
          <a:xfrm>
            <a:off x="5247924" y="3741181"/>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Kirim prompt di komputer ber-AI</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Petugas kelompok menempel prompt ke AI (akun pondok) di komputer dekat guru, lalu kirim.</a:t>
            </a:r>
            <a:endParaRPr lang="en-US" sz="1300" dirty="0"/>
          </a:p>
        </p:txBody>
      </p:sp>
      <p:sp>
        <p:nvSpPr>
          <p:cNvPr id="47" name="Shape 37"/>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48" name="Image 8" descr="preencoded.png">    </p:cNvPr>
          <p:cNvPicPr>
            <a:picLocks noChangeAspect="1"/>
          </p:cNvPicPr>
          <p:nvPr/>
        </p:nvPicPr>
        <p:blipFill>
          <a:blip r:embed="rId9"/>
          <a:stretch>
            <a:fillRect/>
          </a:stretch>
        </p:blipFill>
        <p:spPr>
          <a:xfrm>
            <a:off x="6108192" y="3721608"/>
            <a:ext cx="201168" cy="201168"/>
          </a:xfrm>
          <a:prstGeom prst="rect">
            <a:avLst/>
          </a:prstGeom>
        </p:spPr>
      </p:pic>
      <p:sp>
        <p:nvSpPr>
          <p:cNvPr id="49" name="Text 38"/>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Periksa daftar keamanan sebelum menekan kirim.</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Prompt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420624"/>
          </a:xfrm>
          <a:prstGeom prst="roundRect">
            <a:avLst>
              <a:gd name="adj" fmla="val 21739"/>
            </a:avLst>
          </a:prstGeom>
          <a:solidFill>
            <a:srgbClr val="E3E9F5"/>
          </a:solidFill>
          <a:ln w="12700">
            <a:solidFill>
              <a:srgbClr val="E3E9F5"/>
            </a:solidFill>
            <a:prstDash val="solid"/>
          </a:ln>
        </p:spPr>
      </p:sp>
      <p:sp>
        <p:nvSpPr>
          <p:cNvPr id="32" name="Text 25"/>
          <p:cNvSpPr txBox="1"/>
          <p:nvPr/>
        </p:nvSpPr>
        <p:spPr>
          <a:xfrm>
            <a:off x="2648468" y="1805693"/>
            <a:ext cx="2707356" cy="42062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Kamu mentor web untuk pemula. Saya santri kelas 9. Buat kerangka HTML halaman Setoran Hari Ini...</a:t>
            </a:r>
            <a:endParaRPr lang="en-US" sz="750" dirty="0"/>
          </a:p>
        </p:txBody>
      </p:sp>
      <p:pic>
        <p:nvPicPr>
          <p:cNvPr id="33" name="Image 5" descr="preencoded.png">    </p:cNvPr>
          <p:cNvPicPr>
            <a:picLocks noChangeAspect="1"/>
          </p:cNvPicPr>
          <p:nvPr/>
        </p:nvPicPr>
        <p:blipFill>
          <a:blip r:embed="rId6"/>
          <a:stretch>
            <a:fillRect/>
          </a:stretch>
        </p:blipFill>
        <p:spPr>
          <a:xfrm>
            <a:off x="1593616" y="2317757"/>
            <a:ext cx="182880" cy="182880"/>
          </a:xfrm>
          <a:prstGeom prst="rect">
            <a:avLst/>
          </a:prstGeom>
        </p:spPr>
      </p:pic>
      <p:sp>
        <p:nvSpPr>
          <p:cNvPr id="34" name="Text 26"/>
          <p:cNvSpPr txBox="1"/>
          <p:nvPr/>
        </p:nvSpPr>
        <p:spPr>
          <a:xfrm>
            <a:off x="1849648" y="2317757"/>
            <a:ext cx="3533607" cy="100584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Berikut kerangkanya:</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&lt;!DOCTYPE html&gt; ... &lt;body&gt;</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  &lt;!-- Judul halaman --&gt;</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  &lt;h1&gt;Setoran Hari Ini&lt;/h1&gt;</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  &lt;!-- Target setoran --&gt;</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  &lt;p&gt;Target: An-Naba ayat 1–20&lt;/p&gt;</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  &lt;button&gt;Sudah Setor&lt;/button&gt;</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Penjelasan: h1 untuk judul, p untuk target, button membuat tombol...</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290325"/>
            <a:ext cx="3588471" cy="1060704"/>
          </a:xfrm>
          <a:prstGeom prst="roundRect">
            <a:avLst>
              <a:gd name="adj" fmla="val 4310"/>
            </a:avLst>
          </a:prstGeom>
          <a:solidFill>
            <a:srgbClr val="FFFFFF">
              <a:alpha val="0"/>
            </a:srgbClr>
          </a:solidFill>
          <a:ln w="31750">
            <a:solidFill>
              <a:srgbClr val="E53935"/>
            </a:solidFill>
            <a:prstDash val="solid"/>
          </a:ln>
        </p:spPr>
      </p:sp>
      <p:sp>
        <p:nvSpPr>
          <p:cNvPr id="41" name="Shape 32"/>
          <p:cNvSpPr/>
          <p:nvPr/>
        </p:nvSpPr>
        <p:spPr>
          <a:xfrm>
            <a:off x="5273528" y="215316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1531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43" name="Image 7" descr="preencoded.png">    </p:cNvPr>
          <p:cNvPicPr>
            <a:picLocks noChangeAspect="1"/>
          </p:cNvPicPr>
          <p:nvPr/>
        </p:nvPicPr>
        <p:blipFill>
          <a:blip r:embed="rId8"/>
          <a:stretch>
            <a:fillRect/>
          </a:stretch>
        </p:blipFill>
        <p:spPr>
          <a:xfrm>
            <a:off x="3793132" y="2870969"/>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Baca kode dan penjelasan dari AI</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AI memberi kerangka HTML dengan komentar. Salin kode ke Docs kelompok (atau langsung ke Notepad).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Uji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a:t>
            </a:r>
            <a:endParaRPr lang="en-US" sz="631" dirty="0"/>
          </a:p>
        </p:txBody>
      </p:sp>
      <p:sp>
        <p:nvSpPr>
          <p:cNvPr id="26" name="Text 22"/>
          <p:cNvSpPr txBox="1"/>
          <p:nvPr/>
        </p:nvSpPr>
        <p:spPr>
          <a:xfrm>
            <a:off x="986820" y="1661552"/>
            <a:ext cx="4436303" cy="139308"/>
          </a:xfrm>
          <a:prstGeom prst="rect">
            <a:avLst/>
          </a:prstGeom>
          <a:noFill/>
          <a:ln/>
        </p:spPr>
        <p:txBody>
          <a:bodyPr wrap="square" lIns="0" tIns="0" rIns="0" bIns="0" rtlCol="0" anchor="ctr"/>
          <a:lstStyle/>
          <a:p>
            <a:pPr indent="0" marL="0">
              <a:buNone/>
            </a:pPr>
            <a:r>
              <a:rPr lang="en-US" sz="731" dirty="0">
                <a:solidFill>
                  <a:srgbClr val="1A5FB4"/>
                </a:solidFill>
                <a:latin typeface="Courier New" pitchFamily="34" charset="0"/>
                <a:ea typeface="Courier New" pitchFamily="34" charset="-122"/>
                <a:cs typeface="Courier New" pitchFamily="34" charset="-120"/>
              </a:rPr>
              <a:t>&lt;!DOCTYPE html&gt;</a:t>
            </a:r>
            <a:endParaRPr lang="en-US" sz="731" dirty="0"/>
          </a:p>
        </p:txBody>
      </p:sp>
      <p:sp>
        <p:nvSpPr>
          <p:cNvPr id="27" name="Text 23"/>
          <p:cNvSpPr txBox="1"/>
          <p:nvPr/>
        </p:nvSpPr>
        <p:spPr>
          <a:xfrm>
            <a:off x="639348" y="1800859"/>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2</a:t>
            </a:r>
            <a:endParaRPr lang="en-US" sz="631" dirty="0"/>
          </a:p>
        </p:txBody>
      </p:sp>
      <p:sp>
        <p:nvSpPr>
          <p:cNvPr id="28" name="Text 24"/>
          <p:cNvSpPr txBox="1"/>
          <p:nvPr/>
        </p:nvSpPr>
        <p:spPr>
          <a:xfrm>
            <a:off x="986820" y="1800859"/>
            <a:ext cx="4436303" cy="139308"/>
          </a:xfrm>
          <a:prstGeom prst="rect">
            <a:avLst/>
          </a:prstGeom>
          <a:noFill/>
          <a:ln/>
        </p:spPr>
        <p:txBody>
          <a:bodyPr wrap="square" lIns="0" tIns="0" rIns="0" bIns="0" rtlCol="0" anchor="ctr"/>
          <a:lstStyle/>
          <a:p>
            <a:pPr indent="0" marL="0">
              <a:buNone/>
            </a:pPr>
            <a:r>
              <a:rPr lang="en-US" sz="731" dirty="0">
                <a:solidFill>
                  <a:srgbClr val="1A5FB4"/>
                </a:solidFill>
                <a:latin typeface="Courier New" pitchFamily="34" charset="0"/>
                <a:ea typeface="Courier New" pitchFamily="34" charset="-122"/>
                <a:cs typeface="Courier New" pitchFamily="34" charset="-120"/>
              </a:rPr>
              <a:t>&lt;html&gt;</a:t>
            </a:r>
            <a:endParaRPr lang="en-US" sz="731" dirty="0"/>
          </a:p>
        </p:txBody>
      </p:sp>
      <p:sp>
        <p:nvSpPr>
          <p:cNvPr id="29" name="Text 25"/>
          <p:cNvSpPr txBox="1"/>
          <p:nvPr/>
        </p:nvSpPr>
        <p:spPr>
          <a:xfrm>
            <a:off x="639348" y="1940167"/>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3</a:t>
            </a:r>
            <a:endParaRPr lang="en-US" sz="631" dirty="0"/>
          </a:p>
        </p:txBody>
      </p:sp>
      <p:sp>
        <p:nvSpPr>
          <p:cNvPr id="30" name="Text 26"/>
          <p:cNvSpPr txBox="1"/>
          <p:nvPr/>
        </p:nvSpPr>
        <p:spPr>
          <a:xfrm>
            <a:off x="986820" y="1940167"/>
            <a:ext cx="4436303" cy="139308"/>
          </a:xfrm>
          <a:prstGeom prst="rect">
            <a:avLst/>
          </a:prstGeom>
          <a:noFill/>
          <a:ln/>
        </p:spPr>
        <p:txBody>
          <a:bodyPr wrap="square" lIns="0" tIns="0" rIns="0" bIns="0" rtlCol="0" anchor="ctr"/>
          <a:lstStyle/>
          <a:p>
            <a:pPr indent="0" marL="0">
              <a:buNone/>
            </a:pPr>
            <a:r>
              <a:rPr lang="en-US" sz="731" dirty="0">
                <a:solidFill>
                  <a:srgbClr val="1A5FB4"/>
                </a:solidFill>
                <a:latin typeface="Courier New" pitchFamily="34" charset="0"/>
                <a:ea typeface="Courier New" pitchFamily="34" charset="-122"/>
                <a:cs typeface="Courier New" pitchFamily="34" charset="-120"/>
              </a:rPr>
              <a:t>&lt;head&gt;</a:t>
            </a:r>
            <a:endParaRPr lang="en-US" sz="731" dirty="0"/>
          </a:p>
        </p:txBody>
      </p:sp>
      <p:sp>
        <p:nvSpPr>
          <p:cNvPr id="31" name="Text 27"/>
          <p:cNvSpPr txBox="1"/>
          <p:nvPr/>
        </p:nvSpPr>
        <p:spPr>
          <a:xfrm>
            <a:off x="639348" y="2079475"/>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4</a:t>
            </a:r>
            <a:endParaRPr lang="en-US" sz="631" dirty="0"/>
          </a:p>
        </p:txBody>
      </p:sp>
      <p:sp>
        <p:nvSpPr>
          <p:cNvPr id="32" name="Text 28"/>
          <p:cNvSpPr txBox="1"/>
          <p:nvPr/>
        </p:nvSpPr>
        <p:spPr>
          <a:xfrm>
            <a:off x="986820" y="2079475"/>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&lt;meta charset="UTF-8"&gt;</a:t>
            </a:r>
            <a:endParaRPr lang="en-US" sz="731" dirty="0"/>
          </a:p>
        </p:txBody>
      </p:sp>
      <p:sp>
        <p:nvSpPr>
          <p:cNvPr id="33" name="Text 29"/>
          <p:cNvSpPr txBox="1"/>
          <p:nvPr/>
        </p:nvSpPr>
        <p:spPr>
          <a:xfrm>
            <a:off x="639348" y="2218782"/>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5</a:t>
            </a:r>
            <a:endParaRPr lang="en-US" sz="631" dirty="0"/>
          </a:p>
        </p:txBody>
      </p:sp>
      <p:sp>
        <p:nvSpPr>
          <p:cNvPr id="34" name="Text 30"/>
          <p:cNvSpPr txBox="1"/>
          <p:nvPr/>
        </p:nvSpPr>
        <p:spPr>
          <a:xfrm>
            <a:off x="986820" y="2218782"/>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&lt;meta name="viewport" content="width=device-width, initial-scale=1"&gt;</a:t>
            </a:r>
            <a:endParaRPr lang="en-US" sz="731" dirty="0"/>
          </a:p>
        </p:txBody>
      </p:sp>
      <p:sp>
        <p:nvSpPr>
          <p:cNvPr id="35" name="Text 31"/>
          <p:cNvSpPr txBox="1"/>
          <p:nvPr/>
        </p:nvSpPr>
        <p:spPr>
          <a:xfrm>
            <a:off x="639348" y="2358090"/>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6</a:t>
            </a:r>
            <a:endParaRPr lang="en-US" sz="631" dirty="0"/>
          </a:p>
        </p:txBody>
      </p:sp>
      <p:sp>
        <p:nvSpPr>
          <p:cNvPr id="36" name="Text 32"/>
          <p:cNvSpPr txBox="1"/>
          <p:nvPr/>
        </p:nvSpPr>
        <p:spPr>
          <a:xfrm>
            <a:off x="986820" y="2358090"/>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&lt;title&gt;</a:t>
            </a:r>
            <a:pPr indent="0" marL="0">
              <a:buNone/>
            </a:pPr>
            <a:r>
              <a:rPr lang="en-US" sz="731" dirty="0">
                <a:solidFill>
                  <a:srgbClr val="222222"/>
                </a:solidFill>
                <a:latin typeface="Courier New" pitchFamily="34" charset="0"/>
                <a:ea typeface="Courier New" pitchFamily="34" charset="-122"/>
                <a:cs typeface="Courier New" pitchFamily="34" charset="-120"/>
              </a:rPr>
              <a:t>Setoran Hari Ini</a:t>
            </a:r>
            <a:pPr indent="0" marL="0">
              <a:buNone/>
            </a:pPr>
            <a:r>
              <a:rPr lang="en-US" sz="731" dirty="0">
                <a:solidFill>
                  <a:srgbClr val="1A5FB4"/>
                </a:solidFill>
                <a:latin typeface="Courier New" pitchFamily="34" charset="0"/>
                <a:ea typeface="Courier New" pitchFamily="34" charset="-122"/>
                <a:cs typeface="Courier New" pitchFamily="34" charset="-120"/>
              </a:rPr>
              <a:t>&lt;/title&gt;</a:t>
            </a:r>
            <a:endParaRPr lang="en-US" sz="731" dirty="0"/>
          </a:p>
        </p:txBody>
      </p:sp>
      <p:sp>
        <p:nvSpPr>
          <p:cNvPr id="37" name="Text 33"/>
          <p:cNvSpPr txBox="1"/>
          <p:nvPr/>
        </p:nvSpPr>
        <p:spPr>
          <a:xfrm>
            <a:off x="639348" y="2497398"/>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7</a:t>
            </a:r>
            <a:endParaRPr lang="en-US" sz="631" dirty="0"/>
          </a:p>
        </p:txBody>
      </p:sp>
      <p:sp>
        <p:nvSpPr>
          <p:cNvPr id="38" name="Text 34"/>
          <p:cNvSpPr txBox="1"/>
          <p:nvPr/>
        </p:nvSpPr>
        <p:spPr>
          <a:xfrm>
            <a:off x="986820" y="2497398"/>
            <a:ext cx="4436303" cy="139308"/>
          </a:xfrm>
          <a:prstGeom prst="rect">
            <a:avLst/>
          </a:prstGeom>
          <a:noFill/>
          <a:ln/>
        </p:spPr>
        <p:txBody>
          <a:bodyPr wrap="square" lIns="0" tIns="0" rIns="0" bIns="0" rtlCol="0" anchor="ctr"/>
          <a:lstStyle/>
          <a:p>
            <a:pPr indent="0" marL="0">
              <a:buNone/>
            </a:pPr>
            <a:r>
              <a:rPr lang="en-US" sz="731" dirty="0">
                <a:solidFill>
                  <a:srgbClr val="1A5FB4"/>
                </a:solidFill>
                <a:latin typeface="Courier New" pitchFamily="34" charset="0"/>
                <a:ea typeface="Courier New" pitchFamily="34" charset="-122"/>
                <a:cs typeface="Courier New" pitchFamily="34" charset="-120"/>
              </a:rPr>
              <a:t>&lt;/head&gt;</a:t>
            </a:r>
            <a:endParaRPr lang="en-US" sz="731" dirty="0"/>
          </a:p>
        </p:txBody>
      </p:sp>
      <p:sp>
        <p:nvSpPr>
          <p:cNvPr id="39" name="Text 35"/>
          <p:cNvSpPr txBox="1"/>
          <p:nvPr/>
        </p:nvSpPr>
        <p:spPr>
          <a:xfrm>
            <a:off x="639348" y="2636706"/>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8</a:t>
            </a:r>
            <a:endParaRPr lang="en-US" sz="631" dirty="0"/>
          </a:p>
        </p:txBody>
      </p:sp>
      <p:sp>
        <p:nvSpPr>
          <p:cNvPr id="40" name="Text 36"/>
          <p:cNvSpPr txBox="1"/>
          <p:nvPr/>
        </p:nvSpPr>
        <p:spPr>
          <a:xfrm>
            <a:off x="986820" y="2636706"/>
            <a:ext cx="4436303" cy="139308"/>
          </a:xfrm>
          <a:prstGeom prst="rect">
            <a:avLst/>
          </a:prstGeom>
          <a:noFill/>
          <a:ln/>
        </p:spPr>
        <p:txBody>
          <a:bodyPr wrap="square" lIns="0" tIns="0" rIns="0" bIns="0" rtlCol="0" anchor="ctr"/>
          <a:lstStyle/>
          <a:p>
            <a:pPr indent="0" marL="0">
              <a:buNone/>
            </a:pPr>
            <a:r>
              <a:rPr lang="en-US" sz="731" dirty="0">
                <a:solidFill>
                  <a:srgbClr val="1A5FB4"/>
                </a:solidFill>
                <a:latin typeface="Courier New" pitchFamily="34" charset="0"/>
                <a:ea typeface="Courier New" pitchFamily="34" charset="-122"/>
                <a:cs typeface="Courier New" pitchFamily="34" charset="-120"/>
              </a:rPr>
              <a:t>&lt;body&gt;</a:t>
            </a:r>
            <a:endParaRPr lang="en-US" sz="731" dirty="0"/>
          </a:p>
        </p:txBody>
      </p:sp>
      <p:sp>
        <p:nvSpPr>
          <p:cNvPr id="41" name="Text 37"/>
          <p:cNvSpPr txBox="1"/>
          <p:nvPr/>
        </p:nvSpPr>
        <p:spPr>
          <a:xfrm>
            <a:off x="639348" y="2776013"/>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9</a:t>
            </a:r>
            <a:endParaRPr lang="en-US" sz="631" dirty="0"/>
          </a:p>
        </p:txBody>
      </p:sp>
      <p:sp>
        <p:nvSpPr>
          <p:cNvPr id="42" name="Text 38"/>
          <p:cNvSpPr txBox="1"/>
          <p:nvPr/>
        </p:nvSpPr>
        <p:spPr>
          <a:xfrm>
            <a:off x="986820" y="2776013"/>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 Judul halaman --&gt;</a:t>
            </a:r>
            <a:endParaRPr lang="en-US" sz="731" dirty="0"/>
          </a:p>
        </p:txBody>
      </p:sp>
      <p:sp>
        <p:nvSpPr>
          <p:cNvPr id="43" name="Text 39"/>
          <p:cNvSpPr txBox="1"/>
          <p:nvPr/>
        </p:nvSpPr>
        <p:spPr>
          <a:xfrm>
            <a:off x="639348" y="2915321"/>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10</a:t>
            </a:r>
            <a:endParaRPr lang="en-US" sz="631" dirty="0"/>
          </a:p>
        </p:txBody>
      </p:sp>
      <p:sp>
        <p:nvSpPr>
          <p:cNvPr id="44" name="Text 40"/>
          <p:cNvSpPr txBox="1"/>
          <p:nvPr/>
        </p:nvSpPr>
        <p:spPr>
          <a:xfrm>
            <a:off x="986820" y="2915321"/>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&lt;h1&gt;</a:t>
            </a:r>
            <a:pPr indent="0" marL="0">
              <a:buNone/>
            </a:pPr>
            <a:r>
              <a:rPr lang="en-US" sz="731" dirty="0">
                <a:solidFill>
                  <a:srgbClr val="222222"/>
                </a:solidFill>
                <a:latin typeface="Courier New" pitchFamily="34" charset="0"/>
                <a:ea typeface="Courier New" pitchFamily="34" charset="-122"/>
                <a:cs typeface="Courier New" pitchFamily="34" charset="-120"/>
              </a:rPr>
              <a:t>Setoran Hari Ini</a:t>
            </a:r>
            <a:pPr indent="0" marL="0">
              <a:buNone/>
            </a:pPr>
            <a:r>
              <a:rPr lang="en-US" sz="731" dirty="0">
                <a:solidFill>
                  <a:srgbClr val="1A5FB4"/>
                </a:solidFill>
                <a:latin typeface="Courier New" pitchFamily="34" charset="0"/>
                <a:ea typeface="Courier New" pitchFamily="34" charset="-122"/>
                <a:cs typeface="Courier New" pitchFamily="34" charset="-120"/>
              </a:rPr>
              <a:t>&lt;/h1&gt;</a:t>
            </a:r>
            <a:endParaRPr lang="en-US" sz="731" dirty="0"/>
          </a:p>
        </p:txBody>
      </p:sp>
      <p:sp>
        <p:nvSpPr>
          <p:cNvPr id="45" name="Text 41"/>
          <p:cNvSpPr txBox="1"/>
          <p:nvPr/>
        </p:nvSpPr>
        <p:spPr>
          <a:xfrm>
            <a:off x="639348" y="3054629"/>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11</a:t>
            </a:r>
            <a:endParaRPr lang="en-US" sz="631" dirty="0"/>
          </a:p>
        </p:txBody>
      </p:sp>
      <p:sp>
        <p:nvSpPr>
          <p:cNvPr id="46" name="Text 42"/>
          <p:cNvSpPr txBox="1"/>
          <p:nvPr/>
        </p:nvSpPr>
        <p:spPr>
          <a:xfrm>
            <a:off x="986820" y="3054629"/>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 Target setoran --&gt;</a:t>
            </a:r>
            <a:endParaRPr lang="en-US" sz="731" dirty="0"/>
          </a:p>
        </p:txBody>
      </p:sp>
      <p:sp>
        <p:nvSpPr>
          <p:cNvPr id="47" name="Text 43"/>
          <p:cNvSpPr txBox="1"/>
          <p:nvPr/>
        </p:nvSpPr>
        <p:spPr>
          <a:xfrm>
            <a:off x="639348" y="3193936"/>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12</a:t>
            </a:r>
            <a:endParaRPr lang="en-US" sz="631" dirty="0"/>
          </a:p>
        </p:txBody>
      </p:sp>
      <p:sp>
        <p:nvSpPr>
          <p:cNvPr id="48" name="Text 44"/>
          <p:cNvSpPr txBox="1"/>
          <p:nvPr/>
        </p:nvSpPr>
        <p:spPr>
          <a:xfrm>
            <a:off x="986820" y="3193936"/>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&lt;p&gt;</a:t>
            </a:r>
            <a:pPr indent="0" marL="0">
              <a:buNone/>
            </a:pPr>
            <a:r>
              <a:rPr lang="en-US" sz="731" dirty="0">
                <a:solidFill>
                  <a:srgbClr val="222222"/>
                </a:solidFill>
                <a:latin typeface="Courier New" pitchFamily="34" charset="0"/>
                <a:ea typeface="Courier New" pitchFamily="34" charset="-122"/>
                <a:cs typeface="Courier New" pitchFamily="34" charset="-120"/>
              </a:rPr>
              <a:t>Target: An-Naba ayat 1–20</a:t>
            </a:r>
            <a:pPr indent="0" marL="0">
              <a:buNone/>
            </a:pPr>
            <a:r>
              <a:rPr lang="en-US" sz="731" dirty="0">
                <a:solidFill>
                  <a:srgbClr val="1A5FB4"/>
                </a:solidFill>
                <a:latin typeface="Courier New" pitchFamily="34" charset="0"/>
                <a:ea typeface="Courier New" pitchFamily="34" charset="-122"/>
                <a:cs typeface="Courier New" pitchFamily="34" charset="-120"/>
              </a:rPr>
              <a:t>&lt;/p&gt;</a:t>
            </a:r>
            <a:endParaRPr lang="en-US" sz="731" dirty="0"/>
          </a:p>
        </p:txBody>
      </p:sp>
      <p:sp>
        <p:nvSpPr>
          <p:cNvPr id="49" name="Text 45"/>
          <p:cNvSpPr txBox="1"/>
          <p:nvPr/>
        </p:nvSpPr>
        <p:spPr>
          <a:xfrm>
            <a:off x="639348" y="3333244"/>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13</a:t>
            </a:r>
            <a:endParaRPr lang="en-US" sz="631" dirty="0"/>
          </a:p>
        </p:txBody>
      </p:sp>
      <p:sp>
        <p:nvSpPr>
          <p:cNvPr id="50" name="Text 46"/>
          <p:cNvSpPr txBox="1"/>
          <p:nvPr/>
        </p:nvSpPr>
        <p:spPr>
          <a:xfrm>
            <a:off x="986820" y="3333244"/>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 Tombol tanda sudah setor --&gt;</a:t>
            </a:r>
            <a:endParaRPr lang="en-US" sz="731" dirty="0"/>
          </a:p>
        </p:txBody>
      </p:sp>
      <p:sp>
        <p:nvSpPr>
          <p:cNvPr id="51" name="Text 47"/>
          <p:cNvSpPr txBox="1"/>
          <p:nvPr/>
        </p:nvSpPr>
        <p:spPr>
          <a:xfrm>
            <a:off x="639348" y="3472552"/>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14</a:t>
            </a:r>
            <a:endParaRPr lang="en-US" sz="631" dirty="0"/>
          </a:p>
        </p:txBody>
      </p:sp>
      <p:sp>
        <p:nvSpPr>
          <p:cNvPr id="52" name="Text 48"/>
          <p:cNvSpPr txBox="1"/>
          <p:nvPr/>
        </p:nvSpPr>
        <p:spPr>
          <a:xfrm>
            <a:off x="986820" y="3472552"/>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&lt;button&gt;</a:t>
            </a:r>
            <a:pPr indent="0" marL="0">
              <a:buNone/>
            </a:pPr>
            <a:r>
              <a:rPr lang="en-US" sz="731" dirty="0">
                <a:solidFill>
                  <a:srgbClr val="222222"/>
                </a:solidFill>
                <a:latin typeface="Courier New" pitchFamily="34" charset="0"/>
                <a:ea typeface="Courier New" pitchFamily="34" charset="-122"/>
                <a:cs typeface="Courier New" pitchFamily="34" charset="-120"/>
              </a:rPr>
              <a:t>Sudah Setor</a:t>
            </a:r>
            <a:pPr indent="0" marL="0">
              <a:buNone/>
            </a:pPr>
            <a:r>
              <a:rPr lang="en-US" sz="731" dirty="0">
                <a:solidFill>
                  <a:srgbClr val="1A5FB4"/>
                </a:solidFill>
                <a:latin typeface="Courier New" pitchFamily="34" charset="0"/>
                <a:ea typeface="Courier New" pitchFamily="34" charset="-122"/>
                <a:cs typeface="Courier New" pitchFamily="34" charset="-120"/>
              </a:rPr>
              <a:t>&lt;/button&gt;</a:t>
            </a:r>
            <a:endParaRPr lang="en-US" sz="731" dirty="0"/>
          </a:p>
        </p:txBody>
      </p:sp>
      <p:sp>
        <p:nvSpPr>
          <p:cNvPr id="53" name="Text 49"/>
          <p:cNvSpPr txBox="1"/>
          <p:nvPr/>
        </p:nvSpPr>
        <p:spPr>
          <a:xfrm>
            <a:off x="639348" y="3611859"/>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15</a:t>
            </a:r>
            <a:endParaRPr lang="en-US" sz="631" dirty="0"/>
          </a:p>
        </p:txBody>
      </p:sp>
      <p:sp>
        <p:nvSpPr>
          <p:cNvPr id="54" name="Text 50"/>
          <p:cNvSpPr txBox="1"/>
          <p:nvPr/>
        </p:nvSpPr>
        <p:spPr>
          <a:xfrm>
            <a:off x="986820" y="3611859"/>
            <a:ext cx="4436303" cy="139308"/>
          </a:xfrm>
          <a:prstGeom prst="rect">
            <a:avLst/>
          </a:prstGeom>
          <a:noFill/>
          <a:ln/>
        </p:spPr>
        <p:txBody>
          <a:bodyPr wrap="square" lIns="0" tIns="0" rIns="0" bIns="0" rtlCol="0" anchor="ctr"/>
          <a:lstStyle/>
          <a:p>
            <a:pPr indent="0" marL="0">
              <a:buNone/>
            </a:pPr>
            <a:r>
              <a:rPr lang="en-US" sz="731" dirty="0">
                <a:solidFill>
                  <a:srgbClr val="1A5FB4"/>
                </a:solidFill>
                <a:latin typeface="Courier New" pitchFamily="34" charset="0"/>
                <a:ea typeface="Courier New" pitchFamily="34" charset="-122"/>
                <a:cs typeface="Courier New" pitchFamily="34" charset="-120"/>
              </a:rPr>
              <a:t>&lt;/body&gt;</a:t>
            </a:r>
            <a:endParaRPr lang="en-US" sz="731" dirty="0"/>
          </a:p>
        </p:txBody>
      </p:sp>
      <p:sp>
        <p:nvSpPr>
          <p:cNvPr id="55" name="Text 51"/>
          <p:cNvSpPr txBox="1"/>
          <p:nvPr/>
        </p:nvSpPr>
        <p:spPr>
          <a:xfrm>
            <a:off x="639348" y="3751167"/>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16</a:t>
            </a:r>
            <a:endParaRPr lang="en-US" sz="631" dirty="0"/>
          </a:p>
        </p:txBody>
      </p:sp>
      <p:sp>
        <p:nvSpPr>
          <p:cNvPr id="56" name="Text 52"/>
          <p:cNvSpPr txBox="1"/>
          <p:nvPr/>
        </p:nvSpPr>
        <p:spPr>
          <a:xfrm>
            <a:off x="986820" y="3751167"/>
            <a:ext cx="4436303" cy="139308"/>
          </a:xfrm>
          <a:prstGeom prst="rect">
            <a:avLst/>
          </a:prstGeom>
          <a:noFill/>
          <a:ln/>
        </p:spPr>
        <p:txBody>
          <a:bodyPr wrap="square" lIns="0" tIns="0" rIns="0" bIns="0" rtlCol="0" anchor="ctr"/>
          <a:lstStyle/>
          <a:p>
            <a:pPr indent="0" marL="0">
              <a:buNone/>
            </a:pPr>
            <a:r>
              <a:rPr lang="en-US" sz="731" dirty="0">
                <a:solidFill>
                  <a:srgbClr val="1A5FB4"/>
                </a:solidFill>
                <a:latin typeface="Courier New" pitchFamily="34" charset="0"/>
                <a:ea typeface="Courier New" pitchFamily="34" charset="-122"/>
                <a:cs typeface="Courier New" pitchFamily="34" charset="-120"/>
              </a:rPr>
              <a:t>&lt;/html&gt;</a:t>
            </a:r>
            <a:endParaRPr lang="en-US" sz="731" dirty="0"/>
          </a:p>
        </p:txBody>
      </p:sp>
      <p:sp>
        <p:nvSpPr>
          <p:cNvPr id="57" name="Shape 53"/>
          <p:cNvSpPr/>
          <p:nvPr/>
        </p:nvSpPr>
        <p:spPr>
          <a:xfrm>
            <a:off x="913668" y="2618418"/>
            <a:ext cx="4555175" cy="1151038"/>
          </a:xfrm>
          <a:prstGeom prst="roundRect">
            <a:avLst>
              <a:gd name="adj" fmla="val 3972"/>
            </a:avLst>
          </a:prstGeom>
          <a:solidFill>
            <a:srgbClr val="FFFFFF">
              <a:alpha val="0"/>
            </a:srgbClr>
          </a:solidFill>
          <a:ln w="31750">
            <a:solidFill>
              <a:srgbClr val="E53935"/>
            </a:solidFill>
            <a:prstDash val="solid"/>
          </a:ln>
        </p:spPr>
      </p:sp>
      <p:sp>
        <p:nvSpPr>
          <p:cNvPr id="58" name="Shape 54"/>
          <p:cNvSpPr/>
          <p:nvPr/>
        </p:nvSpPr>
        <p:spPr>
          <a:xfrm>
            <a:off x="5331684" y="2481258"/>
            <a:ext cx="274320" cy="274320"/>
          </a:xfrm>
          <a:prstGeom prst="ellipse">
            <a:avLst/>
          </a:prstGeom>
          <a:solidFill>
            <a:srgbClr val="E53935"/>
          </a:solidFill>
          <a:ln w="12700">
            <a:solidFill>
              <a:srgbClr val="FFFFFF"/>
            </a:solidFill>
            <a:prstDash val="solid"/>
          </a:ln>
        </p:spPr>
      </p:sp>
      <p:sp>
        <p:nvSpPr>
          <p:cNvPr id="59" name="Text 55"/>
          <p:cNvSpPr txBox="1"/>
          <p:nvPr/>
        </p:nvSpPr>
        <p:spPr>
          <a:xfrm>
            <a:off x="5331684" y="248125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60" name="Image 2" descr="preencoded.png">    </p:cNvPr>
          <p:cNvPicPr>
            <a:picLocks noChangeAspect="1"/>
          </p:cNvPicPr>
          <p:nvPr/>
        </p:nvPicPr>
        <p:blipFill>
          <a:blip r:embed="rId3"/>
          <a:stretch>
            <a:fillRect/>
          </a:stretch>
        </p:blipFill>
        <p:spPr>
          <a:xfrm>
            <a:off x="3417186" y="3249659"/>
            <a:ext cx="237744" cy="237744"/>
          </a:xfrm>
          <a:prstGeom prst="rect">
            <a:avLst/>
          </a:prstGeom>
        </p:spPr>
      </p:pic>
      <p:sp>
        <p:nvSpPr>
          <p:cNvPr id="61" name="Text 5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62" name="Text 5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Tempel di Notepad, simpan index.html</a:t>
            </a:r>
            <a:endParaRPr lang="en-US" sz="1800" dirty="0"/>
          </a:p>
        </p:txBody>
      </p:sp>
      <p:sp>
        <p:nvSpPr>
          <p:cNvPr id="63" name="Text 5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Buat folder Proyek_Kel3 di Portofolio › Proyek › Kelas9. Tempel kode di Notepad, simpan sebagai index.html (All files, UTF-8).</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Uji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Setoran Hari Ini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file:///C:/.../Proyek_Kel3/index.html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Text 22"/>
          <p:cNvSpPr txBox="1"/>
          <p:nvPr/>
        </p:nvSpPr>
        <p:spPr>
          <a:xfrm>
            <a:off x="743224" y="1787405"/>
            <a:ext cx="4914351" cy="365760"/>
          </a:xfrm>
          <a:prstGeom prst="rect">
            <a:avLst/>
          </a:prstGeom>
          <a:noFill/>
          <a:ln/>
        </p:spPr>
        <p:txBody>
          <a:bodyPr wrap="square" lIns="0" tIns="0" rIns="0" bIns="0" rtlCol="0" anchor="t"/>
          <a:lstStyle/>
          <a:p>
            <a:pPr indent="0" marL="0">
              <a:buNone/>
            </a:pPr>
            <a:r>
              <a:rPr lang="en-US" sz="1600" b="1" dirty="0">
                <a:solidFill>
                  <a:srgbClr val="1E2A26"/>
                </a:solidFill>
                <a:latin typeface="Times New Roman" pitchFamily="34" charset="0"/>
                <a:ea typeface="Times New Roman" pitchFamily="34" charset="-122"/>
                <a:cs typeface="Times New Roman" pitchFamily="34" charset="-120"/>
              </a:rPr>
              <a:t>Setoran Hari Ini</a:t>
            </a:r>
            <a:endParaRPr lang="en-US" sz="1600" dirty="0"/>
          </a:p>
        </p:txBody>
      </p:sp>
      <p:sp>
        <p:nvSpPr>
          <p:cNvPr id="30" name="Text 23"/>
          <p:cNvSpPr txBox="1"/>
          <p:nvPr/>
        </p:nvSpPr>
        <p:spPr>
          <a:xfrm>
            <a:off x="743224" y="2198885"/>
            <a:ext cx="4914351" cy="228600"/>
          </a:xfrm>
          <a:prstGeom prst="rect">
            <a:avLst/>
          </a:prstGeom>
          <a:noFill/>
          <a:ln/>
        </p:spPr>
        <p:txBody>
          <a:bodyPr wrap="square" lIns="0" tIns="0" rIns="0" bIns="0" rtlCol="0" anchor="t"/>
          <a:lstStyle/>
          <a:p>
            <a:pPr indent="0" marL="0">
              <a:buNone/>
            </a:pPr>
            <a:r>
              <a:rPr lang="en-US" sz="900" dirty="0">
                <a:solidFill>
                  <a:srgbClr val="1E2A26"/>
                </a:solidFill>
                <a:latin typeface="Times New Roman" pitchFamily="34" charset="0"/>
                <a:ea typeface="Times New Roman" pitchFamily="34" charset="-122"/>
                <a:cs typeface="Times New Roman" pitchFamily="34" charset="-120"/>
              </a:rPr>
              <a:t>Target: An-Naba ayat 1–20</a:t>
            </a:r>
            <a:endParaRPr lang="en-US" sz="900" dirty="0"/>
          </a:p>
        </p:txBody>
      </p:sp>
      <p:sp>
        <p:nvSpPr>
          <p:cNvPr id="31" name="Shape 24"/>
          <p:cNvSpPr/>
          <p:nvPr/>
        </p:nvSpPr>
        <p:spPr>
          <a:xfrm>
            <a:off x="743224" y="2518925"/>
            <a:ext cx="777240" cy="201168"/>
          </a:xfrm>
          <a:prstGeom prst="rect">
            <a:avLst/>
          </a:prstGeom>
          <a:solidFill>
            <a:srgbClr val="EFEFEF"/>
          </a:solidFill>
          <a:ln w="6350">
            <a:solidFill>
              <a:srgbClr val="999999"/>
            </a:solidFill>
            <a:prstDash val="solid"/>
          </a:ln>
        </p:spPr>
      </p:sp>
      <p:sp>
        <p:nvSpPr>
          <p:cNvPr id="32" name="Text 25"/>
          <p:cNvSpPr txBox="1"/>
          <p:nvPr/>
        </p:nvSpPr>
        <p:spPr>
          <a:xfrm>
            <a:off x="743224" y="2518925"/>
            <a:ext cx="77724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Sudah Setor</a:t>
            </a:r>
            <a:endParaRPr lang="en-US" sz="750" dirty="0"/>
          </a:p>
        </p:txBody>
      </p:sp>
      <p:sp>
        <p:nvSpPr>
          <p:cNvPr id="33" name="Shape 26"/>
          <p:cNvSpPr/>
          <p:nvPr/>
        </p:nvSpPr>
        <p:spPr>
          <a:xfrm>
            <a:off x="679216" y="1723397"/>
            <a:ext cx="2493752" cy="1088136"/>
          </a:xfrm>
          <a:prstGeom prst="roundRect">
            <a:avLst>
              <a:gd name="adj" fmla="val 4202"/>
            </a:avLst>
          </a:prstGeom>
          <a:solidFill>
            <a:srgbClr val="FFFFFF">
              <a:alpha val="0"/>
            </a:srgbClr>
          </a:solidFill>
          <a:ln w="31750">
            <a:solidFill>
              <a:srgbClr val="E53935"/>
            </a:solidFill>
            <a:prstDash val="solid"/>
          </a:ln>
        </p:spPr>
      </p:sp>
      <p:sp>
        <p:nvSpPr>
          <p:cNvPr id="34" name="Shape 27"/>
          <p:cNvSpPr/>
          <p:nvPr/>
        </p:nvSpPr>
        <p:spPr>
          <a:xfrm>
            <a:off x="3035808" y="1586237"/>
            <a:ext cx="274320" cy="274320"/>
          </a:xfrm>
          <a:prstGeom prst="ellipse">
            <a:avLst/>
          </a:prstGeom>
          <a:solidFill>
            <a:srgbClr val="E53935"/>
          </a:solidFill>
          <a:ln w="12700">
            <a:solidFill>
              <a:srgbClr val="FFFFFF"/>
            </a:solidFill>
            <a:prstDash val="solid"/>
          </a:ln>
        </p:spPr>
      </p:sp>
      <p:sp>
        <p:nvSpPr>
          <p:cNvPr id="35" name="Text 28"/>
          <p:cNvSpPr txBox="1"/>
          <p:nvPr/>
        </p:nvSpPr>
        <p:spPr>
          <a:xfrm>
            <a:off x="3035808" y="158623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36" name="Image 5" descr="preencoded.png">    </p:cNvPr>
          <p:cNvPicPr>
            <a:picLocks noChangeAspect="1"/>
          </p:cNvPicPr>
          <p:nvPr/>
        </p:nvPicPr>
        <p:blipFill>
          <a:blip r:embed="rId6"/>
          <a:stretch>
            <a:fillRect/>
          </a:stretch>
        </p:blipFill>
        <p:spPr>
          <a:xfrm>
            <a:off x="2048951" y="2320043"/>
            <a:ext cx="237744" cy="237744"/>
          </a:xfrm>
          <a:prstGeom prst="rect">
            <a:avLst/>
          </a:prstGeom>
        </p:spPr>
      </p:pic>
      <p:sp>
        <p:nvSpPr>
          <p:cNvPr id="37" name="Text 2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38" name="Text 3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di browser</a:t>
            </a:r>
            <a:endParaRPr lang="en-US" sz="1800" dirty="0"/>
          </a:p>
        </p:txBody>
      </p:sp>
      <p:sp>
        <p:nvSpPr>
          <p:cNvPr id="39" name="Text 3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dua kali index.html. Periksa: judul, target, dan tombol tampil. Bandingkan dengan sketsa kertas.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Memahami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a:t>
            </a:r>
            <a:endParaRPr lang="en-US" sz="631" dirty="0"/>
          </a:p>
        </p:txBody>
      </p:sp>
      <p:sp>
        <p:nvSpPr>
          <p:cNvPr id="26" name="Text 22"/>
          <p:cNvSpPr txBox="1"/>
          <p:nvPr/>
        </p:nvSpPr>
        <p:spPr>
          <a:xfrm>
            <a:off x="986820" y="1661552"/>
            <a:ext cx="4436303" cy="139308"/>
          </a:xfrm>
          <a:prstGeom prst="rect">
            <a:avLst/>
          </a:prstGeom>
          <a:noFill/>
          <a:ln/>
        </p:spPr>
        <p:txBody>
          <a:bodyPr wrap="square" lIns="0" tIns="0" rIns="0" bIns="0" rtlCol="0" anchor="ctr"/>
          <a:lstStyle/>
          <a:p>
            <a:pPr indent="0" marL="0">
              <a:buNone/>
            </a:pPr>
            <a:r>
              <a:rPr lang="en-US" sz="731" dirty="0">
                <a:solidFill>
                  <a:srgbClr val="1A5FB4"/>
                </a:solidFill>
                <a:latin typeface="Courier New" pitchFamily="34" charset="0"/>
                <a:ea typeface="Courier New" pitchFamily="34" charset="-122"/>
                <a:cs typeface="Courier New" pitchFamily="34" charset="-120"/>
              </a:rPr>
              <a:t>&lt;!DOCTYPE html&gt;</a:t>
            </a:r>
            <a:endParaRPr lang="en-US" sz="731" dirty="0"/>
          </a:p>
        </p:txBody>
      </p:sp>
      <p:sp>
        <p:nvSpPr>
          <p:cNvPr id="27" name="Text 23"/>
          <p:cNvSpPr txBox="1"/>
          <p:nvPr/>
        </p:nvSpPr>
        <p:spPr>
          <a:xfrm>
            <a:off x="639348" y="1800859"/>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2</a:t>
            </a:r>
            <a:endParaRPr lang="en-US" sz="631" dirty="0"/>
          </a:p>
        </p:txBody>
      </p:sp>
      <p:sp>
        <p:nvSpPr>
          <p:cNvPr id="28" name="Text 24"/>
          <p:cNvSpPr txBox="1"/>
          <p:nvPr/>
        </p:nvSpPr>
        <p:spPr>
          <a:xfrm>
            <a:off x="986820" y="1800859"/>
            <a:ext cx="4436303" cy="139308"/>
          </a:xfrm>
          <a:prstGeom prst="rect">
            <a:avLst/>
          </a:prstGeom>
          <a:noFill/>
          <a:ln/>
        </p:spPr>
        <p:txBody>
          <a:bodyPr wrap="square" lIns="0" tIns="0" rIns="0" bIns="0" rtlCol="0" anchor="ctr"/>
          <a:lstStyle/>
          <a:p>
            <a:pPr indent="0" marL="0">
              <a:buNone/>
            </a:pPr>
            <a:r>
              <a:rPr lang="en-US" sz="731" dirty="0">
                <a:solidFill>
                  <a:srgbClr val="1A5FB4"/>
                </a:solidFill>
                <a:latin typeface="Courier New" pitchFamily="34" charset="0"/>
                <a:ea typeface="Courier New" pitchFamily="34" charset="-122"/>
                <a:cs typeface="Courier New" pitchFamily="34" charset="-120"/>
              </a:rPr>
              <a:t>&lt;html&gt;</a:t>
            </a:r>
            <a:endParaRPr lang="en-US" sz="731" dirty="0"/>
          </a:p>
        </p:txBody>
      </p:sp>
      <p:sp>
        <p:nvSpPr>
          <p:cNvPr id="29" name="Text 25"/>
          <p:cNvSpPr txBox="1"/>
          <p:nvPr/>
        </p:nvSpPr>
        <p:spPr>
          <a:xfrm>
            <a:off x="639348" y="1940167"/>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3</a:t>
            </a:r>
            <a:endParaRPr lang="en-US" sz="631" dirty="0"/>
          </a:p>
        </p:txBody>
      </p:sp>
      <p:sp>
        <p:nvSpPr>
          <p:cNvPr id="30" name="Text 26"/>
          <p:cNvSpPr txBox="1"/>
          <p:nvPr/>
        </p:nvSpPr>
        <p:spPr>
          <a:xfrm>
            <a:off x="986820" y="1940167"/>
            <a:ext cx="4436303" cy="139308"/>
          </a:xfrm>
          <a:prstGeom prst="rect">
            <a:avLst/>
          </a:prstGeom>
          <a:noFill/>
          <a:ln/>
        </p:spPr>
        <p:txBody>
          <a:bodyPr wrap="square" lIns="0" tIns="0" rIns="0" bIns="0" rtlCol="0" anchor="ctr"/>
          <a:lstStyle/>
          <a:p>
            <a:pPr indent="0" marL="0">
              <a:buNone/>
            </a:pPr>
            <a:r>
              <a:rPr lang="en-US" sz="731" dirty="0">
                <a:solidFill>
                  <a:srgbClr val="1A5FB4"/>
                </a:solidFill>
                <a:latin typeface="Courier New" pitchFamily="34" charset="0"/>
                <a:ea typeface="Courier New" pitchFamily="34" charset="-122"/>
                <a:cs typeface="Courier New" pitchFamily="34" charset="-120"/>
              </a:rPr>
              <a:t>&lt;head&gt;</a:t>
            </a:r>
            <a:endParaRPr lang="en-US" sz="731" dirty="0"/>
          </a:p>
        </p:txBody>
      </p:sp>
      <p:sp>
        <p:nvSpPr>
          <p:cNvPr id="31" name="Shape 27"/>
          <p:cNvSpPr/>
          <p:nvPr/>
        </p:nvSpPr>
        <p:spPr>
          <a:xfrm>
            <a:off x="913668" y="2079475"/>
            <a:ext cx="4555175" cy="139308"/>
          </a:xfrm>
          <a:prstGeom prst="rect">
            <a:avLst/>
          </a:prstGeom>
          <a:solidFill>
            <a:srgbClr val="FFF59D"/>
          </a:solidFill>
          <a:ln w="12700">
            <a:solidFill>
              <a:srgbClr val="FFF59D"/>
            </a:solidFill>
            <a:prstDash val="solid"/>
          </a:ln>
        </p:spPr>
      </p:sp>
      <p:sp>
        <p:nvSpPr>
          <p:cNvPr id="32" name="Text 28"/>
          <p:cNvSpPr txBox="1"/>
          <p:nvPr/>
        </p:nvSpPr>
        <p:spPr>
          <a:xfrm>
            <a:off x="639348" y="2079475"/>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4</a:t>
            </a:r>
            <a:endParaRPr lang="en-US" sz="631" dirty="0"/>
          </a:p>
        </p:txBody>
      </p:sp>
      <p:sp>
        <p:nvSpPr>
          <p:cNvPr id="33" name="Text 29"/>
          <p:cNvSpPr txBox="1"/>
          <p:nvPr/>
        </p:nvSpPr>
        <p:spPr>
          <a:xfrm>
            <a:off x="986820" y="2079475"/>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&lt;meta charset="UTF-8"&gt;</a:t>
            </a:r>
            <a:endParaRPr lang="en-US" sz="731" dirty="0"/>
          </a:p>
        </p:txBody>
      </p:sp>
      <p:sp>
        <p:nvSpPr>
          <p:cNvPr id="34" name="Shape 30"/>
          <p:cNvSpPr/>
          <p:nvPr/>
        </p:nvSpPr>
        <p:spPr>
          <a:xfrm>
            <a:off x="913668" y="2218782"/>
            <a:ext cx="4555175" cy="139308"/>
          </a:xfrm>
          <a:prstGeom prst="rect">
            <a:avLst/>
          </a:prstGeom>
          <a:solidFill>
            <a:srgbClr val="FFF59D"/>
          </a:solidFill>
          <a:ln w="12700">
            <a:solidFill>
              <a:srgbClr val="FFF59D"/>
            </a:solidFill>
            <a:prstDash val="solid"/>
          </a:ln>
        </p:spPr>
      </p:sp>
      <p:sp>
        <p:nvSpPr>
          <p:cNvPr id="35" name="Text 31"/>
          <p:cNvSpPr txBox="1"/>
          <p:nvPr/>
        </p:nvSpPr>
        <p:spPr>
          <a:xfrm>
            <a:off x="639348" y="2218782"/>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5</a:t>
            </a:r>
            <a:endParaRPr lang="en-US" sz="631" dirty="0"/>
          </a:p>
        </p:txBody>
      </p:sp>
      <p:sp>
        <p:nvSpPr>
          <p:cNvPr id="36" name="Text 32"/>
          <p:cNvSpPr txBox="1"/>
          <p:nvPr/>
        </p:nvSpPr>
        <p:spPr>
          <a:xfrm>
            <a:off x="986820" y="2218782"/>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&lt;meta name="viewport" content="width=device-width, initial-scale=1"&gt;</a:t>
            </a:r>
            <a:endParaRPr lang="en-US" sz="731" dirty="0"/>
          </a:p>
        </p:txBody>
      </p:sp>
      <p:sp>
        <p:nvSpPr>
          <p:cNvPr id="37" name="Text 33"/>
          <p:cNvSpPr txBox="1"/>
          <p:nvPr/>
        </p:nvSpPr>
        <p:spPr>
          <a:xfrm>
            <a:off x="639348" y="2358090"/>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6</a:t>
            </a:r>
            <a:endParaRPr lang="en-US" sz="631" dirty="0"/>
          </a:p>
        </p:txBody>
      </p:sp>
      <p:sp>
        <p:nvSpPr>
          <p:cNvPr id="38" name="Text 34"/>
          <p:cNvSpPr txBox="1"/>
          <p:nvPr/>
        </p:nvSpPr>
        <p:spPr>
          <a:xfrm>
            <a:off x="986820" y="2358090"/>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&lt;title&gt;</a:t>
            </a:r>
            <a:pPr indent="0" marL="0">
              <a:buNone/>
            </a:pPr>
            <a:r>
              <a:rPr lang="en-US" sz="731" dirty="0">
                <a:solidFill>
                  <a:srgbClr val="222222"/>
                </a:solidFill>
                <a:latin typeface="Courier New" pitchFamily="34" charset="0"/>
                <a:ea typeface="Courier New" pitchFamily="34" charset="-122"/>
                <a:cs typeface="Courier New" pitchFamily="34" charset="-120"/>
              </a:rPr>
              <a:t>Setoran Hari Ini</a:t>
            </a:r>
            <a:pPr indent="0" marL="0">
              <a:buNone/>
            </a:pPr>
            <a:r>
              <a:rPr lang="en-US" sz="731" dirty="0">
                <a:solidFill>
                  <a:srgbClr val="1A5FB4"/>
                </a:solidFill>
                <a:latin typeface="Courier New" pitchFamily="34" charset="0"/>
                <a:ea typeface="Courier New" pitchFamily="34" charset="-122"/>
                <a:cs typeface="Courier New" pitchFamily="34" charset="-120"/>
              </a:rPr>
              <a:t>&lt;/title&gt;</a:t>
            </a:r>
            <a:endParaRPr lang="en-US" sz="731" dirty="0"/>
          </a:p>
        </p:txBody>
      </p:sp>
      <p:sp>
        <p:nvSpPr>
          <p:cNvPr id="39" name="Text 35"/>
          <p:cNvSpPr txBox="1"/>
          <p:nvPr/>
        </p:nvSpPr>
        <p:spPr>
          <a:xfrm>
            <a:off x="639348" y="2497398"/>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7</a:t>
            </a:r>
            <a:endParaRPr lang="en-US" sz="631" dirty="0"/>
          </a:p>
        </p:txBody>
      </p:sp>
      <p:sp>
        <p:nvSpPr>
          <p:cNvPr id="40" name="Text 36"/>
          <p:cNvSpPr txBox="1"/>
          <p:nvPr/>
        </p:nvSpPr>
        <p:spPr>
          <a:xfrm>
            <a:off x="986820" y="2497398"/>
            <a:ext cx="4436303" cy="139308"/>
          </a:xfrm>
          <a:prstGeom prst="rect">
            <a:avLst/>
          </a:prstGeom>
          <a:noFill/>
          <a:ln/>
        </p:spPr>
        <p:txBody>
          <a:bodyPr wrap="square" lIns="0" tIns="0" rIns="0" bIns="0" rtlCol="0" anchor="ctr"/>
          <a:lstStyle/>
          <a:p>
            <a:pPr indent="0" marL="0">
              <a:buNone/>
            </a:pPr>
            <a:r>
              <a:rPr lang="en-US" sz="731" dirty="0">
                <a:solidFill>
                  <a:srgbClr val="1A5FB4"/>
                </a:solidFill>
                <a:latin typeface="Courier New" pitchFamily="34" charset="0"/>
                <a:ea typeface="Courier New" pitchFamily="34" charset="-122"/>
                <a:cs typeface="Courier New" pitchFamily="34" charset="-120"/>
              </a:rPr>
              <a:t>&lt;/head&gt;</a:t>
            </a:r>
            <a:endParaRPr lang="en-US" sz="731" dirty="0"/>
          </a:p>
        </p:txBody>
      </p:sp>
      <p:sp>
        <p:nvSpPr>
          <p:cNvPr id="41" name="Text 37"/>
          <p:cNvSpPr txBox="1"/>
          <p:nvPr/>
        </p:nvSpPr>
        <p:spPr>
          <a:xfrm>
            <a:off x="639348" y="2636706"/>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8</a:t>
            </a:r>
            <a:endParaRPr lang="en-US" sz="631" dirty="0"/>
          </a:p>
        </p:txBody>
      </p:sp>
      <p:sp>
        <p:nvSpPr>
          <p:cNvPr id="42" name="Text 38"/>
          <p:cNvSpPr txBox="1"/>
          <p:nvPr/>
        </p:nvSpPr>
        <p:spPr>
          <a:xfrm>
            <a:off x="986820" y="2636706"/>
            <a:ext cx="4436303" cy="139308"/>
          </a:xfrm>
          <a:prstGeom prst="rect">
            <a:avLst/>
          </a:prstGeom>
          <a:noFill/>
          <a:ln/>
        </p:spPr>
        <p:txBody>
          <a:bodyPr wrap="square" lIns="0" tIns="0" rIns="0" bIns="0" rtlCol="0" anchor="ctr"/>
          <a:lstStyle/>
          <a:p>
            <a:pPr indent="0" marL="0">
              <a:buNone/>
            </a:pPr>
            <a:r>
              <a:rPr lang="en-US" sz="731" dirty="0">
                <a:solidFill>
                  <a:srgbClr val="1A5FB4"/>
                </a:solidFill>
                <a:latin typeface="Courier New" pitchFamily="34" charset="0"/>
                <a:ea typeface="Courier New" pitchFamily="34" charset="-122"/>
                <a:cs typeface="Courier New" pitchFamily="34" charset="-120"/>
              </a:rPr>
              <a:t>&lt;body&gt;</a:t>
            </a:r>
            <a:endParaRPr lang="en-US" sz="731" dirty="0"/>
          </a:p>
        </p:txBody>
      </p:sp>
      <p:sp>
        <p:nvSpPr>
          <p:cNvPr id="43" name="Shape 39"/>
          <p:cNvSpPr/>
          <p:nvPr/>
        </p:nvSpPr>
        <p:spPr>
          <a:xfrm>
            <a:off x="913668" y="2776013"/>
            <a:ext cx="4555175" cy="139308"/>
          </a:xfrm>
          <a:prstGeom prst="rect">
            <a:avLst/>
          </a:prstGeom>
          <a:solidFill>
            <a:srgbClr val="FFF59D"/>
          </a:solidFill>
          <a:ln w="12700">
            <a:solidFill>
              <a:srgbClr val="FFF59D"/>
            </a:solidFill>
            <a:prstDash val="solid"/>
          </a:ln>
        </p:spPr>
      </p:sp>
      <p:sp>
        <p:nvSpPr>
          <p:cNvPr id="44" name="Text 40"/>
          <p:cNvSpPr txBox="1"/>
          <p:nvPr/>
        </p:nvSpPr>
        <p:spPr>
          <a:xfrm>
            <a:off x="639348" y="2776013"/>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9</a:t>
            </a:r>
            <a:endParaRPr lang="en-US" sz="631" dirty="0"/>
          </a:p>
        </p:txBody>
      </p:sp>
      <p:sp>
        <p:nvSpPr>
          <p:cNvPr id="45" name="Text 41"/>
          <p:cNvSpPr txBox="1"/>
          <p:nvPr/>
        </p:nvSpPr>
        <p:spPr>
          <a:xfrm>
            <a:off x="986820" y="2776013"/>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 Judul halaman --&gt;</a:t>
            </a:r>
            <a:endParaRPr lang="en-US" sz="731" dirty="0"/>
          </a:p>
        </p:txBody>
      </p:sp>
      <p:sp>
        <p:nvSpPr>
          <p:cNvPr id="46" name="Text 42"/>
          <p:cNvSpPr txBox="1"/>
          <p:nvPr/>
        </p:nvSpPr>
        <p:spPr>
          <a:xfrm>
            <a:off x="639348" y="2915321"/>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10</a:t>
            </a:r>
            <a:endParaRPr lang="en-US" sz="631" dirty="0"/>
          </a:p>
        </p:txBody>
      </p:sp>
      <p:sp>
        <p:nvSpPr>
          <p:cNvPr id="47" name="Text 43"/>
          <p:cNvSpPr txBox="1"/>
          <p:nvPr/>
        </p:nvSpPr>
        <p:spPr>
          <a:xfrm>
            <a:off x="986820" y="2915321"/>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&lt;h1&gt;</a:t>
            </a:r>
            <a:pPr indent="0" marL="0">
              <a:buNone/>
            </a:pPr>
            <a:r>
              <a:rPr lang="en-US" sz="731" dirty="0">
                <a:solidFill>
                  <a:srgbClr val="222222"/>
                </a:solidFill>
                <a:latin typeface="Courier New" pitchFamily="34" charset="0"/>
                <a:ea typeface="Courier New" pitchFamily="34" charset="-122"/>
                <a:cs typeface="Courier New" pitchFamily="34" charset="-120"/>
              </a:rPr>
              <a:t>Setoran Hari Ini</a:t>
            </a:r>
            <a:pPr indent="0" marL="0">
              <a:buNone/>
            </a:pPr>
            <a:r>
              <a:rPr lang="en-US" sz="731" dirty="0">
                <a:solidFill>
                  <a:srgbClr val="1A5FB4"/>
                </a:solidFill>
                <a:latin typeface="Courier New" pitchFamily="34" charset="0"/>
                <a:ea typeface="Courier New" pitchFamily="34" charset="-122"/>
                <a:cs typeface="Courier New" pitchFamily="34" charset="-120"/>
              </a:rPr>
              <a:t>&lt;/h1&gt;</a:t>
            </a:r>
            <a:endParaRPr lang="en-US" sz="731" dirty="0"/>
          </a:p>
        </p:txBody>
      </p:sp>
      <p:sp>
        <p:nvSpPr>
          <p:cNvPr id="48" name="Text 44"/>
          <p:cNvSpPr txBox="1"/>
          <p:nvPr/>
        </p:nvSpPr>
        <p:spPr>
          <a:xfrm>
            <a:off x="639348" y="3054629"/>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11</a:t>
            </a:r>
            <a:endParaRPr lang="en-US" sz="631" dirty="0"/>
          </a:p>
        </p:txBody>
      </p:sp>
      <p:sp>
        <p:nvSpPr>
          <p:cNvPr id="49" name="Text 45"/>
          <p:cNvSpPr txBox="1"/>
          <p:nvPr/>
        </p:nvSpPr>
        <p:spPr>
          <a:xfrm>
            <a:off x="986820" y="3054629"/>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 Target setoran --&gt;</a:t>
            </a:r>
            <a:endParaRPr lang="en-US" sz="731" dirty="0"/>
          </a:p>
        </p:txBody>
      </p:sp>
      <p:sp>
        <p:nvSpPr>
          <p:cNvPr id="50" name="Text 46"/>
          <p:cNvSpPr txBox="1"/>
          <p:nvPr/>
        </p:nvSpPr>
        <p:spPr>
          <a:xfrm>
            <a:off x="639348" y="3193936"/>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12</a:t>
            </a:r>
            <a:endParaRPr lang="en-US" sz="631" dirty="0"/>
          </a:p>
        </p:txBody>
      </p:sp>
      <p:sp>
        <p:nvSpPr>
          <p:cNvPr id="51" name="Text 47"/>
          <p:cNvSpPr txBox="1"/>
          <p:nvPr/>
        </p:nvSpPr>
        <p:spPr>
          <a:xfrm>
            <a:off x="986820" y="3193936"/>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&lt;p&gt;</a:t>
            </a:r>
            <a:pPr indent="0" marL="0">
              <a:buNone/>
            </a:pPr>
            <a:r>
              <a:rPr lang="en-US" sz="731" dirty="0">
                <a:solidFill>
                  <a:srgbClr val="222222"/>
                </a:solidFill>
                <a:latin typeface="Courier New" pitchFamily="34" charset="0"/>
                <a:ea typeface="Courier New" pitchFamily="34" charset="-122"/>
                <a:cs typeface="Courier New" pitchFamily="34" charset="-120"/>
              </a:rPr>
              <a:t>Target: An-Naba ayat 1–20</a:t>
            </a:r>
            <a:pPr indent="0" marL="0">
              <a:buNone/>
            </a:pPr>
            <a:r>
              <a:rPr lang="en-US" sz="731" dirty="0">
                <a:solidFill>
                  <a:srgbClr val="1A5FB4"/>
                </a:solidFill>
                <a:latin typeface="Courier New" pitchFamily="34" charset="0"/>
                <a:ea typeface="Courier New" pitchFamily="34" charset="-122"/>
                <a:cs typeface="Courier New" pitchFamily="34" charset="-120"/>
              </a:rPr>
              <a:t>&lt;/p&gt;</a:t>
            </a:r>
            <a:endParaRPr lang="en-US" sz="731" dirty="0"/>
          </a:p>
        </p:txBody>
      </p:sp>
      <p:sp>
        <p:nvSpPr>
          <p:cNvPr id="52" name="Shape 48"/>
          <p:cNvSpPr/>
          <p:nvPr/>
        </p:nvSpPr>
        <p:spPr>
          <a:xfrm>
            <a:off x="913668" y="3333244"/>
            <a:ext cx="4555175" cy="139308"/>
          </a:xfrm>
          <a:prstGeom prst="rect">
            <a:avLst/>
          </a:prstGeom>
          <a:solidFill>
            <a:srgbClr val="FFF59D"/>
          </a:solidFill>
          <a:ln w="12700">
            <a:solidFill>
              <a:srgbClr val="FFF59D"/>
            </a:solidFill>
            <a:prstDash val="solid"/>
          </a:ln>
        </p:spPr>
      </p:sp>
      <p:sp>
        <p:nvSpPr>
          <p:cNvPr id="53" name="Text 49"/>
          <p:cNvSpPr txBox="1"/>
          <p:nvPr/>
        </p:nvSpPr>
        <p:spPr>
          <a:xfrm>
            <a:off x="639348" y="3333244"/>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13</a:t>
            </a:r>
            <a:endParaRPr lang="en-US" sz="631" dirty="0"/>
          </a:p>
        </p:txBody>
      </p:sp>
      <p:sp>
        <p:nvSpPr>
          <p:cNvPr id="54" name="Text 50"/>
          <p:cNvSpPr txBox="1"/>
          <p:nvPr/>
        </p:nvSpPr>
        <p:spPr>
          <a:xfrm>
            <a:off x="986820" y="3333244"/>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 Tombol tanda sudah setor --&gt;</a:t>
            </a:r>
            <a:endParaRPr lang="en-US" sz="731" dirty="0"/>
          </a:p>
        </p:txBody>
      </p:sp>
      <p:sp>
        <p:nvSpPr>
          <p:cNvPr id="55" name="Text 51"/>
          <p:cNvSpPr txBox="1"/>
          <p:nvPr/>
        </p:nvSpPr>
        <p:spPr>
          <a:xfrm>
            <a:off x="639348" y="3472552"/>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14</a:t>
            </a:r>
            <a:endParaRPr lang="en-US" sz="631" dirty="0"/>
          </a:p>
        </p:txBody>
      </p:sp>
      <p:sp>
        <p:nvSpPr>
          <p:cNvPr id="56" name="Text 52"/>
          <p:cNvSpPr txBox="1"/>
          <p:nvPr/>
        </p:nvSpPr>
        <p:spPr>
          <a:xfrm>
            <a:off x="986820" y="3472552"/>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&lt;button&gt;</a:t>
            </a:r>
            <a:pPr indent="0" marL="0">
              <a:buNone/>
            </a:pPr>
            <a:r>
              <a:rPr lang="en-US" sz="731" dirty="0">
                <a:solidFill>
                  <a:srgbClr val="222222"/>
                </a:solidFill>
                <a:latin typeface="Courier New" pitchFamily="34" charset="0"/>
                <a:ea typeface="Courier New" pitchFamily="34" charset="-122"/>
                <a:cs typeface="Courier New" pitchFamily="34" charset="-120"/>
              </a:rPr>
              <a:t>Sudah Setor</a:t>
            </a:r>
            <a:pPr indent="0" marL="0">
              <a:buNone/>
            </a:pPr>
            <a:r>
              <a:rPr lang="en-US" sz="731" dirty="0">
                <a:solidFill>
                  <a:srgbClr val="1A5FB4"/>
                </a:solidFill>
                <a:latin typeface="Courier New" pitchFamily="34" charset="0"/>
                <a:ea typeface="Courier New" pitchFamily="34" charset="-122"/>
                <a:cs typeface="Courier New" pitchFamily="34" charset="-120"/>
              </a:rPr>
              <a:t>&lt;/button&gt;</a:t>
            </a:r>
            <a:endParaRPr lang="en-US" sz="731" dirty="0"/>
          </a:p>
        </p:txBody>
      </p:sp>
      <p:sp>
        <p:nvSpPr>
          <p:cNvPr id="57" name="Text 53"/>
          <p:cNvSpPr txBox="1"/>
          <p:nvPr/>
        </p:nvSpPr>
        <p:spPr>
          <a:xfrm>
            <a:off x="639348" y="3611859"/>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15</a:t>
            </a:r>
            <a:endParaRPr lang="en-US" sz="631" dirty="0"/>
          </a:p>
        </p:txBody>
      </p:sp>
      <p:sp>
        <p:nvSpPr>
          <p:cNvPr id="58" name="Text 54"/>
          <p:cNvSpPr txBox="1"/>
          <p:nvPr/>
        </p:nvSpPr>
        <p:spPr>
          <a:xfrm>
            <a:off x="986820" y="3611859"/>
            <a:ext cx="4436303" cy="139308"/>
          </a:xfrm>
          <a:prstGeom prst="rect">
            <a:avLst/>
          </a:prstGeom>
          <a:noFill/>
          <a:ln/>
        </p:spPr>
        <p:txBody>
          <a:bodyPr wrap="square" lIns="0" tIns="0" rIns="0" bIns="0" rtlCol="0" anchor="ctr"/>
          <a:lstStyle/>
          <a:p>
            <a:pPr indent="0" marL="0">
              <a:buNone/>
            </a:pPr>
            <a:r>
              <a:rPr lang="en-US" sz="731" dirty="0">
                <a:solidFill>
                  <a:srgbClr val="1A5FB4"/>
                </a:solidFill>
                <a:latin typeface="Courier New" pitchFamily="34" charset="0"/>
                <a:ea typeface="Courier New" pitchFamily="34" charset="-122"/>
                <a:cs typeface="Courier New" pitchFamily="34" charset="-120"/>
              </a:rPr>
              <a:t>&lt;/body&gt;</a:t>
            </a:r>
            <a:endParaRPr lang="en-US" sz="731" dirty="0"/>
          </a:p>
        </p:txBody>
      </p:sp>
      <p:sp>
        <p:nvSpPr>
          <p:cNvPr id="59" name="Text 55"/>
          <p:cNvSpPr txBox="1"/>
          <p:nvPr/>
        </p:nvSpPr>
        <p:spPr>
          <a:xfrm>
            <a:off x="639348" y="3751167"/>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16</a:t>
            </a:r>
            <a:endParaRPr lang="en-US" sz="631" dirty="0"/>
          </a:p>
        </p:txBody>
      </p:sp>
      <p:sp>
        <p:nvSpPr>
          <p:cNvPr id="60" name="Text 56"/>
          <p:cNvSpPr txBox="1"/>
          <p:nvPr/>
        </p:nvSpPr>
        <p:spPr>
          <a:xfrm>
            <a:off x="986820" y="3751167"/>
            <a:ext cx="4436303" cy="139308"/>
          </a:xfrm>
          <a:prstGeom prst="rect">
            <a:avLst/>
          </a:prstGeom>
          <a:noFill/>
          <a:ln/>
        </p:spPr>
        <p:txBody>
          <a:bodyPr wrap="square" lIns="0" tIns="0" rIns="0" bIns="0" rtlCol="0" anchor="ctr"/>
          <a:lstStyle/>
          <a:p>
            <a:pPr indent="0" marL="0">
              <a:buNone/>
            </a:pPr>
            <a:r>
              <a:rPr lang="en-US" sz="731" dirty="0">
                <a:solidFill>
                  <a:srgbClr val="1A5FB4"/>
                </a:solidFill>
                <a:latin typeface="Courier New" pitchFamily="34" charset="0"/>
                <a:ea typeface="Courier New" pitchFamily="34" charset="-122"/>
                <a:cs typeface="Courier New" pitchFamily="34" charset="-120"/>
              </a:rPr>
              <a:t>&lt;/html&gt;</a:t>
            </a:r>
            <a:endParaRPr lang="en-US" sz="731" dirty="0"/>
          </a:p>
        </p:txBody>
      </p:sp>
      <p:sp>
        <p:nvSpPr>
          <p:cNvPr id="61" name="Shape 57"/>
          <p:cNvSpPr/>
          <p:nvPr/>
        </p:nvSpPr>
        <p:spPr>
          <a:xfrm>
            <a:off x="913668" y="2061187"/>
            <a:ext cx="4555175" cy="315191"/>
          </a:xfrm>
          <a:prstGeom prst="roundRect">
            <a:avLst>
              <a:gd name="adj" fmla="val 14505"/>
            </a:avLst>
          </a:prstGeom>
          <a:solidFill>
            <a:srgbClr val="FFFFFF">
              <a:alpha val="0"/>
            </a:srgbClr>
          </a:solidFill>
          <a:ln w="31750">
            <a:solidFill>
              <a:srgbClr val="E53935"/>
            </a:solidFill>
            <a:prstDash val="solid"/>
          </a:ln>
        </p:spPr>
      </p:sp>
      <p:sp>
        <p:nvSpPr>
          <p:cNvPr id="62" name="Shape 58"/>
          <p:cNvSpPr/>
          <p:nvPr/>
        </p:nvSpPr>
        <p:spPr>
          <a:xfrm>
            <a:off x="5331684" y="1924027"/>
            <a:ext cx="274320" cy="274320"/>
          </a:xfrm>
          <a:prstGeom prst="ellipse">
            <a:avLst/>
          </a:prstGeom>
          <a:solidFill>
            <a:srgbClr val="E53935"/>
          </a:solidFill>
          <a:ln w="12700">
            <a:solidFill>
              <a:srgbClr val="FFFFFF"/>
            </a:solidFill>
            <a:prstDash val="solid"/>
          </a:ln>
        </p:spPr>
      </p:sp>
      <p:sp>
        <p:nvSpPr>
          <p:cNvPr id="63" name="Text 59"/>
          <p:cNvSpPr txBox="1"/>
          <p:nvPr/>
        </p:nvSpPr>
        <p:spPr>
          <a:xfrm>
            <a:off x="5331684" y="192402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64" name="Image 2" descr="preencoded.png">    </p:cNvPr>
          <p:cNvPicPr>
            <a:picLocks noChangeAspect="1"/>
          </p:cNvPicPr>
          <p:nvPr/>
        </p:nvPicPr>
        <p:blipFill>
          <a:blip r:embed="rId3"/>
          <a:stretch>
            <a:fillRect/>
          </a:stretch>
        </p:blipFill>
        <p:spPr>
          <a:xfrm>
            <a:off x="3417186" y="2232713"/>
            <a:ext cx="237744" cy="237744"/>
          </a:xfrm>
          <a:prstGeom prst="rect">
            <a:avLst/>
          </a:prstGeom>
        </p:spPr>
      </p:pic>
      <p:sp>
        <p:nvSpPr>
          <p:cNvPr id="65" name="Text 6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66" name="Text 6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Jelaskan setiap baris, tulis di komentar</a:t>
            </a:r>
            <a:endParaRPr lang="en-US" sz="1800" dirty="0"/>
          </a:p>
        </p:txBody>
      </p:sp>
      <p:sp>
        <p:nvSpPr>
          <p:cNvPr id="67" name="Text 6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Setiap anggota menjelaskan 3–4 baris kepada kelompoknya. Bagian yang belum dipahami ditandai untuk ditanyakan.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Memahami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420624"/>
          </a:xfrm>
          <a:prstGeom prst="roundRect">
            <a:avLst>
              <a:gd name="adj" fmla="val 21739"/>
            </a:avLst>
          </a:prstGeom>
          <a:solidFill>
            <a:srgbClr val="E3E9F5"/>
          </a:solidFill>
          <a:ln w="12700">
            <a:solidFill>
              <a:srgbClr val="E3E9F5"/>
            </a:solidFill>
            <a:prstDash val="solid"/>
          </a:ln>
        </p:spPr>
      </p:sp>
      <p:sp>
        <p:nvSpPr>
          <p:cNvPr id="32" name="Text 25"/>
          <p:cNvSpPr txBox="1"/>
          <p:nvPr/>
        </p:nvSpPr>
        <p:spPr>
          <a:xfrm>
            <a:off x="2648468" y="1805693"/>
            <a:ext cx="2707356" cy="42062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Jelaskan baris &lt;meta name="viewport" content="width=device-width, initial-scale=1"&gt; dengan bahasa sederhana dan satu perumpamaan.</a:t>
            </a:r>
            <a:endParaRPr lang="en-US" sz="750" dirty="0"/>
          </a:p>
        </p:txBody>
      </p:sp>
      <p:pic>
        <p:nvPicPr>
          <p:cNvPr id="33" name="Image 5" descr="preencoded.png">    </p:cNvPr>
          <p:cNvPicPr>
            <a:picLocks noChangeAspect="1"/>
          </p:cNvPicPr>
          <p:nvPr/>
        </p:nvPicPr>
        <p:blipFill>
          <a:blip r:embed="rId6"/>
          <a:stretch>
            <a:fillRect/>
          </a:stretch>
        </p:blipFill>
        <p:spPr>
          <a:xfrm>
            <a:off x="1593616" y="2317757"/>
            <a:ext cx="182880" cy="182880"/>
          </a:xfrm>
          <a:prstGeom prst="rect">
            <a:avLst/>
          </a:prstGeom>
        </p:spPr>
      </p:pic>
      <p:sp>
        <p:nvSpPr>
          <p:cNvPr id="34" name="Text 26"/>
          <p:cNvSpPr txBox="1"/>
          <p:nvPr/>
        </p:nvSpPr>
        <p:spPr>
          <a:xfrm>
            <a:off x="1849648" y="2317757"/>
            <a:ext cx="3533607" cy="64008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Baris ini memberi tahu HP agar menampilkan halaman selebar layarnya, tidak diperkecil. Perumpamaannya: seperti mengatur sajadah sesuai lebar shaf, agar pas, tidak terlipat dan tidak terlalu kecil.</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290325"/>
            <a:ext cx="3588471" cy="694944"/>
          </a:xfrm>
          <a:prstGeom prst="roundRect">
            <a:avLst>
              <a:gd name="adj" fmla="val 6579"/>
            </a:avLst>
          </a:prstGeom>
          <a:solidFill>
            <a:srgbClr val="FFFFFF">
              <a:alpha val="0"/>
            </a:srgbClr>
          </a:solidFill>
          <a:ln w="31750">
            <a:solidFill>
              <a:srgbClr val="E53935"/>
            </a:solidFill>
            <a:prstDash val="solid"/>
          </a:ln>
        </p:spPr>
      </p:sp>
      <p:sp>
        <p:nvSpPr>
          <p:cNvPr id="41" name="Shape 32"/>
          <p:cNvSpPr/>
          <p:nvPr/>
        </p:nvSpPr>
        <p:spPr>
          <a:xfrm>
            <a:off x="5273528" y="215316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1531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pic>
        <p:nvPicPr>
          <p:cNvPr id="43" name="Image 7" descr="preencoded.png">    </p:cNvPr>
          <p:cNvPicPr>
            <a:picLocks noChangeAspect="1"/>
          </p:cNvPicPr>
          <p:nvPr/>
        </p:nvPicPr>
        <p:blipFill>
          <a:blip r:embed="rId8"/>
          <a:stretch>
            <a:fillRect/>
          </a:stretch>
        </p:blipFill>
        <p:spPr>
          <a:xfrm>
            <a:off x="3793132" y="2669801"/>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Tanya AI bagian yang belum dipahami</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Pada giliran berikutnya, tanyakan: "Jelaskan baris [tempel baris] dengan bahasa sederhana dan satu perumpamaan."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10</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Kelompok mengumpulkan:</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Prompt kerangka HTML (5 komponen) di Docs.</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File index.html di folder Proyek_KelN, terbuka di browser.</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Komentar penjelasan dengan kata-kata sendiri di setiap bagian kode.</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Daftar baris yang ditanyakan ke AI dan jawabannya.</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Prompt memakai 5 komponen</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Kerangka HTML tersimpan dan terbuka</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Setiap baris diberi komentar penjelasan</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Santri bisa menjelaskan kodenya</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kita harus memahami kode dari AI?</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Baris mana yang paling sulit kamu pahami?</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AI adalah alat; ilmu tetap harus masuk ke dalam diri kita. Jangan puas hanya menyalin.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Membangun tampilan dari sketsa dengan CSS.</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11</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Dari Sketsa ke Tampilan</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Meminta, memodifikasi, dan menguji CSS</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4: Coding dengan AI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Kode dari AI sudah berfungsi. Bagaimana membuatnya sesuai selera dan identitas kita?</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11</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Meminta AI membuat CSS berdasarkan deskripsi sketsa</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Memodifikasi CSS sendiri tanpa bantuan AI</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Menguji tampilan di layar komputer dan HP</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Menjelaskan Sketsa kepada 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Warna &amp; Identitas</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"Hijau tua #0F4C3A dan emas #D4A017, latar terang."</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Tata Letak</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"Header di atas, satu kartu di tengah, tombol di bawah kartu."</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Perangkat</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"Rapi di HP, lebar kartu maksimal 400px."</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Batasan</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"CSS di dalam &lt;style&gt;, pakai class, beri komentar."</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Memodifikasi Kode dengan Sadar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Modifikasi yang Baik</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Ubah satu hal, simpan, lihat hasilnya</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Tahu aturan mana yang mengubah apa</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Catat perubahan di komentar</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Kebiasaan Buruk</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Mengubah banyak sekaligus lalu bingung</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Menghapus baris yang tidak dipahami</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Meminta AI mengubah setiap hal kecil</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Memberi Tampilan pada Proyek</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 AI bergiliran, diawasi guru</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Meminta CSS dari deskripsi sketsa</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Modifikasi sendiri</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Uji tampilan HP</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Meminta CSS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Prompt_Proyek_Kel3 -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Prompt_Proyek_Kel3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Prompt CSS</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Ini kode HTML saya: [tempel kode]. Tambahkan CSS di</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&lt;style&gt;: header hijau tua #0F4C3A huruf putih, satu</a:t>
            </a:r>
            <a:endParaRPr lang="en-US" sz="800" dirty="0"/>
          </a:p>
        </p:txBody>
      </p:sp>
      <p:sp>
        <p:nvSpPr>
          <p:cNvPr id="72" name="Text 61"/>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kartu putih di tengah (maks 400px, sudut bulat), tombol</a:t>
            </a:r>
            <a:endParaRPr lang="en-US" sz="800" dirty="0"/>
          </a:p>
        </p:txBody>
      </p:sp>
      <p:sp>
        <p:nvSpPr>
          <p:cNvPr id="73" name="Text 62"/>
          <p:cNvSpPr txBox="1"/>
          <p:nvPr/>
        </p:nvSpPr>
        <p:spPr>
          <a:xfrm>
            <a:off x="1554480" y="345605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emas #D4A017. Rapi di HP. Pakai class, beri komentar.</a:t>
            </a:r>
            <a:endParaRPr lang="en-US" sz="800" dirty="0"/>
          </a:p>
        </p:txBody>
      </p:sp>
      <p:sp>
        <p:nvSpPr>
          <p:cNvPr id="74" name="Shape 63"/>
          <p:cNvSpPr/>
          <p:nvPr/>
        </p:nvSpPr>
        <p:spPr>
          <a:xfrm>
            <a:off x="1527048" y="2849506"/>
            <a:ext cx="3072384" cy="781304"/>
          </a:xfrm>
          <a:prstGeom prst="roundRect">
            <a:avLst>
              <a:gd name="adj" fmla="val 5852"/>
            </a:avLst>
          </a:prstGeom>
          <a:solidFill>
            <a:srgbClr val="FFFFFF">
              <a:alpha val="0"/>
            </a:srgbClr>
          </a:solidFill>
          <a:ln w="31750">
            <a:solidFill>
              <a:srgbClr val="E53935"/>
            </a:solidFill>
            <a:prstDash val="solid"/>
          </a:ln>
        </p:spPr>
      </p:sp>
      <p:sp>
        <p:nvSpPr>
          <p:cNvPr id="75" name="Shape 64"/>
          <p:cNvSpPr/>
          <p:nvPr/>
        </p:nvSpPr>
        <p:spPr>
          <a:xfrm>
            <a:off x="4462272" y="2712346"/>
            <a:ext cx="274320" cy="274320"/>
          </a:xfrm>
          <a:prstGeom prst="ellipse">
            <a:avLst/>
          </a:prstGeom>
          <a:solidFill>
            <a:srgbClr val="E53935"/>
          </a:solidFill>
          <a:ln w="12700">
            <a:solidFill>
              <a:srgbClr val="FFFFFF"/>
            </a:solidFill>
            <a:prstDash val="solid"/>
          </a:ln>
        </p:spPr>
      </p:sp>
      <p:sp>
        <p:nvSpPr>
          <p:cNvPr id="76" name="Text 65"/>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77" name="Image 9" descr="preencoded.png">    </p:cNvPr>
          <p:cNvPicPr>
            <a:picLocks noChangeAspect="1"/>
          </p:cNvPicPr>
          <p:nvPr/>
        </p:nvPicPr>
        <p:blipFill>
          <a:blip r:embed="rId10"/>
          <a:stretch>
            <a:fillRect/>
          </a:stretch>
        </p:blipFill>
        <p:spPr>
          <a:xfrm>
            <a:off x="3214116" y="3276480"/>
            <a:ext cx="237744" cy="237744"/>
          </a:xfrm>
          <a:prstGeom prst="rect">
            <a:avLst/>
          </a:prstGeom>
        </p:spPr>
      </p:pic>
      <p:sp>
        <p:nvSpPr>
          <p:cNvPr id="78"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79"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deskripsi sketsa dalam prompt</a:t>
            </a:r>
            <a:endParaRPr lang="en-US" sz="1800" dirty="0"/>
          </a:p>
        </p:txBody>
      </p:sp>
      <p:sp>
        <p:nvSpPr>
          <p:cNvPr id="80"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Jelaskan warna, tata letak, perangkat, dan batasan. Minta CSS untuk kode yang sudah ada (tempel kode HTML-nya).</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Meminta CSS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420624"/>
          </a:xfrm>
          <a:prstGeom prst="roundRect">
            <a:avLst>
              <a:gd name="adj" fmla="val 21739"/>
            </a:avLst>
          </a:prstGeom>
          <a:solidFill>
            <a:srgbClr val="E3E9F5"/>
          </a:solidFill>
          <a:ln w="12700">
            <a:solidFill>
              <a:srgbClr val="E3E9F5"/>
            </a:solidFill>
            <a:prstDash val="solid"/>
          </a:ln>
        </p:spPr>
      </p:sp>
      <p:sp>
        <p:nvSpPr>
          <p:cNvPr id="32" name="Text 25"/>
          <p:cNvSpPr txBox="1"/>
          <p:nvPr/>
        </p:nvSpPr>
        <p:spPr>
          <a:xfrm>
            <a:off x="2648468" y="1805693"/>
            <a:ext cx="2707356" cy="42062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Ini kode HTML saya... Tambahkan CSS di &lt;style&gt;: header hijau tua...</a:t>
            </a:r>
            <a:endParaRPr lang="en-US" sz="750" dirty="0"/>
          </a:p>
        </p:txBody>
      </p:sp>
      <p:pic>
        <p:nvPicPr>
          <p:cNvPr id="33" name="Image 5" descr="preencoded.png">    </p:cNvPr>
          <p:cNvPicPr>
            <a:picLocks noChangeAspect="1"/>
          </p:cNvPicPr>
          <p:nvPr/>
        </p:nvPicPr>
        <p:blipFill>
          <a:blip r:embed="rId6"/>
          <a:stretch>
            <a:fillRect/>
          </a:stretch>
        </p:blipFill>
        <p:spPr>
          <a:xfrm>
            <a:off x="1593616" y="2317757"/>
            <a:ext cx="182880" cy="182880"/>
          </a:xfrm>
          <a:prstGeom prst="rect">
            <a:avLst/>
          </a:prstGeom>
        </p:spPr>
      </p:pic>
      <p:sp>
        <p:nvSpPr>
          <p:cNvPr id="34" name="Text 26"/>
          <p:cNvSpPr txBox="1"/>
          <p:nvPr/>
        </p:nvSpPr>
        <p:spPr>
          <a:xfrm>
            <a:off x="1849648" y="2317757"/>
            <a:ext cx="3533607" cy="96012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Berikut kode lengkap dengan CSS:</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&lt;style&gt;</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  /* Latar halaman */</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  body { background: #F3F8F5; font-family: Arial; }</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  /* Header */</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  header { background: #0F4C3A; color: white; }</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  /* Kartu */</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  .kartu { max-width: 400px; margin: 16px auto; ... }</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290325"/>
            <a:ext cx="3588471" cy="1014984"/>
          </a:xfrm>
          <a:prstGeom prst="roundRect">
            <a:avLst>
              <a:gd name="adj" fmla="val 4505"/>
            </a:avLst>
          </a:prstGeom>
          <a:solidFill>
            <a:srgbClr val="FFFFFF">
              <a:alpha val="0"/>
            </a:srgbClr>
          </a:solidFill>
          <a:ln w="31750">
            <a:solidFill>
              <a:srgbClr val="E53935"/>
            </a:solidFill>
            <a:prstDash val="solid"/>
          </a:ln>
        </p:spPr>
      </p:sp>
      <p:sp>
        <p:nvSpPr>
          <p:cNvPr id="41" name="Shape 32"/>
          <p:cNvSpPr/>
          <p:nvPr/>
        </p:nvSpPr>
        <p:spPr>
          <a:xfrm>
            <a:off x="5273528" y="215316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1531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43" name="Image 7" descr="preencoded.png">    </p:cNvPr>
          <p:cNvPicPr>
            <a:picLocks noChangeAspect="1"/>
          </p:cNvPicPr>
          <p:nvPr/>
        </p:nvPicPr>
        <p:blipFill>
          <a:blip r:embed="rId8"/>
          <a:stretch>
            <a:fillRect/>
          </a:stretch>
        </p:blipFill>
        <p:spPr>
          <a:xfrm>
            <a:off x="3793132" y="2845823"/>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Kirim di komputer ber-AI, salin hasil</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Petugas kelompok mengirim prompt, membaca penjelasan, lalu menyalin kode lengkap.</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Meminta CSS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Setoran Hari Ini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file:///C:/.../Proyek_Kel3/index.html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4914351" cy="457200"/>
          </a:xfrm>
          <a:prstGeom prst="rect">
            <a:avLst/>
          </a:prstGeom>
          <a:solidFill>
            <a:srgbClr val="0F4C3A"/>
          </a:solidFill>
          <a:ln w="12700">
            <a:solidFill>
              <a:srgbClr val="0F4C3A"/>
            </a:solidFill>
            <a:prstDash val="solid"/>
          </a:ln>
        </p:spPr>
      </p:sp>
      <p:sp>
        <p:nvSpPr>
          <p:cNvPr id="31" name="Text 24"/>
          <p:cNvSpPr txBox="1"/>
          <p:nvPr/>
        </p:nvSpPr>
        <p:spPr>
          <a:xfrm>
            <a:off x="606064" y="1695965"/>
            <a:ext cx="4914351"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Setoran Hari Ini</a:t>
            </a:r>
            <a:endParaRPr lang="en-US" sz="1300" dirty="0"/>
          </a:p>
        </p:txBody>
      </p:sp>
      <p:sp>
        <p:nvSpPr>
          <p:cNvPr id="32" name="Shape 25"/>
          <p:cNvSpPr/>
          <p:nvPr/>
        </p:nvSpPr>
        <p:spPr>
          <a:xfrm>
            <a:off x="1874520" y="2290325"/>
            <a:ext cx="2377440" cy="1143000"/>
          </a:xfrm>
          <a:prstGeom prst="roundRect">
            <a:avLst>
              <a:gd name="adj" fmla="val 6400"/>
            </a:avLst>
          </a:prstGeom>
          <a:solidFill>
            <a:srgbClr val="FFFFFF"/>
          </a:solidFill>
          <a:ln w="9525">
            <a:solidFill>
              <a:srgbClr val="DDDDDD"/>
            </a:solidFill>
            <a:prstDash val="solid"/>
          </a:ln>
        </p:spPr>
      </p:sp>
      <p:sp>
        <p:nvSpPr>
          <p:cNvPr id="33" name="Text 26"/>
          <p:cNvSpPr txBox="1"/>
          <p:nvPr/>
        </p:nvSpPr>
        <p:spPr>
          <a:xfrm>
            <a:off x="1984248" y="2354333"/>
            <a:ext cx="2194560" cy="274320"/>
          </a:xfrm>
          <a:prstGeom prst="rect">
            <a:avLst/>
          </a:prstGeom>
          <a:noFill/>
          <a:ln/>
        </p:spPr>
        <p:txBody>
          <a:bodyPr wrap="square" lIns="0" tIns="0" rIns="0" bIns="0" rtlCol="0" anchor="t"/>
          <a:lstStyle/>
          <a:p>
            <a:pPr indent="0" marL="0">
              <a:buNone/>
            </a:pPr>
            <a:r>
              <a:rPr lang="en-US" sz="900" b="1" dirty="0">
                <a:solidFill>
                  <a:srgbClr val="1E2A26"/>
                </a:solidFill>
                <a:latin typeface="Arial" pitchFamily="34" charset="0"/>
                <a:ea typeface="Arial" pitchFamily="34" charset="-122"/>
                <a:cs typeface="Arial" pitchFamily="34" charset="-120"/>
              </a:rPr>
              <a:t>Target: An-Naba ayat 1–20</a:t>
            </a:r>
            <a:endParaRPr lang="en-US" sz="900" dirty="0"/>
          </a:p>
        </p:txBody>
      </p:sp>
      <p:sp>
        <p:nvSpPr>
          <p:cNvPr id="34" name="Text 27"/>
          <p:cNvSpPr txBox="1"/>
          <p:nvPr/>
        </p:nvSpPr>
        <p:spPr>
          <a:xfrm>
            <a:off x="1984248" y="2628653"/>
            <a:ext cx="2194560" cy="256032"/>
          </a:xfrm>
          <a:prstGeom prst="rect">
            <a:avLst/>
          </a:prstGeom>
          <a:noFill/>
          <a:ln/>
        </p:spPr>
        <p:txBody>
          <a:bodyPr wrap="square" lIns="0" tIns="0" rIns="0" bIns="0" rtlCol="0" anchor="t"/>
          <a:lstStyle/>
          <a:p>
            <a:pPr indent="0" marL="0">
              <a:buNone/>
            </a:pPr>
            <a:r>
              <a:rPr lang="en-US" sz="850" dirty="0">
                <a:solidFill>
                  <a:srgbClr val="666666"/>
                </a:solidFill>
                <a:latin typeface="Arial" pitchFamily="34" charset="0"/>
                <a:ea typeface="Arial" pitchFamily="34" charset="-122"/>
                <a:cs typeface="Arial" pitchFamily="34" charset="-120"/>
              </a:rPr>
              <a:t>Belum setor hari ini.</a:t>
            </a:r>
            <a:endParaRPr lang="en-US" sz="850" dirty="0"/>
          </a:p>
        </p:txBody>
      </p:sp>
      <p:sp>
        <p:nvSpPr>
          <p:cNvPr id="35" name="Shape 28"/>
          <p:cNvSpPr/>
          <p:nvPr/>
        </p:nvSpPr>
        <p:spPr>
          <a:xfrm>
            <a:off x="2514600" y="2994413"/>
            <a:ext cx="1097280" cy="274320"/>
          </a:xfrm>
          <a:prstGeom prst="roundRect">
            <a:avLst>
              <a:gd name="adj" fmla="val 50000"/>
            </a:avLst>
          </a:prstGeom>
          <a:solidFill>
            <a:srgbClr val="D4A017"/>
          </a:solidFill>
          <a:ln w="12700">
            <a:solidFill>
              <a:srgbClr val="D4A017"/>
            </a:solidFill>
            <a:prstDash val="solid"/>
          </a:ln>
        </p:spPr>
      </p:sp>
      <p:sp>
        <p:nvSpPr>
          <p:cNvPr id="36" name="Text 29"/>
          <p:cNvSpPr txBox="1"/>
          <p:nvPr/>
        </p:nvSpPr>
        <p:spPr>
          <a:xfrm>
            <a:off x="2514600" y="2994413"/>
            <a:ext cx="109728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Sudah Setor</a:t>
            </a:r>
            <a:endParaRPr lang="en-US" sz="850" dirty="0"/>
          </a:p>
        </p:txBody>
      </p:sp>
      <p:sp>
        <p:nvSpPr>
          <p:cNvPr id="37" name="Shape 30"/>
          <p:cNvSpPr/>
          <p:nvPr/>
        </p:nvSpPr>
        <p:spPr>
          <a:xfrm>
            <a:off x="633496" y="1695965"/>
            <a:ext cx="4859487" cy="1728216"/>
          </a:xfrm>
          <a:prstGeom prst="roundRect">
            <a:avLst>
              <a:gd name="adj" fmla="val 2646"/>
            </a:avLst>
          </a:prstGeom>
          <a:solidFill>
            <a:srgbClr val="FFFFFF">
              <a:alpha val="0"/>
            </a:srgbClr>
          </a:solidFill>
          <a:ln w="31750">
            <a:solidFill>
              <a:srgbClr val="E53935"/>
            </a:solidFill>
            <a:prstDash val="solid"/>
          </a:ln>
        </p:spPr>
      </p:sp>
      <p:sp>
        <p:nvSpPr>
          <p:cNvPr id="38" name="Shape 31"/>
          <p:cNvSpPr/>
          <p:nvPr/>
        </p:nvSpPr>
        <p:spPr>
          <a:xfrm>
            <a:off x="5355824" y="1558805"/>
            <a:ext cx="274320" cy="274320"/>
          </a:xfrm>
          <a:prstGeom prst="ellipse">
            <a:avLst/>
          </a:prstGeom>
          <a:solidFill>
            <a:srgbClr val="E53935"/>
          </a:solidFill>
          <a:ln w="12700">
            <a:solidFill>
              <a:srgbClr val="FFFFFF"/>
            </a:solidFill>
            <a:prstDash val="solid"/>
          </a:ln>
        </p:spPr>
      </p:sp>
      <p:sp>
        <p:nvSpPr>
          <p:cNvPr id="39" name="Text 32"/>
          <p:cNvSpPr txBox="1"/>
          <p:nvPr/>
        </p:nvSpPr>
        <p:spPr>
          <a:xfrm>
            <a:off x="5355824" y="15588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40" name="Image 5" descr="preencoded.png">    </p:cNvPr>
          <p:cNvPicPr>
            <a:picLocks noChangeAspect="1"/>
          </p:cNvPicPr>
          <p:nvPr/>
        </p:nvPicPr>
        <p:blipFill>
          <a:blip r:embed="rId6"/>
          <a:stretch>
            <a:fillRect/>
          </a:stretch>
        </p:blipFill>
        <p:spPr>
          <a:xfrm>
            <a:off x="3304386" y="2644655"/>
            <a:ext cx="237744" cy="237744"/>
          </a:xfrm>
          <a:prstGeom prst="rect">
            <a:avLst/>
          </a:prstGeom>
        </p:spPr>
      </p:pic>
      <p:sp>
        <p:nvSpPr>
          <p:cNvPr id="41" name="Text 3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2" name="Text 3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Simpan, lihat hasilnya</a:t>
            </a:r>
            <a:endParaRPr lang="en-US" sz="1800" dirty="0"/>
          </a:p>
        </p:txBody>
      </p:sp>
      <p:sp>
        <p:nvSpPr>
          <p:cNvPr id="43" name="Text 3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Ganti isi index.html dengan kode baru. Simpan, refresh browser. Bandingkan dengan sketsa.</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Modifikasi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 Tombol */</a:t>
            </a:r>
            <a:endParaRPr lang="en-US" sz="900" dirty="0"/>
          </a:p>
        </p:txBody>
      </p:sp>
      <p:sp>
        <p:nvSpPr>
          <p:cNvPr id="27" name="Text 23"/>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8" name="Text 24"/>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.tombol {</a:t>
            </a:r>
            <a:endParaRPr lang="en-US" sz="900" dirty="0"/>
          </a:p>
        </p:txBody>
      </p:sp>
      <p:sp>
        <p:nvSpPr>
          <p:cNvPr id="29" name="Text 25"/>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0" name="Text 26"/>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background: #D4A017;</a:t>
            </a:r>
            <a:endParaRPr lang="en-US" sz="900" dirty="0"/>
          </a:p>
        </p:txBody>
      </p:sp>
      <p:sp>
        <p:nvSpPr>
          <p:cNvPr id="31" name="Text 27"/>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2" name="Text 28"/>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color: white;</a:t>
            </a:r>
            <a:endParaRPr lang="en-US" sz="900" dirty="0"/>
          </a:p>
        </p:txBody>
      </p:sp>
      <p:sp>
        <p:nvSpPr>
          <p:cNvPr id="33" name="Text 29"/>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4" name="Text 30"/>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padding: 10px 24px;</a:t>
            </a:r>
            <a:endParaRPr lang="en-US" sz="900" dirty="0"/>
          </a:p>
        </p:txBody>
      </p:sp>
      <p:sp>
        <p:nvSpPr>
          <p:cNvPr id="35" name="Shape 31"/>
          <p:cNvSpPr/>
          <p:nvPr/>
        </p:nvSpPr>
        <p:spPr>
          <a:xfrm>
            <a:off x="913668" y="2530232"/>
            <a:ext cx="4555175" cy="173736"/>
          </a:xfrm>
          <a:prstGeom prst="rect">
            <a:avLst/>
          </a:prstGeom>
          <a:solidFill>
            <a:srgbClr val="FFF59D"/>
          </a:solidFill>
          <a:ln w="12700">
            <a:solidFill>
              <a:srgbClr val="FFF59D"/>
            </a:solidFill>
            <a:prstDash val="solid"/>
          </a:ln>
        </p:spPr>
      </p:sp>
      <p:sp>
        <p:nvSpPr>
          <p:cNvPr id="36" name="Text 32"/>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37" name="Text 33"/>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border-radius: 24px;  /* diubah sendiri: dari 8px */</a:t>
            </a:r>
            <a:endParaRPr lang="en-US" sz="900" dirty="0"/>
          </a:p>
        </p:txBody>
      </p:sp>
      <p:sp>
        <p:nvSpPr>
          <p:cNvPr id="38" name="Shape 34"/>
          <p:cNvSpPr/>
          <p:nvPr/>
        </p:nvSpPr>
        <p:spPr>
          <a:xfrm>
            <a:off x="913668" y="2703968"/>
            <a:ext cx="4555175" cy="173736"/>
          </a:xfrm>
          <a:prstGeom prst="rect">
            <a:avLst/>
          </a:prstGeom>
          <a:solidFill>
            <a:srgbClr val="FFF59D"/>
          </a:solidFill>
          <a:ln w="12700">
            <a:solidFill>
              <a:srgbClr val="FFF59D"/>
            </a:solidFill>
            <a:prstDash val="solid"/>
          </a:ln>
        </p:spPr>
      </p:sp>
      <p:sp>
        <p:nvSpPr>
          <p:cNvPr id="39" name="Text 35"/>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40" name="Text 36"/>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font-size: 16px;      /* diubah sendiri */</a:t>
            </a:r>
            <a:endParaRPr lang="en-US" sz="900" dirty="0"/>
          </a:p>
        </p:txBody>
      </p:sp>
      <p:sp>
        <p:nvSpPr>
          <p:cNvPr id="41" name="Text 37"/>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2" name="Text 38"/>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endParaRPr lang="en-US" sz="900" dirty="0"/>
          </a:p>
        </p:txBody>
      </p:sp>
      <p:sp>
        <p:nvSpPr>
          <p:cNvPr id="43" name="Shape 39"/>
          <p:cNvSpPr/>
          <p:nvPr/>
        </p:nvSpPr>
        <p:spPr>
          <a:xfrm>
            <a:off x="913668" y="2511944"/>
            <a:ext cx="4555175" cy="384048"/>
          </a:xfrm>
          <a:prstGeom prst="roundRect">
            <a:avLst>
              <a:gd name="adj" fmla="val 11905"/>
            </a:avLst>
          </a:prstGeom>
          <a:solidFill>
            <a:srgbClr val="FFFFFF">
              <a:alpha val="0"/>
            </a:srgbClr>
          </a:solidFill>
          <a:ln w="31750">
            <a:solidFill>
              <a:srgbClr val="E53935"/>
            </a:solidFill>
            <a:prstDash val="solid"/>
          </a:ln>
        </p:spPr>
      </p:sp>
      <p:sp>
        <p:nvSpPr>
          <p:cNvPr id="44" name="Shape 40"/>
          <p:cNvSpPr/>
          <p:nvPr/>
        </p:nvSpPr>
        <p:spPr>
          <a:xfrm>
            <a:off x="5331684" y="2374784"/>
            <a:ext cx="274320" cy="274320"/>
          </a:xfrm>
          <a:prstGeom prst="ellipse">
            <a:avLst/>
          </a:prstGeom>
          <a:solidFill>
            <a:srgbClr val="E53935"/>
          </a:solidFill>
          <a:ln w="12700">
            <a:solidFill>
              <a:srgbClr val="FFFFFF"/>
            </a:solidFill>
            <a:prstDash val="solid"/>
          </a:ln>
        </p:spPr>
      </p:sp>
      <p:sp>
        <p:nvSpPr>
          <p:cNvPr id="45" name="Text 41"/>
          <p:cNvSpPr txBox="1"/>
          <p:nvPr/>
        </p:nvSpPr>
        <p:spPr>
          <a:xfrm>
            <a:off x="5331684" y="237478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46" name="Image 2" descr="preencoded.png">    </p:cNvPr>
          <p:cNvPicPr>
            <a:picLocks noChangeAspect="1"/>
          </p:cNvPicPr>
          <p:nvPr/>
        </p:nvPicPr>
        <p:blipFill>
          <a:blip r:embed="rId3"/>
          <a:stretch>
            <a:fillRect/>
          </a:stretch>
        </p:blipFill>
        <p:spPr>
          <a:xfrm>
            <a:off x="3417186" y="2721341"/>
            <a:ext cx="237744" cy="237744"/>
          </a:xfrm>
          <a:prstGeom prst="rect">
            <a:avLst/>
          </a:prstGeom>
        </p:spPr>
      </p:pic>
      <p:sp>
        <p:nvSpPr>
          <p:cNvPr id="47" name="Text 4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48" name="Text 4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Modifikasi sendiri: minimal 3 perubahan</a:t>
            </a:r>
            <a:endParaRPr lang="en-US" sz="1800" dirty="0"/>
          </a:p>
        </p:txBody>
      </p:sp>
      <p:sp>
        <p:nvSpPr>
          <p:cNvPr id="49" name="Text 4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Tanpa AI: ubah ukuran huruf judul, warna latar kartu, atau radius tombol. Satu perubahan, simpan, lihat.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Modifikasi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Proposal_Solusi_Kel3 -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Proposal_Solusi_Kel3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Hasil Uji Sketsa</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Pengguna: "Tombolnya kurang besar di HP."</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Perbaikan: padding tombol diperbesar, lebar 100%.</a:t>
            </a:r>
            <a:endParaRPr lang="en-US" sz="800" dirty="0"/>
          </a:p>
        </p:txBody>
      </p:sp>
      <p:sp>
        <p:nvSpPr>
          <p:cNvPr id="72" name="Shape 61"/>
          <p:cNvSpPr/>
          <p:nvPr/>
        </p:nvSpPr>
        <p:spPr>
          <a:xfrm>
            <a:off x="1527048" y="2849506"/>
            <a:ext cx="3072384" cy="395224"/>
          </a:xfrm>
          <a:prstGeom prst="roundRect">
            <a:avLst>
              <a:gd name="adj" fmla="val 11568"/>
            </a:avLst>
          </a:prstGeom>
          <a:solidFill>
            <a:srgbClr val="FFFFFF">
              <a:alpha val="0"/>
            </a:srgbClr>
          </a:solidFill>
          <a:ln w="31750">
            <a:solidFill>
              <a:srgbClr val="E53935"/>
            </a:solidFill>
            <a:prstDash val="solid"/>
          </a:ln>
        </p:spPr>
      </p:sp>
      <p:sp>
        <p:nvSpPr>
          <p:cNvPr id="73" name="Shape 62"/>
          <p:cNvSpPr/>
          <p:nvPr/>
        </p:nvSpPr>
        <p:spPr>
          <a:xfrm>
            <a:off x="4462272" y="2712346"/>
            <a:ext cx="274320" cy="274320"/>
          </a:xfrm>
          <a:prstGeom prst="ellipse">
            <a:avLst/>
          </a:prstGeom>
          <a:solidFill>
            <a:srgbClr val="E53935"/>
          </a:solidFill>
          <a:ln w="12700">
            <a:solidFill>
              <a:srgbClr val="FFFFFF"/>
            </a:solidFill>
            <a:prstDash val="solid"/>
          </a:ln>
        </p:spPr>
      </p:sp>
      <p:sp>
        <p:nvSpPr>
          <p:cNvPr id="74" name="Text 63"/>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75" name="Image 9" descr="preencoded.png">    </p:cNvPr>
          <p:cNvPicPr>
            <a:picLocks noChangeAspect="1"/>
          </p:cNvPicPr>
          <p:nvPr/>
        </p:nvPicPr>
        <p:blipFill>
          <a:blip r:embed="rId10"/>
          <a:stretch>
            <a:fillRect/>
          </a:stretch>
        </p:blipFill>
        <p:spPr>
          <a:xfrm>
            <a:off x="3214116" y="3064136"/>
            <a:ext cx="237744" cy="237744"/>
          </a:xfrm>
          <a:prstGeom prst="rect">
            <a:avLst/>
          </a:prstGeom>
        </p:spPr>
      </p:pic>
      <p:sp>
        <p:nvSpPr>
          <p:cNvPr id="76" name="Text 6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77" name="Text 6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Sesuaikan dengan masukan uji sketsa</a:t>
            </a:r>
            <a:endParaRPr lang="en-US" sz="1800" dirty="0"/>
          </a:p>
        </p:txBody>
      </p:sp>
      <p:sp>
        <p:nvSpPr>
          <p:cNvPr id="78" name="Text 6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catatan uji sketsa di proposal. Terapkan 1 masukan pengguna, misalnya memperbesar tombol atau menambah teks petunjuk.</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Uji HP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Setoran Hari Ini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file:///C:/.../Proyek_Kel3/index.html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EEEEEE"/>
          </a:solidFill>
          <a:ln w="12700">
            <a:solidFill>
              <a:srgbClr val="EEEEEE"/>
            </a:solidFill>
            <a:prstDash val="solid"/>
          </a:ln>
        </p:spPr>
      </p:sp>
      <p:sp>
        <p:nvSpPr>
          <p:cNvPr id="30" name="Shape 23"/>
          <p:cNvSpPr/>
          <p:nvPr/>
        </p:nvSpPr>
        <p:spPr>
          <a:xfrm>
            <a:off x="2331720" y="1695965"/>
            <a:ext cx="1463040" cy="2281131"/>
          </a:xfrm>
          <a:prstGeom prst="rect">
            <a:avLst/>
          </a:prstGeom>
          <a:solidFill>
            <a:srgbClr val="F3F8F5"/>
          </a:solidFill>
          <a:ln w="12700">
            <a:solidFill>
              <a:srgbClr val="F3F8F5"/>
            </a:solidFill>
            <a:prstDash val="solid"/>
          </a:ln>
        </p:spPr>
      </p:sp>
      <p:sp>
        <p:nvSpPr>
          <p:cNvPr id="31" name="Shape 24"/>
          <p:cNvSpPr/>
          <p:nvPr/>
        </p:nvSpPr>
        <p:spPr>
          <a:xfrm>
            <a:off x="2331720" y="1695965"/>
            <a:ext cx="1463040" cy="457200"/>
          </a:xfrm>
          <a:prstGeom prst="rect">
            <a:avLst/>
          </a:prstGeom>
          <a:solidFill>
            <a:srgbClr val="0F4C3A"/>
          </a:solidFill>
          <a:ln w="12700">
            <a:solidFill>
              <a:srgbClr val="0F4C3A"/>
            </a:solidFill>
            <a:prstDash val="solid"/>
          </a:ln>
        </p:spPr>
      </p:sp>
      <p:sp>
        <p:nvSpPr>
          <p:cNvPr id="32" name="Text 25"/>
          <p:cNvSpPr txBox="1"/>
          <p:nvPr/>
        </p:nvSpPr>
        <p:spPr>
          <a:xfrm>
            <a:off x="2331720" y="1695965"/>
            <a:ext cx="14630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Setoran Hari Ini</a:t>
            </a:r>
            <a:endParaRPr lang="en-US" sz="1300" dirty="0"/>
          </a:p>
        </p:txBody>
      </p:sp>
      <p:sp>
        <p:nvSpPr>
          <p:cNvPr id="33" name="Shape 26"/>
          <p:cNvSpPr/>
          <p:nvPr/>
        </p:nvSpPr>
        <p:spPr>
          <a:xfrm>
            <a:off x="2514600" y="2290325"/>
            <a:ext cx="1097280" cy="1143000"/>
          </a:xfrm>
          <a:prstGeom prst="roundRect">
            <a:avLst>
              <a:gd name="adj" fmla="val 6667"/>
            </a:avLst>
          </a:prstGeom>
          <a:solidFill>
            <a:srgbClr val="FFFFFF"/>
          </a:solidFill>
          <a:ln w="9525">
            <a:solidFill>
              <a:srgbClr val="DDDDDD"/>
            </a:solidFill>
            <a:prstDash val="solid"/>
          </a:ln>
        </p:spPr>
      </p:sp>
      <p:sp>
        <p:nvSpPr>
          <p:cNvPr id="34" name="Text 27"/>
          <p:cNvSpPr txBox="1"/>
          <p:nvPr/>
        </p:nvSpPr>
        <p:spPr>
          <a:xfrm>
            <a:off x="2624328" y="2354333"/>
            <a:ext cx="914400" cy="274320"/>
          </a:xfrm>
          <a:prstGeom prst="rect">
            <a:avLst/>
          </a:prstGeom>
          <a:noFill/>
          <a:ln/>
        </p:spPr>
        <p:txBody>
          <a:bodyPr wrap="square" lIns="0" tIns="0" rIns="0" bIns="0" rtlCol="0" anchor="t"/>
          <a:lstStyle/>
          <a:p>
            <a:pPr indent="0" marL="0">
              <a:buNone/>
            </a:pPr>
            <a:r>
              <a:rPr lang="en-US" sz="900" b="1" dirty="0">
                <a:solidFill>
                  <a:srgbClr val="1E2A26"/>
                </a:solidFill>
                <a:latin typeface="Arial" pitchFamily="34" charset="0"/>
                <a:ea typeface="Arial" pitchFamily="34" charset="-122"/>
                <a:cs typeface="Arial" pitchFamily="34" charset="-120"/>
              </a:rPr>
              <a:t>Target: An-Naba ayat 1–20</a:t>
            </a:r>
            <a:endParaRPr lang="en-US" sz="900" dirty="0"/>
          </a:p>
        </p:txBody>
      </p:sp>
      <p:sp>
        <p:nvSpPr>
          <p:cNvPr id="35" name="Text 28"/>
          <p:cNvSpPr txBox="1"/>
          <p:nvPr/>
        </p:nvSpPr>
        <p:spPr>
          <a:xfrm>
            <a:off x="2624328" y="2628653"/>
            <a:ext cx="914400" cy="256032"/>
          </a:xfrm>
          <a:prstGeom prst="rect">
            <a:avLst/>
          </a:prstGeom>
          <a:noFill/>
          <a:ln/>
        </p:spPr>
        <p:txBody>
          <a:bodyPr wrap="square" lIns="0" tIns="0" rIns="0" bIns="0" rtlCol="0" anchor="t"/>
          <a:lstStyle/>
          <a:p>
            <a:pPr indent="0" marL="0">
              <a:buNone/>
            </a:pPr>
            <a:r>
              <a:rPr lang="en-US" sz="850" dirty="0">
                <a:solidFill>
                  <a:srgbClr val="666666"/>
                </a:solidFill>
                <a:latin typeface="Arial" pitchFamily="34" charset="0"/>
                <a:ea typeface="Arial" pitchFamily="34" charset="-122"/>
                <a:cs typeface="Arial" pitchFamily="34" charset="-120"/>
              </a:rPr>
              <a:t>Belum setor hari ini.</a:t>
            </a:r>
            <a:endParaRPr lang="en-US" sz="850" dirty="0"/>
          </a:p>
        </p:txBody>
      </p:sp>
      <p:sp>
        <p:nvSpPr>
          <p:cNvPr id="36" name="Shape 29"/>
          <p:cNvSpPr/>
          <p:nvPr/>
        </p:nvSpPr>
        <p:spPr>
          <a:xfrm>
            <a:off x="2514600" y="2994413"/>
            <a:ext cx="1097280" cy="274320"/>
          </a:xfrm>
          <a:prstGeom prst="roundRect">
            <a:avLst>
              <a:gd name="adj" fmla="val 50000"/>
            </a:avLst>
          </a:prstGeom>
          <a:solidFill>
            <a:srgbClr val="D4A017"/>
          </a:solidFill>
          <a:ln w="12700">
            <a:solidFill>
              <a:srgbClr val="D4A017"/>
            </a:solidFill>
            <a:prstDash val="solid"/>
          </a:ln>
        </p:spPr>
      </p:sp>
      <p:sp>
        <p:nvSpPr>
          <p:cNvPr id="37" name="Text 30"/>
          <p:cNvSpPr txBox="1"/>
          <p:nvPr/>
        </p:nvSpPr>
        <p:spPr>
          <a:xfrm>
            <a:off x="2514600" y="2994413"/>
            <a:ext cx="109728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Sudah Setor</a:t>
            </a:r>
            <a:endParaRPr lang="en-US" sz="850" dirty="0"/>
          </a:p>
        </p:txBody>
      </p:sp>
      <p:sp>
        <p:nvSpPr>
          <p:cNvPr id="38" name="Shape 31"/>
          <p:cNvSpPr/>
          <p:nvPr/>
        </p:nvSpPr>
        <p:spPr>
          <a:xfrm>
            <a:off x="2267712" y="1695965"/>
            <a:ext cx="1591056" cy="2281131"/>
          </a:xfrm>
          <a:prstGeom prst="roundRect">
            <a:avLst>
              <a:gd name="adj" fmla="val 2874"/>
            </a:avLst>
          </a:prstGeom>
          <a:solidFill>
            <a:srgbClr val="FFFFFF">
              <a:alpha val="0"/>
            </a:srgbClr>
          </a:solidFill>
          <a:ln w="31750">
            <a:solidFill>
              <a:srgbClr val="E53935"/>
            </a:solidFill>
            <a:prstDash val="solid"/>
          </a:ln>
        </p:spPr>
      </p:sp>
      <p:sp>
        <p:nvSpPr>
          <p:cNvPr id="39" name="Shape 32"/>
          <p:cNvSpPr/>
          <p:nvPr/>
        </p:nvSpPr>
        <p:spPr>
          <a:xfrm>
            <a:off x="3721608" y="1558805"/>
            <a:ext cx="274320" cy="274320"/>
          </a:xfrm>
          <a:prstGeom prst="ellipse">
            <a:avLst/>
          </a:prstGeom>
          <a:solidFill>
            <a:srgbClr val="E53935"/>
          </a:solidFill>
          <a:ln w="12700">
            <a:solidFill>
              <a:srgbClr val="FFFFFF"/>
            </a:solidFill>
            <a:prstDash val="solid"/>
          </a:ln>
        </p:spPr>
      </p:sp>
      <p:sp>
        <p:nvSpPr>
          <p:cNvPr id="40" name="Text 33"/>
          <p:cNvSpPr txBox="1"/>
          <p:nvPr/>
        </p:nvSpPr>
        <p:spPr>
          <a:xfrm>
            <a:off x="3721608" y="15588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1"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42"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Uji tampilan HP dengan DevTools</a:t>
            </a:r>
            <a:endParaRPr lang="en-US" sz="1800" dirty="0"/>
          </a:p>
        </p:txBody>
      </p:sp>
      <p:sp>
        <p:nvSpPr>
          <p:cNvPr id="43"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Tekan F12 › ikon perangkat (Ctrl+Shift+M). Pilih ukuran HP. Periksa kartu dan tombol.</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11</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Kelompok mengumpulkan:</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Prompt CSS berisi deskripsi sketsa.</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index.html dengan tampilan sesuai sketsa dan warna pondok.</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Minimal 3 modifikasi sendiri, ditandai komentar.</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Bukti uji tampilan HP (tangkapan layar).</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Tampilan sesuai sketsa</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Minimal 3 modifikasi CSS sendiri</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Rapi di tampilan HP</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menjelaskan aturan CSS</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Modifikasi apa yang kamu lakukan sendiri?</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beda kode yang dipahami dan yang hanya disalin?</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Tampilkan karya dengan indah dan sederhana, sesuai identitas pesantren.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JavaScript pertama: membuat tombol bekerja.</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12</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Halaman Interaktif</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JavaScript pertama, tombol yang bekerja</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4: Coding dengan AI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Tombol "Sudah Setor" sudah cantik, tetapi jika diklik tidak terjadi apa-apa. Apa yang kurang?</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12</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peran JavaScript dalam halaman web</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tombol yang mengubah teks dengan fungsi dan onclick</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Menyelesaikan halaman interaktif versi pertama proyek</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Tiga Kunci JavaScript Pertama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5120640" cy="2743200"/>
          </a:xfrm>
          <a:prstGeom prst="roundRect">
            <a:avLst>
              <a:gd name="adj" fmla="val 2000"/>
            </a:avLst>
          </a:prstGeom>
          <a:solidFill>
            <a:srgbClr val="FFFFFF"/>
          </a:solidFill>
          <a:ln w="12700">
            <a:solidFill>
              <a:srgbClr val="BBBBBB"/>
            </a:solidFill>
            <a:prstDash val="solid"/>
          </a:ln>
        </p:spPr>
      </p:sp>
      <p:sp>
        <p:nvSpPr>
          <p:cNvPr id="10" name="Shape 6"/>
          <p:cNvSpPr/>
          <p:nvPr/>
        </p:nvSpPr>
        <p:spPr>
          <a:xfrm>
            <a:off x="530352" y="1207008"/>
            <a:ext cx="4974336" cy="274320"/>
          </a:xfrm>
          <a:prstGeom prst="rect">
            <a:avLst/>
          </a:prstGeom>
          <a:solidFill>
            <a:srgbClr val="FDECEA"/>
          </a:solidFill>
          <a:ln w="12700">
            <a:solidFill>
              <a:srgbClr val="FDECEA"/>
            </a:solidFill>
            <a:prstDash val="solid"/>
          </a:ln>
        </p:spPr>
      </p:sp>
      <p:sp>
        <p:nvSpPr>
          <p:cNvPr id="11" name="Text 7"/>
          <p:cNvSpPr txBox="1"/>
          <p:nvPr/>
        </p:nvSpPr>
        <p:spPr>
          <a:xfrm>
            <a:off x="594360" y="1207008"/>
            <a:ext cx="4937760" cy="274320"/>
          </a:xfrm>
          <a:prstGeom prst="rect">
            <a:avLst/>
          </a:prstGeom>
          <a:noFill/>
          <a:ln/>
        </p:spPr>
        <p:txBody>
          <a:bodyPr wrap="square" lIns="0" tIns="0" rIns="0" bIns="0" rtlCol="0" anchor="ctr"/>
          <a:lstStyle/>
          <a:p>
            <a:pPr indent="0" marL="0">
              <a:buNone/>
            </a:pPr>
            <a:r>
              <a:rPr lang="en-US" sz="1050" dirty="0">
                <a:solidFill>
                  <a:srgbClr val="1E2A26"/>
                </a:solidFill>
                <a:latin typeface="Courier New" pitchFamily="34" charset="0"/>
                <a:ea typeface="Courier New" pitchFamily="34" charset="-122"/>
                <a:cs typeface="Courier New" pitchFamily="34" charset="-120"/>
              </a:rPr>
              <a:t>&lt;p id="pesan"&gt;Belum setor hari ini.&lt;/p&gt;</a:t>
            </a:r>
            <a:endParaRPr lang="en-US" sz="1050" dirty="0"/>
          </a:p>
        </p:txBody>
      </p:sp>
      <p:sp>
        <p:nvSpPr>
          <p:cNvPr id="12" name="Shape 8"/>
          <p:cNvSpPr/>
          <p:nvPr/>
        </p:nvSpPr>
        <p:spPr>
          <a:xfrm>
            <a:off x="530352" y="1517904"/>
            <a:ext cx="4974336" cy="274320"/>
          </a:xfrm>
          <a:prstGeom prst="rect">
            <a:avLst/>
          </a:prstGeom>
          <a:solidFill>
            <a:srgbClr val="E3F2FD"/>
          </a:solidFill>
          <a:ln w="12700">
            <a:solidFill>
              <a:srgbClr val="E3F2FD"/>
            </a:solidFill>
            <a:prstDash val="solid"/>
          </a:ln>
        </p:spPr>
      </p:sp>
      <p:sp>
        <p:nvSpPr>
          <p:cNvPr id="13" name="Text 9"/>
          <p:cNvSpPr txBox="1"/>
          <p:nvPr/>
        </p:nvSpPr>
        <p:spPr>
          <a:xfrm>
            <a:off x="594360" y="1517904"/>
            <a:ext cx="4937760" cy="274320"/>
          </a:xfrm>
          <a:prstGeom prst="rect">
            <a:avLst/>
          </a:prstGeom>
          <a:noFill/>
          <a:ln/>
        </p:spPr>
        <p:txBody>
          <a:bodyPr wrap="square" lIns="0" tIns="0" rIns="0" bIns="0" rtlCol="0" anchor="ctr"/>
          <a:lstStyle/>
          <a:p>
            <a:pPr indent="0" marL="0">
              <a:buNone/>
            </a:pPr>
            <a:r>
              <a:rPr lang="en-US" sz="1050" dirty="0">
                <a:solidFill>
                  <a:srgbClr val="1E2A26"/>
                </a:solidFill>
                <a:latin typeface="Courier New" pitchFamily="34" charset="0"/>
                <a:ea typeface="Courier New" pitchFamily="34" charset="-122"/>
                <a:cs typeface="Courier New" pitchFamily="34" charset="-120"/>
              </a:rPr>
              <a:t>&lt;button onclick="sudahSetor()"&gt;Sudah Setor&lt;/button&gt;</a:t>
            </a:r>
            <a:endParaRPr lang="en-US" sz="1050" dirty="0"/>
          </a:p>
        </p:txBody>
      </p:sp>
      <p:sp>
        <p:nvSpPr>
          <p:cNvPr id="14" name="Text 10"/>
          <p:cNvSpPr txBox="1"/>
          <p:nvPr/>
        </p:nvSpPr>
        <p:spPr>
          <a:xfrm>
            <a:off x="594360" y="1828800"/>
            <a:ext cx="4937760" cy="274320"/>
          </a:xfrm>
          <a:prstGeom prst="rect">
            <a:avLst/>
          </a:prstGeom>
          <a:noFill/>
          <a:ln/>
        </p:spPr>
        <p:txBody>
          <a:bodyPr wrap="square" lIns="0" tIns="0" rIns="0" bIns="0" rtlCol="0" anchor="ctr"/>
          <a:lstStyle/>
          <a:p>
            <a:pPr indent="0" marL="0">
              <a:buNone/>
            </a:pPr>
            <a:r>
              <a:rPr lang="en-US" sz="1050" dirty="0">
                <a:solidFill>
                  <a:srgbClr val="1E2A26"/>
                </a:solidFill>
                <a:latin typeface="Courier New" pitchFamily="34" charset="0"/>
                <a:ea typeface="Courier New" pitchFamily="34" charset="-122"/>
                <a:cs typeface="Courier New" pitchFamily="34" charset="-120"/>
              </a:rPr>
              <a:t>&lt;script&gt;</a:t>
            </a:r>
            <a:endParaRPr lang="en-US" sz="1050" dirty="0"/>
          </a:p>
        </p:txBody>
      </p:sp>
      <p:sp>
        <p:nvSpPr>
          <p:cNvPr id="15" name="Shape 11"/>
          <p:cNvSpPr/>
          <p:nvPr/>
        </p:nvSpPr>
        <p:spPr>
          <a:xfrm>
            <a:off x="530352" y="2139696"/>
            <a:ext cx="4974336" cy="274320"/>
          </a:xfrm>
          <a:prstGeom prst="rect">
            <a:avLst/>
          </a:prstGeom>
          <a:solidFill>
            <a:srgbClr val="E8F5E9"/>
          </a:solidFill>
          <a:ln w="12700">
            <a:solidFill>
              <a:srgbClr val="E8F5E9"/>
            </a:solidFill>
            <a:prstDash val="solid"/>
          </a:ln>
        </p:spPr>
      </p:sp>
      <p:sp>
        <p:nvSpPr>
          <p:cNvPr id="16" name="Text 12"/>
          <p:cNvSpPr txBox="1"/>
          <p:nvPr/>
        </p:nvSpPr>
        <p:spPr>
          <a:xfrm>
            <a:off x="594360" y="2139696"/>
            <a:ext cx="4937760" cy="274320"/>
          </a:xfrm>
          <a:prstGeom prst="rect">
            <a:avLst/>
          </a:prstGeom>
          <a:noFill/>
          <a:ln/>
        </p:spPr>
        <p:txBody>
          <a:bodyPr wrap="square" lIns="0" tIns="0" rIns="0" bIns="0" rtlCol="0" anchor="ctr"/>
          <a:lstStyle/>
          <a:p>
            <a:pPr indent="0" marL="0">
              <a:buNone/>
            </a:pPr>
            <a:r>
              <a:rPr lang="en-US" sz="1050" dirty="0">
                <a:solidFill>
                  <a:srgbClr val="1E2A26"/>
                </a:solidFill>
                <a:latin typeface="Courier New" pitchFamily="34" charset="0"/>
                <a:ea typeface="Courier New" pitchFamily="34" charset="-122"/>
                <a:cs typeface="Courier New" pitchFamily="34" charset="-120"/>
              </a:rPr>
              <a:t>  function sudahSetor() {</a:t>
            </a:r>
            <a:endParaRPr lang="en-US" sz="1050" dirty="0"/>
          </a:p>
        </p:txBody>
      </p:sp>
      <p:sp>
        <p:nvSpPr>
          <p:cNvPr id="17" name="Text 13"/>
          <p:cNvSpPr txBox="1"/>
          <p:nvPr/>
        </p:nvSpPr>
        <p:spPr>
          <a:xfrm>
            <a:off x="594360" y="2450592"/>
            <a:ext cx="4937760" cy="274320"/>
          </a:xfrm>
          <a:prstGeom prst="rect">
            <a:avLst/>
          </a:prstGeom>
          <a:noFill/>
          <a:ln/>
        </p:spPr>
        <p:txBody>
          <a:bodyPr wrap="square" lIns="0" tIns="0" rIns="0" bIns="0" rtlCol="0" anchor="ctr"/>
          <a:lstStyle/>
          <a:p>
            <a:pPr indent="0" marL="0">
              <a:buNone/>
            </a:pPr>
            <a:r>
              <a:rPr lang="en-US" sz="1050" dirty="0">
                <a:solidFill>
                  <a:srgbClr val="1E2A26"/>
                </a:solidFill>
                <a:latin typeface="Courier New" pitchFamily="34" charset="0"/>
                <a:ea typeface="Courier New" pitchFamily="34" charset="-122"/>
                <a:cs typeface="Courier New" pitchFamily="34" charset="-120"/>
              </a:rPr>
              <a:t>    document.getElementById("pesan")</a:t>
            </a:r>
            <a:endParaRPr lang="en-US" sz="1050" dirty="0"/>
          </a:p>
        </p:txBody>
      </p:sp>
      <p:sp>
        <p:nvSpPr>
          <p:cNvPr id="18" name="Text 14"/>
          <p:cNvSpPr txBox="1"/>
          <p:nvPr/>
        </p:nvSpPr>
        <p:spPr>
          <a:xfrm>
            <a:off x="594360" y="2761488"/>
            <a:ext cx="4937760" cy="274320"/>
          </a:xfrm>
          <a:prstGeom prst="rect">
            <a:avLst/>
          </a:prstGeom>
          <a:noFill/>
          <a:ln/>
        </p:spPr>
        <p:txBody>
          <a:bodyPr wrap="square" lIns="0" tIns="0" rIns="0" bIns="0" rtlCol="0" anchor="ctr"/>
          <a:lstStyle/>
          <a:p>
            <a:pPr indent="0" marL="0">
              <a:buNone/>
            </a:pPr>
            <a:r>
              <a:rPr lang="en-US" sz="1050" dirty="0">
                <a:solidFill>
                  <a:srgbClr val="1E2A26"/>
                </a:solidFill>
                <a:latin typeface="Courier New" pitchFamily="34" charset="0"/>
                <a:ea typeface="Courier New" pitchFamily="34" charset="-122"/>
                <a:cs typeface="Courier New" pitchFamily="34" charset="-120"/>
              </a:rPr>
              <a:t>      .textContent = "Alhamdulillah!";</a:t>
            </a:r>
            <a:endParaRPr lang="en-US" sz="1050" dirty="0"/>
          </a:p>
        </p:txBody>
      </p:sp>
      <p:sp>
        <p:nvSpPr>
          <p:cNvPr id="19" name="Shape 15"/>
          <p:cNvSpPr/>
          <p:nvPr/>
        </p:nvSpPr>
        <p:spPr>
          <a:xfrm>
            <a:off x="530352" y="3072384"/>
            <a:ext cx="4974336" cy="274320"/>
          </a:xfrm>
          <a:prstGeom prst="rect">
            <a:avLst/>
          </a:prstGeom>
          <a:solidFill>
            <a:srgbClr val="E8F5E9"/>
          </a:solidFill>
          <a:ln w="12700">
            <a:solidFill>
              <a:srgbClr val="E8F5E9"/>
            </a:solidFill>
            <a:prstDash val="solid"/>
          </a:ln>
        </p:spPr>
      </p:sp>
      <p:sp>
        <p:nvSpPr>
          <p:cNvPr id="20" name="Text 16"/>
          <p:cNvSpPr txBox="1"/>
          <p:nvPr/>
        </p:nvSpPr>
        <p:spPr>
          <a:xfrm>
            <a:off x="594360" y="3072384"/>
            <a:ext cx="4937760" cy="274320"/>
          </a:xfrm>
          <a:prstGeom prst="rect">
            <a:avLst/>
          </a:prstGeom>
          <a:noFill/>
          <a:ln/>
        </p:spPr>
        <p:txBody>
          <a:bodyPr wrap="square" lIns="0" tIns="0" rIns="0" bIns="0" rtlCol="0" anchor="ctr"/>
          <a:lstStyle/>
          <a:p>
            <a:pPr indent="0" marL="0">
              <a:buNone/>
            </a:pPr>
            <a:r>
              <a:rPr lang="en-US" sz="1050" dirty="0">
                <a:solidFill>
                  <a:srgbClr val="1E2A26"/>
                </a:solidFill>
                <a:latin typeface="Courier New" pitchFamily="34" charset="0"/>
                <a:ea typeface="Courier New" pitchFamily="34" charset="-122"/>
                <a:cs typeface="Courier New" pitchFamily="34" charset="-120"/>
              </a:rPr>
              <a:t>  }</a:t>
            </a:r>
            <a:endParaRPr lang="en-US" sz="1050" dirty="0"/>
          </a:p>
        </p:txBody>
      </p:sp>
      <p:sp>
        <p:nvSpPr>
          <p:cNvPr id="21" name="Text 17"/>
          <p:cNvSpPr txBox="1"/>
          <p:nvPr/>
        </p:nvSpPr>
        <p:spPr>
          <a:xfrm>
            <a:off x="594360" y="3383280"/>
            <a:ext cx="4937760" cy="274320"/>
          </a:xfrm>
          <a:prstGeom prst="rect">
            <a:avLst/>
          </a:prstGeom>
          <a:noFill/>
          <a:ln/>
        </p:spPr>
        <p:txBody>
          <a:bodyPr wrap="square" lIns="0" tIns="0" rIns="0" bIns="0" rtlCol="0" anchor="ctr"/>
          <a:lstStyle/>
          <a:p>
            <a:pPr indent="0" marL="0">
              <a:buNone/>
            </a:pPr>
            <a:r>
              <a:rPr lang="en-US" sz="1050" dirty="0">
                <a:solidFill>
                  <a:srgbClr val="1E2A26"/>
                </a:solidFill>
                <a:latin typeface="Courier New" pitchFamily="34" charset="0"/>
                <a:ea typeface="Courier New" pitchFamily="34" charset="-122"/>
                <a:cs typeface="Courier New" pitchFamily="34" charset="-120"/>
              </a:rPr>
              <a:t>&lt;/script&gt;</a:t>
            </a:r>
            <a:endParaRPr lang="en-US" sz="1050" dirty="0"/>
          </a:p>
        </p:txBody>
      </p:sp>
      <p:sp>
        <p:nvSpPr>
          <p:cNvPr id="22" name="Text 18"/>
          <p:cNvSpPr txBox="1"/>
          <p:nvPr/>
        </p:nvSpPr>
        <p:spPr>
          <a:xfrm>
            <a:off x="5806440" y="1097280"/>
            <a:ext cx="2926080" cy="320040"/>
          </a:xfrm>
          <a:prstGeom prst="rect">
            <a:avLst/>
          </a:prstGeom>
          <a:noFill/>
          <a:ln/>
        </p:spPr>
        <p:txBody>
          <a:bodyPr wrap="square" lIns="0" tIns="0" rIns="0" bIns="0" rtlCol="0" anchor="t"/>
          <a:lstStyle/>
          <a:p>
            <a:pPr indent="0" marL="0">
              <a:buNone/>
            </a:pPr>
            <a:r>
              <a:rPr lang="en-US" sz="1300" b="1" dirty="0">
                <a:solidFill>
                  <a:srgbClr val="E53935"/>
                </a:solidFill>
                <a:latin typeface="Courier New" pitchFamily="34" charset="0"/>
                <a:ea typeface="Courier New" pitchFamily="34" charset="-122"/>
                <a:cs typeface="Courier New" pitchFamily="34" charset="-120"/>
              </a:rPr>
              <a:t>id="pesan"</a:t>
            </a:r>
            <a:endParaRPr lang="en-US" sz="1300" dirty="0"/>
          </a:p>
        </p:txBody>
      </p:sp>
      <p:sp>
        <p:nvSpPr>
          <p:cNvPr id="23" name="Text 19"/>
          <p:cNvSpPr txBox="1"/>
          <p:nvPr/>
        </p:nvSpPr>
        <p:spPr>
          <a:xfrm>
            <a:off x="5806440" y="1417320"/>
            <a:ext cx="2926080" cy="54864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Memberi nama elemen agar bisa dicari JavaScript</a:t>
            </a:r>
            <a:endParaRPr lang="en-US" sz="1200" dirty="0"/>
          </a:p>
        </p:txBody>
      </p:sp>
      <p:sp>
        <p:nvSpPr>
          <p:cNvPr id="24" name="Text 20"/>
          <p:cNvSpPr txBox="1"/>
          <p:nvPr/>
        </p:nvSpPr>
        <p:spPr>
          <a:xfrm>
            <a:off x="5806440" y="2011680"/>
            <a:ext cx="2926080" cy="320040"/>
          </a:xfrm>
          <a:prstGeom prst="rect">
            <a:avLst/>
          </a:prstGeom>
          <a:noFill/>
          <a:ln/>
        </p:spPr>
        <p:txBody>
          <a:bodyPr wrap="square" lIns="0" tIns="0" rIns="0" bIns="0" rtlCol="0" anchor="t"/>
          <a:lstStyle/>
          <a:p>
            <a:pPr indent="0" marL="0">
              <a:buNone/>
            </a:pPr>
            <a:r>
              <a:rPr lang="en-US" sz="1300" b="1" dirty="0">
                <a:solidFill>
                  <a:srgbClr val="0078D4"/>
                </a:solidFill>
                <a:latin typeface="Courier New" pitchFamily="34" charset="0"/>
                <a:ea typeface="Courier New" pitchFamily="34" charset="-122"/>
                <a:cs typeface="Courier New" pitchFamily="34" charset="-120"/>
              </a:rPr>
              <a:t>onclick</a:t>
            </a:r>
            <a:endParaRPr lang="en-US" sz="1300" dirty="0"/>
          </a:p>
        </p:txBody>
      </p:sp>
      <p:sp>
        <p:nvSpPr>
          <p:cNvPr id="25" name="Text 21"/>
          <p:cNvSpPr txBox="1"/>
          <p:nvPr/>
        </p:nvSpPr>
        <p:spPr>
          <a:xfrm>
            <a:off x="5806440" y="2331720"/>
            <a:ext cx="2926080" cy="54864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Saat diklik, jalankan fungsi sudahSetor()</a:t>
            </a:r>
            <a:endParaRPr lang="en-US" sz="1200" dirty="0"/>
          </a:p>
        </p:txBody>
      </p:sp>
      <p:sp>
        <p:nvSpPr>
          <p:cNvPr id="26" name="Text 22"/>
          <p:cNvSpPr txBox="1"/>
          <p:nvPr/>
        </p:nvSpPr>
        <p:spPr>
          <a:xfrm>
            <a:off x="5806440" y="2926080"/>
            <a:ext cx="2926080" cy="320040"/>
          </a:xfrm>
          <a:prstGeom prst="rect">
            <a:avLst/>
          </a:prstGeom>
          <a:noFill/>
          <a:ln/>
        </p:spPr>
        <p:txBody>
          <a:bodyPr wrap="square" lIns="0" tIns="0" rIns="0" bIns="0" rtlCol="0" anchor="t"/>
          <a:lstStyle/>
          <a:p>
            <a:pPr indent="0" marL="0">
              <a:buNone/>
            </a:pPr>
            <a:r>
              <a:rPr lang="en-US" sz="1300" b="1" dirty="0">
                <a:solidFill>
                  <a:srgbClr val="1F7A5C"/>
                </a:solidFill>
                <a:latin typeface="Courier New" pitchFamily="34" charset="0"/>
                <a:ea typeface="Courier New" pitchFamily="34" charset="-122"/>
                <a:cs typeface="Courier New" pitchFamily="34" charset="-120"/>
              </a:rPr>
              <a:t>function</a:t>
            </a:r>
            <a:endParaRPr lang="en-US" sz="1300" dirty="0"/>
          </a:p>
        </p:txBody>
      </p:sp>
      <p:sp>
        <p:nvSpPr>
          <p:cNvPr id="27" name="Text 23"/>
          <p:cNvSpPr txBox="1"/>
          <p:nvPr/>
        </p:nvSpPr>
        <p:spPr>
          <a:xfrm>
            <a:off x="5806440" y="3246120"/>
            <a:ext cx="2926080" cy="54864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Kumpulan perintah bernama: ubah teks elemen "pesan"</a:t>
            </a:r>
            <a:endParaRPr lang="en-US" sz="1200" dirty="0"/>
          </a:p>
        </p:txBody>
      </p:sp>
      <p:sp>
        <p:nvSpPr>
          <p:cNvPr id="28" name="Shape 24"/>
          <p:cNvSpPr/>
          <p:nvPr/>
        </p:nvSpPr>
        <p:spPr>
          <a:xfrm>
            <a:off x="457200" y="4023360"/>
            <a:ext cx="8229600" cy="548640"/>
          </a:xfrm>
          <a:prstGeom prst="roundRect">
            <a:avLst>
              <a:gd name="adj" fmla="val 16667"/>
            </a:avLst>
          </a:prstGeom>
          <a:solidFill>
            <a:srgbClr val="FBF1D3"/>
          </a:solidFill>
          <a:ln w="12700">
            <a:solidFill>
              <a:srgbClr val="FBF1D3"/>
            </a:solidFill>
            <a:prstDash val="solid"/>
          </a:ln>
        </p:spPr>
      </p:sp>
      <p:sp>
        <p:nvSpPr>
          <p:cNvPr id="29" name="Text 25"/>
          <p:cNvSpPr txBox="1"/>
          <p:nvPr/>
        </p:nvSpPr>
        <p:spPr>
          <a:xfrm>
            <a:off x="640080" y="4023360"/>
            <a:ext cx="7863840" cy="548640"/>
          </a:xfrm>
          <a:prstGeom prst="rect">
            <a:avLst/>
          </a:prstGeom>
          <a:noFill/>
          <a:ln/>
        </p:spPr>
        <p:txBody>
          <a:bodyPr wrap="square" lIns="0" tIns="0" rIns="0" bIns="0" rtlCol="0" anchor="ctr"/>
          <a:lstStyle/>
          <a:p>
            <a:pPr indent="0" marL="0">
              <a:buNone/>
            </a:pPr>
            <a:r>
              <a:rPr lang="en-US" sz="1350" b="1" dirty="0">
                <a:solidFill>
                  <a:srgbClr val="0F4C3A"/>
                </a:solidFill>
                <a:latin typeface="Calibri" pitchFamily="34" charset="0"/>
                <a:ea typeface="Calibri" pitchFamily="34" charset="-122"/>
                <a:cs typeface="Calibri" pitchFamily="34" charset="-120"/>
              </a:rPr>
              <a:t>Klik tombol → onclick memanggil fungsi → fungsi mencari id "pesan" → teks diganti.</a:t>
            </a:r>
            <a:endParaRPr lang="en-US" sz="13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Membuat Tombol Bekerja</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Modul 4 · kerja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Meminta dan memahami JavaScript</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Menguji dan memodifikasi</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6–7</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Merapikan dan presentasi</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JavaScript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2" name="Text 25"/>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111111"/>
                </a:solidFill>
                <a:latin typeface="Calibri" pitchFamily="34" charset="0"/>
                <a:ea typeface="Calibri" pitchFamily="34" charset="-122"/>
                <a:cs typeface="Calibri" pitchFamily="34" charset="-120"/>
              </a:rPr>
              <a:t>Ini kode saya: [kode]. Saat tombol Sudah Setor diklik, ubah teks... Jelaskan setiap baris JavaScript.</a:t>
            </a:r>
            <a:endParaRPr lang="en-US" sz="750" dirty="0"/>
          </a:p>
        </p:txBody>
      </p:sp>
      <p:sp>
        <p:nvSpPr>
          <p:cNvPr id="33" name="Shape 26"/>
          <p:cNvSpPr/>
          <p:nvPr/>
        </p:nvSpPr>
        <p:spPr>
          <a:xfrm>
            <a:off x="5127224" y="3620480"/>
            <a:ext cx="219456" cy="219456"/>
          </a:xfrm>
          <a:prstGeom prst="ellipse">
            <a:avLst/>
          </a:prstGeom>
          <a:solidFill>
            <a:srgbClr val="0B57D0"/>
          </a:solidFill>
          <a:ln/>
        </p:spPr>
      </p:sp>
      <p:pic>
        <p:nvPicPr>
          <p:cNvPr id="34" name="Image 5" descr="preencoded.png">    </p:cNvPr>
          <p:cNvPicPr>
            <a:picLocks noChangeAspect="1"/>
          </p:cNvPicPr>
          <p:nvPr/>
        </p:nvPicPr>
        <p:blipFill>
          <a:blip r:embed="rId6"/>
          <a:stretch>
            <a:fillRect/>
          </a:stretch>
        </p:blipFill>
        <p:spPr>
          <a:xfrm>
            <a:off x="5182088" y="3675344"/>
            <a:ext cx="109728" cy="109728"/>
          </a:xfrm>
          <a:prstGeom prst="rect">
            <a:avLst/>
          </a:prstGeom>
        </p:spPr>
      </p:pic>
      <p:sp>
        <p:nvSpPr>
          <p:cNvPr id="35" name="Text 27"/>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36" name="Shape 28"/>
          <p:cNvSpPr/>
          <p:nvPr/>
        </p:nvSpPr>
        <p:spPr>
          <a:xfrm>
            <a:off x="1566184" y="3556472"/>
            <a:ext cx="3862791" cy="347472"/>
          </a:xfrm>
          <a:prstGeom prst="roundRect">
            <a:avLst>
              <a:gd name="adj" fmla="val 13158"/>
            </a:avLst>
          </a:prstGeom>
          <a:solidFill>
            <a:srgbClr val="FFFFFF">
              <a:alpha val="0"/>
            </a:srgbClr>
          </a:solidFill>
          <a:ln w="31750">
            <a:solidFill>
              <a:srgbClr val="E53935"/>
            </a:solidFill>
            <a:prstDash val="solid"/>
          </a:ln>
        </p:spPr>
      </p:sp>
      <p:sp>
        <p:nvSpPr>
          <p:cNvPr id="37" name="Shape 29"/>
          <p:cNvSpPr/>
          <p:nvPr/>
        </p:nvSpPr>
        <p:spPr>
          <a:xfrm>
            <a:off x="5291816" y="3419312"/>
            <a:ext cx="274320" cy="274320"/>
          </a:xfrm>
          <a:prstGeom prst="ellipse">
            <a:avLst/>
          </a:prstGeom>
          <a:solidFill>
            <a:srgbClr val="E53935"/>
          </a:solidFill>
          <a:ln w="12700">
            <a:solidFill>
              <a:srgbClr val="FFFFFF"/>
            </a:solidFill>
            <a:prstDash val="solid"/>
          </a:ln>
        </p:spPr>
      </p:sp>
      <p:sp>
        <p:nvSpPr>
          <p:cNvPr id="38" name="Text 30"/>
          <p:cNvSpPr txBox="1"/>
          <p:nvPr/>
        </p:nvSpPr>
        <p:spPr>
          <a:xfrm>
            <a:off x="5291816" y="34193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39" name="Image 6" descr="preencoded.png">    </p:cNvPr>
          <p:cNvPicPr>
            <a:picLocks noChangeAspect="1"/>
          </p:cNvPicPr>
          <p:nvPr/>
        </p:nvPicPr>
        <p:blipFill>
          <a:blip r:embed="rId7"/>
          <a:stretch>
            <a:fillRect/>
          </a:stretch>
        </p:blipFill>
        <p:spPr>
          <a:xfrm>
            <a:off x="3687976" y="3744838"/>
            <a:ext cx="237744" cy="237744"/>
          </a:xfrm>
          <a:prstGeom prst="rect">
            <a:avLst/>
          </a:prstGeom>
        </p:spPr>
      </p:pic>
      <p:sp>
        <p:nvSpPr>
          <p:cNvPr id="40" name="Text 3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41" name="Text 3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Prompt: buat tombol mengubah teks</a:t>
            </a:r>
            <a:endParaRPr lang="en-US" sz="1800" dirty="0"/>
          </a:p>
        </p:txBody>
      </p:sp>
      <p:sp>
        <p:nvSpPr>
          <p:cNvPr id="42" name="Text 3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Prompt: "Ini kode saya: [kode]. Saat tombol Sudah Setor diklik, ubah teks di bawah target menjadi 'Alhamdulillah, setoran tercatat!'. Pakai function dan onclick. Jelaskan setiap baris JavaScript."</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JavaScript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3737336" y="1805693"/>
            <a:ext cx="1709928" cy="283464"/>
          </a:xfrm>
          <a:prstGeom prst="roundRect">
            <a:avLst>
              <a:gd name="adj" fmla="val 32258"/>
            </a:avLst>
          </a:prstGeom>
          <a:solidFill>
            <a:srgbClr val="E3E9F5"/>
          </a:solidFill>
          <a:ln w="12700">
            <a:solidFill>
              <a:srgbClr val="E3E9F5"/>
            </a:solidFill>
            <a:prstDash val="solid"/>
          </a:ln>
        </p:spPr>
      </p:sp>
      <p:sp>
        <p:nvSpPr>
          <p:cNvPr id="32" name="Text 25"/>
          <p:cNvSpPr txBox="1"/>
          <p:nvPr/>
        </p:nvSpPr>
        <p:spPr>
          <a:xfrm>
            <a:off x="3828776" y="1805693"/>
            <a:ext cx="1527048" cy="28346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...Jelaskan setiap baris JavaScript.</a:t>
            </a:r>
            <a:endParaRPr lang="en-US" sz="750" dirty="0"/>
          </a:p>
        </p:txBody>
      </p:sp>
      <p:pic>
        <p:nvPicPr>
          <p:cNvPr id="33" name="Image 5" descr="preencoded.png">    </p:cNvPr>
          <p:cNvPicPr>
            <a:picLocks noChangeAspect="1"/>
          </p:cNvPicPr>
          <p:nvPr/>
        </p:nvPicPr>
        <p:blipFill>
          <a:blip r:embed="rId6"/>
          <a:stretch>
            <a:fillRect/>
          </a:stretch>
        </p:blipFill>
        <p:spPr>
          <a:xfrm>
            <a:off x="1593616" y="2180597"/>
            <a:ext cx="182880" cy="182880"/>
          </a:xfrm>
          <a:prstGeom prst="rect">
            <a:avLst/>
          </a:prstGeom>
        </p:spPr>
      </p:pic>
      <p:sp>
        <p:nvSpPr>
          <p:cNvPr id="34" name="Text 26"/>
          <p:cNvSpPr txBox="1"/>
          <p:nvPr/>
        </p:nvSpPr>
        <p:spPr>
          <a:xfrm>
            <a:off x="1849648" y="2180597"/>
            <a:ext cx="3533607" cy="109728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1. &lt;p id="pesan"&gt; memberi nama "pesan" pada paragraf.</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2. onclick="sudahSetor()" menjalankan fungsi saat tombol diklik.</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3. function sudahSetor() { ... } adalah kumpulan perintah.</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4. document.getElementById("pesan") mencari elemen bernama pesan.</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5. .textContent = "..." mengganti teksnya.</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153165"/>
            <a:ext cx="3588471" cy="1152144"/>
          </a:xfrm>
          <a:prstGeom prst="roundRect">
            <a:avLst>
              <a:gd name="adj" fmla="val 3968"/>
            </a:avLst>
          </a:prstGeom>
          <a:solidFill>
            <a:srgbClr val="FFFFFF">
              <a:alpha val="0"/>
            </a:srgbClr>
          </a:solidFill>
          <a:ln w="31750">
            <a:solidFill>
              <a:srgbClr val="E53935"/>
            </a:solidFill>
            <a:prstDash val="solid"/>
          </a:ln>
        </p:spPr>
      </p:sp>
      <p:sp>
        <p:nvSpPr>
          <p:cNvPr id="41" name="Shape 32"/>
          <p:cNvSpPr/>
          <p:nvPr/>
        </p:nvSpPr>
        <p:spPr>
          <a:xfrm>
            <a:off x="5273528" y="201600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0160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43" name="Image 7" descr="preencoded.png">    </p:cNvPr>
          <p:cNvPicPr>
            <a:picLocks noChangeAspect="1"/>
          </p:cNvPicPr>
          <p:nvPr/>
        </p:nvPicPr>
        <p:blipFill>
          <a:blip r:embed="rId8"/>
          <a:stretch>
            <a:fillRect/>
          </a:stretch>
        </p:blipFill>
        <p:spPr>
          <a:xfrm>
            <a:off x="3793132" y="2784101"/>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Baca penjelasan, cocokkan dengan slide</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Bandingkan kode dari AI dengan slide "Tiga Kunci". Temukan id, onclick, dan function.</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JavaScript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Shape 21"/>
          <p:cNvSpPr/>
          <p:nvPr/>
        </p:nvSpPr>
        <p:spPr>
          <a:xfrm>
            <a:off x="913668" y="1661552"/>
            <a:ext cx="4555175" cy="173736"/>
          </a:xfrm>
          <a:prstGeom prst="rect">
            <a:avLst/>
          </a:prstGeom>
          <a:solidFill>
            <a:srgbClr val="FFF59D"/>
          </a:solidFill>
          <a:ln w="12700">
            <a:solidFill>
              <a:srgbClr val="FFF59D"/>
            </a:solidFill>
            <a:prstDash val="solid"/>
          </a:ln>
        </p:spPr>
      </p:sp>
      <p:sp>
        <p:nvSpPr>
          <p:cNvPr id="26" name="Text 22"/>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7" name="Text 23"/>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&lt;p id="pesan"&gt;</a:t>
            </a:r>
            <a:pPr indent="0" marL="0">
              <a:buNone/>
            </a:pPr>
            <a:r>
              <a:rPr lang="en-US" sz="900" dirty="0">
                <a:solidFill>
                  <a:srgbClr val="222222"/>
                </a:solidFill>
                <a:latin typeface="Courier New" pitchFamily="34" charset="0"/>
                <a:ea typeface="Courier New" pitchFamily="34" charset="-122"/>
                <a:cs typeface="Courier New" pitchFamily="34" charset="-120"/>
              </a:rPr>
              <a:t>Belum setor hari ini.</a:t>
            </a:r>
            <a:pPr indent="0" marL="0">
              <a:buNone/>
            </a:pPr>
            <a:r>
              <a:rPr lang="en-US" sz="900" dirty="0">
                <a:solidFill>
                  <a:srgbClr val="1A5FB4"/>
                </a:solidFill>
                <a:latin typeface="Courier New" pitchFamily="34" charset="0"/>
                <a:ea typeface="Courier New" pitchFamily="34" charset="-122"/>
                <a:cs typeface="Courier New" pitchFamily="34" charset="-120"/>
              </a:rPr>
              <a:t>&lt;/p&gt;</a:t>
            </a:r>
            <a:endParaRPr lang="en-US" sz="900" dirty="0"/>
          </a:p>
        </p:txBody>
      </p:sp>
      <p:sp>
        <p:nvSpPr>
          <p:cNvPr id="28" name="Shape 24"/>
          <p:cNvSpPr/>
          <p:nvPr/>
        </p:nvSpPr>
        <p:spPr>
          <a:xfrm>
            <a:off x="913668" y="1835288"/>
            <a:ext cx="4555175" cy="173736"/>
          </a:xfrm>
          <a:prstGeom prst="rect">
            <a:avLst/>
          </a:prstGeom>
          <a:solidFill>
            <a:srgbClr val="FFF59D"/>
          </a:solidFill>
          <a:ln w="12700">
            <a:solidFill>
              <a:srgbClr val="FFF59D"/>
            </a:solidFill>
            <a:prstDash val="solid"/>
          </a:ln>
        </p:spPr>
      </p:sp>
      <p:sp>
        <p:nvSpPr>
          <p:cNvPr id="29" name="Text 25"/>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30" name="Text 26"/>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&lt;button onclick="sudahSetor()"&gt;</a:t>
            </a:r>
            <a:pPr indent="0" marL="0">
              <a:buNone/>
            </a:pPr>
            <a:r>
              <a:rPr lang="en-US" sz="900" dirty="0">
                <a:solidFill>
                  <a:srgbClr val="222222"/>
                </a:solidFill>
                <a:latin typeface="Courier New" pitchFamily="34" charset="0"/>
                <a:ea typeface="Courier New" pitchFamily="34" charset="-122"/>
                <a:cs typeface="Courier New" pitchFamily="34" charset="-120"/>
              </a:rPr>
              <a:t>Sudah Setor</a:t>
            </a:r>
            <a:pPr indent="0" marL="0">
              <a:buNone/>
            </a:pPr>
            <a:r>
              <a:rPr lang="en-US" sz="900" dirty="0">
                <a:solidFill>
                  <a:srgbClr val="1A5FB4"/>
                </a:solidFill>
                <a:latin typeface="Courier New" pitchFamily="34" charset="0"/>
                <a:ea typeface="Courier New" pitchFamily="34" charset="-122"/>
                <a:cs typeface="Courier New" pitchFamily="34" charset="-120"/>
              </a:rPr>
              <a:t>&lt;/button&gt;</a:t>
            </a:r>
            <a:endParaRPr lang="en-US" sz="900" dirty="0"/>
          </a:p>
        </p:txBody>
      </p:sp>
      <p:sp>
        <p:nvSpPr>
          <p:cNvPr id="31" name="Text 27"/>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2" name="Text 28"/>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1E2A26"/>
                </a:solidFill>
                <a:latin typeface="Courier New" pitchFamily="34" charset="0"/>
                <a:ea typeface="Courier New" pitchFamily="34" charset="-122"/>
                <a:cs typeface="Courier New" pitchFamily="34" charset="-120"/>
              </a:rPr>
              <a:t> </a:t>
            </a:r>
            <a:endParaRPr lang="en-US" sz="900" dirty="0"/>
          </a:p>
        </p:txBody>
      </p:sp>
      <p:sp>
        <p:nvSpPr>
          <p:cNvPr id="33" name="Shape 29"/>
          <p:cNvSpPr/>
          <p:nvPr/>
        </p:nvSpPr>
        <p:spPr>
          <a:xfrm>
            <a:off x="913668" y="2182760"/>
            <a:ext cx="4555175" cy="173736"/>
          </a:xfrm>
          <a:prstGeom prst="rect">
            <a:avLst/>
          </a:prstGeom>
          <a:solidFill>
            <a:srgbClr val="FFF59D"/>
          </a:solidFill>
          <a:ln w="12700">
            <a:solidFill>
              <a:srgbClr val="FFF59D"/>
            </a:solidFill>
            <a:prstDash val="solid"/>
          </a:ln>
        </p:spPr>
      </p:sp>
      <p:sp>
        <p:nvSpPr>
          <p:cNvPr id="34" name="Text 30"/>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5" name="Text 31"/>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&lt;script&gt;</a:t>
            </a:r>
            <a:endParaRPr lang="en-US" sz="900" dirty="0"/>
          </a:p>
        </p:txBody>
      </p:sp>
      <p:sp>
        <p:nvSpPr>
          <p:cNvPr id="36" name="Shape 32"/>
          <p:cNvSpPr/>
          <p:nvPr/>
        </p:nvSpPr>
        <p:spPr>
          <a:xfrm>
            <a:off x="913668" y="2356496"/>
            <a:ext cx="4555175" cy="173736"/>
          </a:xfrm>
          <a:prstGeom prst="rect">
            <a:avLst/>
          </a:prstGeom>
          <a:solidFill>
            <a:srgbClr val="FFF59D"/>
          </a:solidFill>
          <a:ln w="12700">
            <a:solidFill>
              <a:srgbClr val="FFF59D"/>
            </a:solidFill>
            <a:prstDash val="solid"/>
          </a:ln>
        </p:spPr>
      </p:sp>
      <p:sp>
        <p:nvSpPr>
          <p:cNvPr id="37" name="Text 33"/>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8" name="Text 34"/>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function sudahSetor() {</a:t>
            </a:r>
            <a:endParaRPr lang="en-US" sz="900" dirty="0"/>
          </a:p>
        </p:txBody>
      </p:sp>
      <p:sp>
        <p:nvSpPr>
          <p:cNvPr id="39" name="Shape 35"/>
          <p:cNvSpPr/>
          <p:nvPr/>
        </p:nvSpPr>
        <p:spPr>
          <a:xfrm>
            <a:off x="913668" y="2530232"/>
            <a:ext cx="4555175" cy="173736"/>
          </a:xfrm>
          <a:prstGeom prst="rect">
            <a:avLst/>
          </a:prstGeom>
          <a:solidFill>
            <a:srgbClr val="FFF59D"/>
          </a:solidFill>
          <a:ln w="12700">
            <a:solidFill>
              <a:srgbClr val="FFF59D"/>
            </a:solidFill>
            <a:prstDash val="solid"/>
          </a:ln>
        </p:spPr>
      </p:sp>
      <p:sp>
        <p:nvSpPr>
          <p:cNvPr id="40" name="Text 36"/>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41" name="Text 37"/>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document.getElementById("pesan").textContent =</a:t>
            </a:r>
            <a:endParaRPr lang="en-US" sz="900" dirty="0"/>
          </a:p>
        </p:txBody>
      </p:sp>
      <p:sp>
        <p:nvSpPr>
          <p:cNvPr id="42" name="Shape 38"/>
          <p:cNvSpPr/>
          <p:nvPr/>
        </p:nvSpPr>
        <p:spPr>
          <a:xfrm>
            <a:off x="913668" y="2703968"/>
            <a:ext cx="4555175" cy="173736"/>
          </a:xfrm>
          <a:prstGeom prst="rect">
            <a:avLst/>
          </a:prstGeom>
          <a:solidFill>
            <a:srgbClr val="FFF59D"/>
          </a:solidFill>
          <a:ln w="12700">
            <a:solidFill>
              <a:srgbClr val="FFF59D"/>
            </a:solidFill>
            <a:prstDash val="solid"/>
          </a:ln>
        </p:spPr>
      </p:sp>
      <p:sp>
        <p:nvSpPr>
          <p:cNvPr id="43" name="Text 39"/>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44" name="Text 40"/>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"Alhamdulillah, setoran tercatat!";</a:t>
            </a:r>
            <a:endParaRPr lang="en-US" sz="900" dirty="0"/>
          </a:p>
        </p:txBody>
      </p:sp>
      <p:sp>
        <p:nvSpPr>
          <p:cNvPr id="45" name="Shape 41"/>
          <p:cNvSpPr/>
          <p:nvPr/>
        </p:nvSpPr>
        <p:spPr>
          <a:xfrm>
            <a:off x="913668" y="2877704"/>
            <a:ext cx="4555175" cy="173736"/>
          </a:xfrm>
          <a:prstGeom prst="rect">
            <a:avLst/>
          </a:prstGeom>
          <a:solidFill>
            <a:srgbClr val="FFF59D"/>
          </a:solidFill>
          <a:ln w="12700">
            <a:solidFill>
              <a:srgbClr val="FFF59D"/>
            </a:solidFill>
            <a:prstDash val="solid"/>
          </a:ln>
        </p:spPr>
      </p:sp>
      <p:sp>
        <p:nvSpPr>
          <p:cNvPr id="46" name="Text 42"/>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7" name="Text 43"/>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endParaRPr lang="en-US" sz="900" dirty="0"/>
          </a:p>
        </p:txBody>
      </p:sp>
      <p:sp>
        <p:nvSpPr>
          <p:cNvPr id="48" name="Shape 44"/>
          <p:cNvSpPr/>
          <p:nvPr/>
        </p:nvSpPr>
        <p:spPr>
          <a:xfrm>
            <a:off x="913668" y="3051440"/>
            <a:ext cx="4555175" cy="173736"/>
          </a:xfrm>
          <a:prstGeom prst="rect">
            <a:avLst/>
          </a:prstGeom>
          <a:solidFill>
            <a:srgbClr val="FFF59D"/>
          </a:solidFill>
          <a:ln w="12700">
            <a:solidFill>
              <a:srgbClr val="FFF59D"/>
            </a:solidFill>
            <a:prstDash val="solid"/>
          </a:ln>
        </p:spPr>
      </p:sp>
      <p:sp>
        <p:nvSpPr>
          <p:cNvPr id="49" name="Text 45"/>
          <p:cNvSpPr txBox="1"/>
          <p:nvPr/>
        </p:nvSpPr>
        <p:spPr>
          <a:xfrm>
            <a:off x="639348" y="305144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9</a:t>
            </a:r>
            <a:endParaRPr lang="en-US" sz="800" dirty="0"/>
          </a:p>
        </p:txBody>
      </p:sp>
      <p:sp>
        <p:nvSpPr>
          <p:cNvPr id="50" name="Text 46"/>
          <p:cNvSpPr txBox="1"/>
          <p:nvPr/>
        </p:nvSpPr>
        <p:spPr>
          <a:xfrm>
            <a:off x="986820" y="305144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&lt;/script&gt;</a:t>
            </a:r>
            <a:endParaRPr lang="en-US" sz="900" dirty="0"/>
          </a:p>
        </p:txBody>
      </p:sp>
      <p:sp>
        <p:nvSpPr>
          <p:cNvPr id="51" name="Shape 47"/>
          <p:cNvSpPr/>
          <p:nvPr/>
        </p:nvSpPr>
        <p:spPr>
          <a:xfrm>
            <a:off x="913668" y="2164472"/>
            <a:ext cx="4555175" cy="1078992"/>
          </a:xfrm>
          <a:prstGeom prst="roundRect">
            <a:avLst>
              <a:gd name="adj" fmla="val 4237"/>
            </a:avLst>
          </a:prstGeom>
          <a:solidFill>
            <a:srgbClr val="FFFFFF">
              <a:alpha val="0"/>
            </a:srgbClr>
          </a:solidFill>
          <a:ln w="31750">
            <a:solidFill>
              <a:srgbClr val="E53935"/>
            </a:solidFill>
            <a:prstDash val="solid"/>
          </a:ln>
        </p:spPr>
      </p:sp>
      <p:sp>
        <p:nvSpPr>
          <p:cNvPr id="52" name="Shape 48"/>
          <p:cNvSpPr/>
          <p:nvPr/>
        </p:nvSpPr>
        <p:spPr>
          <a:xfrm>
            <a:off x="5331684" y="2027312"/>
            <a:ext cx="274320" cy="274320"/>
          </a:xfrm>
          <a:prstGeom prst="ellipse">
            <a:avLst/>
          </a:prstGeom>
          <a:solidFill>
            <a:srgbClr val="E53935"/>
          </a:solidFill>
          <a:ln w="12700">
            <a:solidFill>
              <a:srgbClr val="FFFFFF"/>
            </a:solidFill>
            <a:prstDash val="solid"/>
          </a:ln>
        </p:spPr>
      </p:sp>
      <p:sp>
        <p:nvSpPr>
          <p:cNvPr id="53" name="Text 49"/>
          <p:cNvSpPr txBox="1"/>
          <p:nvPr/>
        </p:nvSpPr>
        <p:spPr>
          <a:xfrm>
            <a:off x="5331684" y="20273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54" name="Image 2" descr="preencoded.png">    </p:cNvPr>
          <p:cNvPicPr>
            <a:picLocks noChangeAspect="1"/>
          </p:cNvPicPr>
          <p:nvPr/>
        </p:nvPicPr>
        <p:blipFill>
          <a:blip r:embed="rId3"/>
          <a:stretch>
            <a:fillRect/>
          </a:stretch>
        </p:blipFill>
        <p:spPr>
          <a:xfrm>
            <a:off x="3417186" y="2756088"/>
            <a:ext cx="237744" cy="237744"/>
          </a:xfrm>
          <a:prstGeom prst="rect">
            <a:avLst/>
          </a:prstGeom>
        </p:spPr>
      </p:pic>
      <p:sp>
        <p:nvSpPr>
          <p:cNvPr id="55" name="Text 5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56" name="Text 5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Tambahkan ke index.html</a:t>
            </a:r>
            <a:endParaRPr lang="en-US" sz="1800" dirty="0"/>
          </a:p>
        </p:txBody>
      </p:sp>
      <p:sp>
        <p:nvSpPr>
          <p:cNvPr id="57" name="Text 5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Beri id pada paragraf, onclick pada tombol, dan tulis &lt;script&gt; sebelum &lt;/body&gt;.</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Uji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Setoran Hari Ini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file:///C:/.../Proyek_Kel3/index.html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4914351" cy="457200"/>
          </a:xfrm>
          <a:prstGeom prst="rect">
            <a:avLst/>
          </a:prstGeom>
          <a:solidFill>
            <a:srgbClr val="0F4C3A"/>
          </a:solidFill>
          <a:ln w="12700">
            <a:solidFill>
              <a:srgbClr val="0F4C3A"/>
            </a:solidFill>
            <a:prstDash val="solid"/>
          </a:ln>
        </p:spPr>
      </p:sp>
      <p:sp>
        <p:nvSpPr>
          <p:cNvPr id="31" name="Text 24"/>
          <p:cNvSpPr txBox="1"/>
          <p:nvPr/>
        </p:nvSpPr>
        <p:spPr>
          <a:xfrm>
            <a:off x="606064" y="1695965"/>
            <a:ext cx="4914351"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Setoran Hari Ini</a:t>
            </a:r>
            <a:endParaRPr lang="en-US" sz="1300" dirty="0"/>
          </a:p>
        </p:txBody>
      </p:sp>
      <p:sp>
        <p:nvSpPr>
          <p:cNvPr id="32" name="Shape 25"/>
          <p:cNvSpPr/>
          <p:nvPr/>
        </p:nvSpPr>
        <p:spPr>
          <a:xfrm>
            <a:off x="1874520" y="2290325"/>
            <a:ext cx="2377440" cy="1143000"/>
          </a:xfrm>
          <a:prstGeom prst="roundRect">
            <a:avLst>
              <a:gd name="adj" fmla="val 6400"/>
            </a:avLst>
          </a:prstGeom>
          <a:solidFill>
            <a:srgbClr val="FFFFFF"/>
          </a:solidFill>
          <a:ln w="9525">
            <a:solidFill>
              <a:srgbClr val="DDDDDD"/>
            </a:solidFill>
            <a:prstDash val="solid"/>
          </a:ln>
        </p:spPr>
      </p:sp>
      <p:sp>
        <p:nvSpPr>
          <p:cNvPr id="33" name="Text 26"/>
          <p:cNvSpPr txBox="1"/>
          <p:nvPr/>
        </p:nvSpPr>
        <p:spPr>
          <a:xfrm>
            <a:off x="1984248" y="2354333"/>
            <a:ext cx="2194560" cy="274320"/>
          </a:xfrm>
          <a:prstGeom prst="rect">
            <a:avLst/>
          </a:prstGeom>
          <a:noFill/>
          <a:ln/>
        </p:spPr>
        <p:txBody>
          <a:bodyPr wrap="square" lIns="0" tIns="0" rIns="0" bIns="0" rtlCol="0" anchor="t"/>
          <a:lstStyle/>
          <a:p>
            <a:pPr indent="0" marL="0">
              <a:buNone/>
            </a:pPr>
            <a:r>
              <a:rPr lang="en-US" sz="900" b="1" dirty="0">
                <a:solidFill>
                  <a:srgbClr val="1E2A26"/>
                </a:solidFill>
                <a:latin typeface="Arial" pitchFamily="34" charset="0"/>
                <a:ea typeface="Arial" pitchFamily="34" charset="-122"/>
                <a:cs typeface="Arial" pitchFamily="34" charset="-120"/>
              </a:rPr>
              <a:t>Target: An-Naba ayat 1–20</a:t>
            </a:r>
            <a:endParaRPr lang="en-US" sz="900" dirty="0"/>
          </a:p>
        </p:txBody>
      </p:sp>
      <p:sp>
        <p:nvSpPr>
          <p:cNvPr id="34" name="Text 27"/>
          <p:cNvSpPr txBox="1"/>
          <p:nvPr/>
        </p:nvSpPr>
        <p:spPr>
          <a:xfrm>
            <a:off x="1984248" y="2628653"/>
            <a:ext cx="2194560" cy="256032"/>
          </a:xfrm>
          <a:prstGeom prst="rect">
            <a:avLst/>
          </a:prstGeom>
          <a:noFill/>
          <a:ln/>
        </p:spPr>
        <p:txBody>
          <a:bodyPr wrap="square" lIns="0" tIns="0" rIns="0" bIns="0" rtlCol="0" anchor="t"/>
          <a:lstStyle/>
          <a:p>
            <a:pPr indent="0" marL="0">
              <a:buNone/>
            </a:pPr>
            <a:r>
              <a:rPr lang="en-US" sz="850" b="1" dirty="0">
                <a:solidFill>
                  <a:srgbClr val="1F7A5C"/>
                </a:solidFill>
                <a:latin typeface="Arial" pitchFamily="34" charset="0"/>
                <a:ea typeface="Arial" pitchFamily="34" charset="-122"/>
                <a:cs typeface="Arial" pitchFamily="34" charset="-120"/>
              </a:rPr>
              <a:t>Alhamdulillah, setoran tercatat!</a:t>
            </a:r>
            <a:endParaRPr lang="en-US" sz="850" dirty="0"/>
          </a:p>
        </p:txBody>
      </p:sp>
      <p:sp>
        <p:nvSpPr>
          <p:cNvPr id="35" name="Shape 28"/>
          <p:cNvSpPr/>
          <p:nvPr/>
        </p:nvSpPr>
        <p:spPr>
          <a:xfrm>
            <a:off x="2514600" y="2994413"/>
            <a:ext cx="1097280" cy="274320"/>
          </a:xfrm>
          <a:prstGeom prst="roundRect">
            <a:avLst>
              <a:gd name="adj" fmla="val 50000"/>
            </a:avLst>
          </a:prstGeom>
          <a:solidFill>
            <a:srgbClr val="D4A017"/>
          </a:solidFill>
          <a:ln w="12700">
            <a:solidFill>
              <a:srgbClr val="D4A017"/>
            </a:solidFill>
            <a:prstDash val="solid"/>
          </a:ln>
        </p:spPr>
      </p:sp>
      <p:sp>
        <p:nvSpPr>
          <p:cNvPr id="36" name="Text 29"/>
          <p:cNvSpPr txBox="1"/>
          <p:nvPr/>
        </p:nvSpPr>
        <p:spPr>
          <a:xfrm>
            <a:off x="2514600" y="2994413"/>
            <a:ext cx="109728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Sudah Setor</a:t>
            </a:r>
            <a:endParaRPr lang="en-US" sz="850" dirty="0"/>
          </a:p>
        </p:txBody>
      </p:sp>
      <p:sp>
        <p:nvSpPr>
          <p:cNvPr id="37" name="Shape 30"/>
          <p:cNvSpPr/>
          <p:nvPr/>
        </p:nvSpPr>
        <p:spPr>
          <a:xfrm>
            <a:off x="1929384" y="2592077"/>
            <a:ext cx="2267712" cy="329184"/>
          </a:xfrm>
          <a:prstGeom prst="roundRect">
            <a:avLst>
              <a:gd name="adj" fmla="val 13889"/>
            </a:avLst>
          </a:prstGeom>
          <a:solidFill>
            <a:srgbClr val="FFFFFF">
              <a:alpha val="0"/>
            </a:srgbClr>
          </a:solidFill>
          <a:ln w="31750">
            <a:solidFill>
              <a:srgbClr val="E53935"/>
            </a:solidFill>
            <a:prstDash val="solid"/>
          </a:ln>
        </p:spPr>
      </p:sp>
      <p:sp>
        <p:nvSpPr>
          <p:cNvPr id="38" name="Shape 31"/>
          <p:cNvSpPr/>
          <p:nvPr/>
        </p:nvSpPr>
        <p:spPr>
          <a:xfrm>
            <a:off x="4059936" y="2454917"/>
            <a:ext cx="274320" cy="274320"/>
          </a:xfrm>
          <a:prstGeom prst="ellipse">
            <a:avLst/>
          </a:prstGeom>
          <a:solidFill>
            <a:srgbClr val="E53935"/>
          </a:solidFill>
          <a:ln w="12700">
            <a:solidFill>
              <a:srgbClr val="FFFFFF"/>
            </a:solidFill>
            <a:prstDash val="solid"/>
          </a:ln>
        </p:spPr>
      </p:sp>
      <p:sp>
        <p:nvSpPr>
          <p:cNvPr id="39" name="Text 32"/>
          <p:cNvSpPr txBox="1"/>
          <p:nvPr/>
        </p:nvSpPr>
        <p:spPr>
          <a:xfrm>
            <a:off x="4059936" y="24549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40" name="Image 5" descr="preencoded.png">    </p:cNvPr>
          <p:cNvPicPr>
            <a:picLocks noChangeAspect="1"/>
          </p:cNvPicPr>
          <p:nvPr/>
        </p:nvPicPr>
        <p:blipFill>
          <a:blip r:embed="rId6"/>
          <a:stretch>
            <a:fillRect/>
          </a:stretch>
        </p:blipFill>
        <p:spPr>
          <a:xfrm>
            <a:off x="3174797" y="2771300"/>
            <a:ext cx="237744" cy="237744"/>
          </a:xfrm>
          <a:prstGeom prst="rect">
            <a:avLst/>
          </a:prstGeom>
        </p:spPr>
      </p:pic>
      <p:sp>
        <p:nvSpPr>
          <p:cNvPr id="41" name="Text 3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42" name="Text 3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Simpan, refresh, klik tombol</a:t>
            </a:r>
            <a:endParaRPr lang="en-US" sz="1800" dirty="0"/>
          </a:p>
        </p:txBody>
      </p:sp>
      <p:sp>
        <p:nvSpPr>
          <p:cNvPr id="43" name="Text 3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Sudah Setor. Teks berubah! Jika tidak, tekan F12 › Console untuk melihat pesan error.</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Uji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function sudahSetor() {</a:t>
            </a:r>
            <a:endParaRPr lang="en-US" sz="900" dirty="0"/>
          </a:p>
        </p:txBody>
      </p:sp>
      <p:sp>
        <p:nvSpPr>
          <p:cNvPr id="27" name="Shape 23"/>
          <p:cNvSpPr/>
          <p:nvPr/>
        </p:nvSpPr>
        <p:spPr>
          <a:xfrm>
            <a:off x="913668" y="1835288"/>
            <a:ext cx="4555175" cy="173736"/>
          </a:xfrm>
          <a:prstGeom prst="rect">
            <a:avLst/>
          </a:prstGeom>
          <a:solidFill>
            <a:srgbClr val="FFF59D"/>
          </a:solidFill>
          <a:ln w="12700">
            <a:solidFill>
              <a:srgbClr val="FFF59D"/>
            </a:solidFill>
            <a:prstDash val="solid"/>
          </a:ln>
        </p:spPr>
      </p:sp>
      <p:sp>
        <p:nvSpPr>
          <p:cNvPr id="28" name="Text 24"/>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9" name="Text 25"/>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 diubah sendiri:</a:t>
            </a:r>
            <a:endParaRPr lang="en-US" sz="900" dirty="0"/>
          </a:p>
        </p:txBody>
      </p:sp>
      <p:sp>
        <p:nvSpPr>
          <p:cNvPr id="30" name="Shape 26"/>
          <p:cNvSpPr/>
          <p:nvPr/>
        </p:nvSpPr>
        <p:spPr>
          <a:xfrm>
            <a:off x="913668" y="2009024"/>
            <a:ext cx="4555175" cy="173736"/>
          </a:xfrm>
          <a:prstGeom prst="rect">
            <a:avLst/>
          </a:prstGeom>
          <a:solidFill>
            <a:srgbClr val="FFF59D"/>
          </a:solidFill>
          <a:ln w="12700">
            <a:solidFill>
              <a:srgbClr val="FFF59D"/>
            </a:solidFill>
            <a:prstDash val="solid"/>
          </a:ln>
        </p:spPr>
      </p:sp>
      <p:sp>
        <p:nvSpPr>
          <p:cNvPr id="31" name="Text 27"/>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2" name="Text 28"/>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document.getElementById("pesan")</a:t>
            </a:r>
            <a:endParaRPr lang="en-US" sz="900" dirty="0"/>
          </a:p>
        </p:txBody>
      </p:sp>
      <p:sp>
        <p:nvSpPr>
          <p:cNvPr id="33" name="Shape 29"/>
          <p:cNvSpPr/>
          <p:nvPr/>
        </p:nvSpPr>
        <p:spPr>
          <a:xfrm>
            <a:off x="913668" y="2182760"/>
            <a:ext cx="4555175" cy="173736"/>
          </a:xfrm>
          <a:prstGeom prst="rect">
            <a:avLst/>
          </a:prstGeom>
          <a:solidFill>
            <a:srgbClr val="FFF59D"/>
          </a:solidFill>
          <a:ln w="12700">
            <a:solidFill>
              <a:srgbClr val="FFF59D"/>
            </a:solidFill>
            <a:prstDash val="solid"/>
          </a:ln>
        </p:spPr>
      </p:sp>
      <p:sp>
        <p:nvSpPr>
          <p:cNvPr id="34" name="Text 30"/>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5" name="Text 31"/>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.textContent = "Masya Allah, selesai!";</a:t>
            </a:r>
            <a:endParaRPr lang="en-US" sz="900" dirty="0"/>
          </a:p>
        </p:txBody>
      </p:sp>
      <p:sp>
        <p:nvSpPr>
          <p:cNvPr id="36" name="Shape 32"/>
          <p:cNvSpPr/>
          <p:nvPr/>
        </p:nvSpPr>
        <p:spPr>
          <a:xfrm>
            <a:off x="913668" y="2356496"/>
            <a:ext cx="4555175" cy="173736"/>
          </a:xfrm>
          <a:prstGeom prst="rect">
            <a:avLst/>
          </a:prstGeom>
          <a:solidFill>
            <a:srgbClr val="FFF59D"/>
          </a:solidFill>
          <a:ln w="12700">
            <a:solidFill>
              <a:srgbClr val="FFF59D"/>
            </a:solidFill>
            <a:prstDash val="solid"/>
          </a:ln>
        </p:spPr>
      </p:sp>
      <p:sp>
        <p:nvSpPr>
          <p:cNvPr id="37" name="Text 33"/>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8" name="Text 34"/>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 ditambah sendiri:</a:t>
            </a:r>
            <a:endParaRPr lang="en-US" sz="900" dirty="0"/>
          </a:p>
        </p:txBody>
      </p:sp>
      <p:sp>
        <p:nvSpPr>
          <p:cNvPr id="39" name="Shape 35"/>
          <p:cNvSpPr/>
          <p:nvPr/>
        </p:nvSpPr>
        <p:spPr>
          <a:xfrm>
            <a:off x="913668" y="2530232"/>
            <a:ext cx="4555175" cy="173736"/>
          </a:xfrm>
          <a:prstGeom prst="rect">
            <a:avLst/>
          </a:prstGeom>
          <a:solidFill>
            <a:srgbClr val="FFF59D"/>
          </a:solidFill>
          <a:ln w="12700">
            <a:solidFill>
              <a:srgbClr val="FFF59D"/>
            </a:solidFill>
            <a:prstDash val="solid"/>
          </a:ln>
        </p:spPr>
      </p:sp>
      <p:sp>
        <p:nvSpPr>
          <p:cNvPr id="40" name="Text 36"/>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41" name="Text 37"/>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document.getElementById("pesan")</a:t>
            </a:r>
            <a:endParaRPr lang="en-US" sz="900" dirty="0"/>
          </a:p>
        </p:txBody>
      </p:sp>
      <p:sp>
        <p:nvSpPr>
          <p:cNvPr id="42" name="Shape 38"/>
          <p:cNvSpPr/>
          <p:nvPr/>
        </p:nvSpPr>
        <p:spPr>
          <a:xfrm>
            <a:off x="913668" y="2703968"/>
            <a:ext cx="4555175" cy="173736"/>
          </a:xfrm>
          <a:prstGeom prst="rect">
            <a:avLst/>
          </a:prstGeom>
          <a:solidFill>
            <a:srgbClr val="FFF59D"/>
          </a:solidFill>
          <a:ln w="12700">
            <a:solidFill>
              <a:srgbClr val="FFF59D"/>
            </a:solidFill>
            <a:prstDash val="solid"/>
          </a:ln>
        </p:spPr>
      </p:sp>
      <p:sp>
        <p:nvSpPr>
          <p:cNvPr id="43" name="Text 39"/>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44" name="Text 40"/>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.style.color = "green";</a:t>
            </a:r>
            <a:endParaRPr lang="en-US" sz="900" dirty="0"/>
          </a:p>
        </p:txBody>
      </p:sp>
      <p:sp>
        <p:nvSpPr>
          <p:cNvPr id="45" name="Text 41"/>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6" name="Text 42"/>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a:t>
            </a:r>
            <a:endParaRPr lang="en-US" sz="900" dirty="0"/>
          </a:p>
        </p:txBody>
      </p:sp>
      <p:sp>
        <p:nvSpPr>
          <p:cNvPr id="47" name="Shape 43"/>
          <p:cNvSpPr/>
          <p:nvPr/>
        </p:nvSpPr>
        <p:spPr>
          <a:xfrm>
            <a:off x="913668" y="1817000"/>
            <a:ext cx="4555175" cy="1078992"/>
          </a:xfrm>
          <a:prstGeom prst="roundRect">
            <a:avLst>
              <a:gd name="adj" fmla="val 4237"/>
            </a:avLst>
          </a:prstGeom>
          <a:solidFill>
            <a:srgbClr val="FFFFFF">
              <a:alpha val="0"/>
            </a:srgbClr>
          </a:solidFill>
          <a:ln w="31750">
            <a:solidFill>
              <a:srgbClr val="E53935"/>
            </a:solidFill>
            <a:prstDash val="solid"/>
          </a:ln>
        </p:spPr>
      </p:sp>
      <p:sp>
        <p:nvSpPr>
          <p:cNvPr id="48" name="Shape 44"/>
          <p:cNvSpPr/>
          <p:nvPr/>
        </p:nvSpPr>
        <p:spPr>
          <a:xfrm>
            <a:off x="5331684" y="1679840"/>
            <a:ext cx="274320" cy="274320"/>
          </a:xfrm>
          <a:prstGeom prst="ellipse">
            <a:avLst/>
          </a:prstGeom>
          <a:solidFill>
            <a:srgbClr val="E53935"/>
          </a:solidFill>
          <a:ln w="12700">
            <a:solidFill>
              <a:srgbClr val="FFFFFF"/>
            </a:solidFill>
            <a:prstDash val="solid"/>
          </a:ln>
        </p:spPr>
      </p:sp>
      <p:sp>
        <p:nvSpPr>
          <p:cNvPr id="49" name="Text 45"/>
          <p:cNvSpPr txBox="1"/>
          <p:nvPr/>
        </p:nvSpPr>
        <p:spPr>
          <a:xfrm>
            <a:off x="5331684" y="16798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50" name="Image 2" descr="preencoded.png">    </p:cNvPr>
          <p:cNvPicPr>
            <a:picLocks noChangeAspect="1"/>
          </p:cNvPicPr>
          <p:nvPr/>
        </p:nvPicPr>
        <p:blipFill>
          <a:blip r:embed="rId3"/>
          <a:stretch>
            <a:fillRect/>
          </a:stretch>
        </p:blipFill>
        <p:spPr>
          <a:xfrm>
            <a:off x="3417186" y="2408616"/>
            <a:ext cx="237744" cy="237744"/>
          </a:xfrm>
          <a:prstGeom prst="rect">
            <a:avLst/>
          </a:prstGeom>
        </p:spPr>
      </p:pic>
      <p:sp>
        <p:nvSpPr>
          <p:cNvPr id="51" name="Text 4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52" name="Text 4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Modifikasi sendiri: ubah pesan dan warna</a:t>
            </a:r>
            <a:endParaRPr lang="en-US" sz="1800" dirty="0"/>
          </a:p>
        </p:txBody>
      </p:sp>
      <p:sp>
        <p:nvSpPr>
          <p:cNvPr id="53" name="Text 4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Tanpa AI: ubah isi pesan, dan tambahkan baris untuk mengubah warna: .style.color = "green";</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Merapikan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santri-wu-kel3 / setoran-harian / upload</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Shape 24"/>
          <p:cNvSpPr/>
          <p:nvPr/>
        </p:nvSpPr>
        <p:spPr>
          <a:xfrm>
            <a:off x="724936" y="2061725"/>
            <a:ext cx="4676607" cy="914400"/>
          </a:xfrm>
          <a:prstGeom prst="rect">
            <a:avLst/>
          </a:prstGeom>
          <a:solidFill>
            <a:srgbClr val="F6F8FA"/>
          </a:solidFill>
          <a:ln w="12700">
            <a:solidFill>
              <a:srgbClr val="D0D7DE"/>
            </a:solidFill>
            <a:prstDash val="dash"/>
          </a:ln>
        </p:spPr>
      </p:sp>
      <p:sp>
        <p:nvSpPr>
          <p:cNvPr id="33" name="Text 25"/>
          <p:cNvSpPr txBox="1"/>
          <p:nvPr/>
        </p:nvSpPr>
        <p:spPr>
          <a:xfrm>
            <a:off x="724936" y="2198885"/>
            <a:ext cx="4676607" cy="457200"/>
          </a:xfrm>
          <a:prstGeom prst="rect">
            <a:avLst/>
          </a:prstGeom>
          <a:noFill/>
          <a:ln/>
        </p:spPr>
        <p:txBody>
          <a:bodyPr wrap="square" lIns="0" tIns="0" rIns="0" bIns="0" rtlCol="0" anchor="t"/>
          <a:lstStyle/>
          <a:p>
            <a:pPr algn="ctr" indent="0" marL="0">
              <a:buNone/>
            </a:pPr>
            <a:r>
              <a:rPr lang="en-US" sz="800" dirty="0">
                <a:solidFill>
                  <a:srgbClr val="555555"/>
                </a:solidFill>
                <a:latin typeface="Calibri" pitchFamily="34" charset="0"/>
                <a:ea typeface="Calibri" pitchFamily="34" charset="-122"/>
                <a:cs typeface="Calibri" pitchFamily="34" charset="-120"/>
              </a:rPr>
              <a:t>Drag files here to add them to your repository</a:t>
            </a:r>
            <a:endParaRPr lang="en-US" sz="800" dirty="0"/>
          </a:p>
          <a:p>
            <a:pPr algn="ctr" indent="0" marL="0">
              <a:buNone/>
            </a:pPr>
            <a:r>
              <a:rPr lang="en-US" sz="800" dirty="0">
                <a:solidFill>
                  <a:srgbClr val="555555"/>
                </a:solidFill>
                <a:latin typeface="Calibri" pitchFamily="34" charset="0"/>
                <a:ea typeface="Calibri" pitchFamily="34" charset="-122"/>
                <a:cs typeface="Calibri" pitchFamily="34" charset="-120"/>
              </a:rPr>
              <a:t>or choose your files</a:t>
            </a:r>
            <a:endParaRPr lang="en-US" sz="800" dirty="0"/>
          </a:p>
        </p:txBody>
      </p:sp>
      <p:sp>
        <p:nvSpPr>
          <p:cNvPr id="34" name="Text 26"/>
          <p:cNvSpPr txBox="1"/>
          <p:nvPr/>
        </p:nvSpPr>
        <p:spPr>
          <a:xfrm>
            <a:off x="862096" y="2701805"/>
            <a:ext cx="1143000" cy="182880"/>
          </a:xfrm>
          <a:prstGeom prst="rect">
            <a:avLst/>
          </a:prstGeom>
          <a:noFill/>
          <a:ln/>
        </p:spPr>
        <p:txBody>
          <a:bodyPr wrap="square" lIns="0" tIns="0" rIns="0" bIns="0" rtlCol="0" anchor="t"/>
          <a:lstStyle/>
          <a:p>
            <a:pPr indent="0" marL="0">
              <a:buNone/>
            </a:pPr>
            <a:r>
              <a:rPr lang="en-US" sz="700" dirty="0">
                <a:solidFill>
                  <a:srgbClr val="1F883D"/>
                </a:solidFill>
                <a:latin typeface="Calibri" pitchFamily="34" charset="0"/>
                <a:ea typeface="Calibri" pitchFamily="34" charset="-122"/>
                <a:cs typeface="Calibri" pitchFamily="34" charset="-120"/>
              </a:rPr>
              <a:t>✓ index.html</a:t>
            </a:r>
            <a:endParaRPr lang="en-US" sz="700" dirty="0"/>
          </a:p>
        </p:txBody>
      </p:sp>
      <p:sp>
        <p:nvSpPr>
          <p:cNvPr id="35" name="Text 27"/>
          <p:cNvSpPr txBox="1"/>
          <p:nvPr/>
        </p:nvSpPr>
        <p:spPr>
          <a:xfrm>
            <a:off x="724936" y="3067565"/>
            <a:ext cx="1828800" cy="182880"/>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Commit changes</a:t>
            </a:r>
            <a:endParaRPr lang="en-US" sz="800" dirty="0"/>
          </a:p>
        </p:txBody>
      </p:sp>
      <p:sp>
        <p:nvSpPr>
          <p:cNvPr id="36" name="Shape 28"/>
          <p:cNvSpPr/>
          <p:nvPr/>
        </p:nvSpPr>
        <p:spPr>
          <a:xfrm>
            <a:off x="724936" y="3268733"/>
            <a:ext cx="3507456" cy="219456"/>
          </a:xfrm>
          <a:prstGeom prst="roundRect">
            <a:avLst>
              <a:gd name="adj" fmla="val 12500"/>
            </a:avLst>
          </a:prstGeom>
          <a:solidFill>
            <a:srgbClr val="FFFFFF"/>
          </a:solidFill>
          <a:ln w="12700">
            <a:solidFill>
              <a:srgbClr val="0969DA"/>
            </a:solidFill>
            <a:prstDash val="solid"/>
          </a:ln>
        </p:spPr>
      </p:sp>
      <p:sp>
        <p:nvSpPr>
          <p:cNvPr id="37" name="Text 29"/>
          <p:cNvSpPr txBox="1"/>
          <p:nvPr/>
        </p:nvSpPr>
        <p:spPr>
          <a:xfrm>
            <a:off x="779800" y="3268733"/>
            <a:ext cx="3507456" cy="219456"/>
          </a:xfrm>
          <a:prstGeom prst="rect">
            <a:avLst/>
          </a:prstGeom>
          <a:noFill/>
          <a:ln/>
        </p:spPr>
        <p:txBody>
          <a:bodyPr wrap="square" lIns="0" tIns="0" rIns="0" bIns="0" rtlCol="0" anchor="ctr"/>
          <a:lstStyle/>
          <a:p>
            <a:pPr indent="0" marL="0">
              <a:buNone/>
            </a:pPr>
            <a:r>
              <a:rPr lang="en-US" sz="750" dirty="0">
                <a:solidFill>
                  <a:srgbClr val="111111"/>
                </a:solidFill>
                <a:latin typeface="Calibri" pitchFamily="34" charset="0"/>
                <a:ea typeface="Calibri" pitchFamily="34" charset="-122"/>
                <a:cs typeface="Calibri" pitchFamily="34" charset="-120"/>
              </a:rPr>
              <a:t>Versi 1: tombol Sudah Setor bekerja</a:t>
            </a:r>
            <a:endParaRPr lang="en-US" sz="750" dirty="0"/>
          </a:p>
        </p:txBody>
      </p:sp>
      <p:sp>
        <p:nvSpPr>
          <p:cNvPr id="38" name="Shape 30"/>
          <p:cNvSpPr/>
          <p:nvPr/>
        </p:nvSpPr>
        <p:spPr>
          <a:xfrm>
            <a:off x="724936" y="3702776"/>
            <a:ext cx="1005840" cy="219456"/>
          </a:xfrm>
          <a:prstGeom prst="roundRect">
            <a:avLst>
              <a:gd name="adj" fmla="val 16667"/>
            </a:avLst>
          </a:prstGeom>
          <a:solidFill>
            <a:srgbClr val="1F883D"/>
          </a:solidFill>
          <a:ln w="12700">
            <a:solidFill>
              <a:srgbClr val="1F883D"/>
            </a:solidFill>
            <a:prstDash val="solid"/>
          </a:ln>
        </p:spPr>
      </p:sp>
      <p:sp>
        <p:nvSpPr>
          <p:cNvPr id="39" name="Text 31"/>
          <p:cNvSpPr txBox="1"/>
          <p:nvPr/>
        </p:nvSpPr>
        <p:spPr>
          <a:xfrm>
            <a:off x="724936" y="3702776"/>
            <a:ext cx="10058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Commit changes</a:t>
            </a:r>
            <a:endParaRPr lang="en-US" sz="750" dirty="0"/>
          </a:p>
        </p:txBody>
      </p:sp>
      <p:sp>
        <p:nvSpPr>
          <p:cNvPr id="40" name="Shape 32"/>
          <p:cNvSpPr/>
          <p:nvPr/>
        </p:nvSpPr>
        <p:spPr>
          <a:xfrm>
            <a:off x="706648" y="3250445"/>
            <a:ext cx="3544032" cy="256032"/>
          </a:xfrm>
          <a:prstGeom prst="roundRect">
            <a:avLst>
              <a:gd name="adj" fmla="val 17857"/>
            </a:avLst>
          </a:prstGeom>
          <a:solidFill>
            <a:srgbClr val="FFFFFF">
              <a:alpha val="0"/>
            </a:srgbClr>
          </a:solidFill>
          <a:ln w="31750">
            <a:solidFill>
              <a:srgbClr val="E53935"/>
            </a:solidFill>
            <a:prstDash val="solid"/>
          </a:ln>
        </p:spPr>
      </p:sp>
      <p:sp>
        <p:nvSpPr>
          <p:cNvPr id="41" name="Shape 33"/>
          <p:cNvSpPr/>
          <p:nvPr/>
        </p:nvSpPr>
        <p:spPr>
          <a:xfrm>
            <a:off x="4113520" y="3113285"/>
            <a:ext cx="274320" cy="274320"/>
          </a:xfrm>
          <a:prstGeom prst="ellipse">
            <a:avLst/>
          </a:prstGeom>
          <a:solidFill>
            <a:srgbClr val="E53935"/>
          </a:solidFill>
          <a:ln w="12700">
            <a:solidFill>
              <a:srgbClr val="FFFFFF"/>
            </a:solidFill>
            <a:prstDash val="solid"/>
          </a:ln>
        </p:spPr>
      </p:sp>
      <p:sp>
        <p:nvSpPr>
          <p:cNvPr id="42" name="Text 34"/>
          <p:cNvSpPr txBox="1"/>
          <p:nvPr/>
        </p:nvSpPr>
        <p:spPr>
          <a:xfrm>
            <a:off x="4113520" y="31132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43" name="Image 6" descr="preencoded.png">    </p:cNvPr>
          <p:cNvPicPr>
            <a:picLocks noChangeAspect="1"/>
          </p:cNvPicPr>
          <p:nvPr/>
        </p:nvPicPr>
        <p:blipFill>
          <a:blip r:embed="rId7"/>
          <a:stretch>
            <a:fillRect/>
          </a:stretch>
        </p:blipFill>
        <p:spPr>
          <a:xfrm>
            <a:off x="2654037" y="3389434"/>
            <a:ext cx="237744" cy="237744"/>
          </a:xfrm>
          <a:prstGeom prst="rect">
            <a:avLst/>
          </a:prstGeom>
        </p:spPr>
      </p:pic>
      <p:sp>
        <p:nvSpPr>
          <p:cNvPr id="44" name="Text 3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45" name="Text 3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Rapikan dan unggah ke GitHub</a:t>
            </a:r>
            <a:endParaRPr lang="en-US" sz="1800" dirty="0"/>
          </a:p>
        </p:txBody>
      </p:sp>
      <p:sp>
        <p:nvSpPr>
          <p:cNvPr id="46" name="Text 3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Pastikan komentar lengkap. Buat repository proyek kelompok, upload index.html, commit: "Versi 1: tombol Sudah Setor bekerja".</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Presentasi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Setoran Hari Ini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file:///C:/.../Proyek_Kel3/index.html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4914351" cy="457200"/>
          </a:xfrm>
          <a:prstGeom prst="rect">
            <a:avLst/>
          </a:prstGeom>
          <a:solidFill>
            <a:srgbClr val="0F4C3A"/>
          </a:solidFill>
          <a:ln w="12700">
            <a:solidFill>
              <a:srgbClr val="0F4C3A"/>
            </a:solidFill>
            <a:prstDash val="solid"/>
          </a:ln>
        </p:spPr>
      </p:sp>
      <p:sp>
        <p:nvSpPr>
          <p:cNvPr id="31" name="Text 24"/>
          <p:cNvSpPr txBox="1"/>
          <p:nvPr/>
        </p:nvSpPr>
        <p:spPr>
          <a:xfrm>
            <a:off x="606064" y="1695965"/>
            <a:ext cx="4914351"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Setoran Hari Ini</a:t>
            </a:r>
            <a:endParaRPr lang="en-US" sz="1300" dirty="0"/>
          </a:p>
        </p:txBody>
      </p:sp>
      <p:sp>
        <p:nvSpPr>
          <p:cNvPr id="32" name="Shape 25"/>
          <p:cNvSpPr/>
          <p:nvPr/>
        </p:nvSpPr>
        <p:spPr>
          <a:xfrm>
            <a:off x="1874520" y="2290325"/>
            <a:ext cx="2377440" cy="1143000"/>
          </a:xfrm>
          <a:prstGeom prst="roundRect">
            <a:avLst>
              <a:gd name="adj" fmla="val 6400"/>
            </a:avLst>
          </a:prstGeom>
          <a:solidFill>
            <a:srgbClr val="FFFFFF"/>
          </a:solidFill>
          <a:ln w="9525">
            <a:solidFill>
              <a:srgbClr val="DDDDDD"/>
            </a:solidFill>
            <a:prstDash val="solid"/>
          </a:ln>
        </p:spPr>
      </p:sp>
      <p:sp>
        <p:nvSpPr>
          <p:cNvPr id="33" name="Text 26"/>
          <p:cNvSpPr txBox="1"/>
          <p:nvPr/>
        </p:nvSpPr>
        <p:spPr>
          <a:xfrm>
            <a:off x="1984248" y="2354333"/>
            <a:ext cx="2194560" cy="274320"/>
          </a:xfrm>
          <a:prstGeom prst="rect">
            <a:avLst/>
          </a:prstGeom>
          <a:noFill/>
          <a:ln/>
        </p:spPr>
        <p:txBody>
          <a:bodyPr wrap="square" lIns="0" tIns="0" rIns="0" bIns="0" rtlCol="0" anchor="t"/>
          <a:lstStyle/>
          <a:p>
            <a:pPr indent="0" marL="0">
              <a:buNone/>
            </a:pPr>
            <a:r>
              <a:rPr lang="en-US" sz="900" b="1" dirty="0">
                <a:solidFill>
                  <a:srgbClr val="1E2A26"/>
                </a:solidFill>
                <a:latin typeface="Arial" pitchFamily="34" charset="0"/>
                <a:ea typeface="Arial" pitchFamily="34" charset="-122"/>
                <a:cs typeface="Arial" pitchFamily="34" charset="-120"/>
              </a:rPr>
              <a:t>Target: An-Naba ayat 1–20</a:t>
            </a:r>
            <a:endParaRPr lang="en-US" sz="900" dirty="0"/>
          </a:p>
        </p:txBody>
      </p:sp>
      <p:sp>
        <p:nvSpPr>
          <p:cNvPr id="34" name="Text 27"/>
          <p:cNvSpPr txBox="1"/>
          <p:nvPr/>
        </p:nvSpPr>
        <p:spPr>
          <a:xfrm>
            <a:off x="1984248" y="2628653"/>
            <a:ext cx="2194560" cy="256032"/>
          </a:xfrm>
          <a:prstGeom prst="rect">
            <a:avLst/>
          </a:prstGeom>
          <a:noFill/>
          <a:ln/>
        </p:spPr>
        <p:txBody>
          <a:bodyPr wrap="square" lIns="0" tIns="0" rIns="0" bIns="0" rtlCol="0" anchor="t"/>
          <a:lstStyle/>
          <a:p>
            <a:pPr indent="0" marL="0">
              <a:buNone/>
            </a:pPr>
            <a:r>
              <a:rPr lang="en-US" sz="850" b="1" dirty="0">
                <a:solidFill>
                  <a:srgbClr val="1F7A5C"/>
                </a:solidFill>
                <a:latin typeface="Arial" pitchFamily="34" charset="0"/>
                <a:ea typeface="Arial" pitchFamily="34" charset="-122"/>
                <a:cs typeface="Arial" pitchFamily="34" charset="-120"/>
              </a:rPr>
              <a:t>Alhamdulillah, setoran tercatat!</a:t>
            </a:r>
            <a:endParaRPr lang="en-US" sz="850" dirty="0"/>
          </a:p>
        </p:txBody>
      </p:sp>
      <p:sp>
        <p:nvSpPr>
          <p:cNvPr id="35" name="Shape 28"/>
          <p:cNvSpPr/>
          <p:nvPr/>
        </p:nvSpPr>
        <p:spPr>
          <a:xfrm>
            <a:off x="2514600" y="2994413"/>
            <a:ext cx="1097280" cy="274320"/>
          </a:xfrm>
          <a:prstGeom prst="roundRect">
            <a:avLst>
              <a:gd name="adj" fmla="val 50000"/>
            </a:avLst>
          </a:prstGeom>
          <a:solidFill>
            <a:srgbClr val="D4A017"/>
          </a:solidFill>
          <a:ln w="12700">
            <a:solidFill>
              <a:srgbClr val="D4A017"/>
            </a:solidFill>
            <a:prstDash val="solid"/>
          </a:ln>
        </p:spPr>
      </p:sp>
      <p:sp>
        <p:nvSpPr>
          <p:cNvPr id="36" name="Text 29"/>
          <p:cNvSpPr txBox="1"/>
          <p:nvPr/>
        </p:nvSpPr>
        <p:spPr>
          <a:xfrm>
            <a:off x="2514600" y="2994413"/>
            <a:ext cx="109728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Sudah Setor</a:t>
            </a:r>
            <a:endParaRPr lang="en-US" sz="850" dirty="0"/>
          </a:p>
        </p:txBody>
      </p:sp>
      <p:sp>
        <p:nvSpPr>
          <p:cNvPr id="37" name="Shape 30"/>
          <p:cNvSpPr/>
          <p:nvPr/>
        </p:nvSpPr>
        <p:spPr>
          <a:xfrm>
            <a:off x="633496" y="1695965"/>
            <a:ext cx="4859487" cy="1728216"/>
          </a:xfrm>
          <a:prstGeom prst="roundRect">
            <a:avLst>
              <a:gd name="adj" fmla="val 2646"/>
            </a:avLst>
          </a:prstGeom>
          <a:solidFill>
            <a:srgbClr val="FFFFFF">
              <a:alpha val="0"/>
            </a:srgbClr>
          </a:solidFill>
          <a:ln w="31750">
            <a:solidFill>
              <a:srgbClr val="E53935"/>
            </a:solidFill>
            <a:prstDash val="solid"/>
          </a:ln>
        </p:spPr>
      </p:sp>
      <p:sp>
        <p:nvSpPr>
          <p:cNvPr id="38" name="Shape 31"/>
          <p:cNvSpPr/>
          <p:nvPr/>
        </p:nvSpPr>
        <p:spPr>
          <a:xfrm>
            <a:off x="5355824" y="1558805"/>
            <a:ext cx="274320" cy="274320"/>
          </a:xfrm>
          <a:prstGeom prst="ellipse">
            <a:avLst/>
          </a:prstGeom>
          <a:solidFill>
            <a:srgbClr val="E53935"/>
          </a:solidFill>
          <a:ln w="12700">
            <a:solidFill>
              <a:srgbClr val="FFFFFF"/>
            </a:solidFill>
            <a:prstDash val="solid"/>
          </a:ln>
        </p:spPr>
      </p:sp>
      <p:sp>
        <p:nvSpPr>
          <p:cNvPr id="39" name="Text 32"/>
          <p:cNvSpPr txBox="1"/>
          <p:nvPr/>
        </p:nvSpPr>
        <p:spPr>
          <a:xfrm>
            <a:off x="5355824" y="15588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0" name="Text 3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41" name="Text 3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Demo dan jelaskan kodenya</a:t>
            </a:r>
            <a:endParaRPr lang="en-US" sz="1800" dirty="0"/>
          </a:p>
        </p:txBody>
      </p:sp>
      <p:sp>
        <p:nvSpPr>
          <p:cNvPr id="42" name="Text 3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Setiap kelompok mendemokan tombolnya dan menjelaskan id, onclick, dan function dengan kata-kata sendiri.</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Halaman Interaktif</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Halaman Interaktif versi 1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Tampilan sesuai sketsa dan proposal, rapi di HP.</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Minimal 1 tombol yang menjalankan fungsi JavaScript.</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Minimal 3 modifikasi sendiri, ditandai komentar.</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Tersimpan di GitHub; santri mampu menjelaskan id, onclick, function.</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4: Coding dengan AI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Tombol menjalankan fungsi</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Teks berubah saat tombol diklik</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menjelaskan id, function, onclick</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Proyek tersimpan rapi</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rasanya melihat tombol buatanmu bekerja?</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Bagian JavaScript mana yang perlu kamu pelajari lagi?</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Bersyukur atas setiap kemajuan kecil. Ilmu dibangun sedikit demi sedikit.</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5: Debugging.</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3 Modul 4 - Coding dengan AI</dc:title>
  <dc:subject>PptxGenJS Presentation</dc:subject>
  <dc:creator>PptxGenJS</dc:creator>
  <cp:lastModifiedBy>PptxGenJS</cp:lastModifiedBy>
  <cp:revision>1</cp:revision>
  <dcterms:created xsi:type="dcterms:W3CDTF">2026-10-02T07:49:59Z</dcterms:created>
  <dcterms:modified xsi:type="dcterms:W3CDTF">2026-10-02T07:49:59Z</dcterms:modified>
</cp:coreProperties>
</file>