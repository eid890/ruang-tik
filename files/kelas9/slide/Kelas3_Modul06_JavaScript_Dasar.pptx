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6: JavaScript Dasar — Proyek: Aplikasi Web Sederhana
Terdiri dari 3 pertemuan (Pertemuan 16–18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menutup Semester Ganjil Kelas IX. Hasilnya adalah aplikasi web versi 2 dari proposal kelompok (tombol + input + logika if).
- Pertemuan 16 banyak memakai Console browser (F12) untuk mencoba kode secara langsung tanpa membuat file.
- AI tetap dipakai bergiliran dengan akun pondok di bawah pengawasan guru, terutama untuk penjelasan dan debugging.
- Semua data dalam aplikasi adalah data latihan. Aplikasi belum menyimpan data permanen; penyimpanan ke Google Sheets dipelajari di Semester Genap (Modul 8).
CATATAN
Istilah: variabel (let), tipe data (number = angka, string = teks, boolean = benar/salah), operator (+ - * / dan perbandingan &gt;= &lt;= === !==), fungsi (function), event (onclick), DOM (document.getElementById), input (.value), output (.textContent).
Pada Console, ketik kode lalu tekan Enter untuk langsung melihat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ke-16, dengan judul "Variabel &amp; Tipe Data". Kita mulai mempelajari JavaScript secara lebih mendalam, dimulai dari cara menyimpan data.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memperbaiki website rusak. Siapa yang ingat, mengapa 1 + 1 + 1 bisa menjadi 111?
(Tunggu jawaban: karena nilainya berupa teks, bukan angka.)
Hari ini kita memahami penyebabnya dengan lebih mendalam.
Sekarang pertanyaan hari ini. Coba pikirkan sejenak:
"Bagaimana aplikasi "mengingat" angka yang kita ketik, lalu menghitungnya?"
(Beri waktu 1 menit. Minta 2–3 santri menjawab. Hargai semua jawaban.)
Aplikasi menyimpan data di dalam VARIABEL. Dan setiap data memiliki TIPE: angka, teks, atau benar/salah. Kesalahan memahami tipe data adalah penyebab bug 111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VARIABEL seperti loker santri yang diberi nama. Di dalamnya disimpan sesuatu, dan isinya bisa diganti, tetapi namanya tetap.
Perhatikan tiga loker di layar.
Loker bernama hafalan berisi angka 3. Tipenya NUMBER, artinya angka.
Loker bernama nama berisi "Ahmad" dengan tanda kutip. Tipenya STRING, artinya teks.
Loker bernama sudahSetor berisi true. Tipenya BOOLEAN, artinya benar atau salah, hanya dua kemungkinan: true atau false.
Cara membuatnya: let hafalan sama dengan 3 titik koma. Kata let artinya buat loker baru, hafalan adalah namanya, dan sama dengan 3 adalah isinya. Isinya bisa diganti: hafalan sama dengan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sumber bug 111 pekan lalu. Bandingkan angka dan teks.
ANGKA atau number: 3 tambah 2 hasilnya 5. Ditulis tanpa tanda kutip, dan bisa dihitung dengan tambah, kurang, kali, bagi.
TEKS atau string: tanda kutip 3 tanda kutip, tambah tanda kutip 2 tanda kutip, hasilnya "32". Mengapa? Karena untuk teks, tanda tambah berarti MENGGABUNGKAN, bukan menjumlahkan. Seperti menyambung dua kata.
Nilai dari kolom isian di halaman web SELALU berupa teks. Karena itu kita harus mengubahnya menjadi angka dengan Number sebelum dihitung.
Catatan: kolom kanan berwarna merah bukan berarti teks itu salah, hanya cara kerjanya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beberapa operator dasar.
Tambah, kurang, kali, bagi, untuk angka. Bintang artinya kali, garis miring artinya bagi.
Gabung teks: tanda tambah menggabungkan teks dengan angka, misalnya "Total: " tambah 22 tambah " ayat" menjadi Total 22 ayat. Ini dipakai untuk menampilkan hasil.
Perbandingan: lebih besar sama dengan, kurang dari sama dengan, lebih besar, lebih kecil, tiga sama dengan untuk sama persis, dan seru dua sama dengan untuk tidak sama. Hasil perbandingan selalu true atau false. Kita pakai di pertemuan 18 untuk if.
typeof: mengecek tipe data. typeof 5 hasilnya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Hari ini kita mencoba kode langsung di Console browser, tanpa membuat file. Setiap santri mencoba di komputernya.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about titik dua blank di kolom alamat, lalu Enter. Halaman kosong terbuka. Tekan F12, lalu klik tab Console. Klik di area Console untuk mulai mengetik.
Console bisa menjalankan JavaScript langsung: ketik satu baris, tekan Enter, hasilnya langsung muncul. Seperti kalkulator yang cerdas.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Ketik satu per satu, dan tekan Enter setiap baris:
let hafalan sama dengan 3 titik koma. Muncul undefined, itu normal, artinya perintah dijalankan.
Lalu ketik hafalan saja. Console menjawab 3: isi lokernya.
Lalu hafalan sama dengan hafalan tambah 1. Artinya: isi baru adalah isi lama ditambah satu.
Ketik hafalan lagi. Sekarang isinya 4.
Inilah cara aplikasi mengingat dan mengubah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Buktikan perbedaan angka dan teks. Ketik 3 tambah 2: hasilnya 5. Lalu ketik tanda kutip 3, tambah, tanda kutip 2: hasilnya '32', tanda a. Digabung, bukan dijumlah!
Ketik typeof tanda kutip 3: hasilnya string.
Lalu ketik Number tanda kutip 3, tambah, Number tanda kutip 2: hasilnya 5, tanda b. Number mengubah teks menjadi angka. Inilah kunci perbaikan bug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Kita gabungkan teks dan angka menjadi pesan. Buat dua variabel: let nama sama dengan "Ahmad", dan let ayat sama dengan 20.
Lalu ketik: "Barakallah " tambah nama tambah ", setoran " tambah ayat tambah " ayat". Hasilnya: Barakallah Ahmad, setoran 20 ayat.
Perhatikan spasi di dalam tanda kutip, agar kata-kata tidak menempel. Cara ini akan kita pakai untuk menampilkan hasil di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Coba perbandingan. Ketik hafalan lebih besar sama dengan 3: hasilnya true, karena hafalan berisi 4. Ketik hafalan lebih kecil dari 2: false. Ketik nama tiga sama dengan "Ahmad": true.
Hasil perbandingan selalu true atau false, tipe boolean. Pertemuan 18 kita memakainya untuk membuat keputusan dengan if, seperti fungsi IF di spreadsheet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Terapkan pada proyek kelompok. Di Docs proyek, buat tabel variabel yang dibutuhkan aplikasi kalian: nama variabel, tipenya, dan contoh isinya.
Contoh untuk aplikasi setoran: targetAyat bertipe number berisi 20, ayatSetor number berisi 15, surat bertipe string berisi An-Naba, dan sudahSetor boolean berisi true.
Nama variabel ditulis tanpa spasi, kata kedua diawali huruf besar, dan harus jelas artinya. Ini memudahkan kita di pertemuan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Tulis: arti let, number, string, boolean; hasil dan alasan dua contoh penjumlahan; satu pesan gabungan teks buatan sendiri; dan tabel variabel proyek kelompok.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membuat 3 variabel berbeda tipe?
- operasi hitung benar?
- menggabungkan teks dengan +?
- bisa menjelaskan typeof?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beda angka 5 dan teks "5"?
Pertanyaan kedua: untuk proyekmu, data apa yang perlu disimpan dalam variabel?
(Minta 2–3 santri menjawab secara bergantian.)
Pesan adab kita hari ini: beri setiap data nama yang jelas dan jujur, agar orang lain tidak salah paham. Allah memerintahkan kita mencatat dengan benar dalam urusan muamalah. Begitulah amanah dalam mencatat, termasuk dalam kode.
Pekan depan: fungsi, event, input, dan output.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ke-17, dengan judul "Fungsi, Input &amp; Output". Kita membuat aplikasi yang menerima data dari pengguna, mengolahnya, dan menampilkan hasilnya.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variabel dan tipe data. Siapa yang ingat, mengapa nilai dari kolom isian harus diubah dengan Number?
(Tunggu jawaban: karena nilainya berupa teks.)
Sekarang pertanyaan hari ini. Coba pikirkan sejenak:
"Bagaimana aplikasi mengambil angka yang diketik pengguna, lalu menampilkan hasilnya?"
(Beri waktu 1 menit. Minta 2–3 santri menjawab. Hargai semua jawaban.)
Dengan alur INPUT, PROSES, OUTPUT, yang kalian kenal sejak pelajaran pertama Kelas VII. Hari ini kita menuliskannya dalam JavaScript: mengambil input, mengolahnya dalam fungsi, dan menampilkan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alur input, proses, output dalam JavaScript.
INPUT, berwarna biru: document getElementById "ayat" titik value. Artinya ambil isi kolom isian yang ber-id ayat. Ingat, hasilnya berupa teks.
PROSES, berwarna hijau: let sisa sama dengan target dikurangi Number ayat. Mengolah data: mengubah ke angka, lalu menghitung sisa ayat.
OUTPUT, berwarna kuning: document getElementById "hasil" titik textContent sama dengan "Sisa: " tambah sisa. Menampilkan hasil di halaman.
Ketiganya dibungkus dalam FUNGSI bernama hitungSisa, yang dipanggil oleh tombol lewat onclick. Persis seperti tombol Sudah Setor di Modul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pahami FUNGSI lebih dalam.
MENDEFINISIKAN fungsi: function, nama fungsi, kurung, lalu kurung kurawal berisi perintah-perintah. Seperti menulis resep.
MEMANGGIL fungsi: dengan onclick di tombol, atau mengetik namanya dengan kurung di Console. Seperti memasak sesuai resep.
DIPAKAI ULANG: ditulis sekali, bisa dipanggil berkali-kali. Tidak perlu menulis ulang perintah yang sama.
NAMA YANG JELAS: gunakan kata kerja yang menggambarkan tugasnya, seperti hitungSisa, cekTarget, atau tampilPesan.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membuat kalkulator sisa ayat: pengguna memasukkan jumlah ayat yang sudah disetor, aplikasi menampilkan sisa dari target 20 ayat. Buat file baru sisa_ayat.html.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file baru sisa_ayat.html, setelah struktur dasar, tulis tiga elemen penting:
Kolom isian: input dengan id "ayat" dan type "number", agar hanya angka yang bisa diketik.
Tombol: button dengan onclick "hitungSisa()".
Tempat hasil: paragraf kosong dengan id "hasil".
Ketiga id ini akan dipakai JavaScript untuk menemukan elemen-elemennya.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Simpan dan buka di browser. Isi angka lalu klik Hitung. Tidak terjadi apa-apa, dan Console menunjukkan ReferenceError: hitungSisa is not defined.
Ini wajar dan sesuai dugaan: fungsinya memang belum ditulis. Kalian sudah bisa membaca pesan ini sendiri,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Sebelum tag penutup body, tulis tag script dan fungsi hitungSisa. Di dalamnya, bagian INPUT: let ayat sama dengan Number, kurung buka, document getElementById "ayat" titik value, kurung tutup.
Tambahkan komentar dengan dua garis miring: INPUT, ambil isian, ubah ke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Tambahkan PROSES: let sisa sama dengan 20 dikurangi ayat.
Lalu OUTPUT: document getElementById "hasil" titik textContent sama dengan "Sisa: " tambah sisa tambah " ayat".
Beri komentar di setiap bagian: INPUT, PROSES, OUTPUT. Struktur ini akan kalian pakai di semua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Uji dengan beberapa angka.
Isi 15: hasilnya Sisa 5 ayat. Benar.
Isi 20: hasilnya Sisa 0 ayat. Benar.
Isi 25: hasilnya Sisa minus 5 ayat. Aneh! Seharusnya aplikasi mengatakan: target sudah tercapai, masya Allah.
Tidak ada error di Console, tetapi hasilnya kurang tepat. Ini disebut bug logika. Catat. Pekan depan kita perbaiki dengan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Terapkan alur input, proses, output ke proyek kelompok. Tambahkan satu fitur sesuai proposal, misalnya kolom untuk mengisi ayat yang sudah disetor dan tombol untuk menghitung sisa target.
Gunakan tabel variabel dari pekan lalu. Jika buntu, minta penjelasan AI dengan prompt dari Prompt Library. Setelah berfungsi, commit ke GitHub: Versi 2, input dan hitung sisa.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file sisa ayat yang bekerja, komentar input-proses-output, catatan bug logika angka 25, dan satu fitur input-output baru di proyek kelompok yang sudah di-commit.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fungsi dipanggil saat tombol diklik?
- input diambil dan diubah ke angka?
- hasil tampil di halaman?
- kode diberi komentar?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urutan kerja input-proses-output di aplikasimu?
Pertanyaan kedua: bagian mana yang paling sering membuat error?
(Minta 2–3 santri menjawab secara bergantian.)
Pesan adab kita hari ini: seperti tangan yang menerima, akal yang mengolah, dan lisan yang menyampaikan, Allah menganugerahkan kepada kita alat-alat untuk menerima, berpikir, dan menyampaikan. Gunakan semuanya untuk kebaikan.
Pekan depan: percabangan if/else dan proyek Aplikasi Web Sederhana.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ke-18, dengan judul "Aplikasi Web Sederhana". Hari ini aplikasi kalian belajar mengambil keputusan, sekaligus menutup Semester Ganjil Kelas IX.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kalkulator sisa ayat. Siapa yang ingat, bug apa yang kita temukan?
(Tunggu jawaban: jika diisi 25, hasilnya minus 5.)
Sekarang pertanyaan hari ini. Coba pikirkan sejenak:
"Bagaimana agar aplikasi bisa memberi jawaban berbeda untuk keadaan yang berbeda?"
(Beri waktu 1 menit. Minta 2–3 santri menjawab. Hargai semua jawaban.)
Dengan PERCABANGAN: JIKA keadaannya begini, lakukan ini; JIKA TIDAK, lakukan itu. Kalian sudah mengenalnya: di flowchart berupa belah ketupat, di spreadsheet berupa fungsi IF. Di JavaScript, namanya if dan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percabangan di JavaScript. Bandingkan kode di kiri dengan flowchart di kanan.
IF, berwarna hijau: jika ayat lebih besar sama dengan 20, pesannya: masya Allah, target tercapai.
ELSE IF, berwarna kuning: jika tidak, tetapi ayat lebih besar sama dengan 10, pesannya: sedikit lagi, semangat.
ELSE, berwarna merah: jika semua kondisi di atas tidak terpenuhi, pesannya: ayo murajaah bersama teman.
Kondisi ditulis di dalam kurung, dan perintahnya di dalam kurung kurawal.
Penting: kondisi diperiksa dari atas ke bawah. Begitu satu kondisi benar, sisanya dilewati. Sama persis dengan flowchart di Modul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perbaiki kalkulator sisa ayat dengan if, lalu terapkan ke proyek kelompok, dan terbitkan.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sisa_ayat.html. Setelah menghitung sisa, buat variabel pesan. Lalu tulis percabangan: if, kurung, sisa kurang dari sama dengan 0, maka pesan sama dengan "Masya Allah, target tercapai!". Else, pesan sama dengan "Sisa: " tambah sisa tambah " ayat".
Bagian OUTPUT cukup menampilkan variabel pesan.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Uji dengan nilai batas, seperti di Kelas VIII: 19, 20, dan 25.
19: Sisa 1 ayat.
20: Masya Allah, target tercapai! Angka 20 tepat di batas, dan karena kita memakai kurang dari sama dengan, ia masuk ke kondisi pertama.
25: Masya Allah, target tercapai! Bug minus 5 sudah hilang.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Satu bug lagi: jika kolom dikosongkan lalu tombol diklik, Number dari teks kosong menjadi 0, sehingga muncul Sisa 20 ayat. Kurang tepat.
Tambahkan pengecekan di awal: ambil isian dulu sebagai teks. Jika isian tiga sama dengan teks kosong, tampilkan "Isi jumlah ayat dulu", lalu return, artinya berhenti di sini.
Jika bingung, tanyakan kepada AI dengan prompt dari Prompt Library: minta penjelasan, jangan ganti semua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Terapkan percabangan ke proyek kelompok. Pilih satu keputusan sesuai proposal. Contoh untuk aplikasi setoran: pesan berbeda sesuai capaian, tercapai, sedikit lagi, atau ayo murajaah.
Tulis if, else if, else di fungsi proyek. Gunakan pesan yang memotivasi dan santun, karena aplikasi ini akan dibaca teman-teman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Uji silang: tukar komputer dengan kelompok lain selama lima menit. Uji semua kemungkinan: isian kosong, batas bawah seperti 9 dan 10, batas atas seperti 20, dan angka besar.
Catat di tabel: isian, hasil yang diharapkan, dan hasil sebenarnya. Kembalikan tabel kepada kelompok pemilik untuk diperbaiki.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Unggah index.html terbaru ke repository proyek, dengan pesan commit: Versi 2, input, hitung, dan keputusan if. Jika GitHub Pages belum aktif, aktifkan seperti di Kelas VIII Modul 10.
Buka alamat website di HP dan uji sekali lagi. Ingat, pastikan tidak ada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Setiap kelompok mempresentasikan aplikasi versi 2 selama tiga menit. Demo langsung di HP atau proyektor. Jelaskan: alur input-proses-output, keputusan if yang dibuat aplikasi, satu bug yang berhasil diperbaiki, dan rencana pengembangan di Semester Genap, misalnya menyimpan data ke Google Sheets.
(Beri apresiasi. Ini adalah aplikasi pertama yang dibuat santri dengan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versi dua dinyatakan selesai jika: ada input, proses, output dengan fungsi; ada percabangan dan pengecekan isian kosong; lolos uji silang dan online tanpa data pribadi; serta dipresentasikan dengan santri mampu menjelaskan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if/else yang bekerja?
- diuji dengan nilai batas?
- aplikasi online di GitHub Pages?
- dipresentasikan dan dijelaskan?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keputusan apa yang dibuat aplikasimu?
Pertanyaan kedua: apa pencapaianmu di Semester Ganjil Kelas IX?
(Minta 2–3 santri menjawab secara bergantian.)
Pesan adab kita hari ini: setiap keputusan punya akibat. Berpikirlah sebelum memutuskan, dalam kode maupun dalam kehidupan. Aplikasi memeriksa kondisi sebelum bertindak; seorang muslim pun menimbang dengan ilmu dan hati sebelum berbuat.
Alhamdulillah, Semester Ganjil Kelas IX selesai. Kalian sudah belajar berpikir komputasional, memecahkan masalah, menyusun prompt, coding dengan AI, debugging, dan JavaScript dasar. Di Semester Genap, aplikasi kalian akan bisa menyimpan data dan menjadi solusi nyata.
Pekan depan: Semester Genap, Modul 7: Database Sederhana.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6</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JavaScript Dasar</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Aplikasi Web Sederhana</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mempelajari dasar JavaScript: variabel dan tipe data, operasi, fungsi dan event, mengambil input dan menampilkan output, serta percabangan if/else, lalu membangun aplikasi web sederhana untuk proyek kelompok.</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16</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Variabel &amp; Tipe Data</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17</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Fungsi, Input &amp; Output</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18</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Aplikasi Web Sederhana</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Notepad, browser Chrome/Edge (Console), layanan AI (akun pondok, bergiliran, diawasi guru), repository GitHub proyek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Variabel &amp; Tipe Data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Menyimpan dan mengolah data di JavaScript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JavaScript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aplikasi "mengingat" angka yang kita ketik, lalu menghitungnya?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variabel dengan let dan mengubah isinya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tipe data number, string, dan boolean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Melakukan operasi hitung dan menggabungkan teks di Console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Variabel: Loker Bernama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48640" y="1280160"/>
            <a:ext cx="2377440" cy="1737360"/>
          </a:xfrm>
          <a:prstGeom prst="roundRect">
            <a:avLst>
              <a:gd name="adj" fmla="val 3158"/>
            </a:avLst>
          </a:prstGeom>
          <a:solidFill>
            <a:srgbClr val="8D6E63"/>
          </a:solidFill>
          <a:ln w="12700">
            <a:solidFill>
              <a:srgbClr val="8D6E63"/>
            </a:solidFill>
            <a:prstDash val="solid"/>
          </a:ln>
        </p:spPr>
      </p:sp>
      <p:sp>
        <p:nvSpPr>
          <p:cNvPr id="10" name="Shape 6"/>
          <p:cNvSpPr/>
          <p:nvPr/>
        </p:nvSpPr>
        <p:spPr>
          <a:xfrm>
            <a:off x="685800" y="1417320"/>
            <a:ext cx="2103120" cy="1463040"/>
          </a:xfrm>
          <a:prstGeom prst="roundRect">
            <a:avLst>
              <a:gd name="adj" fmla="val 2500"/>
            </a:avLst>
          </a:prstGeom>
          <a:solidFill>
            <a:srgbClr val="D7CCC8"/>
          </a:solidFill>
          <a:ln w="12700">
            <a:solidFill>
              <a:srgbClr val="D7CCC8"/>
            </a:solidFill>
            <a:prstDash val="solid"/>
          </a:ln>
        </p:spPr>
      </p:sp>
      <p:sp>
        <p:nvSpPr>
          <p:cNvPr id="11" name="Shape 7"/>
          <p:cNvSpPr/>
          <p:nvPr/>
        </p:nvSpPr>
        <p:spPr>
          <a:xfrm>
            <a:off x="1051560" y="1143000"/>
            <a:ext cx="1371600" cy="365760"/>
          </a:xfrm>
          <a:prstGeom prst="roundRect">
            <a:avLst>
              <a:gd name="adj" fmla="val 12500"/>
            </a:avLst>
          </a:prstGeom>
          <a:solidFill>
            <a:srgbClr val="D4A017"/>
          </a:solidFill>
          <a:ln w="12700">
            <a:solidFill>
              <a:srgbClr val="D4A017"/>
            </a:solidFill>
            <a:prstDash val="solid"/>
          </a:ln>
        </p:spPr>
      </p:sp>
      <p:sp>
        <p:nvSpPr>
          <p:cNvPr id="12" name="Text 8"/>
          <p:cNvSpPr txBox="1"/>
          <p:nvPr/>
        </p:nvSpPr>
        <p:spPr>
          <a:xfrm>
            <a:off x="1051560" y="1143000"/>
            <a:ext cx="1371600" cy="365760"/>
          </a:xfrm>
          <a:prstGeom prst="rect">
            <a:avLst/>
          </a:prstGeom>
          <a:noFill/>
          <a:ln/>
        </p:spPr>
        <p:txBody>
          <a:bodyPr wrap="square" lIns="0" tIns="0" rIns="0" bIns="0" rtlCol="0" anchor="ctr"/>
          <a:lstStyle/>
          <a:p>
            <a:pPr algn="ctr" indent="0" marL="0">
              <a:buNone/>
            </a:pPr>
            <a:r>
              <a:rPr lang="en-US" sz="1300" b="1" dirty="0">
                <a:solidFill>
                  <a:srgbClr val="1E2A26"/>
                </a:solidFill>
                <a:latin typeface="Courier New" pitchFamily="34" charset="0"/>
                <a:ea typeface="Courier New" pitchFamily="34" charset="-122"/>
                <a:cs typeface="Courier New" pitchFamily="34" charset="-120"/>
              </a:rPr>
              <a:t>hafalan</a:t>
            </a:r>
            <a:endParaRPr lang="en-US" sz="1300" dirty="0"/>
          </a:p>
        </p:txBody>
      </p:sp>
      <p:sp>
        <p:nvSpPr>
          <p:cNvPr id="13" name="Text 9"/>
          <p:cNvSpPr txBox="1"/>
          <p:nvPr/>
        </p:nvSpPr>
        <p:spPr>
          <a:xfrm>
            <a:off x="685800" y="1691640"/>
            <a:ext cx="2103120" cy="640080"/>
          </a:xfrm>
          <a:prstGeom prst="rect">
            <a:avLst/>
          </a:prstGeom>
          <a:noFill/>
          <a:ln/>
        </p:spPr>
        <p:txBody>
          <a:bodyPr wrap="square" lIns="0" tIns="0" rIns="0" bIns="0" rtlCol="0" anchor="ctr"/>
          <a:lstStyle/>
          <a:p>
            <a:pPr algn="ctr" indent="0" marL="0">
              <a:buNone/>
            </a:pPr>
            <a:r>
              <a:rPr lang="en-US" sz="2200" b="1" dirty="0">
                <a:solidFill>
                  <a:srgbClr val="0F4C3A"/>
                </a:solidFill>
                <a:latin typeface="Courier New" pitchFamily="34" charset="0"/>
                <a:ea typeface="Courier New" pitchFamily="34" charset="-122"/>
                <a:cs typeface="Courier New" pitchFamily="34" charset="-120"/>
              </a:rPr>
              <a:t>3</a:t>
            </a:r>
            <a:endParaRPr lang="en-US" sz="2200" dirty="0"/>
          </a:p>
        </p:txBody>
      </p:sp>
      <p:sp>
        <p:nvSpPr>
          <p:cNvPr id="14" name="Text 10"/>
          <p:cNvSpPr txBox="1"/>
          <p:nvPr/>
        </p:nvSpPr>
        <p:spPr>
          <a:xfrm>
            <a:off x="685800" y="2377440"/>
            <a:ext cx="210312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number</a:t>
            </a:r>
            <a:endParaRPr lang="en-US" sz="1200" dirty="0"/>
          </a:p>
        </p:txBody>
      </p:sp>
      <p:sp>
        <p:nvSpPr>
          <p:cNvPr id="15" name="Shape 11"/>
          <p:cNvSpPr/>
          <p:nvPr/>
        </p:nvSpPr>
        <p:spPr>
          <a:xfrm>
            <a:off x="3291840" y="1280160"/>
            <a:ext cx="2377440" cy="1737360"/>
          </a:xfrm>
          <a:prstGeom prst="roundRect">
            <a:avLst>
              <a:gd name="adj" fmla="val 3158"/>
            </a:avLst>
          </a:prstGeom>
          <a:solidFill>
            <a:srgbClr val="8D6E63"/>
          </a:solidFill>
          <a:ln w="12700">
            <a:solidFill>
              <a:srgbClr val="8D6E63"/>
            </a:solidFill>
            <a:prstDash val="solid"/>
          </a:ln>
        </p:spPr>
      </p:sp>
      <p:sp>
        <p:nvSpPr>
          <p:cNvPr id="16" name="Shape 12"/>
          <p:cNvSpPr/>
          <p:nvPr/>
        </p:nvSpPr>
        <p:spPr>
          <a:xfrm>
            <a:off x="3429000" y="1417320"/>
            <a:ext cx="2103120" cy="1463040"/>
          </a:xfrm>
          <a:prstGeom prst="roundRect">
            <a:avLst>
              <a:gd name="adj" fmla="val 2500"/>
            </a:avLst>
          </a:prstGeom>
          <a:solidFill>
            <a:srgbClr val="D7CCC8"/>
          </a:solidFill>
          <a:ln w="12700">
            <a:solidFill>
              <a:srgbClr val="D7CCC8"/>
            </a:solidFill>
            <a:prstDash val="solid"/>
          </a:ln>
        </p:spPr>
      </p:sp>
      <p:sp>
        <p:nvSpPr>
          <p:cNvPr id="17" name="Shape 13"/>
          <p:cNvSpPr/>
          <p:nvPr/>
        </p:nvSpPr>
        <p:spPr>
          <a:xfrm>
            <a:off x="3794760" y="1143000"/>
            <a:ext cx="1371600" cy="365760"/>
          </a:xfrm>
          <a:prstGeom prst="roundRect">
            <a:avLst>
              <a:gd name="adj" fmla="val 12500"/>
            </a:avLst>
          </a:prstGeom>
          <a:solidFill>
            <a:srgbClr val="D4A017"/>
          </a:solidFill>
          <a:ln w="12700">
            <a:solidFill>
              <a:srgbClr val="D4A017"/>
            </a:solidFill>
            <a:prstDash val="solid"/>
          </a:ln>
        </p:spPr>
      </p:sp>
      <p:sp>
        <p:nvSpPr>
          <p:cNvPr id="18" name="Text 14"/>
          <p:cNvSpPr txBox="1"/>
          <p:nvPr/>
        </p:nvSpPr>
        <p:spPr>
          <a:xfrm>
            <a:off x="3794760" y="1143000"/>
            <a:ext cx="1371600" cy="365760"/>
          </a:xfrm>
          <a:prstGeom prst="rect">
            <a:avLst/>
          </a:prstGeom>
          <a:noFill/>
          <a:ln/>
        </p:spPr>
        <p:txBody>
          <a:bodyPr wrap="square" lIns="0" tIns="0" rIns="0" bIns="0" rtlCol="0" anchor="ctr"/>
          <a:lstStyle/>
          <a:p>
            <a:pPr algn="ctr" indent="0" marL="0">
              <a:buNone/>
            </a:pPr>
            <a:r>
              <a:rPr lang="en-US" sz="1300" b="1" dirty="0">
                <a:solidFill>
                  <a:srgbClr val="1E2A26"/>
                </a:solidFill>
                <a:latin typeface="Courier New" pitchFamily="34" charset="0"/>
                <a:ea typeface="Courier New" pitchFamily="34" charset="-122"/>
                <a:cs typeface="Courier New" pitchFamily="34" charset="-120"/>
              </a:rPr>
              <a:t>nama</a:t>
            </a:r>
            <a:endParaRPr lang="en-US" sz="1300" dirty="0"/>
          </a:p>
        </p:txBody>
      </p:sp>
      <p:sp>
        <p:nvSpPr>
          <p:cNvPr id="19" name="Text 15"/>
          <p:cNvSpPr txBox="1"/>
          <p:nvPr/>
        </p:nvSpPr>
        <p:spPr>
          <a:xfrm>
            <a:off x="3429000" y="1691640"/>
            <a:ext cx="2103120" cy="640080"/>
          </a:xfrm>
          <a:prstGeom prst="rect">
            <a:avLst/>
          </a:prstGeom>
          <a:noFill/>
          <a:ln/>
        </p:spPr>
        <p:txBody>
          <a:bodyPr wrap="square" lIns="0" tIns="0" rIns="0" bIns="0" rtlCol="0" anchor="ctr"/>
          <a:lstStyle/>
          <a:p>
            <a:pPr algn="ctr" indent="0" marL="0">
              <a:buNone/>
            </a:pPr>
            <a:r>
              <a:rPr lang="en-US" sz="2200" b="1" dirty="0">
                <a:solidFill>
                  <a:srgbClr val="0F4C3A"/>
                </a:solidFill>
                <a:latin typeface="Courier New" pitchFamily="34" charset="0"/>
                <a:ea typeface="Courier New" pitchFamily="34" charset="-122"/>
                <a:cs typeface="Courier New" pitchFamily="34" charset="-120"/>
              </a:rPr>
              <a:t>"Ahmad"</a:t>
            </a:r>
            <a:endParaRPr lang="en-US" sz="2200" dirty="0"/>
          </a:p>
        </p:txBody>
      </p:sp>
      <p:sp>
        <p:nvSpPr>
          <p:cNvPr id="20" name="Text 16"/>
          <p:cNvSpPr txBox="1"/>
          <p:nvPr/>
        </p:nvSpPr>
        <p:spPr>
          <a:xfrm>
            <a:off x="3429000" y="2377440"/>
            <a:ext cx="210312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string</a:t>
            </a:r>
            <a:endParaRPr lang="en-US" sz="1200" dirty="0"/>
          </a:p>
        </p:txBody>
      </p:sp>
      <p:sp>
        <p:nvSpPr>
          <p:cNvPr id="21" name="Shape 17"/>
          <p:cNvSpPr/>
          <p:nvPr/>
        </p:nvSpPr>
        <p:spPr>
          <a:xfrm>
            <a:off x="6035040" y="1280160"/>
            <a:ext cx="2377440" cy="1737360"/>
          </a:xfrm>
          <a:prstGeom prst="roundRect">
            <a:avLst>
              <a:gd name="adj" fmla="val 3158"/>
            </a:avLst>
          </a:prstGeom>
          <a:solidFill>
            <a:srgbClr val="8D6E63"/>
          </a:solidFill>
          <a:ln w="12700">
            <a:solidFill>
              <a:srgbClr val="8D6E63"/>
            </a:solidFill>
            <a:prstDash val="solid"/>
          </a:ln>
        </p:spPr>
      </p:sp>
      <p:sp>
        <p:nvSpPr>
          <p:cNvPr id="22" name="Shape 18"/>
          <p:cNvSpPr/>
          <p:nvPr/>
        </p:nvSpPr>
        <p:spPr>
          <a:xfrm>
            <a:off x="6172200" y="1417320"/>
            <a:ext cx="2103120" cy="1463040"/>
          </a:xfrm>
          <a:prstGeom prst="roundRect">
            <a:avLst>
              <a:gd name="adj" fmla="val 2500"/>
            </a:avLst>
          </a:prstGeom>
          <a:solidFill>
            <a:srgbClr val="D7CCC8"/>
          </a:solidFill>
          <a:ln w="12700">
            <a:solidFill>
              <a:srgbClr val="D7CCC8"/>
            </a:solidFill>
            <a:prstDash val="solid"/>
          </a:ln>
        </p:spPr>
      </p:sp>
      <p:sp>
        <p:nvSpPr>
          <p:cNvPr id="23" name="Shape 19"/>
          <p:cNvSpPr/>
          <p:nvPr/>
        </p:nvSpPr>
        <p:spPr>
          <a:xfrm>
            <a:off x="6537960" y="1143000"/>
            <a:ext cx="1371600" cy="365760"/>
          </a:xfrm>
          <a:prstGeom prst="roundRect">
            <a:avLst>
              <a:gd name="adj" fmla="val 12500"/>
            </a:avLst>
          </a:prstGeom>
          <a:solidFill>
            <a:srgbClr val="D4A017"/>
          </a:solidFill>
          <a:ln w="12700">
            <a:solidFill>
              <a:srgbClr val="D4A017"/>
            </a:solidFill>
            <a:prstDash val="solid"/>
          </a:ln>
        </p:spPr>
      </p:sp>
      <p:sp>
        <p:nvSpPr>
          <p:cNvPr id="24" name="Text 20"/>
          <p:cNvSpPr txBox="1"/>
          <p:nvPr/>
        </p:nvSpPr>
        <p:spPr>
          <a:xfrm>
            <a:off x="6537960" y="1143000"/>
            <a:ext cx="1371600" cy="365760"/>
          </a:xfrm>
          <a:prstGeom prst="rect">
            <a:avLst/>
          </a:prstGeom>
          <a:noFill/>
          <a:ln/>
        </p:spPr>
        <p:txBody>
          <a:bodyPr wrap="square" lIns="0" tIns="0" rIns="0" bIns="0" rtlCol="0" anchor="ctr"/>
          <a:lstStyle/>
          <a:p>
            <a:pPr algn="ctr" indent="0" marL="0">
              <a:buNone/>
            </a:pPr>
            <a:r>
              <a:rPr lang="en-US" sz="1300" b="1" dirty="0">
                <a:solidFill>
                  <a:srgbClr val="1E2A26"/>
                </a:solidFill>
                <a:latin typeface="Courier New" pitchFamily="34" charset="0"/>
                <a:ea typeface="Courier New" pitchFamily="34" charset="-122"/>
                <a:cs typeface="Courier New" pitchFamily="34" charset="-120"/>
              </a:rPr>
              <a:t>sudahSetor</a:t>
            </a:r>
            <a:endParaRPr lang="en-US" sz="1300" dirty="0"/>
          </a:p>
        </p:txBody>
      </p:sp>
      <p:sp>
        <p:nvSpPr>
          <p:cNvPr id="25" name="Text 21"/>
          <p:cNvSpPr txBox="1"/>
          <p:nvPr/>
        </p:nvSpPr>
        <p:spPr>
          <a:xfrm>
            <a:off x="6172200" y="1691640"/>
            <a:ext cx="2103120" cy="640080"/>
          </a:xfrm>
          <a:prstGeom prst="rect">
            <a:avLst/>
          </a:prstGeom>
          <a:noFill/>
          <a:ln/>
        </p:spPr>
        <p:txBody>
          <a:bodyPr wrap="square" lIns="0" tIns="0" rIns="0" bIns="0" rtlCol="0" anchor="ctr"/>
          <a:lstStyle/>
          <a:p>
            <a:pPr algn="ctr" indent="0" marL="0">
              <a:buNone/>
            </a:pPr>
            <a:r>
              <a:rPr lang="en-US" sz="2200" b="1" dirty="0">
                <a:solidFill>
                  <a:srgbClr val="0F4C3A"/>
                </a:solidFill>
                <a:latin typeface="Courier New" pitchFamily="34" charset="0"/>
                <a:ea typeface="Courier New" pitchFamily="34" charset="-122"/>
                <a:cs typeface="Courier New" pitchFamily="34" charset="-120"/>
              </a:rPr>
              <a:t>true</a:t>
            </a:r>
            <a:endParaRPr lang="en-US" sz="2200" dirty="0"/>
          </a:p>
        </p:txBody>
      </p:sp>
      <p:sp>
        <p:nvSpPr>
          <p:cNvPr id="26" name="Text 22"/>
          <p:cNvSpPr txBox="1"/>
          <p:nvPr/>
        </p:nvSpPr>
        <p:spPr>
          <a:xfrm>
            <a:off x="6172200" y="2377440"/>
            <a:ext cx="210312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boolean</a:t>
            </a:r>
            <a:endParaRPr lang="en-US" sz="1200" dirty="0"/>
          </a:p>
        </p:txBody>
      </p:sp>
      <p:sp>
        <p:nvSpPr>
          <p:cNvPr id="27" name="Shape 23"/>
          <p:cNvSpPr/>
          <p:nvPr/>
        </p:nvSpPr>
        <p:spPr>
          <a:xfrm>
            <a:off x="457200" y="3291840"/>
            <a:ext cx="8229600" cy="1234440"/>
          </a:xfrm>
          <a:prstGeom prst="roundRect">
            <a:avLst>
              <a:gd name="adj" fmla="val 7407"/>
            </a:avLst>
          </a:prstGeom>
          <a:solidFill>
            <a:srgbClr val="E6F2EC"/>
          </a:solidFill>
          <a:ln w="12700">
            <a:solidFill>
              <a:srgbClr val="E6F2EC"/>
            </a:solidFill>
            <a:prstDash val="solid"/>
          </a:ln>
        </p:spPr>
      </p:sp>
      <p:sp>
        <p:nvSpPr>
          <p:cNvPr id="28" name="Text 24"/>
          <p:cNvSpPr txBox="1"/>
          <p:nvPr/>
        </p:nvSpPr>
        <p:spPr>
          <a:xfrm>
            <a:off x="640080" y="3337560"/>
            <a:ext cx="7863840" cy="1143000"/>
          </a:xfrm>
          <a:prstGeom prst="rect">
            <a:avLst/>
          </a:prstGeom>
          <a:noFill/>
          <a:ln/>
        </p:spPr>
        <p:txBody>
          <a:bodyPr wrap="square" lIns="0" tIns="0" rIns="0" bIns="0" rtlCol="0" anchor="ctr"/>
          <a:lstStyle/>
          <a:p>
            <a:pPr indent="0" marL="0">
              <a:buNone/>
            </a:pPr>
            <a:r>
              <a:rPr lang="en-US" sz="1350" b="1" dirty="0">
                <a:solidFill>
                  <a:srgbClr val="1E2A26"/>
                </a:solidFill>
                <a:latin typeface="Courier New" pitchFamily="34" charset="0"/>
                <a:ea typeface="Courier New" pitchFamily="34" charset="-122"/>
                <a:cs typeface="Courier New" pitchFamily="34" charset="-120"/>
              </a:rPr>
              <a:t>let hafalan = 3;
</a:t>
            </a:r>
            <a:pPr indent="0" marL="0">
              <a:buNone/>
            </a:pPr>
            <a:r>
              <a:rPr lang="en-US" sz="1350" b="1" dirty="0">
                <a:solidFill>
                  <a:srgbClr val="E53935"/>
                </a:solidFill>
                <a:latin typeface="Calibri" pitchFamily="34" charset="0"/>
                <a:ea typeface="Calibri" pitchFamily="34" charset="-122"/>
                <a:cs typeface="Calibri" pitchFamily="34" charset="-120"/>
              </a:rPr>
              <a:t>let</a:t>
            </a:r>
            <a:pPr indent="0" marL="0">
              <a:buNone/>
            </a:pPr>
            <a:r>
              <a:rPr lang="en-US" sz="1350" dirty="0">
                <a:solidFill>
                  <a:srgbClr val="1E2A26"/>
                </a:solidFill>
                <a:latin typeface="Calibri" pitchFamily="34" charset="0"/>
                <a:ea typeface="Calibri" pitchFamily="34" charset="-122"/>
                <a:cs typeface="Calibri" pitchFamily="34" charset="-120"/>
              </a:rPr>
              <a:t> membuat loker baru · </a:t>
            </a:r>
            <a:pPr indent="0" marL="0">
              <a:buNone/>
            </a:pPr>
            <a:r>
              <a:rPr lang="en-US" sz="1350" b="1" dirty="0">
                <a:solidFill>
                  <a:srgbClr val="0078D4"/>
                </a:solidFill>
                <a:latin typeface="Calibri" pitchFamily="34" charset="0"/>
                <a:ea typeface="Calibri" pitchFamily="34" charset="-122"/>
                <a:cs typeface="Calibri" pitchFamily="34" charset="-120"/>
              </a:rPr>
              <a:t>hafalan</a:t>
            </a:r>
            <a:pPr indent="0" marL="0">
              <a:buNone/>
            </a:pPr>
            <a:r>
              <a:rPr lang="en-US" sz="1350" dirty="0">
                <a:solidFill>
                  <a:srgbClr val="1E2A26"/>
                </a:solidFill>
                <a:latin typeface="Calibri" pitchFamily="34" charset="0"/>
                <a:ea typeface="Calibri" pitchFamily="34" charset="-122"/>
                <a:cs typeface="Calibri" pitchFamily="34" charset="-120"/>
              </a:rPr>
              <a:t> nama loker · </a:t>
            </a:r>
            <a:pPr indent="0" marL="0">
              <a:buNone/>
            </a:pPr>
            <a:r>
              <a:rPr lang="en-US" sz="1350" b="1" dirty="0">
                <a:solidFill>
                  <a:srgbClr val="1F7A5C"/>
                </a:solidFill>
                <a:latin typeface="Calibri" pitchFamily="34" charset="0"/>
                <a:ea typeface="Calibri" pitchFamily="34" charset="-122"/>
                <a:cs typeface="Calibri" pitchFamily="34" charset="-120"/>
              </a:rPr>
              <a:t>= 3</a:t>
            </a:r>
            <a:pPr indent="0" marL="0">
              <a:buNone/>
            </a:pPr>
            <a:r>
              <a:rPr lang="en-US" sz="1350" dirty="0">
                <a:solidFill>
                  <a:srgbClr val="1E2A26"/>
                </a:solidFill>
                <a:latin typeface="Calibri" pitchFamily="34" charset="0"/>
                <a:ea typeface="Calibri" pitchFamily="34" charset="-122"/>
                <a:cs typeface="Calibri" pitchFamily="34" charset="-120"/>
              </a:rPr>
              <a:t> isi loker. Isi bisa diganti: hafalan = 4;</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Angka vs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Angka (number)</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3 + 2 → 5</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Ditulis tanpa tanda kutip</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Bisa dihitung: + - * /</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Teks (string)</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"3" + "2" → "32"</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Ditulis dengan tanda kutip</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Tanda + MENGGABUNGKAN teks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Operator Dasar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 - * /</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Tambah, kurang, kali, bagi. 20 / 4 → 5</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Gabung Teks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"Total: " + 22 + " ayat" → "Total: 22 ayat"</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Perbandingan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&gt;=  &lt;=  &gt;  &lt;  ===  !==  → hasilnya true atau false</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typeof</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Mengecek tipe: typeof 5 → "number"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Bermain di Console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Langsung mencoba kode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Console dan membuat variabel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Angka, teks, dan Number()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Perbandingan dan latihan proyek</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Console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about:blank</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about:blank</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2326087" y="1695965"/>
            <a:ext cx="3194328" cy="2281131"/>
          </a:xfrm>
          <a:prstGeom prst="rect">
            <a:avLst/>
          </a:prstGeom>
          <a:solidFill>
            <a:srgbClr val="FFFFFF"/>
          </a:solidFill>
          <a:ln w="6350">
            <a:solidFill>
              <a:srgbClr val="CCCCCC"/>
            </a:solidFill>
            <a:prstDash val="solid"/>
          </a:ln>
        </p:spPr>
      </p:sp>
      <p:sp>
        <p:nvSpPr>
          <p:cNvPr id="30" name="Shape 23"/>
          <p:cNvSpPr/>
          <p:nvPr/>
        </p:nvSpPr>
        <p:spPr>
          <a:xfrm>
            <a:off x="2326087" y="1695965"/>
            <a:ext cx="3194328" cy="182880"/>
          </a:xfrm>
          <a:prstGeom prst="rect">
            <a:avLst/>
          </a:prstGeom>
          <a:solidFill>
            <a:srgbClr val="F1F3F4"/>
          </a:solidFill>
          <a:ln w="12700">
            <a:solidFill>
              <a:srgbClr val="F1F3F4"/>
            </a:solidFill>
            <a:prstDash val="solid"/>
          </a:ln>
        </p:spPr>
      </p:sp>
      <p:sp>
        <p:nvSpPr>
          <p:cNvPr id="31" name="Text 24"/>
          <p:cNvSpPr txBox="1"/>
          <p:nvPr/>
        </p:nvSpPr>
        <p:spPr>
          <a:xfrm>
            <a:off x="2371807" y="1695965"/>
            <a:ext cx="3194328"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2" name="Shape 25"/>
          <p:cNvSpPr/>
          <p:nvPr/>
        </p:nvSpPr>
        <p:spPr>
          <a:xfrm>
            <a:off x="2893015" y="1851413"/>
            <a:ext cx="365760" cy="22860"/>
          </a:xfrm>
          <a:prstGeom prst="rect">
            <a:avLst/>
          </a:prstGeom>
          <a:solidFill>
            <a:srgbClr val="1A73E8"/>
          </a:solidFill>
          <a:ln w="12700">
            <a:solidFill>
              <a:srgbClr val="1A73E8"/>
            </a:solidFill>
            <a:prstDash val="solid"/>
          </a:ln>
        </p:spPr>
      </p:sp>
      <p:sp>
        <p:nvSpPr>
          <p:cNvPr id="33" name="Text 26"/>
          <p:cNvSpPr txBox="1"/>
          <p:nvPr/>
        </p:nvSpPr>
        <p:spPr>
          <a:xfrm>
            <a:off x="2371807" y="192456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a:t>
            </a:r>
            <a:endParaRPr lang="en-US" sz="600" dirty="0"/>
          </a:p>
        </p:txBody>
      </p:sp>
      <p:sp>
        <p:nvSpPr>
          <p:cNvPr id="34" name="Shape 27"/>
          <p:cNvSpPr/>
          <p:nvPr/>
        </p:nvSpPr>
        <p:spPr>
          <a:xfrm>
            <a:off x="2307799" y="1677677"/>
            <a:ext cx="3230904" cy="2317707"/>
          </a:xfrm>
          <a:prstGeom prst="roundRect">
            <a:avLst>
              <a:gd name="adj" fmla="val 1973"/>
            </a:avLst>
          </a:prstGeom>
          <a:solidFill>
            <a:srgbClr val="FFFFFF">
              <a:alpha val="0"/>
            </a:srgbClr>
          </a:solidFill>
          <a:ln w="31750">
            <a:solidFill>
              <a:srgbClr val="E53935"/>
            </a:solidFill>
            <a:prstDash val="solid"/>
          </a:ln>
        </p:spPr>
      </p:sp>
      <p:sp>
        <p:nvSpPr>
          <p:cNvPr id="35" name="Shape 28"/>
          <p:cNvSpPr/>
          <p:nvPr/>
        </p:nvSpPr>
        <p:spPr>
          <a:xfrm>
            <a:off x="5401544" y="1540517"/>
            <a:ext cx="274320" cy="274320"/>
          </a:xfrm>
          <a:prstGeom prst="ellipse">
            <a:avLst/>
          </a:prstGeom>
          <a:solidFill>
            <a:srgbClr val="E53935"/>
          </a:solidFill>
          <a:ln w="12700">
            <a:solidFill>
              <a:srgbClr val="FFFFFF"/>
            </a:solidFill>
            <a:prstDash val="solid"/>
          </a:ln>
        </p:spPr>
      </p:sp>
      <p:sp>
        <p:nvSpPr>
          <p:cNvPr id="36" name="Text 29"/>
          <p:cNvSpPr txBox="1"/>
          <p:nvPr/>
        </p:nvSpPr>
        <p:spPr>
          <a:xfrm>
            <a:off x="5401544"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7" name="Text 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8" name="Text 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halaman kosong, F12 › Console</a:t>
            </a:r>
            <a:endParaRPr lang="en-US" sz="1800" dirty="0"/>
          </a:p>
        </p:txBody>
      </p:sp>
      <p:sp>
        <p:nvSpPr>
          <p:cNvPr id="39" name="Text 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browser, ketik about:blank. Tekan F12 › tab Console. Klik di area Console untuk mengetik.</a:t>
            </a:r>
            <a:endParaRPr lang="en-US" sz="1300" dirty="0"/>
          </a:p>
        </p:txBody>
      </p:sp>
      <p:sp>
        <p:nvSpPr>
          <p:cNvPr id="40" name="Shape 3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1" name="Image 5" descr="preencoded.png">    </p:cNvPr>
          <p:cNvPicPr>
            <a:picLocks noChangeAspect="1"/>
          </p:cNvPicPr>
          <p:nvPr/>
        </p:nvPicPr>
        <p:blipFill>
          <a:blip r:embed="rId6"/>
          <a:stretch>
            <a:fillRect/>
          </a:stretch>
        </p:blipFill>
        <p:spPr>
          <a:xfrm>
            <a:off x="6108192" y="3721608"/>
            <a:ext cx="201168" cy="201168"/>
          </a:xfrm>
          <a:prstGeom prst="rect">
            <a:avLst/>
          </a:prstGeom>
        </p:spPr>
      </p:pic>
      <p:sp>
        <p:nvSpPr>
          <p:cNvPr id="42" name="Text 3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muncul peringatan saat menempel kode, ketik manual saja.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Console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about:blank</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about:blank</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2326087" y="1695965"/>
            <a:ext cx="3194328" cy="2281131"/>
          </a:xfrm>
          <a:prstGeom prst="rect">
            <a:avLst/>
          </a:prstGeom>
          <a:solidFill>
            <a:srgbClr val="FFFFFF"/>
          </a:solidFill>
          <a:ln w="6350">
            <a:solidFill>
              <a:srgbClr val="CCCCCC"/>
            </a:solidFill>
            <a:prstDash val="solid"/>
          </a:ln>
        </p:spPr>
      </p:sp>
      <p:sp>
        <p:nvSpPr>
          <p:cNvPr id="30" name="Shape 23"/>
          <p:cNvSpPr/>
          <p:nvPr/>
        </p:nvSpPr>
        <p:spPr>
          <a:xfrm>
            <a:off x="2326087" y="1695965"/>
            <a:ext cx="3194328" cy="182880"/>
          </a:xfrm>
          <a:prstGeom prst="rect">
            <a:avLst/>
          </a:prstGeom>
          <a:solidFill>
            <a:srgbClr val="F1F3F4"/>
          </a:solidFill>
          <a:ln w="12700">
            <a:solidFill>
              <a:srgbClr val="F1F3F4"/>
            </a:solidFill>
            <a:prstDash val="solid"/>
          </a:ln>
        </p:spPr>
      </p:sp>
      <p:sp>
        <p:nvSpPr>
          <p:cNvPr id="31" name="Text 24"/>
          <p:cNvSpPr txBox="1"/>
          <p:nvPr/>
        </p:nvSpPr>
        <p:spPr>
          <a:xfrm>
            <a:off x="2371807" y="1695965"/>
            <a:ext cx="3194328"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2" name="Shape 25"/>
          <p:cNvSpPr/>
          <p:nvPr/>
        </p:nvSpPr>
        <p:spPr>
          <a:xfrm>
            <a:off x="2893015" y="1851413"/>
            <a:ext cx="365760" cy="22860"/>
          </a:xfrm>
          <a:prstGeom prst="rect">
            <a:avLst/>
          </a:prstGeom>
          <a:solidFill>
            <a:srgbClr val="1A73E8"/>
          </a:solidFill>
          <a:ln w="12700">
            <a:solidFill>
              <a:srgbClr val="1A73E8"/>
            </a:solidFill>
            <a:prstDash val="solid"/>
          </a:ln>
        </p:spPr>
      </p:sp>
      <p:sp>
        <p:nvSpPr>
          <p:cNvPr id="33" name="Text 26"/>
          <p:cNvSpPr txBox="1"/>
          <p:nvPr/>
        </p:nvSpPr>
        <p:spPr>
          <a:xfrm>
            <a:off x="2371807" y="192456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let hafalan = 3;</a:t>
            </a:r>
            <a:endParaRPr lang="en-US" sz="600" dirty="0"/>
          </a:p>
        </p:txBody>
      </p:sp>
      <p:sp>
        <p:nvSpPr>
          <p:cNvPr id="34" name="Text 27"/>
          <p:cNvSpPr txBox="1"/>
          <p:nvPr/>
        </p:nvSpPr>
        <p:spPr>
          <a:xfrm>
            <a:off x="2371807" y="214402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undefined</a:t>
            </a:r>
            <a:endParaRPr lang="en-US" sz="600" dirty="0"/>
          </a:p>
        </p:txBody>
      </p:sp>
      <p:sp>
        <p:nvSpPr>
          <p:cNvPr id="35" name="Text 28"/>
          <p:cNvSpPr txBox="1"/>
          <p:nvPr/>
        </p:nvSpPr>
        <p:spPr>
          <a:xfrm>
            <a:off x="2371807" y="2363477"/>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hafalan</a:t>
            </a:r>
            <a:endParaRPr lang="en-US" sz="600" dirty="0"/>
          </a:p>
        </p:txBody>
      </p:sp>
      <p:sp>
        <p:nvSpPr>
          <p:cNvPr id="36" name="Text 29"/>
          <p:cNvSpPr txBox="1"/>
          <p:nvPr/>
        </p:nvSpPr>
        <p:spPr>
          <a:xfrm>
            <a:off x="2371807" y="2582933"/>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3</a:t>
            </a:r>
            <a:endParaRPr lang="en-US" sz="600" dirty="0"/>
          </a:p>
        </p:txBody>
      </p:sp>
      <p:sp>
        <p:nvSpPr>
          <p:cNvPr id="37" name="Text 30"/>
          <p:cNvSpPr txBox="1"/>
          <p:nvPr/>
        </p:nvSpPr>
        <p:spPr>
          <a:xfrm>
            <a:off x="2371807" y="2802389"/>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hafalan = hafalan + 1;</a:t>
            </a:r>
            <a:endParaRPr lang="en-US" sz="600" dirty="0"/>
          </a:p>
        </p:txBody>
      </p:sp>
      <p:sp>
        <p:nvSpPr>
          <p:cNvPr id="38" name="Text 31"/>
          <p:cNvSpPr txBox="1"/>
          <p:nvPr/>
        </p:nvSpPr>
        <p:spPr>
          <a:xfrm>
            <a:off x="2371807" y="302184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hafalan</a:t>
            </a:r>
            <a:endParaRPr lang="en-US" sz="600" dirty="0"/>
          </a:p>
        </p:txBody>
      </p:sp>
      <p:sp>
        <p:nvSpPr>
          <p:cNvPr id="39" name="Text 32"/>
          <p:cNvSpPr txBox="1"/>
          <p:nvPr/>
        </p:nvSpPr>
        <p:spPr>
          <a:xfrm>
            <a:off x="2371807" y="324130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4</a:t>
            </a:r>
            <a:endParaRPr lang="en-US" sz="600" dirty="0"/>
          </a:p>
        </p:txBody>
      </p:sp>
      <p:sp>
        <p:nvSpPr>
          <p:cNvPr id="40" name="Shape 33"/>
          <p:cNvSpPr/>
          <p:nvPr/>
        </p:nvSpPr>
        <p:spPr>
          <a:xfrm>
            <a:off x="2307799" y="2784101"/>
            <a:ext cx="3230904" cy="676656"/>
          </a:xfrm>
          <a:prstGeom prst="roundRect">
            <a:avLst>
              <a:gd name="adj" fmla="val 6757"/>
            </a:avLst>
          </a:prstGeom>
          <a:solidFill>
            <a:srgbClr val="FFFFFF">
              <a:alpha val="0"/>
            </a:srgbClr>
          </a:solidFill>
          <a:ln w="31750">
            <a:solidFill>
              <a:srgbClr val="E53935"/>
            </a:solidFill>
            <a:prstDash val="solid"/>
          </a:ln>
        </p:spPr>
      </p:sp>
      <p:sp>
        <p:nvSpPr>
          <p:cNvPr id="41" name="Shape 34"/>
          <p:cNvSpPr/>
          <p:nvPr/>
        </p:nvSpPr>
        <p:spPr>
          <a:xfrm>
            <a:off x="5401544" y="2646941"/>
            <a:ext cx="274320" cy="274320"/>
          </a:xfrm>
          <a:prstGeom prst="ellipse">
            <a:avLst/>
          </a:prstGeom>
          <a:solidFill>
            <a:srgbClr val="E53935"/>
          </a:solidFill>
          <a:ln w="12700">
            <a:solidFill>
              <a:srgbClr val="FFFFFF"/>
            </a:solidFill>
            <a:prstDash val="solid"/>
          </a:ln>
        </p:spPr>
      </p:sp>
      <p:sp>
        <p:nvSpPr>
          <p:cNvPr id="42" name="Text 35"/>
          <p:cNvSpPr txBox="1"/>
          <p:nvPr/>
        </p:nvSpPr>
        <p:spPr>
          <a:xfrm>
            <a:off x="5401544" y="26469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3" name="Image 5" descr="preencoded.png">    </p:cNvPr>
          <p:cNvPicPr>
            <a:picLocks noChangeAspect="1"/>
          </p:cNvPicPr>
          <p:nvPr/>
        </p:nvPicPr>
        <p:blipFill>
          <a:blip r:embed="rId6"/>
          <a:stretch>
            <a:fillRect/>
          </a:stretch>
        </p:blipFill>
        <p:spPr>
          <a:xfrm>
            <a:off x="4082968" y="3154433"/>
            <a:ext cx="237744" cy="237744"/>
          </a:xfrm>
          <a:prstGeom prst="rect">
            <a:avLst/>
          </a:prstGeom>
        </p:spPr>
      </p:pic>
      <p:sp>
        <p:nvSpPr>
          <p:cNvPr id="44"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variabel dan lihat isinya</a:t>
            </a:r>
            <a:endParaRPr lang="en-US" sz="1800" dirty="0"/>
          </a:p>
        </p:txBody>
      </p:sp>
      <p:sp>
        <p:nvSpPr>
          <p:cNvPr id="46"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satu per satu, tekan Enter: let hafalan = 3;  lalu  hafalan  lalu  hafalan = hafalan + 1;  lalu  hafalan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Tipe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about:blank</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about:blank</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2326087" y="1695965"/>
            <a:ext cx="3194328" cy="2281131"/>
          </a:xfrm>
          <a:prstGeom prst="rect">
            <a:avLst/>
          </a:prstGeom>
          <a:solidFill>
            <a:srgbClr val="FFFFFF"/>
          </a:solidFill>
          <a:ln w="6350">
            <a:solidFill>
              <a:srgbClr val="CCCCCC"/>
            </a:solidFill>
            <a:prstDash val="solid"/>
          </a:ln>
        </p:spPr>
      </p:sp>
      <p:sp>
        <p:nvSpPr>
          <p:cNvPr id="30" name="Shape 23"/>
          <p:cNvSpPr/>
          <p:nvPr/>
        </p:nvSpPr>
        <p:spPr>
          <a:xfrm>
            <a:off x="2326087" y="1695965"/>
            <a:ext cx="3194328" cy="182880"/>
          </a:xfrm>
          <a:prstGeom prst="rect">
            <a:avLst/>
          </a:prstGeom>
          <a:solidFill>
            <a:srgbClr val="F1F3F4"/>
          </a:solidFill>
          <a:ln w="12700">
            <a:solidFill>
              <a:srgbClr val="F1F3F4"/>
            </a:solidFill>
            <a:prstDash val="solid"/>
          </a:ln>
        </p:spPr>
      </p:sp>
      <p:sp>
        <p:nvSpPr>
          <p:cNvPr id="31" name="Text 24"/>
          <p:cNvSpPr txBox="1"/>
          <p:nvPr/>
        </p:nvSpPr>
        <p:spPr>
          <a:xfrm>
            <a:off x="2371807" y="1695965"/>
            <a:ext cx="3194328"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2" name="Shape 25"/>
          <p:cNvSpPr/>
          <p:nvPr/>
        </p:nvSpPr>
        <p:spPr>
          <a:xfrm>
            <a:off x="2893015" y="1851413"/>
            <a:ext cx="365760" cy="22860"/>
          </a:xfrm>
          <a:prstGeom prst="rect">
            <a:avLst/>
          </a:prstGeom>
          <a:solidFill>
            <a:srgbClr val="1A73E8"/>
          </a:solidFill>
          <a:ln w="12700">
            <a:solidFill>
              <a:srgbClr val="1A73E8"/>
            </a:solidFill>
            <a:prstDash val="solid"/>
          </a:ln>
        </p:spPr>
      </p:sp>
      <p:sp>
        <p:nvSpPr>
          <p:cNvPr id="33" name="Text 26"/>
          <p:cNvSpPr txBox="1"/>
          <p:nvPr/>
        </p:nvSpPr>
        <p:spPr>
          <a:xfrm>
            <a:off x="2371807" y="192456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3 + 2</a:t>
            </a:r>
            <a:endParaRPr lang="en-US" sz="600" dirty="0"/>
          </a:p>
        </p:txBody>
      </p:sp>
      <p:sp>
        <p:nvSpPr>
          <p:cNvPr id="34" name="Text 27"/>
          <p:cNvSpPr txBox="1"/>
          <p:nvPr/>
        </p:nvSpPr>
        <p:spPr>
          <a:xfrm>
            <a:off x="2371807" y="214402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5</a:t>
            </a:r>
            <a:endParaRPr lang="en-US" sz="600" dirty="0"/>
          </a:p>
        </p:txBody>
      </p:sp>
      <p:sp>
        <p:nvSpPr>
          <p:cNvPr id="35" name="Text 28"/>
          <p:cNvSpPr txBox="1"/>
          <p:nvPr/>
        </p:nvSpPr>
        <p:spPr>
          <a:xfrm>
            <a:off x="2371807" y="2363477"/>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"3" + "2"</a:t>
            </a:r>
            <a:endParaRPr lang="en-US" sz="600" dirty="0"/>
          </a:p>
        </p:txBody>
      </p:sp>
      <p:sp>
        <p:nvSpPr>
          <p:cNvPr id="36" name="Text 29"/>
          <p:cNvSpPr txBox="1"/>
          <p:nvPr/>
        </p:nvSpPr>
        <p:spPr>
          <a:xfrm>
            <a:off x="2371807" y="2582933"/>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'32'</a:t>
            </a:r>
            <a:endParaRPr lang="en-US" sz="600" dirty="0"/>
          </a:p>
        </p:txBody>
      </p:sp>
      <p:sp>
        <p:nvSpPr>
          <p:cNvPr id="37" name="Text 30"/>
          <p:cNvSpPr txBox="1"/>
          <p:nvPr/>
        </p:nvSpPr>
        <p:spPr>
          <a:xfrm>
            <a:off x="2371807" y="2802389"/>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typeof "3"</a:t>
            </a:r>
            <a:endParaRPr lang="en-US" sz="600" dirty="0"/>
          </a:p>
        </p:txBody>
      </p:sp>
      <p:sp>
        <p:nvSpPr>
          <p:cNvPr id="38" name="Text 31"/>
          <p:cNvSpPr txBox="1"/>
          <p:nvPr/>
        </p:nvSpPr>
        <p:spPr>
          <a:xfrm>
            <a:off x="2371807" y="302184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'string'</a:t>
            </a:r>
            <a:endParaRPr lang="en-US" sz="600" dirty="0"/>
          </a:p>
        </p:txBody>
      </p:sp>
      <p:sp>
        <p:nvSpPr>
          <p:cNvPr id="39" name="Text 32"/>
          <p:cNvSpPr txBox="1"/>
          <p:nvPr/>
        </p:nvSpPr>
        <p:spPr>
          <a:xfrm>
            <a:off x="2371807" y="324130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Number("3") + Number("2")</a:t>
            </a:r>
            <a:endParaRPr lang="en-US" sz="600" dirty="0"/>
          </a:p>
        </p:txBody>
      </p:sp>
      <p:sp>
        <p:nvSpPr>
          <p:cNvPr id="40" name="Text 33"/>
          <p:cNvSpPr txBox="1"/>
          <p:nvPr/>
        </p:nvSpPr>
        <p:spPr>
          <a:xfrm>
            <a:off x="2371807" y="3460757"/>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5</a:t>
            </a:r>
            <a:endParaRPr lang="en-US" sz="600" dirty="0"/>
          </a:p>
        </p:txBody>
      </p:sp>
      <p:sp>
        <p:nvSpPr>
          <p:cNvPr id="41" name="Shape 34"/>
          <p:cNvSpPr/>
          <p:nvPr/>
        </p:nvSpPr>
        <p:spPr>
          <a:xfrm>
            <a:off x="2307799" y="2345189"/>
            <a:ext cx="3230904" cy="457200"/>
          </a:xfrm>
          <a:prstGeom prst="roundRect">
            <a:avLst>
              <a:gd name="adj" fmla="val 10000"/>
            </a:avLst>
          </a:prstGeom>
          <a:solidFill>
            <a:srgbClr val="FFFFFF">
              <a:alpha val="0"/>
            </a:srgbClr>
          </a:solidFill>
          <a:ln w="31750">
            <a:solidFill>
              <a:srgbClr val="E53935"/>
            </a:solidFill>
            <a:prstDash val="solid"/>
          </a:ln>
        </p:spPr>
      </p:sp>
      <p:sp>
        <p:nvSpPr>
          <p:cNvPr id="42" name="Shape 35"/>
          <p:cNvSpPr/>
          <p:nvPr/>
        </p:nvSpPr>
        <p:spPr>
          <a:xfrm>
            <a:off x="5401544" y="2208029"/>
            <a:ext cx="274320" cy="274320"/>
          </a:xfrm>
          <a:prstGeom prst="ellipse">
            <a:avLst/>
          </a:prstGeom>
          <a:solidFill>
            <a:srgbClr val="E53935"/>
          </a:solidFill>
          <a:ln w="12700">
            <a:solidFill>
              <a:srgbClr val="FFFFFF"/>
            </a:solidFill>
            <a:prstDash val="solid"/>
          </a:ln>
        </p:spPr>
      </p:sp>
      <p:sp>
        <p:nvSpPr>
          <p:cNvPr id="43" name="Text 36"/>
          <p:cNvSpPr txBox="1"/>
          <p:nvPr/>
        </p:nvSpPr>
        <p:spPr>
          <a:xfrm>
            <a:off x="5401544" y="22080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4" name="Image 5" descr="preencoded.png">    </p:cNvPr>
          <p:cNvPicPr>
            <a:picLocks noChangeAspect="1"/>
          </p:cNvPicPr>
          <p:nvPr/>
        </p:nvPicPr>
        <p:blipFill>
          <a:blip r:embed="rId6"/>
          <a:stretch>
            <a:fillRect/>
          </a:stretch>
        </p:blipFill>
        <p:spPr>
          <a:xfrm>
            <a:off x="4082968" y="2594820"/>
            <a:ext cx="237744" cy="237744"/>
          </a:xfrm>
          <a:prstGeom prst="rect">
            <a:avLst/>
          </a:prstGeom>
        </p:spPr>
      </p:pic>
      <p:sp>
        <p:nvSpPr>
          <p:cNvPr id="45" name="Shape 37"/>
          <p:cNvSpPr/>
          <p:nvPr/>
        </p:nvSpPr>
        <p:spPr>
          <a:xfrm>
            <a:off x="2307799" y="3223013"/>
            <a:ext cx="3230904" cy="457200"/>
          </a:xfrm>
          <a:prstGeom prst="roundRect">
            <a:avLst>
              <a:gd name="adj" fmla="val 10000"/>
            </a:avLst>
          </a:prstGeom>
          <a:solidFill>
            <a:srgbClr val="FFFFFF">
              <a:alpha val="0"/>
            </a:srgbClr>
          </a:solidFill>
          <a:ln w="31750">
            <a:solidFill>
              <a:srgbClr val="E53935"/>
            </a:solidFill>
            <a:prstDash val="solid"/>
          </a:ln>
        </p:spPr>
      </p:sp>
      <p:sp>
        <p:nvSpPr>
          <p:cNvPr id="46" name="Shape 38"/>
          <p:cNvSpPr/>
          <p:nvPr/>
        </p:nvSpPr>
        <p:spPr>
          <a:xfrm>
            <a:off x="5401544" y="3085853"/>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401544" y="3085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8" name="Image 6" descr="preencoded.png">    </p:cNvPr>
          <p:cNvPicPr>
            <a:picLocks noChangeAspect="1"/>
          </p:cNvPicPr>
          <p:nvPr/>
        </p:nvPicPr>
        <p:blipFill>
          <a:blip r:embed="rId7"/>
          <a:stretch>
            <a:fillRect/>
          </a:stretch>
        </p:blipFill>
        <p:spPr>
          <a:xfrm>
            <a:off x="4082968" y="3472644"/>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3 + 2 dan "3" + "2"</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3 + 2  lalu  "3" + "2"  lalu  typeof "3"  lalu  Number("3") + Number("2")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Tipe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about:blank</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about:blank</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2326087" y="1695965"/>
            <a:ext cx="3194328" cy="2281131"/>
          </a:xfrm>
          <a:prstGeom prst="rect">
            <a:avLst/>
          </a:prstGeom>
          <a:solidFill>
            <a:srgbClr val="FFFFFF"/>
          </a:solidFill>
          <a:ln w="6350">
            <a:solidFill>
              <a:srgbClr val="CCCCCC"/>
            </a:solidFill>
            <a:prstDash val="solid"/>
          </a:ln>
        </p:spPr>
      </p:sp>
      <p:sp>
        <p:nvSpPr>
          <p:cNvPr id="30" name="Shape 23"/>
          <p:cNvSpPr/>
          <p:nvPr/>
        </p:nvSpPr>
        <p:spPr>
          <a:xfrm>
            <a:off x="2326087" y="1695965"/>
            <a:ext cx="3194328" cy="182880"/>
          </a:xfrm>
          <a:prstGeom prst="rect">
            <a:avLst/>
          </a:prstGeom>
          <a:solidFill>
            <a:srgbClr val="F1F3F4"/>
          </a:solidFill>
          <a:ln w="12700">
            <a:solidFill>
              <a:srgbClr val="F1F3F4"/>
            </a:solidFill>
            <a:prstDash val="solid"/>
          </a:ln>
        </p:spPr>
      </p:sp>
      <p:sp>
        <p:nvSpPr>
          <p:cNvPr id="31" name="Text 24"/>
          <p:cNvSpPr txBox="1"/>
          <p:nvPr/>
        </p:nvSpPr>
        <p:spPr>
          <a:xfrm>
            <a:off x="2371807" y="1695965"/>
            <a:ext cx="3194328"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2" name="Shape 25"/>
          <p:cNvSpPr/>
          <p:nvPr/>
        </p:nvSpPr>
        <p:spPr>
          <a:xfrm>
            <a:off x="2893015" y="1851413"/>
            <a:ext cx="365760" cy="22860"/>
          </a:xfrm>
          <a:prstGeom prst="rect">
            <a:avLst/>
          </a:prstGeom>
          <a:solidFill>
            <a:srgbClr val="1A73E8"/>
          </a:solidFill>
          <a:ln w="12700">
            <a:solidFill>
              <a:srgbClr val="1A73E8"/>
            </a:solidFill>
            <a:prstDash val="solid"/>
          </a:ln>
        </p:spPr>
      </p:sp>
      <p:sp>
        <p:nvSpPr>
          <p:cNvPr id="33" name="Text 26"/>
          <p:cNvSpPr txBox="1"/>
          <p:nvPr/>
        </p:nvSpPr>
        <p:spPr>
          <a:xfrm>
            <a:off x="2371807" y="192456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let nama = "Ahmad";</a:t>
            </a:r>
            <a:endParaRPr lang="en-US" sz="600" dirty="0"/>
          </a:p>
        </p:txBody>
      </p:sp>
      <p:sp>
        <p:nvSpPr>
          <p:cNvPr id="34" name="Text 27"/>
          <p:cNvSpPr txBox="1"/>
          <p:nvPr/>
        </p:nvSpPr>
        <p:spPr>
          <a:xfrm>
            <a:off x="2371807" y="214402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let ayat = 20;</a:t>
            </a:r>
            <a:endParaRPr lang="en-US" sz="600" dirty="0"/>
          </a:p>
        </p:txBody>
      </p:sp>
      <p:sp>
        <p:nvSpPr>
          <p:cNvPr id="35" name="Text 28"/>
          <p:cNvSpPr txBox="1"/>
          <p:nvPr/>
        </p:nvSpPr>
        <p:spPr>
          <a:xfrm>
            <a:off x="2371807" y="2363477"/>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"Barakallah " + nama + ", setoran "</a:t>
            </a:r>
            <a:endParaRPr lang="en-US" sz="600" dirty="0"/>
          </a:p>
        </p:txBody>
      </p:sp>
      <p:sp>
        <p:nvSpPr>
          <p:cNvPr id="36" name="Text 29"/>
          <p:cNvSpPr txBox="1"/>
          <p:nvPr/>
        </p:nvSpPr>
        <p:spPr>
          <a:xfrm>
            <a:off x="2371807" y="2582933"/>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  + ayat + " ayat"</a:t>
            </a:r>
            <a:endParaRPr lang="en-US" sz="600" dirty="0"/>
          </a:p>
        </p:txBody>
      </p:sp>
      <p:sp>
        <p:nvSpPr>
          <p:cNvPr id="37" name="Text 30"/>
          <p:cNvSpPr txBox="1"/>
          <p:nvPr/>
        </p:nvSpPr>
        <p:spPr>
          <a:xfrm>
            <a:off x="2371807" y="2802389"/>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'Barakallah Ahmad, setoran 20 ayat'</a:t>
            </a:r>
            <a:endParaRPr lang="en-US" sz="600" dirty="0"/>
          </a:p>
        </p:txBody>
      </p:sp>
      <p:sp>
        <p:nvSpPr>
          <p:cNvPr id="38" name="Shape 31"/>
          <p:cNvSpPr/>
          <p:nvPr/>
        </p:nvSpPr>
        <p:spPr>
          <a:xfrm>
            <a:off x="2307799" y="2784101"/>
            <a:ext cx="3230904" cy="237744"/>
          </a:xfrm>
          <a:prstGeom prst="roundRect">
            <a:avLst>
              <a:gd name="adj" fmla="val 19231"/>
            </a:avLst>
          </a:prstGeom>
          <a:solidFill>
            <a:srgbClr val="FFFFFF">
              <a:alpha val="0"/>
            </a:srgbClr>
          </a:solidFill>
          <a:ln w="31750">
            <a:solidFill>
              <a:srgbClr val="E53935"/>
            </a:solidFill>
            <a:prstDash val="solid"/>
          </a:ln>
        </p:spPr>
      </p:sp>
      <p:sp>
        <p:nvSpPr>
          <p:cNvPr id="39" name="Shape 32"/>
          <p:cNvSpPr/>
          <p:nvPr/>
        </p:nvSpPr>
        <p:spPr>
          <a:xfrm>
            <a:off x="5401544" y="2646941"/>
            <a:ext cx="274320" cy="274320"/>
          </a:xfrm>
          <a:prstGeom prst="ellipse">
            <a:avLst/>
          </a:prstGeom>
          <a:solidFill>
            <a:srgbClr val="E53935"/>
          </a:solidFill>
          <a:ln w="12700">
            <a:solidFill>
              <a:srgbClr val="FFFFFF"/>
            </a:solidFill>
            <a:prstDash val="solid"/>
          </a:ln>
        </p:spPr>
      </p:sp>
      <p:sp>
        <p:nvSpPr>
          <p:cNvPr id="40" name="Text 33"/>
          <p:cNvSpPr txBox="1"/>
          <p:nvPr/>
        </p:nvSpPr>
        <p:spPr>
          <a:xfrm>
            <a:off x="5401544" y="26469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1" name="Image 5" descr="preencoded.png">    </p:cNvPr>
          <p:cNvPicPr>
            <a:picLocks noChangeAspect="1"/>
          </p:cNvPicPr>
          <p:nvPr/>
        </p:nvPicPr>
        <p:blipFill>
          <a:blip r:embed="rId6"/>
          <a:stretch>
            <a:fillRect/>
          </a:stretch>
        </p:blipFill>
        <p:spPr>
          <a:xfrm>
            <a:off x="4082968" y="2913032"/>
            <a:ext cx="237744" cy="237744"/>
          </a:xfrm>
          <a:prstGeom prst="rect">
            <a:avLst/>
          </a:prstGeom>
        </p:spPr>
      </p:pic>
      <p:sp>
        <p:nvSpPr>
          <p:cNvPr id="42"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3"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Gabungkan teks untuk pesan</a:t>
            </a:r>
            <a:endParaRPr lang="en-US" sz="1800" dirty="0"/>
          </a:p>
        </p:txBody>
      </p:sp>
      <p:sp>
        <p:nvSpPr>
          <p:cNvPr id="44"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let nama = "Ahmad"; let ayat = 20;  lalu  "Barakallah " + nama + ", setoran " + ayat + " ayat"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Perbandingan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about:blank</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about:blank</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2326087" y="1695965"/>
            <a:ext cx="3194328" cy="2281131"/>
          </a:xfrm>
          <a:prstGeom prst="rect">
            <a:avLst/>
          </a:prstGeom>
          <a:solidFill>
            <a:srgbClr val="FFFFFF"/>
          </a:solidFill>
          <a:ln w="6350">
            <a:solidFill>
              <a:srgbClr val="CCCCCC"/>
            </a:solidFill>
            <a:prstDash val="solid"/>
          </a:ln>
        </p:spPr>
      </p:sp>
      <p:sp>
        <p:nvSpPr>
          <p:cNvPr id="30" name="Shape 23"/>
          <p:cNvSpPr/>
          <p:nvPr/>
        </p:nvSpPr>
        <p:spPr>
          <a:xfrm>
            <a:off x="2326087" y="1695965"/>
            <a:ext cx="3194328" cy="182880"/>
          </a:xfrm>
          <a:prstGeom prst="rect">
            <a:avLst/>
          </a:prstGeom>
          <a:solidFill>
            <a:srgbClr val="F1F3F4"/>
          </a:solidFill>
          <a:ln w="12700">
            <a:solidFill>
              <a:srgbClr val="F1F3F4"/>
            </a:solidFill>
            <a:prstDash val="solid"/>
          </a:ln>
        </p:spPr>
      </p:sp>
      <p:sp>
        <p:nvSpPr>
          <p:cNvPr id="31" name="Text 24"/>
          <p:cNvSpPr txBox="1"/>
          <p:nvPr/>
        </p:nvSpPr>
        <p:spPr>
          <a:xfrm>
            <a:off x="2371807" y="1695965"/>
            <a:ext cx="3194328"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32" name="Shape 25"/>
          <p:cNvSpPr/>
          <p:nvPr/>
        </p:nvSpPr>
        <p:spPr>
          <a:xfrm>
            <a:off x="2893015" y="1851413"/>
            <a:ext cx="365760" cy="22860"/>
          </a:xfrm>
          <a:prstGeom prst="rect">
            <a:avLst/>
          </a:prstGeom>
          <a:solidFill>
            <a:srgbClr val="1A73E8"/>
          </a:solidFill>
          <a:ln w="12700">
            <a:solidFill>
              <a:srgbClr val="1A73E8"/>
            </a:solidFill>
            <a:prstDash val="solid"/>
          </a:ln>
        </p:spPr>
      </p:sp>
      <p:sp>
        <p:nvSpPr>
          <p:cNvPr id="33" name="Text 26"/>
          <p:cNvSpPr txBox="1"/>
          <p:nvPr/>
        </p:nvSpPr>
        <p:spPr>
          <a:xfrm>
            <a:off x="2371807" y="192456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hafalan &gt;= 3</a:t>
            </a:r>
            <a:endParaRPr lang="en-US" sz="600" dirty="0"/>
          </a:p>
        </p:txBody>
      </p:sp>
      <p:sp>
        <p:nvSpPr>
          <p:cNvPr id="34" name="Text 27"/>
          <p:cNvSpPr txBox="1"/>
          <p:nvPr/>
        </p:nvSpPr>
        <p:spPr>
          <a:xfrm>
            <a:off x="2371807" y="2144021"/>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true</a:t>
            </a:r>
            <a:endParaRPr lang="en-US" sz="600" dirty="0"/>
          </a:p>
        </p:txBody>
      </p:sp>
      <p:sp>
        <p:nvSpPr>
          <p:cNvPr id="35" name="Text 28"/>
          <p:cNvSpPr txBox="1"/>
          <p:nvPr/>
        </p:nvSpPr>
        <p:spPr>
          <a:xfrm>
            <a:off x="2371807" y="2363477"/>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hafalan &lt; 2</a:t>
            </a:r>
            <a:endParaRPr lang="en-US" sz="600" dirty="0"/>
          </a:p>
        </p:txBody>
      </p:sp>
      <p:sp>
        <p:nvSpPr>
          <p:cNvPr id="36" name="Text 29"/>
          <p:cNvSpPr txBox="1"/>
          <p:nvPr/>
        </p:nvSpPr>
        <p:spPr>
          <a:xfrm>
            <a:off x="2371807" y="2582933"/>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false</a:t>
            </a:r>
            <a:endParaRPr lang="en-US" sz="600" dirty="0"/>
          </a:p>
        </p:txBody>
      </p:sp>
      <p:sp>
        <p:nvSpPr>
          <p:cNvPr id="37" name="Text 30"/>
          <p:cNvSpPr txBox="1"/>
          <p:nvPr/>
        </p:nvSpPr>
        <p:spPr>
          <a:xfrm>
            <a:off x="2371807" y="2802389"/>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nama === "Ahmad"</a:t>
            </a:r>
            <a:endParaRPr lang="en-US" sz="600" dirty="0"/>
          </a:p>
        </p:txBody>
      </p:sp>
      <p:sp>
        <p:nvSpPr>
          <p:cNvPr id="38" name="Text 31"/>
          <p:cNvSpPr txBox="1"/>
          <p:nvPr/>
        </p:nvSpPr>
        <p:spPr>
          <a:xfrm>
            <a:off x="2371807" y="3021845"/>
            <a:ext cx="3121176"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&lt; true</a:t>
            </a:r>
            <a:endParaRPr lang="en-US" sz="600" dirty="0"/>
          </a:p>
        </p:txBody>
      </p:sp>
      <p:sp>
        <p:nvSpPr>
          <p:cNvPr id="39" name="Shape 32"/>
          <p:cNvSpPr/>
          <p:nvPr/>
        </p:nvSpPr>
        <p:spPr>
          <a:xfrm>
            <a:off x="2307799" y="1906277"/>
            <a:ext cx="3230904" cy="1335024"/>
          </a:xfrm>
          <a:prstGeom prst="roundRect">
            <a:avLst>
              <a:gd name="adj" fmla="val 3425"/>
            </a:avLst>
          </a:prstGeom>
          <a:solidFill>
            <a:srgbClr val="FFFFFF">
              <a:alpha val="0"/>
            </a:srgbClr>
          </a:solidFill>
          <a:ln w="31750">
            <a:solidFill>
              <a:srgbClr val="E53935"/>
            </a:solidFill>
            <a:prstDash val="solid"/>
          </a:ln>
        </p:spPr>
      </p:sp>
      <p:sp>
        <p:nvSpPr>
          <p:cNvPr id="40" name="Shape 33"/>
          <p:cNvSpPr/>
          <p:nvPr/>
        </p:nvSpPr>
        <p:spPr>
          <a:xfrm>
            <a:off x="5401544" y="1769117"/>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2" name="Image 5" descr="preencoded.png">    </p:cNvPr>
          <p:cNvPicPr>
            <a:picLocks noChangeAspect="1"/>
          </p:cNvPicPr>
          <p:nvPr/>
        </p:nvPicPr>
        <p:blipFill>
          <a:blip r:embed="rId6"/>
          <a:stretch>
            <a:fillRect/>
          </a:stretch>
        </p:blipFill>
        <p:spPr>
          <a:xfrm>
            <a:off x="4082968" y="2638712"/>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Coba perbandingan: true atau false</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hafalan &gt;= 3  lalu  hafalan &lt; 2  lalu  nama === "Ahmad"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Rancangan_Kode_Kel3 -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Rancangan_Kode_Kel3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Variabel Aplikasi Setoran</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Nama</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Tipe</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Contoh</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targetAyat</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number</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20</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ayatSetor</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number</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15</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string</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"An-Naba"</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sudahSetor</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boolean</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true</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Daftar variabel untuk proyek kelompok</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proyek, tulis variabel yang dibutuhkan aplikasi kelompok: nama, tipe, contoh isi.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Tulis di buku dan Docs:</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Arti let, number, string, boolean dengan kata-katamu.</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dan alasan: "3" + "2" serta Number("3") + Number("2").</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pesan gabungan teks yang kamu buat di Console.</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variabel untuk proyek kelompok.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Membuat 3 variabel berbeda tipe</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Operasi hitung benar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Menggabungkan teks dengan +</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typeof</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 angka 5 dan teks "5"?</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Untuk proyekmu, data apa yang perlu disimpan dalam variabel?</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Setiap data diberi nama yang jelas dan jujur, agar orang lain tidak salah paham. Begitulah amanah dalam mencatat.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Fungsi, event, input, dan output.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Fungsi, Input &amp; Output</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Mengambil data dari pengguna dan menampilkan hasil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JavaScript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aplikasi mengambil angka yang diketik pengguna, lalu menampilkan hasilnya?</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fungsi dan memanggilnya dengan event onclick</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Mengambil input dari kolom isian dengan .value dan Number()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Menampilkan output ke halaman dengan .textContent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Input – Proses – Output dalam JavaScript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606040" cy="502920"/>
          </a:xfrm>
          <a:prstGeom prst="roundRect">
            <a:avLst>
              <a:gd name="adj" fmla="val 14545"/>
            </a:avLst>
          </a:prstGeom>
          <a:solidFill>
            <a:srgbClr val="0078D4"/>
          </a:solidFill>
          <a:ln w="12700">
            <a:solidFill>
              <a:srgbClr val="0078D4"/>
            </a:solidFill>
            <a:prstDash val="solid"/>
          </a:ln>
        </p:spPr>
      </p:sp>
      <p:sp>
        <p:nvSpPr>
          <p:cNvPr id="10" name="Text 6"/>
          <p:cNvSpPr txBox="1"/>
          <p:nvPr/>
        </p:nvSpPr>
        <p:spPr>
          <a:xfrm>
            <a:off x="457200" y="1188720"/>
            <a:ext cx="26060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INPUT</a:t>
            </a:r>
            <a:endParaRPr lang="en-US" sz="1600" dirty="0"/>
          </a:p>
        </p:txBody>
      </p:sp>
      <p:sp>
        <p:nvSpPr>
          <p:cNvPr id="11" name="Shape 7"/>
          <p:cNvSpPr/>
          <p:nvPr/>
        </p:nvSpPr>
        <p:spPr>
          <a:xfrm>
            <a:off x="457200" y="1783080"/>
            <a:ext cx="2606040" cy="1371600"/>
          </a:xfrm>
          <a:prstGeom prst="roundRect">
            <a:avLst>
              <a:gd name="adj" fmla="val 4000"/>
            </a:avLst>
          </a:prstGeom>
          <a:solidFill>
            <a:srgbClr val="FFFFFF"/>
          </a:solidFill>
          <a:ln w="19050">
            <a:solidFill>
              <a:srgbClr val="0078D4"/>
            </a:solidFill>
            <a:prstDash val="solid"/>
          </a:ln>
        </p:spPr>
      </p:sp>
      <p:sp>
        <p:nvSpPr>
          <p:cNvPr id="12" name="Text 8"/>
          <p:cNvSpPr txBox="1"/>
          <p:nvPr/>
        </p:nvSpPr>
        <p:spPr>
          <a:xfrm>
            <a:off x="548640" y="1828800"/>
            <a:ext cx="2423160" cy="914400"/>
          </a:xfrm>
          <a:prstGeom prst="rect">
            <a:avLst/>
          </a:prstGeom>
          <a:noFill/>
          <a:ln/>
        </p:spPr>
        <p:txBody>
          <a:bodyPr wrap="square" lIns="0" tIns="0" rIns="0" bIns="0" rtlCol="0" anchor="ctr"/>
          <a:lstStyle/>
          <a:p>
            <a:pPr indent="0" marL="0">
              <a:buNone/>
            </a:pPr>
            <a:r>
              <a:rPr lang="en-US" sz="1000" dirty="0">
                <a:solidFill>
                  <a:srgbClr val="1E2A26"/>
                </a:solidFill>
                <a:latin typeface="Courier New" pitchFamily="34" charset="0"/>
                <a:ea typeface="Courier New" pitchFamily="34" charset="-122"/>
                <a:cs typeface="Courier New" pitchFamily="34" charset="-120"/>
              </a:rPr>
              <a:t>document.getElementById("ayat").value</a:t>
            </a:r>
            <a:endParaRPr lang="en-US" sz="1000" dirty="0"/>
          </a:p>
        </p:txBody>
      </p:sp>
      <p:sp>
        <p:nvSpPr>
          <p:cNvPr id="13" name="Text 9"/>
          <p:cNvSpPr txBox="1"/>
          <p:nvPr/>
        </p:nvSpPr>
        <p:spPr>
          <a:xfrm>
            <a:off x="548640" y="2743200"/>
            <a:ext cx="242316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Ambil isian pengguna</a:t>
            </a:r>
            <a:endParaRPr lang="en-US" sz="1200" dirty="0"/>
          </a:p>
        </p:txBody>
      </p:sp>
      <p:sp>
        <p:nvSpPr>
          <p:cNvPr id="14" name="Text 10"/>
          <p:cNvSpPr txBox="1"/>
          <p:nvPr/>
        </p:nvSpPr>
        <p:spPr>
          <a:xfrm>
            <a:off x="3035808" y="2194560"/>
            <a:ext cx="274320" cy="365760"/>
          </a:xfrm>
          <a:prstGeom prst="rect">
            <a:avLst/>
          </a:prstGeom>
          <a:noFill/>
          <a:ln/>
        </p:spPr>
        <p:txBody>
          <a:bodyPr wrap="square" lIns="0" tIns="0" rIns="0" bIns="0" rtlCol="0" anchor="t"/>
          <a:lstStyle/>
          <a:p>
            <a:pPr indent="0" marL="0">
              <a:buNone/>
            </a:pPr>
            <a:r>
              <a:rPr lang="en-US" sz="2000" b="1" dirty="0">
                <a:solidFill>
                  <a:srgbClr val="D4A017"/>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3291840" y="1188720"/>
            <a:ext cx="2606040" cy="502920"/>
          </a:xfrm>
          <a:prstGeom prst="roundRect">
            <a:avLst>
              <a:gd name="adj" fmla="val 14545"/>
            </a:avLst>
          </a:prstGeom>
          <a:solidFill>
            <a:srgbClr val="1F7A5C"/>
          </a:solidFill>
          <a:ln w="12700">
            <a:solidFill>
              <a:srgbClr val="1F7A5C"/>
            </a:solidFill>
            <a:prstDash val="solid"/>
          </a:ln>
        </p:spPr>
      </p:sp>
      <p:sp>
        <p:nvSpPr>
          <p:cNvPr id="16" name="Text 12"/>
          <p:cNvSpPr txBox="1"/>
          <p:nvPr/>
        </p:nvSpPr>
        <p:spPr>
          <a:xfrm>
            <a:off x="3291840" y="1188720"/>
            <a:ext cx="26060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PROSES</a:t>
            </a:r>
            <a:endParaRPr lang="en-US" sz="1600" dirty="0"/>
          </a:p>
        </p:txBody>
      </p:sp>
      <p:sp>
        <p:nvSpPr>
          <p:cNvPr id="17" name="Shape 13"/>
          <p:cNvSpPr/>
          <p:nvPr/>
        </p:nvSpPr>
        <p:spPr>
          <a:xfrm>
            <a:off x="3291840" y="1783080"/>
            <a:ext cx="2606040" cy="1371600"/>
          </a:xfrm>
          <a:prstGeom prst="roundRect">
            <a:avLst>
              <a:gd name="adj" fmla="val 4000"/>
            </a:avLst>
          </a:prstGeom>
          <a:solidFill>
            <a:srgbClr val="FFFFFF"/>
          </a:solidFill>
          <a:ln w="19050">
            <a:solidFill>
              <a:srgbClr val="1F7A5C"/>
            </a:solidFill>
            <a:prstDash val="solid"/>
          </a:ln>
        </p:spPr>
      </p:sp>
      <p:sp>
        <p:nvSpPr>
          <p:cNvPr id="18" name="Text 14"/>
          <p:cNvSpPr txBox="1"/>
          <p:nvPr/>
        </p:nvSpPr>
        <p:spPr>
          <a:xfrm>
            <a:off x="3383280" y="1828800"/>
            <a:ext cx="2423160" cy="914400"/>
          </a:xfrm>
          <a:prstGeom prst="rect">
            <a:avLst/>
          </a:prstGeom>
          <a:noFill/>
          <a:ln/>
        </p:spPr>
        <p:txBody>
          <a:bodyPr wrap="square" lIns="0" tIns="0" rIns="0" bIns="0" rtlCol="0" anchor="ctr"/>
          <a:lstStyle/>
          <a:p>
            <a:pPr indent="0" marL="0">
              <a:buNone/>
            </a:pPr>
            <a:r>
              <a:rPr lang="en-US" sz="1000" dirty="0">
                <a:solidFill>
                  <a:srgbClr val="1E2A26"/>
                </a:solidFill>
                <a:latin typeface="Courier New" pitchFamily="34" charset="0"/>
                <a:ea typeface="Courier New" pitchFamily="34" charset="-122"/>
                <a:cs typeface="Courier New" pitchFamily="34" charset="-120"/>
              </a:rPr>
              <a:t>let sisa = target - Number(ayat);</a:t>
            </a:r>
            <a:endParaRPr lang="en-US" sz="1000" dirty="0"/>
          </a:p>
        </p:txBody>
      </p:sp>
      <p:sp>
        <p:nvSpPr>
          <p:cNvPr id="19" name="Text 15"/>
          <p:cNvSpPr txBox="1"/>
          <p:nvPr/>
        </p:nvSpPr>
        <p:spPr>
          <a:xfrm>
            <a:off x="3383280" y="2743200"/>
            <a:ext cx="242316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Olah di dalam fungsi</a:t>
            </a:r>
            <a:endParaRPr lang="en-US" sz="1200" dirty="0"/>
          </a:p>
        </p:txBody>
      </p:sp>
      <p:sp>
        <p:nvSpPr>
          <p:cNvPr id="20" name="Text 16"/>
          <p:cNvSpPr txBox="1"/>
          <p:nvPr/>
        </p:nvSpPr>
        <p:spPr>
          <a:xfrm>
            <a:off x="5870448" y="2194560"/>
            <a:ext cx="274320" cy="365760"/>
          </a:xfrm>
          <a:prstGeom prst="rect">
            <a:avLst/>
          </a:prstGeom>
          <a:noFill/>
          <a:ln/>
        </p:spPr>
        <p:txBody>
          <a:bodyPr wrap="square" lIns="0" tIns="0" rIns="0" bIns="0" rtlCol="0" anchor="t"/>
          <a:lstStyle/>
          <a:p>
            <a:pPr indent="0" marL="0">
              <a:buNone/>
            </a:pPr>
            <a:r>
              <a:rPr lang="en-US" sz="2000" b="1" dirty="0">
                <a:solidFill>
                  <a:srgbClr val="D4A017"/>
                </a:solidFill>
                <a:latin typeface="Calibri" pitchFamily="34" charset="0"/>
                <a:ea typeface="Calibri" pitchFamily="34" charset="-122"/>
                <a:cs typeface="Calibri" pitchFamily="34" charset="-120"/>
              </a:rPr>
              <a:t>→</a:t>
            </a:r>
            <a:endParaRPr lang="en-US" sz="2000" dirty="0"/>
          </a:p>
        </p:txBody>
      </p:sp>
      <p:sp>
        <p:nvSpPr>
          <p:cNvPr id="21" name="Shape 17"/>
          <p:cNvSpPr/>
          <p:nvPr/>
        </p:nvSpPr>
        <p:spPr>
          <a:xfrm>
            <a:off x="6126480" y="1188720"/>
            <a:ext cx="2606040" cy="502920"/>
          </a:xfrm>
          <a:prstGeom prst="roundRect">
            <a:avLst>
              <a:gd name="adj" fmla="val 14545"/>
            </a:avLst>
          </a:prstGeom>
          <a:solidFill>
            <a:srgbClr val="D4A017"/>
          </a:solidFill>
          <a:ln w="12700">
            <a:solidFill>
              <a:srgbClr val="D4A017"/>
            </a:solidFill>
            <a:prstDash val="solid"/>
          </a:ln>
        </p:spPr>
      </p:sp>
      <p:sp>
        <p:nvSpPr>
          <p:cNvPr id="22" name="Text 18"/>
          <p:cNvSpPr txBox="1"/>
          <p:nvPr/>
        </p:nvSpPr>
        <p:spPr>
          <a:xfrm>
            <a:off x="6126480" y="1188720"/>
            <a:ext cx="26060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p>
        </p:txBody>
      </p:sp>
      <p:sp>
        <p:nvSpPr>
          <p:cNvPr id="23" name="Shape 19"/>
          <p:cNvSpPr/>
          <p:nvPr/>
        </p:nvSpPr>
        <p:spPr>
          <a:xfrm>
            <a:off x="6126480" y="1783080"/>
            <a:ext cx="2606040" cy="1371600"/>
          </a:xfrm>
          <a:prstGeom prst="roundRect">
            <a:avLst>
              <a:gd name="adj" fmla="val 4000"/>
            </a:avLst>
          </a:prstGeom>
          <a:solidFill>
            <a:srgbClr val="FFFFFF"/>
          </a:solidFill>
          <a:ln w="19050">
            <a:solidFill>
              <a:srgbClr val="D4A017"/>
            </a:solidFill>
            <a:prstDash val="solid"/>
          </a:ln>
        </p:spPr>
      </p:sp>
      <p:sp>
        <p:nvSpPr>
          <p:cNvPr id="24" name="Text 20"/>
          <p:cNvSpPr txBox="1"/>
          <p:nvPr/>
        </p:nvSpPr>
        <p:spPr>
          <a:xfrm>
            <a:off x="6217920" y="1828800"/>
            <a:ext cx="2423160" cy="914400"/>
          </a:xfrm>
          <a:prstGeom prst="rect">
            <a:avLst/>
          </a:prstGeom>
          <a:noFill/>
          <a:ln/>
        </p:spPr>
        <p:txBody>
          <a:bodyPr wrap="square" lIns="0" tIns="0" rIns="0" bIns="0" rtlCol="0" anchor="ctr"/>
          <a:lstStyle/>
          <a:p>
            <a:pPr indent="0" marL="0">
              <a:buNone/>
            </a:pPr>
            <a:r>
              <a:rPr lang="en-US" sz="1000" dirty="0">
                <a:solidFill>
                  <a:srgbClr val="1E2A26"/>
                </a:solidFill>
                <a:latin typeface="Courier New" pitchFamily="34" charset="0"/>
                <a:ea typeface="Courier New" pitchFamily="34" charset="-122"/>
                <a:cs typeface="Courier New" pitchFamily="34" charset="-120"/>
              </a:rPr>
              <a:t>document.getElementById("hasil")</a:t>
            </a:r>
            <a:endParaRPr lang="en-US" sz="1000" dirty="0"/>
          </a:p>
          <a:p>
            <a:pPr indent="0" marL="0">
              <a:buNone/>
            </a:pPr>
            <a:r>
              <a:rPr lang="en-US" sz="1000" dirty="0">
                <a:solidFill>
                  <a:srgbClr val="1E2A26"/>
                </a:solidFill>
                <a:latin typeface="Courier New" pitchFamily="34" charset="0"/>
                <a:ea typeface="Courier New" pitchFamily="34" charset="-122"/>
                <a:cs typeface="Courier New" pitchFamily="34" charset="-120"/>
              </a:rPr>
              <a:t>  .textContent = "Sisa: " + sisa;</a:t>
            </a:r>
            <a:endParaRPr lang="en-US" sz="1000" dirty="0"/>
          </a:p>
        </p:txBody>
      </p:sp>
      <p:sp>
        <p:nvSpPr>
          <p:cNvPr id="25" name="Text 21"/>
          <p:cNvSpPr txBox="1"/>
          <p:nvPr/>
        </p:nvSpPr>
        <p:spPr>
          <a:xfrm>
            <a:off x="6217920" y="2743200"/>
            <a:ext cx="2423160" cy="365760"/>
          </a:xfrm>
          <a:prstGeom prst="rect">
            <a:avLst/>
          </a:prstGeom>
          <a:noFill/>
          <a:ln/>
        </p:spPr>
        <p:txBody>
          <a:bodyPr wrap="square" lIns="0" tIns="0" rIns="0" bIns="0" rtlCol="0" anchor="t"/>
          <a:lstStyle/>
          <a:p>
            <a:pPr algn="ctr" indent="0" marL="0">
              <a:buNone/>
            </a:pPr>
            <a:r>
              <a:rPr lang="en-US" sz="1200" i="1" dirty="0">
                <a:solidFill>
                  <a:srgbClr val="5F6F68"/>
                </a:solidFill>
                <a:latin typeface="Calibri" pitchFamily="34" charset="0"/>
                <a:ea typeface="Calibri" pitchFamily="34" charset="-122"/>
                <a:cs typeface="Calibri" pitchFamily="34" charset="-120"/>
              </a:rPr>
              <a:t>Tampilkan di halaman</a:t>
            </a:r>
            <a:endParaRPr lang="en-US" sz="1200" dirty="0"/>
          </a:p>
        </p:txBody>
      </p:sp>
      <p:sp>
        <p:nvSpPr>
          <p:cNvPr id="26" name="Shape 22"/>
          <p:cNvSpPr/>
          <p:nvPr/>
        </p:nvSpPr>
        <p:spPr>
          <a:xfrm>
            <a:off x="457200" y="3429000"/>
            <a:ext cx="8229600" cy="1097280"/>
          </a:xfrm>
          <a:prstGeom prst="roundRect">
            <a:avLst>
              <a:gd name="adj" fmla="val 8333"/>
            </a:avLst>
          </a:prstGeom>
          <a:solidFill>
            <a:srgbClr val="E6F2EC"/>
          </a:solidFill>
          <a:ln w="12700">
            <a:solidFill>
              <a:srgbClr val="E6F2EC"/>
            </a:solidFill>
            <a:prstDash val="solid"/>
          </a:ln>
        </p:spPr>
      </p:sp>
      <p:sp>
        <p:nvSpPr>
          <p:cNvPr id="27" name="Text 23"/>
          <p:cNvSpPr txBox="1"/>
          <p:nvPr/>
        </p:nvSpPr>
        <p:spPr>
          <a:xfrm>
            <a:off x="640080" y="3474720"/>
            <a:ext cx="7863840" cy="1005840"/>
          </a:xfrm>
          <a:prstGeom prst="rect">
            <a:avLst/>
          </a:prstGeom>
          <a:noFill/>
          <a:ln/>
        </p:spPr>
        <p:txBody>
          <a:bodyPr wrap="square" lIns="0" tIns="0" rIns="0" bIns="0" rtlCol="0" anchor="ctr"/>
          <a:lstStyle/>
          <a:p>
            <a:pPr indent="0" marL="0">
              <a:buNone/>
            </a:pPr>
            <a:r>
              <a:rPr lang="en-US" sz="1300" b="1" dirty="0">
                <a:solidFill>
                  <a:srgbClr val="1E2A26"/>
                </a:solidFill>
                <a:latin typeface="Calibri" pitchFamily="34" charset="0"/>
                <a:ea typeface="Calibri" pitchFamily="34" charset="-122"/>
                <a:cs typeface="Calibri" pitchFamily="34" charset="-120"/>
              </a:rPr>
              <a:t>Semua dibungkus dalam fungsi: </a:t>
            </a:r>
            <a:pPr indent="0" marL="0">
              <a:buNone/>
            </a:pPr>
            <a:r>
              <a:rPr lang="en-US" sz="1300" b="1" dirty="0">
                <a:solidFill>
                  <a:srgbClr val="1F7A5C"/>
                </a:solidFill>
                <a:latin typeface="Courier New" pitchFamily="34" charset="0"/>
                <a:ea typeface="Courier New" pitchFamily="34" charset="-122"/>
                <a:cs typeface="Courier New" pitchFamily="34" charset="-120"/>
              </a:rPr>
              <a:t>function hitungSisa() { ... }</a:t>
            </a:r>
            <a:pPr indent="0" marL="0">
              <a:buNone/>
            </a:pPr>
            <a:endParaRPr lang="en-US" sz="1300" dirty="0"/>
          </a:p>
          <a:p>
            <a:pPr indent="0" marL="0">
              <a:buNone/>
            </a:pPr>
            <a:r>
              <a:rPr lang="en-US" sz="1300" dirty="0">
                <a:solidFill>
                  <a:srgbClr val="1E2A26"/>
                </a:solidFill>
                <a:latin typeface="Calibri" pitchFamily="34" charset="0"/>
                <a:ea typeface="Calibri" pitchFamily="34" charset="-122"/>
                <a:cs typeface="Calibri" pitchFamily="34" charset="-120"/>
              </a:rPr>
              <a:t>yang dipanggil oleh tombol: </a:t>
            </a:r>
            <a:endParaRPr lang="en-US" sz="1300" dirty="0"/>
          </a:p>
          <a:p>
            <a:pPr indent="0" marL="0">
              <a:buNone/>
            </a:pPr>
            <a:r>
              <a:rPr lang="en-US" sz="1300" b="1" dirty="0">
                <a:solidFill>
                  <a:srgbClr val="0078D4"/>
                </a:solidFill>
                <a:latin typeface="Courier New" pitchFamily="34" charset="0"/>
                <a:ea typeface="Courier New" pitchFamily="34" charset="-122"/>
                <a:cs typeface="Courier New" pitchFamily="34" charset="-120"/>
              </a:rPr>
              <a:t>&lt;button onclick="hitungSisa()"&gt;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Fungsi: Kumpulan Perintah Bernama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Mendefinisikan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function namaFungsi() { perintah-perintah }</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Memanggil</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onclick="namaFungsi()" atau ketik namaFungsi() di Console</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Dipakai Ulang</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Ditulis sekali, dipanggil berkali-kali.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Nama yang Jelas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Gunakan kata kerja: hitungSisa, cekTarget, tampilPesan.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Kalkulator Sisa Ayat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File baru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HTML: input, tombol, tempat hasil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Fungsi: input, proses, output</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Terapkan ke proyek kelompok</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HTML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sisa_ayat.html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Sisa Ayat Hari Ini</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&lt;p&gt;</a:t>
            </a:r>
            <a:pPr indent="0" marL="0">
              <a:buNone/>
            </a:pPr>
            <a:r>
              <a:rPr lang="en-US" sz="900" dirty="0">
                <a:solidFill>
                  <a:srgbClr val="222222"/>
                </a:solidFill>
                <a:latin typeface="Courier New" pitchFamily="34" charset="0"/>
                <a:ea typeface="Courier New" pitchFamily="34" charset="-122"/>
                <a:cs typeface="Courier New" pitchFamily="34" charset="-120"/>
              </a:rPr>
              <a:t>Target: 20 ayat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&lt;input id="ayat" type="number" placeholder="Ayat disetor"&gt;</a:t>
            </a:r>
            <a:endParaRPr lang="en-US" sz="900" dirty="0"/>
          </a:p>
        </p:txBody>
      </p:sp>
      <p:sp>
        <p:nvSpPr>
          <p:cNvPr id="32" name="Shape 28"/>
          <p:cNvSpPr/>
          <p:nvPr/>
        </p:nvSpPr>
        <p:spPr>
          <a:xfrm>
            <a:off x="913668" y="2182760"/>
            <a:ext cx="4555175" cy="173736"/>
          </a:xfrm>
          <a:prstGeom prst="rect">
            <a:avLst/>
          </a:prstGeom>
          <a:solidFill>
            <a:srgbClr val="FFF59D"/>
          </a:solidFill>
          <a:ln w="12700">
            <a:solidFill>
              <a:srgbClr val="FFF59D"/>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&lt;button onclick="hitungSisa()"&gt;</a:t>
            </a:r>
            <a:pPr indent="0" marL="0">
              <a:buNone/>
            </a:pPr>
            <a:r>
              <a:rPr lang="en-US" sz="900" dirty="0">
                <a:solidFill>
                  <a:srgbClr val="222222"/>
                </a:solidFill>
                <a:latin typeface="Courier New" pitchFamily="34" charset="0"/>
                <a:ea typeface="Courier New" pitchFamily="34" charset="-122"/>
                <a:cs typeface="Courier New" pitchFamily="34" charset="-120"/>
              </a:rPr>
              <a:t>Hitung</a:t>
            </a:r>
            <a:pPr indent="0" marL="0">
              <a:buNone/>
            </a:pPr>
            <a:r>
              <a:rPr lang="en-US" sz="900" dirty="0">
                <a:solidFill>
                  <a:srgbClr val="1A5FB4"/>
                </a:solidFill>
                <a:latin typeface="Courier New" pitchFamily="34" charset="0"/>
                <a:ea typeface="Courier New" pitchFamily="34" charset="-122"/>
                <a:cs typeface="Courier New" pitchFamily="34" charset="-120"/>
              </a:rPr>
              <a:t>&lt;/button&gt;</a:t>
            </a:r>
            <a:endParaRPr lang="en-US" sz="900" dirty="0"/>
          </a:p>
        </p:txBody>
      </p:sp>
      <p:sp>
        <p:nvSpPr>
          <p:cNvPr id="35" name="Shape 31"/>
          <p:cNvSpPr/>
          <p:nvPr/>
        </p:nvSpPr>
        <p:spPr>
          <a:xfrm>
            <a:off x="913668" y="2356496"/>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&lt;p id="hasil"&gt;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38" name="Shape 34"/>
          <p:cNvSpPr/>
          <p:nvPr/>
        </p:nvSpPr>
        <p:spPr>
          <a:xfrm>
            <a:off x="913668" y="1990736"/>
            <a:ext cx="4555175" cy="557784"/>
          </a:xfrm>
          <a:prstGeom prst="roundRect">
            <a:avLst>
              <a:gd name="adj" fmla="val 8197"/>
            </a:avLst>
          </a:prstGeom>
          <a:solidFill>
            <a:srgbClr val="FFFFFF">
              <a:alpha val="0"/>
            </a:srgbClr>
          </a:solidFill>
          <a:ln w="31750">
            <a:solidFill>
              <a:srgbClr val="E53935"/>
            </a:solidFill>
            <a:prstDash val="solid"/>
          </a:ln>
        </p:spPr>
      </p:sp>
      <p:sp>
        <p:nvSpPr>
          <p:cNvPr id="39" name="Shape 35"/>
          <p:cNvSpPr/>
          <p:nvPr/>
        </p:nvSpPr>
        <p:spPr>
          <a:xfrm>
            <a:off x="5331684" y="1853576"/>
            <a:ext cx="274320" cy="274320"/>
          </a:xfrm>
          <a:prstGeom prst="ellipse">
            <a:avLst/>
          </a:prstGeom>
          <a:solidFill>
            <a:srgbClr val="E53935"/>
          </a:solidFill>
          <a:ln w="12700">
            <a:solidFill>
              <a:srgbClr val="FFFFFF"/>
            </a:solidFill>
            <a:prstDash val="solid"/>
          </a:ln>
        </p:spPr>
      </p:sp>
      <p:sp>
        <p:nvSpPr>
          <p:cNvPr id="40" name="Text 36"/>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1" name="Image 2" descr="preencoded.png">    </p:cNvPr>
          <p:cNvPicPr>
            <a:picLocks noChangeAspect="1"/>
          </p:cNvPicPr>
          <p:nvPr/>
        </p:nvPicPr>
        <p:blipFill>
          <a:blip r:embed="rId3"/>
          <a:stretch>
            <a:fillRect/>
          </a:stretch>
        </p:blipFill>
        <p:spPr>
          <a:xfrm>
            <a:off x="3417186" y="2295688"/>
            <a:ext cx="237744" cy="237744"/>
          </a:xfrm>
          <a:prstGeom prst="rect">
            <a:avLst/>
          </a:prstGeom>
        </p:spPr>
      </p:pic>
      <p:sp>
        <p:nvSpPr>
          <p:cNvPr id="42"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3"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input, tombol, dan tempat hasil</a:t>
            </a:r>
            <a:endParaRPr lang="en-US" sz="1800" dirty="0"/>
          </a:p>
        </p:txBody>
      </p:sp>
      <p:sp>
        <p:nvSpPr>
          <p:cNvPr id="44"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&lt;input id="ayat" type="number"&gt;, &lt;button onclick="hitungSisa()"&gt;, dan &lt;p id="hasil"&gt;.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HTML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 Ayat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file:///C:/.../sisa_ayat.html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Sisa Ayat Hari Ini</a:t>
            </a:r>
            <a:endParaRPr lang="en-US" sz="1100" dirty="0"/>
          </a:p>
        </p:txBody>
      </p:sp>
      <p:sp>
        <p:nvSpPr>
          <p:cNvPr id="32" name="Shape 25"/>
          <p:cNvSpPr/>
          <p:nvPr/>
        </p:nvSpPr>
        <p:spPr>
          <a:xfrm>
            <a:off x="933946" y="2244605"/>
            <a:ext cx="2194560" cy="1325880"/>
          </a:xfrm>
          <a:prstGeom prst="roundRect">
            <a:avLst>
              <a:gd name="adj" fmla="val 5517"/>
            </a:avLst>
          </a:prstGeom>
          <a:solidFill>
            <a:srgbClr val="FFFFFF"/>
          </a:solidFill>
          <a:ln w="9525">
            <a:solidFill>
              <a:srgbClr val="DDDDDD"/>
            </a:solidFill>
            <a:prstDash val="solid"/>
          </a:ln>
        </p:spPr>
      </p:sp>
      <p:sp>
        <p:nvSpPr>
          <p:cNvPr id="33" name="Text 26"/>
          <p:cNvSpPr txBox="1"/>
          <p:nvPr/>
        </p:nvSpPr>
        <p:spPr>
          <a:xfrm>
            <a:off x="1025386" y="2290325"/>
            <a:ext cx="201168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Target: 20 ayat</a:t>
            </a:r>
            <a:endParaRPr lang="en-US" sz="750" dirty="0"/>
          </a:p>
        </p:txBody>
      </p:sp>
      <p:sp>
        <p:nvSpPr>
          <p:cNvPr id="34" name="Shape 27"/>
          <p:cNvSpPr/>
          <p:nvPr/>
        </p:nvSpPr>
        <p:spPr>
          <a:xfrm>
            <a:off x="1025386" y="2564645"/>
            <a:ext cx="2011680" cy="219456"/>
          </a:xfrm>
          <a:prstGeom prst="rect">
            <a:avLst/>
          </a:prstGeom>
          <a:solidFill>
            <a:srgbClr val="FFFFFF"/>
          </a:solidFill>
          <a:ln w="6350">
            <a:solidFill>
              <a:srgbClr val="999999"/>
            </a:solidFill>
            <a:prstDash val="solid"/>
          </a:ln>
        </p:spPr>
      </p:sp>
      <p:sp>
        <p:nvSpPr>
          <p:cNvPr id="35" name="Text 28"/>
          <p:cNvSpPr txBox="1"/>
          <p:nvPr/>
        </p:nvSpPr>
        <p:spPr>
          <a:xfrm>
            <a:off x="1061962" y="2564645"/>
            <a:ext cx="192024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15</a:t>
            </a:r>
            <a:endParaRPr lang="en-US" sz="800" dirty="0"/>
          </a:p>
        </p:txBody>
      </p:sp>
      <p:sp>
        <p:nvSpPr>
          <p:cNvPr id="36" name="Shape 29"/>
          <p:cNvSpPr/>
          <p:nvPr/>
        </p:nvSpPr>
        <p:spPr>
          <a:xfrm>
            <a:off x="1574026" y="2857253"/>
            <a:ext cx="91440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1574026" y="2857253"/>
            <a:ext cx="9144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a:t>
            </a:r>
            <a:endParaRPr lang="en-US" sz="750" dirty="0"/>
          </a:p>
        </p:txBody>
      </p:sp>
      <p:sp>
        <p:nvSpPr>
          <p:cNvPr id="38" name="Shape 31"/>
          <p:cNvSpPr/>
          <p:nvPr/>
        </p:nvSpPr>
        <p:spPr>
          <a:xfrm>
            <a:off x="3554675" y="1695965"/>
            <a:ext cx="1965741" cy="2281131"/>
          </a:xfrm>
          <a:prstGeom prst="rect">
            <a:avLst/>
          </a:prstGeom>
          <a:solidFill>
            <a:srgbClr val="FFFFFF"/>
          </a:solidFill>
          <a:ln w="6350">
            <a:solidFill>
              <a:srgbClr val="CCCCCC"/>
            </a:solidFill>
            <a:prstDash val="solid"/>
          </a:ln>
        </p:spPr>
      </p:sp>
      <p:sp>
        <p:nvSpPr>
          <p:cNvPr id="39" name="Shape 32"/>
          <p:cNvSpPr/>
          <p:nvPr/>
        </p:nvSpPr>
        <p:spPr>
          <a:xfrm>
            <a:off x="3554675" y="1695965"/>
            <a:ext cx="1965741" cy="182880"/>
          </a:xfrm>
          <a:prstGeom prst="rect">
            <a:avLst/>
          </a:prstGeom>
          <a:solidFill>
            <a:srgbClr val="F1F3F4"/>
          </a:solidFill>
          <a:ln w="12700">
            <a:solidFill>
              <a:srgbClr val="F1F3F4"/>
            </a:solidFill>
            <a:prstDash val="solid"/>
          </a:ln>
        </p:spPr>
      </p:sp>
      <p:sp>
        <p:nvSpPr>
          <p:cNvPr id="40" name="Text 33"/>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1" name="Shape 34"/>
          <p:cNvSpPr/>
          <p:nvPr/>
        </p:nvSpPr>
        <p:spPr>
          <a:xfrm>
            <a:off x="4121603" y="1851413"/>
            <a:ext cx="365760" cy="22860"/>
          </a:xfrm>
          <a:prstGeom prst="rect">
            <a:avLst/>
          </a:prstGeom>
          <a:solidFill>
            <a:srgbClr val="1A73E8"/>
          </a:solidFill>
          <a:ln w="12700">
            <a:solidFill>
              <a:srgbClr val="1A73E8"/>
            </a:solidFill>
            <a:prstDash val="solid"/>
          </a:ln>
        </p:spPr>
      </p:sp>
      <p:sp>
        <p:nvSpPr>
          <p:cNvPr id="42" name="Shape 35"/>
          <p:cNvSpPr/>
          <p:nvPr/>
        </p:nvSpPr>
        <p:spPr>
          <a:xfrm>
            <a:off x="3554675" y="1924565"/>
            <a:ext cx="1965741" cy="201168"/>
          </a:xfrm>
          <a:prstGeom prst="rect">
            <a:avLst/>
          </a:prstGeom>
          <a:solidFill>
            <a:srgbClr val="FCE8E6"/>
          </a:solidFill>
          <a:ln w="12700">
            <a:solidFill>
              <a:srgbClr val="FCE8E6"/>
            </a:solidFill>
            <a:prstDash val="solid"/>
          </a:ln>
        </p:spPr>
      </p:sp>
      <p:sp>
        <p:nvSpPr>
          <p:cNvPr id="43" name="Text 36"/>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Uncaught ReferenceError:</a:t>
            </a:r>
            <a:endParaRPr lang="en-US" sz="600" dirty="0"/>
          </a:p>
        </p:txBody>
      </p:sp>
      <p:sp>
        <p:nvSpPr>
          <p:cNvPr id="44" name="Shape 37"/>
          <p:cNvSpPr/>
          <p:nvPr/>
        </p:nvSpPr>
        <p:spPr>
          <a:xfrm>
            <a:off x="3554675" y="2144021"/>
            <a:ext cx="1965741" cy="201168"/>
          </a:xfrm>
          <a:prstGeom prst="rect">
            <a:avLst/>
          </a:prstGeom>
          <a:solidFill>
            <a:srgbClr val="FCE8E6"/>
          </a:solidFill>
          <a:ln w="12700">
            <a:solidFill>
              <a:srgbClr val="FCE8E6"/>
            </a:solidFill>
            <a:prstDash val="solid"/>
          </a:ln>
        </p:spPr>
      </p:sp>
      <p:sp>
        <p:nvSpPr>
          <p:cNvPr id="45" name="Text 38"/>
          <p:cNvSpPr txBox="1"/>
          <p:nvPr/>
        </p:nvSpPr>
        <p:spPr>
          <a:xfrm>
            <a:off x="3600395" y="2144021"/>
            <a:ext cx="1892589" cy="201168"/>
          </a:xfrm>
          <a:prstGeom prst="rect">
            <a:avLst/>
          </a:prstGeom>
          <a:noFill/>
          <a:ln/>
        </p:spPr>
        <p:txBody>
          <a:bodyPr wrap="square" lIns="0" tIns="0" rIns="0" bIns="0" rtlCol="0" anchor="ctr"/>
          <a:lstStyle/>
          <a:p>
            <a:pPr indent="0" marL="0">
              <a:buNone/>
            </a:pPr>
            <a:r>
              <a:rPr lang="en-US" sz="600" dirty="0">
                <a:solidFill>
                  <a:srgbClr val="C5221F"/>
                </a:solidFill>
                <a:latin typeface="Courier New" pitchFamily="34" charset="0"/>
                <a:ea typeface="Courier New" pitchFamily="34" charset="-122"/>
                <a:cs typeface="Courier New" pitchFamily="34" charset="-120"/>
              </a:rPr>
              <a:t>✖ hitungSisa is not defined</a:t>
            </a:r>
            <a:endParaRPr lang="en-US" sz="600" dirty="0"/>
          </a:p>
        </p:txBody>
      </p:sp>
      <p:sp>
        <p:nvSpPr>
          <p:cNvPr id="46" name="Shape 39"/>
          <p:cNvSpPr/>
          <p:nvPr/>
        </p:nvSpPr>
        <p:spPr>
          <a:xfrm>
            <a:off x="3536387" y="1906277"/>
            <a:ext cx="2002317" cy="457200"/>
          </a:xfrm>
          <a:prstGeom prst="roundRect">
            <a:avLst>
              <a:gd name="adj" fmla="val 10000"/>
            </a:avLst>
          </a:prstGeom>
          <a:solidFill>
            <a:srgbClr val="FFFFFF">
              <a:alpha val="0"/>
            </a:srgbClr>
          </a:solidFill>
          <a:ln w="31750">
            <a:solidFill>
              <a:srgbClr val="E53935"/>
            </a:solidFill>
            <a:prstDash val="solid"/>
          </a:ln>
        </p:spPr>
      </p:sp>
      <p:sp>
        <p:nvSpPr>
          <p:cNvPr id="47" name="Shape 40"/>
          <p:cNvSpPr/>
          <p:nvPr/>
        </p:nvSpPr>
        <p:spPr>
          <a:xfrm>
            <a:off x="5401544" y="1769117"/>
            <a:ext cx="274320" cy="274320"/>
          </a:xfrm>
          <a:prstGeom prst="ellipse">
            <a:avLst/>
          </a:prstGeom>
          <a:solidFill>
            <a:srgbClr val="E53935"/>
          </a:solidFill>
          <a:ln w="12700">
            <a:solidFill>
              <a:srgbClr val="FFFFFF"/>
            </a:solidFill>
            <a:prstDash val="solid"/>
          </a:ln>
        </p:spPr>
      </p:sp>
      <p:sp>
        <p:nvSpPr>
          <p:cNvPr id="48" name="Text 41"/>
          <p:cNvSpPr txBox="1"/>
          <p:nvPr/>
        </p:nvSpPr>
        <p:spPr>
          <a:xfrm>
            <a:off x="5401544" y="1769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9" name="Image 5" descr="preencoded.png">    </p:cNvPr>
          <p:cNvPicPr>
            <a:picLocks noChangeAspect="1"/>
          </p:cNvPicPr>
          <p:nvPr/>
        </p:nvPicPr>
        <p:blipFill>
          <a:blip r:embed="rId6"/>
          <a:stretch>
            <a:fillRect/>
          </a:stretch>
        </p:blipFill>
        <p:spPr>
          <a:xfrm>
            <a:off x="4635832" y="2155908"/>
            <a:ext cx="237744" cy="237744"/>
          </a:xfrm>
          <a:prstGeom prst="rect">
            <a:avLst/>
          </a:prstGeom>
        </p:spPr>
      </p:pic>
      <p:sp>
        <p:nvSpPr>
          <p:cNvPr id="50"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1"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Simpan dan buka: tombol belum bekerja</a:t>
            </a:r>
            <a:endParaRPr lang="en-US" sz="1800" dirty="0"/>
          </a:p>
        </p:txBody>
      </p:sp>
      <p:sp>
        <p:nvSpPr>
          <p:cNvPr id="52"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buka di browser. Klik Hitung: Console menunjukkan hitungSisa is not defined. Wajar, fungsinya belum ditulis.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Fungsi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sisa_ayat.html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function hitungSisa() {</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INPUT: ambil isian, ubah ke angka</a:t>
            </a:r>
            <a:endParaRPr lang="en-US" sz="900" dirty="0"/>
          </a:p>
        </p:txBody>
      </p:sp>
      <p:sp>
        <p:nvSpPr>
          <p:cNvPr id="32" name="Shape 28"/>
          <p:cNvSpPr/>
          <p:nvPr/>
        </p:nvSpPr>
        <p:spPr>
          <a:xfrm>
            <a:off x="913668" y="2182760"/>
            <a:ext cx="4555175" cy="173736"/>
          </a:xfrm>
          <a:prstGeom prst="rect">
            <a:avLst/>
          </a:prstGeom>
          <a:solidFill>
            <a:srgbClr val="FFF59D"/>
          </a:solidFill>
          <a:ln w="12700">
            <a:solidFill>
              <a:srgbClr val="FFF59D"/>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ayat = Number(</a:t>
            </a:r>
            <a:endParaRPr lang="en-US" sz="900" dirty="0"/>
          </a:p>
        </p:txBody>
      </p:sp>
      <p:sp>
        <p:nvSpPr>
          <p:cNvPr id="35" name="Shape 31"/>
          <p:cNvSpPr/>
          <p:nvPr/>
        </p:nvSpPr>
        <p:spPr>
          <a:xfrm>
            <a:off x="913668" y="2356496"/>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document.getElementById("ayat").value);</a:t>
            </a:r>
            <a:endParaRPr lang="en-US" sz="900" dirty="0"/>
          </a:p>
        </p:txBody>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42" name="Shape 38"/>
          <p:cNvSpPr/>
          <p:nvPr/>
        </p:nvSpPr>
        <p:spPr>
          <a:xfrm>
            <a:off x="913668" y="1990736"/>
            <a:ext cx="4555175" cy="557784"/>
          </a:xfrm>
          <a:prstGeom prst="roundRect">
            <a:avLst>
              <a:gd name="adj" fmla="val 8197"/>
            </a:avLst>
          </a:prstGeom>
          <a:solidFill>
            <a:srgbClr val="FFFFFF">
              <a:alpha val="0"/>
            </a:srgbClr>
          </a:solidFill>
          <a:ln w="31750">
            <a:solidFill>
              <a:srgbClr val="E53935"/>
            </a:solidFill>
            <a:prstDash val="solid"/>
          </a:ln>
        </p:spPr>
      </p:sp>
      <p:sp>
        <p:nvSpPr>
          <p:cNvPr id="43" name="Shape 39"/>
          <p:cNvSpPr/>
          <p:nvPr/>
        </p:nvSpPr>
        <p:spPr>
          <a:xfrm>
            <a:off x="5331684" y="1853576"/>
            <a:ext cx="274320" cy="274320"/>
          </a:xfrm>
          <a:prstGeom prst="ellipse">
            <a:avLst/>
          </a:prstGeom>
          <a:solidFill>
            <a:srgbClr val="E53935"/>
          </a:solidFill>
          <a:ln w="12700">
            <a:solidFill>
              <a:srgbClr val="FFFFFF"/>
            </a:solidFill>
            <a:prstDash val="solid"/>
          </a:ln>
        </p:spPr>
      </p:sp>
      <p:sp>
        <p:nvSpPr>
          <p:cNvPr id="44" name="Text 40"/>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5" name="Image 2" descr="preencoded.png">    </p:cNvPr>
          <p:cNvPicPr>
            <a:picLocks noChangeAspect="1"/>
          </p:cNvPicPr>
          <p:nvPr/>
        </p:nvPicPr>
        <p:blipFill>
          <a:blip r:embed="rId3"/>
          <a:stretch>
            <a:fillRect/>
          </a:stretch>
        </p:blipFill>
        <p:spPr>
          <a:xfrm>
            <a:off x="3417186" y="2295688"/>
            <a:ext cx="237744" cy="237744"/>
          </a:xfrm>
          <a:prstGeom prst="rect">
            <a:avLst/>
          </a:prstGeom>
        </p:spPr>
      </p:pic>
      <p:sp>
        <p:nvSpPr>
          <p:cNvPr id="46"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7"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fungsi: INPUT</a:t>
            </a:r>
            <a:endParaRPr lang="en-US" sz="1800" dirty="0"/>
          </a:p>
        </p:txBody>
      </p:sp>
      <p:sp>
        <p:nvSpPr>
          <p:cNvPr id="48"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&lt;script&gt;, tulis function hitungSisa() { let ayat = Number(document.getElementById("ayat").value); }</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Fungsi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sisa_ayat.html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function hitungSisa() {</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INPUT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ayat = Number(document.getElementById("ayat").value);</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PROSES</a:t>
            </a:r>
            <a:endParaRPr lang="en-US" sz="900" dirty="0"/>
          </a:p>
        </p:txBody>
      </p:sp>
      <p:sp>
        <p:nvSpPr>
          <p:cNvPr id="34" name="Shape 30"/>
          <p:cNvSpPr/>
          <p:nvPr/>
        </p:nvSpPr>
        <p:spPr>
          <a:xfrm>
            <a:off x="913668" y="2356496"/>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6" name="Text 32"/>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sisa = 20 - ayat;</a:t>
            </a:r>
            <a:endParaRPr lang="en-US" sz="900" dirty="0"/>
          </a:p>
        </p:txBody>
      </p:sp>
      <p:sp>
        <p:nvSpPr>
          <p:cNvPr id="37" name="Shape 33"/>
          <p:cNvSpPr/>
          <p:nvPr/>
        </p:nvSpPr>
        <p:spPr>
          <a:xfrm>
            <a:off x="913668" y="2530232"/>
            <a:ext cx="4555175" cy="173736"/>
          </a:xfrm>
          <a:prstGeom prst="rect">
            <a:avLst/>
          </a:prstGeom>
          <a:solidFill>
            <a:srgbClr val="FFF59D"/>
          </a:solidFill>
          <a:ln w="12700">
            <a:solidFill>
              <a:srgbClr val="FFF59D"/>
            </a:solidFill>
            <a:prstDash val="solid"/>
          </a:ln>
        </p:spPr>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OUTPUT</a:t>
            </a:r>
            <a:endParaRPr lang="en-US" sz="900" dirty="0"/>
          </a:p>
        </p:txBody>
      </p:sp>
      <p:sp>
        <p:nvSpPr>
          <p:cNvPr id="40" name="Shape 36"/>
          <p:cNvSpPr/>
          <p:nvPr/>
        </p:nvSpPr>
        <p:spPr>
          <a:xfrm>
            <a:off x="913668" y="2703968"/>
            <a:ext cx="4555175" cy="173736"/>
          </a:xfrm>
          <a:prstGeom prst="rect">
            <a:avLst/>
          </a:prstGeom>
          <a:solidFill>
            <a:srgbClr val="FFF59D"/>
          </a:solidFill>
          <a:ln w="12700">
            <a:solidFill>
              <a:srgbClr val="FFF59D"/>
            </a:solidFill>
            <a:prstDash val="solid"/>
          </a:ln>
        </p:spPr>
      </p:sp>
      <p:sp>
        <p:nvSpPr>
          <p:cNvPr id="41" name="Text 37"/>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2" name="Text 38"/>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document.getElementById("hasil").textContent =</a:t>
            </a:r>
            <a:endParaRPr lang="en-US" sz="900" dirty="0"/>
          </a:p>
        </p:txBody>
      </p:sp>
      <p:sp>
        <p:nvSpPr>
          <p:cNvPr id="43" name="Shape 39"/>
          <p:cNvSpPr/>
          <p:nvPr/>
        </p:nvSpPr>
        <p:spPr>
          <a:xfrm>
            <a:off x="913668" y="2877704"/>
            <a:ext cx="4555175" cy="173736"/>
          </a:xfrm>
          <a:prstGeom prst="rect">
            <a:avLst/>
          </a:prstGeom>
          <a:solidFill>
            <a:srgbClr val="FFF59D"/>
          </a:solidFill>
          <a:ln w="12700">
            <a:solidFill>
              <a:srgbClr val="FFF59D"/>
            </a:solidFill>
            <a:prstDash val="solid"/>
          </a:ln>
        </p:spPr>
      </p:sp>
      <p:sp>
        <p:nvSpPr>
          <p:cNvPr id="44" name="Text 40"/>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5" name="Text 41"/>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"Sisa: " + sisa + " ayat";</a:t>
            </a:r>
            <a:endParaRPr lang="en-US" sz="900" dirty="0"/>
          </a:p>
        </p:txBody>
      </p:sp>
      <p:sp>
        <p:nvSpPr>
          <p:cNvPr id="46" name="Text 42"/>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7" name="Text 43"/>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8" name="Shape 44"/>
          <p:cNvSpPr/>
          <p:nvPr/>
        </p:nvSpPr>
        <p:spPr>
          <a:xfrm>
            <a:off x="913668" y="2164472"/>
            <a:ext cx="4555175" cy="905256"/>
          </a:xfrm>
          <a:prstGeom prst="roundRect">
            <a:avLst>
              <a:gd name="adj" fmla="val 5051"/>
            </a:avLst>
          </a:prstGeom>
          <a:solidFill>
            <a:srgbClr val="FFFFFF">
              <a:alpha val="0"/>
            </a:srgbClr>
          </a:solidFill>
          <a:ln w="31750">
            <a:solidFill>
              <a:srgbClr val="E53935"/>
            </a:solidFill>
            <a:prstDash val="solid"/>
          </a:ln>
        </p:spPr>
      </p:sp>
      <p:sp>
        <p:nvSpPr>
          <p:cNvPr id="49" name="Shape 45"/>
          <p:cNvSpPr/>
          <p:nvPr/>
        </p:nvSpPr>
        <p:spPr>
          <a:xfrm>
            <a:off x="5331684" y="2027312"/>
            <a:ext cx="274320" cy="274320"/>
          </a:xfrm>
          <a:prstGeom prst="ellipse">
            <a:avLst/>
          </a:prstGeom>
          <a:solidFill>
            <a:srgbClr val="E53935"/>
          </a:solidFill>
          <a:ln w="12700">
            <a:solidFill>
              <a:srgbClr val="FFFFFF"/>
            </a:solidFill>
            <a:prstDash val="solid"/>
          </a:ln>
        </p:spPr>
      </p:sp>
      <p:sp>
        <p:nvSpPr>
          <p:cNvPr id="50" name="Text 46"/>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1" name="Image 2" descr="preencoded.png">    </p:cNvPr>
          <p:cNvPicPr>
            <a:picLocks noChangeAspect="1"/>
          </p:cNvPicPr>
          <p:nvPr/>
        </p:nvPicPr>
        <p:blipFill>
          <a:blip r:embed="rId3"/>
          <a:stretch>
            <a:fillRect/>
          </a:stretch>
        </p:blipFill>
        <p:spPr>
          <a:xfrm>
            <a:off x="3417186" y="2660534"/>
            <a:ext cx="237744" cy="237744"/>
          </a:xfrm>
          <a:prstGeom prst="rect">
            <a:avLst/>
          </a:prstGeom>
        </p:spPr>
      </p:pic>
      <p:sp>
        <p:nvSpPr>
          <p:cNvPr id="52"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3"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PROSES dan OUTPUT</a:t>
            </a:r>
            <a:endParaRPr lang="en-US" sz="1800" dirty="0"/>
          </a:p>
        </p:txBody>
      </p:sp>
      <p:sp>
        <p:nvSpPr>
          <p:cNvPr id="54"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let sisa = 20 - ayat;  lalu  document.getElementById("hasil").textContent = "Sisa: " + sisa + " ayat";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Fungsi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 Ayat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file:///C:/.../sisa_ayat.html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2850324"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2850324"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285032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Sisa Ayat Hari Ini</a:t>
            </a:r>
            <a:endParaRPr lang="en-US" sz="1100" dirty="0"/>
          </a:p>
        </p:txBody>
      </p:sp>
      <p:sp>
        <p:nvSpPr>
          <p:cNvPr id="32" name="Shape 25"/>
          <p:cNvSpPr/>
          <p:nvPr/>
        </p:nvSpPr>
        <p:spPr>
          <a:xfrm>
            <a:off x="933946" y="2244605"/>
            <a:ext cx="2194560" cy="1325880"/>
          </a:xfrm>
          <a:prstGeom prst="roundRect">
            <a:avLst>
              <a:gd name="adj" fmla="val 5517"/>
            </a:avLst>
          </a:prstGeom>
          <a:solidFill>
            <a:srgbClr val="FFFFFF"/>
          </a:solidFill>
          <a:ln w="9525">
            <a:solidFill>
              <a:srgbClr val="DDDDDD"/>
            </a:solidFill>
            <a:prstDash val="solid"/>
          </a:ln>
        </p:spPr>
      </p:sp>
      <p:sp>
        <p:nvSpPr>
          <p:cNvPr id="33" name="Text 26"/>
          <p:cNvSpPr txBox="1"/>
          <p:nvPr/>
        </p:nvSpPr>
        <p:spPr>
          <a:xfrm>
            <a:off x="1025386" y="2290325"/>
            <a:ext cx="201168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Target: 20 ayat</a:t>
            </a:r>
            <a:endParaRPr lang="en-US" sz="750" dirty="0"/>
          </a:p>
        </p:txBody>
      </p:sp>
      <p:sp>
        <p:nvSpPr>
          <p:cNvPr id="34" name="Shape 27"/>
          <p:cNvSpPr/>
          <p:nvPr/>
        </p:nvSpPr>
        <p:spPr>
          <a:xfrm>
            <a:off x="1025386" y="2564645"/>
            <a:ext cx="2011680" cy="219456"/>
          </a:xfrm>
          <a:prstGeom prst="rect">
            <a:avLst/>
          </a:prstGeom>
          <a:solidFill>
            <a:srgbClr val="FFFFFF"/>
          </a:solidFill>
          <a:ln w="6350">
            <a:solidFill>
              <a:srgbClr val="999999"/>
            </a:solidFill>
            <a:prstDash val="solid"/>
          </a:ln>
        </p:spPr>
      </p:sp>
      <p:sp>
        <p:nvSpPr>
          <p:cNvPr id="35" name="Text 28"/>
          <p:cNvSpPr txBox="1"/>
          <p:nvPr/>
        </p:nvSpPr>
        <p:spPr>
          <a:xfrm>
            <a:off x="1061962" y="2564645"/>
            <a:ext cx="192024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25</a:t>
            </a:r>
            <a:endParaRPr lang="en-US" sz="800" dirty="0"/>
          </a:p>
        </p:txBody>
      </p:sp>
      <p:sp>
        <p:nvSpPr>
          <p:cNvPr id="36" name="Shape 29"/>
          <p:cNvSpPr/>
          <p:nvPr/>
        </p:nvSpPr>
        <p:spPr>
          <a:xfrm>
            <a:off x="1574026" y="2857253"/>
            <a:ext cx="91440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1574026" y="2857253"/>
            <a:ext cx="9144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a:t>
            </a:r>
            <a:endParaRPr lang="en-US" sz="750" dirty="0"/>
          </a:p>
        </p:txBody>
      </p:sp>
      <p:sp>
        <p:nvSpPr>
          <p:cNvPr id="38" name="Text 31"/>
          <p:cNvSpPr txBox="1"/>
          <p:nvPr/>
        </p:nvSpPr>
        <p:spPr>
          <a:xfrm>
            <a:off x="1025386" y="3140717"/>
            <a:ext cx="2011680" cy="365760"/>
          </a:xfrm>
          <a:prstGeom prst="rect">
            <a:avLst/>
          </a:prstGeom>
          <a:noFill/>
          <a:ln/>
        </p:spPr>
        <p:txBody>
          <a:bodyPr wrap="square" lIns="0" tIns="0" rIns="0" bIns="0" rtlCol="0" anchor="ctr"/>
          <a:lstStyle/>
          <a:p>
            <a:pPr algn="ctr" indent="0" marL="0">
              <a:buNone/>
            </a:pPr>
            <a:r>
              <a:rPr lang="en-US" sz="800" b="1" dirty="0">
                <a:solidFill>
                  <a:srgbClr val="C62828"/>
                </a:solidFill>
                <a:latin typeface="Arial" pitchFamily="34" charset="0"/>
                <a:ea typeface="Arial" pitchFamily="34" charset="-122"/>
                <a:cs typeface="Arial" pitchFamily="34" charset="-120"/>
              </a:rPr>
              <a:t>Sisa: -5 ayat</a:t>
            </a:r>
            <a:endParaRPr lang="en-US" sz="800" dirty="0"/>
          </a:p>
        </p:txBody>
      </p:sp>
      <p:sp>
        <p:nvSpPr>
          <p:cNvPr id="39" name="Shape 32"/>
          <p:cNvSpPr/>
          <p:nvPr/>
        </p:nvSpPr>
        <p:spPr>
          <a:xfrm>
            <a:off x="3554675" y="1695965"/>
            <a:ext cx="1965741" cy="2281131"/>
          </a:xfrm>
          <a:prstGeom prst="rect">
            <a:avLst/>
          </a:prstGeom>
          <a:solidFill>
            <a:srgbClr val="FFFFFF"/>
          </a:solidFill>
          <a:ln w="6350">
            <a:solidFill>
              <a:srgbClr val="CCCCCC"/>
            </a:solidFill>
            <a:prstDash val="solid"/>
          </a:ln>
        </p:spPr>
      </p:sp>
      <p:sp>
        <p:nvSpPr>
          <p:cNvPr id="40" name="Shape 33"/>
          <p:cNvSpPr/>
          <p:nvPr/>
        </p:nvSpPr>
        <p:spPr>
          <a:xfrm>
            <a:off x="3554675" y="1695965"/>
            <a:ext cx="1965741" cy="182880"/>
          </a:xfrm>
          <a:prstGeom prst="rect">
            <a:avLst/>
          </a:prstGeom>
          <a:solidFill>
            <a:srgbClr val="F1F3F4"/>
          </a:solidFill>
          <a:ln w="12700">
            <a:solidFill>
              <a:srgbClr val="F1F3F4"/>
            </a:solidFill>
            <a:prstDash val="solid"/>
          </a:ln>
        </p:spPr>
      </p:sp>
      <p:sp>
        <p:nvSpPr>
          <p:cNvPr id="41" name="Text 34"/>
          <p:cNvSpPr txBox="1"/>
          <p:nvPr/>
        </p:nvSpPr>
        <p:spPr>
          <a:xfrm>
            <a:off x="3600395" y="1695965"/>
            <a:ext cx="1965741" cy="182880"/>
          </a:xfrm>
          <a:prstGeom prst="rect">
            <a:avLst/>
          </a:prstGeom>
          <a:noFill/>
          <a:ln/>
        </p:spPr>
        <p:txBody>
          <a:bodyPr wrap="square" lIns="0" tIns="0" rIns="0" bIns="0" rtlCol="0" anchor="ctr"/>
          <a:lstStyle/>
          <a:p>
            <a:pPr indent="0" marL="0">
              <a:buNone/>
            </a:pPr>
            <a:r>
              <a:rPr lang="en-US" sz="600" dirty="0">
                <a:solidFill>
                  <a:srgbClr val="333333"/>
                </a:solidFill>
                <a:latin typeface="Calibri" pitchFamily="34" charset="0"/>
                <a:ea typeface="Calibri" pitchFamily="34" charset="-122"/>
                <a:cs typeface="Calibri" pitchFamily="34" charset="-120"/>
              </a:rPr>
              <a:t>Elements   Console   Sources</a:t>
            </a:r>
            <a:endParaRPr lang="en-US" sz="600" dirty="0"/>
          </a:p>
        </p:txBody>
      </p:sp>
      <p:sp>
        <p:nvSpPr>
          <p:cNvPr id="42" name="Shape 35"/>
          <p:cNvSpPr/>
          <p:nvPr/>
        </p:nvSpPr>
        <p:spPr>
          <a:xfrm>
            <a:off x="4121603" y="1851413"/>
            <a:ext cx="365760" cy="22860"/>
          </a:xfrm>
          <a:prstGeom prst="rect">
            <a:avLst/>
          </a:prstGeom>
          <a:solidFill>
            <a:srgbClr val="1A73E8"/>
          </a:solidFill>
          <a:ln w="12700">
            <a:solidFill>
              <a:srgbClr val="1A73E8"/>
            </a:solidFill>
            <a:prstDash val="solid"/>
          </a:ln>
        </p:spPr>
      </p:sp>
      <p:sp>
        <p:nvSpPr>
          <p:cNvPr id="43" name="Text 36"/>
          <p:cNvSpPr txBox="1"/>
          <p:nvPr/>
        </p:nvSpPr>
        <p:spPr>
          <a:xfrm>
            <a:off x="3600395" y="1924565"/>
            <a:ext cx="1892589" cy="201168"/>
          </a:xfrm>
          <a:prstGeom prst="rect">
            <a:avLst/>
          </a:prstGeom>
          <a:noFill/>
          <a:ln/>
        </p:spPr>
        <p:txBody>
          <a:bodyPr wrap="square" lIns="0" tIns="0" rIns="0" bIns="0" rtlCol="0" anchor="ctr"/>
          <a:lstStyle/>
          <a:p>
            <a:pPr indent="0" marL="0">
              <a:buNone/>
            </a:pPr>
            <a:r>
              <a:rPr lang="en-US" sz="600" dirty="0">
                <a:solidFill>
                  <a:srgbClr val="333333"/>
                </a:solidFill>
                <a:latin typeface="Courier New" pitchFamily="34" charset="0"/>
                <a:ea typeface="Courier New" pitchFamily="34" charset="-122"/>
                <a:cs typeface="Courier New" pitchFamily="34" charset="-120"/>
              </a:rPr>
              <a:t>&gt; (tidak ada error)</a:t>
            </a:r>
            <a:endParaRPr lang="en-US" sz="600" dirty="0"/>
          </a:p>
        </p:txBody>
      </p:sp>
      <p:sp>
        <p:nvSpPr>
          <p:cNvPr id="44" name="Shape 37"/>
          <p:cNvSpPr/>
          <p:nvPr/>
        </p:nvSpPr>
        <p:spPr>
          <a:xfrm>
            <a:off x="1007098" y="3122429"/>
            <a:ext cx="2048256" cy="402336"/>
          </a:xfrm>
          <a:prstGeom prst="roundRect">
            <a:avLst>
              <a:gd name="adj" fmla="val 11364"/>
            </a:avLst>
          </a:prstGeom>
          <a:solidFill>
            <a:srgbClr val="FFFFFF">
              <a:alpha val="0"/>
            </a:srgbClr>
          </a:solidFill>
          <a:ln w="31750">
            <a:solidFill>
              <a:srgbClr val="E53935"/>
            </a:solidFill>
            <a:prstDash val="solid"/>
          </a:ln>
        </p:spPr>
      </p:sp>
      <p:sp>
        <p:nvSpPr>
          <p:cNvPr id="45" name="Shape 38"/>
          <p:cNvSpPr/>
          <p:nvPr/>
        </p:nvSpPr>
        <p:spPr>
          <a:xfrm>
            <a:off x="2918194" y="2985269"/>
            <a:ext cx="274320" cy="274320"/>
          </a:xfrm>
          <a:prstGeom prst="ellipse">
            <a:avLst/>
          </a:prstGeom>
          <a:solidFill>
            <a:srgbClr val="E53935"/>
          </a:solidFill>
          <a:ln w="12700">
            <a:solidFill>
              <a:srgbClr val="FFFFFF"/>
            </a:solidFill>
            <a:prstDash val="solid"/>
          </a:ln>
        </p:spPr>
      </p:sp>
      <p:sp>
        <p:nvSpPr>
          <p:cNvPr id="46" name="Text 39"/>
          <p:cNvSpPr txBox="1"/>
          <p:nvPr/>
        </p:nvSpPr>
        <p:spPr>
          <a:xfrm>
            <a:off x="2918194" y="2985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7" name="Image 5" descr="preencoded.png">    </p:cNvPr>
          <p:cNvPicPr>
            <a:picLocks noChangeAspect="1"/>
          </p:cNvPicPr>
          <p:nvPr/>
        </p:nvPicPr>
        <p:blipFill>
          <a:blip r:embed="rId6"/>
          <a:stretch>
            <a:fillRect/>
          </a:stretch>
        </p:blipFill>
        <p:spPr>
          <a:xfrm>
            <a:off x="2131810" y="3341885"/>
            <a:ext cx="237744" cy="237744"/>
          </a:xfrm>
          <a:prstGeom prst="rect">
            <a:avLst/>
          </a:prstGeom>
        </p:spPr>
      </p:pic>
      <p:sp>
        <p:nvSpPr>
          <p:cNvPr id="48"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9"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dengan beberapa angka</a:t>
            </a:r>
            <a:endParaRPr lang="en-US" sz="1800" dirty="0"/>
          </a:p>
        </p:txBody>
      </p:sp>
      <p:sp>
        <p:nvSpPr>
          <p:cNvPr id="50"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15 → Sisa: 5 ayat. Isi 20 → Sisa: 0 ayat. Isi 25 → Sisa: -5 ayat (aneh!). Catat untuk pekan depan.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 Ini</a:t>
            </a:r>
            <a:endParaRPr lang="en-US" sz="1100" dirty="0"/>
          </a:p>
        </p:txBody>
      </p:sp>
      <p:sp>
        <p:nvSpPr>
          <p:cNvPr id="32" name="Shape 25"/>
          <p:cNvSpPr/>
          <p:nvPr/>
        </p:nvSpPr>
        <p:spPr>
          <a:xfrm>
            <a:off x="1965960" y="2244605"/>
            <a:ext cx="2194560" cy="1325880"/>
          </a:xfrm>
          <a:prstGeom prst="roundRect">
            <a:avLst>
              <a:gd name="adj" fmla="val 5517"/>
            </a:avLst>
          </a:prstGeom>
          <a:solidFill>
            <a:srgbClr val="FFFFFF"/>
          </a:solidFill>
          <a:ln w="9525">
            <a:solidFill>
              <a:srgbClr val="DDDDDD"/>
            </a:solidFill>
            <a:prstDash val="solid"/>
          </a:ln>
        </p:spPr>
      </p:sp>
      <p:sp>
        <p:nvSpPr>
          <p:cNvPr id="33" name="Text 26"/>
          <p:cNvSpPr txBox="1"/>
          <p:nvPr/>
        </p:nvSpPr>
        <p:spPr>
          <a:xfrm>
            <a:off x="2057400" y="2290325"/>
            <a:ext cx="201168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Ayat yang sudah disetor (latihan):</a:t>
            </a:r>
            <a:endParaRPr lang="en-US" sz="750" dirty="0"/>
          </a:p>
        </p:txBody>
      </p:sp>
      <p:sp>
        <p:nvSpPr>
          <p:cNvPr id="34" name="Shape 27"/>
          <p:cNvSpPr/>
          <p:nvPr/>
        </p:nvSpPr>
        <p:spPr>
          <a:xfrm>
            <a:off x="2057400" y="2564645"/>
            <a:ext cx="2011680" cy="219456"/>
          </a:xfrm>
          <a:prstGeom prst="rect">
            <a:avLst/>
          </a:prstGeom>
          <a:solidFill>
            <a:srgbClr val="FFFFFF"/>
          </a:solidFill>
          <a:ln w="6350">
            <a:solidFill>
              <a:srgbClr val="999999"/>
            </a:solidFill>
            <a:prstDash val="solid"/>
          </a:ln>
        </p:spPr>
      </p:sp>
      <p:sp>
        <p:nvSpPr>
          <p:cNvPr id="35" name="Text 28"/>
          <p:cNvSpPr txBox="1"/>
          <p:nvPr/>
        </p:nvSpPr>
        <p:spPr>
          <a:xfrm>
            <a:off x="2093976" y="2564645"/>
            <a:ext cx="192024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12</a:t>
            </a:r>
            <a:endParaRPr lang="en-US" sz="800" dirty="0"/>
          </a:p>
        </p:txBody>
      </p:sp>
      <p:sp>
        <p:nvSpPr>
          <p:cNvPr id="36" name="Shape 29"/>
          <p:cNvSpPr/>
          <p:nvPr/>
        </p:nvSpPr>
        <p:spPr>
          <a:xfrm>
            <a:off x="2606040" y="2857253"/>
            <a:ext cx="91440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606040" y="2857253"/>
            <a:ext cx="9144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 Sisa</a:t>
            </a:r>
            <a:endParaRPr lang="en-US" sz="750" dirty="0"/>
          </a:p>
        </p:txBody>
      </p:sp>
      <p:sp>
        <p:nvSpPr>
          <p:cNvPr id="38" name="Text 31"/>
          <p:cNvSpPr txBox="1"/>
          <p:nvPr/>
        </p:nvSpPr>
        <p:spPr>
          <a:xfrm>
            <a:off x="2057400" y="3140717"/>
            <a:ext cx="2011680" cy="365760"/>
          </a:xfrm>
          <a:prstGeom prst="rect">
            <a:avLst/>
          </a:prstGeom>
          <a:noFill/>
          <a:ln/>
        </p:spPr>
        <p:txBody>
          <a:bodyPr wrap="square" lIns="0" tIns="0" rIns="0" bIns="0" rtlCol="0" anchor="ctr"/>
          <a:lstStyle/>
          <a:p>
            <a:pPr algn="ctr" indent="0" marL="0">
              <a:buNone/>
            </a:pPr>
            <a:r>
              <a:rPr lang="en-US" sz="800" b="1" dirty="0">
                <a:solidFill>
                  <a:srgbClr val="1F7A5C"/>
                </a:solidFill>
                <a:latin typeface="Arial" pitchFamily="34" charset="0"/>
                <a:ea typeface="Arial" pitchFamily="34" charset="-122"/>
                <a:cs typeface="Arial" pitchFamily="34" charset="-120"/>
              </a:rPr>
              <a:t>Sisa target hari ini: 8 ayat</a:t>
            </a:r>
            <a:endParaRPr lang="en-US" sz="800" dirty="0"/>
          </a:p>
        </p:txBody>
      </p:sp>
      <p:sp>
        <p:nvSpPr>
          <p:cNvPr id="39" name="Shape 32"/>
          <p:cNvSpPr/>
          <p:nvPr/>
        </p:nvSpPr>
        <p:spPr>
          <a:xfrm>
            <a:off x="633496" y="1695965"/>
            <a:ext cx="4859487" cy="1956816"/>
          </a:xfrm>
          <a:prstGeom prst="roundRect">
            <a:avLst>
              <a:gd name="adj" fmla="val 2336"/>
            </a:avLst>
          </a:prstGeom>
          <a:solidFill>
            <a:srgbClr val="FFFFFF">
              <a:alpha val="0"/>
            </a:srgbClr>
          </a:solidFill>
          <a:ln w="31750">
            <a:solidFill>
              <a:srgbClr val="E53935"/>
            </a:solidFill>
            <a:prstDash val="solid"/>
          </a:ln>
        </p:spPr>
      </p:sp>
      <p:sp>
        <p:nvSpPr>
          <p:cNvPr id="40" name="Shape 33"/>
          <p:cNvSpPr/>
          <p:nvPr/>
        </p:nvSpPr>
        <p:spPr>
          <a:xfrm>
            <a:off x="5355824" y="1558805"/>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2" name="Image 5" descr="preencoded.png">    </p:cNvPr>
          <p:cNvPicPr>
            <a:picLocks noChangeAspect="1"/>
          </p:cNvPicPr>
          <p:nvPr/>
        </p:nvPicPr>
        <p:blipFill>
          <a:blip r:embed="rId6"/>
          <a:stretch>
            <a:fillRect/>
          </a:stretch>
        </p:blipFill>
        <p:spPr>
          <a:xfrm>
            <a:off x="3304386" y="2770385"/>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Terapkan input-proses-output ke proyek</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index.html proyek, tambahkan satu fitur dengan input dan output sesuai proposal. Minta penjelasan AI bila buntu. Commit ke GitHub.</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sisa_ayat.html bekerja (15 → Sisa: 5 ayat).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Komentar INPUT, PROSES, OUTPUT di dalam fungsi.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bug logika: mengapa 25 menghasilkan -5.</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Proyek kelompok: 1 fitur input-output baru, di-commit ke GitHub.</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Fungsi dipanggil saat tombol diklik</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Input diambil dan diubah ke angka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tampil di halaman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Kode diberi komentar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urutan kerja input-proses-output di aplikasimu?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yang paling sering membuat error?</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Seperti tangan yang menerima, akal yang mengolah, dan lisan yang menyampaikan: gunakan semuanya untuk kebaikan.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Percabangan if/else dan proyek Aplikasi Web Sederhana.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Aplikasi Web Sederhana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percabangan if/else dan aplikasi versi 2</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JavaScript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agar aplikasi bisa memberi jawaban berbeda untuk keadaan yang berbeda?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percabangan if, else if, dan else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bug logika dengan kondisi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Menyelesaikan dan mempresentasikan Aplikasi Web Sederhana versi 2</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Percabangan: if, else if, else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937760" cy="2743200"/>
          </a:xfrm>
          <a:prstGeom prst="roundRect">
            <a:avLst>
              <a:gd name="adj" fmla="val 2000"/>
            </a:avLst>
          </a:prstGeom>
          <a:solidFill>
            <a:srgbClr val="FFFFFF"/>
          </a:solidFill>
          <a:ln w="12700">
            <a:solidFill>
              <a:srgbClr val="BBBBBB"/>
            </a:solidFill>
            <a:prstDash val="solid"/>
          </a:ln>
        </p:spPr>
      </p:sp>
      <p:sp>
        <p:nvSpPr>
          <p:cNvPr id="10" name="Shape 6"/>
          <p:cNvSpPr/>
          <p:nvPr/>
        </p:nvSpPr>
        <p:spPr>
          <a:xfrm>
            <a:off x="530352" y="1188720"/>
            <a:ext cx="4791456" cy="329184"/>
          </a:xfrm>
          <a:prstGeom prst="rect">
            <a:avLst/>
          </a:prstGeom>
          <a:solidFill>
            <a:srgbClr val="E8F5E9"/>
          </a:solidFill>
          <a:ln w="12700">
            <a:solidFill>
              <a:srgbClr val="E8F5E9"/>
            </a:solidFill>
            <a:prstDash val="solid"/>
          </a:ln>
        </p:spPr>
      </p:sp>
      <p:sp>
        <p:nvSpPr>
          <p:cNvPr id="11" name="Text 7"/>
          <p:cNvSpPr txBox="1"/>
          <p:nvPr/>
        </p:nvSpPr>
        <p:spPr>
          <a:xfrm>
            <a:off x="594360" y="118872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if (ayat &gt;= 20) {</a:t>
            </a:r>
            <a:endParaRPr lang="en-US" sz="1150" dirty="0"/>
          </a:p>
        </p:txBody>
      </p:sp>
      <p:sp>
        <p:nvSpPr>
          <p:cNvPr id="12" name="Text 8"/>
          <p:cNvSpPr txBox="1"/>
          <p:nvPr/>
        </p:nvSpPr>
        <p:spPr>
          <a:xfrm>
            <a:off x="594360" y="155448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  pesan = "Masya Allah, target tercapai!";</a:t>
            </a:r>
            <a:endParaRPr lang="en-US" sz="1150" dirty="0"/>
          </a:p>
        </p:txBody>
      </p:sp>
      <p:sp>
        <p:nvSpPr>
          <p:cNvPr id="13" name="Shape 9"/>
          <p:cNvSpPr/>
          <p:nvPr/>
        </p:nvSpPr>
        <p:spPr>
          <a:xfrm>
            <a:off x="530352" y="1920240"/>
            <a:ext cx="4791456" cy="329184"/>
          </a:xfrm>
          <a:prstGeom prst="rect">
            <a:avLst/>
          </a:prstGeom>
          <a:solidFill>
            <a:srgbClr val="FFF8E1"/>
          </a:solidFill>
          <a:ln w="12700">
            <a:solidFill>
              <a:srgbClr val="FFF8E1"/>
            </a:solidFill>
            <a:prstDash val="solid"/>
          </a:ln>
        </p:spPr>
      </p:sp>
      <p:sp>
        <p:nvSpPr>
          <p:cNvPr id="14" name="Text 10"/>
          <p:cNvSpPr txBox="1"/>
          <p:nvPr/>
        </p:nvSpPr>
        <p:spPr>
          <a:xfrm>
            <a:off x="594360" y="192024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 else if (ayat &gt;= 10) {</a:t>
            </a:r>
            <a:endParaRPr lang="en-US" sz="1150" dirty="0"/>
          </a:p>
        </p:txBody>
      </p:sp>
      <p:sp>
        <p:nvSpPr>
          <p:cNvPr id="15" name="Text 11"/>
          <p:cNvSpPr txBox="1"/>
          <p:nvPr/>
        </p:nvSpPr>
        <p:spPr>
          <a:xfrm>
            <a:off x="594360" y="228600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  pesan = "Sedikit lagi, semangat!";</a:t>
            </a:r>
            <a:endParaRPr lang="en-US" sz="1150" dirty="0"/>
          </a:p>
        </p:txBody>
      </p:sp>
      <p:sp>
        <p:nvSpPr>
          <p:cNvPr id="16" name="Shape 12"/>
          <p:cNvSpPr/>
          <p:nvPr/>
        </p:nvSpPr>
        <p:spPr>
          <a:xfrm>
            <a:off x="530352" y="2651760"/>
            <a:ext cx="4791456" cy="329184"/>
          </a:xfrm>
          <a:prstGeom prst="rect">
            <a:avLst/>
          </a:prstGeom>
          <a:solidFill>
            <a:srgbClr val="FDECEA"/>
          </a:solidFill>
          <a:ln w="12700">
            <a:solidFill>
              <a:srgbClr val="FDECEA"/>
            </a:solidFill>
            <a:prstDash val="solid"/>
          </a:ln>
        </p:spPr>
      </p:sp>
      <p:sp>
        <p:nvSpPr>
          <p:cNvPr id="17" name="Text 13"/>
          <p:cNvSpPr txBox="1"/>
          <p:nvPr/>
        </p:nvSpPr>
        <p:spPr>
          <a:xfrm>
            <a:off x="594360" y="265176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 else {</a:t>
            </a:r>
            <a:endParaRPr lang="en-US" sz="1150" dirty="0"/>
          </a:p>
        </p:txBody>
      </p:sp>
      <p:sp>
        <p:nvSpPr>
          <p:cNvPr id="18" name="Text 14"/>
          <p:cNvSpPr txBox="1"/>
          <p:nvPr/>
        </p:nvSpPr>
        <p:spPr>
          <a:xfrm>
            <a:off x="594360" y="301752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  pesan = "Ayo murajaah bersama teman.";</a:t>
            </a:r>
            <a:endParaRPr lang="en-US" sz="1150" dirty="0"/>
          </a:p>
        </p:txBody>
      </p:sp>
      <p:sp>
        <p:nvSpPr>
          <p:cNvPr id="19" name="Text 15"/>
          <p:cNvSpPr txBox="1"/>
          <p:nvPr/>
        </p:nvSpPr>
        <p:spPr>
          <a:xfrm>
            <a:off x="594360" y="3383280"/>
            <a:ext cx="4754880" cy="329184"/>
          </a:xfrm>
          <a:prstGeom prst="rect">
            <a:avLst/>
          </a:prstGeom>
          <a:noFill/>
          <a:ln/>
        </p:spPr>
        <p:txBody>
          <a:bodyPr wrap="square" lIns="0" tIns="0" rIns="0" bIns="0" rtlCol="0" anchor="ctr"/>
          <a:lstStyle/>
          <a:p>
            <a:pPr indent="0" marL="0">
              <a:buNone/>
            </a:pPr>
            <a:r>
              <a:rPr lang="en-US" sz="1150" dirty="0">
                <a:solidFill>
                  <a:srgbClr val="1E2A26"/>
                </a:solidFill>
                <a:latin typeface="Courier New" pitchFamily="34" charset="0"/>
                <a:ea typeface="Courier New" pitchFamily="34" charset="-122"/>
                <a:cs typeface="Courier New" pitchFamily="34" charset="-120"/>
              </a:rPr>
              <a:t>}</a:t>
            </a:r>
            <a:endParaRPr lang="en-US" sz="1150" dirty="0"/>
          </a:p>
        </p:txBody>
      </p:sp>
      <p:sp>
        <p:nvSpPr>
          <p:cNvPr id="20" name="Shape 16"/>
          <p:cNvSpPr/>
          <p:nvPr/>
        </p:nvSpPr>
        <p:spPr>
          <a:xfrm>
            <a:off x="6035040" y="1143000"/>
            <a:ext cx="1645920" cy="640080"/>
          </a:xfrm>
          <a:prstGeom prst="diamond">
            <a:avLst/>
          </a:prstGeom>
          <a:solidFill>
            <a:srgbClr val="FFF3CD"/>
          </a:solidFill>
          <a:ln w="15875">
            <a:solidFill>
              <a:srgbClr val="D4A017"/>
            </a:solidFill>
            <a:prstDash val="solid"/>
          </a:ln>
        </p:spPr>
      </p:sp>
      <p:sp>
        <p:nvSpPr>
          <p:cNvPr id="21" name="Text 17"/>
          <p:cNvSpPr txBox="1"/>
          <p:nvPr/>
        </p:nvSpPr>
        <p:spPr>
          <a:xfrm>
            <a:off x="6062472" y="1143000"/>
            <a:ext cx="1591056" cy="64008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ayat &gt;= 20?</a:t>
            </a:r>
            <a:endParaRPr lang="en-US" sz="1000" dirty="0"/>
          </a:p>
        </p:txBody>
      </p:sp>
      <p:sp>
        <p:nvSpPr>
          <p:cNvPr id="22" name="Shape 18"/>
          <p:cNvSpPr/>
          <p:nvPr/>
        </p:nvSpPr>
        <p:spPr>
          <a:xfrm>
            <a:off x="7818120" y="1280160"/>
            <a:ext cx="914400" cy="365760"/>
          </a:xfrm>
          <a:prstGeom prst="rect">
            <a:avLst/>
          </a:prstGeom>
          <a:solidFill>
            <a:srgbClr val="FFFFFF"/>
          </a:solidFill>
          <a:ln w="15875">
            <a:solidFill>
              <a:srgbClr val="1F7A5C"/>
            </a:solidFill>
            <a:prstDash val="solid"/>
          </a:ln>
        </p:spPr>
      </p:sp>
      <p:sp>
        <p:nvSpPr>
          <p:cNvPr id="23" name="Text 19"/>
          <p:cNvSpPr txBox="1"/>
          <p:nvPr/>
        </p:nvSpPr>
        <p:spPr>
          <a:xfrm>
            <a:off x="7845552" y="1280160"/>
            <a:ext cx="859536" cy="365760"/>
          </a:xfrm>
          <a:prstGeom prst="rect">
            <a:avLst/>
          </a:prstGeom>
          <a:noFill/>
          <a:ln/>
        </p:spPr>
        <p:txBody>
          <a:bodyPr wrap="square" lIns="0" tIns="0" rIns="0" bIns="0" rtlCol="0" anchor="ctr"/>
          <a:lstStyle/>
          <a:p>
            <a:pPr algn="ctr" indent="0" marL="0">
              <a:buNone/>
            </a:pPr>
            <a:r>
              <a:rPr lang="en-US" sz="900" dirty="0">
                <a:solidFill>
                  <a:srgbClr val="1E2A26"/>
                </a:solidFill>
                <a:latin typeface="Arial" pitchFamily="34" charset="0"/>
                <a:ea typeface="Arial" pitchFamily="34" charset="-122"/>
                <a:cs typeface="Arial" pitchFamily="34" charset="-120"/>
              </a:rPr>
              <a:t>Tercapai</a:t>
            </a:r>
            <a:endParaRPr lang="en-US" sz="900" dirty="0"/>
          </a:p>
        </p:txBody>
      </p:sp>
      <p:sp>
        <p:nvSpPr>
          <p:cNvPr id="24" name="Shape 20"/>
          <p:cNvSpPr/>
          <p:nvPr/>
        </p:nvSpPr>
        <p:spPr>
          <a:xfrm>
            <a:off x="6035040" y="2103120"/>
            <a:ext cx="1645920" cy="640080"/>
          </a:xfrm>
          <a:prstGeom prst="diamond">
            <a:avLst/>
          </a:prstGeom>
          <a:solidFill>
            <a:srgbClr val="FFF3CD"/>
          </a:solidFill>
          <a:ln w="15875">
            <a:solidFill>
              <a:srgbClr val="D4A017"/>
            </a:solidFill>
            <a:prstDash val="solid"/>
          </a:ln>
        </p:spPr>
      </p:sp>
      <p:sp>
        <p:nvSpPr>
          <p:cNvPr id="25" name="Text 21"/>
          <p:cNvSpPr txBox="1"/>
          <p:nvPr/>
        </p:nvSpPr>
        <p:spPr>
          <a:xfrm>
            <a:off x="6062472" y="2103120"/>
            <a:ext cx="1591056" cy="640080"/>
          </a:xfrm>
          <a:prstGeom prst="rect">
            <a:avLst/>
          </a:prstGeom>
          <a:noFill/>
          <a:ln/>
        </p:spPr>
        <p:txBody>
          <a:bodyPr wrap="square" lIns="0" tIns="0" rIns="0" bIns="0" rtlCol="0" anchor="ctr"/>
          <a:lstStyle/>
          <a:p>
            <a:pPr algn="ctr" indent="0" marL="0">
              <a:buNone/>
            </a:pPr>
            <a:r>
              <a:rPr lang="en-US" sz="1000" dirty="0">
                <a:solidFill>
                  <a:srgbClr val="1E2A26"/>
                </a:solidFill>
                <a:latin typeface="Arial" pitchFamily="34" charset="0"/>
                <a:ea typeface="Arial" pitchFamily="34" charset="-122"/>
                <a:cs typeface="Arial" pitchFamily="34" charset="-120"/>
              </a:rPr>
              <a:t>ayat &gt;= 10?</a:t>
            </a:r>
            <a:endParaRPr lang="en-US" sz="1000" dirty="0"/>
          </a:p>
        </p:txBody>
      </p:sp>
      <p:sp>
        <p:nvSpPr>
          <p:cNvPr id="26" name="Shape 22"/>
          <p:cNvSpPr/>
          <p:nvPr/>
        </p:nvSpPr>
        <p:spPr>
          <a:xfrm>
            <a:off x="7818120" y="2240280"/>
            <a:ext cx="914400" cy="365760"/>
          </a:xfrm>
          <a:prstGeom prst="rect">
            <a:avLst/>
          </a:prstGeom>
          <a:solidFill>
            <a:srgbClr val="FFFFFF"/>
          </a:solidFill>
          <a:ln w="15875">
            <a:solidFill>
              <a:srgbClr val="1F7A5C"/>
            </a:solidFill>
            <a:prstDash val="solid"/>
          </a:ln>
        </p:spPr>
      </p:sp>
      <p:sp>
        <p:nvSpPr>
          <p:cNvPr id="27" name="Text 23"/>
          <p:cNvSpPr txBox="1"/>
          <p:nvPr/>
        </p:nvSpPr>
        <p:spPr>
          <a:xfrm>
            <a:off x="7845552" y="2240280"/>
            <a:ext cx="859536" cy="365760"/>
          </a:xfrm>
          <a:prstGeom prst="rect">
            <a:avLst/>
          </a:prstGeom>
          <a:noFill/>
          <a:ln/>
        </p:spPr>
        <p:txBody>
          <a:bodyPr wrap="square" lIns="0" tIns="0" rIns="0" bIns="0" rtlCol="0" anchor="ctr"/>
          <a:lstStyle/>
          <a:p>
            <a:pPr algn="ctr" indent="0" marL="0">
              <a:buNone/>
            </a:pPr>
            <a:r>
              <a:rPr lang="en-US" sz="900" dirty="0">
                <a:solidFill>
                  <a:srgbClr val="1E2A26"/>
                </a:solidFill>
                <a:latin typeface="Arial" pitchFamily="34" charset="0"/>
                <a:ea typeface="Arial" pitchFamily="34" charset="-122"/>
                <a:cs typeface="Arial" pitchFamily="34" charset="-120"/>
              </a:rPr>
              <a:t>Sedikit lagi</a:t>
            </a:r>
            <a:endParaRPr lang="en-US" sz="900" dirty="0"/>
          </a:p>
        </p:txBody>
      </p:sp>
      <p:sp>
        <p:nvSpPr>
          <p:cNvPr id="28" name="Shape 24"/>
          <p:cNvSpPr/>
          <p:nvPr/>
        </p:nvSpPr>
        <p:spPr>
          <a:xfrm>
            <a:off x="6400800" y="3108960"/>
            <a:ext cx="914400" cy="365760"/>
          </a:xfrm>
          <a:prstGeom prst="rect">
            <a:avLst/>
          </a:prstGeom>
          <a:solidFill>
            <a:srgbClr val="FFFFFF"/>
          </a:solidFill>
          <a:ln w="15875">
            <a:solidFill>
              <a:srgbClr val="1F7A5C"/>
            </a:solidFill>
            <a:prstDash val="solid"/>
          </a:ln>
        </p:spPr>
      </p:sp>
      <p:sp>
        <p:nvSpPr>
          <p:cNvPr id="29" name="Text 25"/>
          <p:cNvSpPr txBox="1"/>
          <p:nvPr/>
        </p:nvSpPr>
        <p:spPr>
          <a:xfrm>
            <a:off x="6428232" y="3108960"/>
            <a:ext cx="859536" cy="365760"/>
          </a:xfrm>
          <a:prstGeom prst="rect">
            <a:avLst/>
          </a:prstGeom>
          <a:noFill/>
          <a:ln/>
        </p:spPr>
        <p:txBody>
          <a:bodyPr wrap="square" lIns="0" tIns="0" rIns="0" bIns="0" rtlCol="0" anchor="ctr"/>
          <a:lstStyle/>
          <a:p>
            <a:pPr algn="ctr" indent="0" marL="0">
              <a:buNone/>
            </a:pPr>
            <a:r>
              <a:rPr lang="en-US" sz="900" dirty="0">
                <a:solidFill>
                  <a:srgbClr val="1E2A26"/>
                </a:solidFill>
                <a:latin typeface="Arial" pitchFamily="34" charset="0"/>
                <a:ea typeface="Arial" pitchFamily="34" charset="-122"/>
                <a:cs typeface="Arial" pitchFamily="34" charset="-120"/>
              </a:rPr>
              <a:t>Ayo murajaah</a:t>
            </a:r>
            <a:endParaRPr lang="en-US" sz="900" dirty="0"/>
          </a:p>
        </p:txBody>
      </p:sp>
      <p:sp>
        <p:nvSpPr>
          <p:cNvPr id="30" name="Shape 26"/>
          <p:cNvSpPr/>
          <p:nvPr/>
        </p:nvSpPr>
        <p:spPr>
          <a:xfrm>
            <a:off x="7680960" y="1463040"/>
            <a:ext cx="137160" cy="914"/>
          </a:xfrm>
          <a:prstGeom prst="line">
            <a:avLst/>
          </a:prstGeom>
          <a:noFill/>
          <a:ln w="12700">
            <a:solidFill>
              <a:srgbClr val="444444"/>
            </a:solidFill>
            <a:prstDash val="solid"/>
            <a:tailEnd type="triangle"/>
          </a:ln>
        </p:spPr>
      </p:sp>
      <p:sp>
        <p:nvSpPr>
          <p:cNvPr id="31" name="Text 27"/>
          <p:cNvSpPr txBox="1"/>
          <p:nvPr/>
        </p:nvSpPr>
        <p:spPr>
          <a:xfrm>
            <a:off x="7776972" y="137160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32" name="Shape 28"/>
          <p:cNvSpPr/>
          <p:nvPr/>
        </p:nvSpPr>
        <p:spPr>
          <a:xfrm>
            <a:off x="6858000" y="1783080"/>
            <a:ext cx="914" cy="320040"/>
          </a:xfrm>
          <a:prstGeom prst="line">
            <a:avLst/>
          </a:prstGeom>
          <a:noFill/>
          <a:ln w="12700">
            <a:solidFill>
              <a:srgbClr val="444444"/>
            </a:solidFill>
            <a:prstDash val="solid"/>
            <a:tailEnd type="triangle"/>
          </a:ln>
        </p:spPr>
      </p:sp>
      <p:sp>
        <p:nvSpPr>
          <p:cNvPr id="33" name="Text 29"/>
          <p:cNvSpPr txBox="1"/>
          <p:nvPr/>
        </p:nvSpPr>
        <p:spPr>
          <a:xfrm>
            <a:off x="6885432" y="185166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34" name="Shape 30"/>
          <p:cNvSpPr/>
          <p:nvPr/>
        </p:nvSpPr>
        <p:spPr>
          <a:xfrm>
            <a:off x="7680960" y="2423160"/>
            <a:ext cx="137160" cy="914"/>
          </a:xfrm>
          <a:prstGeom prst="line">
            <a:avLst/>
          </a:prstGeom>
          <a:noFill/>
          <a:ln w="12700">
            <a:solidFill>
              <a:srgbClr val="444444"/>
            </a:solidFill>
            <a:prstDash val="solid"/>
            <a:tailEnd type="triangle"/>
          </a:ln>
        </p:spPr>
      </p:sp>
      <p:sp>
        <p:nvSpPr>
          <p:cNvPr id="35" name="Text 31"/>
          <p:cNvSpPr txBox="1"/>
          <p:nvPr/>
        </p:nvSpPr>
        <p:spPr>
          <a:xfrm>
            <a:off x="7776972" y="233172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36" name="Shape 32"/>
          <p:cNvSpPr/>
          <p:nvPr/>
        </p:nvSpPr>
        <p:spPr>
          <a:xfrm>
            <a:off x="6858000" y="2743200"/>
            <a:ext cx="914" cy="365760"/>
          </a:xfrm>
          <a:prstGeom prst="line">
            <a:avLst/>
          </a:prstGeom>
          <a:noFill/>
          <a:ln w="12700">
            <a:solidFill>
              <a:srgbClr val="444444"/>
            </a:solidFill>
            <a:prstDash val="solid"/>
            <a:tailEnd type="triangle"/>
          </a:ln>
        </p:spPr>
      </p:sp>
      <p:sp>
        <p:nvSpPr>
          <p:cNvPr id="37" name="Text 33"/>
          <p:cNvSpPr txBox="1"/>
          <p:nvPr/>
        </p:nvSpPr>
        <p:spPr>
          <a:xfrm>
            <a:off x="6885432" y="283464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38" name="Shape 34"/>
          <p:cNvSpPr/>
          <p:nvPr/>
        </p:nvSpPr>
        <p:spPr>
          <a:xfrm>
            <a:off x="457200" y="3977640"/>
            <a:ext cx="8229600" cy="548640"/>
          </a:xfrm>
          <a:prstGeom prst="roundRect">
            <a:avLst>
              <a:gd name="adj" fmla="val 16667"/>
            </a:avLst>
          </a:prstGeom>
          <a:solidFill>
            <a:srgbClr val="FBF1D3"/>
          </a:solidFill>
          <a:ln w="12700">
            <a:solidFill>
              <a:srgbClr val="FBF1D3"/>
            </a:solidFill>
            <a:prstDash val="solid"/>
          </a:ln>
        </p:spPr>
      </p:sp>
      <p:sp>
        <p:nvSpPr>
          <p:cNvPr id="39" name="Text 35"/>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Diperiksa dari atas. Begitu satu kondisi benar, sisanya dilewati.</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Aplikasi Web Sederhana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6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Memperbaiki bug logika dengan if</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Menerapkan if ke proyek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Terbit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Logika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sisa_ayat.html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PROSES</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sisa = 20 - ayat;</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pesan;</a:t>
            </a:r>
            <a:endParaRPr lang="en-US" sz="900" dirty="0"/>
          </a:p>
        </p:txBody>
      </p:sp>
      <p:sp>
        <p:nvSpPr>
          <p:cNvPr id="32" name="Shape 28"/>
          <p:cNvSpPr/>
          <p:nvPr/>
        </p:nvSpPr>
        <p:spPr>
          <a:xfrm>
            <a:off x="913668" y="2182760"/>
            <a:ext cx="4555175" cy="173736"/>
          </a:xfrm>
          <a:prstGeom prst="rect">
            <a:avLst/>
          </a:prstGeom>
          <a:solidFill>
            <a:srgbClr val="FFF59D"/>
          </a:solidFill>
          <a:ln w="12700">
            <a:solidFill>
              <a:srgbClr val="FFF59D"/>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if (sisa &lt;= 0) {</a:t>
            </a:r>
            <a:endParaRPr lang="en-US" sz="900" dirty="0"/>
          </a:p>
        </p:txBody>
      </p:sp>
      <p:sp>
        <p:nvSpPr>
          <p:cNvPr id="35" name="Shape 31"/>
          <p:cNvSpPr/>
          <p:nvPr/>
        </p:nvSpPr>
        <p:spPr>
          <a:xfrm>
            <a:off x="913668" y="2356496"/>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 = "Masya Allah, target tercapai!";</a:t>
            </a:r>
            <a:endParaRPr lang="en-US" sz="900" dirty="0"/>
          </a:p>
        </p:txBody>
      </p:sp>
      <p:sp>
        <p:nvSpPr>
          <p:cNvPr id="38" name="Shape 34"/>
          <p:cNvSpPr/>
          <p:nvPr/>
        </p:nvSpPr>
        <p:spPr>
          <a:xfrm>
            <a:off x="913668" y="2530232"/>
            <a:ext cx="4555175" cy="173736"/>
          </a:xfrm>
          <a:prstGeom prst="rect">
            <a:avLst/>
          </a:prstGeom>
          <a:solidFill>
            <a:srgbClr val="FFF59D"/>
          </a:solidFill>
          <a:ln w="12700">
            <a:solidFill>
              <a:srgbClr val="FFF59D"/>
            </a:solidFill>
            <a:prstDash val="solid"/>
          </a:ln>
        </p:spPr>
      </p:sp>
      <p:sp>
        <p:nvSpPr>
          <p:cNvPr id="39" name="Text 35"/>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0" name="Text 36"/>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else {</a:t>
            </a:r>
            <a:endParaRPr lang="en-US" sz="900" dirty="0"/>
          </a:p>
        </p:txBody>
      </p:sp>
      <p:sp>
        <p:nvSpPr>
          <p:cNvPr id="41" name="Shape 37"/>
          <p:cNvSpPr/>
          <p:nvPr/>
        </p:nvSpPr>
        <p:spPr>
          <a:xfrm>
            <a:off x="913668" y="2703968"/>
            <a:ext cx="4555175" cy="173736"/>
          </a:xfrm>
          <a:prstGeom prst="rect">
            <a:avLst/>
          </a:prstGeom>
          <a:solidFill>
            <a:srgbClr val="FFF59D"/>
          </a:solidFill>
          <a:ln w="12700">
            <a:solidFill>
              <a:srgbClr val="FFF59D"/>
            </a:solidFill>
            <a:prstDash val="solid"/>
          </a:ln>
        </p:spPr>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 = "Sisa: " + sisa + " ayat";</a:t>
            </a:r>
            <a:endParaRPr lang="en-US" sz="900" dirty="0"/>
          </a:p>
        </p:txBody>
      </p:sp>
      <p:sp>
        <p:nvSpPr>
          <p:cNvPr id="44" name="Shape 40"/>
          <p:cNvSpPr/>
          <p:nvPr/>
        </p:nvSpPr>
        <p:spPr>
          <a:xfrm>
            <a:off x="913668" y="2877704"/>
            <a:ext cx="4555175" cy="173736"/>
          </a:xfrm>
          <a:prstGeom prst="rect">
            <a:avLst/>
          </a:prstGeom>
          <a:solidFill>
            <a:srgbClr val="FFF59D"/>
          </a:solidFill>
          <a:ln w="12700">
            <a:solidFill>
              <a:srgbClr val="FFF59D"/>
            </a:solidFill>
            <a:prstDash val="solid"/>
          </a:ln>
        </p:spPr>
      </p:sp>
      <p:sp>
        <p:nvSpPr>
          <p:cNvPr id="45" name="Text 41"/>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6" name="Text 42"/>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7" name="Text 43"/>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8" name="Text 44"/>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OUTPUT</a:t>
            </a:r>
            <a:endParaRPr lang="en-US" sz="900" dirty="0"/>
          </a:p>
        </p:txBody>
      </p:sp>
      <p:sp>
        <p:nvSpPr>
          <p:cNvPr id="49" name="Shape 45"/>
          <p:cNvSpPr/>
          <p:nvPr/>
        </p:nvSpPr>
        <p:spPr>
          <a:xfrm>
            <a:off x="913668" y="3225176"/>
            <a:ext cx="4555175" cy="173736"/>
          </a:xfrm>
          <a:prstGeom prst="rect">
            <a:avLst/>
          </a:prstGeom>
          <a:solidFill>
            <a:srgbClr val="FFF59D"/>
          </a:solidFill>
          <a:ln w="12700">
            <a:solidFill>
              <a:srgbClr val="FFF59D"/>
            </a:solidFill>
            <a:prstDash val="solid"/>
          </a:ln>
        </p:spPr>
      </p:sp>
      <p:sp>
        <p:nvSpPr>
          <p:cNvPr id="50" name="Text 46"/>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51" name="Text 47"/>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document.getElementById("hasil").textContent = pesan;</a:t>
            </a:r>
            <a:endParaRPr lang="en-US" sz="900" dirty="0"/>
          </a:p>
        </p:txBody>
      </p:sp>
      <p:sp>
        <p:nvSpPr>
          <p:cNvPr id="52" name="Shape 48"/>
          <p:cNvSpPr/>
          <p:nvPr/>
        </p:nvSpPr>
        <p:spPr>
          <a:xfrm>
            <a:off x="913668" y="1990736"/>
            <a:ext cx="4555175" cy="1078992"/>
          </a:xfrm>
          <a:prstGeom prst="roundRect">
            <a:avLst>
              <a:gd name="adj" fmla="val 4237"/>
            </a:avLst>
          </a:prstGeom>
          <a:solidFill>
            <a:srgbClr val="FFFFFF">
              <a:alpha val="0"/>
            </a:srgbClr>
          </a:solidFill>
          <a:ln w="31750">
            <a:solidFill>
              <a:srgbClr val="E53935"/>
            </a:solidFill>
            <a:prstDash val="solid"/>
          </a:ln>
        </p:spPr>
      </p:sp>
      <p:sp>
        <p:nvSpPr>
          <p:cNvPr id="53" name="Shape 49"/>
          <p:cNvSpPr/>
          <p:nvPr/>
        </p:nvSpPr>
        <p:spPr>
          <a:xfrm>
            <a:off x="5331684" y="1853576"/>
            <a:ext cx="274320" cy="274320"/>
          </a:xfrm>
          <a:prstGeom prst="ellipse">
            <a:avLst/>
          </a:prstGeom>
          <a:solidFill>
            <a:srgbClr val="E53935"/>
          </a:solidFill>
          <a:ln w="12700">
            <a:solidFill>
              <a:srgbClr val="FFFFFF"/>
            </a:solidFill>
            <a:prstDash val="solid"/>
          </a:ln>
        </p:spPr>
      </p:sp>
      <p:sp>
        <p:nvSpPr>
          <p:cNvPr id="54" name="Text 50"/>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5" name="Image 2" descr="preencoded.png">    </p:cNvPr>
          <p:cNvPicPr>
            <a:picLocks noChangeAspect="1"/>
          </p:cNvPicPr>
          <p:nvPr/>
        </p:nvPicPr>
        <p:blipFill>
          <a:blip r:embed="rId3"/>
          <a:stretch>
            <a:fillRect/>
          </a:stretch>
        </p:blipFill>
        <p:spPr>
          <a:xfrm>
            <a:off x="3417186" y="2582352"/>
            <a:ext cx="237744" cy="237744"/>
          </a:xfrm>
          <a:prstGeom prst="rect">
            <a:avLst/>
          </a:prstGeom>
        </p:spPr>
      </p:pic>
      <p:sp>
        <p:nvSpPr>
          <p:cNvPr id="56"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7"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if/else ke hitungSisa</a:t>
            </a:r>
            <a:endParaRPr lang="en-US" sz="1800" dirty="0"/>
          </a:p>
        </p:txBody>
      </p:sp>
      <p:sp>
        <p:nvSpPr>
          <p:cNvPr id="58"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Ganti bagian OUTPUT dengan percabangan: jika sisa &lt;= 0 → "Masya Allah, target tercapai!", jika tidak → "Sisa: ... ayat".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Logika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 Ayat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file:///C:/.../sisa_ayat.html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Sisa Ayat Hari Ini</a:t>
            </a:r>
            <a:endParaRPr lang="en-US" sz="1100" dirty="0"/>
          </a:p>
        </p:txBody>
      </p:sp>
      <p:sp>
        <p:nvSpPr>
          <p:cNvPr id="32" name="Shape 25"/>
          <p:cNvSpPr/>
          <p:nvPr/>
        </p:nvSpPr>
        <p:spPr>
          <a:xfrm>
            <a:off x="1965960" y="2244605"/>
            <a:ext cx="2194560" cy="1325880"/>
          </a:xfrm>
          <a:prstGeom prst="roundRect">
            <a:avLst>
              <a:gd name="adj" fmla="val 5517"/>
            </a:avLst>
          </a:prstGeom>
          <a:solidFill>
            <a:srgbClr val="FFFFFF"/>
          </a:solidFill>
          <a:ln w="9525">
            <a:solidFill>
              <a:srgbClr val="DDDDDD"/>
            </a:solidFill>
            <a:prstDash val="solid"/>
          </a:ln>
        </p:spPr>
      </p:sp>
      <p:sp>
        <p:nvSpPr>
          <p:cNvPr id="33" name="Text 26"/>
          <p:cNvSpPr txBox="1"/>
          <p:nvPr/>
        </p:nvSpPr>
        <p:spPr>
          <a:xfrm>
            <a:off x="2057400" y="2290325"/>
            <a:ext cx="201168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Target: 20 ayat</a:t>
            </a:r>
            <a:endParaRPr lang="en-US" sz="750" dirty="0"/>
          </a:p>
        </p:txBody>
      </p:sp>
      <p:sp>
        <p:nvSpPr>
          <p:cNvPr id="34" name="Shape 27"/>
          <p:cNvSpPr/>
          <p:nvPr/>
        </p:nvSpPr>
        <p:spPr>
          <a:xfrm>
            <a:off x="2057400" y="2564645"/>
            <a:ext cx="2011680" cy="219456"/>
          </a:xfrm>
          <a:prstGeom prst="rect">
            <a:avLst/>
          </a:prstGeom>
          <a:solidFill>
            <a:srgbClr val="FFFFFF"/>
          </a:solidFill>
          <a:ln w="6350">
            <a:solidFill>
              <a:srgbClr val="999999"/>
            </a:solidFill>
            <a:prstDash val="solid"/>
          </a:ln>
        </p:spPr>
      </p:sp>
      <p:sp>
        <p:nvSpPr>
          <p:cNvPr id="35" name="Text 28"/>
          <p:cNvSpPr txBox="1"/>
          <p:nvPr/>
        </p:nvSpPr>
        <p:spPr>
          <a:xfrm>
            <a:off x="2093976" y="2564645"/>
            <a:ext cx="192024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25</a:t>
            </a:r>
            <a:endParaRPr lang="en-US" sz="800" dirty="0"/>
          </a:p>
        </p:txBody>
      </p:sp>
      <p:sp>
        <p:nvSpPr>
          <p:cNvPr id="36" name="Shape 29"/>
          <p:cNvSpPr/>
          <p:nvPr/>
        </p:nvSpPr>
        <p:spPr>
          <a:xfrm>
            <a:off x="2606040" y="2857253"/>
            <a:ext cx="91440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606040" y="2857253"/>
            <a:ext cx="9144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Hitung</a:t>
            </a:r>
            <a:endParaRPr lang="en-US" sz="750" dirty="0"/>
          </a:p>
        </p:txBody>
      </p:sp>
      <p:sp>
        <p:nvSpPr>
          <p:cNvPr id="38" name="Text 31"/>
          <p:cNvSpPr txBox="1"/>
          <p:nvPr/>
        </p:nvSpPr>
        <p:spPr>
          <a:xfrm>
            <a:off x="2057400" y="3140717"/>
            <a:ext cx="2011680" cy="365760"/>
          </a:xfrm>
          <a:prstGeom prst="rect">
            <a:avLst/>
          </a:prstGeom>
          <a:noFill/>
          <a:ln/>
        </p:spPr>
        <p:txBody>
          <a:bodyPr wrap="square" lIns="0" tIns="0" rIns="0" bIns="0" rtlCol="0" anchor="ctr"/>
          <a:lstStyle/>
          <a:p>
            <a:pPr algn="ctr" indent="0" marL="0">
              <a:buNone/>
            </a:pPr>
            <a:r>
              <a:rPr lang="en-US" sz="800" b="1" dirty="0">
                <a:solidFill>
                  <a:srgbClr val="1F7A5C"/>
                </a:solidFill>
                <a:latin typeface="Arial" pitchFamily="34" charset="0"/>
                <a:ea typeface="Arial" pitchFamily="34" charset="-122"/>
                <a:cs typeface="Arial" pitchFamily="34" charset="-120"/>
              </a:rPr>
              <a:t>Masya Allah, target tercapai!</a:t>
            </a:r>
            <a:endParaRPr lang="en-US" sz="800" dirty="0"/>
          </a:p>
        </p:txBody>
      </p:sp>
      <p:sp>
        <p:nvSpPr>
          <p:cNvPr id="39" name="Shape 32"/>
          <p:cNvSpPr/>
          <p:nvPr/>
        </p:nvSpPr>
        <p:spPr>
          <a:xfrm>
            <a:off x="2039112" y="3122429"/>
            <a:ext cx="2048256" cy="402336"/>
          </a:xfrm>
          <a:prstGeom prst="roundRect">
            <a:avLst>
              <a:gd name="adj" fmla="val 11364"/>
            </a:avLst>
          </a:prstGeom>
          <a:solidFill>
            <a:srgbClr val="FFFFFF">
              <a:alpha val="0"/>
            </a:srgbClr>
          </a:solidFill>
          <a:ln w="31750">
            <a:solidFill>
              <a:srgbClr val="E53935"/>
            </a:solidFill>
            <a:prstDash val="solid"/>
          </a:ln>
        </p:spPr>
      </p:sp>
      <p:sp>
        <p:nvSpPr>
          <p:cNvPr id="40" name="Shape 33"/>
          <p:cNvSpPr/>
          <p:nvPr/>
        </p:nvSpPr>
        <p:spPr>
          <a:xfrm>
            <a:off x="3950208" y="2985269"/>
            <a:ext cx="274320" cy="274320"/>
          </a:xfrm>
          <a:prstGeom prst="ellipse">
            <a:avLst/>
          </a:prstGeom>
          <a:solidFill>
            <a:srgbClr val="E53935"/>
          </a:solidFill>
          <a:ln w="12700">
            <a:solidFill>
              <a:srgbClr val="FFFFFF"/>
            </a:solidFill>
            <a:prstDash val="solid"/>
          </a:ln>
        </p:spPr>
      </p:sp>
      <p:sp>
        <p:nvSpPr>
          <p:cNvPr id="41" name="Text 34"/>
          <p:cNvSpPr txBox="1"/>
          <p:nvPr/>
        </p:nvSpPr>
        <p:spPr>
          <a:xfrm>
            <a:off x="3950208" y="2985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2" name="Image 5" descr="preencoded.png">    </p:cNvPr>
          <p:cNvPicPr>
            <a:picLocks noChangeAspect="1"/>
          </p:cNvPicPr>
          <p:nvPr/>
        </p:nvPicPr>
        <p:blipFill>
          <a:blip r:embed="rId6"/>
          <a:stretch>
            <a:fillRect/>
          </a:stretch>
        </p:blipFill>
        <p:spPr>
          <a:xfrm>
            <a:off x="3163824" y="3341885"/>
            <a:ext cx="237744" cy="237744"/>
          </a:xfrm>
          <a:prstGeom prst="rect">
            <a:avLst/>
          </a:prstGeom>
        </p:spPr>
      </p:pic>
      <p:sp>
        <p:nvSpPr>
          <p:cNvPr id="43"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4"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nilai batas: 19, 20, 25</a:t>
            </a:r>
            <a:endParaRPr lang="en-US" sz="1800" dirty="0"/>
          </a:p>
        </p:txBody>
      </p:sp>
      <p:sp>
        <p:nvSpPr>
          <p:cNvPr id="45"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19 → Sisa: 1 ayat. Isi 20 → Masya Allah, target tercapai! Isi 25 → Masya Allah, target tercapai!</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Bug Logika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sisa_ayat.html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isian = document.getElementById("ayat").value;</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if (isian === "") {</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document.getElementById("hasil").textContent =</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"Isi jumlah ayat dulu.";</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return;  // berhenti di sini</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ayat = Number(isian);</a:t>
            </a:r>
            <a:endParaRPr lang="en-US" sz="900" dirty="0"/>
          </a:p>
        </p:txBody>
      </p:sp>
      <p:sp>
        <p:nvSpPr>
          <p:cNvPr id="44" name="Shape 40"/>
          <p:cNvSpPr/>
          <p:nvPr/>
        </p:nvSpPr>
        <p:spPr>
          <a:xfrm>
            <a:off x="913668" y="1817000"/>
            <a:ext cx="4555175" cy="905256"/>
          </a:xfrm>
          <a:prstGeom prst="roundRect">
            <a:avLst>
              <a:gd name="adj" fmla="val 5051"/>
            </a:avLst>
          </a:prstGeom>
          <a:solidFill>
            <a:srgbClr val="FFFFFF">
              <a:alpha val="0"/>
            </a:srgbClr>
          </a:solidFill>
          <a:ln w="31750">
            <a:solidFill>
              <a:srgbClr val="E53935"/>
            </a:solidFill>
            <a:prstDash val="solid"/>
          </a:ln>
        </p:spPr>
      </p:sp>
      <p:sp>
        <p:nvSpPr>
          <p:cNvPr id="45" name="Shape 41"/>
          <p:cNvSpPr/>
          <p:nvPr/>
        </p:nvSpPr>
        <p:spPr>
          <a:xfrm>
            <a:off x="5331684" y="1679840"/>
            <a:ext cx="274320" cy="274320"/>
          </a:xfrm>
          <a:prstGeom prst="ellipse">
            <a:avLst/>
          </a:prstGeom>
          <a:solidFill>
            <a:srgbClr val="E53935"/>
          </a:solidFill>
          <a:ln w="12700">
            <a:solidFill>
              <a:srgbClr val="FFFFFF"/>
            </a:solidFill>
            <a:prstDash val="solid"/>
          </a:ln>
        </p:spPr>
      </p:sp>
      <p:sp>
        <p:nvSpPr>
          <p:cNvPr id="46" name="Text 42"/>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7" name="Image 2" descr="preencoded.png">    </p:cNvPr>
          <p:cNvPicPr>
            <a:picLocks noChangeAspect="1"/>
          </p:cNvPicPr>
          <p:nvPr/>
        </p:nvPicPr>
        <p:blipFill>
          <a:blip r:embed="rId3"/>
          <a:stretch>
            <a:fillRect/>
          </a:stretch>
        </p:blipFill>
        <p:spPr>
          <a:xfrm>
            <a:off x="3417186" y="2313062"/>
            <a:ext cx="237744" cy="237744"/>
          </a:xfrm>
          <a:prstGeom prst="rect">
            <a:avLst/>
          </a:prstGeom>
        </p:spPr>
      </p:pic>
      <p:sp>
        <p:nvSpPr>
          <p:cNvPr id="48"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9"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Tangani isian kosong</a:t>
            </a:r>
            <a:endParaRPr lang="en-US" sz="1800" dirty="0"/>
          </a:p>
        </p:txBody>
      </p:sp>
      <p:sp>
        <p:nvSpPr>
          <p:cNvPr id="50"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kolom kosong, Number("") = 0. Tambahkan pengecekan di awal: if (kolom kosong) tampilkan "Isi jumlah ayat dulu".</a:t>
            </a:r>
            <a:endParaRPr lang="en-US" sz="1300" dirty="0"/>
          </a:p>
        </p:txBody>
      </p:sp>
      <p:sp>
        <p:nvSpPr>
          <p:cNvPr id="51" name="Shape 4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2"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53" name="Text 4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Tanya AI: "Bagaimana mengecek input kosong di JavaScript? Jelaskan, jangan ganti semua kode."</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function cekSetoran() {</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ayat = Number(document.getElementById("ayat").value);</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let pesan;</a:t>
            </a:r>
            <a:endParaRPr lang="en-US" sz="900" dirty="0"/>
          </a:p>
        </p:txBody>
      </p:sp>
      <p:sp>
        <p:nvSpPr>
          <p:cNvPr id="31" name="Shape 27"/>
          <p:cNvSpPr/>
          <p:nvPr/>
        </p:nvSpPr>
        <p:spPr>
          <a:xfrm>
            <a:off x="913668" y="2182760"/>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if (ayat &gt;= 20) {</a:t>
            </a:r>
            <a:endParaRPr lang="en-US" sz="900" dirty="0"/>
          </a:p>
        </p:txBody>
      </p:sp>
      <p:sp>
        <p:nvSpPr>
          <p:cNvPr id="34" name="Shape 30"/>
          <p:cNvSpPr/>
          <p:nvPr/>
        </p:nvSpPr>
        <p:spPr>
          <a:xfrm>
            <a:off x="913668" y="2356496"/>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6" name="Text 32"/>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 = "Masya Allah, target tercapai!";</a:t>
            </a:r>
            <a:endParaRPr lang="en-US" sz="900" dirty="0"/>
          </a:p>
        </p:txBody>
      </p:sp>
      <p:sp>
        <p:nvSpPr>
          <p:cNvPr id="37" name="Shape 33"/>
          <p:cNvSpPr/>
          <p:nvPr/>
        </p:nvSpPr>
        <p:spPr>
          <a:xfrm>
            <a:off x="913668" y="2530232"/>
            <a:ext cx="4555175" cy="173736"/>
          </a:xfrm>
          <a:prstGeom prst="rect">
            <a:avLst/>
          </a:prstGeom>
          <a:solidFill>
            <a:srgbClr val="FFF59D"/>
          </a:solidFill>
          <a:ln w="12700">
            <a:solidFill>
              <a:srgbClr val="FFF59D"/>
            </a:solidFill>
            <a:prstDash val="solid"/>
          </a:ln>
        </p:spPr>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else if (ayat &gt;= 10) {</a:t>
            </a:r>
            <a:endParaRPr lang="en-US" sz="900" dirty="0"/>
          </a:p>
        </p:txBody>
      </p:sp>
      <p:sp>
        <p:nvSpPr>
          <p:cNvPr id="40" name="Shape 36"/>
          <p:cNvSpPr/>
          <p:nvPr/>
        </p:nvSpPr>
        <p:spPr>
          <a:xfrm>
            <a:off x="913668" y="2703968"/>
            <a:ext cx="4555175" cy="173736"/>
          </a:xfrm>
          <a:prstGeom prst="rect">
            <a:avLst/>
          </a:prstGeom>
          <a:solidFill>
            <a:srgbClr val="FFF59D"/>
          </a:solidFill>
          <a:ln w="12700">
            <a:solidFill>
              <a:srgbClr val="FFF59D"/>
            </a:solidFill>
            <a:prstDash val="solid"/>
          </a:ln>
        </p:spPr>
      </p:sp>
      <p:sp>
        <p:nvSpPr>
          <p:cNvPr id="41" name="Text 37"/>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2" name="Text 38"/>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 = "Sedikit lagi, semangat!";</a:t>
            </a:r>
            <a:endParaRPr lang="en-US" sz="900" dirty="0"/>
          </a:p>
        </p:txBody>
      </p:sp>
      <p:sp>
        <p:nvSpPr>
          <p:cNvPr id="43" name="Shape 39"/>
          <p:cNvSpPr/>
          <p:nvPr/>
        </p:nvSpPr>
        <p:spPr>
          <a:xfrm>
            <a:off x="913668" y="2877704"/>
            <a:ext cx="4555175" cy="173736"/>
          </a:xfrm>
          <a:prstGeom prst="rect">
            <a:avLst/>
          </a:prstGeom>
          <a:solidFill>
            <a:srgbClr val="FFF59D"/>
          </a:solidFill>
          <a:ln w="12700">
            <a:solidFill>
              <a:srgbClr val="FFF59D"/>
            </a:solidFill>
            <a:prstDash val="solid"/>
          </a:ln>
        </p:spPr>
      </p:sp>
      <p:sp>
        <p:nvSpPr>
          <p:cNvPr id="44" name="Text 40"/>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5" name="Text 41"/>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else {</a:t>
            </a:r>
            <a:endParaRPr lang="en-US" sz="900" dirty="0"/>
          </a:p>
        </p:txBody>
      </p:sp>
      <p:sp>
        <p:nvSpPr>
          <p:cNvPr id="46" name="Shape 42"/>
          <p:cNvSpPr/>
          <p:nvPr/>
        </p:nvSpPr>
        <p:spPr>
          <a:xfrm>
            <a:off x="913668" y="3051440"/>
            <a:ext cx="4555175" cy="173736"/>
          </a:xfrm>
          <a:prstGeom prst="rect">
            <a:avLst/>
          </a:prstGeom>
          <a:solidFill>
            <a:srgbClr val="FFF59D"/>
          </a:solidFill>
          <a:ln w="12700">
            <a:solidFill>
              <a:srgbClr val="FFF59D"/>
            </a:solidFill>
            <a:prstDash val="solid"/>
          </a:ln>
        </p:spPr>
      </p:sp>
      <p:sp>
        <p:nvSpPr>
          <p:cNvPr id="47" name="Text 43"/>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8" name="Text 44"/>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 = "Ayo murajaah bersama teman.";</a:t>
            </a:r>
            <a:endParaRPr lang="en-US" sz="900" dirty="0"/>
          </a:p>
        </p:txBody>
      </p:sp>
      <p:sp>
        <p:nvSpPr>
          <p:cNvPr id="49" name="Shape 45"/>
          <p:cNvSpPr/>
          <p:nvPr/>
        </p:nvSpPr>
        <p:spPr>
          <a:xfrm>
            <a:off x="913668" y="3225176"/>
            <a:ext cx="4555175" cy="173736"/>
          </a:xfrm>
          <a:prstGeom prst="rect">
            <a:avLst/>
          </a:prstGeom>
          <a:solidFill>
            <a:srgbClr val="FFF59D"/>
          </a:solidFill>
          <a:ln w="12700">
            <a:solidFill>
              <a:srgbClr val="FFF59D"/>
            </a:solidFill>
            <a:prstDash val="solid"/>
          </a:ln>
        </p:spPr>
      </p:sp>
      <p:sp>
        <p:nvSpPr>
          <p:cNvPr id="50" name="Text 46"/>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51" name="Text 47"/>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52" name="Text 48"/>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53" name="Text 49"/>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document.getElementById("hasil").textContent = pesan;</a:t>
            </a:r>
            <a:endParaRPr lang="en-US" sz="900" dirty="0"/>
          </a:p>
        </p:txBody>
      </p:sp>
      <p:sp>
        <p:nvSpPr>
          <p:cNvPr id="54" name="Text 50"/>
          <p:cNvSpPr txBox="1"/>
          <p:nvPr/>
        </p:nvSpPr>
        <p:spPr>
          <a:xfrm>
            <a:off x="639348" y="357264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12</a:t>
            </a:r>
            <a:endParaRPr lang="en-US" sz="800" dirty="0"/>
          </a:p>
        </p:txBody>
      </p:sp>
      <p:sp>
        <p:nvSpPr>
          <p:cNvPr id="55" name="Text 51"/>
          <p:cNvSpPr txBox="1"/>
          <p:nvPr/>
        </p:nvSpPr>
        <p:spPr>
          <a:xfrm>
            <a:off x="986820" y="357264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56" name="Shape 52"/>
          <p:cNvSpPr/>
          <p:nvPr/>
        </p:nvSpPr>
        <p:spPr>
          <a:xfrm>
            <a:off x="913668" y="2164472"/>
            <a:ext cx="4555175" cy="1252728"/>
          </a:xfrm>
          <a:prstGeom prst="roundRect">
            <a:avLst>
              <a:gd name="adj" fmla="val 3650"/>
            </a:avLst>
          </a:prstGeom>
          <a:solidFill>
            <a:srgbClr val="FFFFFF">
              <a:alpha val="0"/>
            </a:srgbClr>
          </a:solidFill>
          <a:ln w="31750">
            <a:solidFill>
              <a:srgbClr val="E53935"/>
            </a:solidFill>
            <a:prstDash val="solid"/>
          </a:ln>
        </p:spPr>
      </p:sp>
      <p:sp>
        <p:nvSpPr>
          <p:cNvPr id="57" name="Shape 53"/>
          <p:cNvSpPr/>
          <p:nvPr/>
        </p:nvSpPr>
        <p:spPr>
          <a:xfrm>
            <a:off x="5331684" y="2027312"/>
            <a:ext cx="274320" cy="274320"/>
          </a:xfrm>
          <a:prstGeom prst="ellipse">
            <a:avLst/>
          </a:prstGeom>
          <a:solidFill>
            <a:srgbClr val="E53935"/>
          </a:solidFill>
          <a:ln w="12700">
            <a:solidFill>
              <a:srgbClr val="FFFFFF"/>
            </a:solidFill>
            <a:prstDash val="solid"/>
          </a:ln>
        </p:spPr>
      </p:sp>
      <p:sp>
        <p:nvSpPr>
          <p:cNvPr id="58" name="Text 54"/>
          <p:cNvSpPr txBox="1"/>
          <p:nvPr/>
        </p:nvSpPr>
        <p:spPr>
          <a:xfrm>
            <a:off x="5331684" y="2027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9" name="Image 2" descr="preencoded.png">    </p:cNvPr>
          <p:cNvPicPr>
            <a:picLocks noChangeAspect="1"/>
          </p:cNvPicPr>
          <p:nvPr/>
        </p:nvPicPr>
        <p:blipFill>
          <a:blip r:embed="rId3"/>
          <a:stretch>
            <a:fillRect/>
          </a:stretch>
        </p:blipFill>
        <p:spPr>
          <a:xfrm>
            <a:off x="3417186" y="2851643"/>
            <a:ext cx="237744" cy="237744"/>
          </a:xfrm>
          <a:prstGeom prst="rect">
            <a:avLst/>
          </a:prstGeom>
        </p:spPr>
      </p:pic>
      <p:sp>
        <p:nvSpPr>
          <p:cNvPr id="60"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1"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keputusan ke proyek kelompok</a:t>
            </a:r>
            <a:endParaRPr lang="en-US" sz="1800" dirty="0"/>
          </a:p>
        </p:txBody>
      </p:sp>
      <p:sp>
        <p:nvSpPr>
          <p:cNvPr id="62"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1 keputusan sesuai proposal (misalnya pesan berbeda sesuai capaian). Tulis if/else if/else di fungsi proyek.</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Uji_Silang_Kel3 -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Uji_Silang_Kel3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Uji Silang Aplikasi Kelompok 3</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Isian</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Harapan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(kosong)</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Isi dulu</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9</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Ayo murajaah</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10</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Sedikit lagi</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20</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Tercapai</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silang dengan kelompok lain</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Tukar komputer dengan kelompok lain selama 5 menit. Uji semua kemungkinan: kosong, batas bawah, batas atas, angka besar.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Terbit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Shape 32"/>
          <p:cNvSpPr/>
          <p:nvPr/>
        </p:nvSpPr>
        <p:spPr>
          <a:xfrm>
            <a:off x="1913656" y="2354333"/>
            <a:ext cx="3487887" cy="457200"/>
          </a:xfrm>
          <a:prstGeom prst="roundRect">
            <a:avLst>
              <a:gd name="adj" fmla="val 8000"/>
            </a:avLst>
          </a:prstGeom>
          <a:solidFill>
            <a:srgbClr val="DAFBE1"/>
          </a:solidFill>
          <a:ln w="9525">
            <a:solidFill>
              <a:srgbClr val="1F883D"/>
            </a:solidFill>
            <a:prstDash val="solid"/>
          </a:ln>
        </p:spPr>
      </p:sp>
      <p:sp>
        <p:nvSpPr>
          <p:cNvPr id="41" name="Text 33"/>
          <p:cNvSpPr txBox="1"/>
          <p:nvPr/>
        </p:nvSpPr>
        <p:spPr>
          <a:xfrm>
            <a:off x="2005096" y="2381765"/>
            <a:ext cx="18288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Your site is live at</a:t>
            </a:r>
            <a:endParaRPr lang="en-US" sz="700" dirty="0"/>
          </a:p>
        </p:txBody>
      </p:sp>
      <p:sp>
        <p:nvSpPr>
          <p:cNvPr id="42" name="Text 34"/>
          <p:cNvSpPr txBox="1"/>
          <p:nvPr/>
        </p:nvSpPr>
        <p:spPr>
          <a:xfrm>
            <a:off x="2005096" y="2555501"/>
            <a:ext cx="2482047" cy="201168"/>
          </a:xfrm>
          <a:prstGeom prst="rect">
            <a:avLst/>
          </a:prstGeom>
          <a:noFill/>
          <a:ln/>
        </p:spPr>
        <p:txBody>
          <a:bodyPr wrap="square" lIns="0" tIns="0" rIns="0" bIns="0" rtlCol="0" anchor="t"/>
          <a:lstStyle/>
          <a:p>
            <a:pPr indent="0" marL="0">
              <a:buNone/>
            </a:pPr>
            <a:r>
              <a:rPr lang="en-US" sz="700" b="1" dirty="0">
                <a:solidFill>
                  <a:srgbClr val="0969DA"/>
                </a:solidFill>
                <a:latin typeface="Calibri" pitchFamily="34" charset="0"/>
                <a:ea typeface="Calibri" pitchFamily="34" charset="-122"/>
                <a:cs typeface="Calibri" pitchFamily="34" charset="-120"/>
              </a:rPr>
              <a:t>https://santri-wu-kel3.github.io/setoran-harian/</a:t>
            </a:r>
            <a:endParaRPr lang="en-US" sz="700" dirty="0"/>
          </a:p>
        </p:txBody>
      </p:sp>
      <p:sp>
        <p:nvSpPr>
          <p:cNvPr id="43" name="Shape 35"/>
          <p:cNvSpPr/>
          <p:nvPr/>
        </p:nvSpPr>
        <p:spPr>
          <a:xfrm>
            <a:off x="4624304" y="2473205"/>
            <a:ext cx="685800" cy="219456"/>
          </a:xfrm>
          <a:prstGeom prst="roundRect">
            <a:avLst>
              <a:gd name="adj" fmla="val 16667"/>
            </a:avLst>
          </a:prstGeom>
          <a:solidFill>
            <a:srgbClr val="F6F8FA"/>
          </a:solidFill>
          <a:ln w="9525">
            <a:solidFill>
              <a:srgbClr val="D0D7DE"/>
            </a:solidFill>
            <a:prstDash val="solid"/>
          </a:ln>
        </p:spPr>
      </p:sp>
      <p:sp>
        <p:nvSpPr>
          <p:cNvPr id="44" name="Text 36"/>
          <p:cNvSpPr txBox="1"/>
          <p:nvPr/>
        </p:nvSpPr>
        <p:spPr>
          <a:xfrm>
            <a:off x="4624304" y="2473205"/>
            <a:ext cx="68580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Visit site</a:t>
            </a:r>
            <a:endParaRPr lang="en-US" sz="700" dirty="0"/>
          </a:p>
        </p:txBody>
      </p:sp>
      <p:sp>
        <p:nvSpPr>
          <p:cNvPr id="45" name="Text 37"/>
          <p:cNvSpPr txBox="1"/>
          <p:nvPr/>
        </p:nvSpPr>
        <p:spPr>
          <a:xfrm>
            <a:off x="1913656" y="293040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6" name="Text 38"/>
          <p:cNvSpPr txBox="1"/>
          <p:nvPr/>
        </p:nvSpPr>
        <p:spPr>
          <a:xfrm>
            <a:off x="1913656" y="316814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7" name="Shape 39"/>
          <p:cNvSpPr/>
          <p:nvPr/>
        </p:nvSpPr>
        <p:spPr>
          <a:xfrm>
            <a:off x="1913656" y="3323597"/>
            <a:ext cx="137160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1968520" y="332359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9" name="Text 41"/>
          <p:cNvSpPr txBox="1"/>
          <p:nvPr/>
        </p:nvSpPr>
        <p:spPr>
          <a:xfrm>
            <a:off x="1913656" y="361620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50" name="Shape 42"/>
          <p:cNvSpPr/>
          <p:nvPr/>
        </p:nvSpPr>
        <p:spPr>
          <a:xfrm>
            <a:off x="1913656" y="3771653"/>
            <a:ext cx="640080" cy="201168"/>
          </a:xfrm>
          <a:prstGeom prst="roundRect">
            <a:avLst>
              <a:gd name="adj" fmla="val 18182"/>
            </a:avLst>
          </a:prstGeom>
          <a:solidFill>
            <a:srgbClr val="F6F8FA"/>
          </a:solidFill>
          <a:ln w="9525">
            <a:solidFill>
              <a:srgbClr val="D0D7DE"/>
            </a:solidFill>
            <a:prstDash val="solid"/>
          </a:ln>
        </p:spPr>
      </p:sp>
      <p:sp>
        <p:nvSpPr>
          <p:cNvPr id="51" name="Text 43"/>
          <p:cNvSpPr txBox="1"/>
          <p:nvPr/>
        </p:nvSpPr>
        <p:spPr>
          <a:xfrm>
            <a:off x="1968520"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main ▾</a:t>
            </a:r>
            <a:endParaRPr lang="en-US" sz="650" dirty="0"/>
          </a:p>
        </p:txBody>
      </p:sp>
      <p:sp>
        <p:nvSpPr>
          <p:cNvPr id="52" name="Shape 44"/>
          <p:cNvSpPr/>
          <p:nvPr/>
        </p:nvSpPr>
        <p:spPr>
          <a:xfrm>
            <a:off x="2626888" y="3771653"/>
            <a:ext cx="640080" cy="201168"/>
          </a:xfrm>
          <a:prstGeom prst="roundRect">
            <a:avLst>
              <a:gd name="adj" fmla="val 18182"/>
            </a:avLst>
          </a:prstGeom>
          <a:solidFill>
            <a:srgbClr val="F6F8FA"/>
          </a:solidFill>
          <a:ln w="9525">
            <a:solidFill>
              <a:srgbClr val="D0D7DE"/>
            </a:solidFill>
            <a:prstDash val="solid"/>
          </a:ln>
        </p:spPr>
      </p:sp>
      <p:sp>
        <p:nvSpPr>
          <p:cNvPr id="53" name="Text 45"/>
          <p:cNvSpPr txBox="1"/>
          <p:nvPr/>
        </p:nvSpPr>
        <p:spPr>
          <a:xfrm>
            <a:off x="2681752"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54" name="Shape 46"/>
          <p:cNvSpPr/>
          <p:nvPr/>
        </p:nvSpPr>
        <p:spPr>
          <a:xfrm>
            <a:off x="3340120" y="3771653"/>
            <a:ext cx="457200" cy="201168"/>
          </a:xfrm>
          <a:prstGeom prst="roundRect">
            <a:avLst>
              <a:gd name="adj" fmla="val 18182"/>
            </a:avLst>
          </a:prstGeom>
          <a:solidFill>
            <a:srgbClr val="F6F8FA"/>
          </a:solidFill>
          <a:ln w="9525">
            <a:solidFill>
              <a:srgbClr val="D0D7DE"/>
            </a:solidFill>
            <a:prstDash val="solid"/>
          </a:ln>
        </p:spPr>
      </p:sp>
      <p:sp>
        <p:nvSpPr>
          <p:cNvPr id="55" name="Text 47"/>
          <p:cNvSpPr txBox="1"/>
          <p:nvPr/>
        </p:nvSpPr>
        <p:spPr>
          <a:xfrm>
            <a:off x="3340120" y="377165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6" name="Shape 48"/>
          <p:cNvSpPr/>
          <p:nvPr/>
        </p:nvSpPr>
        <p:spPr>
          <a:xfrm>
            <a:off x="1895368" y="2336045"/>
            <a:ext cx="3524463" cy="493776"/>
          </a:xfrm>
          <a:prstGeom prst="roundRect">
            <a:avLst>
              <a:gd name="adj" fmla="val 9259"/>
            </a:avLst>
          </a:prstGeom>
          <a:solidFill>
            <a:srgbClr val="FFFFFF">
              <a:alpha val="0"/>
            </a:srgbClr>
          </a:solidFill>
          <a:ln w="31750">
            <a:solidFill>
              <a:srgbClr val="E53935"/>
            </a:solidFill>
            <a:prstDash val="solid"/>
          </a:ln>
        </p:spPr>
      </p:sp>
      <p:sp>
        <p:nvSpPr>
          <p:cNvPr id="57" name="Shape 49"/>
          <p:cNvSpPr/>
          <p:nvPr/>
        </p:nvSpPr>
        <p:spPr>
          <a:xfrm>
            <a:off x="5282672" y="2198885"/>
            <a:ext cx="274320" cy="274320"/>
          </a:xfrm>
          <a:prstGeom prst="ellipse">
            <a:avLst/>
          </a:prstGeom>
          <a:solidFill>
            <a:srgbClr val="E53935"/>
          </a:solidFill>
          <a:ln w="12700">
            <a:solidFill>
              <a:srgbClr val="FFFFFF"/>
            </a:solidFill>
            <a:prstDash val="solid"/>
          </a:ln>
        </p:spPr>
      </p:sp>
      <p:sp>
        <p:nvSpPr>
          <p:cNvPr id="58" name="Text 50"/>
          <p:cNvSpPr txBox="1"/>
          <p:nvPr/>
        </p:nvSpPr>
        <p:spPr>
          <a:xfrm>
            <a:off x="5282672"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9" name="Image 6" descr="preencoded.png">    </p:cNvPr>
          <p:cNvPicPr>
            <a:picLocks noChangeAspect="1"/>
          </p:cNvPicPr>
          <p:nvPr/>
        </p:nvPicPr>
        <p:blipFill>
          <a:blip r:embed="rId7"/>
          <a:stretch>
            <a:fillRect/>
          </a:stretch>
        </p:blipFill>
        <p:spPr>
          <a:xfrm>
            <a:off x="3831994" y="2605793"/>
            <a:ext cx="237744" cy="237744"/>
          </a:xfrm>
          <a:prstGeom prst="rect">
            <a:avLst/>
          </a:prstGeom>
        </p:spPr>
      </p:pic>
      <p:sp>
        <p:nvSpPr>
          <p:cNvPr id="60"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1"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Commit dan terbitkan dengan GitHub Pages</a:t>
            </a:r>
            <a:endParaRPr lang="en-US" sz="1800" dirty="0"/>
          </a:p>
        </p:txBody>
      </p:sp>
      <p:sp>
        <p:nvSpPr>
          <p:cNvPr id="62"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Upload index.html terbaru, commit: "Versi 2: input, hitung, dan keputusan if". Aktifkan GitHub Pages bila belum. Uji di HP.</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 Ini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 Ini</a:t>
            </a:r>
            <a:endParaRPr lang="en-US" sz="1100" dirty="0"/>
          </a:p>
        </p:txBody>
      </p:sp>
      <p:sp>
        <p:nvSpPr>
          <p:cNvPr id="32" name="Shape 25"/>
          <p:cNvSpPr/>
          <p:nvPr/>
        </p:nvSpPr>
        <p:spPr>
          <a:xfrm>
            <a:off x="1965960" y="2244605"/>
            <a:ext cx="2194560" cy="1325880"/>
          </a:xfrm>
          <a:prstGeom prst="roundRect">
            <a:avLst>
              <a:gd name="adj" fmla="val 5517"/>
            </a:avLst>
          </a:prstGeom>
          <a:solidFill>
            <a:srgbClr val="FFFFFF"/>
          </a:solidFill>
          <a:ln w="9525">
            <a:solidFill>
              <a:srgbClr val="DDDDDD"/>
            </a:solidFill>
            <a:prstDash val="solid"/>
          </a:ln>
        </p:spPr>
      </p:sp>
      <p:sp>
        <p:nvSpPr>
          <p:cNvPr id="33" name="Text 26"/>
          <p:cNvSpPr txBox="1"/>
          <p:nvPr/>
        </p:nvSpPr>
        <p:spPr>
          <a:xfrm>
            <a:off x="2057400" y="2290325"/>
            <a:ext cx="201168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Ayat yang sudah disetor (latihan):</a:t>
            </a:r>
            <a:endParaRPr lang="en-US" sz="750" dirty="0"/>
          </a:p>
        </p:txBody>
      </p:sp>
      <p:sp>
        <p:nvSpPr>
          <p:cNvPr id="34" name="Shape 27"/>
          <p:cNvSpPr/>
          <p:nvPr/>
        </p:nvSpPr>
        <p:spPr>
          <a:xfrm>
            <a:off x="2057400" y="2564645"/>
            <a:ext cx="2011680" cy="219456"/>
          </a:xfrm>
          <a:prstGeom prst="rect">
            <a:avLst/>
          </a:prstGeom>
          <a:solidFill>
            <a:srgbClr val="FFFFFF"/>
          </a:solidFill>
          <a:ln w="6350">
            <a:solidFill>
              <a:srgbClr val="999999"/>
            </a:solidFill>
            <a:prstDash val="solid"/>
          </a:ln>
        </p:spPr>
      </p:sp>
      <p:sp>
        <p:nvSpPr>
          <p:cNvPr id="35" name="Text 28"/>
          <p:cNvSpPr txBox="1"/>
          <p:nvPr/>
        </p:nvSpPr>
        <p:spPr>
          <a:xfrm>
            <a:off x="2093976" y="2564645"/>
            <a:ext cx="1920240" cy="219456"/>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14</a:t>
            </a:r>
            <a:endParaRPr lang="en-US" sz="800" dirty="0"/>
          </a:p>
        </p:txBody>
      </p:sp>
      <p:sp>
        <p:nvSpPr>
          <p:cNvPr id="36" name="Shape 29"/>
          <p:cNvSpPr/>
          <p:nvPr/>
        </p:nvSpPr>
        <p:spPr>
          <a:xfrm>
            <a:off x="2606040" y="2857253"/>
            <a:ext cx="914400" cy="219456"/>
          </a:xfrm>
          <a:prstGeom prst="roundRect">
            <a:avLst>
              <a:gd name="adj" fmla="val 50000"/>
            </a:avLst>
          </a:prstGeom>
          <a:solidFill>
            <a:srgbClr val="D4A017"/>
          </a:solidFill>
          <a:ln w="12700">
            <a:solidFill>
              <a:srgbClr val="D4A017"/>
            </a:solidFill>
            <a:prstDash val="solid"/>
          </a:ln>
        </p:spPr>
      </p:sp>
      <p:sp>
        <p:nvSpPr>
          <p:cNvPr id="37" name="Text 30"/>
          <p:cNvSpPr txBox="1"/>
          <p:nvPr/>
        </p:nvSpPr>
        <p:spPr>
          <a:xfrm>
            <a:off x="2606040" y="2857253"/>
            <a:ext cx="91440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Cek</a:t>
            </a:r>
            <a:endParaRPr lang="en-US" sz="750" dirty="0"/>
          </a:p>
        </p:txBody>
      </p:sp>
      <p:sp>
        <p:nvSpPr>
          <p:cNvPr id="38" name="Text 31"/>
          <p:cNvSpPr txBox="1"/>
          <p:nvPr/>
        </p:nvSpPr>
        <p:spPr>
          <a:xfrm>
            <a:off x="2057400" y="3140717"/>
            <a:ext cx="2011680" cy="365760"/>
          </a:xfrm>
          <a:prstGeom prst="rect">
            <a:avLst/>
          </a:prstGeom>
          <a:noFill/>
          <a:ln/>
        </p:spPr>
        <p:txBody>
          <a:bodyPr wrap="square" lIns="0" tIns="0" rIns="0" bIns="0" rtlCol="0" anchor="ctr"/>
          <a:lstStyle/>
          <a:p>
            <a:pPr algn="ctr" indent="0" marL="0">
              <a:buNone/>
            </a:pPr>
            <a:r>
              <a:rPr lang="en-US" sz="800" b="1" dirty="0">
                <a:solidFill>
                  <a:srgbClr val="1F7A5C"/>
                </a:solidFill>
                <a:latin typeface="Arial" pitchFamily="34" charset="0"/>
                <a:ea typeface="Arial" pitchFamily="34" charset="-122"/>
                <a:cs typeface="Arial" pitchFamily="34" charset="-120"/>
              </a:rPr>
              <a:t>Sedikit lagi, semangat!</a:t>
            </a:r>
            <a:endParaRPr lang="en-US" sz="800" dirty="0"/>
          </a:p>
        </p:txBody>
      </p:sp>
      <p:sp>
        <p:nvSpPr>
          <p:cNvPr id="39" name="Shape 32"/>
          <p:cNvSpPr/>
          <p:nvPr/>
        </p:nvSpPr>
        <p:spPr>
          <a:xfrm>
            <a:off x="633496" y="1695965"/>
            <a:ext cx="4859487" cy="1956816"/>
          </a:xfrm>
          <a:prstGeom prst="roundRect">
            <a:avLst>
              <a:gd name="adj" fmla="val 2336"/>
            </a:avLst>
          </a:prstGeom>
          <a:solidFill>
            <a:srgbClr val="FFFFFF">
              <a:alpha val="0"/>
            </a:srgbClr>
          </a:solidFill>
          <a:ln w="31750">
            <a:solidFill>
              <a:srgbClr val="E53935"/>
            </a:solidFill>
            <a:prstDash val="solid"/>
          </a:ln>
        </p:spPr>
      </p:sp>
      <p:sp>
        <p:nvSpPr>
          <p:cNvPr id="40" name="Shape 33"/>
          <p:cNvSpPr/>
          <p:nvPr/>
        </p:nvSpPr>
        <p:spPr>
          <a:xfrm>
            <a:off x="5355824" y="1558805"/>
            <a:ext cx="274320" cy="274320"/>
          </a:xfrm>
          <a:prstGeom prst="ellipse">
            <a:avLst/>
          </a:prstGeom>
          <a:solidFill>
            <a:srgbClr val="E53935"/>
          </a:solidFill>
          <a:ln w="12700">
            <a:solidFill>
              <a:srgbClr val="FFFFFF"/>
            </a:solidFill>
            <a:prstDash val="solid"/>
          </a:ln>
        </p:spPr>
      </p:sp>
      <p:sp>
        <p:nvSpPr>
          <p:cNvPr id="41" name="Text 34"/>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2"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3"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aplikasi versi 2 (3 menit)</a:t>
            </a:r>
            <a:endParaRPr lang="en-US" sz="1800" dirty="0"/>
          </a:p>
        </p:txBody>
      </p:sp>
      <p:sp>
        <p:nvSpPr>
          <p:cNvPr id="44"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Demo di HP/proyektor. Jelaskan: input-proses-output, keputusan if, satu bug yang diperbaiki, dan rencana Semester Genap.</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Aplikasi Web Sederhana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Aplikasi kelompok versi 2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input, proses, output dengan fungsi dan onclick.</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percabangan if/else (minimal 2 kemungkinan hasil) dan pengecekan isian kosong.</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Lolos uji silang nilai batas; online di GitHub Pages; tanpa data pribadi.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Dipresentasikan; santri mampu menjelaskan setiap bagian kode.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6: JavaScript Dasar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if/else yang bekerja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Diuji dengan nilai batas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Aplikasi online di GitHub Pages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Dipresentasikan dan dijelaskan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Keputusan apa yang dibuat aplikasimu?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pencapaianmu di Semester Ganjil Kelas IX?</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Setiap keputusan punya akibat. Berpikirlah sebelum memutuskan, dalam kode maupun dalam kehidupan.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Semester Genap, Modul 7: Database Sederhana.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6 - JavaScript Dasar</dc:title>
  <dc:subject>PptxGenJS Presentation</dc:subject>
  <dc:creator>PptxGenJS</dc:creator>
  <cp:lastModifiedBy>PptxGenJS</cp:lastModifiedBy>
  <cp:revision>1</cp:revision>
  <dcterms:created xsi:type="dcterms:W3CDTF">2026-10-02T07:56:28Z</dcterms:created>
  <dcterms:modified xsi:type="dcterms:W3CDTF">2026-10-02T07:56:28Z</dcterms:modified>
</cp:coreProperties>
</file>