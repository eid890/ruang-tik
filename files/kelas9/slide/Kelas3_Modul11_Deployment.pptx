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11: Deployment — Proyek: Aplikasi Online Siap Pakai
Terdiri dari 3 pertemuan (Pertemuan 31–33 Kelas IX),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Modul ini membawa aplikasi kelompok ke versi 1.0 yang siap dipakai. Selama pembelajaran, data tetap DATA LATIHAN.
- Jika ada aplikasi yang ingin dipakai sungguhan oleh pengguna di pondok (misalnya perpustakaan atau halaqah), WAJIB izin pimpinan dan pendampingan guru, serta tetap tidak menyimpan data pribadi sensitif.
- Pertemuan 32 membahas cadangan data dan cara kembali ke versi lama. Pastikan setiap kelompok memiliki minimal 3 commit dan 2 versi deployment Apps Script.
- Setelah proyek selesai dan tidak dipakai lagi, nonaktifkan backend: Apps Script › Deploy › Manage deployments › Archive.
CATATAN
Istilah: deployment (proses merilis aplikasi agar bisa dipakai), development vs production (tahap pengembangan vs tahap dipakai pengguna), versi MAYOR.MINOR.PERBAIKAN (contoh v1.2.1), release (rilis resmi dengan catatan), rollback (kembali ke versi sebelumnya), backup (cadangan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ke-31, dengan judul "Siap Rilis". Kita menyiapkan aplikasi kelompok untuk dirilis sebagai versi 1.0.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menguji kegunaan aplikasi. Siapa yang ingat, jika pengguna gagal menyelesaikan tugas, itu kesalahan siapa?
(Tunggu jawaban: kesalahan desain, bukan pengguna.)
Sekarang pertanyaan hari ini. Coba pikirkan sejenak:
"Apa bedanya aplikasi yang sedang dikerjakan dengan aplikasi yang siap dipakai orang banyak?"
(Beri waktu 1 menit. Minta 2–3 santri menjawab. Hargai semua jawaban.)
Aplikasi yang sedang dikerjakan boleh berantakan dan sering berubah. Aplikasi yang siap dipakai harus stabil, teruji, aman, dan punya catatan versi yang jelas. Proses membawa aplikasi ke tahap siap pakai disebut DEPLOYMENT, dan versi resminya disebut RELEASE. Hari ini kita menyiapkan versi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pembuat aplikasi membedakan dua tahap.
DEVELOPMENT, tahap pengembangan: aplikasi boleh sering berubah, kadang rusak, berisi data uji, dan console.log di mana-mana. Hanya tim pembuat yang memakainya.
PRODUCTION, tahap dipakai: aplikasi harus stabil, teruji, dan aman. Setiap perubahan dicatat dan diumumkan, dan ada cara bagi pengguna untuk melaporkan masalah.
Selama Kelas IX, aplikasi kalian berada di tahap development. Hari ini kita menyiapkannya menuju production versi 1.0. Ingat: penggunaan sungguhan di pondok tetap memerlukan izin pimpinan.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rilis, periksa lima hal.
FUNGSI: semua test case lulus, fitur utama bekerja di HP dan komputer.
TAMPILAN: rapi di HP, dan hasil uji kegunaan sudah diperbaiki.
KEAMANAN: tanpa data pribadi, ada validasi di backend, menampilkan dengan textContent, dan tidak ada kata sandi di kode.
KEBERSIHAN KODE: console.log untuk pengujian dihapus, komentar rapi, dan file yang tidak terpakai dihapus.
DOKUMENTASI: README berisi tujuan, cara pakai, changelog, pembuat, dan peran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profesional memakai nomor versi dengan tiga angka: MAYOR titik MINOR titik PERBAIKAN.
Angka pertama, MAYOR, berwarna merah: naik jika ada perubahan besar yang mengubah cara pakai. Rilis resmi pertama diberi nomor 1.0.0.
Angka kedua, MINOR, berwarna biru: naik jika ada fitur baru, sementara cara lama tetap bisa dipakai.
Angka ketiga, PERBAIKAN, berwarna hijau: naik jika hanya memperbaiki bug kecil.
Contoh di bawah: v1.0.0 rilis pertama, lalu v1.1.0 menambah fitur grafik, lalu v1.1.1 memperbaiki salah hitung. Dari nomornya saja, pengguna tahu seberapa besar perubahannya.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aplikasi kelompok, repository GitHub, dan dokumen-dokumen proyek dari modul sebelumnya.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Buat dokumen Rilis v1 kelompok. Tulis tabel daftar periksa: lima bagian, status ya atau belum, dan catatan. Jalankan ulang semua test case dari Modul 9 untuk mengisi bagian fungsi.
Contoh di layar: dua bagian masih belum, yaitu kebersihan kode dan dokumentasi. Kita selesaikan sekarang.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Bersihkan kode. Hapus console.log yang dipakai saat pengujian, baris yang dijadikan komentar dan tidak dipakai lagi, serta file latihan di repository seperti index_latihan.html.
Periksa sekali lagi: tidak ada kata sandi atau informasi rahasia di kode. Web app URL boleh ada, karena backend sudah dilindungi validasi dan hanya berisi data latihan.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Versi pertama yang siap dirilis diberi nomor v1.0.0. Tulis catatan rilis berdasarkan changelog: fitur utama, perbaikan, keterangan data latihan, dan cara melaporkan masalah. Catatan ini akan ditempel di GitHub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Buka repository proyek di GitHub. Di kolom kanan ada bagian Releases. Klik Create a new release, atau Draft a new release.
Jika kolom kanan tidak terlihat karena layar sempit, gulir ke bawah halaman.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Klik Choose a tag, ketik v1.0.0, lalu Create new tag, tanda a. Isi Release title: Setoran Harian v1.0.0, tanda b. Tempel catatan rilis di kotak deskripsi, tanda c. Format Markdown dari Kelas VIII bisa dipakai di sini.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Klik Publish release. Release v1.0.0 tampil di halaman repository, lengkap dengan catatan dan arsip kode versi itu.
Masya Allah, aplikasi kelompok kalian memiliki rilis resmi pertama. Jika nanti ada perubahan, versinya naik sesuai aturan tadi.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Kelompok mengumpulkan: daftar periksa rilis yang lengkap, kode bersih, catatan rilis, dan GitHub Release v1.0.0.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daftar rilis terisi lengkap?
- nomor versi ditentukan?
- gitHub Release v1.0 dibuat?
- catatan rilis jelas?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bagian daftar rilis mana yang belum terpenuhi?
Pertanyaan kedua: mengapa nomor versi penting?
(Minta 2–3 santri menjawab secara bergantian.)
Pesan adab kita hari ini: serahkan pekerjaan dalam keadaan terbaik. Allah mencintai seseorang yang jika bekerja, ia menyempurnakan pekerjaannya. Itulah ihsan dan amanah dalam berkarya.
Pekan depan: merawat aplikasi: laporan masalah, cadangan, dan kembali ke versi lama.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ke-32, dengan judul "Merawat Aplikasi". Aplikasi yang baik tidak berhenti setelah dirilis; ia harus dirawat.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merilis versi 1.0.0. Siapa yang ingat, angka mana yang naik jika hanya memperbaiki bug kecil?
(Tunggu jawaban: angka ketiga, PERBAIKAN.)
Sekarang pertanyaan hari ini. Coba pikirkan sejenak:
"Jika setelah dirilis tiba-tiba aplikasi rusak, apa yang harus dilakukan?"
(Beri waktu 1 menit. Minta 2–3 santri menjawab. Hargai semua jawaban.)
Pertama, kita harus TAHU bahwa ada masalah: perlu saluran laporan dari pengguna. Kedua, data harus AMAN: perlu cadangan. Ketiga, kita bisa KEMBALI ke versi sebelumnya yang masih benar, sambil memperbaiki. Hari ini kita menyiapkan ketiganya.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Merawat aplikasi memiliki tiga pilar.
LAPORAN MASALAH: pengguna perlu cara mudah untuk melapor, misalnya formulir Laporkan Masalah yang ditautkan di aplikasi. Tanpa ini, kita tidak tahu aplikasi bermasalah.
CADANGAN atau backup: salinan data dan kode yang dibuat secara berkala, sebelum masalah terjadi.
KEMBALI atau rollback: jika rilis baru bermasalah besar, kita memakai lagi versi lama yang masih benar, sambil memperbaiki.
Contoh alurnya di bawah: pengguna melapor total salah, tim memeriksa, ternyata bug berat, maka kembali ke v1.0.0, perbaiki, lalu rilis v1.0.1.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Formulir laporan masalah yang baik menanyakan empat hal.
APA YANG TERJADI: dengan pilihan, misalnya tidak bisa simpan, hasil salah, tampilan rusak, atau lainnya.
LANGKAH SEBELUMNYA: apa yang dilakukan pengguna sebelum masalah muncul. Ini membantu kita mengulang bug, langkah kedua debugging.
PERANGKAT: HP atau komputer, dan browser apa.
TANPA DATA PRIBADI: tidak meminta nama lengkap, nomor HP, atau kata sandi.
Kalian sudah mahir membuat Google Forms sejak Kelas VIII.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aplikasi, repository GitHub, Google Sheets, dan Apps Script kelompok.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Buat Google Form baru: Laporkan Masalah, nama aplikasi. Tulis deskripsi: bantu kami memperbaiki aplikasi, tanpa nama dan data pribadi.
Tambahkan pertanyaan: apa yang terjadi, dengan pilihan ganda; apa yang kamu lakukan sebelumnya, dengan paragraf; dan perangkat yang dipakai, dengan pilihan.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Salin tautan formulir lewat Send, ikon link, Copy. Di index.html, tambahkan bagian footer di bawah aplikasi berisi tautan Laporkan Masalah dan nomor versi, misalnya v1.0, Maret 2027.
Dengan begitu, pengguna yang menemukan masalah tahu harus melapor ke 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Cadangkan data. Di Google Sheets, klik File, Download, tanda a, lalu Microsoft Excel titik xlsx, tanda b. Simpan di folder Cadangan dalam portofolio, dengan nama yang memuat tanggal, misalnya Cadangan_Setoran_2027-03-15.
Cara lain: File, Make a copy, untuk salinan di Drive. Google Sheets juga menyimpan Version history, riwayat versi otomatis, yang bisa dibuka lewat menu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Cadangkan juga kode. Di halaman GitHub Release v1.0.0, unduh Source code berformat zip, lalu simpan di folder Cadangan. Salin juga isi Code.gs dari Apps Script ke file teks.
Sekarang folder Cadangan berisi data, kode website, dan kode backend. Jika terjadi sesuatu, semuanya bisa dipulihkan.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Latihan melihat versi lama di GitHub. Buka Commits, pilih salah satu commit lama, lalu klik Browse files, atau ikon kurung sudut di sebelahnya.
Yang tampil adalah kode persis pada saat commit itu dibuat. Jika rilis baru bermasalah, file dari versi lama bisa diunduh dan diunggah kembali, lalu di-commit dengan pesan: Kembali ke versi sebelumnya karena bug tertentu.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Backend juga bisa dikembalikan. Di Apps Script, klik Deploy, Manage deployments, ikon pensil. Pada Version, pilih versi sebelumnya, lalu Deploy. URL tetap sama, tetapi backend kini menjalankan kode versi lama.
Lakukan latihan ini bersama guru, lalu kembalikan ke versi terbaru.
Kemampuan kembali ke versi lama membuat kita berani memperbaiki, karena tahu ada jalan pulang jika sesuatu salah.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Kelompok mengumpulkan: formulir laporan masalah yang tertaut di aplikasi, folder cadangan lengkap, serta langkah-langkah rollback GitHub dan Apps Script yang ditulis sendiri.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formulir laporan masalah tersambung?
- cadangan Sheets dibuat?
- bisa melihat versi lama di GitHub?
- bisa memilih versi lama Apps Script?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mengapa cadangan harus dibuat sebelum masalah terjadi?
Pertanyaan kedua: siapa yang bertanggung jawab merawat aplikasimu?
(Minta 2–3 santri menjawab secara bergantian.)
Pesan adab kita hari ini: bersiap sebelum musibah adalah ikhtiar. Rasulullah mengajarkan: ikatlah untamu, lalu bertawakallah. Membuat cadangan adalah mengikat unta; setelah itu kita bertawakal kepada Allah.
Pekan depan: proyek Aplikasi Online Siap Pakai.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ke-33, dengan judul "Aplikasi Online Siap Pakai". Hari ini kita menyiapkan aplikasi agar bisa dipakai orang lain tanpa penjelasan dari kita.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belajar merawat aplikasi. Siapa yang ingat tiga pilar merawat aplikasi?
(Tunggu jawaban: laporan masalah, cadangan, kembali ke versi lama.)
Sekarang pertanyaan hari ini. Coba pikirkan sejenak:
"Jika aplikasimu diberikan kepada orang yang tidak mengenal kalian, apakah ia bisa langsung memakainya?"
(Beri waktu 1 menit. Minta 2–3 santri menjawab. Hargai semua jawaban.)
Aplikasi yang benar-benar siap pakai bisa dipakai tanpa pembuatnya hadir. Untuk itu, perlu PANDUAN PENGGUNA yang singkat dan jelas, pengujian di berbagai perangkat, dan cara mudah membukanya, misalnya QR code. Hari ini kita menyiapkan semuanya.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Panduan pengguna yang baik itu SINGKAT, cukup satu halaman, dan berisi empat bagian.
UNTUK APA: satu kalimat tujuan aplikasi dan siapa penggunanya.
CARA PAKAI: tiga sampai lima langkah bernomor untuk tugas utama, dengan bahasa sederhana. Ingat algoritma di Modul 1: jelas dan berurutan.
PERTANYAAN UMUM: jawaban untuk pertanyaan yang sering muncul saat uji kegunaan.
JIKA ADA MASALAH: tautan laporkan masalah dan nama pembina, misalnya guru TIK.
Panduan bisa diletakkan di halaman Cara Pakai dalam aplikasi, dan di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Ini proyek penutup Modul 11. Setelah ini, aplikasi kelompok kalian siap menjadi bagian utama Proyek 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Tulis panduan pengguna di Docs: untuk apa aplikasi ini, cara pakai tiga sampai lima langkah, dua atau tiga pertanyaan umum dari hasil uji kegunaan, dan apa yang dilakukan jika ada masalah.
Minta satu teman dari kelompok lain membacanya. Jika ia bisa mengikuti tanpa bertanya, panduan sudah baik.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Masukkan panduan ke aplikasi: buat file cara-pakai.html dengan gaya yang sama, atau bagian yang bisa dibuka dan ditutup di halaman utama. Tautkan dari footer. Perbarui juga README dengan bagian Cara 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Uji aplikasi di minimal tiga perangkat berbeda: dua HP berbeda dan satu komputer, dengan browser berbeda jika bisa. Jalankan tugas utama di setiap perangkat, lalu catat perangkat, browser, dan hasilnya.
Kadang aplikasi berjalan baik di satu HP tetapi berbeda di HP lain. Lebih baik ketahuan sekarang daripada oleh pengguna.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Buat QR code aplikasi seperti di Kelas VIII Modul 11: buka aplikasi online, klik kanan, Create QR code, lalu Download. Di Canva, buat poster mini ukuran A5: nama aplikasi, logo pondok, QR code, tiga langkah singkat, dan keterangan pembuat.
Ingat aturan QR: label jelas, dan hanya ditempel di tempat yang diizinkan.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Jika ada perubahan sejak v1.0.0, misalnya halaman Cara Pakai dan perbaikan tampilan di salah satu HP, naikkan versi menjadi v1.0.1, tanda a, karena hanya perbaikan kecil. Perbarui changelog, lalu buat Release baru dengan catatan perubahannya, tanda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Setiap kelompok mempresentasikan aplikasi siap pakai selama empat menit. Uji yang paling meyakinkan: minta seorang teman dari kelompok lain memindai QR dari poster dan memakai aplikasi TANPA penjelasan dari kalian.
Lalu tunjukkan panduan pengguna, hasil uji multi-perangkat, dan rencana perawatan: laporan masalah, cadangan, dan rollback.
(Jika ada aplikasi yang layak dipakai sungguhan di pondok, guru dapat mengusulkannya kepada pimpinan untuk mendapat izin.)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dinyatakan selesai jika: lolos daftar rilis dengan GitHub Release, panduan pengguna dan tautan laporan masalah tersedia, sudah diuji di tiga perangkat dengan QR dan poster siap, serta cadangan tersimpan dan sudah dipresentasikan.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panduan pengguna tersedia?
- uji di minimal 3 perangkat?
- qR aplikasi siap?
- presentasi dan rencana perawatan?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yang membuat aplikasimu siap dipakai orang lain?
Pertanyaan kedua: apa rencanamu jika ada laporan masalah?
(Minta 2–3 santri menjawab secara bergantian.)
Pesan adab kita hari ini: ilmu dan karya yang bermanfaat bagi orang lain adalah amal jariyah. Jika aplikasi kalian kelak membantu santri lain menjaga hafalannya, pahalanya terus mengalir, insya Allah.
Pekan depan: kita masuk Modul 12: Proyek Akhir, Digital Solution Project. Alhamdulillah, Modul 11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slideLayout" Target="../slideLayouts/slideLayout1.xml"/><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slideLayout" Target="../slideLayouts/slideLayout1.xml"/><Relationship Id="rId11"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image" Target="../media/image-27-11.png"/><Relationship Id="rId12" Type="http://schemas.openxmlformats.org/officeDocument/2006/relationships/slideLayout" Target="../slideLayouts/slideLayout1.xml"/><Relationship Id="rId1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slideLayout" Target="../slideLayouts/slideLayout1.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1.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9.png"/><Relationship Id="rId10" Type="http://schemas.openxmlformats.org/officeDocument/2006/relationships/slideLayout" Target="../slideLayouts/slideLayout1.xml"/><Relationship Id="rId11"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slideLayout" Target="../slideLayouts/slideLayout1.xml"/><Relationship Id="rId8"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image" Target="../media/image-40-9.png"/><Relationship Id="rId10" Type="http://schemas.openxmlformats.org/officeDocument/2006/relationships/image" Target="../media/image-40-10.png"/><Relationship Id="rId11" Type="http://schemas.openxmlformats.org/officeDocument/2006/relationships/slideLayout" Target="../slideLayouts/slideLayout1.xml"/><Relationship Id="rId1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2.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slideLayout" Target="../slideLayouts/slideLayout1.xml"/><Relationship Id="rId10"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slideLayout" Target="../slideLayouts/slideLayout1.xml"/><Relationship Id="rId7"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3 WUSTHA  ·  SEMESTER 2  ·  MODUL 11</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Deployment</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Aplikasi Online Siap Pakai</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merilis aplikasi secara bertanggung jawab: memeriksa kesiapan dengan daftar rilis, memberi nomor versi dan membuat GitHub Release, menyiapkan laporan masalah, cadangan data, cara kembali ke versi lama, serta panduan pengguna.</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31</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Siap Rilis</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32</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Merawat Aplikasi</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33</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Aplikasi Online Siap Pakai</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GitHub (Releases, Pages), Google Sheets dan Apps Script, Google Forms, Canva/Chrome untuk QR, HP untuk uji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31</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Siap Rilis</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Daftar rilis, nomor versi, dan GitHub Release</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11: Deployment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Apa bedanya aplikasi yang sedang dikerjakan dengan aplikasi yang siap dipakai orang banyak?</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31</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Membedakan tahap pengembangan dan tahap dipakai pengguna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Memeriksa kesiapan aplikasi dengan daftar rilis</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Memberi nomor versi dan membuat GitHub Release</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Tahap Pengembangan vs Tahap Dipakai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Production (Dipakai)</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Stabil, teruji, aman</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Perubahan dicatat dan diumumkan</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Ada cara melapor masalah</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Development (Dikerjakan)</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Boleh sering berubah dan rusak</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Data uji, console.log di mana-mana</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Hanya dipakai tim pembuat</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Daftar Periksa Rilis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5908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Fungsi</a:t>
            </a:r>
            <a:endParaRPr lang="en-US" sz="1600" dirty="0"/>
          </a:p>
        </p:txBody>
      </p:sp>
      <p:sp>
        <p:nvSpPr>
          <p:cNvPr id="13" name="Text 8"/>
          <p:cNvSpPr txBox="1"/>
          <p:nvPr/>
        </p:nvSpPr>
        <p:spPr>
          <a:xfrm>
            <a:off x="6400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Semua test case lulus; fitur utama bekerja di HP dan komputer.</a:t>
            </a:r>
            <a:endParaRPr lang="en-US" sz="1250" dirty="0"/>
          </a:p>
        </p:txBody>
      </p:sp>
      <p:sp>
        <p:nvSpPr>
          <p:cNvPr id="14" name="Shape 9"/>
          <p:cNvSpPr/>
          <p:nvPr/>
        </p:nvSpPr>
        <p:spPr>
          <a:xfrm>
            <a:off x="3276600" y="1097280"/>
            <a:ext cx="25908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34594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3596640" y="1417320"/>
            <a:ext cx="274320" cy="274320"/>
          </a:xfrm>
          <a:prstGeom prst="rect">
            <a:avLst/>
          </a:prstGeom>
        </p:spPr>
      </p:pic>
      <p:sp>
        <p:nvSpPr>
          <p:cNvPr id="17" name="Text 11"/>
          <p:cNvSpPr txBox="1"/>
          <p:nvPr/>
        </p:nvSpPr>
        <p:spPr>
          <a:xfrm>
            <a:off x="41452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Tampilan</a:t>
            </a:r>
            <a:endParaRPr lang="en-US" sz="1600" dirty="0"/>
          </a:p>
        </p:txBody>
      </p:sp>
      <p:sp>
        <p:nvSpPr>
          <p:cNvPr id="18" name="Text 12"/>
          <p:cNvSpPr txBox="1"/>
          <p:nvPr/>
        </p:nvSpPr>
        <p:spPr>
          <a:xfrm>
            <a:off x="34594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Rapi di HP; hasil uji kegunaan sudah diperbaiki.</a:t>
            </a:r>
            <a:endParaRPr lang="en-US" sz="1250" dirty="0"/>
          </a:p>
        </p:txBody>
      </p:sp>
      <p:sp>
        <p:nvSpPr>
          <p:cNvPr id="19" name="Shape 13"/>
          <p:cNvSpPr/>
          <p:nvPr/>
        </p:nvSpPr>
        <p:spPr>
          <a:xfrm>
            <a:off x="6096000" y="1097280"/>
            <a:ext cx="25908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278880" y="128016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6416040" y="1417320"/>
            <a:ext cx="274320" cy="274320"/>
          </a:xfrm>
          <a:prstGeom prst="rect">
            <a:avLst/>
          </a:prstGeom>
        </p:spPr>
      </p:pic>
      <p:sp>
        <p:nvSpPr>
          <p:cNvPr id="22" name="Text 15"/>
          <p:cNvSpPr txBox="1"/>
          <p:nvPr/>
        </p:nvSpPr>
        <p:spPr>
          <a:xfrm>
            <a:off x="69646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Keamanan</a:t>
            </a:r>
            <a:endParaRPr lang="en-US" sz="1600" dirty="0"/>
          </a:p>
        </p:txBody>
      </p:sp>
      <p:sp>
        <p:nvSpPr>
          <p:cNvPr id="23" name="Text 16"/>
          <p:cNvSpPr txBox="1"/>
          <p:nvPr/>
        </p:nvSpPr>
        <p:spPr>
          <a:xfrm>
            <a:off x="62788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Tanpa data pribadi; validasi backend; textContent; tanpa kata sandi di kode.</a:t>
            </a:r>
            <a:endParaRPr lang="en-US" sz="1250" dirty="0"/>
          </a:p>
        </p:txBody>
      </p:sp>
      <p:sp>
        <p:nvSpPr>
          <p:cNvPr id="24" name="Shape 17"/>
          <p:cNvSpPr/>
          <p:nvPr/>
        </p:nvSpPr>
        <p:spPr>
          <a:xfrm>
            <a:off x="457200" y="2948940"/>
            <a:ext cx="25908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6400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777240" y="3268980"/>
            <a:ext cx="274320" cy="274320"/>
          </a:xfrm>
          <a:prstGeom prst="rect">
            <a:avLst/>
          </a:prstGeom>
        </p:spPr>
      </p:pic>
      <p:sp>
        <p:nvSpPr>
          <p:cNvPr id="27" name="Text 19"/>
          <p:cNvSpPr txBox="1"/>
          <p:nvPr/>
        </p:nvSpPr>
        <p:spPr>
          <a:xfrm>
            <a:off x="13258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Kebersihan Kode</a:t>
            </a:r>
            <a:endParaRPr lang="en-US" sz="1600" dirty="0"/>
          </a:p>
        </p:txBody>
      </p:sp>
      <p:sp>
        <p:nvSpPr>
          <p:cNvPr id="28" name="Text 20"/>
          <p:cNvSpPr txBox="1"/>
          <p:nvPr/>
        </p:nvSpPr>
        <p:spPr>
          <a:xfrm>
            <a:off x="6400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console.log uji dihapus; komentar rapi; file tidak terpakai dihapus.</a:t>
            </a:r>
            <a:endParaRPr lang="en-US" sz="1250" dirty="0"/>
          </a:p>
        </p:txBody>
      </p:sp>
      <p:sp>
        <p:nvSpPr>
          <p:cNvPr id="29" name="Shape 21"/>
          <p:cNvSpPr/>
          <p:nvPr/>
        </p:nvSpPr>
        <p:spPr>
          <a:xfrm>
            <a:off x="3276600" y="2948940"/>
            <a:ext cx="2590800" cy="1668780"/>
          </a:xfrm>
          <a:prstGeom prst="roundRect">
            <a:avLst>
              <a:gd name="adj" fmla="val 6575"/>
            </a:avLst>
          </a:prstGeom>
          <a:solidFill>
            <a:srgbClr val="E6F2EC"/>
          </a:solidFill>
          <a:ln w="12700">
            <a:solidFill>
              <a:srgbClr val="E6F2EC"/>
            </a:solidFill>
            <a:prstDash val="solid"/>
          </a:ln>
        </p:spPr>
      </p:sp>
      <p:sp>
        <p:nvSpPr>
          <p:cNvPr id="30" name="Shape 22"/>
          <p:cNvSpPr/>
          <p:nvPr/>
        </p:nvSpPr>
        <p:spPr>
          <a:xfrm>
            <a:off x="3459480" y="3131820"/>
            <a:ext cx="548640" cy="548640"/>
          </a:xfrm>
          <a:prstGeom prst="ellipse">
            <a:avLst/>
          </a:prstGeom>
          <a:solidFill>
            <a:srgbClr val="0F4C3A"/>
          </a:solidFill>
          <a:ln/>
        </p:spPr>
      </p:sp>
      <p:pic>
        <p:nvPicPr>
          <p:cNvPr id="31" name="Image 6" descr="preencoded.png">    </p:cNvPr>
          <p:cNvPicPr>
            <a:picLocks noChangeAspect="1"/>
          </p:cNvPicPr>
          <p:nvPr/>
        </p:nvPicPr>
        <p:blipFill>
          <a:blip r:embed="rId7"/>
          <a:stretch>
            <a:fillRect/>
          </a:stretch>
        </p:blipFill>
        <p:spPr>
          <a:xfrm>
            <a:off x="3596640" y="3268980"/>
            <a:ext cx="274320" cy="274320"/>
          </a:xfrm>
          <a:prstGeom prst="rect">
            <a:avLst/>
          </a:prstGeom>
        </p:spPr>
      </p:pic>
      <p:sp>
        <p:nvSpPr>
          <p:cNvPr id="32" name="Text 23"/>
          <p:cNvSpPr txBox="1"/>
          <p:nvPr/>
        </p:nvSpPr>
        <p:spPr>
          <a:xfrm>
            <a:off x="41452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Dokumentasi</a:t>
            </a:r>
            <a:endParaRPr lang="en-US" sz="1600" dirty="0"/>
          </a:p>
        </p:txBody>
      </p:sp>
      <p:sp>
        <p:nvSpPr>
          <p:cNvPr id="33" name="Text 24"/>
          <p:cNvSpPr txBox="1"/>
          <p:nvPr/>
        </p:nvSpPr>
        <p:spPr>
          <a:xfrm>
            <a:off x="34594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README: tujuan, cara pakai, changelog, pembuat, peran AI.</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Nomor Versi: MAYOR.MINOR.PERBAIKAN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914400"/>
          </a:xfrm>
          <a:prstGeom prst="rect">
            <a:avLst/>
          </a:prstGeom>
          <a:noFill/>
          <a:ln/>
        </p:spPr>
        <p:txBody>
          <a:bodyPr wrap="square" lIns="0" tIns="0" rIns="0" bIns="0" rtlCol="0" anchor="ctr"/>
          <a:lstStyle/>
          <a:p>
            <a:pPr algn="ctr" indent="0" marL="0">
              <a:buNone/>
            </a:pPr>
            <a:r>
              <a:rPr lang="en-US" sz="5400" dirty="0">
                <a:solidFill>
                  <a:srgbClr val="5F6F68"/>
                </a:solidFill>
                <a:latin typeface="Courier New" pitchFamily="34" charset="0"/>
                <a:ea typeface="Courier New" pitchFamily="34" charset="-122"/>
                <a:cs typeface="Courier New" pitchFamily="34" charset="-120"/>
              </a:rPr>
              <a:t>v</a:t>
            </a:r>
            <a:pPr algn="ctr" indent="0" marL="0">
              <a:buNone/>
            </a:pPr>
            <a:r>
              <a:rPr lang="en-US" sz="5400" b="1" dirty="0">
                <a:solidFill>
                  <a:srgbClr val="E53935"/>
                </a:solidFill>
                <a:latin typeface="Courier New" pitchFamily="34" charset="0"/>
                <a:ea typeface="Courier New" pitchFamily="34" charset="-122"/>
                <a:cs typeface="Courier New" pitchFamily="34" charset="-120"/>
              </a:rPr>
              <a:t>1</a:t>
            </a:r>
            <a:pPr algn="ctr" indent="0" marL="0">
              <a:buNone/>
            </a:pPr>
            <a:r>
              <a:rPr lang="en-US" sz="5400" dirty="0">
                <a:solidFill>
                  <a:srgbClr val="1E2A26"/>
                </a:solidFill>
                <a:latin typeface="Courier New" pitchFamily="34" charset="0"/>
                <a:ea typeface="Courier New" pitchFamily="34" charset="-122"/>
                <a:cs typeface="Courier New" pitchFamily="34" charset="-120"/>
              </a:rPr>
              <a:t>.</a:t>
            </a:r>
            <a:pPr algn="ctr" indent="0" marL="0">
              <a:buNone/>
            </a:pPr>
            <a:r>
              <a:rPr lang="en-US" sz="5400" b="1" dirty="0">
                <a:solidFill>
                  <a:srgbClr val="0078D4"/>
                </a:solidFill>
                <a:latin typeface="Courier New" pitchFamily="34" charset="0"/>
                <a:ea typeface="Courier New" pitchFamily="34" charset="-122"/>
                <a:cs typeface="Courier New" pitchFamily="34" charset="-120"/>
              </a:rPr>
              <a:t>2</a:t>
            </a:r>
            <a:pPr algn="ctr" indent="0" marL="0">
              <a:buNone/>
            </a:pPr>
            <a:r>
              <a:rPr lang="en-US" sz="5400" dirty="0">
                <a:solidFill>
                  <a:srgbClr val="1E2A26"/>
                </a:solidFill>
                <a:latin typeface="Courier New" pitchFamily="34" charset="0"/>
                <a:ea typeface="Courier New" pitchFamily="34" charset="-122"/>
                <a:cs typeface="Courier New" pitchFamily="34" charset="-120"/>
              </a:rPr>
              <a:t>.</a:t>
            </a:r>
            <a:pPr algn="ctr" indent="0" marL="0">
              <a:buNone/>
            </a:pPr>
            <a:r>
              <a:rPr lang="en-US" sz="5400" b="1" dirty="0">
                <a:solidFill>
                  <a:srgbClr val="1F7A5C"/>
                </a:solidFill>
                <a:latin typeface="Courier New" pitchFamily="34" charset="0"/>
                <a:ea typeface="Courier New" pitchFamily="34" charset="-122"/>
                <a:cs typeface="Courier New" pitchFamily="34" charset="-120"/>
              </a:rPr>
              <a:t>1</a:t>
            </a:r>
            <a:endParaRPr lang="en-US" sz="5400" dirty="0"/>
          </a:p>
        </p:txBody>
      </p:sp>
      <p:sp>
        <p:nvSpPr>
          <p:cNvPr id="10" name="Shape 6"/>
          <p:cNvSpPr/>
          <p:nvPr/>
        </p:nvSpPr>
        <p:spPr>
          <a:xfrm>
            <a:off x="457200" y="2240280"/>
            <a:ext cx="2606040" cy="1463040"/>
          </a:xfrm>
          <a:prstGeom prst="roundRect">
            <a:avLst>
              <a:gd name="adj" fmla="val 6250"/>
            </a:avLst>
          </a:prstGeom>
          <a:solidFill>
            <a:srgbClr val="E6F2EC"/>
          </a:solidFill>
          <a:ln w="12700">
            <a:solidFill>
              <a:srgbClr val="E6F2EC"/>
            </a:solidFill>
            <a:prstDash val="solid"/>
          </a:ln>
        </p:spPr>
      </p:sp>
      <p:sp>
        <p:nvSpPr>
          <p:cNvPr id="11" name="Text 7"/>
          <p:cNvSpPr txBox="1"/>
          <p:nvPr/>
        </p:nvSpPr>
        <p:spPr>
          <a:xfrm>
            <a:off x="594360" y="2331720"/>
            <a:ext cx="2377440" cy="365760"/>
          </a:xfrm>
          <a:prstGeom prst="rect">
            <a:avLst/>
          </a:prstGeom>
          <a:noFill/>
          <a:ln/>
        </p:spPr>
        <p:txBody>
          <a:bodyPr wrap="square" lIns="0" tIns="0" rIns="0" bIns="0" rtlCol="0" anchor="t"/>
          <a:lstStyle/>
          <a:p>
            <a:pPr indent="0" marL="0">
              <a:buNone/>
            </a:pPr>
            <a:r>
              <a:rPr lang="en-US" sz="1500" b="1" dirty="0">
                <a:solidFill>
                  <a:srgbClr val="E53935"/>
                </a:solidFill>
                <a:latin typeface="Calibri" pitchFamily="34" charset="0"/>
                <a:ea typeface="Calibri" pitchFamily="34" charset="-122"/>
                <a:cs typeface="Calibri" pitchFamily="34" charset="-120"/>
              </a:rPr>
              <a:t>MAYOR (1)</a:t>
            </a:r>
            <a:endParaRPr lang="en-US" sz="1500" dirty="0"/>
          </a:p>
        </p:txBody>
      </p:sp>
      <p:sp>
        <p:nvSpPr>
          <p:cNvPr id="12" name="Text 8"/>
          <p:cNvSpPr txBox="1"/>
          <p:nvPr/>
        </p:nvSpPr>
        <p:spPr>
          <a:xfrm>
            <a:off x="594360" y="2743200"/>
            <a:ext cx="2377440" cy="8686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Perubahan besar, cara pakai berubah. Rilis resmi pertama = 1.0.0</a:t>
            </a:r>
            <a:endParaRPr lang="en-US" sz="1250" dirty="0"/>
          </a:p>
        </p:txBody>
      </p:sp>
      <p:sp>
        <p:nvSpPr>
          <p:cNvPr id="13" name="Shape 9"/>
          <p:cNvSpPr/>
          <p:nvPr/>
        </p:nvSpPr>
        <p:spPr>
          <a:xfrm>
            <a:off x="3246120" y="2240280"/>
            <a:ext cx="2606040" cy="1463040"/>
          </a:xfrm>
          <a:prstGeom prst="roundRect">
            <a:avLst>
              <a:gd name="adj" fmla="val 6250"/>
            </a:avLst>
          </a:prstGeom>
          <a:solidFill>
            <a:srgbClr val="E6F2EC"/>
          </a:solidFill>
          <a:ln w="12700">
            <a:solidFill>
              <a:srgbClr val="E6F2EC"/>
            </a:solidFill>
            <a:prstDash val="solid"/>
          </a:ln>
        </p:spPr>
      </p:sp>
      <p:sp>
        <p:nvSpPr>
          <p:cNvPr id="14" name="Text 10"/>
          <p:cNvSpPr txBox="1"/>
          <p:nvPr/>
        </p:nvSpPr>
        <p:spPr>
          <a:xfrm>
            <a:off x="3383280" y="2331720"/>
            <a:ext cx="2377440" cy="365760"/>
          </a:xfrm>
          <a:prstGeom prst="rect">
            <a:avLst/>
          </a:prstGeom>
          <a:noFill/>
          <a:ln/>
        </p:spPr>
        <p:txBody>
          <a:bodyPr wrap="square" lIns="0" tIns="0" rIns="0" bIns="0" rtlCol="0" anchor="t"/>
          <a:lstStyle/>
          <a:p>
            <a:pPr indent="0" marL="0">
              <a:buNone/>
            </a:pPr>
            <a:r>
              <a:rPr lang="en-US" sz="1500" b="1" dirty="0">
                <a:solidFill>
                  <a:srgbClr val="0078D4"/>
                </a:solidFill>
                <a:latin typeface="Calibri" pitchFamily="34" charset="0"/>
                <a:ea typeface="Calibri" pitchFamily="34" charset="-122"/>
                <a:cs typeface="Calibri" pitchFamily="34" charset="-120"/>
              </a:rPr>
              <a:t>MINOR (2)</a:t>
            </a:r>
            <a:endParaRPr lang="en-US" sz="1500" dirty="0"/>
          </a:p>
        </p:txBody>
      </p:sp>
      <p:sp>
        <p:nvSpPr>
          <p:cNvPr id="15" name="Text 11"/>
          <p:cNvSpPr txBox="1"/>
          <p:nvPr/>
        </p:nvSpPr>
        <p:spPr>
          <a:xfrm>
            <a:off x="3383280" y="2743200"/>
            <a:ext cx="2377440" cy="8686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Fitur baru ditambahkan, cara lama tetap bisa.</a:t>
            </a:r>
            <a:endParaRPr lang="en-US" sz="1250" dirty="0"/>
          </a:p>
        </p:txBody>
      </p:sp>
      <p:sp>
        <p:nvSpPr>
          <p:cNvPr id="16" name="Shape 12"/>
          <p:cNvSpPr/>
          <p:nvPr/>
        </p:nvSpPr>
        <p:spPr>
          <a:xfrm>
            <a:off x="6035040" y="2240280"/>
            <a:ext cx="2606040" cy="1463040"/>
          </a:xfrm>
          <a:prstGeom prst="roundRect">
            <a:avLst>
              <a:gd name="adj" fmla="val 6250"/>
            </a:avLst>
          </a:prstGeom>
          <a:solidFill>
            <a:srgbClr val="E6F2EC"/>
          </a:solidFill>
          <a:ln w="12700">
            <a:solidFill>
              <a:srgbClr val="E6F2EC"/>
            </a:solidFill>
            <a:prstDash val="solid"/>
          </a:ln>
        </p:spPr>
      </p:sp>
      <p:sp>
        <p:nvSpPr>
          <p:cNvPr id="17" name="Text 13"/>
          <p:cNvSpPr txBox="1"/>
          <p:nvPr/>
        </p:nvSpPr>
        <p:spPr>
          <a:xfrm>
            <a:off x="6172200" y="2331720"/>
            <a:ext cx="2377440" cy="365760"/>
          </a:xfrm>
          <a:prstGeom prst="rect">
            <a:avLst/>
          </a:prstGeom>
          <a:noFill/>
          <a:ln/>
        </p:spPr>
        <p:txBody>
          <a:bodyPr wrap="square" lIns="0" tIns="0" rIns="0" bIns="0" rtlCol="0" anchor="t"/>
          <a:lstStyle/>
          <a:p>
            <a:pPr indent="0" marL="0">
              <a:buNone/>
            </a:pPr>
            <a:r>
              <a:rPr lang="en-US" sz="1500" b="1" dirty="0">
                <a:solidFill>
                  <a:srgbClr val="1F7A5C"/>
                </a:solidFill>
                <a:latin typeface="Calibri" pitchFamily="34" charset="0"/>
                <a:ea typeface="Calibri" pitchFamily="34" charset="-122"/>
                <a:cs typeface="Calibri" pitchFamily="34" charset="-120"/>
              </a:rPr>
              <a:t>PERBAIKAN (1)</a:t>
            </a:r>
            <a:endParaRPr lang="en-US" sz="1500" dirty="0"/>
          </a:p>
        </p:txBody>
      </p:sp>
      <p:sp>
        <p:nvSpPr>
          <p:cNvPr id="18" name="Text 14"/>
          <p:cNvSpPr txBox="1"/>
          <p:nvPr/>
        </p:nvSpPr>
        <p:spPr>
          <a:xfrm>
            <a:off x="6172200" y="2743200"/>
            <a:ext cx="2377440" cy="8686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Hanya memperbaiki bug kecil.</a:t>
            </a:r>
            <a:endParaRPr lang="en-US" sz="1250" dirty="0"/>
          </a:p>
        </p:txBody>
      </p:sp>
      <p:sp>
        <p:nvSpPr>
          <p:cNvPr id="19" name="Shape 15"/>
          <p:cNvSpPr/>
          <p:nvPr/>
        </p:nvSpPr>
        <p:spPr>
          <a:xfrm>
            <a:off x="457200" y="3886200"/>
            <a:ext cx="8229600" cy="640080"/>
          </a:xfrm>
          <a:prstGeom prst="roundRect">
            <a:avLst>
              <a:gd name="adj" fmla="val 14286"/>
            </a:avLst>
          </a:prstGeom>
          <a:solidFill>
            <a:srgbClr val="FBF1D3"/>
          </a:solidFill>
          <a:ln w="12700">
            <a:solidFill>
              <a:srgbClr val="FBF1D3"/>
            </a:solidFill>
            <a:prstDash val="solid"/>
          </a:ln>
        </p:spPr>
      </p:sp>
      <p:sp>
        <p:nvSpPr>
          <p:cNvPr id="20" name="Text 16"/>
          <p:cNvSpPr txBox="1"/>
          <p:nvPr/>
        </p:nvSpPr>
        <p:spPr>
          <a:xfrm>
            <a:off x="640080" y="3886200"/>
            <a:ext cx="7863840" cy="640080"/>
          </a:xfrm>
          <a:prstGeom prst="rect">
            <a:avLst/>
          </a:prstGeom>
          <a:noFill/>
          <a:ln/>
        </p:spPr>
        <p:txBody>
          <a:bodyPr wrap="square" lIns="0" tIns="0" rIns="0" bIns="0" rtlCol="0" anchor="ctr"/>
          <a:lstStyle/>
          <a:p>
            <a:pPr indent="0" marL="0">
              <a:buNone/>
            </a:pPr>
            <a:r>
              <a:rPr lang="en-US" sz="1350" b="1" dirty="0">
                <a:solidFill>
                  <a:srgbClr val="0F4C3A"/>
                </a:solidFill>
                <a:latin typeface="Calibri" pitchFamily="34" charset="0"/>
                <a:ea typeface="Calibri" pitchFamily="34" charset="-122"/>
                <a:cs typeface="Calibri" pitchFamily="34" charset="-120"/>
              </a:rPr>
              <a:t>Contoh: v1.0.0 rilis → v1.1.0 tambah fitur grafik → v1.1.1 perbaiki salah hitung.</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Menyiapkan Rilis v1.0</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ikuti gambar langkah demi langkah</a:t>
            </a:r>
            <a:endParaRPr lang="en-US" sz="1500" dirty="0"/>
          </a:p>
        </p:txBody>
      </p:sp>
      <p:sp>
        <p:nvSpPr>
          <p:cNvPr id="5" name="Shape 3"/>
          <p:cNvSpPr/>
          <p:nvPr/>
        </p:nvSpPr>
        <p:spPr>
          <a:xfrm>
            <a:off x="548640" y="2514600"/>
            <a:ext cx="379476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Daftar rilis dan membersihkan kode</a:t>
            </a:r>
            <a:endParaRPr lang="en-US" sz="1700" dirty="0"/>
          </a:p>
        </p:txBody>
      </p:sp>
      <p:sp>
        <p:nvSpPr>
          <p:cNvPr id="8" name="Shape 6"/>
          <p:cNvSpPr/>
          <p:nvPr/>
        </p:nvSpPr>
        <p:spPr>
          <a:xfrm>
            <a:off x="4572000" y="2514600"/>
            <a:ext cx="379476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475488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4–6</a:t>
            </a:r>
            <a:endParaRPr lang="en-US" sz="1200" dirty="0"/>
          </a:p>
        </p:txBody>
      </p:sp>
      <p:sp>
        <p:nvSpPr>
          <p:cNvPr id="10" name="Text 8"/>
          <p:cNvSpPr txBox="1"/>
          <p:nvPr/>
        </p:nvSpPr>
        <p:spPr>
          <a:xfrm>
            <a:off x="475488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GitHub Release v1.0.0</a:t>
            </a:r>
            <a:endParaRPr lang="en-US" sz="1700" dirty="0"/>
          </a:p>
        </p:txBody>
      </p:sp>
      <p:sp>
        <p:nvSpPr>
          <p:cNvPr id="11" name="Text 9"/>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2"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Daftar Rilis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Rilis_v1_Kel3 -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Rilis_v1_Kel3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Daftar Periksa Rilis v1.0.0</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Bagian</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Status</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Catatan</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Fungsi</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Ya</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8/8 test case lulus</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Tampilan</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Ya</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Uji kegunaan diperbaiki</a:t>
            </a:r>
            <a:endParaRPr lang="en-US" sz="650" dirty="0"/>
          </a:p>
        </p:txBody>
      </p:sp>
      <p:sp>
        <p:nvSpPr>
          <p:cNvPr id="88" name="Shape 77"/>
          <p:cNvSpPr/>
          <p:nvPr/>
        </p:nvSpPr>
        <p:spPr>
          <a:xfrm>
            <a:off x="1554480" y="3425578"/>
            <a:ext cx="1005840" cy="182880"/>
          </a:xfrm>
          <a:prstGeom prst="rect">
            <a:avLst/>
          </a:prstGeom>
          <a:solidFill>
            <a:srgbClr val="FFFFFF"/>
          </a:solidFill>
          <a:ln w="6350">
            <a:solidFill>
              <a:srgbClr val="777777"/>
            </a:solidFill>
            <a:prstDash val="solid"/>
          </a:ln>
        </p:spPr>
      </p:sp>
      <p:sp>
        <p:nvSpPr>
          <p:cNvPr id="89" name="Text 78"/>
          <p:cNvSpPr txBox="1"/>
          <p:nvPr/>
        </p:nvSpPr>
        <p:spPr>
          <a:xfrm>
            <a:off x="158191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Keamanan</a:t>
            </a:r>
            <a:endParaRPr lang="en-US" sz="650" dirty="0"/>
          </a:p>
        </p:txBody>
      </p:sp>
      <p:sp>
        <p:nvSpPr>
          <p:cNvPr id="90" name="Shape 79"/>
          <p:cNvSpPr/>
          <p:nvPr/>
        </p:nvSpPr>
        <p:spPr>
          <a:xfrm>
            <a:off x="2560320" y="3425578"/>
            <a:ext cx="1005840" cy="182880"/>
          </a:xfrm>
          <a:prstGeom prst="rect">
            <a:avLst/>
          </a:prstGeom>
          <a:solidFill>
            <a:srgbClr val="FFFFFF"/>
          </a:solidFill>
          <a:ln w="6350">
            <a:solidFill>
              <a:srgbClr val="777777"/>
            </a:solidFill>
            <a:prstDash val="solid"/>
          </a:ln>
        </p:spPr>
      </p:sp>
      <p:sp>
        <p:nvSpPr>
          <p:cNvPr id="91" name="Text 80"/>
          <p:cNvSpPr txBox="1"/>
          <p:nvPr/>
        </p:nvSpPr>
        <p:spPr>
          <a:xfrm>
            <a:off x="258775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Ya</a:t>
            </a:r>
            <a:endParaRPr lang="en-US" sz="650" dirty="0"/>
          </a:p>
        </p:txBody>
      </p:sp>
      <p:sp>
        <p:nvSpPr>
          <p:cNvPr id="92" name="Shape 81"/>
          <p:cNvSpPr/>
          <p:nvPr/>
        </p:nvSpPr>
        <p:spPr>
          <a:xfrm>
            <a:off x="3566160" y="3425578"/>
            <a:ext cx="1005840" cy="182880"/>
          </a:xfrm>
          <a:prstGeom prst="rect">
            <a:avLst/>
          </a:prstGeom>
          <a:solidFill>
            <a:srgbClr val="FFFFFF"/>
          </a:solidFill>
          <a:ln w="6350">
            <a:solidFill>
              <a:srgbClr val="777777"/>
            </a:solidFill>
            <a:prstDash val="solid"/>
          </a:ln>
        </p:spPr>
      </p:sp>
      <p:sp>
        <p:nvSpPr>
          <p:cNvPr id="93" name="Text 82"/>
          <p:cNvSpPr txBox="1"/>
          <p:nvPr/>
        </p:nvSpPr>
        <p:spPr>
          <a:xfrm>
            <a:off x="359359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Validasi + textContent</a:t>
            </a:r>
            <a:endParaRPr lang="en-US" sz="650" dirty="0"/>
          </a:p>
        </p:txBody>
      </p:sp>
      <p:sp>
        <p:nvSpPr>
          <p:cNvPr id="94" name="Shape 83"/>
          <p:cNvSpPr/>
          <p:nvPr/>
        </p:nvSpPr>
        <p:spPr>
          <a:xfrm>
            <a:off x="1554480" y="3608458"/>
            <a:ext cx="1005840" cy="182880"/>
          </a:xfrm>
          <a:prstGeom prst="rect">
            <a:avLst/>
          </a:prstGeom>
          <a:solidFill>
            <a:srgbClr val="FFFFFF"/>
          </a:solidFill>
          <a:ln w="6350">
            <a:solidFill>
              <a:srgbClr val="777777"/>
            </a:solidFill>
            <a:prstDash val="solid"/>
          </a:ln>
        </p:spPr>
      </p:sp>
      <p:sp>
        <p:nvSpPr>
          <p:cNvPr id="95" name="Text 84"/>
          <p:cNvSpPr txBox="1"/>
          <p:nvPr/>
        </p:nvSpPr>
        <p:spPr>
          <a:xfrm>
            <a:off x="158191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Kebersihan</a:t>
            </a:r>
            <a:endParaRPr lang="en-US" sz="650" dirty="0"/>
          </a:p>
        </p:txBody>
      </p:sp>
      <p:sp>
        <p:nvSpPr>
          <p:cNvPr id="96" name="Shape 85"/>
          <p:cNvSpPr/>
          <p:nvPr/>
        </p:nvSpPr>
        <p:spPr>
          <a:xfrm>
            <a:off x="2560320" y="3608458"/>
            <a:ext cx="1005840" cy="182880"/>
          </a:xfrm>
          <a:prstGeom prst="rect">
            <a:avLst/>
          </a:prstGeom>
          <a:solidFill>
            <a:srgbClr val="FFFFFF"/>
          </a:solidFill>
          <a:ln w="6350">
            <a:solidFill>
              <a:srgbClr val="777777"/>
            </a:solidFill>
            <a:prstDash val="solid"/>
          </a:ln>
        </p:spPr>
      </p:sp>
      <p:sp>
        <p:nvSpPr>
          <p:cNvPr id="97" name="Text 86"/>
          <p:cNvSpPr txBox="1"/>
          <p:nvPr/>
        </p:nvSpPr>
        <p:spPr>
          <a:xfrm>
            <a:off x="258775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Belum</a:t>
            </a:r>
            <a:endParaRPr lang="en-US" sz="650" dirty="0"/>
          </a:p>
        </p:txBody>
      </p:sp>
      <p:sp>
        <p:nvSpPr>
          <p:cNvPr id="98" name="Shape 87"/>
          <p:cNvSpPr/>
          <p:nvPr/>
        </p:nvSpPr>
        <p:spPr>
          <a:xfrm>
            <a:off x="3566160" y="3608458"/>
            <a:ext cx="1005840" cy="182880"/>
          </a:xfrm>
          <a:prstGeom prst="rect">
            <a:avLst/>
          </a:prstGeom>
          <a:solidFill>
            <a:srgbClr val="FFFFFF"/>
          </a:solidFill>
          <a:ln w="6350">
            <a:solidFill>
              <a:srgbClr val="777777"/>
            </a:solidFill>
            <a:prstDash val="solid"/>
          </a:ln>
        </p:spPr>
      </p:sp>
      <p:sp>
        <p:nvSpPr>
          <p:cNvPr id="99" name="Text 88"/>
          <p:cNvSpPr txBox="1"/>
          <p:nvPr/>
        </p:nvSpPr>
        <p:spPr>
          <a:xfrm>
            <a:off x="359359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3 console.log tersisa</a:t>
            </a:r>
            <a:endParaRPr lang="en-US" sz="650" dirty="0"/>
          </a:p>
        </p:txBody>
      </p:sp>
      <p:sp>
        <p:nvSpPr>
          <p:cNvPr id="100" name="Shape 89"/>
          <p:cNvSpPr/>
          <p:nvPr/>
        </p:nvSpPr>
        <p:spPr>
          <a:xfrm>
            <a:off x="1554480" y="3791338"/>
            <a:ext cx="1005840" cy="182880"/>
          </a:xfrm>
          <a:prstGeom prst="rect">
            <a:avLst/>
          </a:prstGeom>
          <a:solidFill>
            <a:srgbClr val="FFFFFF"/>
          </a:solidFill>
          <a:ln w="6350">
            <a:solidFill>
              <a:srgbClr val="777777"/>
            </a:solidFill>
            <a:prstDash val="solid"/>
          </a:ln>
        </p:spPr>
      </p:sp>
      <p:sp>
        <p:nvSpPr>
          <p:cNvPr id="101" name="Text 90"/>
          <p:cNvSpPr txBox="1"/>
          <p:nvPr/>
        </p:nvSpPr>
        <p:spPr>
          <a:xfrm>
            <a:off x="1581912" y="379133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Dokumentasi</a:t>
            </a:r>
            <a:endParaRPr lang="en-US" sz="650" dirty="0"/>
          </a:p>
        </p:txBody>
      </p:sp>
      <p:sp>
        <p:nvSpPr>
          <p:cNvPr id="102" name="Shape 91"/>
          <p:cNvSpPr/>
          <p:nvPr/>
        </p:nvSpPr>
        <p:spPr>
          <a:xfrm>
            <a:off x="2560320" y="3791338"/>
            <a:ext cx="1005840" cy="182880"/>
          </a:xfrm>
          <a:prstGeom prst="rect">
            <a:avLst/>
          </a:prstGeom>
          <a:solidFill>
            <a:srgbClr val="FFFFFF"/>
          </a:solidFill>
          <a:ln w="6350">
            <a:solidFill>
              <a:srgbClr val="777777"/>
            </a:solidFill>
            <a:prstDash val="solid"/>
          </a:ln>
        </p:spPr>
      </p:sp>
      <p:sp>
        <p:nvSpPr>
          <p:cNvPr id="103" name="Text 92"/>
          <p:cNvSpPr txBox="1"/>
          <p:nvPr/>
        </p:nvSpPr>
        <p:spPr>
          <a:xfrm>
            <a:off x="2587752" y="379133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Belum</a:t>
            </a:r>
            <a:endParaRPr lang="en-US" sz="650" dirty="0"/>
          </a:p>
        </p:txBody>
      </p:sp>
      <p:sp>
        <p:nvSpPr>
          <p:cNvPr id="104" name="Shape 93"/>
          <p:cNvSpPr/>
          <p:nvPr/>
        </p:nvSpPr>
        <p:spPr>
          <a:xfrm>
            <a:off x="3566160" y="3791338"/>
            <a:ext cx="1005840" cy="182880"/>
          </a:xfrm>
          <a:prstGeom prst="rect">
            <a:avLst/>
          </a:prstGeom>
          <a:solidFill>
            <a:srgbClr val="FFFFFF"/>
          </a:solidFill>
          <a:ln w="6350">
            <a:solidFill>
              <a:srgbClr val="777777"/>
            </a:solidFill>
            <a:prstDash val="solid"/>
          </a:ln>
        </p:spPr>
      </p:sp>
      <p:sp>
        <p:nvSpPr>
          <p:cNvPr id="105" name="Text 94"/>
          <p:cNvSpPr txBox="1"/>
          <p:nvPr/>
        </p:nvSpPr>
        <p:spPr>
          <a:xfrm>
            <a:off x="3593592" y="379133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Cara pakai belum ada</a:t>
            </a:r>
            <a:endParaRPr lang="en-US" sz="650" dirty="0"/>
          </a:p>
        </p:txBody>
      </p:sp>
      <p:sp>
        <p:nvSpPr>
          <p:cNvPr id="106" name="Shape 95"/>
          <p:cNvSpPr/>
          <p:nvPr/>
        </p:nvSpPr>
        <p:spPr>
          <a:xfrm>
            <a:off x="1527048" y="2849506"/>
            <a:ext cx="3072384" cy="1152144"/>
          </a:xfrm>
          <a:prstGeom prst="roundRect">
            <a:avLst>
              <a:gd name="adj" fmla="val 3968"/>
            </a:avLst>
          </a:prstGeom>
          <a:solidFill>
            <a:srgbClr val="FFFFFF">
              <a:alpha val="0"/>
            </a:srgbClr>
          </a:solidFill>
          <a:ln w="31750">
            <a:solidFill>
              <a:srgbClr val="E53935"/>
            </a:solidFill>
            <a:prstDash val="solid"/>
          </a:ln>
        </p:spPr>
      </p:sp>
      <p:sp>
        <p:nvSpPr>
          <p:cNvPr id="107" name="Shape 96"/>
          <p:cNvSpPr/>
          <p:nvPr/>
        </p:nvSpPr>
        <p:spPr>
          <a:xfrm>
            <a:off x="4462272" y="2712346"/>
            <a:ext cx="274320" cy="274320"/>
          </a:xfrm>
          <a:prstGeom prst="ellipse">
            <a:avLst/>
          </a:prstGeom>
          <a:solidFill>
            <a:srgbClr val="E53935"/>
          </a:solidFill>
          <a:ln w="12700">
            <a:solidFill>
              <a:srgbClr val="FFFFFF"/>
            </a:solidFill>
            <a:prstDash val="solid"/>
          </a:ln>
        </p:spPr>
      </p:sp>
      <p:sp>
        <p:nvSpPr>
          <p:cNvPr id="108" name="Text 97"/>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109" name="Image 9" descr="preencoded.png">    </p:cNvPr>
          <p:cNvPicPr>
            <a:picLocks noChangeAspect="1"/>
          </p:cNvPicPr>
          <p:nvPr/>
        </p:nvPicPr>
        <p:blipFill>
          <a:blip r:embed="rId10"/>
          <a:stretch>
            <a:fillRect/>
          </a:stretch>
        </p:blipFill>
        <p:spPr>
          <a:xfrm>
            <a:off x="3214116" y="3480442"/>
            <a:ext cx="237744" cy="237744"/>
          </a:xfrm>
          <a:prstGeom prst="rect">
            <a:avLst/>
          </a:prstGeom>
        </p:spPr>
      </p:pic>
      <p:sp>
        <p:nvSpPr>
          <p:cNvPr id="110" name="Text 9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111" name="Text 9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Isi daftar periksa rilis</a:t>
            </a:r>
            <a:endParaRPr lang="en-US" sz="1800" dirty="0"/>
          </a:p>
        </p:txBody>
      </p:sp>
      <p:sp>
        <p:nvSpPr>
          <p:cNvPr id="112" name="Text 10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Docs Rilis_v1_KelN: tabel 5 bagian × Ya/Belum × Catatan. Jalankan ulang semua test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Daftar Rilis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39348" y="1213496"/>
            <a:ext cx="4847783" cy="2722699"/>
          </a:xfrm>
          <a:prstGeom prst="rect">
            <a:avLst/>
          </a:prstGeom>
          <a:solidFill>
            <a:srgbClr val="FFFFFF"/>
          </a:solidFill>
          <a:ln w="9525">
            <a:solidFill>
              <a:srgbClr val="999999"/>
            </a:solidFill>
            <a:prstDash val="solid"/>
          </a:ln>
        </p:spPr>
      </p:sp>
      <p:sp>
        <p:nvSpPr>
          <p:cNvPr id="17" name="Shape 13"/>
          <p:cNvSpPr/>
          <p:nvPr/>
        </p:nvSpPr>
        <p:spPr>
          <a:xfrm>
            <a:off x="639348" y="1213496"/>
            <a:ext cx="4847783" cy="219456"/>
          </a:xfrm>
          <a:prstGeom prst="rect">
            <a:avLst/>
          </a:prstGeom>
          <a:solidFill>
            <a:srgbClr val="F0F0F0"/>
          </a:solidFill>
          <a:ln w="12700">
            <a:solidFill>
              <a:srgbClr val="F0F0F0"/>
            </a:solidFill>
            <a:prstDash val="solid"/>
          </a:ln>
        </p:spPr>
      </p:sp>
      <p:sp>
        <p:nvSpPr>
          <p:cNvPr id="18" name="Text 14"/>
          <p:cNvSpPr txBox="1"/>
          <p:nvPr/>
        </p:nvSpPr>
        <p:spPr>
          <a:xfrm>
            <a:off x="730788" y="1213496"/>
            <a:ext cx="393338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index.html - Notepad</a:t>
            </a:r>
            <a:endParaRPr lang="en-US" sz="750" dirty="0"/>
          </a:p>
        </p:txBody>
      </p:sp>
      <p:sp>
        <p:nvSpPr>
          <p:cNvPr id="19" name="Text 15"/>
          <p:cNvSpPr txBox="1"/>
          <p:nvPr/>
        </p:nvSpPr>
        <p:spPr>
          <a:xfrm>
            <a:off x="466417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38492" y="121349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12812" y="121349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39348" y="1432952"/>
            <a:ext cx="4847783" cy="182880"/>
          </a:xfrm>
          <a:prstGeom prst="rect">
            <a:avLst/>
          </a:prstGeom>
          <a:solidFill>
            <a:srgbClr val="FAFAFA"/>
          </a:solidFill>
          <a:ln w="12700">
            <a:solidFill>
              <a:srgbClr val="FAFAFA"/>
            </a:solidFill>
            <a:prstDash val="solid"/>
          </a:ln>
        </p:spPr>
      </p:sp>
      <p:sp>
        <p:nvSpPr>
          <p:cNvPr id="23" name="Text 19"/>
          <p:cNvSpPr txBox="1"/>
          <p:nvPr/>
        </p:nvSpPr>
        <p:spPr>
          <a:xfrm>
            <a:off x="730788" y="1432952"/>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24" name="Shape 20"/>
          <p:cNvSpPr/>
          <p:nvPr/>
        </p:nvSpPr>
        <p:spPr>
          <a:xfrm>
            <a:off x="639348" y="1643264"/>
            <a:ext cx="274320" cy="2265499"/>
          </a:xfrm>
          <a:prstGeom prst="rect">
            <a:avLst/>
          </a:prstGeom>
          <a:solidFill>
            <a:srgbClr val="F3F3F3"/>
          </a:solidFill>
          <a:ln w="12700">
            <a:solidFill>
              <a:srgbClr val="F3F3F3"/>
            </a:solidFill>
            <a:prstDash val="solid"/>
          </a:ln>
        </p:spPr>
      </p:sp>
      <p:sp>
        <p:nvSpPr>
          <p:cNvPr id="25" name="Text 21"/>
          <p:cNvSpPr txBox="1"/>
          <p:nvPr/>
        </p:nvSpPr>
        <p:spPr>
          <a:xfrm>
            <a:off x="639348" y="166155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1</a:t>
            </a:r>
            <a:endParaRPr lang="en-US" sz="800" dirty="0"/>
          </a:p>
        </p:txBody>
      </p:sp>
      <p:sp>
        <p:nvSpPr>
          <p:cNvPr id="26" name="Text 22"/>
          <p:cNvSpPr txBox="1"/>
          <p:nvPr/>
        </p:nvSpPr>
        <p:spPr>
          <a:xfrm>
            <a:off x="986820" y="166155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function cekTotal() {</a:t>
            </a:r>
            <a:endParaRPr lang="en-US" sz="900" dirty="0"/>
          </a:p>
        </p:txBody>
      </p:sp>
      <p:sp>
        <p:nvSpPr>
          <p:cNvPr id="27" name="Text 23"/>
          <p:cNvSpPr txBox="1"/>
          <p:nvPr/>
        </p:nvSpPr>
        <p:spPr>
          <a:xfrm>
            <a:off x="639348" y="183528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2</a:t>
            </a:r>
            <a:endParaRPr lang="en-US" sz="800" dirty="0"/>
          </a:p>
        </p:txBody>
      </p:sp>
      <p:sp>
        <p:nvSpPr>
          <p:cNvPr id="28" name="Text 24"/>
          <p:cNvSpPr txBox="1"/>
          <p:nvPr/>
        </p:nvSpPr>
        <p:spPr>
          <a:xfrm>
            <a:off x="986820" y="183528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const kode = ambilKode();</a:t>
            </a:r>
            <a:endParaRPr lang="en-US" sz="900" dirty="0"/>
          </a:p>
        </p:txBody>
      </p:sp>
      <p:sp>
        <p:nvSpPr>
          <p:cNvPr id="29" name="Shape 25"/>
          <p:cNvSpPr/>
          <p:nvPr/>
        </p:nvSpPr>
        <p:spPr>
          <a:xfrm>
            <a:off x="913668" y="2009024"/>
            <a:ext cx="4555175" cy="173736"/>
          </a:xfrm>
          <a:prstGeom prst="rect">
            <a:avLst/>
          </a:prstGeom>
          <a:solidFill>
            <a:srgbClr val="FDECEA"/>
          </a:solidFill>
          <a:ln w="12700">
            <a:solidFill>
              <a:srgbClr val="FDECEA"/>
            </a:solidFill>
            <a:prstDash val="solid"/>
          </a:ln>
        </p:spPr>
      </p:sp>
      <p:sp>
        <p:nvSpPr>
          <p:cNvPr id="30" name="Text 26"/>
          <p:cNvSpPr txBox="1"/>
          <p:nvPr/>
        </p:nvSpPr>
        <p:spPr>
          <a:xfrm>
            <a:off x="639348" y="200902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3</a:t>
            </a:r>
            <a:endParaRPr lang="en-US" sz="800" dirty="0"/>
          </a:p>
        </p:txBody>
      </p:sp>
      <p:sp>
        <p:nvSpPr>
          <p:cNvPr id="31" name="Text 27"/>
          <p:cNvSpPr txBox="1"/>
          <p:nvPr/>
        </p:nvSpPr>
        <p:spPr>
          <a:xfrm>
            <a:off x="986820" y="200902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console.log('kode =', kode);</a:t>
            </a:r>
            <a:endParaRPr lang="en-US" sz="900" dirty="0"/>
          </a:p>
        </p:txBody>
      </p:sp>
      <p:sp>
        <p:nvSpPr>
          <p:cNvPr id="32" name="Shape 28"/>
          <p:cNvSpPr/>
          <p:nvPr/>
        </p:nvSpPr>
        <p:spPr>
          <a:xfrm>
            <a:off x="913668" y="2182760"/>
            <a:ext cx="4555175" cy="173736"/>
          </a:xfrm>
          <a:prstGeom prst="rect">
            <a:avLst/>
          </a:prstGeom>
          <a:solidFill>
            <a:srgbClr val="FDECEA"/>
          </a:solidFill>
          <a:ln w="12700">
            <a:solidFill>
              <a:srgbClr val="FDECEA"/>
            </a:solidFill>
            <a:prstDash val="solid"/>
          </a:ln>
        </p:spPr>
      </p:sp>
      <p:sp>
        <p:nvSpPr>
          <p:cNvPr id="33" name="Text 29"/>
          <p:cNvSpPr txBox="1"/>
          <p:nvPr/>
        </p:nvSpPr>
        <p:spPr>
          <a:xfrm>
            <a:off x="639348" y="2182760"/>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4</a:t>
            </a:r>
            <a:endParaRPr lang="en-US" sz="800" dirty="0"/>
          </a:p>
        </p:txBody>
      </p:sp>
      <p:sp>
        <p:nvSpPr>
          <p:cNvPr id="34" name="Text 30"/>
          <p:cNvSpPr txBox="1"/>
          <p:nvPr/>
        </p:nvSpPr>
        <p:spPr>
          <a:xfrm>
            <a:off x="986820" y="2182760"/>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 ↑ hapus sebelum rilis</a:t>
            </a:r>
            <a:endParaRPr lang="en-US" sz="900" dirty="0"/>
          </a:p>
        </p:txBody>
      </p:sp>
      <p:sp>
        <p:nvSpPr>
          <p:cNvPr id="35" name="Shape 31"/>
          <p:cNvSpPr/>
          <p:nvPr/>
        </p:nvSpPr>
        <p:spPr>
          <a:xfrm>
            <a:off x="913668" y="2356496"/>
            <a:ext cx="4555175" cy="173736"/>
          </a:xfrm>
          <a:prstGeom prst="rect">
            <a:avLst/>
          </a:prstGeom>
          <a:solidFill>
            <a:srgbClr val="FDECEA"/>
          </a:solidFill>
          <a:ln w="12700">
            <a:solidFill>
              <a:srgbClr val="FDECEA"/>
            </a:solidFill>
            <a:prstDash val="solid"/>
          </a:ln>
        </p:spPr>
      </p:sp>
      <p:sp>
        <p:nvSpPr>
          <p:cNvPr id="36" name="Text 32"/>
          <p:cNvSpPr txBox="1"/>
          <p:nvPr/>
        </p:nvSpPr>
        <p:spPr>
          <a:xfrm>
            <a:off x="639348" y="2356496"/>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5</a:t>
            </a:r>
            <a:endParaRPr lang="en-US" sz="800" dirty="0"/>
          </a:p>
        </p:txBody>
      </p:sp>
      <p:sp>
        <p:nvSpPr>
          <p:cNvPr id="37" name="Text 33"/>
          <p:cNvSpPr txBox="1"/>
          <p:nvPr/>
        </p:nvSpPr>
        <p:spPr>
          <a:xfrm>
            <a:off x="986820" y="2356496"/>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 const lama = hitungLama();</a:t>
            </a:r>
            <a:endParaRPr lang="en-US" sz="900" dirty="0"/>
          </a:p>
        </p:txBody>
      </p:sp>
      <p:sp>
        <p:nvSpPr>
          <p:cNvPr id="38" name="Shape 34"/>
          <p:cNvSpPr/>
          <p:nvPr/>
        </p:nvSpPr>
        <p:spPr>
          <a:xfrm>
            <a:off x="913668" y="2530232"/>
            <a:ext cx="4555175" cy="173736"/>
          </a:xfrm>
          <a:prstGeom prst="rect">
            <a:avLst/>
          </a:prstGeom>
          <a:solidFill>
            <a:srgbClr val="FDECEA"/>
          </a:solidFill>
          <a:ln w="12700">
            <a:solidFill>
              <a:srgbClr val="FDECEA"/>
            </a:solidFill>
            <a:prstDash val="solid"/>
          </a:ln>
        </p:spPr>
      </p:sp>
      <p:sp>
        <p:nvSpPr>
          <p:cNvPr id="39" name="Text 35"/>
          <p:cNvSpPr txBox="1"/>
          <p:nvPr/>
        </p:nvSpPr>
        <p:spPr>
          <a:xfrm>
            <a:off x="639348" y="2530232"/>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6</a:t>
            </a:r>
            <a:endParaRPr lang="en-US" sz="800" dirty="0"/>
          </a:p>
        </p:txBody>
      </p:sp>
      <p:sp>
        <p:nvSpPr>
          <p:cNvPr id="40" name="Text 36"/>
          <p:cNvSpPr txBox="1"/>
          <p:nvPr/>
        </p:nvSpPr>
        <p:spPr>
          <a:xfrm>
            <a:off x="986820" y="2530232"/>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 ↑ hapus (tidak dipakai)</a:t>
            </a:r>
            <a:endParaRPr lang="en-US" sz="900" dirty="0"/>
          </a:p>
        </p:txBody>
      </p:sp>
      <p:sp>
        <p:nvSpPr>
          <p:cNvPr id="41" name="Text 37"/>
          <p:cNvSpPr txBox="1"/>
          <p:nvPr/>
        </p:nvSpPr>
        <p:spPr>
          <a:xfrm>
            <a:off x="639348" y="2703968"/>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7</a:t>
            </a:r>
            <a:endParaRPr lang="en-US" sz="800" dirty="0"/>
          </a:p>
        </p:txBody>
      </p:sp>
      <p:sp>
        <p:nvSpPr>
          <p:cNvPr id="42" name="Text 38"/>
          <p:cNvSpPr txBox="1"/>
          <p:nvPr/>
        </p:nvSpPr>
        <p:spPr>
          <a:xfrm>
            <a:off x="986820" y="2703968"/>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  if (kode === '') { ... }</a:t>
            </a:r>
            <a:endParaRPr lang="en-US" sz="900" dirty="0"/>
          </a:p>
        </p:txBody>
      </p:sp>
      <p:sp>
        <p:nvSpPr>
          <p:cNvPr id="43" name="Text 39"/>
          <p:cNvSpPr txBox="1"/>
          <p:nvPr/>
        </p:nvSpPr>
        <p:spPr>
          <a:xfrm>
            <a:off x="639348" y="2877704"/>
            <a:ext cx="228600" cy="173736"/>
          </a:xfrm>
          <a:prstGeom prst="rect">
            <a:avLst/>
          </a:prstGeom>
          <a:noFill/>
          <a:ln/>
        </p:spPr>
        <p:txBody>
          <a:bodyPr wrap="square" lIns="0" tIns="0" rIns="0" bIns="0" rtlCol="0" anchor="ctr"/>
          <a:lstStyle/>
          <a:p>
            <a:pPr algn="r" indent="0" marL="0">
              <a:buNone/>
            </a:pPr>
            <a:r>
              <a:rPr lang="en-US" sz="800" dirty="0">
                <a:solidFill>
                  <a:srgbClr val="999999"/>
                </a:solidFill>
                <a:latin typeface="Courier New" pitchFamily="34" charset="0"/>
                <a:ea typeface="Courier New" pitchFamily="34" charset="-122"/>
                <a:cs typeface="Courier New" pitchFamily="34" charset="-120"/>
              </a:rPr>
              <a:t>8</a:t>
            </a:r>
            <a:endParaRPr lang="en-US" sz="800" dirty="0"/>
          </a:p>
        </p:txBody>
      </p:sp>
      <p:sp>
        <p:nvSpPr>
          <p:cNvPr id="44" name="Text 40"/>
          <p:cNvSpPr txBox="1"/>
          <p:nvPr/>
        </p:nvSpPr>
        <p:spPr>
          <a:xfrm>
            <a:off x="986820" y="2877704"/>
            <a:ext cx="4436303" cy="173736"/>
          </a:xfrm>
          <a:prstGeom prst="rect">
            <a:avLst/>
          </a:prstGeom>
          <a:noFill/>
          <a:ln/>
        </p:spPr>
        <p:txBody>
          <a:bodyPr wrap="square" lIns="0" tIns="0" rIns="0" bIns="0" rtlCol="0" anchor="ctr"/>
          <a:lstStyle/>
          <a:p>
            <a:pPr indent="0" marL="0">
              <a:buNone/>
            </a:pPr>
            <a:r>
              <a:rPr lang="en-US" sz="900" dirty="0">
                <a:solidFill>
                  <a:srgbClr val="222222"/>
                </a:solidFill>
                <a:latin typeface="Courier New" pitchFamily="34" charset="0"/>
                <a:ea typeface="Courier New" pitchFamily="34" charset="-122"/>
                <a:cs typeface="Courier New" pitchFamily="34" charset="-120"/>
              </a:rPr>
              <a:t>}</a:t>
            </a:r>
            <a:endParaRPr lang="en-US" sz="900" dirty="0"/>
          </a:p>
        </p:txBody>
      </p:sp>
      <p:sp>
        <p:nvSpPr>
          <p:cNvPr id="45" name="Shape 41"/>
          <p:cNvSpPr/>
          <p:nvPr/>
        </p:nvSpPr>
        <p:spPr>
          <a:xfrm>
            <a:off x="913668" y="1990736"/>
            <a:ext cx="4555175" cy="731520"/>
          </a:xfrm>
          <a:prstGeom prst="roundRect">
            <a:avLst>
              <a:gd name="adj" fmla="val 6250"/>
            </a:avLst>
          </a:prstGeom>
          <a:solidFill>
            <a:srgbClr val="FFFFFF">
              <a:alpha val="0"/>
            </a:srgbClr>
          </a:solidFill>
          <a:ln w="31750">
            <a:solidFill>
              <a:srgbClr val="E53935"/>
            </a:solidFill>
            <a:prstDash val="solid"/>
          </a:ln>
        </p:spPr>
      </p:sp>
      <p:sp>
        <p:nvSpPr>
          <p:cNvPr id="46" name="Shape 42"/>
          <p:cNvSpPr/>
          <p:nvPr/>
        </p:nvSpPr>
        <p:spPr>
          <a:xfrm>
            <a:off x="5331684" y="1853576"/>
            <a:ext cx="274320" cy="274320"/>
          </a:xfrm>
          <a:prstGeom prst="ellipse">
            <a:avLst/>
          </a:prstGeom>
          <a:solidFill>
            <a:srgbClr val="E53935"/>
          </a:solidFill>
          <a:ln w="12700">
            <a:solidFill>
              <a:srgbClr val="FFFFFF"/>
            </a:solidFill>
            <a:prstDash val="solid"/>
          </a:ln>
        </p:spPr>
      </p:sp>
      <p:sp>
        <p:nvSpPr>
          <p:cNvPr id="47" name="Text 43"/>
          <p:cNvSpPr txBox="1"/>
          <p:nvPr/>
        </p:nvSpPr>
        <p:spPr>
          <a:xfrm>
            <a:off x="5331684" y="18535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48" name="Image 2" descr="preencoded.png">    </p:cNvPr>
          <p:cNvPicPr>
            <a:picLocks noChangeAspect="1"/>
          </p:cNvPicPr>
          <p:nvPr/>
        </p:nvPicPr>
        <p:blipFill>
          <a:blip r:embed="rId3"/>
          <a:stretch>
            <a:fillRect/>
          </a:stretch>
        </p:blipFill>
        <p:spPr>
          <a:xfrm>
            <a:off x="3417186" y="2391243"/>
            <a:ext cx="237744" cy="237744"/>
          </a:xfrm>
          <a:prstGeom prst="rect">
            <a:avLst/>
          </a:prstGeom>
        </p:spPr>
      </p:pic>
      <p:sp>
        <p:nvSpPr>
          <p:cNvPr id="49" name="Text 4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50" name="Text 4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Bersihkan kode</a:t>
            </a:r>
            <a:endParaRPr lang="en-US" sz="1800" dirty="0"/>
          </a:p>
        </p:txBody>
      </p:sp>
      <p:sp>
        <p:nvSpPr>
          <p:cNvPr id="51" name="Text 4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Hapus console.log uji, baris yang dikomentari dan tidak dipakai, serta file latihan. Pastikan tidak ada URL/kata sandi rahasia.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Daftar Rilis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Rilis_v1_Kel3 -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Rilis_v1_Kel3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Catatan Rilis v1.0.0</a:t>
            </a:r>
            <a:endParaRPr lang="en-US" sz="1100" dirty="0"/>
          </a:p>
        </p:txBody>
      </p:sp>
      <p:sp>
        <p:nvSpPr>
          <p:cNvPr id="70" name="Text 59"/>
          <p:cNvSpPr txBox="1"/>
          <p:nvPr/>
        </p:nvSpPr>
        <p:spPr>
          <a:xfrm>
            <a:off x="1645920" y="287693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Fitur: simpan setoran, cek total pekanan, riwayat.</a:t>
            </a:r>
            <a:endParaRPr lang="en-US" sz="750" dirty="0"/>
          </a:p>
        </p:txBody>
      </p:sp>
      <p:sp>
        <p:nvSpPr>
          <p:cNvPr id="71" name="Text 60"/>
          <p:cNvSpPr txBox="1"/>
          <p:nvPr/>
        </p:nvSpPr>
        <p:spPr>
          <a:xfrm>
            <a:off x="1645920" y="3024195"/>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Perbaikan: label &amp; contoh isian, tombol besar, umpan balik.</a:t>
            </a:r>
            <a:endParaRPr lang="en-US" sz="750" dirty="0"/>
          </a:p>
        </p:txBody>
      </p:sp>
      <p:sp>
        <p:nvSpPr>
          <p:cNvPr id="72" name="Text 61"/>
          <p:cNvSpPr txBox="1"/>
          <p:nvPr/>
        </p:nvSpPr>
        <p:spPr>
          <a:xfrm>
            <a:off x="1645920" y="3171451"/>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Data: latihan (kode santri, tanpa data pribadi).</a:t>
            </a:r>
            <a:endParaRPr lang="en-US" sz="750" dirty="0"/>
          </a:p>
        </p:txBody>
      </p:sp>
      <p:sp>
        <p:nvSpPr>
          <p:cNvPr id="73" name="Text 62"/>
          <p:cNvSpPr txBox="1"/>
          <p:nvPr/>
        </p:nvSpPr>
        <p:spPr>
          <a:xfrm>
            <a:off x="1645920" y="331870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Laporkan masalah: tautan di bagian bawah aplikasi.</a:t>
            </a:r>
            <a:endParaRPr lang="en-US" sz="750" dirty="0"/>
          </a:p>
        </p:txBody>
      </p:sp>
      <p:sp>
        <p:nvSpPr>
          <p:cNvPr id="74" name="Shape 63"/>
          <p:cNvSpPr/>
          <p:nvPr/>
        </p:nvSpPr>
        <p:spPr>
          <a:xfrm>
            <a:off x="1527048" y="2849506"/>
            <a:ext cx="3072384" cy="634746"/>
          </a:xfrm>
          <a:prstGeom prst="roundRect">
            <a:avLst>
              <a:gd name="adj" fmla="val 7203"/>
            </a:avLst>
          </a:prstGeom>
          <a:solidFill>
            <a:srgbClr val="FFFFFF">
              <a:alpha val="0"/>
            </a:srgbClr>
          </a:solidFill>
          <a:ln w="31750">
            <a:solidFill>
              <a:srgbClr val="E53935"/>
            </a:solidFill>
            <a:prstDash val="solid"/>
          </a:ln>
        </p:spPr>
      </p:sp>
      <p:sp>
        <p:nvSpPr>
          <p:cNvPr id="75" name="Shape 64"/>
          <p:cNvSpPr/>
          <p:nvPr/>
        </p:nvSpPr>
        <p:spPr>
          <a:xfrm>
            <a:off x="4462272" y="2712346"/>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77" name="Image 9" descr="preencoded.png">    </p:cNvPr>
          <p:cNvPicPr>
            <a:picLocks noChangeAspect="1"/>
          </p:cNvPicPr>
          <p:nvPr/>
        </p:nvPicPr>
        <p:blipFill>
          <a:blip r:embed="rId10"/>
          <a:stretch>
            <a:fillRect/>
          </a:stretch>
        </p:blipFill>
        <p:spPr>
          <a:xfrm>
            <a:off x="3214116" y="3195873"/>
            <a:ext cx="237744" cy="237744"/>
          </a:xfrm>
          <a:prstGeom prst="rect">
            <a:avLst/>
          </a:prstGeom>
        </p:spPr>
      </p:pic>
      <p:sp>
        <p:nvSpPr>
          <p:cNvPr id="78"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79"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Tentukan versi dan tulis catatan rilis</a:t>
            </a:r>
            <a:endParaRPr lang="en-US" sz="1800" dirty="0"/>
          </a:p>
        </p:txBody>
      </p:sp>
      <p:sp>
        <p:nvSpPr>
          <p:cNvPr id="80"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Versi pertama yang siap: v1.0.0. Catatan rilis dari changelog: fitur utama, perbaikan, dan cara melapor masalah.</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GitHub Release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santri-wu-kel3 / setoran-harian</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06861"/>
            <a:ext cx="658368" cy="182880"/>
          </a:xfrm>
          <a:prstGeom prst="rect">
            <a:avLst/>
          </a:prstGeom>
          <a:noFill/>
          <a:ln/>
        </p:spPr>
        <p:txBody>
          <a:bodyPr wrap="square" lIns="0" tIns="0" rIns="0" bIns="0" rtlCol="0" anchor="ctr"/>
          <a:lstStyle/>
          <a:p>
            <a:pPr indent="0" marL="0">
              <a:buNone/>
            </a:pPr>
            <a:r>
              <a:rPr lang="en-US" sz="650" b="1" dirty="0">
                <a:solidFill>
                  <a:srgbClr val="1E2A26"/>
                </a:solidFill>
                <a:latin typeface="Calibri" pitchFamily="34" charset="0"/>
                <a:ea typeface="Calibri" pitchFamily="34" charset="-122"/>
                <a:cs typeface="Calibri" pitchFamily="34" charset="-120"/>
              </a:rPr>
              <a:t>&lt;&gt; Code</a:t>
            </a:r>
            <a:endParaRPr lang="en-US" sz="650" dirty="0"/>
          </a:p>
        </p:txBody>
      </p:sp>
      <p:sp>
        <p:nvSpPr>
          <p:cNvPr id="33" name="Text 25"/>
          <p:cNvSpPr txBox="1"/>
          <p:nvPr/>
        </p:nvSpPr>
        <p:spPr>
          <a:xfrm>
            <a:off x="14107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Issues</a:t>
            </a:r>
            <a:endParaRPr lang="en-US" sz="650" dirty="0"/>
          </a:p>
        </p:txBody>
      </p:sp>
      <p:sp>
        <p:nvSpPr>
          <p:cNvPr id="34" name="Text 26"/>
          <p:cNvSpPr txBox="1"/>
          <p:nvPr/>
        </p:nvSpPr>
        <p:spPr>
          <a:xfrm>
            <a:off x="20965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Pull requests</a:t>
            </a:r>
            <a:endParaRPr lang="en-US" sz="650" dirty="0"/>
          </a:p>
        </p:txBody>
      </p:sp>
      <p:sp>
        <p:nvSpPr>
          <p:cNvPr id="35" name="Text 27"/>
          <p:cNvSpPr txBox="1"/>
          <p:nvPr/>
        </p:nvSpPr>
        <p:spPr>
          <a:xfrm>
            <a:off x="27823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Actions</a:t>
            </a:r>
            <a:endParaRPr lang="en-US" sz="650" dirty="0"/>
          </a:p>
        </p:txBody>
      </p:sp>
      <p:sp>
        <p:nvSpPr>
          <p:cNvPr id="36" name="Text 28"/>
          <p:cNvSpPr txBox="1"/>
          <p:nvPr/>
        </p:nvSpPr>
        <p:spPr>
          <a:xfrm>
            <a:off x="3468136" y="2006861"/>
            <a:ext cx="658368"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Settings</a:t>
            </a:r>
            <a:endParaRPr lang="en-US" sz="650" dirty="0"/>
          </a:p>
        </p:txBody>
      </p:sp>
      <p:sp>
        <p:nvSpPr>
          <p:cNvPr id="37" name="Shape 29"/>
          <p:cNvSpPr/>
          <p:nvPr/>
        </p:nvSpPr>
        <p:spPr>
          <a:xfrm>
            <a:off x="587776" y="2208029"/>
            <a:ext cx="4950927" cy="0"/>
          </a:xfrm>
          <a:prstGeom prst="line">
            <a:avLst/>
          </a:prstGeom>
          <a:noFill/>
          <a:ln w="6350">
            <a:solidFill>
              <a:srgbClr val="D0D7DE"/>
            </a:solidFill>
            <a:prstDash val="solid"/>
          </a:ln>
        </p:spPr>
      </p:sp>
      <p:sp>
        <p:nvSpPr>
          <p:cNvPr id="38" name="Shape 30"/>
          <p:cNvSpPr/>
          <p:nvPr/>
        </p:nvSpPr>
        <p:spPr>
          <a:xfrm>
            <a:off x="3984224" y="2281181"/>
            <a:ext cx="685800" cy="201168"/>
          </a:xfrm>
          <a:prstGeom prst="roundRect">
            <a:avLst>
              <a:gd name="adj" fmla="val 18182"/>
            </a:avLst>
          </a:prstGeom>
          <a:solidFill>
            <a:srgbClr val="F6F8FA"/>
          </a:solidFill>
          <a:ln w="9525">
            <a:solidFill>
              <a:srgbClr val="D0D7DE"/>
            </a:solidFill>
            <a:prstDash val="solid"/>
          </a:ln>
        </p:spPr>
      </p:sp>
      <p:sp>
        <p:nvSpPr>
          <p:cNvPr id="39" name="Text 31"/>
          <p:cNvSpPr txBox="1"/>
          <p:nvPr/>
        </p:nvSpPr>
        <p:spPr>
          <a:xfrm>
            <a:off x="3984224" y="2281181"/>
            <a:ext cx="68580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Add file ▾</a:t>
            </a:r>
            <a:endParaRPr lang="en-US" sz="700" dirty="0"/>
          </a:p>
        </p:txBody>
      </p:sp>
      <p:sp>
        <p:nvSpPr>
          <p:cNvPr id="40" name="Shape 32"/>
          <p:cNvSpPr/>
          <p:nvPr/>
        </p:nvSpPr>
        <p:spPr>
          <a:xfrm>
            <a:off x="4715744" y="2281181"/>
            <a:ext cx="640080" cy="201168"/>
          </a:xfrm>
          <a:prstGeom prst="roundRect">
            <a:avLst>
              <a:gd name="adj" fmla="val 18182"/>
            </a:avLst>
          </a:prstGeom>
          <a:solidFill>
            <a:srgbClr val="1F883D"/>
          </a:solidFill>
          <a:ln w="12700">
            <a:solidFill>
              <a:srgbClr val="1F883D"/>
            </a:solidFill>
            <a:prstDash val="solid"/>
          </a:ln>
        </p:spPr>
      </p:sp>
      <p:sp>
        <p:nvSpPr>
          <p:cNvPr id="41" name="Text 33"/>
          <p:cNvSpPr txBox="1"/>
          <p:nvPr/>
        </p:nvSpPr>
        <p:spPr>
          <a:xfrm>
            <a:off x="4715744" y="2281181"/>
            <a:ext cx="64008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&lt;&gt; Code ▾</a:t>
            </a:r>
            <a:endParaRPr lang="en-US" sz="700" dirty="0"/>
          </a:p>
        </p:txBody>
      </p:sp>
      <p:sp>
        <p:nvSpPr>
          <p:cNvPr id="42" name="Shape 34"/>
          <p:cNvSpPr/>
          <p:nvPr/>
        </p:nvSpPr>
        <p:spPr>
          <a:xfrm>
            <a:off x="724936" y="2537213"/>
            <a:ext cx="4676607" cy="219456"/>
          </a:xfrm>
          <a:prstGeom prst="rect">
            <a:avLst/>
          </a:prstGeom>
          <a:solidFill>
            <a:srgbClr val="F6F8FA"/>
          </a:solidFill>
          <a:ln w="6350">
            <a:solidFill>
              <a:srgbClr val="D0D7DE"/>
            </a:solidFill>
            <a:prstDash val="solid"/>
          </a:ln>
        </p:spPr>
      </p:sp>
      <p:sp>
        <p:nvSpPr>
          <p:cNvPr id="43" name="Text 35"/>
          <p:cNvSpPr txBox="1"/>
          <p:nvPr/>
        </p:nvSpPr>
        <p:spPr>
          <a:xfrm>
            <a:off x="798088" y="2537213"/>
            <a:ext cx="3273625"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santri-wu  Initial commit</a:t>
            </a:r>
            <a:endParaRPr lang="en-US" sz="650" dirty="0"/>
          </a:p>
        </p:txBody>
      </p:sp>
      <p:sp>
        <p:nvSpPr>
          <p:cNvPr id="44" name="Text 36"/>
          <p:cNvSpPr txBox="1"/>
          <p:nvPr/>
        </p:nvSpPr>
        <p:spPr>
          <a:xfrm>
            <a:off x="4578584" y="2537213"/>
            <a:ext cx="777240" cy="219456"/>
          </a:xfrm>
          <a:prstGeom prst="rect">
            <a:avLst/>
          </a:prstGeom>
          <a:noFill/>
          <a:ln/>
        </p:spPr>
        <p:txBody>
          <a:bodyPr wrap="square" lIns="0" tIns="0" rIns="0" bIns="0" rtlCol="0" anchor="ctr"/>
          <a:lstStyle/>
          <a:p>
            <a:pPr algn="r" indent="0" marL="0">
              <a:buNone/>
            </a:pPr>
            <a:r>
              <a:rPr lang="en-US" sz="650" dirty="0">
                <a:solidFill>
                  <a:srgbClr val="1E2A26"/>
                </a:solidFill>
                <a:latin typeface="Calibri" pitchFamily="34" charset="0"/>
                <a:ea typeface="Calibri" pitchFamily="34" charset="-122"/>
                <a:cs typeface="Calibri" pitchFamily="34" charset="-120"/>
              </a:rPr>
              <a:t>⟲ 14 Commits</a:t>
            </a:r>
            <a:endParaRPr lang="en-US" sz="650" dirty="0"/>
          </a:p>
        </p:txBody>
      </p:sp>
      <p:sp>
        <p:nvSpPr>
          <p:cNvPr id="45" name="Shape 37"/>
          <p:cNvSpPr/>
          <p:nvPr/>
        </p:nvSpPr>
        <p:spPr>
          <a:xfrm>
            <a:off x="724936" y="2756669"/>
            <a:ext cx="4676607" cy="201168"/>
          </a:xfrm>
          <a:prstGeom prst="rect">
            <a:avLst/>
          </a:prstGeom>
          <a:solidFill>
            <a:srgbClr val="FFFFFF"/>
          </a:solidFill>
          <a:ln w="6350">
            <a:solidFill>
              <a:srgbClr val="D0D7DE"/>
            </a:solidFill>
            <a:prstDash val="solid"/>
          </a:ln>
        </p:spPr>
      </p:sp>
      <p:pic>
        <p:nvPicPr>
          <p:cNvPr id="46" name="Image 6" descr="preencoded.png">    </p:cNvPr>
          <p:cNvPicPr>
            <a:picLocks noChangeAspect="1"/>
          </p:cNvPicPr>
          <p:nvPr/>
        </p:nvPicPr>
        <p:blipFill>
          <a:blip r:embed="rId7"/>
          <a:stretch>
            <a:fillRect/>
          </a:stretch>
        </p:blipFill>
        <p:spPr>
          <a:xfrm>
            <a:off x="798088" y="2793245"/>
            <a:ext cx="118872" cy="118872"/>
          </a:xfrm>
          <a:prstGeom prst="rect">
            <a:avLst/>
          </a:prstGeom>
        </p:spPr>
      </p:pic>
      <p:sp>
        <p:nvSpPr>
          <p:cNvPr id="47" name="Text 38"/>
          <p:cNvSpPr txBox="1"/>
          <p:nvPr/>
        </p:nvSpPr>
        <p:spPr>
          <a:xfrm>
            <a:off x="980968" y="2756669"/>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gambar</a:t>
            </a:r>
            <a:endParaRPr lang="en-US" sz="700" dirty="0"/>
          </a:p>
        </p:txBody>
      </p:sp>
      <p:sp>
        <p:nvSpPr>
          <p:cNvPr id="48" name="Text 39"/>
          <p:cNvSpPr txBox="1"/>
          <p:nvPr/>
        </p:nvSpPr>
        <p:spPr>
          <a:xfrm>
            <a:off x="2462296" y="2756669"/>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Pindahkan gambar</a:t>
            </a:r>
            <a:endParaRPr lang="en-US" sz="650" dirty="0"/>
          </a:p>
        </p:txBody>
      </p:sp>
      <p:sp>
        <p:nvSpPr>
          <p:cNvPr id="49" name="Shape 40"/>
          <p:cNvSpPr/>
          <p:nvPr/>
        </p:nvSpPr>
        <p:spPr>
          <a:xfrm>
            <a:off x="724936" y="2957837"/>
            <a:ext cx="4676607" cy="201168"/>
          </a:xfrm>
          <a:prstGeom prst="rect">
            <a:avLst/>
          </a:prstGeom>
          <a:solidFill>
            <a:srgbClr val="FFFFFF"/>
          </a:solidFill>
          <a:ln w="6350">
            <a:solidFill>
              <a:srgbClr val="D0D7DE"/>
            </a:solidFill>
            <a:prstDash val="solid"/>
          </a:ln>
        </p:spPr>
      </p:sp>
      <p:pic>
        <p:nvPicPr>
          <p:cNvPr id="50" name="Image 7" descr="preencoded.png">    </p:cNvPr>
          <p:cNvPicPr>
            <a:picLocks noChangeAspect="1"/>
          </p:cNvPicPr>
          <p:nvPr/>
        </p:nvPicPr>
        <p:blipFill>
          <a:blip r:embed="rId8"/>
          <a:stretch>
            <a:fillRect/>
          </a:stretch>
        </p:blipFill>
        <p:spPr>
          <a:xfrm>
            <a:off x="798088" y="2994413"/>
            <a:ext cx="118872" cy="118872"/>
          </a:xfrm>
          <a:prstGeom prst="rect">
            <a:avLst/>
          </a:prstGeom>
        </p:spPr>
      </p:pic>
      <p:sp>
        <p:nvSpPr>
          <p:cNvPr id="51" name="Text 41"/>
          <p:cNvSpPr txBox="1"/>
          <p:nvPr/>
        </p:nvSpPr>
        <p:spPr>
          <a:xfrm>
            <a:off x="980968" y="2957837"/>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index.html</a:t>
            </a:r>
            <a:endParaRPr lang="en-US" sz="700" dirty="0"/>
          </a:p>
        </p:txBody>
      </p:sp>
      <p:sp>
        <p:nvSpPr>
          <p:cNvPr id="52" name="Text 42"/>
          <p:cNvSpPr txBox="1"/>
          <p:nvPr/>
        </p:nvSpPr>
        <p:spPr>
          <a:xfrm>
            <a:off x="2462296" y="2957837"/>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Perbaikan UI/UX</a:t>
            </a:r>
            <a:endParaRPr lang="en-US" sz="650" dirty="0"/>
          </a:p>
        </p:txBody>
      </p:sp>
      <p:sp>
        <p:nvSpPr>
          <p:cNvPr id="53" name="Shape 43"/>
          <p:cNvSpPr/>
          <p:nvPr/>
        </p:nvSpPr>
        <p:spPr>
          <a:xfrm>
            <a:off x="724936" y="3159005"/>
            <a:ext cx="4676607" cy="201168"/>
          </a:xfrm>
          <a:prstGeom prst="rect">
            <a:avLst/>
          </a:prstGeom>
          <a:solidFill>
            <a:srgbClr val="FFFFFF"/>
          </a:solidFill>
          <a:ln w="6350">
            <a:solidFill>
              <a:srgbClr val="D0D7DE"/>
            </a:solidFill>
            <a:prstDash val="solid"/>
          </a:ln>
        </p:spPr>
      </p:sp>
      <p:pic>
        <p:nvPicPr>
          <p:cNvPr id="54" name="Image 8" descr="preencoded.png">    </p:cNvPr>
          <p:cNvPicPr>
            <a:picLocks noChangeAspect="1"/>
          </p:cNvPicPr>
          <p:nvPr/>
        </p:nvPicPr>
        <p:blipFill>
          <a:blip r:embed="rId9"/>
          <a:stretch>
            <a:fillRect/>
          </a:stretch>
        </p:blipFill>
        <p:spPr>
          <a:xfrm>
            <a:off x="798088" y="3195581"/>
            <a:ext cx="118872" cy="118872"/>
          </a:xfrm>
          <a:prstGeom prst="rect">
            <a:avLst/>
          </a:prstGeom>
        </p:spPr>
      </p:pic>
      <p:sp>
        <p:nvSpPr>
          <p:cNvPr id="55" name="Text 44"/>
          <p:cNvSpPr txBox="1"/>
          <p:nvPr/>
        </p:nvSpPr>
        <p:spPr>
          <a:xfrm>
            <a:off x="980968" y="3159005"/>
            <a:ext cx="1463040" cy="201168"/>
          </a:xfrm>
          <a:prstGeom prst="rect">
            <a:avLst/>
          </a:prstGeom>
          <a:noFill/>
          <a:ln/>
        </p:spPr>
        <p:txBody>
          <a:bodyPr wrap="square" lIns="0" tIns="0" rIns="0" bIns="0" rtlCol="0" anchor="ctr"/>
          <a:lstStyle/>
          <a:p>
            <a:pPr indent="0" marL="0">
              <a:buNone/>
            </a:pPr>
            <a:r>
              <a:rPr lang="en-US" sz="700" dirty="0">
                <a:solidFill>
                  <a:srgbClr val="0969DA"/>
                </a:solidFill>
                <a:latin typeface="Calibri" pitchFamily="34" charset="0"/>
                <a:ea typeface="Calibri" pitchFamily="34" charset="-122"/>
                <a:cs typeface="Calibri" pitchFamily="34" charset="-120"/>
              </a:rPr>
              <a:t>README.md</a:t>
            </a:r>
            <a:endParaRPr lang="en-US" sz="700" dirty="0"/>
          </a:p>
        </p:txBody>
      </p:sp>
      <p:sp>
        <p:nvSpPr>
          <p:cNvPr id="56" name="Text 45"/>
          <p:cNvSpPr txBox="1"/>
          <p:nvPr/>
        </p:nvSpPr>
        <p:spPr>
          <a:xfrm>
            <a:off x="2462296" y="3159005"/>
            <a:ext cx="2299167" cy="201168"/>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Tambah changelog</a:t>
            </a:r>
            <a:endParaRPr lang="en-US" sz="650" dirty="0"/>
          </a:p>
        </p:txBody>
      </p:sp>
      <p:sp>
        <p:nvSpPr>
          <p:cNvPr id="57" name="Shape 46"/>
          <p:cNvSpPr/>
          <p:nvPr/>
        </p:nvSpPr>
        <p:spPr>
          <a:xfrm>
            <a:off x="4167104" y="2756669"/>
            <a:ext cx="1234440" cy="548640"/>
          </a:xfrm>
          <a:prstGeom prst="rect">
            <a:avLst/>
          </a:prstGeom>
          <a:solidFill>
            <a:srgbClr val="FFFFFF"/>
          </a:solidFill>
          <a:ln w="6350">
            <a:solidFill>
              <a:srgbClr val="D0D7DE"/>
            </a:solidFill>
            <a:prstDash val="solid"/>
          </a:ln>
        </p:spPr>
      </p:sp>
      <p:sp>
        <p:nvSpPr>
          <p:cNvPr id="58" name="Text 47"/>
          <p:cNvSpPr txBox="1"/>
          <p:nvPr/>
        </p:nvSpPr>
        <p:spPr>
          <a:xfrm>
            <a:off x="4240256" y="2784101"/>
            <a:ext cx="1097280" cy="182880"/>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Releases</a:t>
            </a:r>
            <a:endParaRPr lang="en-US" sz="750" dirty="0"/>
          </a:p>
        </p:txBody>
      </p:sp>
      <p:sp>
        <p:nvSpPr>
          <p:cNvPr id="59" name="Text 48"/>
          <p:cNvSpPr txBox="1"/>
          <p:nvPr/>
        </p:nvSpPr>
        <p:spPr>
          <a:xfrm>
            <a:off x="4240256" y="3012701"/>
            <a:ext cx="1097280" cy="182880"/>
          </a:xfrm>
          <a:prstGeom prst="rect">
            <a:avLst/>
          </a:prstGeom>
          <a:noFill/>
          <a:ln/>
        </p:spPr>
        <p:txBody>
          <a:bodyPr wrap="square" lIns="0" tIns="0" rIns="0" bIns="0" rtlCol="0" anchor="t"/>
          <a:lstStyle/>
          <a:p>
            <a:pPr indent="0" marL="0">
              <a:buNone/>
            </a:pPr>
            <a:r>
              <a:rPr lang="en-US" sz="650" u="sng" dirty="0">
                <a:solidFill>
                  <a:srgbClr val="0969DA"/>
                </a:solidFill>
                <a:latin typeface="Calibri" pitchFamily="34" charset="0"/>
                <a:ea typeface="Calibri" pitchFamily="34" charset="-122"/>
                <a:cs typeface="Calibri" pitchFamily="34" charset="-120"/>
              </a:rPr>
              <a:t>Create a new release</a:t>
            </a:r>
            <a:endParaRPr lang="en-US" sz="650" dirty="0"/>
          </a:p>
        </p:txBody>
      </p:sp>
      <p:sp>
        <p:nvSpPr>
          <p:cNvPr id="60" name="Shape 49"/>
          <p:cNvSpPr/>
          <p:nvPr/>
        </p:nvSpPr>
        <p:spPr>
          <a:xfrm>
            <a:off x="4212824" y="2985269"/>
            <a:ext cx="1152144" cy="237744"/>
          </a:xfrm>
          <a:prstGeom prst="roundRect">
            <a:avLst>
              <a:gd name="adj" fmla="val 19231"/>
            </a:avLst>
          </a:prstGeom>
          <a:solidFill>
            <a:srgbClr val="FFFFFF">
              <a:alpha val="0"/>
            </a:srgbClr>
          </a:solidFill>
          <a:ln w="31750">
            <a:solidFill>
              <a:srgbClr val="E53935"/>
            </a:solidFill>
            <a:prstDash val="solid"/>
          </a:ln>
        </p:spPr>
      </p:sp>
      <p:sp>
        <p:nvSpPr>
          <p:cNvPr id="61" name="Shape 50"/>
          <p:cNvSpPr/>
          <p:nvPr/>
        </p:nvSpPr>
        <p:spPr>
          <a:xfrm>
            <a:off x="5227808" y="2848109"/>
            <a:ext cx="274320" cy="274320"/>
          </a:xfrm>
          <a:prstGeom prst="ellipse">
            <a:avLst/>
          </a:prstGeom>
          <a:solidFill>
            <a:srgbClr val="E53935"/>
          </a:solidFill>
          <a:ln w="12700">
            <a:solidFill>
              <a:srgbClr val="FFFFFF"/>
            </a:solidFill>
            <a:prstDash val="solid"/>
          </a:ln>
        </p:spPr>
      </p:sp>
      <p:sp>
        <p:nvSpPr>
          <p:cNvPr id="62" name="Text 51"/>
          <p:cNvSpPr txBox="1"/>
          <p:nvPr/>
        </p:nvSpPr>
        <p:spPr>
          <a:xfrm>
            <a:off x="5227808" y="28481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63" name="Image 9" descr="preencoded.png">    </p:cNvPr>
          <p:cNvPicPr>
            <a:picLocks noChangeAspect="1"/>
          </p:cNvPicPr>
          <p:nvPr/>
        </p:nvPicPr>
        <p:blipFill>
          <a:blip r:embed="rId10"/>
          <a:stretch>
            <a:fillRect/>
          </a:stretch>
        </p:blipFill>
        <p:spPr>
          <a:xfrm>
            <a:off x="4843760" y="3113285"/>
            <a:ext cx="237744" cy="237744"/>
          </a:xfrm>
          <a:prstGeom prst="rect">
            <a:avLst/>
          </a:prstGeom>
        </p:spPr>
      </p:pic>
      <p:sp>
        <p:nvSpPr>
          <p:cNvPr id="64" name="Text 5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65" name="Text 5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Repository › Releases › Create a new release</a:t>
            </a:r>
            <a:endParaRPr lang="en-US" sz="1800" dirty="0"/>
          </a:p>
        </p:txBody>
      </p:sp>
      <p:sp>
        <p:nvSpPr>
          <p:cNvPr id="66" name="Text 5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halaman repository, kolom kanan: Releases › Create a new release (atau Draft a new release).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GitHub Release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santri-wu-kel3 / setoran-harian / releases / new</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89157"/>
            <a:ext cx="2743200" cy="228600"/>
          </a:xfrm>
          <a:prstGeom prst="rect">
            <a:avLst/>
          </a:prstGeom>
          <a:noFill/>
          <a:ln/>
        </p:spPr>
        <p:txBody>
          <a:bodyPr wrap="square" lIns="0" tIns="0" rIns="0" bIns="0" rtlCol="0" anchor="t"/>
          <a:lstStyle/>
          <a:p>
            <a:pPr indent="0" marL="0">
              <a:buNone/>
            </a:pPr>
            <a:r>
              <a:rPr lang="en-US" sz="1100" b="1" dirty="0">
                <a:solidFill>
                  <a:srgbClr val="1E2A26"/>
                </a:solidFill>
                <a:latin typeface="Calibri" pitchFamily="34" charset="0"/>
                <a:ea typeface="Calibri" pitchFamily="34" charset="-122"/>
                <a:cs typeface="Calibri" pitchFamily="34" charset="-120"/>
              </a:rPr>
              <a:t>Draft a new release</a:t>
            </a:r>
            <a:endParaRPr lang="en-US" sz="1100" dirty="0"/>
          </a:p>
        </p:txBody>
      </p:sp>
      <p:sp>
        <p:nvSpPr>
          <p:cNvPr id="33" name="Shape 25"/>
          <p:cNvSpPr/>
          <p:nvPr/>
        </p:nvSpPr>
        <p:spPr>
          <a:xfrm>
            <a:off x="724936" y="2381765"/>
            <a:ext cx="1188720" cy="219456"/>
          </a:xfrm>
          <a:prstGeom prst="roundRect">
            <a:avLst>
              <a:gd name="adj" fmla="val 16667"/>
            </a:avLst>
          </a:prstGeom>
          <a:solidFill>
            <a:srgbClr val="F6F8FA"/>
          </a:solidFill>
          <a:ln w="9525">
            <a:solidFill>
              <a:srgbClr val="D0D7DE"/>
            </a:solidFill>
            <a:prstDash val="solid"/>
          </a:ln>
        </p:spPr>
      </p:sp>
      <p:sp>
        <p:nvSpPr>
          <p:cNvPr id="34" name="Text 26"/>
          <p:cNvSpPr txBox="1"/>
          <p:nvPr/>
        </p:nvSpPr>
        <p:spPr>
          <a:xfrm>
            <a:off x="779800" y="2381765"/>
            <a:ext cx="1188720" cy="219456"/>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v1.0.0 ▾</a:t>
            </a:r>
            <a:endParaRPr lang="en-US" sz="700" dirty="0"/>
          </a:p>
        </p:txBody>
      </p:sp>
      <p:sp>
        <p:nvSpPr>
          <p:cNvPr id="35" name="Shape 27"/>
          <p:cNvSpPr/>
          <p:nvPr/>
        </p:nvSpPr>
        <p:spPr>
          <a:xfrm>
            <a:off x="724936" y="2683517"/>
            <a:ext cx="4676607" cy="219456"/>
          </a:xfrm>
          <a:prstGeom prst="roundRect">
            <a:avLst>
              <a:gd name="adj" fmla="val 12500"/>
            </a:avLst>
          </a:prstGeom>
          <a:solidFill>
            <a:srgbClr val="FFFFFF"/>
          </a:solidFill>
          <a:ln w="12700">
            <a:solidFill>
              <a:srgbClr val="0969DA"/>
            </a:solidFill>
            <a:prstDash val="solid"/>
          </a:ln>
        </p:spPr>
      </p:sp>
      <p:sp>
        <p:nvSpPr>
          <p:cNvPr id="36" name="Text 28"/>
          <p:cNvSpPr txBox="1"/>
          <p:nvPr/>
        </p:nvSpPr>
        <p:spPr>
          <a:xfrm>
            <a:off x="779800" y="2683517"/>
            <a:ext cx="4676607" cy="219456"/>
          </a:xfrm>
          <a:prstGeom prst="rect">
            <a:avLst/>
          </a:prstGeom>
          <a:noFill/>
          <a:ln/>
        </p:spPr>
        <p:txBody>
          <a:bodyPr wrap="square" lIns="0" tIns="0" rIns="0" bIns="0" rtlCol="0" anchor="ctr"/>
          <a:lstStyle/>
          <a:p>
            <a:pPr indent="0" marL="0">
              <a:buNone/>
            </a:pPr>
            <a:r>
              <a:rPr lang="en-US" sz="750" dirty="0">
                <a:solidFill>
                  <a:srgbClr val="111111"/>
                </a:solidFill>
                <a:latin typeface="Calibri" pitchFamily="34" charset="0"/>
                <a:ea typeface="Calibri" pitchFamily="34" charset="-122"/>
                <a:cs typeface="Calibri" pitchFamily="34" charset="-120"/>
              </a:rPr>
              <a:t>Setoran Harian v1.0.0</a:t>
            </a:r>
            <a:endParaRPr lang="en-US" sz="750" dirty="0"/>
          </a:p>
        </p:txBody>
      </p:sp>
      <p:sp>
        <p:nvSpPr>
          <p:cNvPr id="37" name="Shape 29"/>
          <p:cNvSpPr/>
          <p:nvPr/>
        </p:nvSpPr>
        <p:spPr>
          <a:xfrm>
            <a:off x="724936" y="2976125"/>
            <a:ext cx="4676607" cy="653499"/>
          </a:xfrm>
          <a:prstGeom prst="roundRect">
            <a:avLst>
              <a:gd name="adj" fmla="val 4198"/>
            </a:avLst>
          </a:prstGeom>
          <a:solidFill>
            <a:srgbClr val="FFFFFF"/>
          </a:solidFill>
          <a:ln w="9525">
            <a:solidFill>
              <a:srgbClr val="D0D7DE"/>
            </a:solidFill>
            <a:prstDash val="solid"/>
          </a:ln>
        </p:spPr>
      </p:sp>
      <p:sp>
        <p:nvSpPr>
          <p:cNvPr id="38" name="Text 30"/>
          <p:cNvSpPr txBox="1"/>
          <p:nvPr/>
        </p:nvSpPr>
        <p:spPr>
          <a:xfrm>
            <a:off x="798088" y="3021845"/>
            <a:ext cx="4585167" cy="562059"/>
          </a:xfrm>
          <a:prstGeom prst="rect">
            <a:avLst/>
          </a:prstGeom>
          <a:noFill/>
          <a:ln/>
        </p:spPr>
        <p:txBody>
          <a:bodyPr wrap="square" lIns="0" tIns="0" rIns="0" bIns="0" rtlCol="0" anchor="t"/>
          <a:lstStyle/>
          <a:p>
            <a:pPr indent="0" marL="0">
              <a:buNone/>
            </a:pPr>
            <a:r>
              <a:rPr lang="en-US" sz="650" dirty="0">
                <a:solidFill>
                  <a:srgbClr val="1E2A26"/>
                </a:solidFill>
                <a:latin typeface="Courier New" pitchFamily="34" charset="0"/>
                <a:ea typeface="Courier New" pitchFamily="34" charset="-122"/>
                <a:cs typeface="Courier New" pitchFamily="34" charset="-120"/>
              </a:rPr>
              <a:t>## Fitur</a:t>
            </a:r>
            <a:endParaRPr lang="en-US" sz="650" dirty="0"/>
          </a:p>
          <a:p>
            <a:pPr indent="0" marL="0">
              <a:buNone/>
            </a:pPr>
            <a:r>
              <a:rPr lang="en-US" sz="650" dirty="0">
                <a:solidFill>
                  <a:srgbClr val="1E2A26"/>
                </a:solidFill>
                <a:latin typeface="Courier New" pitchFamily="34" charset="0"/>
                <a:ea typeface="Courier New" pitchFamily="34" charset="-122"/>
                <a:cs typeface="Courier New" pitchFamily="34" charset="-120"/>
              </a:rPr>
              <a:t>- Simpan setoran, cek total pekanan, riwayat</a:t>
            </a:r>
            <a:endParaRPr lang="en-US" sz="650" dirty="0"/>
          </a:p>
          <a:p>
            <a:pPr indent="0" marL="0">
              <a:buNone/>
            </a:pPr>
            <a:r>
              <a:rPr lang="en-US" sz="650" dirty="0">
                <a:solidFill>
                  <a:srgbClr val="1E2A26"/>
                </a:solidFill>
                <a:latin typeface="Courier New" pitchFamily="34" charset="0"/>
                <a:ea typeface="Courier New" pitchFamily="34" charset="-122"/>
                <a:cs typeface="Courier New" pitchFamily="34" charset="-120"/>
              </a:rPr>
              <a:t>## Perbaikan</a:t>
            </a:r>
            <a:endParaRPr lang="en-US" sz="650" dirty="0"/>
          </a:p>
          <a:p>
            <a:pPr indent="0" marL="0">
              <a:buNone/>
            </a:pPr>
            <a:r>
              <a:rPr lang="en-US" sz="650" dirty="0">
                <a:solidFill>
                  <a:srgbClr val="1E2A26"/>
                </a:solidFill>
                <a:latin typeface="Courier New" pitchFamily="34" charset="0"/>
                <a:ea typeface="Courier New" pitchFamily="34" charset="-122"/>
                <a:cs typeface="Courier New" pitchFamily="34" charset="-120"/>
              </a:rPr>
              <a:t>- Label, tombol besar, umpan balik</a:t>
            </a:r>
            <a:endParaRPr lang="en-US" sz="650" dirty="0"/>
          </a:p>
          <a:p>
            <a:pPr indent="0" marL="0">
              <a:buNone/>
            </a:pPr>
            <a:r>
              <a:rPr lang="en-US" sz="650" dirty="0">
                <a:solidFill>
                  <a:srgbClr val="1E2A26"/>
                </a:solidFill>
                <a:latin typeface="Courier New" pitchFamily="34" charset="0"/>
                <a:ea typeface="Courier New" pitchFamily="34" charset="-122"/>
                <a:cs typeface="Courier New" pitchFamily="34" charset="-120"/>
              </a:rPr>
              <a:t>Data latihan. Laporkan masalah lewat tautan di aplikasi.</a:t>
            </a:r>
            <a:endParaRPr lang="en-US" sz="650" dirty="0"/>
          </a:p>
        </p:txBody>
      </p:sp>
      <p:sp>
        <p:nvSpPr>
          <p:cNvPr id="39" name="Shape 31"/>
          <p:cNvSpPr/>
          <p:nvPr/>
        </p:nvSpPr>
        <p:spPr>
          <a:xfrm>
            <a:off x="724936" y="3693632"/>
            <a:ext cx="1005840" cy="219456"/>
          </a:xfrm>
          <a:prstGeom prst="roundRect">
            <a:avLst>
              <a:gd name="adj" fmla="val 16667"/>
            </a:avLst>
          </a:prstGeom>
          <a:solidFill>
            <a:srgbClr val="1F883D"/>
          </a:solidFill>
          <a:ln w="12700">
            <a:solidFill>
              <a:srgbClr val="1F883D"/>
            </a:solidFill>
            <a:prstDash val="solid"/>
          </a:ln>
        </p:spPr>
      </p:sp>
      <p:sp>
        <p:nvSpPr>
          <p:cNvPr id="40" name="Text 32"/>
          <p:cNvSpPr txBox="1"/>
          <p:nvPr/>
        </p:nvSpPr>
        <p:spPr>
          <a:xfrm>
            <a:off x="724936" y="3693632"/>
            <a:ext cx="10058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Publish release</a:t>
            </a:r>
            <a:endParaRPr lang="en-US" sz="750" dirty="0"/>
          </a:p>
        </p:txBody>
      </p:sp>
      <p:sp>
        <p:nvSpPr>
          <p:cNvPr id="41" name="Shape 33"/>
          <p:cNvSpPr/>
          <p:nvPr/>
        </p:nvSpPr>
        <p:spPr>
          <a:xfrm>
            <a:off x="706648" y="2363477"/>
            <a:ext cx="1225296" cy="256032"/>
          </a:xfrm>
          <a:prstGeom prst="roundRect">
            <a:avLst>
              <a:gd name="adj" fmla="val 17857"/>
            </a:avLst>
          </a:prstGeom>
          <a:solidFill>
            <a:srgbClr val="FFFFFF">
              <a:alpha val="0"/>
            </a:srgbClr>
          </a:solidFill>
          <a:ln w="31750">
            <a:solidFill>
              <a:srgbClr val="E53935"/>
            </a:solidFill>
            <a:prstDash val="solid"/>
          </a:ln>
        </p:spPr>
      </p:sp>
      <p:sp>
        <p:nvSpPr>
          <p:cNvPr id="42" name="Shape 34"/>
          <p:cNvSpPr/>
          <p:nvPr/>
        </p:nvSpPr>
        <p:spPr>
          <a:xfrm>
            <a:off x="1794784" y="2226317"/>
            <a:ext cx="274320" cy="274320"/>
          </a:xfrm>
          <a:prstGeom prst="ellipse">
            <a:avLst/>
          </a:prstGeom>
          <a:solidFill>
            <a:srgbClr val="E53935"/>
          </a:solidFill>
          <a:ln w="12700">
            <a:solidFill>
              <a:srgbClr val="FFFFFF"/>
            </a:solidFill>
            <a:prstDash val="solid"/>
          </a:ln>
        </p:spPr>
      </p:sp>
      <p:sp>
        <p:nvSpPr>
          <p:cNvPr id="43" name="Text 35"/>
          <p:cNvSpPr txBox="1"/>
          <p:nvPr/>
        </p:nvSpPr>
        <p:spPr>
          <a:xfrm>
            <a:off x="1794784" y="22263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4" name="Image 6" descr="preencoded.png">    </p:cNvPr>
          <p:cNvPicPr>
            <a:picLocks noChangeAspect="1"/>
          </p:cNvPicPr>
          <p:nvPr/>
        </p:nvPicPr>
        <p:blipFill>
          <a:blip r:embed="rId7"/>
          <a:stretch>
            <a:fillRect/>
          </a:stretch>
        </p:blipFill>
        <p:spPr>
          <a:xfrm>
            <a:off x="1378732" y="2502466"/>
            <a:ext cx="237744" cy="237744"/>
          </a:xfrm>
          <a:prstGeom prst="rect">
            <a:avLst/>
          </a:prstGeom>
        </p:spPr>
      </p:pic>
      <p:sp>
        <p:nvSpPr>
          <p:cNvPr id="45" name="Shape 36"/>
          <p:cNvSpPr/>
          <p:nvPr/>
        </p:nvSpPr>
        <p:spPr>
          <a:xfrm>
            <a:off x="706648" y="2665229"/>
            <a:ext cx="4713183" cy="256032"/>
          </a:xfrm>
          <a:prstGeom prst="roundRect">
            <a:avLst>
              <a:gd name="adj" fmla="val 17857"/>
            </a:avLst>
          </a:prstGeom>
          <a:solidFill>
            <a:srgbClr val="FFFFFF">
              <a:alpha val="0"/>
            </a:srgbClr>
          </a:solidFill>
          <a:ln w="31750">
            <a:solidFill>
              <a:srgbClr val="E53935"/>
            </a:solidFill>
            <a:prstDash val="solid"/>
          </a:ln>
        </p:spPr>
      </p:sp>
      <p:sp>
        <p:nvSpPr>
          <p:cNvPr id="46" name="Shape 37"/>
          <p:cNvSpPr/>
          <p:nvPr/>
        </p:nvSpPr>
        <p:spPr>
          <a:xfrm>
            <a:off x="5282672" y="2528069"/>
            <a:ext cx="274320" cy="274320"/>
          </a:xfrm>
          <a:prstGeom prst="ellipse">
            <a:avLst/>
          </a:prstGeom>
          <a:solidFill>
            <a:srgbClr val="E53935"/>
          </a:solidFill>
          <a:ln w="12700">
            <a:solidFill>
              <a:srgbClr val="FFFFFF"/>
            </a:solidFill>
            <a:prstDash val="solid"/>
          </a:ln>
        </p:spPr>
      </p:sp>
      <p:sp>
        <p:nvSpPr>
          <p:cNvPr id="47" name="Text 38"/>
          <p:cNvSpPr txBox="1"/>
          <p:nvPr/>
        </p:nvSpPr>
        <p:spPr>
          <a:xfrm>
            <a:off x="5282672" y="25280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8" name="Image 7" descr="preencoded.png">    </p:cNvPr>
          <p:cNvPicPr>
            <a:picLocks noChangeAspect="1"/>
          </p:cNvPicPr>
          <p:nvPr/>
        </p:nvPicPr>
        <p:blipFill>
          <a:blip r:embed="rId8"/>
          <a:stretch>
            <a:fillRect/>
          </a:stretch>
        </p:blipFill>
        <p:spPr>
          <a:xfrm>
            <a:off x="3297070" y="2804218"/>
            <a:ext cx="237744" cy="237744"/>
          </a:xfrm>
          <a:prstGeom prst="rect">
            <a:avLst/>
          </a:prstGeom>
        </p:spPr>
      </p:pic>
      <p:sp>
        <p:nvSpPr>
          <p:cNvPr id="49" name="Shape 39"/>
          <p:cNvSpPr/>
          <p:nvPr/>
        </p:nvSpPr>
        <p:spPr>
          <a:xfrm>
            <a:off x="706648" y="2957837"/>
            <a:ext cx="4713183" cy="690075"/>
          </a:xfrm>
          <a:prstGeom prst="roundRect">
            <a:avLst>
              <a:gd name="adj" fmla="val 6625"/>
            </a:avLst>
          </a:prstGeom>
          <a:solidFill>
            <a:srgbClr val="FFFFFF">
              <a:alpha val="0"/>
            </a:srgbClr>
          </a:solidFill>
          <a:ln w="31750">
            <a:solidFill>
              <a:srgbClr val="E53935"/>
            </a:solidFill>
            <a:prstDash val="solid"/>
          </a:ln>
        </p:spPr>
      </p:sp>
      <p:sp>
        <p:nvSpPr>
          <p:cNvPr id="50" name="Shape 40"/>
          <p:cNvSpPr/>
          <p:nvPr/>
        </p:nvSpPr>
        <p:spPr>
          <a:xfrm>
            <a:off x="5282672" y="2820677"/>
            <a:ext cx="274320" cy="274320"/>
          </a:xfrm>
          <a:prstGeom prst="ellipse">
            <a:avLst/>
          </a:prstGeom>
          <a:solidFill>
            <a:srgbClr val="E53935"/>
          </a:solidFill>
          <a:ln w="12700">
            <a:solidFill>
              <a:srgbClr val="FFFFFF"/>
            </a:solidFill>
            <a:prstDash val="solid"/>
          </a:ln>
        </p:spPr>
      </p:sp>
      <p:sp>
        <p:nvSpPr>
          <p:cNvPr id="51" name="Text 41"/>
          <p:cNvSpPr txBox="1"/>
          <p:nvPr/>
        </p:nvSpPr>
        <p:spPr>
          <a:xfrm>
            <a:off x="5282672" y="28206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pic>
        <p:nvPicPr>
          <p:cNvPr id="52" name="Image 8" descr="preencoded.png">    </p:cNvPr>
          <p:cNvPicPr>
            <a:picLocks noChangeAspect="1"/>
          </p:cNvPicPr>
          <p:nvPr/>
        </p:nvPicPr>
        <p:blipFill>
          <a:blip r:embed="rId9"/>
          <a:stretch>
            <a:fillRect/>
          </a:stretch>
        </p:blipFill>
        <p:spPr>
          <a:xfrm>
            <a:off x="3297070" y="3335549"/>
            <a:ext cx="237744" cy="237744"/>
          </a:xfrm>
          <a:prstGeom prst="rect">
            <a:avLst/>
          </a:prstGeom>
        </p:spPr>
      </p:pic>
      <p:sp>
        <p:nvSpPr>
          <p:cNvPr id="53" name="Text 4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4" name="Text 4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Tag v1.0.0, judul, catatan rilis</a:t>
            </a:r>
            <a:endParaRPr lang="en-US" sz="1800" dirty="0"/>
          </a:p>
        </p:txBody>
      </p:sp>
      <p:sp>
        <p:nvSpPr>
          <p:cNvPr id="55" name="Text 4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Choose a tag › ketik v1.0.0 › Create new tag. Release title: Setoran Harian v1.0.0. Tempel catatan rilis.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GitHub Release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santri-wu-kel3 / setoran-harian / releases / new</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89157"/>
            <a:ext cx="2743200" cy="228600"/>
          </a:xfrm>
          <a:prstGeom prst="rect">
            <a:avLst/>
          </a:prstGeom>
          <a:noFill/>
          <a:ln/>
        </p:spPr>
        <p:txBody>
          <a:bodyPr wrap="square" lIns="0" tIns="0" rIns="0" bIns="0" rtlCol="0" anchor="t"/>
          <a:lstStyle/>
          <a:p>
            <a:pPr indent="0" marL="0">
              <a:buNone/>
            </a:pPr>
            <a:r>
              <a:rPr lang="en-US" sz="1100" b="1" dirty="0">
                <a:solidFill>
                  <a:srgbClr val="1E2A26"/>
                </a:solidFill>
                <a:latin typeface="Calibri" pitchFamily="34" charset="0"/>
                <a:ea typeface="Calibri" pitchFamily="34" charset="-122"/>
                <a:cs typeface="Calibri" pitchFamily="34" charset="-120"/>
              </a:rPr>
              <a:t>Draft a new release</a:t>
            </a:r>
            <a:endParaRPr lang="en-US" sz="1100" dirty="0"/>
          </a:p>
        </p:txBody>
      </p:sp>
      <p:sp>
        <p:nvSpPr>
          <p:cNvPr id="33" name="Shape 25"/>
          <p:cNvSpPr/>
          <p:nvPr/>
        </p:nvSpPr>
        <p:spPr>
          <a:xfrm>
            <a:off x="724936" y="2381765"/>
            <a:ext cx="1188720" cy="219456"/>
          </a:xfrm>
          <a:prstGeom prst="roundRect">
            <a:avLst>
              <a:gd name="adj" fmla="val 16667"/>
            </a:avLst>
          </a:prstGeom>
          <a:solidFill>
            <a:srgbClr val="F6F8FA"/>
          </a:solidFill>
          <a:ln w="9525">
            <a:solidFill>
              <a:srgbClr val="D0D7DE"/>
            </a:solidFill>
            <a:prstDash val="solid"/>
          </a:ln>
        </p:spPr>
      </p:sp>
      <p:sp>
        <p:nvSpPr>
          <p:cNvPr id="34" name="Text 26"/>
          <p:cNvSpPr txBox="1"/>
          <p:nvPr/>
        </p:nvSpPr>
        <p:spPr>
          <a:xfrm>
            <a:off x="779800" y="2381765"/>
            <a:ext cx="1188720" cy="219456"/>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v1.0.0 ▾</a:t>
            </a:r>
            <a:endParaRPr lang="en-US" sz="700" dirty="0"/>
          </a:p>
        </p:txBody>
      </p:sp>
      <p:sp>
        <p:nvSpPr>
          <p:cNvPr id="35" name="Shape 27"/>
          <p:cNvSpPr/>
          <p:nvPr/>
        </p:nvSpPr>
        <p:spPr>
          <a:xfrm>
            <a:off x="724936" y="2683517"/>
            <a:ext cx="4676607" cy="219456"/>
          </a:xfrm>
          <a:prstGeom prst="roundRect">
            <a:avLst>
              <a:gd name="adj" fmla="val 12500"/>
            </a:avLst>
          </a:prstGeom>
          <a:solidFill>
            <a:srgbClr val="FFFFFF"/>
          </a:solidFill>
          <a:ln w="12700">
            <a:solidFill>
              <a:srgbClr val="0969DA"/>
            </a:solidFill>
            <a:prstDash val="solid"/>
          </a:ln>
        </p:spPr>
      </p:sp>
      <p:sp>
        <p:nvSpPr>
          <p:cNvPr id="36" name="Text 28"/>
          <p:cNvSpPr txBox="1"/>
          <p:nvPr/>
        </p:nvSpPr>
        <p:spPr>
          <a:xfrm>
            <a:off x="779800" y="2683517"/>
            <a:ext cx="4676607" cy="219456"/>
          </a:xfrm>
          <a:prstGeom prst="rect">
            <a:avLst/>
          </a:prstGeom>
          <a:noFill/>
          <a:ln/>
        </p:spPr>
        <p:txBody>
          <a:bodyPr wrap="square" lIns="0" tIns="0" rIns="0" bIns="0" rtlCol="0" anchor="ctr"/>
          <a:lstStyle/>
          <a:p>
            <a:pPr indent="0" marL="0">
              <a:buNone/>
            </a:pPr>
            <a:r>
              <a:rPr lang="en-US" sz="750" dirty="0">
                <a:solidFill>
                  <a:srgbClr val="111111"/>
                </a:solidFill>
                <a:latin typeface="Calibri" pitchFamily="34" charset="0"/>
                <a:ea typeface="Calibri" pitchFamily="34" charset="-122"/>
                <a:cs typeface="Calibri" pitchFamily="34" charset="-120"/>
              </a:rPr>
              <a:t>Setoran Harian v1.0.0</a:t>
            </a:r>
            <a:endParaRPr lang="en-US" sz="750" dirty="0"/>
          </a:p>
        </p:txBody>
      </p:sp>
      <p:sp>
        <p:nvSpPr>
          <p:cNvPr id="37" name="Shape 29"/>
          <p:cNvSpPr/>
          <p:nvPr/>
        </p:nvSpPr>
        <p:spPr>
          <a:xfrm>
            <a:off x="724936" y="2976125"/>
            <a:ext cx="4676607" cy="653499"/>
          </a:xfrm>
          <a:prstGeom prst="roundRect">
            <a:avLst>
              <a:gd name="adj" fmla="val 4198"/>
            </a:avLst>
          </a:prstGeom>
          <a:solidFill>
            <a:srgbClr val="FFFFFF"/>
          </a:solidFill>
          <a:ln w="9525">
            <a:solidFill>
              <a:srgbClr val="D0D7DE"/>
            </a:solidFill>
            <a:prstDash val="solid"/>
          </a:ln>
        </p:spPr>
      </p:sp>
      <p:sp>
        <p:nvSpPr>
          <p:cNvPr id="38" name="Text 30"/>
          <p:cNvSpPr txBox="1"/>
          <p:nvPr/>
        </p:nvSpPr>
        <p:spPr>
          <a:xfrm>
            <a:off x="798088" y="3021845"/>
            <a:ext cx="4585167" cy="562059"/>
          </a:xfrm>
          <a:prstGeom prst="rect">
            <a:avLst/>
          </a:prstGeom>
          <a:noFill/>
          <a:ln/>
        </p:spPr>
        <p:txBody>
          <a:bodyPr wrap="square" lIns="0" tIns="0" rIns="0" bIns="0" rtlCol="0" anchor="t"/>
          <a:lstStyle/>
          <a:p>
            <a:pPr indent="0" marL="0">
              <a:buNone/>
            </a:pPr>
            <a:r>
              <a:rPr lang="en-US" sz="650" dirty="0">
                <a:solidFill>
                  <a:srgbClr val="1E2A26"/>
                </a:solidFill>
                <a:latin typeface="Courier New" pitchFamily="34" charset="0"/>
                <a:ea typeface="Courier New" pitchFamily="34" charset="-122"/>
                <a:cs typeface="Courier New" pitchFamily="34" charset="-120"/>
              </a:rPr>
              <a:t>## Fitur</a:t>
            </a:r>
            <a:endParaRPr lang="en-US" sz="650" dirty="0"/>
          </a:p>
          <a:p>
            <a:pPr indent="0" marL="0">
              <a:buNone/>
            </a:pPr>
            <a:r>
              <a:rPr lang="en-US" sz="650" dirty="0">
                <a:solidFill>
                  <a:srgbClr val="1E2A26"/>
                </a:solidFill>
                <a:latin typeface="Courier New" pitchFamily="34" charset="0"/>
                <a:ea typeface="Courier New" pitchFamily="34" charset="-122"/>
                <a:cs typeface="Courier New" pitchFamily="34" charset="-120"/>
              </a:rPr>
              <a:t>- Simpan setoran, cek total pekanan, riwayat</a:t>
            </a:r>
            <a:endParaRPr lang="en-US" sz="650" dirty="0"/>
          </a:p>
          <a:p>
            <a:pPr indent="0" marL="0">
              <a:buNone/>
            </a:pPr>
            <a:r>
              <a:rPr lang="en-US" sz="650" dirty="0">
                <a:solidFill>
                  <a:srgbClr val="1E2A26"/>
                </a:solidFill>
                <a:latin typeface="Courier New" pitchFamily="34" charset="0"/>
                <a:ea typeface="Courier New" pitchFamily="34" charset="-122"/>
                <a:cs typeface="Courier New" pitchFamily="34" charset="-120"/>
              </a:rPr>
              <a:t>...</a:t>
            </a:r>
            <a:endParaRPr lang="en-US" sz="650" dirty="0"/>
          </a:p>
        </p:txBody>
      </p:sp>
      <p:sp>
        <p:nvSpPr>
          <p:cNvPr id="39" name="Shape 31"/>
          <p:cNvSpPr/>
          <p:nvPr/>
        </p:nvSpPr>
        <p:spPr>
          <a:xfrm>
            <a:off x="724936" y="3693632"/>
            <a:ext cx="1005840" cy="219456"/>
          </a:xfrm>
          <a:prstGeom prst="roundRect">
            <a:avLst>
              <a:gd name="adj" fmla="val 16667"/>
            </a:avLst>
          </a:prstGeom>
          <a:solidFill>
            <a:srgbClr val="1F883D"/>
          </a:solidFill>
          <a:ln w="12700">
            <a:solidFill>
              <a:srgbClr val="1F883D"/>
            </a:solidFill>
            <a:prstDash val="solid"/>
          </a:ln>
        </p:spPr>
      </p:sp>
      <p:sp>
        <p:nvSpPr>
          <p:cNvPr id="40" name="Text 32"/>
          <p:cNvSpPr txBox="1"/>
          <p:nvPr/>
        </p:nvSpPr>
        <p:spPr>
          <a:xfrm>
            <a:off x="724936" y="3693632"/>
            <a:ext cx="10058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Publish release</a:t>
            </a:r>
            <a:endParaRPr lang="en-US" sz="750" dirty="0"/>
          </a:p>
        </p:txBody>
      </p:sp>
      <p:sp>
        <p:nvSpPr>
          <p:cNvPr id="41" name="Shape 33"/>
          <p:cNvSpPr/>
          <p:nvPr/>
        </p:nvSpPr>
        <p:spPr>
          <a:xfrm>
            <a:off x="697504" y="3666200"/>
            <a:ext cx="1060704" cy="274320"/>
          </a:xfrm>
          <a:prstGeom prst="roundRect">
            <a:avLst>
              <a:gd name="adj" fmla="val 16667"/>
            </a:avLst>
          </a:prstGeom>
          <a:solidFill>
            <a:srgbClr val="FFFFFF">
              <a:alpha val="0"/>
            </a:srgbClr>
          </a:solidFill>
          <a:ln w="31750">
            <a:solidFill>
              <a:srgbClr val="E53935"/>
            </a:solidFill>
            <a:prstDash val="solid"/>
          </a:ln>
        </p:spPr>
      </p:sp>
      <p:sp>
        <p:nvSpPr>
          <p:cNvPr id="42" name="Shape 34"/>
          <p:cNvSpPr/>
          <p:nvPr/>
        </p:nvSpPr>
        <p:spPr>
          <a:xfrm>
            <a:off x="1621048" y="3529040"/>
            <a:ext cx="274320" cy="274320"/>
          </a:xfrm>
          <a:prstGeom prst="ellipse">
            <a:avLst/>
          </a:prstGeom>
          <a:solidFill>
            <a:srgbClr val="E53935"/>
          </a:solidFill>
          <a:ln w="12700">
            <a:solidFill>
              <a:srgbClr val="FFFFFF"/>
            </a:solidFill>
            <a:prstDash val="solid"/>
          </a:ln>
        </p:spPr>
      </p:sp>
      <p:sp>
        <p:nvSpPr>
          <p:cNvPr id="43" name="Text 35"/>
          <p:cNvSpPr txBox="1"/>
          <p:nvPr/>
        </p:nvSpPr>
        <p:spPr>
          <a:xfrm>
            <a:off x="1621048" y="35290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44" name="Image 6" descr="preencoded.png">    </p:cNvPr>
          <p:cNvPicPr>
            <a:picLocks noChangeAspect="1"/>
          </p:cNvPicPr>
          <p:nvPr/>
        </p:nvPicPr>
        <p:blipFill>
          <a:blip r:embed="rId7"/>
          <a:stretch>
            <a:fillRect/>
          </a:stretch>
        </p:blipFill>
        <p:spPr>
          <a:xfrm>
            <a:off x="1278148" y="3814333"/>
            <a:ext cx="237744" cy="237744"/>
          </a:xfrm>
          <a:prstGeom prst="rect">
            <a:avLst/>
          </a:prstGeom>
        </p:spPr>
      </p:pic>
      <p:sp>
        <p:nvSpPr>
          <p:cNvPr id="45" name="Text 3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46" name="Text 3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Publish release</a:t>
            </a:r>
            <a:endParaRPr lang="en-US" sz="1800" dirty="0"/>
          </a:p>
        </p:txBody>
      </p:sp>
      <p:sp>
        <p:nvSpPr>
          <p:cNvPr id="47" name="Text 3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Publish release. Release v1.0.0 tampil di halaman repository, lengkap dengan catatan dan arsip kode.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31</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Kelompok mengumpulkan:</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Daftar periksa rilis 5 bagian, semua berstatus Ya.</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Kode bersih: tanpa console.log uji dan file latihan.</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Catatan rilis v1.0.0.</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GitHub Release v1.0.0 sudah dipublikasikan.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Daftar rilis terisi lengkap</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Nomor versi ditentukan</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GitHub Release v1.0 dibuat</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Catatan rilis jelas</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Bagian daftar rilis mana yang belum terpenuhi?</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nomor versi penting?</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Menyerahkan pekerjaan dalam keadaan terbaik adalah bagian dari ihsan dan amanah.</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Merawat aplikasi: laporan masalah, cadangan, dan kembali ke versi lama.</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32</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Merawat Aplikasi</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Laporan masalah, cadangan data, dan kembali ke versi lama</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11: Deployment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setelah dirilis tiba-tiba aplikasi rusak, apa yang harus dilakukan?</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32</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Menyediakan saluran laporan masalah dari pengguna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cadangan data dan kode</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Kembali ke versi sebelumnya (rollback) jika rilis bermasalah</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Tiga Pilar Merawat Aplikasi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Laporan Masalah</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Formulir "Laporkan Masalah" yang ditautkan di aplikasi</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Cadangan (Backup)</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Salinan data Sheets dan kode secara berkala</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Kembali (Rollback)</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Pakai lagi versi lama yang benar saat ada masalah besar</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Pengguna lapor "total salah" → tim cek → bug berat → kembali ke v1.0.0 → perbaiki → rilis v1.0.1.</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Formulir Laporan Masalah yang Baik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Apa yang Terjadi?</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Pilihan: tidak bisa simpan, hasil salah, tampilan rusak, lainnya.</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Langkah Sebelumnya</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"Apa yang kamu lakukan sebelum masalah muncul?"</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Perangkat</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HP atau komputer, browser apa.</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Tanpa Data Pribadi</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Tidak meminta nama lengkap, nomor HP, atau kata sandi.</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Menyiapkan Perawatan Aplikasi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Formulir laporan masalah</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Cadangan data dan kode</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Latihan kembali ke versi lama</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Laporan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Laporkan Masalah: Setoran Harian - Google Forms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docs.google.com/forms/...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53536" y="1695965"/>
            <a:ext cx="2011680" cy="201168"/>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Laporkan Masalah: Setoran Harian</a:t>
            </a:r>
            <a:endParaRPr lang="en-US" sz="900" dirty="0"/>
          </a:p>
        </p:txBody>
      </p:sp>
      <p:pic>
        <p:nvPicPr>
          <p:cNvPr id="30" name="Image 6" descr="preencoded.png">    </p:cNvPr>
          <p:cNvPicPr>
            <a:picLocks noChangeAspect="1"/>
          </p:cNvPicPr>
          <p:nvPr/>
        </p:nvPicPr>
        <p:blipFill>
          <a:blip r:embed="rId7"/>
          <a:stretch>
            <a:fillRect/>
          </a:stretch>
        </p:blipFill>
        <p:spPr>
          <a:xfrm>
            <a:off x="4331696" y="1741685"/>
            <a:ext cx="146304" cy="146304"/>
          </a:xfrm>
          <a:prstGeom prst="rect">
            <a:avLst/>
          </a:prstGeom>
        </p:spPr>
      </p:pic>
      <p:sp>
        <p:nvSpPr>
          <p:cNvPr id="31" name="Shape 22"/>
          <p:cNvSpPr/>
          <p:nvPr/>
        </p:nvSpPr>
        <p:spPr>
          <a:xfrm>
            <a:off x="4624304" y="1705109"/>
            <a:ext cx="566928" cy="228600"/>
          </a:xfrm>
          <a:prstGeom prst="roundRect">
            <a:avLst>
              <a:gd name="adj" fmla="val 16000"/>
            </a:avLst>
          </a:prstGeom>
          <a:solidFill>
            <a:srgbClr val="673AB7"/>
          </a:solidFill>
          <a:ln w="12700">
            <a:solidFill>
              <a:srgbClr val="673AB7"/>
            </a:solidFill>
            <a:prstDash val="solid"/>
          </a:ln>
        </p:spPr>
      </p:sp>
      <p:sp>
        <p:nvSpPr>
          <p:cNvPr id="32" name="Text 23"/>
          <p:cNvSpPr txBox="1"/>
          <p:nvPr/>
        </p:nvSpPr>
        <p:spPr>
          <a:xfrm>
            <a:off x="4624304" y="1705109"/>
            <a:ext cx="566928"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Send</a:t>
            </a:r>
            <a:endParaRPr lang="en-US" sz="800" dirty="0"/>
          </a:p>
        </p:txBody>
      </p:sp>
      <p:sp>
        <p:nvSpPr>
          <p:cNvPr id="33" name="Text 24"/>
          <p:cNvSpPr txBox="1"/>
          <p:nvPr/>
        </p:nvSpPr>
        <p:spPr>
          <a:xfrm>
            <a:off x="2148840" y="1970285"/>
            <a:ext cx="685800" cy="182880"/>
          </a:xfrm>
          <a:prstGeom prst="rect">
            <a:avLst/>
          </a:prstGeom>
          <a:noFill/>
          <a:ln/>
        </p:spPr>
        <p:txBody>
          <a:bodyPr wrap="square" lIns="0" tIns="0" rIns="0" bIns="0" rtlCol="0" anchor="ctr"/>
          <a:lstStyle/>
          <a:p>
            <a:pPr algn="ctr" indent="0" marL="0">
              <a:buNone/>
            </a:pPr>
            <a:r>
              <a:rPr lang="en-US" sz="750" b="1" dirty="0">
                <a:solidFill>
                  <a:srgbClr val="673AB7"/>
                </a:solidFill>
                <a:latin typeface="Calibri" pitchFamily="34" charset="0"/>
                <a:ea typeface="Calibri" pitchFamily="34" charset="-122"/>
                <a:cs typeface="Calibri" pitchFamily="34" charset="-120"/>
              </a:rPr>
              <a:t>Questions</a:t>
            </a:r>
            <a:endParaRPr lang="en-US" sz="750" dirty="0"/>
          </a:p>
        </p:txBody>
      </p:sp>
      <p:sp>
        <p:nvSpPr>
          <p:cNvPr id="34" name="Shape 25"/>
          <p:cNvSpPr/>
          <p:nvPr/>
        </p:nvSpPr>
        <p:spPr>
          <a:xfrm>
            <a:off x="2194560" y="2153165"/>
            <a:ext cx="502920" cy="22860"/>
          </a:xfrm>
          <a:prstGeom prst="rect">
            <a:avLst/>
          </a:prstGeom>
          <a:solidFill>
            <a:srgbClr val="673AB7"/>
          </a:solidFill>
          <a:ln w="12700">
            <a:solidFill>
              <a:srgbClr val="673AB7"/>
            </a:solidFill>
            <a:prstDash val="solid"/>
          </a:ln>
        </p:spPr>
      </p:sp>
      <p:sp>
        <p:nvSpPr>
          <p:cNvPr id="35" name="Text 26"/>
          <p:cNvSpPr txBox="1"/>
          <p:nvPr/>
        </p:nvSpPr>
        <p:spPr>
          <a:xfrm>
            <a:off x="278892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Responses</a:t>
            </a:r>
            <a:endParaRPr lang="en-US" sz="750" dirty="0"/>
          </a:p>
        </p:txBody>
      </p:sp>
      <p:sp>
        <p:nvSpPr>
          <p:cNvPr id="36" name="Text 27"/>
          <p:cNvSpPr txBox="1"/>
          <p:nvPr/>
        </p:nvSpPr>
        <p:spPr>
          <a:xfrm>
            <a:off x="3429000" y="1970285"/>
            <a:ext cx="685800" cy="182880"/>
          </a:xfrm>
          <a:prstGeom prst="rect">
            <a:avLst/>
          </a:prstGeom>
          <a:noFill/>
          <a:ln/>
        </p:spPr>
        <p:txBody>
          <a:bodyPr wrap="square" lIns="0" tIns="0" rIns="0" bIns="0" rtlCol="0" anchor="ctr"/>
          <a:lstStyle/>
          <a:p>
            <a:pPr algn="ctr" indent="0" marL="0">
              <a:buNone/>
            </a:pPr>
            <a:r>
              <a:rPr lang="en-US" sz="750" dirty="0">
                <a:solidFill>
                  <a:srgbClr val="555555"/>
                </a:solidFill>
                <a:latin typeface="Calibri" pitchFamily="34" charset="0"/>
                <a:ea typeface="Calibri" pitchFamily="34" charset="-122"/>
                <a:cs typeface="Calibri" pitchFamily="34" charset="-120"/>
              </a:rPr>
              <a:t>Settings</a:t>
            </a:r>
            <a:endParaRPr lang="en-US" sz="750" dirty="0"/>
          </a:p>
        </p:txBody>
      </p:sp>
      <p:sp>
        <p:nvSpPr>
          <p:cNvPr id="37" name="Shape 28"/>
          <p:cNvSpPr/>
          <p:nvPr/>
        </p:nvSpPr>
        <p:spPr>
          <a:xfrm>
            <a:off x="587776" y="2198885"/>
            <a:ext cx="4950927" cy="1796499"/>
          </a:xfrm>
          <a:prstGeom prst="rect">
            <a:avLst/>
          </a:prstGeom>
          <a:solidFill>
            <a:srgbClr val="F0EBF8"/>
          </a:solidFill>
          <a:ln w="12700">
            <a:solidFill>
              <a:srgbClr val="F0EBF8"/>
            </a:solidFill>
            <a:prstDash val="solid"/>
          </a:ln>
        </p:spPr>
      </p:sp>
      <p:sp>
        <p:nvSpPr>
          <p:cNvPr id="38" name="Shape 29"/>
          <p:cNvSpPr/>
          <p:nvPr/>
        </p:nvSpPr>
        <p:spPr>
          <a:xfrm>
            <a:off x="1463040" y="2272037"/>
            <a:ext cx="3200400" cy="548640"/>
          </a:xfrm>
          <a:prstGeom prst="roundRect">
            <a:avLst>
              <a:gd name="adj" fmla="val 8333"/>
            </a:avLst>
          </a:prstGeom>
          <a:solidFill>
            <a:srgbClr val="FFFFFF"/>
          </a:solidFill>
          <a:ln w="12700">
            <a:solidFill>
              <a:srgbClr val="FFFFFF"/>
            </a:solidFill>
            <a:prstDash val="solid"/>
          </a:ln>
        </p:spPr>
      </p:sp>
      <p:sp>
        <p:nvSpPr>
          <p:cNvPr id="39" name="Shape 30"/>
          <p:cNvSpPr/>
          <p:nvPr/>
        </p:nvSpPr>
        <p:spPr>
          <a:xfrm>
            <a:off x="1463040" y="2272037"/>
            <a:ext cx="3200400" cy="45720"/>
          </a:xfrm>
          <a:prstGeom prst="rect">
            <a:avLst/>
          </a:prstGeom>
          <a:solidFill>
            <a:srgbClr val="673AB7"/>
          </a:solidFill>
          <a:ln w="12700">
            <a:solidFill>
              <a:srgbClr val="673AB7"/>
            </a:solidFill>
            <a:prstDash val="solid"/>
          </a:ln>
        </p:spPr>
      </p:sp>
      <p:sp>
        <p:nvSpPr>
          <p:cNvPr id="40" name="Text 31"/>
          <p:cNvSpPr txBox="1"/>
          <p:nvPr/>
        </p:nvSpPr>
        <p:spPr>
          <a:xfrm>
            <a:off x="1572768" y="2345189"/>
            <a:ext cx="3017520" cy="256032"/>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Laporkan Masalah: Setoran Harian</a:t>
            </a:r>
            <a:endParaRPr lang="en-US" sz="1300" dirty="0"/>
          </a:p>
        </p:txBody>
      </p:sp>
      <p:sp>
        <p:nvSpPr>
          <p:cNvPr id="41" name="Text 32"/>
          <p:cNvSpPr txBox="1"/>
          <p:nvPr/>
        </p:nvSpPr>
        <p:spPr>
          <a:xfrm>
            <a:off x="1572768" y="2601221"/>
            <a:ext cx="3017520" cy="182880"/>
          </a:xfrm>
          <a:prstGeom prst="rect">
            <a:avLst/>
          </a:prstGeom>
          <a:noFill/>
          <a:ln/>
        </p:spPr>
        <p:txBody>
          <a:bodyPr wrap="square" lIns="0" tIns="0" rIns="0" bIns="0" rtlCol="0" anchor="t"/>
          <a:lstStyle/>
          <a:p>
            <a:pPr indent="0" marL="0">
              <a:buNone/>
            </a:pPr>
            <a:r>
              <a:rPr lang="en-US" sz="750" dirty="0">
                <a:solidFill>
                  <a:srgbClr val="333333"/>
                </a:solidFill>
                <a:latin typeface="Calibri" pitchFamily="34" charset="0"/>
                <a:ea typeface="Calibri" pitchFamily="34" charset="-122"/>
                <a:cs typeface="Calibri" pitchFamily="34" charset="-120"/>
              </a:rPr>
              <a:t>Bantu kami memperbaiki aplikasi. Tanpa nama dan data pribadi.</a:t>
            </a:r>
            <a:endParaRPr lang="en-US" sz="750" dirty="0"/>
          </a:p>
        </p:txBody>
      </p:sp>
      <p:sp>
        <p:nvSpPr>
          <p:cNvPr id="42" name="Shape 33"/>
          <p:cNvSpPr/>
          <p:nvPr/>
        </p:nvSpPr>
        <p:spPr>
          <a:xfrm>
            <a:off x="1463040" y="2893829"/>
            <a:ext cx="3200400" cy="1234440"/>
          </a:xfrm>
          <a:prstGeom prst="roundRect">
            <a:avLst>
              <a:gd name="adj" fmla="val 3704"/>
            </a:avLst>
          </a:prstGeom>
          <a:solidFill>
            <a:srgbClr val="FFFFFF"/>
          </a:solidFill>
          <a:ln w="12700">
            <a:solidFill>
              <a:srgbClr val="FFFFFF"/>
            </a:solidFill>
            <a:prstDash val="solid"/>
          </a:ln>
        </p:spPr>
      </p:sp>
      <p:sp>
        <p:nvSpPr>
          <p:cNvPr id="43" name="Shape 34"/>
          <p:cNvSpPr/>
          <p:nvPr/>
        </p:nvSpPr>
        <p:spPr>
          <a:xfrm>
            <a:off x="1463040" y="2893829"/>
            <a:ext cx="36576" cy="1234440"/>
          </a:xfrm>
          <a:prstGeom prst="rect">
            <a:avLst/>
          </a:prstGeom>
          <a:solidFill>
            <a:srgbClr val="4285F4"/>
          </a:solidFill>
          <a:ln w="12700">
            <a:solidFill>
              <a:srgbClr val="4285F4"/>
            </a:solidFill>
            <a:prstDash val="solid"/>
          </a:ln>
        </p:spPr>
      </p:sp>
      <p:sp>
        <p:nvSpPr>
          <p:cNvPr id="44" name="Text 35"/>
          <p:cNvSpPr txBox="1"/>
          <p:nvPr/>
        </p:nvSpPr>
        <p:spPr>
          <a:xfrm>
            <a:off x="1572768" y="2966981"/>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Apa yang terjadi? *</a:t>
            </a:r>
            <a:endParaRPr lang="en-US" sz="850" dirty="0"/>
          </a:p>
        </p:txBody>
      </p:sp>
      <p:sp>
        <p:nvSpPr>
          <p:cNvPr id="45" name="Shape 36"/>
          <p:cNvSpPr/>
          <p:nvPr/>
        </p:nvSpPr>
        <p:spPr>
          <a:xfrm>
            <a:off x="3520440" y="2957837"/>
            <a:ext cx="1051560" cy="219456"/>
          </a:xfrm>
          <a:prstGeom prst="roundRect">
            <a:avLst>
              <a:gd name="adj" fmla="val 12500"/>
            </a:avLst>
          </a:prstGeom>
          <a:solidFill>
            <a:srgbClr val="FFFFFF"/>
          </a:solidFill>
          <a:ln w="9525">
            <a:solidFill>
              <a:srgbClr val="CCCCCC"/>
            </a:solidFill>
            <a:prstDash val="solid"/>
          </a:ln>
        </p:spPr>
      </p:sp>
      <p:sp>
        <p:nvSpPr>
          <p:cNvPr id="46" name="Text 37"/>
          <p:cNvSpPr txBox="1"/>
          <p:nvPr/>
        </p:nvSpPr>
        <p:spPr>
          <a:xfrm>
            <a:off x="3566160" y="2957837"/>
            <a:ext cx="1005840" cy="219456"/>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Multiple choice ▾</a:t>
            </a:r>
            <a:endParaRPr lang="en-US" sz="700" dirty="0"/>
          </a:p>
        </p:txBody>
      </p:sp>
      <p:sp>
        <p:nvSpPr>
          <p:cNvPr id="47" name="Shape 38"/>
          <p:cNvSpPr/>
          <p:nvPr/>
        </p:nvSpPr>
        <p:spPr>
          <a:xfrm>
            <a:off x="1591056" y="3268733"/>
            <a:ext cx="91440" cy="91440"/>
          </a:xfrm>
          <a:prstGeom prst="ellipse">
            <a:avLst/>
          </a:prstGeom>
          <a:solidFill>
            <a:srgbClr val="FFFFFF"/>
          </a:solidFill>
          <a:ln w="9525">
            <a:solidFill>
              <a:srgbClr val="888888"/>
            </a:solidFill>
            <a:prstDash val="solid"/>
          </a:ln>
        </p:spPr>
      </p:sp>
      <p:sp>
        <p:nvSpPr>
          <p:cNvPr id="48" name="Text 39"/>
          <p:cNvSpPr txBox="1"/>
          <p:nvPr/>
        </p:nvSpPr>
        <p:spPr>
          <a:xfrm>
            <a:off x="1737360" y="3241301"/>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Tidak bisa simpan</a:t>
            </a:r>
            <a:endParaRPr lang="en-US" sz="750" dirty="0"/>
          </a:p>
        </p:txBody>
      </p:sp>
      <p:sp>
        <p:nvSpPr>
          <p:cNvPr id="49" name="Shape 40"/>
          <p:cNvSpPr/>
          <p:nvPr/>
        </p:nvSpPr>
        <p:spPr>
          <a:xfrm>
            <a:off x="1591056" y="3424181"/>
            <a:ext cx="91440" cy="91440"/>
          </a:xfrm>
          <a:prstGeom prst="ellipse">
            <a:avLst/>
          </a:prstGeom>
          <a:solidFill>
            <a:srgbClr val="FFFFFF"/>
          </a:solidFill>
          <a:ln w="9525">
            <a:solidFill>
              <a:srgbClr val="888888"/>
            </a:solidFill>
            <a:prstDash val="solid"/>
          </a:ln>
        </p:spPr>
      </p:sp>
      <p:sp>
        <p:nvSpPr>
          <p:cNvPr id="50" name="Text 41"/>
          <p:cNvSpPr txBox="1"/>
          <p:nvPr/>
        </p:nvSpPr>
        <p:spPr>
          <a:xfrm>
            <a:off x="1737360" y="3396749"/>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Hasil salah</a:t>
            </a:r>
            <a:endParaRPr lang="en-US" sz="750" dirty="0"/>
          </a:p>
        </p:txBody>
      </p:sp>
      <p:sp>
        <p:nvSpPr>
          <p:cNvPr id="51" name="Shape 42"/>
          <p:cNvSpPr/>
          <p:nvPr/>
        </p:nvSpPr>
        <p:spPr>
          <a:xfrm>
            <a:off x="1591056" y="3579629"/>
            <a:ext cx="91440" cy="91440"/>
          </a:xfrm>
          <a:prstGeom prst="ellipse">
            <a:avLst/>
          </a:prstGeom>
          <a:solidFill>
            <a:srgbClr val="FFFFFF"/>
          </a:solidFill>
          <a:ln w="9525">
            <a:solidFill>
              <a:srgbClr val="888888"/>
            </a:solidFill>
            <a:prstDash val="solid"/>
          </a:ln>
        </p:spPr>
      </p:sp>
      <p:sp>
        <p:nvSpPr>
          <p:cNvPr id="52" name="Text 43"/>
          <p:cNvSpPr txBox="1"/>
          <p:nvPr/>
        </p:nvSpPr>
        <p:spPr>
          <a:xfrm>
            <a:off x="1737360" y="3552197"/>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Tampilan rusak</a:t>
            </a:r>
            <a:endParaRPr lang="en-US" sz="750" dirty="0"/>
          </a:p>
        </p:txBody>
      </p:sp>
      <p:sp>
        <p:nvSpPr>
          <p:cNvPr id="53" name="Shape 44"/>
          <p:cNvSpPr/>
          <p:nvPr/>
        </p:nvSpPr>
        <p:spPr>
          <a:xfrm>
            <a:off x="1591056" y="3735077"/>
            <a:ext cx="91440" cy="91440"/>
          </a:xfrm>
          <a:prstGeom prst="ellipse">
            <a:avLst/>
          </a:prstGeom>
          <a:solidFill>
            <a:srgbClr val="FFFFFF"/>
          </a:solidFill>
          <a:ln w="9525">
            <a:solidFill>
              <a:srgbClr val="888888"/>
            </a:solidFill>
            <a:prstDash val="solid"/>
          </a:ln>
        </p:spPr>
      </p:sp>
      <p:sp>
        <p:nvSpPr>
          <p:cNvPr id="54" name="Text 45"/>
          <p:cNvSpPr txBox="1"/>
          <p:nvPr/>
        </p:nvSpPr>
        <p:spPr>
          <a:xfrm>
            <a:off x="1737360" y="3707645"/>
            <a:ext cx="2743200" cy="14630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Lainnya</a:t>
            </a:r>
            <a:endParaRPr lang="en-US" sz="750" dirty="0"/>
          </a:p>
        </p:txBody>
      </p:sp>
      <p:sp>
        <p:nvSpPr>
          <p:cNvPr id="55" name="Shape 46"/>
          <p:cNvSpPr/>
          <p:nvPr/>
        </p:nvSpPr>
        <p:spPr>
          <a:xfrm>
            <a:off x="1554480" y="3853949"/>
            <a:ext cx="3017520" cy="0"/>
          </a:xfrm>
          <a:prstGeom prst="line">
            <a:avLst/>
          </a:prstGeom>
          <a:noFill/>
          <a:ln w="9525">
            <a:solidFill>
              <a:srgbClr val="E0E0E0"/>
            </a:solidFill>
            <a:prstDash val="solid"/>
          </a:ln>
        </p:spPr>
      </p:sp>
      <p:sp>
        <p:nvSpPr>
          <p:cNvPr id="56" name="Text 47"/>
          <p:cNvSpPr txBox="1"/>
          <p:nvPr/>
        </p:nvSpPr>
        <p:spPr>
          <a:xfrm>
            <a:off x="3840480" y="3890525"/>
            <a:ext cx="4572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Required</a:t>
            </a:r>
            <a:endParaRPr lang="en-US" sz="700" dirty="0"/>
          </a:p>
        </p:txBody>
      </p:sp>
      <p:sp>
        <p:nvSpPr>
          <p:cNvPr id="57" name="Shape 48"/>
          <p:cNvSpPr/>
          <p:nvPr/>
        </p:nvSpPr>
        <p:spPr>
          <a:xfrm>
            <a:off x="4315968" y="3927101"/>
            <a:ext cx="237744" cy="109728"/>
          </a:xfrm>
          <a:prstGeom prst="roundRect">
            <a:avLst>
              <a:gd name="adj" fmla="val 50000"/>
            </a:avLst>
          </a:prstGeom>
          <a:solidFill>
            <a:srgbClr val="B39DDB"/>
          </a:solidFill>
          <a:ln w="12700">
            <a:solidFill>
              <a:srgbClr val="B39DDB"/>
            </a:solidFill>
            <a:prstDash val="solid"/>
          </a:ln>
        </p:spPr>
      </p:sp>
      <p:sp>
        <p:nvSpPr>
          <p:cNvPr id="58" name="Shape 49"/>
          <p:cNvSpPr/>
          <p:nvPr/>
        </p:nvSpPr>
        <p:spPr>
          <a:xfrm>
            <a:off x="4443984" y="3908813"/>
            <a:ext cx="146304" cy="146304"/>
          </a:xfrm>
          <a:prstGeom prst="ellipse">
            <a:avLst/>
          </a:prstGeom>
          <a:solidFill>
            <a:srgbClr val="673AB7"/>
          </a:solidFill>
          <a:ln w="6350">
            <a:solidFill>
              <a:srgbClr val="999999"/>
            </a:solidFill>
            <a:prstDash val="solid"/>
          </a:ln>
        </p:spPr>
      </p:sp>
      <p:sp>
        <p:nvSpPr>
          <p:cNvPr id="59" name="Shape 50"/>
          <p:cNvSpPr/>
          <p:nvPr/>
        </p:nvSpPr>
        <p:spPr>
          <a:xfrm>
            <a:off x="1463040" y="4201421"/>
            <a:ext cx="3200400" cy="585216"/>
          </a:xfrm>
          <a:prstGeom prst="roundRect">
            <a:avLst>
              <a:gd name="adj" fmla="val 7813"/>
            </a:avLst>
          </a:prstGeom>
          <a:solidFill>
            <a:srgbClr val="FFFFFF"/>
          </a:solidFill>
          <a:ln w="12700">
            <a:solidFill>
              <a:srgbClr val="FFFFFF"/>
            </a:solidFill>
            <a:prstDash val="solid"/>
          </a:ln>
        </p:spPr>
      </p:sp>
      <p:sp>
        <p:nvSpPr>
          <p:cNvPr id="60" name="Text 51"/>
          <p:cNvSpPr txBox="1"/>
          <p:nvPr/>
        </p:nvSpPr>
        <p:spPr>
          <a:xfrm>
            <a:off x="1572768" y="4274573"/>
            <a:ext cx="1920240" cy="21945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Apa yang kamu lakukan sebelumnya?</a:t>
            </a:r>
            <a:endParaRPr lang="en-US" sz="850" dirty="0"/>
          </a:p>
        </p:txBody>
      </p:sp>
      <p:sp>
        <p:nvSpPr>
          <p:cNvPr id="61" name="Shape 52"/>
          <p:cNvSpPr/>
          <p:nvPr/>
        </p:nvSpPr>
        <p:spPr>
          <a:xfrm>
            <a:off x="1591056" y="4658621"/>
            <a:ext cx="1760220" cy="0"/>
          </a:xfrm>
          <a:prstGeom prst="line">
            <a:avLst/>
          </a:prstGeom>
          <a:noFill/>
          <a:ln w="9525">
            <a:solidFill>
              <a:srgbClr val="BBBBBB"/>
            </a:solidFill>
            <a:prstDash val="dash"/>
          </a:ln>
        </p:spPr>
      </p:sp>
      <p:sp>
        <p:nvSpPr>
          <p:cNvPr id="62" name="Text 53"/>
          <p:cNvSpPr txBox="1"/>
          <p:nvPr/>
        </p:nvSpPr>
        <p:spPr>
          <a:xfrm>
            <a:off x="1591056" y="4530605"/>
            <a:ext cx="1828800" cy="128016"/>
          </a:xfrm>
          <a:prstGeom prst="rect">
            <a:avLst/>
          </a:prstGeom>
          <a:noFill/>
          <a:ln/>
        </p:spPr>
        <p:txBody>
          <a:bodyPr wrap="square" lIns="0" tIns="0" rIns="0" bIns="0" rtlCol="0" anchor="t"/>
          <a:lstStyle/>
          <a:p>
            <a:pPr indent="0" marL="0">
              <a:buNone/>
            </a:pPr>
            <a:r>
              <a:rPr lang="en-US" sz="650" dirty="0">
                <a:solidFill>
                  <a:srgbClr val="888888"/>
                </a:solidFill>
                <a:latin typeface="Calibri" pitchFamily="34" charset="0"/>
                <a:ea typeface="Calibri" pitchFamily="34" charset="-122"/>
                <a:cs typeface="Calibri" pitchFamily="34" charset="-120"/>
              </a:rPr>
              <a:t>Paragraph</a:t>
            </a:r>
            <a:endParaRPr lang="en-US" sz="650" dirty="0"/>
          </a:p>
        </p:txBody>
      </p:sp>
      <p:sp>
        <p:nvSpPr>
          <p:cNvPr id="63" name="Shape 54"/>
          <p:cNvSpPr/>
          <p:nvPr/>
        </p:nvSpPr>
        <p:spPr>
          <a:xfrm>
            <a:off x="4736592" y="2884685"/>
            <a:ext cx="274320" cy="1005840"/>
          </a:xfrm>
          <a:prstGeom prst="roundRect">
            <a:avLst>
              <a:gd name="adj" fmla="val 16667"/>
            </a:avLst>
          </a:prstGeom>
          <a:solidFill>
            <a:srgbClr val="FFFFFF"/>
          </a:solidFill>
          <a:ln w="12700">
            <a:solidFill>
              <a:srgbClr val="FFFFFF"/>
            </a:solidFill>
            <a:prstDash val="solid"/>
          </a:ln>
        </p:spPr>
      </p:sp>
      <p:sp>
        <p:nvSpPr>
          <p:cNvPr id="64" name="Text 55"/>
          <p:cNvSpPr txBox="1"/>
          <p:nvPr/>
        </p:nvSpPr>
        <p:spPr>
          <a:xfrm>
            <a:off x="4736592" y="2902973"/>
            <a:ext cx="274320" cy="237744"/>
          </a:xfrm>
          <a:prstGeom prst="rect">
            <a:avLst/>
          </a:prstGeom>
          <a:noFill/>
          <a:ln/>
        </p:spPr>
        <p:txBody>
          <a:bodyPr wrap="square" lIns="0" tIns="0" rIns="0" bIns="0" rtlCol="0" anchor="ctr"/>
          <a:lstStyle/>
          <a:p>
            <a:pPr algn="ct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65" name="Text 56"/>
          <p:cNvSpPr txBox="1"/>
          <p:nvPr/>
        </p:nvSpPr>
        <p:spPr>
          <a:xfrm>
            <a:off x="4736592" y="3159005"/>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T</a:t>
            </a:r>
            <a:endParaRPr lang="en-US" sz="800" dirty="0"/>
          </a:p>
        </p:txBody>
      </p:sp>
      <p:sp>
        <p:nvSpPr>
          <p:cNvPr id="66" name="Text 57"/>
          <p:cNvSpPr txBox="1"/>
          <p:nvPr/>
        </p:nvSpPr>
        <p:spPr>
          <a:xfrm>
            <a:off x="4736592" y="3332741"/>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7" name="Text 58"/>
          <p:cNvSpPr txBox="1"/>
          <p:nvPr/>
        </p:nvSpPr>
        <p:spPr>
          <a:xfrm>
            <a:off x="4736592" y="3506477"/>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8" name="Text 59"/>
          <p:cNvSpPr txBox="1"/>
          <p:nvPr/>
        </p:nvSpPr>
        <p:spPr>
          <a:xfrm>
            <a:off x="4736592" y="3680213"/>
            <a:ext cx="274320" cy="164592"/>
          </a:xfrm>
          <a:prstGeom prst="rect">
            <a:avLst/>
          </a:prstGeom>
          <a:noFill/>
          <a:ln/>
        </p:spPr>
        <p:txBody>
          <a:bodyPr wrap="square" lIns="0" tIns="0" rIns="0" bIns="0" rtlCol="0" anchor="ctr"/>
          <a:lstStyle/>
          <a:p>
            <a:pPr algn="ctr" indent="0" marL="0">
              <a:buNone/>
            </a:pPr>
            <a:r>
              <a:rPr lang="en-US" sz="800" dirty="0">
                <a:solidFill>
                  <a:srgbClr val="5F6F68"/>
                </a:solidFill>
                <a:latin typeface="Calibri" pitchFamily="34" charset="0"/>
                <a:ea typeface="Calibri" pitchFamily="34" charset="-122"/>
                <a:cs typeface="Calibri" pitchFamily="34" charset="-120"/>
              </a:rPr>
              <a:t>☰</a:t>
            </a:r>
            <a:endParaRPr lang="en-US" sz="800" dirty="0"/>
          </a:p>
        </p:txBody>
      </p:sp>
      <p:sp>
        <p:nvSpPr>
          <p:cNvPr id="69" name="Shape 60"/>
          <p:cNvSpPr/>
          <p:nvPr/>
        </p:nvSpPr>
        <p:spPr>
          <a:xfrm>
            <a:off x="1435608" y="2866397"/>
            <a:ext cx="3255264" cy="1289304"/>
          </a:xfrm>
          <a:prstGeom prst="roundRect">
            <a:avLst>
              <a:gd name="adj" fmla="val 3546"/>
            </a:avLst>
          </a:prstGeom>
          <a:solidFill>
            <a:srgbClr val="FFFFFF">
              <a:alpha val="0"/>
            </a:srgbClr>
          </a:solidFill>
          <a:ln w="31750">
            <a:solidFill>
              <a:srgbClr val="E53935"/>
            </a:solidFill>
            <a:prstDash val="solid"/>
          </a:ln>
        </p:spPr>
      </p:sp>
      <p:sp>
        <p:nvSpPr>
          <p:cNvPr id="70" name="Shape 61"/>
          <p:cNvSpPr/>
          <p:nvPr/>
        </p:nvSpPr>
        <p:spPr>
          <a:xfrm>
            <a:off x="4553712" y="2729237"/>
            <a:ext cx="274320" cy="274320"/>
          </a:xfrm>
          <a:prstGeom prst="ellipse">
            <a:avLst/>
          </a:prstGeom>
          <a:solidFill>
            <a:srgbClr val="E53935"/>
          </a:solidFill>
          <a:ln w="12700">
            <a:solidFill>
              <a:srgbClr val="FFFFFF"/>
            </a:solidFill>
            <a:prstDash val="solid"/>
          </a:ln>
        </p:spPr>
      </p:sp>
      <p:sp>
        <p:nvSpPr>
          <p:cNvPr id="71" name="Text 62"/>
          <p:cNvSpPr txBox="1"/>
          <p:nvPr/>
        </p:nvSpPr>
        <p:spPr>
          <a:xfrm>
            <a:off x="4553712" y="27292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72" name="Image 7" descr="preencoded.png">    </p:cNvPr>
          <p:cNvPicPr>
            <a:picLocks noChangeAspect="1"/>
          </p:cNvPicPr>
          <p:nvPr/>
        </p:nvPicPr>
        <p:blipFill>
          <a:blip r:embed="rId8"/>
          <a:stretch>
            <a:fillRect/>
          </a:stretch>
        </p:blipFill>
        <p:spPr>
          <a:xfrm>
            <a:off x="3223260" y="3572771"/>
            <a:ext cx="237744" cy="237744"/>
          </a:xfrm>
          <a:prstGeom prst="rect">
            <a:avLst/>
          </a:prstGeom>
        </p:spPr>
      </p:pic>
      <p:sp>
        <p:nvSpPr>
          <p:cNvPr id="73" name="Text 6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74" name="Text 6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Google Form "Laporkan Masalah"</a:t>
            </a:r>
            <a:endParaRPr lang="en-US" sz="1800" dirty="0"/>
          </a:p>
        </p:txBody>
      </p:sp>
      <p:sp>
        <p:nvSpPr>
          <p:cNvPr id="75" name="Text 6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Pertanyaan: jenis masalah (pilihan), langkah sebelumnya (paragraf), perangkat (pilihan). Tanpa data pribadi.</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Laporan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Setoran Harian</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https://santri-wu-kel3.github.io/setoran-harian/</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411480"/>
          </a:xfrm>
          <a:prstGeom prst="rect">
            <a:avLst/>
          </a:prstGeom>
          <a:solidFill>
            <a:srgbClr val="0F4C3A"/>
          </a:solidFill>
          <a:ln w="12700">
            <a:solidFill>
              <a:srgbClr val="0F4C3A"/>
            </a:solidFill>
            <a:prstDash val="solid"/>
          </a:ln>
        </p:spPr>
      </p:sp>
      <p:sp>
        <p:nvSpPr>
          <p:cNvPr id="31" name="Text 24"/>
          <p:cNvSpPr txBox="1"/>
          <p:nvPr/>
        </p:nvSpPr>
        <p:spPr>
          <a:xfrm>
            <a:off x="606064" y="1695965"/>
            <a:ext cx="4914351"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Setoran Harian v1.0</a:t>
            </a:r>
            <a:endParaRPr lang="en-US" sz="1100" dirty="0"/>
          </a:p>
        </p:txBody>
      </p:sp>
      <p:sp>
        <p:nvSpPr>
          <p:cNvPr id="32" name="Shape 25"/>
          <p:cNvSpPr/>
          <p:nvPr/>
        </p:nvSpPr>
        <p:spPr>
          <a:xfrm>
            <a:off x="1874520" y="2198885"/>
            <a:ext cx="2377440" cy="1143000"/>
          </a:xfrm>
          <a:prstGeom prst="roundRect">
            <a:avLst>
              <a:gd name="adj" fmla="val 6400"/>
            </a:avLst>
          </a:prstGeom>
          <a:solidFill>
            <a:srgbClr val="FFFFFF"/>
          </a:solidFill>
          <a:ln w="9525">
            <a:solidFill>
              <a:srgbClr val="DDDDDD"/>
            </a:solidFill>
            <a:prstDash val="solid"/>
          </a:ln>
        </p:spPr>
      </p:sp>
      <p:sp>
        <p:nvSpPr>
          <p:cNvPr id="33" name="Text 26"/>
          <p:cNvSpPr txBox="1"/>
          <p:nvPr/>
        </p:nvSpPr>
        <p:spPr>
          <a:xfrm>
            <a:off x="1965960" y="2244605"/>
            <a:ext cx="2194560" cy="228600"/>
          </a:xfrm>
          <a:prstGeom prst="rect">
            <a:avLst/>
          </a:prstGeom>
          <a:noFill/>
          <a:ln/>
        </p:spPr>
        <p:txBody>
          <a:bodyPr wrap="square" lIns="0" tIns="0" rIns="0" bIns="0" rtlCol="0" anchor="t"/>
          <a:lstStyle/>
          <a:p>
            <a:pPr indent="0" marL="0">
              <a:buNone/>
            </a:pPr>
            <a:r>
              <a:rPr lang="en-US" sz="750" b="1" dirty="0">
                <a:solidFill>
                  <a:srgbClr val="1E2A26"/>
                </a:solidFill>
                <a:latin typeface="Arial" pitchFamily="34" charset="0"/>
                <a:ea typeface="Arial" pitchFamily="34" charset="-122"/>
                <a:cs typeface="Arial" pitchFamily="34" charset="-120"/>
              </a:rPr>
              <a:t>Simpan Setoran · Cek Total · Riwayat</a:t>
            </a:r>
            <a:endParaRPr lang="en-US" sz="750" dirty="0"/>
          </a:p>
        </p:txBody>
      </p:sp>
      <p:sp>
        <p:nvSpPr>
          <p:cNvPr id="34" name="Shape 27"/>
          <p:cNvSpPr/>
          <p:nvPr/>
        </p:nvSpPr>
        <p:spPr>
          <a:xfrm>
            <a:off x="1965960" y="2518925"/>
            <a:ext cx="2194560" cy="201168"/>
          </a:xfrm>
          <a:prstGeom prst="rect">
            <a:avLst/>
          </a:prstGeom>
          <a:solidFill>
            <a:srgbClr val="FFFFFF"/>
          </a:solidFill>
          <a:ln w="6350">
            <a:solidFill>
              <a:srgbClr val="999999"/>
            </a:solidFill>
            <a:prstDash val="solid"/>
          </a:ln>
        </p:spPr>
      </p:sp>
      <p:sp>
        <p:nvSpPr>
          <p:cNvPr id="35" name="Shape 28"/>
          <p:cNvSpPr/>
          <p:nvPr/>
        </p:nvSpPr>
        <p:spPr>
          <a:xfrm>
            <a:off x="1965960" y="2793245"/>
            <a:ext cx="2194560" cy="256032"/>
          </a:xfrm>
          <a:prstGeom prst="roundRect">
            <a:avLst>
              <a:gd name="adj" fmla="val 50000"/>
            </a:avLst>
          </a:prstGeom>
          <a:solidFill>
            <a:srgbClr val="D4A017"/>
          </a:solidFill>
          <a:ln w="12700">
            <a:solidFill>
              <a:srgbClr val="D4A017"/>
            </a:solidFill>
            <a:prstDash val="solid"/>
          </a:ln>
        </p:spPr>
      </p:sp>
      <p:sp>
        <p:nvSpPr>
          <p:cNvPr id="36" name="Text 29"/>
          <p:cNvSpPr txBox="1"/>
          <p:nvPr/>
        </p:nvSpPr>
        <p:spPr>
          <a:xfrm>
            <a:off x="1965960" y="2793245"/>
            <a:ext cx="2194560"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Simpan</a:t>
            </a:r>
            <a:endParaRPr lang="en-US" sz="750" dirty="0"/>
          </a:p>
        </p:txBody>
      </p:sp>
      <p:sp>
        <p:nvSpPr>
          <p:cNvPr id="37" name="Text 30"/>
          <p:cNvSpPr txBox="1"/>
          <p:nvPr/>
        </p:nvSpPr>
        <p:spPr>
          <a:xfrm>
            <a:off x="697504" y="3684488"/>
            <a:ext cx="4731471" cy="228600"/>
          </a:xfrm>
          <a:prstGeom prst="rect">
            <a:avLst/>
          </a:prstGeom>
          <a:noFill/>
          <a:ln/>
        </p:spPr>
        <p:txBody>
          <a:bodyPr wrap="square" lIns="0" tIns="0" rIns="0" bIns="0" rtlCol="0" anchor="ctr"/>
          <a:lstStyle/>
          <a:p>
            <a:pPr algn="ctr" indent="0" marL="0">
              <a:buNone/>
            </a:pPr>
            <a:r>
              <a:rPr lang="en-US" sz="650" u="sng" dirty="0">
                <a:solidFill>
                  <a:srgbClr val="0969DA"/>
                </a:solidFill>
                <a:latin typeface="Arial" pitchFamily="34" charset="0"/>
                <a:ea typeface="Arial" pitchFamily="34" charset="-122"/>
                <a:cs typeface="Arial" pitchFamily="34" charset="-120"/>
              </a:rPr>
              <a:t>Cara Pakai  ·  Laporkan Masalah  ·  v1.0 (Maret 2027)</a:t>
            </a:r>
            <a:endParaRPr lang="en-US" sz="650" dirty="0"/>
          </a:p>
        </p:txBody>
      </p:sp>
      <p:sp>
        <p:nvSpPr>
          <p:cNvPr id="38" name="Shape 31"/>
          <p:cNvSpPr/>
          <p:nvPr/>
        </p:nvSpPr>
        <p:spPr>
          <a:xfrm>
            <a:off x="679216" y="3666200"/>
            <a:ext cx="4768047" cy="265176"/>
          </a:xfrm>
          <a:prstGeom prst="roundRect">
            <a:avLst>
              <a:gd name="adj" fmla="val 17241"/>
            </a:avLst>
          </a:prstGeom>
          <a:solidFill>
            <a:srgbClr val="FFFFFF">
              <a:alpha val="0"/>
            </a:srgbClr>
          </a:solidFill>
          <a:ln w="31750">
            <a:solidFill>
              <a:srgbClr val="E53935"/>
            </a:solidFill>
            <a:prstDash val="solid"/>
          </a:ln>
        </p:spPr>
      </p:sp>
      <p:sp>
        <p:nvSpPr>
          <p:cNvPr id="39" name="Shape 32"/>
          <p:cNvSpPr/>
          <p:nvPr/>
        </p:nvSpPr>
        <p:spPr>
          <a:xfrm>
            <a:off x="5310104" y="3529040"/>
            <a:ext cx="274320" cy="274320"/>
          </a:xfrm>
          <a:prstGeom prst="ellipse">
            <a:avLst/>
          </a:prstGeom>
          <a:solidFill>
            <a:srgbClr val="E53935"/>
          </a:solidFill>
          <a:ln w="12700">
            <a:solidFill>
              <a:srgbClr val="FFFFFF"/>
            </a:solidFill>
            <a:prstDash val="solid"/>
          </a:ln>
        </p:spPr>
      </p:sp>
      <p:sp>
        <p:nvSpPr>
          <p:cNvPr id="40" name="Text 33"/>
          <p:cNvSpPr txBox="1"/>
          <p:nvPr/>
        </p:nvSpPr>
        <p:spPr>
          <a:xfrm>
            <a:off x="5310104" y="35290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41" name="Image 5" descr="preencoded.png">    </p:cNvPr>
          <p:cNvPicPr>
            <a:picLocks noChangeAspect="1"/>
          </p:cNvPicPr>
          <p:nvPr/>
        </p:nvPicPr>
        <p:blipFill>
          <a:blip r:embed="rId6"/>
          <a:stretch>
            <a:fillRect/>
          </a:stretch>
        </p:blipFill>
        <p:spPr>
          <a:xfrm>
            <a:off x="3299814" y="3810218"/>
            <a:ext cx="237744" cy="237744"/>
          </a:xfrm>
          <a:prstGeom prst="rect">
            <a:avLst/>
          </a:prstGeom>
        </p:spPr>
      </p:pic>
      <p:sp>
        <p:nvSpPr>
          <p:cNvPr id="42"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3"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Tautkan formulir di bagian bawah aplikasi</a:t>
            </a:r>
            <a:endParaRPr lang="en-US" sz="1800" dirty="0"/>
          </a:p>
        </p:txBody>
      </p:sp>
      <p:sp>
        <p:nvSpPr>
          <p:cNvPr id="44"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Send › link › Copy (Shorten URL). Di index.html, tambah &lt;footer&gt; berisi tautan Laporkan Masalah dan versi aplikasi.</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Cadangan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Backend_Setoran_Kel3 -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Backend_Setoran_Kel3</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7772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621048" y="2573789"/>
            <a:ext cx="502920" cy="119299"/>
          </a:xfrm>
          <a:prstGeom prst="rect">
            <a:avLst/>
          </a:prstGeom>
          <a:solidFill>
            <a:srgbClr val="F8F9FA"/>
          </a:solidFill>
          <a:ln w="6350">
            <a:solidFill>
              <a:srgbClr val="DDDDDD"/>
            </a:solidFill>
            <a:prstDash val="solid"/>
          </a:ln>
        </p:spPr>
      </p:sp>
      <p:sp>
        <p:nvSpPr>
          <p:cNvPr id="64" name="Text 56"/>
          <p:cNvSpPr txBox="1"/>
          <p:nvPr/>
        </p:nvSpPr>
        <p:spPr>
          <a:xfrm>
            <a:off x="1621048" y="2573789"/>
            <a:ext cx="5029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123968" y="2573789"/>
            <a:ext cx="777240" cy="119299"/>
          </a:xfrm>
          <a:prstGeom prst="rect">
            <a:avLst/>
          </a:prstGeom>
          <a:solidFill>
            <a:srgbClr val="F8F9FA"/>
          </a:solidFill>
          <a:ln w="6350">
            <a:solidFill>
              <a:srgbClr val="DDDDDD"/>
            </a:solidFill>
            <a:prstDash val="solid"/>
          </a:ln>
        </p:spPr>
      </p:sp>
      <p:sp>
        <p:nvSpPr>
          <p:cNvPr id="66" name="Text 58"/>
          <p:cNvSpPr txBox="1"/>
          <p:nvPr/>
        </p:nvSpPr>
        <p:spPr>
          <a:xfrm>
            <a:off x="212396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901208" y="2573789"/>
            <a:ext cx="457200" cy="119299"/>
          </a:xfrm>
          <a:prstGeom prst="rect">
            <a:avLst/>
          </a:prstGeom>
          <a:solidFill>
            <a:srgbClr val="F8F9FA"/>
          </a:solidFill>
          <a:ln w="6350">
            <a:solidFill>
              <a:srgbClr val="DDDDDD"/>
            </a:solidFill>
            <a:prstDash val="solid"/>
          </a:ln>
        </p:spPr>
      </p:sp>
      <p:sp>
        <p:nvSpPr>
          <p:cNvPr id="68" name="Text 60"/>
          <p:cNvSpPr txBox="1"/>
          <p:nvPr/>
        </p:nvSpPr>
        <p:spPr>
          <a:xfrm>
            <a:off x="2901208" y="2573789"/>
            <a:ext cx="4572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587776" y="2693089"/>
            <a:ext cx="256032" cy="119299"/>
          </a:xfrm>
          <a:prstGeom prst="rect">
            <a:avLst/>
          </a:prstGeom>
          <a:solidFill>
            <a:srgbClr val="F8F9FA"/>
          </a:solidFill>
          <a:ln w="6350">
            <a:solidFill>
              <a:srgbClr val="DDDDDD"/>
            </a:solidFill>
            <a:prstDash val="solid"/>
          </a:ln>
        </p:spPr>
      </p:sp>
      <p:sp>
        <p:nvSpPr>
          <p:cNvPr id="70" name="Text 62"/>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1" name="Shape 63"/>
          <p:cNvSpPr/>
          <p:nvPr/>
        </p:nvSpPr>
        <p:spPr>
          <a:xfrm>
            <a:off x="843808" y="2693089"/>
            <a:ext cx="777240" cy="119299"/>
          </a:xfrm>
          <a:prstGeom prst="rect">
            <a:avLst/>
          </a:prstGeom>
          <a:solidFill>
            <a:srgbClr val="0F4C3A"/>
          </a:solidFill>
          <a:ln w="6350">
            <a:solidFill>
              <a:srgbClr val="E2E2E2"/>
            </a:solidFill>
            <a:prstDash val="solid"/>
          </a:ln>
        </p:spPr>
      </p:sp>
      <p:sp>
        <p:nvSpPr>
          <p:cNvPr id="72" name="Text 64"/>
          <p:cNvSpPr txBox="1"/>
          <p:nvPr/>
        </p:nvSpPr>
        <p:spPr>
          <a:xfrm>
            <a:off x="87124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Waktu</a:t>
            </a:r>
            <a:endParaRPr lang="en-US" sz="600" dirty="0"/>
          </a:p>
        </p:txBody>
      </p:sp>
      <p:sp>
        <p:nvSpPr>
          <p:cNvPr id="73" name="Shape 65"/>
          <p:cNvSpPr/>
          <p:nvPr/>
        </p:nvSpPr>
        <p:spPr>
          <a:xfrm>
            <a:off x="1621048" y="2693089"/>
            <a:ext cx="502920" cy="119299"/>
          </a:xfrm>
          <a:prstGeom prst="rect">
            <a:avLst/>
          </a:prstGeom>
          <a:solidFill>
            <a:srgbClr val="0F4C3A"/>
          </a:solidFill>
          <a:ln w="6350">
            <a:solidFill>
              <a:srgbClr val="E2E2E2"/>
            </a:solidFill>
            <a:prstDash val="solid"/>
          </a:ln>
        </p:spPr>
      </p:sp>
      <p:sp>
        <p:nvSpPr>
          <p:cNvPr id="74" name="Text 66"/>
          <p:cNvSpPr txBox="1"/>
          <p:nvPr/>
        </p:nvSpPr>
        <p:spPr>
          <a:xfrm>
            <a:off x="1648480" y="2693089"/>
            <a:ext cx="4480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Kode</a:t>
            </a:r>
            <a:endParaRPr lang="en-US" sz="600" dirty="0"/>
          </a:p>
        </p:txBody>
      </p:sp>
      <p:sp>
        <p:nvSpPr>
          <p:cNvPr id="75" name="Shape 67"/>
          <p:cNvSpPr/>
          <p:nvPr/>
        </p:nvSpPr>
        <p:spPr>
          <a:xfrm>
            <a:off x="2123968" y="2693089"/>
            <a:ext cx="777240" cy="119299"/>
          </a:xfrm>
          <a:prstGeom prst="rect">
            <a:avLst/>
          </a:prstGeom>
          <a:solidFill>
            <a:srgbClr val="0F4C3A"/>
          </a:solidFill>
          <a:ln w="6350">
            <a:solidFill>
              <a:srgbClr val="E2E2E2"/>
            </a:solidFill>
            <a:prstDash val="solid"/>
          </a:ln>
        </p:spPr>
      </p:sp>
      <p:sp>
        <p:nvSpPr>
          <p:cNvPr id="76" name="Text 68"/>
          <p:cNvSpPr txBox="1"/>
          <p:nvPr/>
        </p:nvSpPr>
        <p:spPr>
          <a:xfrm>
            <a:off x="215140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Surat</a:t>
            </a:r>
            <a:endParaRPr lang="en-US" sz="600" dirty="0"/>
          </a:p>
        </p:txBody>
      </p:sp>
      <p:sp>
        <p:nvSpPr>
          <p:cNvPr id="77" name="Shape 69"/>
          <p:cNvSpPr/>
          <p:nvPr/>
        </p:nvSpPr>
        <p:spPr>
          <a:xfrm>
            <a:off x="2901208" y="2693089"/>
            <a:ext cx="457200" cy="119299"/>
          </a:xfrm>
          <a:prstGeom prst="rect">
            <a:avLst/>
          </a:prstGeom>
          <a:solidFill>
            <a:srgbClr val="0F4C3A"/>
          </a:solidFill>
          <a:ln w="6350">
            <a:solidFill>
              <a:srgbClr val="E2E2E2"/>
            </a:solidFill>
            <a:prstDash val="solid"/>
          </a:ln>
        </p:spPr>
      </p:sp>
      <p:sp>
        <p:nvSpPr>
          <p:cNvPr id="78" name="Text 70"/>
          <p:cNvSpPr txBox="1"/>
          <p:nvPr/>
        </p:nvSpPr>
        <p:spPr>
          <a:xfrm>
            <a:off x="2928640" y="2693089"/>
            <a:ext cx="4023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Ayat</a:t>
            </a:r>
            <a:endParaRPr lang="en-US" sz="600" dirty="0"/>
          </a:p>
        </p:txBody>
      </p:sp>
      <p:sp>
        <p:nvSpPr>
          <p:cNvPr id="79" name="Shape 71"/>
          <p:cNvSpPr/>
          <p:nvPr/>
        </p:nvSpPr>
        <p:spPr>
          <a:xfrm>
            <a:off x="587776" y="2812388"/>
            <a:ext cx="256032" cy="119299"/>
          </a:xfrm>
          <a:prstGeom prst="rect">
            <a:avLst/>
          </a:prstGeom>
          <a:solidFill>
            <a:srgbClr val="F8F9FA"/>
          </a:solidFill>
          <a:ln w="6350">
            <a:solidFill>
              <a:srgbClr val="DDDDDD"/>
            </a:solidFill>
            <a:prstDash val="solid"/>
          </a:ln>
        </p:spPr>
      </p:sp>
      <p:sp>
        <p:nvSpPr>
          <p:cNvPr id="80" name="Text 72"/>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1" name="Shape 73"/>
          <p:cNvSpPr/>
          <p:nvPr/>
        </p:nvSpPr>
        <p:spPr>
          <a:xfrm>
            <a:off x="843808" y="2812388"/>
            <a:ext cx="777240" cy="119299"/>
          </a:xfrm>
          <a:prstGeom prst="rect">
            <a:avLst/>
          </a:prstGeom>
          <a:solidFill>
            <a:srgbClr val="FFFFFF"/>
          </a:solidFill>
          <a:ln w="6350">
            <a:solidFill>
              <a:srgbClr val="E2E2E2"/>
            </a:solidFill>
            <a:prstDash val="solid"/>
          </a:ln>
        </p:spPr>
      </p:sp>
      <p:sp>
        <p:nvSpPr>
          <p:cNvPr id="82" name="Text 74"/>
          <p:cNvSpPr txBox="1"/>
          <p:nvPr/>
        </p:nvSpPr>
        <p:spPr>
          <a:xfrm>
            <a:off x="871240" y="28123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03/02</a:t>
            </a:r>
            <a:endParaRPr lang="en-US" sz="600" dirty="0"/>
          </a:p>
        </p:txBody>
      </p:sp>
      <p:sp>
        <p:nvSpPr>
          <p:cNvPr id="83" name="Shape 75"/>
          <p:cNvSpPr/>
          <p:nvPr/>
        </p:nvSpPr>
        <p:spPr>
          <a:xfrm>
            <a:off x="1621048" y="2812388"/>
            <a:ext cx="502920" cy="119299"/>
          </a:xfrm>
          <a:prstGeom prst="rect">
            <a:avLst/>
          </a:prstGeom>
          <a:solidFill>
            <a:srgbClr val="FFFFFF"/>
          </a:solidFill>
          <a:ln w="6350">
            <a:solidFill>
              <a:srgbClr val="E2E2E2"/>
            </a:solidFill>
            <a:prstDash val="solid"/>
          </a:ln>
        </p:spPr>
      </p:sp>
      <p:sp>
        <p:nvSpPr>
          <p:cNvPr id="84" name="Text 76"/>
          <p:cNvSpPr txBox="1"/>
          <p:nvPr/>
        </p:nvSpPr>
        <p:spPr>
          <a:xfrm>
            <a:off x="1648480" y="2812388"/>
            <a:ext cx="4480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85" name="Shape 77"/>
          <p:cNvSpPr/>
          <p:nvPr/>
        </p:nvSpPr>
        <p:spPr>
          <a:xfrm>
            <a:off x="2123968" y="2812388"/>
            <a:ext cx="777240" cy="119299"/>
          </a:xfrm>
          <a:prstGeom prst="rect">
            <a:avLst/>
          </a:prstGeom>
          <a:solidFill>
            <a:srgbClr val="FFFFFF"/>
          </a:solidFill>
          <a:ln w="6350">
            <a:solidFill>
              <a:srgbClr val="E2E2E2"/>
            </a:solidFill>
            <a:prstDash val="solid"/>
          </a:ln>
        </p:spPr>
      </p:sp>
      <p:sp>
        <p:nvSpPr>
          <p:cNvPr id="86" name="Text 78"/>
          <p:cNvSpPr txBox="1"/>
          <p:nvPr/>
        </p:nvSpPr>
        <p:spPr>
          <a:xfrm>
            <a:off x="2151400" y="28123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An-Naba</a:t>
            </a:r>
            <a:endParaRPr lang="en-US" sz="600" dirty="0"/>
          </a:p>
        </p:txBody>
      </p:sp>
      <p:sp>
        <p:nvSpPr>
          <p:cNvPr id="87" name="Shape 79"/>
          <p:cNvSpPr/>
          <p:nvPr/>
        </p:nvSpPr>
        <p:spPr>
          <a:xfrm>
            <a:off x="2901208" y="2812388"/>
            <a:ext cx="457200" cy="119299"/>
          </a:xfrm>
          <a:prstGeom prst="rect">
            <a:avLst/>
          </a:prstGeom>
          <a:solidFill>
            <a:srgbClr val="FFFFFF"/>
          </a:solidFill>
          <a:ln w="6350">
            <a:solidFill>
              <a:srgbClr val="E2E2E2"/>
            </a:solidFill>
            <a:prstDash val="solid"/>
          </a:ln>
        </p:spPr>
      </p:sp>
      <p:sp>
        <p:nvSpPr>
          <p:cNvPr id="88" name="Text 80"/>
          <p:cNvSpPr txBox="1"/>
          <p:nvPr/>
        </p:nvSpPr>
        <p:spPr>
          <a:xfrm>
            <a:off x="2928640" y="2812388"/>
            <a:ext cx="4023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20</a:t>
            </a:r>
            <a:endParaRPr lang="en-US" sz="600" dirty="0"/>
          </a:p>
        </p:txBody>
      </p:sp>
      <p:sp>
        <p:nvSpPr>
          <p:cNvPr id="89" name="Shape 81"/>
          <p:cNvSpPr/>
          <p:nvPr/>
        </p:nvSpPr>
        <p:spPr>
          <a:xfrm>
            <a:off x="587776" y="2931688"/>
            <a:ext cx="256032" cy="119299"/>
          </a:xfrm>
          <a:prstGeom prst="rect">
            <a:avLst/>
          </a:prstGeom>
          <a:solidFill>
            <a:srgbClr val="F8F9FA"/>
          </a:solidFill>
          <a:ln w="6350">
            <a:solidFill>
              <a:srgbClr val="DDDDDD"/>
            </a:solidFill>
            <a:prstDash val="solid"/>
          </a:ln>
        </p:spPr>
      </p:sp>
      <p:sp>
        <p:nvSpPr>
          <p:cNvPr id="90" name="Text 8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2931688"/>
            <a:ext cx="777240" cy="119299"/>
          </a:xfrm>
          <a:prstGeom prst="rect">
            <a:avLst/>
          </a:prstGeom>
          <a:solidFill>
            <a:srgbClr val="FFFFFF"/>
          </a:solidFill>
          <a:ln w="6350">
            <a:solidFill>
              <a:srgbClr val="E2E2E2"/>
            </a:solidFill>
            <a:prstDash val="solid"/>
          </a:ln>
        </p:spPr>
      </p:sp>
      <p:sp>
        <p:nvSpPr>
          <p:cNvPr id="92" name="Shape 84"/>
          <p:cNvSpPr/>
          <p:nvPr/>
        </p:nvSpPr>
        <p:spPr>
          <a:xfrm>
            <a:off x="1621048" y="2931688"/>
            <a:ext cx="502920" cy="119299"/>
          </a:xfrm>
          <a:prstGeom prst="rect">
            <a:avLst/>
          </a:prstGeom>
          <a:solidFill>
            <a:srgbClr val="FFFFFF"/>
          </a:solidFill>
          <a:ln w="6350">
            <a:solidFill>
              <a:srgbClr val="E2E2E2"/>
            </a:solidFill>
            <a:prstDash val="solid"/>
          </a:ln>
        </p:spPr>
      </p:sp>
      <p:sp>
        <p:nvSpPr>
          <p:cNvPr id="93" name="Shape 85"/>
          <p:cNvSpPr/>
          <p:nvPr/>
        </p:nvSpPr>
        <p:spPr>
          <a:xfrm>
            <a:off x="2123968" y="2931688"/>
            <a:ext cx="777240" cy="119299"/>
          </a:xfrm>
          <a:prstGeom prst="rect">
            <a:avLst/>
          </a:prstGeom>
          <a:solidFill>
            <a:srgbClr val="FFFFFF"/>
          </a:solidFill>
          <a:ln w="6350">
            <a:solidFill>
              <a:srgbClr val="E2E2E2"/>
            </a:solidFill>
            <a:prstDash val="solid"/>
          </a:ln>
        </p:spPr>
      </p:sp>
      <p:sp>
        <p:nvSpPr>
          <p:cNvPr id="94" name="Shape 86"/>
          <p:cNvSpPr/>
          <p:nvPr/>
        </p:nvSpPr>
        <p:spPr>
          <a:xfrm>
            <a:off x="2901208" y="2931688"/>
            <a:ext cx="457200" cy="119299"/>
          </a:xfrm>
          <a:prstGeom prst="rect">
            <a:avLst/>
          </a:prstGeom>
          <a:solidFill>
            <a:srgbClr val="FFFFFF"/>
          </a:solidFill>
          <a:ln w="6350">
            <a:solidFill>
              <a:srgbClr val="E2E2E2"/>
            </a:solidFill>
            <a:prstDash val="solid"/>
          </a:ln>
        </p:spPr>
      </p:sp>
      <p:sp>
        <p:nvSpPr>
          <p:cNvPr id="95" name="Shape 87"/>
          <p:cNvSpPr/>
          <p:nvPr/>
        </p:nvSpPr>
        <p:spPr>
          <a:xfrm>
            <a:off x="587776" y="3050987"/>
            <a:ext cx="256032" cy="119299"/>
          </a:xfrm>
          <a:prstGeom prst="rect">
            <a:avLst/>
          </a:prstGeom>
          <a:solidFill>
            <a:srgbClr val="F8F9FA"/>
          </a:solidFill>
          <a:ln w="6350">
            <a:solidFill>
              <a:srgbClr val="DDDDDD"/>
            </a:solidFill>
            <a:prstDash val="solid"/>
          </a:ln>
        </p:spPr>
      </p:sp>
      <p:sp>
        <p:nvSpPr>
          <p:cNvPr id="96" name="Text 8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7" name="Shape 89"/>
          <p:cNvSpPr/>
          <p:nvPr/>
        </p:nvSpPr>
        <p:spPr>
          <a:xfrm>
            <a:off x="843808" y="3050987"/>
            <a:ext cx="777240" cy="119299"/>
          </a:xfrm>
          <a:prstGeom prst="rect">
            <a:avLst/>
          </a:prstGeom>
          <a:solidFill>
            <a:srgbClr val="FFFFFF"/>
          </a:solidFill>
          <a:ln w="6350">
            <a:solidFill>
              <a:srgbClr val="E2E2E2"/>
            </a:solidFill>
            <a:prstDash val="solid"/>
          </a:ln>
        </p:spPr>
      </p:sp>
      <p:sp>
        <p:nvSpPr>
          <p:cNvPr id="98" name="Shape 90"/>
          <p:cNvSpPr/>
          <p:nvPr/>
        </p:nvSpPr>
        <p:spPr>
          <a:xfrm>
            <a:off x="1621048" y="3050987"/>
            <a:ext cx="502920" cy="119299"/>
          </a:xfrm>
          <a:prstGeom prst="rect">
            <a:avLst/>
          </a:prstGeom>
          <a:solidFill>
            <a:srgbClr val="FFFFFF"/>
          </a:solidFill>
          <a:ln w="6350">
            <a:solidFill>
              <a:srgbClr val="E2E2E2"/>
            </a:solidFill>
            <a:prstDash val="solid"/>
          </a:ln>
        </p:spPr>
      </p:sp>
      <p:sp>
        <p:nvSpPr>
          <p:cNvPr id="99" name="Shape 91"/>
          <p:cNvSpPr/>
          <p:nvPr/>
        </p:nvSpPr>
        <p:spPr>
          <a:xfrm>
            <a:off x="2123968" y="3050987"/>
            <a:ext cx="777240" cy="119299"/>
          </a:xfrm>
          <a:prstGeom prst="rect">
            <a:avLst/>
          </a:prstGeom>
          <a:solidFill>
            <a:srgbClr val="FFFFFF"/>
          </a:solidFill>
          <a:ln w="6350">
            <a:solidFill>
              <a:srgbClr val="E2E2E2"/>
            </a:solidFill>
            <a:prstDash val="solid"/>
          </a:ln>
        </p:spPr>
      </p:sp>
      <p:sp>
        <p:nvSpPr>
          <p:cNvPr id="100" name="Shape 92"/>
          <p:cNvSpPr/>
          <p:nvPr/>
        </p:nvSpPr>
        <p:spPr>
          <a:xfrm>
            <a:off x="2901208" y="3050987"/>
            <a:ext cx="457200" cy="119299"/>
          </a:xfrm>
          <a:prstGeom prst="rect">
            <a:avLst/>
          </a:prstGeom>
          <a:solidFill>
            <a:srgbClr val="FFFFFF"/>
          </a:solidFill>
          <a:ln w="6350">
            <a:solidFill>
              <a:srgbClr val="E2E2E2"/>
            </a:solidFill>
            <a:prstDash val="solid"/>
          </a:ln>
        </p:spPr>
      </p:sp>
      <p:sp>
        <p:nvSpPr>
          <p:cNvPr id="101" name="Shape 93"/>
          <p:cNvSpPr/>
          <p:nvPr/>
        </p:nvSpPr>
        <p:spPr>
          <a:xfrm>
            <a:off x="587776" y="3170287"/>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3" name="Shape 95"/>
          <p:cNvSpPr/>
          <p:nvPr/>
        </p:nvSpPr>
        <p:spPr>
          <a:xfrm>
            <a:off x="843808" y="3170287"/>
            <a:ext cx="777240" cy="119299"/>
          </a:xfrm>
          <a:prstGeom prst="rect">
            <a:avLst/>
          </a:prstGeom>
          <a:solidFill>
            <a:srgbClr val="FFFFFF"/>
          </a:solidFill>
          <a:ln w="6350">
            <a:solidFill>
              <a:srgbClr val="E2E2E2"/>
            </a:solidFill>
            <a:prstDash val="solid"/>
          </a:ln>
        </p:spPr>
      </p:sp>
      <p:sp>
        <p:nvSpPr>
          <p:cNvPr id="104" name="Shape 96"/>
          <p:cNvSpPr/>
          <p:nvPr/>
        </p:nvSpPr>
        <p:spPr>
          <a:xfrm>
            <a:off x="1621048" y="3170287"/>
            <a:ext cx="502920" cy="119299"/>
          </a:xfrm>
          <a:prstGeom prst="rect">
            <a:avLst/>
          </a:prstGeom>
          <a:solidFill>
            <a:srgbClr val="FFFFFF"/>
          </a:solidFill>
          <a:ln w="6350">
            <a:solidFill>
              <a:srgbClr val="E2E2E2"/>
            </a:solidFill>
            <a:prstDash val="solid"/>
          </a:ln>
        </p:spPr>
      </p:sp>
      <p:sp>
        <p:nvSpPr>
          <p:cNvPr id="105" name="Shape 97"/>
          <p:cNvSpPr/>
          <p:nvPr/>
        </p:nvSpPr>
        <p:spPr>
          <a:xfrm>
            <a:off x="2123968" y="3170287"/>
            <a:ext cx="777240" cy="119299"/>
          </a:xfrm>
          <a:prstGeom prst="rect">
            <a:avLst/>
          </a:prstGeom>
          <a:solidFill>
            <a:srgbClr val="FFFFFF"/>
          </a:solidFill>
          <a:ln w="6350">
            <a:solidFill>
              <a:srgbClr val="E2E2E2"/>
            </a:solidFill>
            <a:prstDash val="solid"/>
          </a:ln>
        </p:spPr>
      </p:sp>
      <p:sp>
        <p:nvSpPr>
          <p:cNvPr id="106" name="Shape 98"/>
          <p:cNvSpPr/>
          <p:nvPr/>
        </p:nvSpPr>
        <p:spPr>
          <a:xfrm>
            <a:off x="2901208" y="3170287"/>
            <a:ext cx="457200" cy="119299"/>
          </a:xfrm>
          <a:prstGeom prst="rect">
            <a:avLst/>
          </a:prstGeom>
          <a:solidFill>
            <a:srgbClr val="FFFFFF"/>
          </a:solidFill>
          <a:ln w="6350">
            <a:solidFill>
              <a:srgbClr val="E2E2E2"/>
            </a:solidFill>
            <a:prstDash val="solid"/>
          </a:ln>
        </p:spPr>
      </p:sp>
      <p:sp>
        <p:nvSpPr>
          <p:cNvPr id="107" name="Shape 99"/>
          <p:cNvSpPr/>
          <p:nvPr/>
        </p:nvSpPr>
        <p:spPr>
          <a:xfrm>
            <a:off x="587776" y="3289586"/>
            <a:ext cx="256032" cy="119299"/>
          </a:xfrm>
          <a:prstGeom prst="rect">
            <a:avLst/>
          </a:prstGeom>
          <a:solidFill>
            <a:srgbClr val="F8F9FA"/>
          </a:solidFill>
          <a:ln w="6350">
            <a:solidFill>
              <a:srgbClr val="DDDDDD"/>
            </a:solidFill>
            <a:prstDash val="solid"/>
          </a:ln>
        </p:spPr>
      </p:sp>
      <p:sp>
        <p:nvSpPr>
          <p:cNvPr id="108" name="Text 100"/>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09" name="Shape 101"/>
          <p:cNvSpPr/>
          <p:nvPr/>
        </p:nvSpPr>
        <p:spPr>
          <a:xfrm>
            <a:off x="843808" y="3289586"/>
            <a:ext cx="777240" cy="119299"/>
          </a:xfrm>
          <a:prstGeom prst="rect">
            <a:avLst/>
          </a:prstGeom>
          <a:solidFill>
            <a:srgbClr val="FFFFFF"/>
          </a:solidFill>
          <a:ln w="6350">
            <a:solidFill>
              <a:srgbClr val="E2E2E2"/>
            </a:solidFill>
            <a:prstDash val="solid"/>
          </a:ln>
        </p:spPr>
      </p:sp>
      <p:sp>
        <p:nvSpPr>
          <p:cNvPr id="110" name="Shape 102"/>
          <p:cNvSpPr/>
          <p:nvPr/>
        </p:nvSpPr>
        <p:spPr>
          <a:xfrm>
            <a:off x="1621048" y="3289586"/>
            <a:ext cx="502920" cy="119299"/>
          </a:xfrm>
          <a:prstGeom prst="rect">
            <a:avLst/>
          </a:prstGeom>
          <a:solidFill>
            <a:srgbClr val="FFFFFF"/>
          </a:solidFill>
          <a:ln w="6350">
            <a:solidFill>
              <a:srgbClr val="E2E2E2"/>
            </a:solidFill>
            <a:prstDash val="solid"/>
          </a:ln>
        </p:spPr>
      </p:sp>
      <p:sp>
        <p:nvSpPr>
          <p:cNvPr id="111" name="Shape 103"/>
          <p:cNvSpPr/>
          <p:nvPr/>
        </p:nvSpPr>
        <p:spPr>
          <a:xfrm>
            <a:off x="2123968" y="3289586"/>
            <a:ext cx="777240" cy="119299"/>
          </a:xfrm>
          <a:prstGeom prst="rect">
            <a:avLst/>
          </a:prstGeom>
          <a:solidFill>
            <a:srgbClr val="FFFFFF"/>
          </a:solidFill>
          <a:ln w="6350">
            <a:solidFill>
              <a:srgbClr val="E2E2E2"/>
            </a:solidFill>
            <a:prstDash val="solid"/>
          </a:ln>
        </p:spPr>
      </p:sp>
      <p:sp>
        <p:nvSpPr>
          <p:cNvPr id="112" name="Shape 104"/>
          <p:cNvSpPr/>
          <p:nvPr/>
        </p:nvSpPr>
        <p:spPr>
          <a:xfrm>
            <a:off x="2901208" y="3289586"/>
            <a:ext cx="457200" cy="119299"/>
          </a:xfrm>
          <a:prstGeom prst="rect">
            <a:avLst/>
          </a:prstGeom>
          <a:solidFill>
            <a:srgbClr val="FFFFFF"/>
          </a:solidFill>
          <a:ln w="6350">
            <a:solidFill>
              <a:srgbClr val="E2E2E2"/>
            </a:solidFill>
            <a:prstDash val="solid"/>
          </a:ln>
        </p:spPr>
      </p:sp>
      <p:sp>
        <p:nvSpPr>
          <p:cNvPr id="113" name="Shape 105"/>
          <p:cNvSpPr/>
          <p:nvPr/>
        </p:nvSpPr>
        <p:spPr>
          <a:xfrm>
            <a:off x="587776" y="3408885"/>
            <a:ext cx="256032" cy="119299"/>
          </a:xfrm>
          <a:prstGeom prst="rect">
            <a:avLst/>
          </a:prstGeom>
          <a:solidFill>
            <a:srgbClr val="F8F9FA"/>
          </a:solidFill>
          <a:ln w="6350">
            <a:solidFill>
              <a:srgbClr val="DDDDDD"/>
            </a:solidFill>
            <a:prstDash val="solid"/>
          </a:ln>
        </p:spPr>
      </p:sp>
      <p:sp>
        <p:nvSpPr>
          <p:cNvPr id="114" name="Text 106"/>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15" name="Shape 107"/>
          <p:cNvSpPr/>
          <p:nvPr/>
        </p:nvSpPr>
        <p:spPr>
          <a:xfrm>
            <a:off x="843808" y="3408885"/>
            <a:ext cx="777240" cy="119299"/>
          </a:xfrm>
          <a:prstGeom prst="rect">
            <a:avLst/>
          </a:prstGeom>
          <a:solidFill>
            <a:srgbClr val="FFFFFF"/>
          </a:solidFill>
          <a:ln w="6350">
            <a:solidFill>
              <a:srgbClr val="E2E2E2"/>
            </a:solidFill>
            <a:prstDash val="solid"/>
          </a:ln>
        </p:spPr>
      </p:sp>
      <p:sp>
        <p:nvSpPr>
          <p:cNvPr id="116" name="Shape 108"/>
          <p:cNvSpPr/>
          <p:nvPr/>
        </p:nvSpPr>
        <p:spPr>
          <a:xfrm>
            <a:off x="1621048" y="3408885"/>
            <a:ext cx="502920" cy="119299"/>
          </a:xfrm>
          <a:prstGeom prst="rect">
            <a:avLst/>
          </a:prstGeom>
          <a:solidFill>
            <a:srgbClr val="FFFFFF"/>
          </a:solidFill>
          <a:ln w="6350">
            <a:solidFill>
              <a:srgbClr val="E2E2E2"/>
            </a:solidFill>
            <a:prstDash val="solid"/>
          </a:ln>
        </p:spPr>
      </p:sp>
      <p:sp>
        <p:nvSpPr>
          <p:cNvPr id="117" name="Shape 109"/>
          <p:cNvSpPr/>
          <p:nvPr/>
        </p:nvSpPr>
        <p:spPr>
          <a:xfrm>
            <a:off x="2123968" y="3408885"/>
            <a:ext cx="777240" cy="119299"/>
          </a:xfrm>
          <a:prstGeom prst="rect">
            <a:avLst/>
          </a:prstGeom>
          <a:solidFill>
            <a:srgbClr val="FFFFFF"/>
          </a:solidFill>
          <a:ln w="6350">
            <a:solidFill>
              <a:srgbClr val="E2E2E2"/>
            </a:solidFill>
            <a:prstDash val="solid"/>
          </a:ln>
        </p:spPr>
      </p:sp>
      <p:sp>
        <p:nvSpPr>
          <p:cNvPr id="118" name="Shape 110"/>
          <p:cNvSpPr/>
          <p:nvPr/>
        </p:nvSpPr>
        <p:spPr>
          <a:xfrm>
            <a:off x="2901208" y="3408885"/>
            <a:ext cx="457200" cy="119299"/>
          </a:xfrm>
          <a:prstGeom prst="rect">
            <a:avLst/>
          </a:prstGeom>
          <a:solidFill>
            <a:srgbClr val="FFFFFF"/>
          </a:solidFill>
          <a:ln w="6350">
            <a:solidFill>
              <a:srgbClr val="E2E2E2"/>
            </a:solidFill>
            <a:prstDash val="solid"/>
          </a:ln>
        </p:spPr>
      </p:sp>
      <p:sp>
        <p:nvSpPr>
          <p:cNvPr id="119" name="Shape 111"/>
          <p:cNvSpPr/>
          <p:nvPr/>
        </p:nvSpPr>
        <p:spPr>
          <a:xfrm>
            <a:off x="587776" y="3528185"/>
            <a:ext cx="256032" cy="119299"/>
          </a:xfrm>
          <a:prstGeom prst="rect">
            <a:avLst/>
          </a:prstGeom>
          <a:solidFill>
            <a:srgbClr val="F8F9FA"/>
          </a:solidFill>
          <a:ln w="6350">
            <a:solidFill>
              <a:srgbClr val="DDDDDD"/>
            </a:solidFill>
            <a:prstDash val="solid"/>
          </a:ln>
        </p:spPr>
      </p:sp>
      <p:sp>
        <p:nvSpPr>
          <p:cNvPr id="120" name="Text 112"/>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21" name="Shape 113"/>
          <p:cNvSpPr/>
          <p:nvPr/>
        </p:nvSpPr>
        <p:spPr>
          <a:xfrm>
            <a:off x="843808" y="3528185"/>
            <a:ext cx="777240" cy="119299"/>
          </a:xfrm>
          <a:prstGeom prst="rect">
            <a:avLst/>
          </a:prstGeom>
          <a:solidFill>
            <a:srgbClr val="FFFFFF"/>
          </a:solidFill>
          <a:ln w="6350">
            <a:solidFill>
              <a:srgbClr val="E2E2E2"/>
            </a:solidFill>
            <a:prstDash val="solid"/>
          </a:ln>
        </p:spPr>
      </p:sp>
      <p:sp>
        <p:nvSpPr>
          <p:cNvPr id="122" name="Shape 114"/>
          <p:cNvSpPr/>
          <p:nvPr/>
        </p:nvSpPr>
        <p:spPr>
          <a:xfrm>
            <a:off x="1621048" y="3528185"/>
            <a:ext cx="502920" cy="119299"/>
          </a:xfrm>
          <a:prstGeom prst="rect">
            <a:avLst/>
          </a:prstGeom>
          <a:solidFill>
            <a:srgbClr val="FFFFFF"/>
          </a:solidFill>
          <a:ln w="6350">
            <a:solidFill>
              <a:srgbClr val="E2E2E2"/>
            </a:solidFill>
            <a:prstDash val="solid"/>
          </a:ln>
        </p:spPr>
      </p:sp>
      <p:sp>
        <p:nvSpPr>
          <p:cNvPr id="123" name="Shape 115"/>
          <p:cNvSpPr/>
          <p:nvPr/>
        </p:nvSpPr>
        <p:spPr>
          <a:xfrm>
            <a:off x="2123968" y="3528185"/>
            <a:ext cx="777240" cy="119299"/>
          </a:xfrm>
          <a:prstGeom prst="rect">
            <a:avLst/>
          </a:prstGeom>
          <a:solidFill>
            <a:srgbClr val="FFFFFF"/>
          </a:solidFill>
          <a:ln w="6350">
            <a:solidFill>
              <a:srgbClr val="E2E2E2"/>
            </a:solidFill>
            <a:prstDash val="solid"/>
          </a:ln>
        </p:spPr>
      </p:sp>
      <p:sp>
        <p:nvSpPr>
          <p:cNvPr id="124" name="Shape 116"/>
          <p:cNvSpPr/>
          <p:nvPr/>
        </p:nvSpPr>
        <p:spPr>
          <a:xfrm>
            <a:off x="2901208" y="3528185"/>
            <a:ext cx="457200" cy="119299"/>
          </a:xfrm>
          <a:prstGeom prst="rect">
            <a:avLst/>
          </a:prstGeom>
          <a:solidFill>
            <a:srgbClr val="FFFFFF"/>
          </a:solidFill>
          <a:ln w="6350">
            <a:solidFill>
              <a:srgbClr val="E2E2E2"/>
            </a:solidFill>
            <a:prstDash val="solid"/>
          </a:ln>
        </p:spPr>
      </p:sp>
      <p:sp>
        <p:nvSpPr>
          <p:cNvPr id="125" name="Shape 117"/>
          <p:cNvSpPr/>
          <p:nvPr/>
        </p:nvSpPr>
        <p:spPr>
          <a:xfrm>
            <a:off x="587776" y="3647484"/>
            <a:ext cx="256032" cy="119299"/>
          </a:xfrm>
          <a:prstGeom prst="rect">
            <a:avLst/>
          </a:prstGeom>
          <a:solidFill>
            <a:srgbClr val="F8F9FA"/>
          </a:solidFill>
          <a:ln w="6350">
            <a:solidFill>
              <a:srgbClr val="DDDDDD"/>
            </a:solidFill>
            <a:prstDash val="solid"/>
          </a:ln>
        </p:spPr>
      </p:sp>
      <p:sp>
        <p:nvSpPr>
          <p:cNvPr id="126" name="Text 118"/>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27" name="Shape 119"/>
          <p:cNvSpPr/>
          <p:nvPr/>
        </p:nvSpPr>
        <p:spPr>
          <a:xfrm>
            <a:off x="843808" y="3647484"/>
            <a:ext cx="777240" cy="119299"/>
          </a:xfrm>
          <a:prstGeom prst="rect">
            <a:avLst/>
          </a:prstGeom>
          <a:solidFill>
            <a:srgbClr val="FFFFFF"/>
          </a:solidFill>
          <a:ln w="6350">
            <a:solidFill>
              <a:srgbClr val="E2E2E2"/>
            </a:solidFill>
            <a:prstDash val="solid"/>
          </a:ln>
        </p:spPr>
      </p:sp>
      <p:sp>
        <p:nvSpPr>
          <p:cNvPr id="128" name="Shape 120"/>
          <p:cNvSpPr/>
          <p:nvPr/>
        </p:nvSpPr>
        <p:spPr>
          <a:xfrm>
            <a:off x="1621048" y="3647484"/>
            <a:ext cx="502920" cy="119299"/>
          </a:xfrm>
          <a:prstGeom prst="rect">
            <a:avLst/>
          </a:prstGeom>
          <a:solidFill>
            <a:srgbClr val="FFFFFF"/>
          </a:solidFill>
          <a:ln w="6350">
            <a:solidFill>
              <a:srgbClr val="E2E2E2"/>
            </a:solidFill>
            <a:prstDash val="solid"/>
          </a:ln>
        </p:spPr>
      </p:sp>
      <p:sp>
        <p:nvSpPr>
          <p:cNvPr id="129" name="Shape 121"/>
          <p:cNvSpPr/>
          <p:nvPr/>
        </p:nvSpPr>
        <p:spPr>
          <a:xfrm>
            <a:off x="2123968" y="3647484"/>
            <a:ext cx="777240" cy="119299"/>
          </a:xfrm>
          <a:prstGeom prst="rect">
            <a:avLst/>
          </a:prstGeom>
          <a:solidFill>
            <a:srgbClr val="FFFFFF"/>
          </a:solidFill>
          <a:ln w="6350">
            <a:solidFill>
              <a:srgbClr val="E2E2E2"/>
            </a:solidFill>
            <a:prstDash val="solid"/>
          </a:ln>
        </p:spPr>
      </p:sp>
      <p:sp>
        <p:nvSpPr>
          <p:cNvPr id="130" name="Shape 122"/>
          <p:cNvSpPr/>
          <p:nvPr/>
        </p:nvSpPr>
        <p:spPr>
          <a:xfrm>
            <a:off x="2901208" y="3647484"/>
            <a:ext cx="457200" cy="119299"/>
          </a:xfrm>
          <a:prstGeom prst="rect">
            <a:avLst/>
          </a:prstGeom>
          <a:solidFill>
            <a:srgbClr val="FFFFFF"/>
          </a:solidFill>
          <a:ln w="6350">
            <a:solidFill>
              <a:srgbClr val="E2E2E2"/>
            </a:solidFill>
            <a:prstDash val="solid"/>
          </a:ln>
        </p:spPr>
      </p:sp>
      <p:sp>
        <p:nvSpPr>
          <p:cNvPr id="131" name="Shape 123"/>
          <p:cNvSpPr/>
          <p:nvPr/>
        </p:nvSpPr>
        <p:spPr>
          <a:xfrm>
            <a:off x="587776" y="3794216"/>
            <a:ext cx="4950927" cy="201168"/>
          </a:xfrm>
          <a:prstGeom prst="rect">
            <a:avLst/>
          </a:prstGeom>
          <a:solidFill>
            <a:srgbClr val="F8F9FA"/>
          </a:solidFill>
          <a:ln w="12700">
            <a:solidFill>
              <a:srgbClr val="F8F9FA"/>
            </a:solidFill>
            <a:prstDash val="solid"/>
          </a:ln>
        </p:spPr>
      </p:sp>
      <p:sp>
        <p:nvSpPr>
          <p:cNvPr id="132" name="Text 124"/>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33" name="Shape 125"/>
          <p:cNvSpPr/>
          <p:nvPr/>
        </p:nvSpPr>
        <p:spPr>
          <a:xfrm>
            <a:off x="1136416" y="3794216"/>
            <a:ext cx="731520" cy="201168"/>
          </a:xfrm>
          <a:prstGeom prst="rect">
            <a:avLst/>
          </a:prstGeom>
          <a:solidFill>
            <a:srgbClr val="E1EFFE"/>
          </a:solidFill>
          <a:ln w="12700">
            <a:solidFill>
              <a:srgbClr val="E1EFFE"/>
            </a:solidFill>
            <a:prstDash val="solid"/>
          </a:ln>
        </p:spPr>
      </p:sp>
      <p:sp>
        <p:nvSpPr>
          <p:cNvPr id="134" name="Text 126"/>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Setoran</a:t>
            </a:r>
            <a:endParaRPr lang="en-US" sz="700" dirty="0"/>
          </a:p>
        </p:txBody>
      </p:sp>
      <p:sp>
        <p:nvSpPr>
          <p:cNvPr id="135" name="Shape 127"/>
          <p:cNvSpPr/>
          <p:nvPr/>
        </p:nvSpPr>
        <p:spPr>
          <a:xfrm>
            <a:off x="971824" y="2043437"/>
            <a:ext cx="1417320" cy="1261872"/>
          </a:xfrm>
          <a:prstGeom prst="rect">
            <a:avLst/>
          </a:prstGeom>
          <a:solidFill>
            <a:srgbClr val="FFFFFF"/>
          </a:solidFill>
          <a:ln w="9525">
            <a:solidFill>
              <a:srgbClr val="AAAAAA"/>
            </a:solidFill>
            <a:prstDash val="solid"/>
          </a:ln>
        </p:spPr>
      </p:sp>
      <p:sp>
        <p:nvSpPr>
          <p:cNvPr id="136" name="Text 128"/>
          <p:cNvSpPr txBox="1"/>
          <p:nvPr/>
        </p:nvSpPr>
        <p:spPr>
          <a:xfrm>
            <a:off x="1081552" y="2070869"/>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New               ›</a:t>
            </a:r>
            <a:endParaRPr lang="en-US" sz="800" dirty="0"/>
          </a:p>
        </p:txBody>
      </p:sp>
      <p:sp>
        <p:nvSpPr>
          <p:cNvPr id="137" name="Text 129"/>
          <p:cNvSpPr txBox="1"/>
          <p:nvPr/>
        </p:nvSpPr>
        <p:spPr>
          <a:xfrm>
            <a:off x="1081552" y="2272037"/>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Open</a:t>
            </a:r>
            <a:endParaRPr lang="en-US" sz="800" dirty="0"/>
          </a:p>
        </p:txBody>
      </p:sp>
      <p:sp>
        <p:nvSpPr>
          <p:cNvPr id="138" name="Text 130"/>
          <p:cNvSpPr txBox="1"/>
          <p:nvPr/>
        </p:nvSpPr>
        <p:spPr>
          <a:xfrm>
            <a:off x="1081552" y="2473205"/>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Make a copy</a:t>
            </a:r>
            <a:endParaRPr lang="en-US" sz="800" dirty="0"/>
          </a:p>
        </p:txBody>
      </p:sp>
      <p:sp>
        <p:nvSpPr>
          <p:cNvPr id="139" name="Shape 131"/>
          <p:cNvSpPr/>
          <p:nvPr/>
        </p:nvSpPr>
        <p:spPr>
          <a:xfrm>
            <a:off x="1008400" y="2765813"/>
            <a:ext cx="1344168" cy="0"/>
          </a:xfrm>
          <a:prstGeom prst="line">
            <a:avLst/>
          </a:prstGeom>
          <a:noFill/>
          <a:ln w="6350">
            <a:solidFill>
              <a:srgbClr val="DDDDDD"/>
            </a:solidFill>
            <a:prstDash val="solid"/>
          </a:ln>
        </p:spPr>
      </p:sp>
      <p:sp>
        <p:nvSpPr>
          <p:cNvPr id="140" name="Text 132"/>
          <p:cNvSpPr txBox="1"/>
          <p:nvPr/>
        </p:nvSpPr>
        <p:spPr>
          <a:xfrm>
            <a:off x="1081552" y="2875541"/>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Download      ›</a:t>
            </a:r>
            <a:endParaRPr lang="en-US" sz="800" dirty="0"/>
          </a:p>
        </p:txBody>
      </p:sp>
      <p:sp>
        <p:nvSpPr>
          <p:cNvPr id="141" name="Text 133"/>
          <p:cNvSpPr txBox="1"/>
          <p:nvPr/>
        </p:nvSpPr>
        <p:spPr>
          <a:xfrm>
            <a:off x="1081552" y="3076709"/>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Version history ›</a:t>
            </a:r>
            <a:endParaRPr lang="en-US" sz="800" dirty="0"/>
          </a:p>
        </p:txBody>
      </p:sp>
      <p:sp>
        <p:nvSpPr>
          <p:cNvPr id="142" name="Shape 134"/>
          <p:cNvSpPr/>
          <p:nvPr/>
        </p:nvSpPr>
        <p:spPr>
          <a:xfrm>
            <a:off x="2389144" y="2875541"/>
            <a:ext cx="1234440" cy="658368"/>
          </a:xfrm>
          <a:prstGeom prst="rect">
            <a:avLst/>
          </a:prstGeom>
          <a:solidFill>
            <a:srgbClr val="FFFFFF"/>
          </a:solidFill>
          <a:ln w="9525">
            <a:solidFill>
              <a:srgbClr val="AAAAAA"/>
            </a:solidFill>
            <a:prstDash val="solid"/>
          </a:ln>
        </p:spPr>
      </p:sp>
      <p:sp>
        <p:nvSpPr>
          <p:cNvPr id="143" name="Text 135"/>
          <p:cNvSpPr txBox="1"/>
          <p:nvPr/>
        </p:nvSpPr>
        <p:spPr>
          <a:xfrm>
            <a:off x="2498872" y="2902973"/>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Microsoft Excel (.xlsx)</a:t>
            </a:r>
            <a:endParaRPr lang="en-US" sz="800" dirty="0"/>
          </a:p>
        </p:txBody>
      </p:sp>
      <p:sp>
        <p:nvSpPr>
          <p:cNvPr id="144" name="Text 136"/>
          <p:cNvSpPr txBox="1"/>
          <p:nvPr/>
        </p:nvSpPr>
        <p:spPr>
          <a:xfrm>
            <a:off x="2498872" y="3104141"/>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PDF (.pdf)</a:t>
            </a:r>
            <a:endParaRPr lang="en-US" sz="800" dirty="0"/>
          </a:p>
        </p:txBody>
      </p:sp>
      <p:sp>
        <p:nvSpPr>
          <p:cNvPr id="145" name="Text 137"/>
          <p:cNvSpPr txBox="1"/>
          <p:nvPr/>
        </p:nvSpPr>
        <p:spPr>
          <a:xfrm>
            <a:off x="2498872" y="3305309"/>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CSV (.csv)</a:t>
            </a:r>
            <a:endParaRPr lang="en-US" sz="800" dirty="0"/>
          </a:p>
        </p:txBody>
      </p:sp>
      <p:sp>
        <p:nvSpPr>
          <p:cNvPr id="146" name="Shape 138"/>
          <p:cNvSpPr/>
          <p:nvPr/>
        </p:nvSpPr>
        <p:spPr>
          <a:xfrm>
            <a:off x="990112" y="2857253"/>
            <a:ext cx="1380744" cy="228600"/>
          </a:xfrm>
          <a:prstGeom prst="roundRect">
            <a:avLst>
              <a:gd name="adj" fmla="val 20000"/>
            </a:avLst>
          </a:prstGeom>
          <a:solidFill>
            <a:srgbClr val="FFFFFF">
              <a:alpha val="0"/>
            </a:srgbClr>
          </a:solidFill>
          <a:ln w="31750">
            <a:solidFill>
              <a:srgbClr val="E53935"/>
            </a:solidFill>
            <a:prstDash val="solid"/>
          </a:ln>
        </p:spPr>
      </p:sp>
      <p:sp>
        <p:nvSpPr>
          <p:cNvPr id="147" name="Shape 139"/>
          <p:cNvSpPr/>
          <p:nvPr/>
        </p:nvSpPr>
        <p:spPr>
          <a:xfrm>
            <a:off x="2233696" y="2720093"/>
            <a:ext cx="274320" cy="274320"/>
          </a:xfrm>
          <a:prstGeom prst="ellipse">
            <a:avLst/>
          </a:prstGeom>
          <a:solidFill>
            <a:srgbClr val="E53935"/>
          </a:solidFill>
          <a:ln w="12700">
            <a:solidFill>
              <a:srgbClr val="FFFFFF"/>
            </a:solidFill>
            <a:prstDash val="solid"/>
          </a:ln>
        </p:spPr>
      </p:sp>
      <p:sp>
        <p:nvSpPr>
          <p:cNvPr id="148" name="Text 140"/>
          <p:cNvSpPr txBox="1"/>
          <p:nvPr/>
        </p:nvSpPr>
        <p:spPr>
          <a:xfrm>
            <a:off x="2233696" y="272009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49" name="Image 6" descr="preencoded.png">    </p:cNvPr>
          <p:cNvPicPr>
            <a:picLocks noChangeAspect="1"/>
          </p:cNvPicPr>
          <p:nvPr/>
        </p:nvPicPr>
        <p:blipFill>
          <a:blip r:embed="rId7"/>
          <a:stretch>
            <a:fillRect/>
          </a:stretch>
        </p:blipFill>
        <p:spPr>
          <a:xfrm>
            <a:off x="1747693" y="2981154"/>
            <a:ext cx="237744" cy="237744"/>
          </a:xfrm>
          <a:prstGeom prst="rect">
            <a:avLst/>
          </a:prstGeom>
        </p:spPr>
      </p:pic>
      <p:sp>
        <p:nvSpPr>
          <p:cNvPr id="150" name="Shape 141"/>
          <p:cNvSpPr/>
          <p:nvPr/>
        </p:nvSpPr>
        <p:spPr>
          <a:xfrm>
            <a:off x="2407432" y="2884685"/>
            <a:ext cx="1197864" cy="228600"/>
          </a:xfrm>
          <a:prstGeom prst="roundRect">
            <a:avLst>
              <a:gd name="adj" fmla="val 20000"/>
            </a:avLst>
          </a:prstGeom>
          <a:solidFill>
            <a:srgbClr val="FFFFFF">
              <a:alpha val="0"/>
            </a:srgbClr>
          </a:solidFill>
          <a:ln w="31750">
            <a:solidFill>
              <a:srgbClr val="E53935"/>
            </a:solidFill>
            <a:prstDash val="solid"/>
          </a:ln>
        </p:spPr>
      </p:sp>
      <p:sp>
        <p:nvSpPr>
          <p:cNvPr id="151" name="Shape 142"/>
          <p:cNvSpPr/>
          <p:nvPr/>
        </p:nvSpPr>
        <p:spPr>
          <a:xfrm>
            <a:off x="3468136" y="2747525"/>
            <a:ext cx="274320" cy="274320"/>
          </a:xfrm>
          <a:prstGeom prst="ellipse">
            <a:avLst/>
          </a:prstGeom>
          <a:solidFill>
            <a:srgbClr val="E53935"/>
          </a:solidFill>
          <a:ln w="12700">
            <a:solidFill>
              <a:srgbClr val="FFFFFF"/>
            </a:solidFill>
            <a:prstDash val="solid"/>
          </a:ln>
        </p:spPr>
      </p:sp>
      <p:sp>
        <p:nvSpPr>
          <p:cNvPr id="152" name="Text 143"/>
          <p:cNvSpPr txBox="1"/>
          <p:nvPr/>
        </p:nvSpPr>
        <p:spPr>
          <a:xfrm>
            <a:off x="3468136" y="27475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53" name="Image 7" descr="preencoded.png">    </p:cNvPr>
          <p:cNvPicPr>
            <a:picLocks noChangeAspect="1"/>
          </p:cNvPicPr>
          <p:nvPr/>
        </p:nvPicPr>
        <p:blipFill>
          <a:blip r:embed="rId8"/>
          <a:stretch>
            <a:fillRect/>
          </a:stretch>
        </p:blipFill>
        <p:spPr>
          <a:xfrm>
            <a:off x="3064429" y="3008586"/>
            <a:ext cx="237744" cy="237744"/>
          </a:xfrm>
          <a:prstGeom prst="rect">
            <a:avLst/>
          </a:prstGeom>
        </p:spPr>
      </p:pic>
      <p:sp>
        <p:nvSpPr>
          <p:cNvPr id="154" name="Text 14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155" name="Text 14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Cadangan data: Download .xlsx</a:t>
            </a:r>
            <a:endParaRPr lang="en-US" sz="1800" dirty="0"/>
          </a:p>
        </p:txBody>
      </p:sp>
      <p:sp>
        <p:nvSpPr>
          <p:cNvPr id="156" name="Text 14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Google Sheets: File › Download › Microsoft Excel (.xlsx). Simpan di Portofolio › Proyek › Kelas9 › Cadangan, beri tanggal.</a:t>
            </a:r>
            <a:endParaRPr lang="en-US" sz="1300" dirty="0"/>
          </a:p>
        </p:txBody>
      </p:sp>
      <p:sp>
        <p:nvSpPr>
          <p:cNvPr id="157" name="Shape 14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158" name="Image 8" descr="preencoded.png">    </p:cNvPr>
          <p:cNvPicPr>
            <a:picLocks noChangeAspect="1"/>
          </p:cNvPicPr>
          <p:nvPr/>
        </p:nvPicPr>
        <p:blipFill>
          <a:blip r:embed="rId9"/>
          <a:stretch>
            <a:fillRect/>
          </a:stretch>
        </p:blipFill>
        <p:spPr>
          <a:xfrm>
            <a:off x="6108192" y="3721608"/>
            <a:ext cx="201168" cy="201168"/>
          </a:xfrm>
          <a:prstGeom prst="rect">
            <a:avLst/>
          </a:prstGeom>
        </p:spPr>
      </p:pic>
      <p:sp>
        <p:nvSpPr>
          <p:cNvPr id="159" name="Text 14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Bisa juga File › Make a copy untuk salinan di Drive.</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Cadangan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  ›  Proyek  ›  Kelas9  ›  Cadangan</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pic>
        <p:nvPicPr>
          <p:cNvPr id="36"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7" name="Text 27"/>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Cadangan_Setoran_2027-03-15.xlsx</a:t>
            </a:r>
            <a:endParaRPr lang="en-US" sz="700" dirty="0"/>
          </a:p>
        </p:txBody>
      </p:sp>
      <p:pic>
        <p:nvPicPr>
          <p:cNvPr id="38" name="Image 8" descr="preencoded.png">    </p:cNvPr>
          <p:cNvPicPr>
            <a:picLocks noChangeAspect="1"/>
          </p:cNvPicPr>
          <p:nvPr/>
        </p:nvPicPr>
        <p:blipFill>
          <a:blip r:embed="rId9"/>
          <a:stretch>
            <a:fillRect/>
          </a:stretch>
        </p:blipFill>
        <p:spPr>
          <a:xfrm>
            <a:off x="3006913" y="1876189"/>
            <a:ext cx="292608" cy="292608"/>
          </a:xfrm>
          <a:prstGeom prst="rect">
            <a:avLst/>
          </a:prstGeom>
        </p:spPr>
      </p:pic>
      <p:sp>
        <p:nvSpPr>
          <p:cNvPr id="39" name="Text 28"/>
          <p:cNvSpPr txBox="1"/>
          <p:nvPr/>
        </p:nvSpPr>
        <p:spPr>
          <a:xfrm>
            <a:off x="274173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setoran-harian-v1.0.0.zip</a:t>
            </a:r>
            <a:endParaRPr lang="en-US" sz="700" dirty="0"/>
          </a:p>
        </p:txBody>
      </p:sp>
      <p:pic>
        <p:nvPicPr>
          <p:cNvPr id="40" name="Image 9" descr="preencoded.png">    </p:cNvPr>
          <p:cNvPicPr>
            <a:picLocks noChangeAspect="1"/>
          </p:cNvPicPr>
          <p:nvPr/>
        </p:nvPicPr>
        <p:blipFill>
          <a:blip r:embed="rId10"/>
          <a:stretch>
            <a:fillRect/>
          </a:stretch>
        </p:blipFill>
        <p:spPr>
          <a:xfrm>
            <a:off x="3875593" y="1876189"/>
            <a:ext cx="292608" cy="292608"/>
          </a:xfrm>
          <a:prstGeom prst="rect">
            <a:avLst/>
          </a:prstGeom>
        </p:spPr>
      </p:pic>
      <p:sp>
        <p:nvSpPr>
          <p:cNvPr id="41" name="Text 29"/>
          <p:cNvSpPr txBox="1"/>
          <p:nvPr/>
        </p:nvSpPr>
        <p:spPr>
          <a:xfrm>
            <a:off x="361041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Code_gs_v1.txt</a:t>
            </a:r>
            <a:endParaRPr lang="en-US" sz="700" dirty="0"/>
          </a:p>
        </p:txBody>
      </p:sp>
      <p:sp>
        <p:nvSpPr>
          <p:cNvPr id="42" name="Shape 30"/>
          <p:cNvSpPr/>
          <p:nvPr/>
        </p:nvSpPr>
        <p:spPr>
          <a:xfrm>
            <a:off x="1854769" y="1803037"/>
            <a:ext cx="2596896" cy="676656"/>
          </a:xfrm>
          <a:prstGeom prst="roundRect">
            <a:avLst>
              <a:gd name="adj" fmla="val 6757"/>
            </a:avLst>
          </a:prstGeom>
          <a:solidFill>
            <a:srgbClr val="FFFFFF">
              <a:alpha val="0"/>
            </a:srgbClr>
          </a:solidFill>
          <a:ln w="31750">
            <a:solidFill>
              <a:srgbClr val="E53935"/>
            </a:solidFill>
            <a:prstDash val="solid"/>
          </a:ln>
        </p:spPr>
      </p:sp>
      <p:sp>
        <p:nvSpPr>
          <p:cNvPr id="43" name="Shape 31"/>
          <p:cNvSpPr/>
          <p:nvPr/>
        </p:nvSpPr>
        <p:spPr>
          <a:xfrm>
            <a:off x="4314505" y="1665877"/>
            <a:ext cx="274320" cy="274320"/>
          </a:xfrm>
          <a:prstGeom prst="ellipse">
            <a:avLst/>
          </a:prstGeom>
          <a:solidFill>
            <a:srgbClr val="E53935"/>
          </a:solidFill>
          <a:ln w="12700">
            <a:solidFill>
              <a:srgbClr val="FFFFFF"/>
            </a:solidFill>
            <a:prstDash val="solid"/>
          </a:ln>
        </p:spPr>
      </p:sp>
      <p:sp>
        <p:nvSpPr>
          <p:cNvPr id="44" name="Text 32"/>
          <p:cNvSpPr txBox="1"/>
          <p:nvPr/>
        </p:nvSpPr>
        <p:spPr>
          <a:xfrm>
            <a:off x="4314505" y="16658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5" name="Image 10" descr="preencoded.png">    </p:cNvPr>
          <p:cNvPicPr>
            <a:picLocks noChangeAspect="1"/>
          </p:cNvPicPr>
          <p:nvPr/>
        </p:nvPicPr>
        <p:blipFill>
          <a:blip r:embed="rId11"/>
          <a:stretch>
            <a:fillRect/>
          </a:stretch>
        </p:blipFill>
        <p:spPr>
          <a:xfrm>
            <a:off x="3279404" y="2171540"/>
            <a:ext cx="237744" cy="237744"/>
          </a:xfrm>
          <a:prstGeom prst="rect">
            <a:avLst/>
          </a:prstGeom>
        </p:spPr>
      </p:pic>
      <p:sp>
        <p:nvSpPr>
          <p:cNvPr id="46" name="Text 3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7" name="Text 3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Cadangan kode: arsip rilis</a:t>
            </a:r>
            <a:endParaRPr lang="en-US" sz="1800" dirty="0"/>
          </a:p>
        </p:txBody>
      </p:sp>
      <p:sp>
        <p:nvSpPr>
          <p:cNvPr id="48" name="Text 3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GitHub Release v1.0.0, unduh Source code (zip). Simpan di folder Cadangan. Salin juga Code.gs ke file teks.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Rollback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santri-wu-kel3 / setoran-harian</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61725"/>
            <a:ext cx="1828800" cy="228600"/>
          </a:xfrm>
          <a:prstGeom prst="rect">
            <a:avLst/>
          </a:prstGeom>
          <a:noFill/>
          <a:ln/>
        </p:spPr>
        <p:txBody>
          <a:bodyPr wrap="square" lIns="0" tIns="0" rIns="0" bIns="0" rtlCol="0" anchor="t"/>
          <a:lstStyle/>
          <a:p>
            <a:pPr indent="0" marL="0">
              <a:buNone/>
            </a:pPr>
            <a:r>
              <a:rPr lang="en-US" sz="1100" b="1" dirty="0">
                <a:solidFill>
                  <a:srgbClr val="1E2A26"/>
                </a:solidFill>
                <a:latin typeface="Calibri" pitchFamily="34" charset="0"/>
                <a:ea typeface="Calibri" pitchFamily="34" charset="-122"/>
                <a:cs typeface="Calibri" pitchFamily="34" charset="-120"/>
              </a:rPr>
              <a:t>Commits</a:t>
            </a:r>
            <a:endParaRPr lang="en-US" sz="1100" dirty="0"/>
          </a:p>
        </p:txBody>
      </p:sp>
      <p:sp>
        <p:nvSpPr>
          <p:cNvPr id="33" name="Shape 25"/>
          <p:cNvSpPr/>
          <p:nvPr/>
        </p:nvSpPr>
        <p:spPr>
          <a:xfrm>
            <a:off x="724936" y="2381765"/>
            <a:ext cx="4676607" cy="292608"/>
          </a:xfrm>
          <a:prstGeom prst="rect">
            <a:avLst/>
          </a:prstGeom>
          <a:solidFill>
            <a:srgbClr val="FFFFFF"/>
          </a:solidFill>
          <a:ln w="6350">
            <a:solidFill>
              <a:srgbClr val="D0D7DE"/>
            </a:solidFill>
            <a:prstDash val="solid"/>
          </a:ln>
        </p:spPr>
      </p:sp>
      <p:sp>
        <p:nvSpPr>
          <p:cNvPr id="34" name="Text 26"/>
          <p:cNvSpPr txBox="1"/>
          <p:nvPr/>
        </p:nvSpPr>
        <p:spPr>
          <a:xfrm>
            <a:off x="816376" y="2381765"/>
            <a:ext cx="2805964" cy="182880"/>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Perbaikan UI/UX: label, tombol, umpan balik</a:t>
            </a:r>
            <a:endParaRPr lang="en-US" sz="750" dirty="0"/>
          </a:p>
        </p:txBody>
      </p:sp>
      <p:sp>
        <p:nvSpPr>
          <p:cNvPr id="35" name="Text 27"/>
          <p:cNvSpPr txBox="1"/>
          <p:nvPr/>
        </p:nvSpPr>
        <p:spPr>
          <a:xfrm>
            <a:off x="816376" y="2528069"/>
            <a:ext cx="2805964" cy="13716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santri-wu-kel3 · pekan lalu</a:t>
            </a:r>
            <a:endParaRPr lang="en-US" sz="600" dirty="0"/>
          </a:p>
        </p:txBody>
      </p:sp>
      <p:sp>
        <p:nvSpPr>
          <p:cNvPr id="36" name="Text 28"/>
          <p:cNvSpPr txBox="1"/>
          <p:nvPr/>
        </p:nvSpPr>
        <p:spPr>
          <a:xfrm>
            <a:off x="4670024" y="2381765"/>
            <a:ext cx="640080" cy="292608"/>
          </a:xfrm>
          <a:prstGeom prst="rect">
            <a:avLst/>
          </a:prstGeom>
          <a:noFill/>
          <a:ln/>
        </p:spPr>
        <p:txBody>
          <a:bodyPr wrap="square" lIns="0" tIns="0" rIns="0" bIns="0" rtlCol="0" anchor="ctr"/>
          <a:lstStyle/>
          <a:p>
            <a:pPr indent="0" marL="0">
              <a:buNone/>
            </a:pPr>
            <a:r>
              <a:rPr lang="en-US" sz="650" dirty="0">
                <a:solidFill>
                  <a:srgbClr val="0969DA"/>
                </a:solidFill>
                <a:latin typeface="Courier New" pitchFamily="34" charset="0"/>
                <a:ea typeface="Courier New" pitchFamily="34" charset="-122"/>
                <a:cs typeface="Courier New" pitchFamily="34" charset="-120"/>
              </a:rPr>
              <a:t>a91f2c0</a:t>
            </a:r>
            <a:endParaRPr lang="en-US" sz="650" dirty="0"/>
          </a:p>
        </p:txBody>
      </p:sp>
      <p:sp>
        <p:nvSpPr>
          <p:cNvPr id="37" name="Shape 29"/>
          <p:cNvSpPr/>
          <p:nvPr/>
        </p:nvSpPr>
        <p:spPr>
          <a:xfrm>
            <a:off x="724936" y="2710949"/>
            <a:ext cx="4676607" cy="292608"/>
          </a:xfrm>
          <a:prstGeom prst="rect">
            <a:avLst/>
          </a:prstGeom>
          <a:solidFill>
            <a:srgbClr val="FFFFFF"/>
          </a:solidFill>
          <a:ln w="6350">
            <a:solidFill>
              <a:srgbClr val="D0D7DE"/>
            </a:solidFill>
            <a:prstDash val="solid"/>
          </a:ln>
        </p:spPr>
      </p:sp>
      <p:sp>
        <p:nvSpPr>
          <p:cNvPr id="38" name="Text 30"/>
          <p:cNvSpPr txBox="1"/>
          <p:nvPr/>
        </p:nvSpPr>
        <p:spPr>
          <a:xfrm>
            <a:off x="816376" y="2710949"/>
            <a:ext cx="2805964" cy="182880"/>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Tambah fitur total pekanan (4/4 lulus)</a:t>
            </a:r>
            <a:endParaRPr lang="en-US" sz="750" dirty="0"/>
          </a:p>
        </p:txBody>
      </p:sp>
      <p:sp>
        <p:nvSpPr>
          <p:cNvPr id="39" name="Text 31"/>
          <p:cNvSpPr txBox="1"/>
          <p:nvPr/>
        </p:nvSpPr>
        <p:spPr>
          <a:xfrm>
            <a:off x="816376" y="2857253"/>
            <a:ext cx="2805964" cy="13716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santri-wu-kel3 · 3 pekan lalu</a:t>
            </a:r>
            <a:endParaRPr lang="en-US" sz="600" dirty="0"/>
          </a:p>
        </p:txBody>
      </p:sp>
      <p:sp>
        <p:nvSpPr>
          <p:cNvPr id="40" name="Text 32"/>
          <p:cNvSpPr txBox="1"/>
          <p:nvPr/>
        </p:nvSpPr>
        <p:spPr>
          <a:xfrm>
            <a:off x="4670024" y="2710949"/>
            <a:ext cx="640080" cy="292608"/>
          </a:xfrm>
          <a:prstGeom prst="rect">
            <a:avLst/>
          </a:prstGeom>
          <a:noFill/>
          <a:ln/>
        </p:spPr>
        <p:txBody>
          <a:bodyPr wrap="square" lIns="0" tIns="0" rIns="0" bIns="0" rtlCol="0" anchor="ctr"/>
          <a:lstStyle/>
          <a:p>
            <a:pPr indent="0" marL="0">
              <a:buNone/>
            </a:pPr>
            <a:r>
              <a:rPr lang="en-US" sz="650" dirty="0">
                <a:solidFill>
                  <a:srgbClr val="0969DA"/>
                </a:solidFill>
                <a:latin typeface="Courier New" pitchFamily="34" charset="0"/>
                <a:ea typeface="Courier New" pitchFamily="34" charset="-122"/>
                <a:cs typeface="Courier New" pitchFamily="34" charset="-120"/>
              </a:rPr>
              <a:t>b7e21c9</a:t>
            </a:r>
            <a:endParaRPr lang="en-US" sz="650" dirty="0"/>
          </a:p>
        </p:txBody>
      </p:sp>
      <p:sp>
        <p:nvSpPr>
          <p:cNvPr id="41" name="Shape 33"/>
          <p:cNvSpPr/>
          <p:nvPr/>
        </p:nvSpPr>
        <p:spPr>
          <a:xfrm>
            <a:off x="724936" y="3040133"/>
            <a:ext cx="4676607" cy="292608"/>
          </a:xfrm>
          <a:prstGeom prst="rect">
            <a:avLst/>
          </a:prstGeom>
          <a:solidFill>
            <a:srgbClr val="FFFFFF"/>
          </a:solidFill>
          <a:ln w="6350">
            <a:solidFill>
              <a:srgbClr val="D0D7DE"/>
            </a:solidFill>
            <a:prstDash val="solid"/>
          </a:ln>
        </p:spPr>
      </p:sp>
      <p:sp>
        <p:nvSpPr>
          <p:cNvPr id="42" name="Text 34"/>
          <p:cNvSpPr txBox="1"/>
          <p:nvPr/>
        </p:nvSpPr>
        <p:spPr>
          <a:xfrm>
            <a:off x="816376" y="3040133"/>
            <a:ext cx="2805964" cy="182880"/>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Versi 3: tersambung Google Sheets</a:t>
            </a:r>
            <a:endParaRPr lang="en-US" sz="750" dirty="0"/>
          </a:p>
        </p:txBody>
      </p:sp>
      <p:sp>
        <p:nvSpPr>
          <p:cNvPr id="43" name="Text 35"/>
          <p:cNvSpPr txBox="1"/>
          <p:nvPr/>
        </p:nvSpPr>
        <p:spPr>
          <a:xfrm>
            <a:off x="816376" y="3186437"/>
            <a:ext cx="2805964" cy="137160"/>
          </a:xfrm>
          <a:prstGeom prst="rect">
            <a:avLst/>
          </a:prstGeom>
          <a:noFill/>
          <a:ln/>
        </p:spPr>
        <p:txBody>
          <a:bodyPr wrap="square" lIns="0" tIns="0" rIns="0" bIns="0" rtlCol="0" anchor="t"/>
          <a:lstStyle/>
          <a:p>
            <a:pPr indent="0" marL="0">
              <a:buNone/>
            </a:pPr>
            <a:r>
              <a:rPr lang="en-US" sz="600" dirty="0">
                <a:solidFill>
                  <a:srgbClr val="666666"/>
                </a:solidFill>
                <a:latin typeface="Calibri" pitchFamily="34" charset="0"/>
                <a:ea typeface="Calibri" pitchFamily="34" charset="-122"/>
                <a:cs typeface="Calibri" pitchFamily="34" charset="-120"/>
              </a:rPr>
              <a:t>santri-wu-kel3 · bulan lalu</a:t>
            </a:r>
            <a:endParaRPr lang="en-US" sz="600" dirty="0"/>
          </a:p>
        </p:txBody>
      </p:sp>
      <p:sp>
        <p:nvSpPr>
          <p:cNvPr id="44" name="Text 36"/>
          <p:cNvSpPr txBox="1"/>
          <p:nvPr/>
        </p:nvSpPr>
        <p:spPr>
          <a:xfrm>
            <a:off x="4670024" y="3040133"/>
            <a:ext cx="640080" cy="292608"/>
          </a:xfrm>
          <a:prstGeom prst="rect">
            <a:avLst/>
          </a:prstGeom>
          <a:noFill/>
          <a:ln/>
        </p:spPr>
        <p:txBody>
          <a:bodyPr wrap="square" lIns="0" tIns="0" rIns="0" bIns="0" rtlCol="0" anchor="ctr"/>
          <a:lstStyle/>
          <a:p>
            <a:pPr indent="0" marL="0">
              <a:buNone/>
            </a:pPr>
            <a:r>
              <a:rPr lang="en-US" sz="650" dirty="0">
                <a:solidFill>
                  <a:srgbClr val="0969DA"/>
                </a:solidFill>
                <a:latin typeface="Courier New" pitchFamily="34" charset="0"/>
                <a:ea typeface="Courier New" pitchFamily="34" charset="-122"/>
                <a:cs typeface="Courier New" pitchFamily="34" charset="-120"/>
              </a:rPr>
              <a:t>4d0a8f3</a:t>
            </a:r>
            <a:endParaRPr lang="en-US" sz="650" dirty="0"/>
          </a:p>
        </p:txBody>
      </p:sp>
      <p:sp>
        <p:nvSpPr>
          <p:cNvPr id="45" name="Shape 37"/>
          <p:cNvSpPr/>
          <p:nvPr/>
        </p:nvSpPr>
        <p:spPr>
          <a:xfrm>
            <a:off x="3984224" y="2765813"/>
            <a:ext cx="640080" cy="182880"/>
          </a:xfrm>
          <a:prstGeom prst="roundRect">
            <a:avLst>
              <a:gd name="adj" fmla="val 20000"/>
            </a:avLst>
          </a:prstGeom>
          <a:solidFill>
            <a:srgbClr val="F6F8FA"/>
          </a:solidFill>
          <a:ln w="6350">
            <a:solidFill>
              <a:srgbClr val="D0D7DE"/>
            </a:solidFill>
            <a:prstDash val="solid"/>
          </a:ln>
        </p:spPr>
      </p:sp>
      <p:sp>
        <p:nvSpPr>
          <p:cNvPr id="46" name="Text 38"/>
          <p:cNvSpPr txBox="1"/>
          <p:nvPr/>
        </p:nvSpPr>
        <p:spPr>
          <a:xfrm>
            <a:off x="3984224" y="2765813"/>
            <a:ext cx="640080" cy="182880"/>
          </a:xfrm>
          <a:prstGeom prst="rect">
            <a:avLst/>
          </a:prstGeom>
          <a:noFill/>
          <a:ln/>
        </p:spPr>
        <p:txBody>
          <a:bodyPr wrap="square" lIns="0" tIns="0" rIns="0" bIns="0" rtlCol="0" anchor="ctr"/>
          <a:lstStyle/>
          <a:p>
            <a:pPr algn="ctr" indent="0" marL="0">
              <a:buNone/>
            </a:pPr>
            <a:r>
              <a:rPr lang="en-US" sz="600" dirty="0">
                <a:solidFill>
                  <a:srgbClr val="1E2A26"/>
                </a:solidFill>
                <a:latin typeface="Calibri" pitchFamily="34" charset="0"/>
                <a:ea typeface="Calibri" pitchFamily="34" charset="-122"/>
                <a:cs typeface="Calibri" pitchFamily="34" charset="-120"/>
              </a:rPr>
              <a:t>Browse files</a:t>
            </a:r>
            <a:endParaRPr lang="en-US" sz="600" dirty="0"/>
          </a:p>
        </p:txBody>
      </p:sp>
      <p:sp>
        <p:nvSpPr>
          <p:cNvPr id="47" name="Shape 39"/>
          <p:cNvSpPr/>
          <p:nvPr/>
        </p:nvSpPr>
        <p:spPr>
          <a:xfrm>
            <a:off x="3956792" y="2738381"/>
            <a:ext cx="694944" cy="237744"/>
          </a:xfrm>
          <a:prstGeom prst="roundRect">
            <a:avLst>
              <a:gd name="adj" fmla="val 19231"/>
            </a:avLst>
          </a:prstGeom>
          <a:solidFill>
            <a:srgbClr val="FFFFFF">
              <a:alpha val="0"/>
            </a:srgbClr>
          </a:solidFill>
          <a:ln w="31750">
            <a:solidFill>
              <a:srgbClr val="E53935"/>
            </a:solidFill>
            <a:prstDash val="solid"/>
          </a:ln>
        </p:spPr>
      </p:sp>
      <p:sp>
        <p:nvSpPr>
          <p:cNvPr id="48" name="Shape 40"/>
          <p:cNvSpPr/>
          <p:nvPr/>
        </p:nvSpPr>
        <p:spPr>
          <a:xfrm>
            <a:off x="4514576" y="2601221"/>
            <a:ext cx="274320" cy="274320"/>
          </a:xfrm>
          <a:prstGeom prst="ellipse">
            <a:avLst/>
          </a:prstGeom>
          <a:solidFill>
            <a:srgbClr val="E53935"/>
          </a:solidFill>
          <a:ln w="12700">
            <a:solidFill>
              <a:srgbClr val="FFFFFF"/>
            </a:solidFill>
            <a:prstDash val="solid"/>
          </a:ln>
        </p:spPr>
      </p:sp>
      <p:sp>
        <p:nvSpPr>
          <p:cNvPr id="49" name="Text 41"/>
          <p:cNvSpPr txBox="1"/>
          <p:nvPr/>
        </p:nvSpPr>
        <p:spPr>
          <a:xfrm>
            <a:off x="4514576" y="26012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50" name="Image 6" descr="preencoded.png">    </p:cNvPr>
          <p:cNvPicPr>
            <a:picLocks noChangeAspect="1"/>
          </p:cNvPicPr>
          <p:nvPr/>
        </p:nvPicPr>
        <p:blipFill>
          <a:blip r:embed="rId7"/>
          <a:stretch>
            <a:fillRect/>
          </a:stretch>
        </p:blipFill>
        <p:spPr>
          <a:xfrm>
            <a:off x="4336268" y="2866397"/>
            <a:ext cx="237744" cy="237744"/>
          </a:xfrm>
          <a:prstGeom prst="rect">
            <a:avLst/>
          </a:prstGeom>
        </p:spPr>
      </p:pic>
      <p:sp>
        <p:nvSpPr>
          <p:cNvPr id="51" name="Text 4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2" name="Text 4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Latihan: lihat versi lama di GitHub</a:t>
            </a:r>
            <a:endParaRPr lang="en-US" sz="1800" dirty="0"/>
          </a:p>
        </p:txBody>
      </p:sp>
      <p:sp>
        <p:nvSpPr>
          <p:cNvPr id="53" name="Text 4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Commits › klik commit lama › Browse files. Itulah tampilan kode di versi itu. File lama bisa diunduh untuk dikembalikan.</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Rollback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Backend Proyek Kel3 - Apps Script</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script.google.com/...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182880" cy="182880"/>
          </a:xfrm>
          <a:prstGeom prst="rect">
            <a:avLst/>
          </a:prstGeom>
        </p:spPr>
      </p:pic>
      <p:sp>
        <p:nvSpPr>
          <p:cNvPr id="29" name="Text 21"/>
          <p:cNvSpPr txBox="1"/>
          <p:nvPr/>
        </p:nvSpPr>
        <p:spPr>
          <a:xfrm>
            <a:off x="935248" y="1695965"/>
            <a:ext cx="182880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Backend Proyek Kel3</a:t>
            </a:r>
            <a:endParaRPr lang="en-US" sz="850" dirty="0"/>
          </a:p>
        </p:txBody>
      </p:sp>
      <p:sp>
        <p:nvSpPr>
          <p:cNvPr id="30" name="Shape 22"/>
          <p:cNvSpPr/>
          <p:nvPr/>
        </p:nvSpPr>
        <p:spPr>
          <a:xfrm>
            <a:off x="4761464" y="1714253"/>
            <a:ext cx="658368" cy="201168"/>
          </a:xfrm>
          <a:prstGeom prst="roundRect">
            <a:avLst>
              <a:gd name="adj" fmla="val 18182"/>
            </a:avLst>
          </a:prstGeom>
          <a:solidFill>
            <a:srgbClr val="1A73E8"/>
          </a:solidFill>
          <a:ln w="12700">
            <a:solidFill>
              <a:srgbClr val="1A73E8"/>
            </a:solidFill>
            <a:prstDash val="solid"/>
          </a:ln>
        </p:spPr>
      </p:sp>
      <p:sp>
        <p:nvSpPr>
          <p:cNvPr id="31" name="Text 23"/>
          <p:cNvSpPr txBox="1"/>
          <p:nvPr/>
        </p:nvSpPr>
        <p:spPr>
          <a:xfrm>
            <a:off x="4761464" y="1714253"/>
            <a:ext cx="6583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Deploy ▾</a:t>
            </a:r>
            <a:endParaRPr lang="en-US" sz="750" dirty="0"/>
          </a:p>
        </p:txBody>
      </p:sp>
      <p:sp>
        <p:nvSpPr>
          <p:cNvPr id="32" name="Shape 24"/>
          <p:cNvSpPr/>
          <p:nvPr/>
        </p:nvSpPr>
        <p:spPr>
          <a:xfrm>
            <a:off x="587776" y="1970285"/>
            <a:ext cx="4950927" cy="219456"/>
          </a:xfrm>
          <a:prstGeom prst="rect">
            <a:avLst/>
          </a:prstGeom>
          <a:solidFill>
            <a:srgbClr val="F8F9FA"/>
          </a:solidFill>
          <a:ln w="12700">
            <a:solidFill>
              <a:srgbClr val="F8F9FA"/>
            </a:solidFill>
            <a:prstDash val="solid"/>
          </a:ln>
        </p:spPr>
      </p:sp>
      <p:pic>
        <p:nvPicPr>
          <p:cNvPr id="33" name="Image 6" descr="preencoded.png">    </p:cNvPr>
          <p:cNvPicPr>
            <a:picLocks noChangeAspect="1"/>
          </p:cNvPicPr>
          <p:nvPr/>
        </p:nvPicPr>
        <p:blipFill>
          <a:blip r:embed="rId7"/>
          <a:stretch>
            <a:fillRect/>
          </a:stretch>
        </p:blipFill>
        <p:spPr>
          <a:xfrm>
            <a:off x="1721632" y="2006861"/>
            <a:ext cx="137160" cy="137160"/>
          </a:xfrm>
          <a:prstGeom prst="rect">
            <a:avLst/>
          </a:prstGeom>
        </p:spPr>
      </p:pic>
      <p:sp>
        <p:nvSpPr>
          <p:cNvPr id="34" name="Text 25"/>
          <p:cNvSpPr txBox="1"/>
          <p:nvPr/>
        </p:nvSpPr>
        <p:spPr>
          <a:xfrm>
            <a:off x="1959376" y="1988573"/>
            <a:ext cx="41148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 Run</a:t>
            </a:r>
            <a:endParaRPr lang="en-US" sz="700" dirty="0"/>
          </a:p>
        </p:txBody>
      </p:sp>
      <p:sp>
        <p:nvSpPr>
          <p:cNvPr id="35" name="Text 26"/>
          <p:cNvSpPr txBox="1"/>
          <p:nvPr/>
        </p:nvSpPr>
        <p:spPr>
          <a:xfrm>
            <a:off x="2416576" y="1988573"/>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doGet ▾</a:t>
            </a:r>
            <a:endParaRPr lang="en-US" sz="700" dirty="0"/>
          </a:p>
        </p:txBody>
      </p:sp>
      <p:sp>
        <p:nvSpPr>
          <p:cNvPr id="36" name="Shape 27"/>
          <p:cNvSpPr/>
          <p:nvPr/>
        </p:nvSpPr>
        <p:spPr>
          <a:xfrm>
            <a:off x="587776" y="2208029"/>
            <a:ext cx="1005840" cy="1787355"/>
          </a:xfrm>
          <a:prstGeom prst="rect">
            <a:avLst/>
          </a:prstGeom>
          <a:solidFill>
            <a:srgbClr val="F8F9FA"/>
          </a:solidFill>
          <a:ln w="12700">
            <a:solidFill>
              <a:srgbClr val="F8F9FA"/>
            </a:solidFill>
            <a:prstDash val="solid"/>
          </a:ln>
        </p:spPr>
      </p:sp>
      <p:sp>
        <p:nvSpPr>
          <p:cNvPr id="37" name="Text 28"/>
          <p:cNvSpPr txBox="1"/>
          <p:nvPr/>
        </p:nvSpPr>
        <p:spPr>
          <a:xfrm>
            <a:off x="660928" y="2244605"/>
            <a:ext cx="914400" cy="146304"/>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Files  +</a:t>
            </a:r>
            <a:endParaRPr lang="en-US" sz="650" dirty="0"/>
          </a:p>
        </p:txBody>
      </p:sp>
      <p:sp>
        <p:nvSpPr>
          <p:cNvPr id="38" name="Shape 29"/>
          <p:cNvSpPr/>
          <p:nvPr/>
        </p:nvSpPr>
        <p:spPr>
          <a:xfrm>
            <a:off x="633496" y="2436629"/>
            <a:ext cx="914400" cy="182880"/>
          </a:xfrm>
          <a:prstGeom prst="roundRect">
            <a:avLst>
              <a:gd name="adj" fmla="val 15000"/>
            </a:avLst>
          </a:prstGeom>
          <a:solidFill>
            <a:srgbClr val="E8F0FE"/>
          </a:solidFill>
          <a:ln w="12700">
            <a:solidFill>
              <a:srgbClr val="E8F0FE"/>
            </a:solidFill>
            <a:prstDash val="solid"/>
          </a:ln>
        </p:spPr>
      </p:sp>
      <p:sp>
        <p:nvSpPr>
          <p:cNvPr id="39" name="Text 30"/>
          <p:cNvSpPr txBox="1"/>
          <p:nvPr/>
        </p:nvSpPr>
        <p:spPr>
          <a:xfrm>
            <a:off x="706648" y="2436629"/>
            <a:ext cx="91440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Code.gs</a:t>
            </a:r>
            <a:endParaRPr lang="en-US" sz="700" dirty="0"/>
          </a:p>
        </p:txBody>
      </p:sp>
      <p:sp>
        <p:nvSpPr>
          <p:cNvPr id="40" name="Shape 31"/>
          <p:cNvSpPr/>
          <p:nvPr/>
        </p:nvSpPr>
        <p:spPr>
          <a:xfrm>
            <a:off x="1611904" y="2226317"/>
            <a:ext cx="3908511" cy="1750779"/>
          </a:xfrm>
          <a:prstGeom prst="rect">
            <a:avLst/>
          </a:prstGeom>
          <a:solidFill>
            <a:srgbClr val="FFFFFF"/>
          </a:solidFill>
          <a:ln w="12700">
            <a:solidFill>
              <a:srgbClr val="FFFFFF"/>
            </a:solidFill>
            <a:prstDash val="solid"/>
          </a:ln>
        </p:spPr>
      </p:sp>
      <p:sp>
        <p:nvSpPr>
          <p:cNvPr id="41" name="Text 32"/>
          <p:cNvSpPr txBox="1"/>
          <p:nvPr/>
        </p:nvSpPr>
        <p:spPr>
          <a:xfrm>
            <a:off x="1611904" y="2253749"/>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1</a:t>
            </a:r>
            <a:endParaRPr lang="en-US" sz="550" dirty="0"/>
          </a:p>
        </p:txBody>
      </p:sp>
      <p:sp>
        <p:nvSpPr>
          <p:cNvPr id="42" name="Text 33"/>
          <p:cNvSpPr txBox="1"/>
          <p:nvPr/>
        </p:nvSpPr>
        <p:spPr>
          <a:xfrm>
            <a:off x="1904512" y="2253749"/>
            <a:ext cx="3588471" cy="155448"/>
          </a:xfrm>
          <a:prstGeom prst="rect">
            <a:avLst/>
          </a:prstGeom>
          <a:noFill/>
          <a:ln/>
        </p:spPr>
        <p:txBody>
          <a:bodyPr wrap="square" lIns="0" tIns="0" rIns="0" bIns="0" rtlCol="0" anchor="ctr"/>
          <a:lstStyle/>
          <a:p>
            <a:pPr indent="0" marL="0">
              <a:buNone/>
            </a:pPr>
            <a:r>
              <a:rPr lang="en-US" sz="748" dirty="0">
                <a:solidFill>
                  <a:srgbClr val="1A5FB4"/>
                </a:solidFill>
                <a:latin typeface="Courier New" pitchFamily="34" charset="0"/>
                <a:ea typeface="Courier New" pitchFamily="34" charset="-122"/>
                <a:cs typeface="Courier New" pitchFamily="34" charset="-120"/>
              </a:rPr>
              <a:t>function doPost(e) {</a:t>
            </a:r>
            <a:endParaRPr lang="en-US" sz="748" dirty="0"/>
          </a:p>
        </p:txBody>
      </p:sp>
      <p:sp>
        <p:nvSpPr>
          <p:cNvPr id="43" name="Text 34"/>
          <p:cNvSpPr txBox="1"/>
          <p:nvPr/>
        </p:nvSpPr>
        <p:spPr>
          <a:xfrm>
            <a:off x="1611904" y="2409197"/>
            <a:ext cx="201168" cy="155448"/>
          </a:xfrm>
          <a:prstGeom prst="rect">
            <a:avLst/>
          </a:prstGeom>
          <a:noFill/>
          <a:ln/>
        </p:spPr>
        <p:txBody>
          <a:bodyPr wrap="square" lIns="0" tIns="0" rIns="0" bIns="0" rtlCol="0" anchor="ctr"/>
          <a:lstStyle/>
          <a:p>
            <a:pPr algn="r" indent="0" marL="0">
              <a:buNone/>
            </a:pPr>
            <a:r>
              <a:rPr lang="en-US" sz="550" dirty="0">
                <a:solidFill>
                  <a:srgbClr val="999999"/>
                </a:solidFill>
                <a:latin typeface="Courier New" pitchFamily="34" charset="0"/>
                <a:ea typeface="Courier New" pitchFamily="34" charset="-122"/>
                <a:cs typeface="Courier New" pitchFamily="34" charset="-120"/>
              </a:rPr>
              <a:t>2</a:t>
            </a:r>
            <a:endParaRPr lang="en-US" sz="550" dirty="0"/>
          </a:p>
        </p:txBody>
      </p:sp>
      <p:sp>
        <p:nvSpPr>
          <p:cNvPr id="44" name="Text 35"/>
          <p:cNvSpPr txBox="1"/>
          <p:nvPr/>
        </p:nvSpPr>
        <p:spPr>
          <a:xfrm>
            <a:off x="1904512" y="2409197"/>
            <a:ext cx="3588471" cy="155448"/>
          </a:xfrm>
          <a:prstGeom prst="rect">
            <a:avLst/>
          </a:prstGeom>
          <a:noFill/>
          <a:ln/>
        </p:spPr>
        <p:txBody>
          <a:bodyPr wrap="square" lIns="0" tIns="0" rIns="0" bIns="0" rtlCol="0" anchor="ctr"/>
          <a:lstStyle/>
          <a:p>
            <a:pPr indent="0" marL="0">
              <a:buNone/>
            </a:pPr>
            <a:r>
              <a:rPr lang="en-US" sz="748" dirty="0">
                <a:solidFill>
                  <a:srgbClr val="222222"/>
                </a:solidFill>
                <a:latin typeface="Courier New" pitchFamily="34" charset="0"/>
                <a:ea typeface="Courier New" pitchFamily="34" charset="-122"/>
                <a:cs typeface="Courier New" pitchFamily="34" charset="-120"/>
              </a:rPr>
              <a:t>  ...</a:t>
            </a:r>
            <a:endParaRPr lang="en-US" sz="748" dirty="0"/>
          </a:p>
        </p:txBody>
      </p:sp>
      <p:sp>
        <p:nvSpPr>
          <p:cNvPr id="45" name="Shape 36"/>
          <p:cNvSpPr/>
          <p:nvPr/>
        </p:nvSpPr>
        <p:spPr>
          <a:xfrm>
            <a:off x="1691640" y="1814837"/>
            <a:ext cx="2743200" cy="1828800"/>
          </a:xfrm>
          <a:prstGeom prst="roundRect">
            <a:avLst>
              <a:gd name="adj" fmla="val 2500"/>
            </a:avLst>
          </a:prstGeom>
          <a:solidFill>
            <a:srgbClr val="FFFFFF"/>
          </a:solidFill>
          <a:ln w="9525">
            <a:solidFill>
              <a:srgbClr val="AAAAAA"/>
            </a:solidFill>
            <a:prstDash val="solid"/>
          </a:ln>
        </p:spPr>
      </p:sp>
      <p:sp>
        <p:nvSpPr>
          <p:cNvPr id="46" name="Text 37"/>
          <p:cNvSpPr txBox="1"/>
          <p:nvPr/>
        </p:nvSpPr>
        <p:spPr>
          <a:xfrm>
            <a:off x="1801368" y="1869701"/>
            <a:ext cx="1828800" cy="201168"/>
          </a:xfrm>
          <a:prstGeom prst="rect">
            <a:avLst/>
          </a:prstGeom>
          <a:noFill/>
          <a:ln/>
        </p:spPr>
        <p:txBody>
          <a:bodyPr wrap="square" lIns="0" tIns="0" rIns="0" bIns="0" rtlCol="0" anchor="t"/>
          <a:lstStyle/>
          <a:p>
            <a:pPr indent="0" marL="0">
              <a:buNone/>
            </a:pPr>
            <a:r>
              <a:rPr lang="en-US" sz="1000" dirty="0">
                <a:solidFill>
                  <a:srgbClr val="1E2A26"/>
                </a:solidFill>
                <a:latin typeface="Calibri" pitchFamily="34" charset="0"/>
                <a:ea typeface="Calibri" pitchFamily="34" charset="-122"/>
                <a:cs typeface="Calibri" pitchFamily="34" charset="-120"/>
              </a:rPr>
              <a:t>New deployment</a:t>
            </a:r>
            <a:endParaRPr lang="en-US" sz="1000" dirty="0"/>
          </a:p>
        </p:txBody>
      </p:sp>
      <p:sp>
        <p:nvSpPr>
          <p:cNvPr id="47" name="Shape 38"/>
          <p:cNvSpPr/>
          <p:nvPr/>
        </p:nvSpPr>
        <p:spPr>
          <a:xfrm>
            <a:off x="1801368" y="2134877"/>
            <a:ext cx="1097280" cy="201168"/>
          </a:xfrm>
          <a:prstGeom prst="roundRect">
            <a:avLst>
              <a:gd name="adj" fmla="val 13636"/>
            </a:avLst>
          </a:prstGeom>
          <a:solidFill>
            <a:srgbClr val="F1F3F4"/>
          </a:solidFill>
          <a:ln w="12700">
            <a:solidFill>
              <a:srgbClr val="F1F3F4"/>
            </a:solidFill>
            <a:prstDash val="solid"/>
          </a:ln>
        </p:spPr>
      </p:sp>
      <p:sp>
        <p:nvSpPr>
          <p:cNvPr id="48" name="Text 39"/>
          <p:cNvSpPr txBox="1"/>
          <p:nvPr/>
        </p:nvSpPr>
        <p:spPr>
          <a:xfrm>
            <a:off x="1847088" y="2134877"/>
            <a:ext cx="1371600" cy="20116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 Select type: Web app</a:t>
            </a:r>
            <a:endParaRPr lang="en-US" sz="650" dirty="0"/>
          </a:p>
        </p:txBody>
      </p:sp>
      <p:sp>
        <p:nvSpPr>
          <p:cNvPr id="49" name="Text 40"/>
          <p:cNvSpPr txBox="1"/>
          <p:nvPr/>
        </p:nvSpPr>
        <p:spPr>
          <a:xfrm>
            <a:off x="1828800" y="2436629"/>
            <a:ext cx="914400"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Description</a:t>
            </a:r>
            <a:endParaRPr lang="en-US" sz="650" dirty="0"/>
          </a:p>
        </p:txBody>
      </p:sp>
      <p:sp>
        <p:nvSpPr>
          <p:cNvPr id="50" name="Shape 41"/>
          <p:cNvSpPr/>
          <p:nvPr/>
        </p:nvSpPr>
        <p:spPr>
          <a:xfrm>
            <a:off x="2788920" y="2436629"/>
            <a:ext cx="1463040" cy="219456"/>
          </a:xfrm>
          <a:prstGeom prst="rect">
            <a:avLst/>
          </a:prstGeom>
          <a:solidFill>
            <a:srgbClr val="FFFFFF"/>
          </a:solidFill>
          <a:ln w="6350">
            <a:solidFill>
              <a:srgbClr val="999999"/>
            </a:solidFill>
            <a:prstDash val="solid"/>
          </a:ln>
        </p:spPr>
      </p:sp>
      <p:sp>
        <p:nvSpPr>
          <p:cNvPr id="51" name="Text 42"/>
          <p:cNvSpPr txBox="1"/>
          <p:nvPr/>
        </p:nvSpPr>
        <p:spPr>
          <a:xfrm>
            <a:off x="2834640" y="2436629"/>
            <a:ext cx="1463040"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Versi 1</a:t>
            </a:r>
            <a:endParaRPr lang="en-US" sz="650" dirty="0"/>
          </a:p>
        </p:txBody>
      </p:sp>
      <p:sp>
        <p:nvSpPr>
          <p:cNvPr id="52" name="Text 43"/>
          <p:cNvSpPr txBox="1"/>
          <p:nvPr/>
        </p:nvSpPr>
        <p:spPr>
          <a:xfrm>
            <a:off x="1828800" y="2710949"/>
            <a:ext cx="914400"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Execute as</a:t>
            </a:r>
            <a:endParaRPr lang="en-US" sz="650" dirty="0"/>
          </a:p>
        </p:txBody>
      </p:sp>
      <p:sp>
        <p:nvSpPr>
          <p:cNvPr id="53" name="Shape 44"/>
          <p:cNvSpPr/>
          <p:nvPr/>
        </p:nvSpPr>
        <p:spPr>
          <a:xfrm>
            <a:off x="2788920" y="2710949"/>
            <a:ext cx="1463040" cy="219456"/>
          </a:xfrm>
          <a:prstGeom prst="rect">
            <a:avLst/>
          </a:prstGeom>
          <a:solidFill>
            <a:srgbClr val="FFFFFF"/>
          </a:solidFill>
          <a:ln w="6350">
            <a:solidFill>
              <a:srgbClr val="999999"/>
            </a:solidFill>
            <a:prstDash val="solid"/>
          </a:ln>
        </p:spPr>
      </p:sp>
      <p:sp>
        <p:nvSpPr>
          <p:cNvPr id="54" name="Text 45"/>
          <p:cNvSpPr txBox="1"/>
          <p:nvPr/>
        </p:nvSpPr>
        <p:spPr>
          <a:xfrm>
            <a:off x="2834640" y="2710949"/>
            <a:ext cx="1463040"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Me ▾</a:t>
            </a:r>
            <a:endParaRPr lang="en-US" sz="650" dirty="0"/>
          </a:p>
        </p:txBody>
      </p:sp>
      <p:sp>
        <p:nvSpPr>
          <p:cNvPr id="55" name="Text 46"/>
          <p:cNvSpPr txBox="1"/>
          <p:nvPr/>
        </p:nvSpPr>
        <p:spPr>
          <a:xfrm>
            <a:off x="1828800" y="2985269"/>
            <a:ext cx="914400"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Who has access</a:t>
            </a:r>
            <a:endParaRPr lang="en-US" sz="650" dirty="0"/>
          </a:p>
        </p:txBody>
      </p:sp>
      <p:sp>
        <p:nvSpPr>
          <p:cNvPr id="56" name="Shape 47"/>
          <p:cNvSpPr/>
          <p:nvPr/>
        </p:nvSpPr>
        <p:spPr>
          <a:xfrm>
            <a:off x="2788920" y="2985269"/>
            <a:ext cx="1463040" cy="219456"/>
          </a:xfrm>
          <a:prstGeom prst="rect">
            <a:avLst/>
          </a:prstGeom>
          <a:solidFill>
            <a:srgbClr val="FFFFFF"/>
          </a:solidFill>
          <a:ln w="6350">
            <a:solidFill>
              <a:srgbClr val="999999"/>
            </a:solidFill>
            <a:prstDash val="solid"/>
          </a:ln>
        </p:spPr>
      </p:sp>
      <p:sp>
        <p:nvSpPr>
          <p:cNvPr id="57" name="Text 48"/>
          <p:cNvSpPr txBox="1"/>
          <p:nvPr/>
        </p:nvSpPr>
        <p:spPr>
          <a:xfrm>
            <a:off x="2834640" y="2985269"/>
            <a:ext cx="1463040"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Anyone ▾</a:t>
            </a:r>
            <a:endParaRPr lang="en-US" sz="650" dirty="0"/>
          </a:p>
        </p:txBody>
      </p:sp>
      <p:sp>
        <p:nvSpPr>
          <p:cNvPr id="58" name="Shape 49"/>
          <p:cNvSpPr/>
          <p:nvPr/>
        </p:nvSpPr>
        <p:spPr>
          <a:xfrm>
            <a:off x="3749040" y="3351029"/>
            <a:ext cx="566928" cy="201168"/>
          </a:xfrm>
          <a:prstGeom prst="roundRect">
            <a:avLst>
              <a:gd name="adj" fmla="val 18182"/>
            </a:avLst>
          </a:prstGeom>
          <a:solidFill>
            <a:srgbClr val="1A73E8"/>
          </a:solidFill>
          <a:ln w="12700">
            <a:solidFill>
              <a:srgbClr val="1A73E8"/>
            </a:solidFill>
            <a:prstDash val="solid"/>
          </a:ln>
        </p:spPr>
      </p:sp>
      <p:sp>
        <p:nvSpPr>
          <p:cNvPr id="59" name="Text 50"/>
          <p:cNvSpPr txBox="1"/>
          <p:nvPr/>
        </p:nvSpPr>
        <p:spPr>
          <a:xfrm>
            <a:off x="3749040" y="3351029"/>
            <a:ext cx="56692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Deploy</a:t>
            </a:r>
            <a:endParaRPr lang="en-US" sz="700" dirty="0"/>
          </a:p>
        </p:txBody>
      </p:sp>
      <p:sp>
        <p:nvSpPr>
          <p:cNvPr id="60" name="Shape 51"/>
          <p:cNvSpPr/>
          <p:nvPr/>
        </p:nvSpPr>
        <p:spPr>
          <a:xfrm>
            <a:off x="2788920" y="2436629"/>
            <a:ext cx="1463040" cy="219456"/>
          </a:xfrm>
          <a:prstGeom prst="rect">
            <a:avLst/>
          </a:prstGeom>
          <a:solidFill>
            <a:srgbClr val="FFFFFF"/>
          </a:solidFill>
          <a:ln w="12700">
            <a:solidFill>
              <a:srgbClr val="1A73E8"/>
            </a:solidFill>
            <a:prstDash val="solid"/>
          </a:ln>
        </p:spPr>
      </p:sp>
      <p:sp>
        <p:nvSpPr>
          <p:cNvPr id="61" name="Text 52"/>
          <p:cNvSpPr txBox="1"/>
          <p:nvPr/>
        </p:nvSpPr>
        <p:spPr>
          <a:xfrm>
            <a:off x="2834640" y="2436629"/>
            <a:ext cx="1463040" cy="219456"/>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Version 2 (Versi 3 web) ▾</a:t>
            </a:r>
            <a:endParaRPr lang="en-US" sz="650" dirty="0"/>
          </a:p>
        </p:txBody>
      </p:sp>
      <p:sp>
        <p:nvSpPr>
          <p:cNvPr id="62" name="Shape 53"/>
          <p:cNvSpPr/>
          <p:nvPr/>
        </p:nvSpPr>
        <p:spPr>
          <a:xfrm>
            <a:off x="2770632" y="2418341"/>
            <a:ext cx="1499616" cy="256032"/>
          </a:xfrm>
          <a:prstGeom prst="roundRect">
            <a:avLst>
              <a:gd name="adj" fmla="val 17857"/>
            </a:avLst>
          </a:prstGeom>
          <a:solidFill>
            <a:srgbClr val="FFFFFF">
              <a:alpha val="0"/>
            </a:srgbClr>
          </a:solidFill>
          <a:ln w="31750">
            <a:solidFill>
              <a:srgbClr val="E53935"/>
            </a:solidFill>
            <a:prstDash val="solid"/>
          </a:ln>
        </p:spPr>
      </p:sp>
      <p:sp>
        <p:nvSpPr>
          <p:cNvPr id="63" name="Shape 54"/>
          <p:cNvSpPr/>
          <p:nvPr/>
        </p:nvSpPr>
        <p:spPr>
          <a:xfrm>
            <a:off x="4133088" y="2281181"/>
            <a:ext cx="274320" cy="274320"/>
          </a:xfrm>
          <a:prstGeom prst="ellipse">
            <a:avLst/>
          </a:prstGeom>
          <a:solidFill>
            <a:srgbClr val="E53935"/>
          </a:solidFill>
          <a:ln w="12700">
            <a:solidFill>
              <a:srgbClr val="FFFFFF"/>
            </a:solidFill>
            <a:prstDash val="solid"/>
          </a:ln>
        </p:spPr>
      </p:sp>
      <p:sp>
        <p:nvSpPr>
          <p:cNvPr id="64" name="Text 55"/>
          <p:cNvSpPr txBox="1"/>
          <p:nvPr/>
        </p:nvSpPr>
        <p:spPr>
          <a:xfrm>
            <a:off x="4133088" y="228118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65" name="Image 7" descr="preencoded.png">    </p:cNvPr>
          <p:cNvPicPr>
            <a:picLocks noChangeAspect="1"/>
          </p:cNvPicPr>
          <p:nvPr/>
        </p:nvPicPr>
        <p:blipFill>
          <a:blip r:embed="rId8"/>
          <a:stretch>
            <a:fillRect/>
          </a:stretch>
        </p:blipFill>
        <p:spPr>
          <a:xfrm>
            <a:off x="3593592" y="2557330"/>
            <a:ext cx="237744" cy="237744"/>
          </a:xfrm>
          <a:prstGeom prst="rect">
            <a:avLst/>
          </a:prstGeom>
        </p:spPr>
      </p:pic>
      <p:sp>
        <p:nvSpPr>
          <p:cNvPr id="66" name="Text 5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67" name="Text 5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Latihan: pilih versi lama Apps Script</a:t>
            </a:r>
            <a:endParaRPr lang="en-US" sz="1800" dirty="0"/>
          </a:p>
        </p:txBody>
      </p:sp>
      <p:sp>
        <p:nvSpPr>
          <p:cNvPr id="68" name="Text 5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Deploy › Manage deployments › pensil › Version: pilih versi sebelumnya › Deploy. (Lakukan bersama guru, lalu kembalikan.)</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32</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Kelompok mengumpulkan:</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Formulir Laporkan Masalah tanpa data pribadi, ditautkan di footer aplikasi.</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Folder Cadangan: .xlsx data, zip kode rilis, Code.gs.</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Langkah melihat versi lama di GitHub (ditulis).</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Langkah memilih versi lama Apps Script (ditulis).</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Formulir laporan masalah tersambung</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Cadangan Sheets dibuat</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melihat versi lama di GitHub</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memilih versi lama Apps Script</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cadangan harus dibuat sebelum masalah terjadi?</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Siapa yang bertanggung jawab merawat aplikasimu?</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Bersiap sebelum musibah adalah ikhtiar; bertawakal setelah berikhtiar.</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Aplikasi Online Siap Pakai.</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33</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Aplikasi Online Siap Pakai</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panduan pengguna, uji akhir, dan serah terima</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11: Deployment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aplikasimu diberikan kepada orang yang tidak mengenal kalian, apakah ia bisa langsung memakainya?</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33</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Menulis panduan pengguna singkat</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Menguji aplikasi di beberapa perangkat sebelum diserahkan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Mempresentasikan aplikasi siap pakai beserta rencana perawatannya</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Panduan Pengguna Singkat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Untuk Apa?</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Satu kalimat tujuan aplikasi dan siapa penggunanya.</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Cara Pakai</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3–5 langkah bernomor untuk tugas utama, bahasa sederhana.</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Pertanyaan Umum</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"Kode santri saya apa?" "Data saya disimpan di mana?"</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Jika Ada Masalah</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Tautan Laporkan Masalah dan nama pembina.</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Menyelesaikan Aplikasi Siap Pakai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11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Panduan pengguna</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Uji multi-perangkat dan QR</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Rilis dan presentasi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Panduan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Panduan_Pengguna_Kel3 -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Panduan_Pengguna_Kel3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Cara Memakai Setoran Harian</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Aplikasi mencatat setoran hafalan (data latihan).</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1. Ketik kode santri, contoh S001.</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2. Isi surat dan jumlah ayat, tekan Simpan.</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3. Tekan Cek Total untuk melihat capaian pekan ini.</a:t>
            </a:r>
            <a:endParaRPr lang="en-US" sz="800" dirty="0"/>
          </a:p>
        </p:txBody>
      </p:sp>
      <p:sp>
        <p:nvSpPr>
          <p:cNvPr id="74" name="Text 63"/>
          <p:cNvSpPr txBox="1"/>
          <p:nvPr/>
        </p:nvSpPr>
        <p:spPr>
          <a:xfrm>
            <a:off x="1554480" y="364909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Ada masalah? Tekan "Laporkan Masalah" di bawah.</a:t>
            </a:r>
            <a:endParaRPr lang="en-US" sz="800" dirty="0"/>
          </a:p>
        </p:txBody>
      </p:sp>
      <p:sp>
        <p:nvSpPr>
          <p:cNvPr id="75" name="Shape 64"/>
          <p:cNvSpPr/>
          <p:nvPr/>
        </p:nvSpPr>
        <p:spPr>
          <a:xfrm>
            <a:off x="1261872" y="2427485"/>
            <a:ext cx="3602736" cy="1586187"/>
          </a:xfrm>
          <a:prstGeom prst="roundRect">
            <a:avLst>
              <a:gd name="adj" fmla="val 2882"/>
            </a:avLst>
          </a:prstGeom>
          <a:solidFill>
            <a:srgbClr val="FFFFFF">
              <a:alpha val="0"/>
            </a:srgbClr>
          </a:solidFill>
          <a:ln w="31750">
            <a:solidFill>
              <a:srgbClr val="E53935"/>
            </a:solidFill>
            <a:prstDash val="solid"/>
          </a:ln>
        </p:spPr>
      </p:sp>
      <p:sp>
        <p:nvSpPr>
          <p:cNvPr id="76" name="Shape 65"/>
          <p:cNvSpPr/>
          <p:nvPr/>
        </p:nvSpPr>
        <p:spPr>
          <a:xfrm>
            <a:off x="4727448" y="2290325"/>
            <a:ext cx="274320" cy="274320"/>
          </a:xfrm>
          <a:prstGeom prst="ellipse">
            <a:avLst/>
          </a:prstGeom>
          <a:solidFill>
            <a:srgbClr val="E53935"/>
          </a:solidFill>
          <a:ln w="12700">
            <a:solidFill>
              <a:srgbClr val="FFFFFF"/>
            </a:solidFill>
            <a:prstDash val="solid"/>
          </a:ln>
        </p:spPr>
      </p:sp>
      <p:sp>
        <p:nvSpPr>
          <p:cNvPr id="77" name="Text 66"/>
          <p:cNvSpPr txBox="1"/>
          <p:nvPr/>
        </p:nvSpPr>
        <p:spPr>
          <a:xfrm>
            <a:off x="4727448" y="22903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8"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79"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panduan pengguna</a:t>
            </a:r>
            <a:endParaRPr lang="en-US" sz="1800" dirty="0"/>
          </a:p>
        </p:txBody>
      </p:sp>
      <p:sp>
        <p:nvSpPr>
          <p:cNvPr id="80"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Docs: Untuk apa, Cara pakai (3–5 langkah), Pertanyaan umum (2–3), Jika ada masalah.</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Panduan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Cara Pakai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https://santri-wu-kel3.github.io/setoran-harian/cara-pakai.html</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411480"/>
          </a:xfrm>
          <a:prstGeom prst="rect">
            <a:avLst/>
          </a:prstGeom>
          <a:solidFill>
            <a:srgbClr val="0F4C3A"/>
          </a:solidFill>
          <a:ln w="12700">
            <a:solidFill>
              <a:srgbClr val="0F4C3A"/>
            </a:solidFill>
            <a:prstDash val="solid"/>
          </a:ln>
        </p:spPr>
      </p:sp>
      <p:sp>
        <p:nvSpPr>
          <p:cNvPr id="31" name="Text 24"/>
          <p:cNvSpPr txBox="1"/>
          <p:nvPr/>
        </p:nvSpPr>
        <p:spPr>
          <a:xfrm>
            <a:off x="606064" y="1695965"/>
            <a:ext cx="4914351"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Cara Memakai Setoran Harian</a:t>
            </a:r>
            <a:endParaRPr lang="en-US" sz="1100" dirty="0"/>
          </a:p>
        </p:txBody>
      </p:sp>
      <p:sp>
        <p:nvSpPr>
          <p:cNvPr id="32" name="Text 25"/>
          <p:cNvSpPr txBox="1"/>
          <p:nvPr/>
        </p:nvSpPr>
        <p:spPr>
          <a:xfrm>
            <a:off x="880384" y="2244605"/>
            <a:ext cx="4365711" cy="1280160"/>
          </a:xfrm>
          <a:prstGeom prst="rect">
            <a:avLst/>
          </a:prstGeom>
          <a:noFill/>
          <a:ln/>
        </p:spPr>
        <p:txBody>
          <a:bodyPr wrap="square" lIns="0" tIns="0" rIns="0" bIns="0" rtlCol="0" anchor="t"/>
          <a:lstStyle/>
          <a:p>
            <a:pPr indent="0" marL="0">
              <a:buNone/>
            </a:pPr>
            <a:r>
              <a:rPr lang="en-US" sz="900" dirty="0">
                <a:solidFill>
                  <a:srgbClr val="1E2A26"/>
                </a:solidFill>
                <a:latin typeface="Arial" pitchFamily="34" charset="0"/>
                <a:ea typeface="Arial" pitchFamily="34" charset="-122"/>
                <a:cs typeface="Arial" pitchFamily="34" charset="-120"/>
              </a:rPr>
              <a:t>1. Ketik kode santri, contoh S001.</a:t>
            </a:r>
            <a:endParaRPr lang="en-US" sz="900" dirty="0"/>
          </a:p>
          <a:p>
            <a:pPr indent="0" marL="0">
              <a:buNone/>
            </a:pPr>
            <a:r>
              <a:rPr lang="en-US" sz="900" dirty="0">
                <a:solidFill>
                  <a:srgbClr val="1E2A26"/>
                </a:solidFill>
                <a:latin typeface="Arial" pitchFamily="34" charset="0"/>
                <a:ea typeface="Arial" pitchFamily="34" charset="-122"/>
                <a:cs typeface="Arial" pitchFamily="34" charset="-120"/>
              </a:rPr>
              <a:t>2. Isi surat dan jumlah ayat, tekan Simpan.</a:t>
            </a:r>
            <a:endParaRPr lang="en-US" sz="900" dirty="0"/>
          </a:p>
          <a:p>
            <a:pPr indent="0" marL="0">
              <a:buNone/>
            </a:pPr>
            <a:r>
              <a:rPr lang="en-US" sz="900" dirty="0">
                <a:solidFill>
                  <a:srgbClr val="1E2A26"/>
                </a:solidFill>
                <a:latin typeface="Arial" pitchFamily="34" charset="0"/>
                <a:ea typeface="Arial" pitchFamily="34" charset="-122"/>
                <a:cs typeface="Arial" pitchFamily="34" charset="-120"/>
              </a:rPr>
              <a:t>3. Tekan Cek Total untuk melihat capaian pekan ini.</a:t>
            </a:r>
            <a:endParaRPr lang="en-US" sz="900" dirty="0"/>
          </a:p>
          <a:p>
            <a:pPr indent="0" marL="0">
              <a:buNone/>
            </a:pPr>
            <a:endParaRPr lang="en-US" sz="900" dirty="0"/>
          </a:p>
          <a:p>
            <a:pPr indent="0" marL="0">
              <a:buNone/>
            </a:pPr>
            <a:r>
              <a:rPr lang="en-US" sz="900" dirty="0">
                <a:solidFill>
                  <a:srgbClr val="1E2A26"/>
                </a:solidFill>
                <a:latin typeface="Arial" pitchFamily="34" charset="0"/>
                <a:ea typeface="Arial" pitchFamily="34" charset="-122"/>
                <a:cs typeface="Arial" pitchFamily="34" charset="-120"/>
              </a:rPr>
              <a:t>Ada masalah? Tekan "Laporkan Masalah".</a:t>
            </a:r>
            <a:endParaRPr lang="en-US" sz="900" dirty="0"/>
          </a:p>
        </p:txBody>
      </p:sp>
      <p:sp>
        <p:nvSpPr>
          <p:cNvPr id="33" name="Shape 26"/>
          <p:cNvSpPr/>
          <p:nvPr/>
        </p:nvSpPr>
        <p:spPr>
          <a:xfrm>
            <a:off x="770656" y="2180597"/>
            <a:ext cx="4585167" cy="1408176"/>
          </a:xfrm>
          <a:prstGeom prst="roundRect">
            <a:avLst>
              <a:gd name="adj" fmla="val 3247"/>
            </a:avLst>
          </a:prstGeom>
          <a:solidFill>
            <a:srgbClr val="FFFFFF">
              <a:alpha val="0"/>
            </a:srgbClr>
          </a:solidFill>
          <a:ln w="31750">
            <a:solidFill>
              <a:srgbClr val="E53935"/>
            </a:solidFill>
            <a:prstDash val="solid"/>
          </a:ln>
        </p:spPr>
      </p:sp>
      <p:sp>
        <p:nvSpPr>
          <p:cNvPr id="34" name="Shape 27"/>
          <p:cNvSpPr/>
          <p:nvPr/>
        </p:nvSpPr>
        <p:spPr>
          <a:xfrm>
            <a:off x="5218664" y="2043437"/>
            <a:ext cx="274320" cy="274320"/>
          </a:xfrm>
          <a:prstGeom prst="ellipse">
            <a:avLst/>
          </a:prstGeom>
          <a:solidFill>
            <a:srgbClr val="E53935"/>
          </a:solidFill>
          <a:ln w="12700">
            <a:solidFill>
              <a:srgbClr val="FFFFFF"/>
            </a:solidFill>
            <a:prstDash val="solid"/>
          </a:ln>
        </p:spPr>
      </p:sp>
      <p:sp>
        <p:nvSpPr>
          <p:cNvPr id="35" name="Text 28"/>
          <p:cNvSpPr txBox="1"/>
          <p:nvPr/>
        </p:nvSpPr>
        <p:spPr>
          <a:xfrm>
            <a:off x="5218664" y="20434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36" name="Image 5" descr="preencoded.png">    </p:cNvPr>
          <p:cNvPicPr>
            <a:picLocks noChangeAspect="1"/>
          </p:cNvPicPr>
          <p:nvPr/>
        </p:nvPicPr>
        <p:blipFill>
          <a:blip r:embed="rId6"/>
          <a:stretch>
            <a:fillRect/>
          </a:stretch>
        </p:blipFill>
        <p:spPr>
          <a:xfrm>
            <a:off x="3290670" y="2953265"/>
            <a:ext cx="237744" cy="237744"/>
          </a:xfrm>
          <a:prstGeom prst="rect">
            <a:avLst/>
          </a:prstGeom>
        </p:spPr>
      </p:pic>
      <p:sp>
        <p:nvSpPr>
          <p:cNvPr id="37" name="Text 2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38" name="Text 3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Tambahkan halaman/bagian Cara Pakai di aplikasi</a:t>
            </a:r>
            <a:endParaRPr lang="en-US" sz="1800" dirty="0"/>
          </a:p>
        </p:txBody>
      </p:sp>
      <p:sp>
        <p:nvSpPr>
          <p:cNvPr id="39" name="Text 3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Buat cara-pakai.html atau bagian yang bisa dibuka/ditutup. Tautkan dari footer. Perbarui README.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 Akhir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Rilis_v1_Kel3 -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Rilis_v1_Kel3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Uji Multi-Perangkat</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Perangkat</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Browser</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Hasil</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HP Android A</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Chrome</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Lulus</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HP Android B</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Browser bawaan</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Lulus</a:t>
            </a:r>
            <a:endParaRPr lang="en-US" sz="650" dirty="0"/>
          </a:p>
        </p:txBody>
      </p:sp>
      <p:sp>
        <p:nvSpPr>
          <p:cNvPr id="88" name="Shape 77"/>
          <p:cNvSpPr/>
          <p:nvPr/>
        </p:nvSpPr>
        <p:spPr>
          <a:xfrm>
            <a:off x="1554480" y="3425578"/>
            <a:ext cx="1005840" cy="182880"/>
          </a:xfrm>
          <a:prstGeom prst="rect">
            <a:avLst/>
          </a:prstGeom>
          <a:solidFill>
            <a:srgbClr val="FFFFFF"/>
          </a:solidFill>
          <a:ln w="6350">
            <a:solidFill>
              <a:srgbClr val="777777"/>
            </a:solidFill>
            <a:prstDash val="solid"/>
          </a:ln>
        </p:spPr>
      </p:sp>
      <p:sp>
        <p:nvSpPr>
          <p:cNvPr id="89" name="Text 78"/>
          <p:cNvSpPr txBox="1"/>
          <p:nvPr/>
        </p:nvSpPr>
        <p:spPr>
          <a:xfrm>
            <a:off x="158191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Laptop</a:t>
            </a:r>
            <a:endParaRPr lang="en-US" sz="650" dirty="0"/>
          </a:p>
        </p:txBody>
      </p:sp>
      <p:sp>
        <p:nvSpPr>
          <p:cNvPr id="90" name="Shape 79"/>
          <p:cNvSpPr/>
          <p:nvPr/>
        </p:nvSpPr>
        <p:spPr>
          <a:xfrm>
            <a:off x="2560320" y="3425578"/>
            <a:ext cx="1005840" cy="182880"/>
          </a:xfrm>
          <a:prstGeom prst="rect">
            <a:avLst/>
          </a:prstGeom>
          <a:solidFill>
            <a:srgbClr val="FFFFFF"/>
          </a:solidFill>
          <a:ln w="6350">
            <a:solidFill>
              <a:srgbClr val="777777"/>
            </a:solidFill>
            <a:prstDash val="solid"/>
          </a:ln>
        </p:spPr>
      </p:sp>
      <p:sp>
        <p:nvSpPr>
          <p:cNvPr id="91" name="Text 80"/>
          <p:cNvSpPr txBox="1"/>
          <p:nvPr/>
        </p:nvSpPr>
        <p:spPr>
          <a:xfrm>
            <a:off x="258775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Edge</a:t>
            </a:r>
            <a:endParaRPr lang="en-US" sz="650" dirty="0"/>
          </a:p>
        </p:txBody>
      </p:sp>
      <p:sp>
        <p:nvSpPr>
          <p:cNvPr id="92" name="Shape 81"/>
          <p:cNvSpPr/>
          <p:nvPr/>
        </p:nvSpPr>
        <p:spPr>
          <a:xfrm>
            <a:off x="3566160" y="3425578"/>
            <a:ext cx="1005840" cy="182880"/>
          </a:xfrm>
          <a:prstGeom prst="rect">
            <a:avLst/>
          </a:prstGeom>
          <a:solidFill>
            <a:srgbClr val="FFFFFF"/>
          </a:solidFill>
          <a:ln w="6350">
            <a:solidFill>
              <a:srgbClr val="777777"/>
            </a:solidFill>
            <a:prstDash val="solid"/>
          </a:ln>
        </p:spPr>
      </p:sp>
      <p:sp>
        <p:nvSpPr>
          <p:cNvPr id="93" name="Text 82"/>
          <p:cNvSpPr txBox="1"/>
          <p:nvPr/>
        </p:nvSpPr>
        <p:spPr>
          <a:xfrm>
            <a:off x="359359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Lulus</a:t>
            </a:r>
            <a:endParaRPr lang="en-US" sz="650" dirty="0"/>
          </a:p>
        </p:txBody>
      </p:sp>
      <p:sp>
        <p:nvSpPr>
          <p:cNvPr id="94" name="Shape 83"/>
          <p:cNvSpPr/>
          <p:nvPr/>
        </p:nvSpPr>
        <p:spPr>
          <a:xfrm>
            <a:off x="1527048" y="2849506"/>
            <a:ext cx="3072384" cy="786384"/>
          </a:xfrm>
          <a:prstGeom prst="roundRect">
            <a:avLst>
              <a:gd name="adj" fmla="val 5814"/>
            </a:avLst>
          </a:prstGeom>
          <a:solidFill>
            <a:srgbClr val="FFFFFF">
              <a:alpha val="0"/>
            </a:srgbClr>
          </a:solidFill>
          <a:ln w="31750">
            <a:solidFill>
              <a:srgbClr val="E53935"/>
            </a:solidFill>
            <a:prstDash val="solid"/>
          </a:ln>
        </p:spPr>
      </p:sp>
      <p:sp>
        <p:nvSpPr>
          <p:cNvPr id="95" name="Shape 84"/>
          <p:cNvSpPr/>
          <p:nvPr/>
        </p:nvSpPr>
        <p:spPr>
          <a:xfrm>
            <a:off x="4462272" y="2712346"/>
            <a:ext cx="274320" cy="274320"/>
          </a:xfrm>
          <a:prstGeom prst="ellipse">
            <a:avLst/>
          </a:prstGeom>
          <a:solidFill>
            <a:srgbClr val="E53935"/>
          </a:solidFill>
          <a:ln w="12700">
            <a:solidFill>
              <a:srgbClr val="FFFFFF"/>
            </a:solidFill>
            <a:prstDash val="solid"/>
          </a:ln>
        </p:spPr>
      </p:sp>
      <p:sp>
        <p:nvSpPr>
          <p:cNvPr id="96" name="Text 8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97" name="Image 9" descr="preencoded.png">    </p:cNvPr>
          <p:cNvPicPr>
            <a:picLocks noChangeAspect="1"/>
          </p:cNvPicPr>
          <p:nvPr/>
        </p:nvPicPr>
        <p:blipFill>
          <a:blip r:embed="rId10"/>
          <a:stretch>
            <a:fillRect/>
          </a:stretch>
        </p:blipFill>
        <p:spPr>
          <a:xfrm>
            <a:off x="3214116" y="3279274"/>
            <a:ext cx="237744" cy="237744"/>
          </a:xfrm>
          <a:prstGeom prst="rect">
            <a:avLst/>
          </a:prstGeom>
        </p:spPr>
      </p:pic>
      <p:sp>
        <p:nvSpPr>
          <p:cNvPr id="98" name="Text 8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99" name="Text 8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di minimal 3 perangkat</a:t>
            </a:r>
            <a:endParaRPr lang="en-US" sz="1800" dirty="0"/>
          </a:p>
        </p:txBody>
      </p:sp>
      <p:sp>
        <p:nvSpPr>
          <p:cNvPr id="100" name="Text 8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HP Android, HP lain/tablet, dan komputer. Jalankan tugas utama. Catat: perangkat, browser, hasil.</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Uji Akhir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1600200" y="1051560"/>
            <a:ext cx="2926080" cy="3611880"/>
          </a:xfrm>
          <a:prstGeom prst="rect">
            <a:avLst/>
          </a:prstGeom>
          <a:solidFill>
            <a:srgbClr val="FFFFFF"/>
          </a:solidFill>
          <a:ln w="12700">
            <a:solidFill>
              <a:srgbClr val="999999"/>
            </a:solidFill>
            <a:prstDash val="solid"/>
          </a:ln>
        </p:spPr>
      </p:sp>
      <p:sp>
        <p:nvSpPr>
          <p:cNvPr id="10" name="Shape 6"/>
          <p:cNvSpPr/>
          <p:nvPr/>
        </p:nvSpPr>
        <p:spPr>
          <a:xfrm>
            <a:off x="1600200" y="1051560"/>
            <a:ext cx="2926080" cy="548640"/>
          </a:xfrm>
          <a:prstGeom prst="rect">
            <a:avLst/>
          </a:prstGeom>
          <a:solidFill>
            <a:srgbClr val="0F4C3A"/>
          </a:solidFill>
          <a:ln w="12700">
            <a:solidFill>
              <a:srgbClr val="0F4C3A"/>
            </a:solidFill>
            <a:prstDash val="solid"/>
          </a:ln>
        </p:spPr>
      </p:sp>
      <p:pic>
        <p:nvPicPr>
          <p:cNvPr id="11" name="Image 2" descr="/home/claude/logo.png">    </p:cNvPr>
          <p:cNvPicPr>
            <a:picLocks noChangeAspect="1"/>
          </p:cNvPicPr>
          <p:nvPr/>
        </p:nvPicPr>
        <p:blipFill>
          <a:blip r:embed="rId3"/>
          <a:stretch>
            <a:fillRect/>
          </a:stretch>
        </p:blipFill>
        <p:spPr>
          <a:xfrm>
            <a:off x="1673352" y="1124712"/>
            <a:ext cx="402336" cy="402336"/>
          </a:xfrm>
          <a:prstGeom prst="rect">
            <a:avLst/>
          </a:prstGeom>
        </p:spPr>
      </p:pic>
      <p:sp>
        <p:nvSpPr>
          <p:cNvPr id="12" name="Text 7"/>
          <p:cNvSpPr txBox="1"/>
          <p:nvPr/>
        </p:nvSpPr>
        <p:spPr>
          <a:xfrm>
            <a:off x="2148840" y="1097280"/>
            <a:ext cx="2286000" cy="4572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Setoran Harian v1.0</a:t>
            </a:r>
            <a:endParaRPr lang="en-US" sz="1200" dirty="0"/>
          </a:p>
        </p:txBody>
      </p:sp>
      <p:sp>
        <p:nvSpPr>
          <p:cNvPr id="13" name="Shape 8"/>
          <p:cNvSpPr/>
          <p:nvPr/>
        </p:nvSpPr>
        <p:spPr>
          <a:xfrm>
            <a:off x="2423160" y="1783080"/>
            <a:ext cx="1280160" cy="1280160"/>
          </a:xfrm>
          <a:prstGeom prst="rect">
            <a:avLst/>
          </a:prstGeom>
          <a:solidFill>
            <a:srgbClr val="FFFFFF"/>
          </a:solidFill>
          <a:ln w="12700">
            <a:solidFill>
              <a:srgbClr val="FFFFFF"/>
            </a:solidFill>
            <a:prstDash val="solid"/>
          </a:ln>
        </p:spPr>
      </p:sp>
      <p:sp>
        <p:nvSpPr>
          <p:cNvPr id="14" name="Shape 9"/>
          <p:cNvSpPr/>
          <p:nvPr/>
        </p:nvSpPr>
        <p:spPr>
          <a:xfrm>
            <a:off x="2423160" y="1783080"/>
            <a:ext cx="182880" cy="182880"/>
          </a:xfrm>
          <a:prstGeom prst="rect">
            <a:avLst/>
          </a:prstGeom>
          <a:solidFill>
            <a:srgbClr val="111111"/>
          </a:solidFill>
          <a:ln w="12700">
            <a:solidFill>
              <a:srgbClr val="111111"/>
            </a:solidFill>
            <a:prstDash val="solid"/>
          </a:ln>
        </p:spPr>
      </p:sp>
      <p:sp>
        <p:nvSpPr>
          <p:cNvPr id="15" name="Shape 10"/>
          <p:cNvSpPr/>
          <p:nvPr/>
        </p:nvSpPr>
        <p:spPr>
          <a:xfrm>
            <a:off x="2606040" y="1783080"/>
            <a:ext cx="182880" cy="182880"/>
          </a:xfrm>
          <a:prstGeom prst="rect">
            <a:avLst/>
          </a:prstGeom>
          <a:solidFill>
            <a:srgbClr val="111111"/>
          </a:solidFill>
          <a:ln w="12700">
            <a:solidFill>
              <a:srgbClr val="111111"/>
            </a:solidFill>
            <a:prstDash val="solid"/>
          </a:ln>
        </p:spPr>
      </p:sp>
      <p:sp>
        <p:nvSpPr>
          <p:cNvPr id="16" name="Shape 11"/>
          <p:cNvSpPr/>
          <p:nvPr/>
        </p:nvSpPr>
        <p:spPr>
          <a:xfrm>
            <a:off x="2788920" y="1783080"/>
            <a:ext cx="182880" cy="182880"/>
          </a:xfrm>
          <a:prstGeom prst="rect">
            <a:avLst/>
          </a:prstGeom>
          <a:solidFill>
            <a:srgbClr val="111111"/>
          </a:solidFill>
          <a:ln w="12700">
            <a:solidFill>
              <a:srgbClr val="111111"/>
            </a:solidFill>
            <a:prstDash val="solid"/>
          </a:ln>
        </p:spPr>
      </p:sp>
      <p:sp>
        <p:nvSpPr>
          <p:cNvPr id="17" name="Shape 12"/>
          <p:cNvSpPr/>
          <p:nvPr/>
        </p:nvSpPr>
        <p:spPr>
          <a:xfrm>
            <a:off x="3154680" y="1783080"/>
            <a:ext cx="182880" cy="182880"/>
          </a:xfrm>
          <a:prstGeom prst="rect">
            <a:avLst/>
          </a:prstGeom>
          <a:solidFill>
            <a:srgbClr val="111111"/>
          </a:solidFill>
          <a:ln w="12700">
            <a:solidFill>
              <a:srgbClr val="111111"/>
            </a:solidFill>
            <a:prstDash val="solid"/>
          </a:ln>
        </p:spPr>
      </p:sp>
      <p:sp>
        <p:nvSpPr>
          <p:cNvPr id="18" name="Shape 13"/>
          <p:cNvSpPr/>
          <p:nvPr/>
        </p:nvSpPr>
        <p:spPr>
          <a:xfrm>
            <a:off x="3337560" y="1783080"/>
            <a:ext cx="182880" cy="182880"/>
          </a:xfrm>
          <a:prstGeom prst="rect">
            <a:avLst/>
          </a:prstGeom>
          <a:solidFill>
            <a:srgbClr val="111111"/>
          </a:solidFill>
          <a:ln w="12700">
            <a:solidFill>
              <a:srgbClr val="111111"/>
            </a:solidFill>
            <a:prstDash val="solid"/>
          </a:ln>
        </p:spPr>
      </p:sp>
      <p:sp>
        <p:nvSpPr>
          <p:cNvPr id="19" name="Shape 14"/>
          <p:cNvSpPr/>
          <p:nvPr/>
        </p:nvSpPr>
        <p:spPr>
          <a:xfrm>
            <a:off x="3520440" y="1783080"/>
            <a:ext cx="182880" cy="182880"/>
          </a:xfrm>
          <a:prstGeom prst="rect">
            <a:avLst/>
          </a:prstGeom>
          <a:solidFill>
            <a:srgbClr val="111111"/>
          </a:solidFill>
          <a:ln w="12700">
            <a:solidFill>
              <a:srgbClr val="111111"/>
            </a:solidFill>
            <a:prstDash val="solid"/>
          </a:ln>
        </p:spPr>
      </p:sp>
      <p:sp>
        <p:nvSpPr>
          <p:cNvPr id="20" name="Shape 15"/>
          <p:cNvSpPr/>
          <p:nvPr/>
        </p:nvSpPr>
        <p:spPr>
          <a:xfrm>
            <a:off x="2423160" y="1965960"/>
            <a:ext cx="182880" cy="182880"/>
          </a:xfrm>
          <a:prstGeom prst="rect">
            <a:avLst/>
          </a:prstGeom>
          <a:solidFill>
            <a:srgbClr val="111111"/>
          </a:solidFill>
          <a:ln w="12700">
            <a:solidFill>
              <a:srgbClr val="111111"/>
            </a:solidFill>
            <a:prstDash val="solid"/>
          </a:ln>
        </p:spPr>
      </p:sp>
      <p:sp>
        <p:nvSpPr>
          <p:cNvPr id="21" name="Shape 16"/>
          <p:cNvSpPr/>
          <p:nvPr/>
        </p:nvSpPr>
        <p:spPr>
          <a:xfrm>
            <a:off x="2788920" y="1965960"/>
            <a:ext cx="182880" cy="182880"/>
          </a:xfrm>
          <a:prstGeom prst="rect">
            <a:avLst/>
          </a:prstGeom>
          <a:solidFill>
            <a:srgbClr val="111111"/>
          </a:solidFill>
          <a:ln w="12700">
            <a:solidFill>
              <a:srgbClr val="111111"/>
            </a:solidFill>
            <a:prstDash val="solid"/>
          </a:ln>
        </p:spPr>
      </p:sp>
      <p:sp>
        <p:nvSpPr>
          <p:cNvPr id="22" name="Shape 17"/>
          <p:cNvSpPr/>
          <p:nvPr/>
        </p:nvSpPr>
        <p:spPr>
          <a:xfrm>
            <a:off x="3154680" y="1965960"/>
            <a:ext cx="182880" cy="182880"/>
          </a:xfrm>
          <a:prstGeom prst="rect">
            <a:avLst/>
          </a:prstGeom>
          <a:solidFill>
            <a:srgbClr val="111111"/>
          </a:solidFill>
          <a:ln w="12700">
            <a:solidFill>
              <a:srgbClr val="111111"/>
            </a:solidFill>
            <a:prstDash val="solid"/>
          </a:ln>
        </p:spPr>
      </p:sp>
      <p:sp>
        <p:nvSpPr>
          <p:cNvPr id="23" name="Shape 18"/>
          <p:cNvSpPr/>
          <p:nvPr/>
        </p:nvSpPr>
        <p:spPr>
          <a:xfrm>
            <a:off x="3520440" y="1965960"/>
            <a:ext cx="182880" cy="182880"/>
          </a:xfrm>
          <a:prstGeom prst="rect">
            <a:avLst/>
          </a:prstGeom>
          <a:solidFill>
            <a:srgbClr val="111111"/>
          </a:solidFill>
          <a:ln w="12700">
            <a:solidFill>
              <a:srgbClr val="111111"/>
            </a:solidFill>
            <a:prstDash val="solid"/>
          </a:ln>
        </p:spPr>
      </p:sp>
      <p:sp>
        <p:nvSpPr>
          <p:cNvPr id="24" name="Shape 19"/>
          <p:cNvSpPr/>
          <p:nvPr/>
        </p:nvSpPr>
        <p:spPr>
          <a:xfrm>
            <a:off x="2423160" y="2148840"/>
            <a:ext cx="182880" cy="182880"/>
          </a:xfrm>
          <a:prstGeom prst="rect">
            <a:avLst/>
          </a:prstGeom>
          <a:solidFill>
            <a:srgbClr val="111111"/>
          </a:solidFill>
          <a:ln w="12700">
            <a:solidFill>
              <a:srgbClr val="111111"/>
            </a:solidFill>
            <a:prstDash val="solid"/>
          </a:ln>
        </p:spPr>
      </p:sp>
      <p:sp>
        <p:nvSpPr>
          <p:cNvPr id="25" name="Shape 20"/>
          <p:cNvSpPr/>
          <p:nvPr/>
        </p:nvSpPr>
        <p:spPr>
          <a:xfrm>
            <a:off x="2606040" y="2148840"/>
            <a:ext cx="182880" cy="182880"/>
          </a:xfrm>
          <a:prstGeom prst="rect">
            <a:avLst/>
          </a:prstGeom>
          <a:solidFill>
            <a:srgbClr val="111111"/>
          </a:solidFill>
          <a:ln w="12700">
            <a:solidFill>
              <a:srgbClr val="111111"/>
            </a:solidFill>
            <a:prstDash val="solid"/>
          </a:ln>
        </p:spPr>
      </p:sp>
      <p:sp>
        <p:nvSpPr>
          <p:cNvPr id="26" name="Shape 21"/>
          <p:cNvSpPr/>
          <p:nvPr/>
        </p:nvSpPr>
        <p:spPr>
          <a:xfrm>
            <a:off x="2788920" y="2148840"/>
            <a:ext cx="182880" cy="182880"/>
          </a:xfrm>
          <a:prstGeom prst="rect">
            <a:avLst/>
          </a:prstGeom>
          <a:solidFill>
            <a:srgbClr val="111111"/>
          </a:solidFill>
          <a:ln w="12700">
            <a:solidFill>
              <a:srgbClr val="111111"/>
            </a:solidFill>
            <a:prstDash val="solid"/>
          </a:ln>
        </p:spPr>
      </p:sp>
      <p:sp>
        <p:nvSpPr>
          <p:cNvPr id="27" name="Shape 22"/>
          <p:cNvSpPr/>
          <p:nvPr/>
        </p:nvSpPr>
        <p:spPr>
          <a:xfrm>
            <a:off x="3154680" y="2148840"/>
            <a:ext cx="182880" cy="182880"/>
          </a:xfrm>
          <a:prstGeom prst="rect">
            <a:avLst/>
          </a:prstGeom>
          <a:solidFill>
            <a:srgbClr val="111111"/>
          </a:solidFill>
          <a:ln w="12700">
            <a:solidFill>
              <a:srgbClr val="111111"/>
            </a:solidFill>
            <a:prstDash val="solid"/>
          </a:ln>
        </p:spPr>
      </p:sp>
      <p:sp>
        <p:nvSpPr>
          <p:cNvPr id="28" name="Shape 23"/>
          <p:cNvSpPr/>
          <p:nvPr/>
        </p:nvSpPr>
        <p:spPr>
          <a:xfrm>
            <a:off x="3337560" y="2148840"/>
            <a:ext cx="182880" cy="182880"/>
          </a:xfrm>
          <a:prstGeom prst="rect">
            <a:avLst/>
          </a:prstGeom>
          <a:solidFill>
            <a:srgbClr val="111111"/>
          </a:solidFill>
          <a:ln w="12700">
            <a:solidFill>
              <a:srgbClr val="111111"/>
            </a:solidFill>
            <a:prstDash val="solid"/>
          </a:ln>
        </p:spPr>
      </p:sp>
      <p:sp>
        <p:nvSpPr>
          <p:cNvPr id="29" name="Shape 24"/>
          <p:cNvSpPr/>
          <p:nvPr/>
        </p:nvSpPr>
        <p:spPr>
          <a:xfrm>
            <a:off x="3520440" y="2148840"/>
            <a:ext cx="182880" cy="182880"/>
          </a:xfrm>
          <a:prstGeom prst="rect">
            <a:avLst/>
          </a:prstGeom>
          <a:solidFill>
            <a:srgbClr val="111111"/>
          </a:solidFill>
          <a:ln w="12700">
            <a:solidFill>
              <a:srgbClr val="111111"/>
            </a:solidFill>
            <a:prstDash val="solid"/>
          </a:ln>
        </p:spPr>
      </p:sp>
      <p:sp>
        <p:nvSpPr>
          <p:cNvPr id="30" name="Shape 25"/>
          <p:cNvSpPr/>
          <p:nvPr/>
        </p:nvSpPr>
        <p:spPr>
          <a:xfrm>
            <a:off x="2971800" y="2331720"/>
            <a:ext cx="182880" cy="182880"/>
          </a:xfrm>
          <a:prstGeom prst="rect">
            <a:avLst/>
          </a:prstGeom>
          <a:solidFill>
            <a:srgbClr val="111111"/>
          </a:solidFill>
          <a:ln w="12700">
            <a:solidFill>
              <a:srgbClr val="111111"/>
            </a:solidFill>
            <a:prstDash val="solid"/>
          </a:ln>
        </p:spPr>
      </p:sp>
      <p:sp>
        <p:nvSpPr>
          <p:cNvPr id="31" name="Shape 26"/>
          <p:cNvSpPr/>
          <p:nvPr/>
        </p:nvSpPr>
        <p:spPr>
          <a:xfrm>
            <a:off x="2423160" y="2514600"/>
            <a:ext cx="182880" cy="182880"/>
          </a:xfrm>
          <a:prstGeom prst="rect">
            <a:avLst/>
          </a:prstGeom>
          <a:solidFill>
            <a:srgbClr val="111111"/>
          </a:solidFill>
          <a:ln w="12700">
            <a:solidFill>
              <a:srgbClr val="111111"/>
            </a:solidFill>
            <a:prstDash val="solid"/>
          </a:ln>
        </p:spPr>
      </p:sp>
      <p:sp>
        <p:nvSpPr>
          <p:cNvPr id="32" name="Shape 27"/>
          <p:cNvSpPr/>
          <p:nvPr/>
        </p:nvSpPr>
        <p:spPr>
          <a:xfrm>
            <a:off x="2788920" y="2514600"/>
            <a:ext cx="182880" cy="182880"/>
          </a:xfrm>
          <a:prstGeom prst="rect">
            <a:avLst/>
          </a:prstGeom>
          <a:solidFill>
            <a:srgbClr val="111111"/>
          </a:solidFill>
          <a:ln w="12700">
            <a:solidFill>
              <a:srgbClr val="111111"/>
            </a:solidFill>
            <a:prstDash val="solid"/>
          </a:ln>
        </p:spPr>
      </p:sp>
      <p:sp>
        <p:nvSpPr>
          <p:cNvPr id="33" name="Shape 28"/>
          <p:cNvSpPr/>
          <p:nvPr/>
        </p:nvSpPr>
        <p:spPr>
          <a:xfrm>
            <a:off x="2971800" y="2514600"/>
            <a:ext cx="182880" cy="182880"/>
          </a:xfrm>
          <a:prstGeom prst="rect">
            <a:avLst/>
          </a:prstGeom>
          <a:solidFill>
            <a:srgbClr val="111111"/>
          </a:solidFill>
          <a:ln w="12700">
            <a:solidFill>
              <a:srgbClr val="111111"/>
            </a:solidFill>
            <a:prstDash val="solid"/>
          </a:ln>
        </p:spPr>
      </p:sp>
      <p:sp>
        <p:nvSpPr>
          <p:cNvPr id="34" name="Shape 29"/>
          <p:cNvSpPr/>
          <p:nvPr/>
        </p:nvSpPr>
        <p:spPr>
          <a:xfrm>
            <a:off x="3337560" y="2514600"/>
            <a:ext cx="182880" cy="182880"/>
          </a:xfrm>
          <a:prstGeom prst="rect">
            <a:avLst/>
          </a:prstGeom>
          <a:solidFill>
            <a:srgbClr val="111111"/>
          </a:solidFill>
          <a:ln w="12700">
            <a:solidFill>
              <a:srgbClr val="111111"/>
            </a:solidFill>
            <a:prstDash val="solid"/>
          </a:ln>
        </p:spPr>
      </p:sp>
      <p:sp>
        <p:nvSpPr>
          <p:cNvPr id="35" name="Shape 30"/>
          <p:cNvSpPr/>
          <p:nvPr/>
        </p:nvSpPr>
        <p:spPr>
          <a:xfrm>
            <a:off x="3520440" y="2514600"/>
            <a:ext cx="182880" cy="182880"/>
          </a:xfrm>
          <a:prstGeom prst="rect">
            <a:avLst/>
          </a:prstGeom>
          <a:solidFill>
            <a:srgbClr val="111111"/>
          </a:solidFill>
          <a:ln w="12700">
            <a:solidFill>
              <a:srgbClr val="111111"/>
            </a:solidFill>
            <a:prstDash val="solid"/>
          </a:ln>
        </p:spPr>
      </p:sp>
      <p:sp>
        <p:nvSpPr>
          <p:cNvPr id="36" name="Shape 31"/>
          <p:cNvSpPr/>
          <p:nvPr/>
        </p:nvSpPr>
        <p:spPr>
          <a:xfrm>
            <a:off x="2606040" y="2697480"/>
            <a:ext cx="182880" cy="182880"/>
          </a:xfrm>
          <a:prstGeom prst="rect">
            <a:avLst/>
          </a:prstGeom>
          <a:solidFill>
            <a:srgbClr val="111111"/>
          </a:solidFill>
          <a:ln w="12700">
            <a:solidFill>
              <a:srgbClr val="111111"/>
            </a:solidFill>
            <a:prstDash val="solid"/>
          </a:ln>
        </p:spPr>
      </p:sp>
      <p:sp>
        <p:nvSpPr>
          <p:cNvPr id="37" name="Shape 32"/>
          <p:cNvSpPr/>
          <p:nvPr/>
        </p:nvSpPr>
        <p:spPr>
          <a:xfrm>
            <a:off x="3154680" y="2697480"/>
            <a:ext cx="182880" cy="182880"/>
          </a:xfrm>
          <a:prstGeom prst="rect">
            <a:avLst/>
          </a:prstGeom>
          <a:solidFill>
            <a:srgbClr val="111111"/>
          </a:solidFill>
          <a:ln w="12700">
            <a:solidFill>
              <a:srgbClr val="111111"/>
            </a:solidFill>
            <a:prstDash val="solid"/>
          </a:ln>
        </p:spPr>
      </p:sp>
      <p:sp>
        <p:nvSpPr>
          <p:cNvPr id="38" name="Shape 33"/>
          <p:cNvSpPr/>
          <p:nvPr/>
        </p:nvSpPr>
        <p:spPr>
          <a:xfrm>
            <a:off x="3337560" y="2697480"/>
            <a:ext cx="182880" cy="182880"/>
          </a:xfrm>
          <a:prstGeom prst="rect">
            <a:avLst/>
          </a:prstGeom>
          <a:solidFill>
            <a:srgbClr val="111111"/>
          </a:solidFill>
          <a:ln w="12700">
            <a:solidFill>
              <a:srgbClr val="111111"/>
            </a:solidFill>
            <a:prstDash val="solid"/>
          </a:ln>
        </p:spPr>
      </p:sp>
      <p:sp>
        <p:nvSpPr>
          <p:cNvPr id="39" name="Shape 34"/>
          <p:cNvSpPr/>
          <p:nvPr/>
        </p:nvSpPr>
        <p:spPr>
          <a:xfrm>
            <a:off x="2423160" y="2880360"/>
            <a:ext cx="182880" cy="182880"/>
          </a:xfrm>
          <a:prstGeom prst="rect">
            <a:avLst/>
          </a:prstGeom>
          <a:solidFill>
            <a:srgbClr val="111111"/>
          </a:solidFill>
          <a:ln w="12700">
            <a:solidFill>
              <a:srgbClr val="111111"/>
            </a:solidFill>
            <a:prstDash val="solid"/>
          </a:ln>
        </p:spPr>
      </p:sp>
      <p:sp>
        <p:nvSpPr>
          <p:cNvPr id="40" name="Shape 35"/>
          <p:cNvSpPr/>
          <p:nvPr/>
        </p:nvSpPr>
        <p:spPr>
          <a:xfrm>
            <a:off x="2606040" y="2880360"/>
            <a:ext cx="182880" cy="182880"/>
          </a:xfrm>
          <a:prstGeom prst="rect">
            <a:avLst/>
          </a:prstGeom>
          <a:solidFill>
            <a:srgbClr val="111111"/>
          </a:solidFill>
          <a:ln w="12700">
            <a:solidFill>
              <a:srgbClr val="111111"/>
            </a:solidFill>
            <a:prstDash val="solid"/>
          </a:ln>
        </p:spPr>
      </p:sp>
      <p:sp>
        <p:nvSpPr>
          <p:cNvPr id="41" name="Shape 36"/>
          <p:cNvSpPr/>
          <p:nvPr/>
        </p:nvSpPr>
        <p:spPr>
          <a:xfrm>
            <a:off x="2788920" y="2880360"/>
            <a:ext cx="182880" cy="182880"/>
          </a:xfrm>
          <a:prstGeom prst="rect">
            <a:avLst/>
          </a:prstGeom>
          <a:solidFill>
            <a:srgbClr val="111111"/>
          </a:solidFill>
          <a:ln w="12700">
            <a:solidFill>
              <a:srgbClr val="111111"/>
            </a:solidFill>
            <a:prstDash val="solid"/>
          </a:ln>
        </p:spPr>
      </p:sp>
      <p:sp>
        <p:nvSpPr>
          <p:cNvPr id="42" name="Shape 37"/>
          <p:cNvSpPr/>
          <p:nvPr/>
        </p:nvSpPr>
        <p:spPr>
          <a:xfrm>
            <a:off x="3154680" y="2880360"/>
            <a:ext cx="182880" cy="182880"/>
          </a:xfrm>
          <a:prstGeom prst="rect">
            <a:avLst/>
          </a:prstGeom>
          <a:solidFill>
            <a:srgbClr val="111111"/>
          </a:solidFill>
          <a:ln w="12700">
            <a:solidFill>
              <a:srgbClr val="111111"/>
            </a:solidFill>
            <a:prstDash val="solid"/>
          </a:ln>
        </p:spPr>
      </p:sp>
      <p:sp>
        <p:nvSpPr>
          <p:cNvPr id="43" name="Shape 38"/>
          <p:cNvSpPr/>
          <p:nvPr/>
        </p:nvSpPr>
        <p:spPr>
          <a:xfrm>
            <a:off x="3520440" y="2880360"/>
            <a:ext cx="182880" cy="182880"/>
          </a:xfrm>
          <a:prstGeom prst="rect">
            <a:avLst/>
          </a:prstGeom>
          <a:solidFill>
            <a:srgbClr val="111111"/>
          </a:solidFill>
          <a:ln w="12700">
            <a:solidFill>
              <a:srgbClr val="111111"/>
            </a:solidFill>
            <a:prstDash val="solid"/>
          </a:ln>
        </p:spPr>
      </p:sp>
      <p:sp>
        <p:nvSpPr>
          <p:cNvPr id="44" name="Text 39"/>
          <p:cNvSpPr txBox="1"/>
          <p:nvPr/>
        </p:nvSpPr>
        <p:spPr>
          <a:xfrm>
            <a:off x="1691640" y="3200400"/>
            <a:ext cx="2743200" cy="320040"/>
          </a:xfrm>
          <a:prstGeom prst="rect">
            <a:avLst/>
          </a:prstGeom>
          <a:noFill/>
          <a:ln/>
        </p:spPr>
        <p:txBody>
          <a:bodyPr wrap="square" lIns="0" tIns="0" rIns="0" bIns="0" rtlCol="0" anchor="t"/>
          <a:lstStyle/>
          <a:p>
            <a:pPr algn="ctr" indent="0" marL="0">
              <a:buNone/>
            </a:pPr>
            <a:r>
              <a:rPr lang="en-US" sz="1050" b="1" dirty="0">
                <a:solidFill>
                  <a:srgbClr val="1E2A26"/>
                </a:solidFill>
                <a:latin typeface="Arial" pitchFamily="34" charset="0"/>
                <a:ea typeface="Arial" pitchFamily="34" charset="-122"/>
                <a:cs typeface="Arial" pitchFamily="34" charset="-120"/>
              </a:rPr>
              <a:t>1. Pindai  2. Ketik kode  3. Simpan</a:t>
            </a:r>
            <a:endParaRPr lang="en-US" sz="1050" dirty="0"/>
          </a:p>
        </p:txBody>
      </p:sp>
      <p:sp>
        <p:nvSpPr>
          <p:cNvPr id="45" name="Text 40"/>
          <p:cNvSpPr txBox="1"/>
          <p:nvPr/>
        </p:nvSpPr>
        <p:spPr>
          <a:xfrm>
            <a:off x="1691640" y="3566160"/>
            <a:ext cx="2743200" cy="274320"/>
          </a:xfrm>
          <a:prstGeom prst="rect">
            <a:avLst/>
          </a:prstGeom>
          <a:noFill/>
          <a:ln/>
        </p:spPr>
        <p:txBody>
          <a:bodyPr wrap="square" lIns="0" tIns="0" rIns="0" bIns="0" rtlCol="0" anchor="t"/>
          <a:lstStyle/>
          <a:p>
            <a:pPr algn="ctr" indent="0" marL="0">
              <a:buNone/>
            </a:pPr>
            <a:r>
              <a:rPr lang="en-US" sz="900" dirty="0">
                <a:solidFill>
                  <a:srgbClr val="5F6F68"/>
                </a:solidFill>
                <a:latin typeface="Arial" pitchFamily="34" charset="0"/>
                <a:ea typeface="Arial" pitchFamily="34" charset="-122"/>
                <a:cs typeface="Arial" pitchFamily="34" charset="-120"/>
              </a:rPr>
              <a:t>Kelompok 3 · Kelas 9A · data latihan</a:t>
            </a:r>
            <a:endParaRPr lang="en-US" sz="900" dirty="0"/>
          </a:p>
        </p:txBody>
      </p:sp>
      <p:sp>
        <p:nvSpPr>
          <p:cNvPr id="46" name="Shape 41"/>
          <p:cNvSpPr/>
          <p:nvPr/>
        </p:nvSpPr>
        <p:spPr>
          <a:xfrm>
            <a:off x="1536192" y="987552"/>
            <a:ext cx="3054096" cy="3739896"/>
          </a:xfrm>
          <a:prstGeom prst="roundRect">
            <a:avLst>
              <a:gd name="adj" fmla="val 1497"/>
            </a:avLst>
          </a:prstGeom>
          <a:solidFill>
            <a:srgbClr val="FFFFFF">
              <a:alpha val="0"/>
            </a:srgbClr>
          </a:solidFill>
          <a:ln w="31750">
            <a:solidFill>
              <a:srgbClr val="E53935"/>
            </a:solidFill>
            <a:prstDash val="solid"/>
          </a:ln>
        </p:spPr>
      </p:sp>
      <p:sp>
        <p:nvSpPr>
          <p:cNvPr id="47" name="Shape 42"/>
          <p:cNvSpPr/>
          <p:nvPr/>
        </p:nvSpPr>
        <p:spPr>
          <a:xfrm>
            <a:off x="4453128" y="850392"/>
            <a:ext cx="274320" cy="274320"/>
          </a:xfrm>
          <a:prstGeom prst="ellipse">
            <a:avLst/>
          </a:prstGeom>
          <a:solidFill>
            <a:srgbClr val="E53935"/>
          </a:solidFill>
          <a:ln w="12700">
            <a:solidFill>
              <a:srgbClr val="FFFFFF"/>
            </a:solidFill>
            <a:prstDash val="solid"/>
          </a:ln>
        </p:spPr>
      </p:sp>
      <p:sp>
        <p:nvSpPr>
          <p:cNvPr id="48" name="Text 43"/>
          <p:cNvSpPr txBox="1"/>
          <p:nvPr/>
        </p:nvSpPr>
        <p:spPr>
          <a:xfrm>
            <a:off x="4453128" y="85039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9" name="Text 4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50" name="Text 4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QR aplikasi dan poster mini</a:t>
            </a:r>
            <a:endParaRPr lang="en-US" sz="1800" dirty="0"/>
          </a:p>
        </p:txBody>
      </p:sp>
      <p:sp>
        <p:nvSpPr>
          <p:cNvPr id="51" name="Text 4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Chrome: klik kanan › Create QR code › Download. Di Canva: poster A5 dengan nama aplikasi, QR, 3 langkah singkat, logo pondok.</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Rilis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GitHub</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github.com</a:t>
            </a:r>
            <a:endParaRPr lang="en-US" sz="800" dirty="0"/>
          </a:p>
        </p:txBody>
      </p:sp>
      <p:sp>
        <p:nvSpPr>
          <p:cNvPr id="28" name="Shape 21"/>
          <p:cNvSpPr/>
          <p:nvPr/>
        </p:nvSpPr>
        <p:spPr>
          <a:xfrm>
            <a:off x="587776" y="1695965"/>
            <a:ext cx="4950927" cy="292608"/>
          </a:xfrm>
          <a:prstGeom prst="rect">
            <a:avLst/>
          </a:prstGeom>
          <a:solidFill>
            <a:srgbClr val="F6F8FA"/>
          </a:solidFill>
          <a:ln w="6350">
            <a:solidFill>
              <a:srgbClr val="D0D7DE"/>
            </a:solidFill>
            <a:prstDash val="solid"/>
          </a:ln>
        </p:spPr>
      </p:sp>
      <p:pic>
        <p:nvPicPr>
          <p:cNvPr id="29" name="Image 5" descr="preencoded.png">    </p:cNvPr>
          <p:cNvPicPr>
            <a:picLocks noChangeAspect="1"/>
          </p:cNvPicPr>
          <p:nvPr/>
        </p:nvPicPr>
        <p:blipFill>
          <a:blip r:embed="rId6"/>
          <a:stretch>
            <a:fillRect/>
          </a:stretch>
        </p:blipFill>
        <p:spPr>
          <a:xfrm>
            <a:off x="679216" y="1741685"/>
            <a:ext cx="201168" cy="201168"/>
          </a:xfrm>
          <a:prstGeom prst="rect">
            <a:avLst/>
          </a:prstGeom>
        </p:spPr>
      </p:pic>
      <p:sp>
        <p:nvSpPr>
          <p:cNvPr id="30" name="Text 22"/>
          <p:cNvSpPr txBox="1"/>
          <p:nvPr/>
        </p:nvSpPr>
        <p:spPr>
          <a:xfrm>
            <a:off x="953536" y="1695965"/>
            <a:ext cx="2743200" cy="292608"/>
          </a:xfrm>
          <a:prstGeom prst="rect">
            <a:avLst/>
          </a:prstGeom>
          <a:noFill/>
          <a:ln/>
        </p:spPr>
        <p:txBody>
          <a:bodyPr wrap="square" lIns="0" tIns="0" rIns="0" bIns="0" rtlCol="0" anchor="ctr"/>
          <a:lstStyle/>
          <a:p>
            <a:pPr indent="0" marL="0">
              <a:buNone/>
            </a:pPr>
            <a:r>
              <a:rPr lang="en-US" sz="800" b="1" dirty="0">
                <a:solidFill>
                  <a:srgbClr val="1E2A26"/>
                </a:solidFill>
                <a:latin typeface="Calibri" pitchFamily="34" charset="0"/>
                <a:ea typeface="Calibri" pitchFamily="34" charset="-122"/>
                <a:cs typeface="Calibri" pitchFamily="34" charset="-120"/>
              </a:rPr>
              <a:t>santri-wu-kel3 / setoran-harian / releases / new</a:t>
            </a:r>
            <a:endParaRPr lang="en-US" sz="800" dirty="0"/>
          </a:p>
        </p:txBody>
      </p:sp>
      <p:sp>
        <p:nvSpPr>
          <p:cNvPr id="31" name="Shape 23"/>
          <p:cNvSpPr/>
          <p:nvPr/>
        </p:nvSpPr>
        <p:spPr>
          <a:xfrm>
            <a:off x="5218664" y="1741685"/>
            <a:ext cx="201168" cy="201168"/>
          </a:xfrm>
          <a:prstGeom prst="ellipse">
            <a:avLst/>
          </a:prstGeom>
          <a:solidFill>
            <a:srgbClr val="1F7A5C"/>
          </a:solidFill>
          <a:ln/>
        </p:spPr>
      </p:sp>
      <p:sp>
        <p:nvSpPr>
          <p:cNvPr id="32" name="Text 24"/>
          <p:cNvSpPr txBox="1"/>
          <p:nvPr/>
        </p:nvSpPr>
        <p:spPr>
          <a:xfrm>
            <a:off x="724936" y="2089157"/>
            <a:ext cx="2743200" cy="228600"/>
          </a:xfrm>
          <a:prstGeom prst="rect">
            <a:avLst/>
          </a:prstGeom>
          <a:noFill/>
          <a:ln/>
        </p:spPr>
        <p:txBody>
          <a:bodyPr wrap="square" lIns="0" tIns="0" rIns="0" bIns="0" rtlCol="0" anchor="t"/>
          <a:lstStyle/>
          <a:p>
            <a:pPr indent="0" marL="0">
              <a:buNone/>
            </a:pPr>
            <a:r>
              <a:rPr lang="en-US" sz="1100" b="1" dirty="0">
                <a:solidFill>
                  <a:srgbClr val="1E2A26"/>
                </a:solidFill>
                <a:latin typeface="Calibri" pitchFamily="34" charset="0"/>
                <a:ea typeface="Calibri" pitchFamily="34" charset="-122"/>
                <a:cs typeface="Calibri" pitchFamily="34" charset="-120"/>
              </a:rPr>
              <a:t>Draft a new release</a:t>
            </a:r>
            <a:endParaRPr lang="en-US" sz="1100" dirty="0"/>
          </a:p>
        </p:txBody>
      </p:sp>
      <p:sp>
        <p:nvSpPr>
          <p:cNvPr id="33" name="Shape 25"/>
          <p:cNvSpPr/>
          <p:nvPr/>
        </p:nvSpPr>
        <p:spPr>
          <a:xfrm>
            <a:off x="724936" y="2381765"/>
            <a:ext cx="1188720" cy="219456"/>
          </a:xfrm>
          <a:prstGeom prst="roundRect">
            <a:avLst>
              <a:gd name="adj" fmla="val 16667"/>
            </a:avLst>
          </a:prstGeom>
          <a:solidFill>
            <a:srgbClr val="F6F8FA"/>
          </a:solidFill>
          <a:ln w="9525">
            <a:solidFill>
              <a:srgbClr val="D0D7DE"/>
            </a:solidFill>
            <a:prstDash val="solid"/>
          </a:ln>
        </p:spPr>
      </p:sp>
      <p:sp>
        <p:nvSpPr>
          <p:cNvPr id="34" name="Text 26"/>
          <p:cNvSpPr txBox="1"/>
          <p:nvPr/>
        </p:nvSpPr>
        <p:spPr>
          <a:xfrm>
            <a:off x="779800" y="2381765"/>
            <a:ext cx="1188720" cy="219456"/>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v1.0.1 ▾</a:t>
            </a:r>
            <a:endParaRPr lang="en-US" sz="700" dirty="0"/>
          </a:p>
        </p:txBody>
      </p:sp>
      <p:sp>
        <p:nvSpPr>
          <p:cNvPr id="35" name="Shape 27"/>
          <p:cNvSpPr/>
          <p:nvPr/>
        </p:nvSpPr>
        <p:spPr>
          <a:xfrm>
            <a:off x="724936" y="2683517"/>
            <a:ext cx="4676607" cy="219456"/>
          </a:xfrm>
          <a:prstGeom prst="roundRect">
            <a:avLst>
              <a:gd name="adj" fmla="val 12500"/>
            </a:avLst>
          </a:prstGeom>
          <a:solidFill>
            <a:srgbClr val="FFFFFF"/>
          </a:solidFill>
          <a:ln w="12700">
            <a:solidFill>
              <a:srgbClr val="0969DA"/>
            </a:solidFill>
            <a:prstDash val="solid"/>
          </a:ln>
        </p:spPr>
      </p:sp>
      <p:sp>
        <p:nvSpPr>
          <p:cNvPr id="36" name="Text 28"/>
          <p:cNvSpPr txBox="1"/>
          <p:nvPr/>
        </p:nvSpPr>
        <p:spPr>
          <a:xfrm>
            <a:off x="779800" y="2683517"/>
            <a:ext cx="4676607" cy="219456"/>
          </a:xfrm>
          <a:prstGeom prst="rect">
            <a:avLst/>
          </a:prstGeom>
          <a:noFill/>
          <a:ln/>
        </p:spPr>
        <p:txBody>
          <a:bodyPr wrap="square" lIns="0" tIns="0" rIns="0" bIns="0" rtlCol="0" anchor="ctr"/>
          <a:lstStyle/>
          <a:p>
            <a:pPr indent="0" marL="0">
              <a:buNone/>
            </a:pPr>
            <a:r>
              <a:rPr lang="en-US" sz="750" dirty="0">
                <a:solidFill>
                  <a:srgbClr val="111111"/>
                </a:solidFill>
                <a:latin typeface="Calibri" pitchFamily="34" charset="0"/>
                <a:ea typeface="Calibri" pitchFamily="34" charset="-122"/>
                <a:cs typeface="Calibri" pitchFamily="34" charset="-120"/>
              </a:rPr>
              <a:t>Setoran Harian v1.0.1</a:t>
            </a:r>
            <a:endParaRPr lang="en-US" sz="750" dirty="0"/>
          </a:p>
        </p:txBody>
      </p:sp>
      <p:sp>
        <p:nvSpPr>
          <p:cNvPr id="37" name="Shape 29"/>
          <p:cNvSpPr/>
          <p:nvPr/>
        </p:nvSpPr>
        <p:spPr>
          <a:xfrm>
            <a:off x="724936" y="2976125"/>
            <a:ext cx="4676607" cy="653499"/>
          </a:xfrm>
          <a:prstGeom prst="roundRect">
            <a:avLst>
              <a:gd name="adj" fmla="val 4198"/>
            </a:avLst>
          </a:prstGeom>
          <a:solidFill>
            <a:srgbClr val="FFFFFF"/>
          </a:solidFill>
          <a:ln w="9525">
            <a:solidFill>
              <a:srgbClr val="D0D7DE"/>
            </a:solidFill>
            <a:prstDash val="solid"/>
          </a:ln>
        </p:spPr>
      </p:sp>
      <p:sp>
        <p:nvSpPr>
          <p:cNvPr id="38" name="Text 30"/>
          <p:cNvSpPr txBox="1"/>
          <p:nvPr/>
        </p:nvSpPr>
        <p:spPr>
          <a:xfrm>
            <a:off x="798088" y="3021845"/>
            <a:ext cx="4585167" cy="562059"/>
          </a:xfrm>
          <a:prstGeom prst="rect">
            <a:avLst/>
          </a:prstGeom>
          <a:noFill/>
          <a:ln/>
        </p:spPr>
        <p:txBody>
          <a:bodyPr wrap="square" lIns="0" tIns="0" rIns="0" bIns="0" rtlCol="0" anchor="t"/>
          <a:lstStyle/>
          <a:p>
            <a:pPr indent="0" marL="0">
              <a:buNone/>
            </a:pPr>
            <a:r>
              <a:rPr lang="en-US" sz="650" dirty="0">
                <a:solidFill>
                  <a:srgbClr val="1E2A26"/>
                </a:solidFill>
                <a:latin typeface="Courier New" pitchFamily="34" charset="0"/>
                <a:ea typeface="Courier New" pitchFamily="34" charset="-122"/>
                <a:cs typeface="Courier New" pitchFamily="34" charset="-120"/>
              </a:rPr>
              <a:t>## Perbaikan</a:t>
            </a:r>
            <a:endParaRPr lang="en-US" sz="650" dirty="0"/>
          </a:p>
          <a:p>
            <a:pPr indent="0" marL="0">
              <a:buNone/>
            </a:pPr>
            <a:r>
              <a:rPr lang="en-US" sz="650" dirty="0">
                <a:solidFill>
                  <a:srgbClr val="1E2A26"/>
                </a:solidFill>
                <a:latin typeface="Courier New" pitchFamily="34" charset="0"/>
                <a:ea typeface="Courier New" pitchFamily="34" charset="-122"/>
                <a:cs typeface="Courier New" pitchFamily="34" charset="-120"/>
              </a:rPr>
              <a:t>- Tambah halaman Cara Pakai</a:t>
            </a:r>
            <a:endParaRPr lang="en-US" sz="650" dirty="0"/>
          </a:p>
          <a:p>
            <a:pPr indent="0" marL="0">
              <a:buNone/>
            </a:pPr>
            <a:r>
              <a:rPr lang="en-US" sz="650" dirty="0">
                <a:solidFill>
                  <a:srgbClr val="1E2A26"/>
                </a:solidFill>
                <a:latin typeface="Courier New" pitchFamily="34" charset="0"/>
                <a:ea typeface="Courier New" pitchFamily="34" charset="-122"/>
                <a:cs typeface="Courier New" pitchFamily="34" charset="-120"/>
              </a:rPr>
              <a:t>- Tombol rapi di HP Android B</a:t>
            </a:r>
            <a:endParaRPr lang="en-US" sz="650" dirty="0"/>
          </a:p>
          <a:p>
            <a:pPr indent="0" marL="0">
              <a:buNone/>
            </a:pPr>
            <a:r>
              <a:rPr lang="en-US" sz="650" dirty="0">
                <a:solidFill>
                  <a:srgbClr val="1E2A26"/>
                </a:solidFill>
                <a:latin typeface="Courier New" pitchFamily="34" charset="0"/>
                <a:ea typeface="Courier New" pitchFamily="34" charset="-122"/>
                <a:cs typeface="Courier New" pitchFamily="34" charset="-120"/>
              </a:rPr>
              <a:t>- Tautan Laporkan Masalah di footer</a:t>
            </a:r>
            <a:endParaRPr lang="en-US" sz="650" dirty="0"/>
          </a:p>
        </p:txBody>
      </p:sp>
      <p:sp>
        <p:nvSpPr>
          <p:cNvPr id="39" name="Shape 31"/>
          <p:cNvSpPr/>
          <p:nvPr/>
        </p:nvSpPr>
        <p:spPr>
          <a:xfrm>
            <a:off x="724936" y="3693632"/>
            <a:ext cx="1005840" cy="219456"/>
          </a:xfrm>
          <a:prstGeom prst="roundRect">
            <a:avLst>
              <a:gd name="adj" fmla="val 16667"/>
            </a:avLst>
          </a:prstGeom>
          <a:solidFill>
            <a:srgbClr val="1F883D"/>
          </a:solidFill>
          <a:ln w="12700">
            <a:solidFill>
              <a:srgbClr val="1F883D"/>
            </a:solidFill>
            <a:prstDash val="solid"/>
          </a:ln>
        </p:spPr>
      </p:sp>
      <p:sp>
        <p:nvSpPr>
          <p:cNvPr id="40" name="Text 32"/>
          <p:cNvSpPr txBox="1"/>
          <p:nvPr/>
        </p:nvSpPr>
        <p:spPr>
          <a:xfrm>
            <a:off x="724936" y="3693632"/>
            <a:ext cx="100584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Publish release</a:t>
            </a:r>
            <a:endParaRPr lang="en-US" sz="750" dirty="0"/>
          </a:p>
        </p:txBody>
      </p:sp>
      <p:sp>
        <p:nvSpPr>
          <p:cNvPr id="41" name="Shape 33"/>
          <p:cNvSpPr/>
          <p:nvPr/>
        </p:nvSpPr>
        <p:spPr>
          <a:xfrm>
            <a:off x="706648" y="2363477"/>
            <a:ext cx="1225296" cy="256032"/>
          </a:xfrm>
          <a:prstGeom prst="roundRect">
            <a:avLst>
              <a:gd name="adj" fmla="val 17857"/>
            </a:avLst>
          </a:prstGeom>
          <a:solidFill>
            <a:srgbClr val="FFFFFF">
              <a:alpha val="0"/>
            </a:srgbClr>
          </a:solidFill>
          <a:ln w="31750">
            <a:solidFill>
              <a:srgbClr val="E53935"/>
            </a:solidFill>
            <a:prstDash val="solid"/>
          </a:ln>
        </p:spPr>
      </p:sp>
      <p:sp>
        <p:nvSpPr>
          <p:cNvPr id="42" name="Shape 34"/>
          <p:cNvSpPr/>
          <p:nvPr/>
        </p:nvSpPr>
        <p:spPr>
          <a:xfrm>
            <a:off x="1794784" y="2226317"/>
            <a:ext cx="274320" cy="274320"/>
          </a:xfrm>
          <a:prstGeom prst="ellipse">
            <a:avLst/>
          </a:prstGeom>
          <a:solidFill>
            <a:srgbClr val="E53935"/>
          </a:solidFill>
          <a:ln w="12700">
            <a:solidFill>
              <a:srgbClr val="FFFFFF"/>
            </a:solidFill>
            <a:prstDash val="solid"/>
          </a:ln>
        </p:spPr>
      </p:sp>
      <p:sp>
        <p:nvSpPr>
          <p:cNvPr id="43" name="Text 35"/>
          <p:cNvSpPr txBox="1"/>
          <p:nvPr/>
        </p:nvSpPr>
        <p:spPr>
          <a:xfrm>
            <a:off x="1794784" y="22263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44" name="Image 6" descr="preencoded.png">    </p:cNvPr>
          <p:cNvPicPr>
            <a:picLocks noChangeAspect="1"/>
          </p:cNvPicPr>
          <p:nvPr/>
        </p:nvPicPr>
        <p:blipFill>
          <a:blip r:embed="rId7"/>
          <a:stretch>
            <a:fillRect/>
          </a:stretch>
        </p:blipFill>
        <p:spPr>
          <a:xfrm>
            <a:off x="1378732" y="2502466"/>
            <a:ext cx="237744" cy="237744"/>
          </a:xfrm>
          <a:prstGeom prst="rect">
            <a:avLst/>
          </a:prstGeom>
        </p:spPr>
      </p:pic>
      <p:sp>
        <p:nvSpPr>
          <p:cNvPr id="45" name="Shape 36"/>
          <p:cNvSpPr/>
          <p:nvPr/>
        </p:nvSpPr>
        <p:spPr>
          <a:xfrm>
            <a:off x="706648" y="2957837"/>
            <a:ext cx="4713183" cy="690075"/>
          </a:xfrm>
          <a:prstGeom prst="roundRect">
            <a:avLst>
              <a:gd name="adj" fmla="val 6625"/>
            </a:avLst>
          </a:prstGeom>
          <a:solidFill>
            <a:srgbClr val="FFFFFF">
              <a:alpha val="0"/>
            </a:srgbClr>
          </a:solidFill>
          <a:ln w="31750">
            <a:solidFill>
              <a:srgbClr val="E53935"/>
            </a:solidFill>
            <a:prstDash val="solid"/>
          </a:ln>
        </p:spPr>
      </p:sp>
      <p:sp>
        <p:nvSpPr>
          <p:cNvPr id="46" name="Shape 37"/>
          <p:cNvSpPr/>
          <p:nvPr/>
        </p:nvSpPr>
        <p:spPr>
          <a:xfrm>
            <a:off x="5282672" y="2820677"/>
            <a:ext cx="274320" cy="274320"/>
          </a:xfrm>
          <a:prstGeom prst="ellipse">
            <a:avLst/>
          </a:prstGeom>
          <a:solidFill>
            <a:srgbClr val="E53935"/>
          </a:solidFill>
          <a:ln w="12700">
            <a:solidFill>
              <a:srgbClr val="FFFFFF"/>
            </a:solidFill>
            <a:prstDash val="solid"/>
          </a:ln>
        </p:spPr>
      </p:sp>
      <p:sp>
        <p:nvSpPr>
          <p:cNvPr id="47" name="Text 38"/>
          <p:cNvSpPr txBox="1"/>
          <p:nvPr/>
        </p:nvSpPr>
        <p:spPr>
          <a:xfrm>
            <a:off x="5282672" y="28206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48" name="Image 7" descr="preencoded.png">    </p:cNvPr>
          <p:cNvPicPr>
            <a:picLocks noChangeAspect="1"/>
          </p:cNvPicPr>
          <p:nvPr/>
        </p:nvPicPr>
        <p:blipFill>
          <a:blip r:embed="rId8"/>
          <a:stretch>
            <a:fillRect/>
          </a:stretch>
        </p:blipFill>
        <p:spPr>
          <a:xfrm>
            <a:off x="3297070" y="3335549"/>
            <a:ext cx="237744" cy="237744"/>
          </a:xfrm>
          <a:prstGeom prst="rect">
            <a:avLst/>
          </a:prstGeom>
        </p:spPr>
      </p:pic>
      <p:sp>
        <p:nvSpPr>
          <p:cNvPr id="49" name="Text 3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0" name="Text 4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Rilis v1.0.1 bila ada perbaikan</a:t>
            </a:r>
            <a:endParaRPr lang="en-US" sz="1800" dirty="0"/>
          </a:p>
        </p:txBody>
      </p:sp>
      <p:sp>
        <p:nvSpPr>
          <p:cNvPr id="51" name="Text 4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Jika ada perubahan sejak v1.0.0 (panduan, perbaikan perangkat), perbarui changelog dan buat Release v1.0.1.</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Rilis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Setoran Harian v1.0.1</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https://santri-wu-kel3.github.io/setoran-harian/</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411480"/>
          </a:xfrm>
          <a:prstGeom prst="rect">
            <a:avLst/>
          </a:prstGeom>
          <a:solidFill>
            <a:srgbClr val="0F4C3A"/>
          </a:solidFill>
          <a:ln w="12700">
            <a:solidFill>
              <a:srgbClr val="0F4C3A"/>
            </a:solidFill>
            <a:prstDash val="solid"/>
          </a:ln>
        </p:spPr>
      </p:sp>
      <p:sp>
        <p:nvSpPr>
          <p:cNvPr id="31" name="Text 24"/>
          <p:cNvSpPr txBox="1"/>
          <p:nvPr/>
        </p:nvSpPr>
        <p:spPr>
          <a:xfrm>
            <a:off x="606064" y="1695965"/>
            <a:ext cx="4914351"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Setoran Harian v1.0</a:t>
            </a:r>
            <a:endParaRPr lang="en-US" sz="1100" dirty="0"/>
          </a:p>
        </p:txBody>
      </p:sp>
      <p:sp>
        <p:nvSpPr>
          <p:cNvPr id="32" name="Shape 25"/>
          <p:cNvSpPr/>
          <p:nvPr/>
        </p:nvSpPr>
        <p:spPr>
          <a:xfrm>
            <a:off x="1874520" y="2198885"/>
            <a:ext cx="2377440" cy="1143000"/>
          </a:xfrm>
          <a:prstGeom prst="roundRect">
            <a:avLst>
              <a:gd name="adj" fmla="val 6400"/>
            </a:avLst>
          </a:prstGeom>
          <a:solidFill>
            <a:srgbClr val="FFFFFF"/>
          </a:solidFill>
          <a:ln w="9525">
            <a:solidFill>
              <a:srgbClr val="DDDDDD"/>
            </a:solidFill>
            <a:prstDash val="solid"/>
          </a:ln>
        </p:spPr>
      </p:sp>
      <p:sp>
        <p:nvSpPr>
          <p:cNvPr id="33" name="Text 26"/>
          <p:cNvSpPr txBox="1"/>
          <p:nvPr/>
        </p:nvSpPr>
        <p:spPr>
          <a:xfrm>
            <a:off x="1965960" y="2244605"/>
            <a:ext cx="2194560" cy="228600"/>
          </a:xfrm>
          <a:prstGeom prst="rect">
            <a:avLst/>
          </a:prstGeom>
          <a:noFill/>
          <a:ln/>
        </p:spPr>
        <p:txBody>
          <a:bodyPr wrap="square" lIns="0" tIns="0" rIns="0" bIns="0" rtlCol="0" anchor="t"/>
          <a:lstStyle/>
          <a:p>
            <a:pPr indent="0" marL="0">
              <a:buNone/>
            </a:pPr>
            <a:r>
              <a:rPr lang="en-US" sz="750" b="1" dirty="0">
                <a:solidFill>
                  <a:srgbClr val="1E2A26"/>
                </a:solidFill>
                <a:latin typeface="Arial" pitchFamily="34" charset="0"/>
                <a:ea typeface="Arial" pitchFamily="34" charset="-122"/>
                <a:cs typeface="Arial" pitchFamily="34" charset="-120"/>
              </a:rPr>
              <a:t>Simpan Setoran · Cek Total · Riwayat</a:t>
            </a:r>
            <a:endParaRPr lang="en-US" sz="750" dirty="0"/>
          </a:p>
        </p:txBody>
      </p:sp>
      <p:sp>
        <p:nvSpPr>
          <p:cNvPr id="34" name="Shape 27"/>
          <p:cNvSpPr/>
          <p:nvPr/>
        </p:nvSpPr>
        <p:spPr>
          <a:xfrm>
            <a:off x="1965960" y="2518925"/>
            <a:ext cx="2194560" cy="201168"/>
          </a:xfrm>
          <a:prstGeom prst="rect">
            <a:avLst/>
          </a:prstGeom>
          <a:solidFill>
            <a:srgbClr val="FFFFFF"/>
          </a:solidFill>
          <a:ln w="6350">
            <a:solidFill>
              <a:srgbClr val="999999"/>
            </a:solidFill>
            <a:prstDash val="solid"/>
          </a:ln>
        </p:spPr>
      </p:sp>
      <p:sp>
        <p:nvSpPr>
          <p:cNvPr id="35" name="Shape 28"/>
          <p:cNvSpPr/>
          <p:nvPr/>
        </p:nvSpPr>
        <p:spPr>
          <a:xfrm>
            <a:off x="1965960" y="2793245"/>
            <a:ext cx="2194560" cy="256032"/>
          </a:xfrm>
          <a:prstGeom prst="roundRect">
            <a:avLst>
              <a:gd name="adj" fmla="val 50000"/>
            </a:avLst>
          </a:prstGeom>
          <a:solidFill>
            <a:srgbClr val="D4A017"/>
          </a:solidFill>
          <a:ln w="12700">
            <a:solidFill>
              <a:srgbClr val="D4A017"/>
            </a:solidFill>
            <a:prstDash val="solid"/>
          </a:ln>
        </p:spPr>
      </p:sp>
      <p:sp>
        <p:nvSpPr>
          <p:cNvPr id="36" name="Text 29"/>
          <p:cNvSpPr txBox="1"/>
          <p:nvPr/>
        </p:nvSpPr>
        <p:spPr>
          <a:xfrm>
            <a:off x="1965960" y="2793245"/>
            <a:ext cx="2194560"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Simpan</a:t>
            </a:r>
            <a:endParaRPr lang="en-US" sz="750" dirty="0"/>
          </a:p>
        </p:txBody>
      </p:sp>
      <p:sp>
        <p:nvSpPr>
          <p:cNvPr id="37" name="Text 30"/>
          <p:cNvSpPr txBox="1"/>
          <p:nvPr/>
        </p:nvSpPr>
        <p:spPr>
          <a:xfrm>
            <a:off x="697504" y="3684488"/>
            <a:ext cx="4731471" cy="228600"/>
          </a:xfrm>
          <a:prstGeom prst="rect">
            <a:avLst/>
          </a:prstGeom>
          <a:noFill/>
          <a:ln/>
        </p:spPr>
        <p:txBody>
          <a:bodyPr wrap="square" lIns="0" tIns="0" rIns="0" bIns="0" rtlCol="0" anchor="ctr"/>
          <a:lstStyle/>
          <a:p>
            <a:pPr algn="ctr" indent="0" marL="0">
              <a:buNone/>
            </a:pPr>
            <a:r>
              <a:rPr lang="en-US" sz="650" u="sng" dirty="0">
                <a:solidFill>
                  <a:srgbClr val="0969DA"/>
                </a:solidFill>
                <a:latin typeface="Arial" pitchFamily="34" charset="0"/>
                <a:ea typeface="Arial" pitchFamily="34" charset="-122"/>
                <a:cs typeface="Arial" pitchFamily="34" charset="-120"/>
              </a:rPr>
              <a:t>Cara Pakai  ·  Laporkan Masalah  ·  v1.0.1 (Maret 2027)</a:t>
            </a:r>
            <a:endParaRPr lang="en-US" sz="650" dirty="0"/>
          </a:p>
        </p:txBody>
      </p:sp>
      <p:sp>
        <p:nvSpPr>
          <p:cNvPr id="38" name="Shape 31"/>
          <p:cNvSpPr/>
          <p:nvPr/>
        </p:nvSpPr>
        <p:spPr>
          <a:xfrm>
            <a:off x="633496" y="1695965"/>
            <a:ext cx="4859487" cy="2281131"/>
          </a:xfrm>
          <a:prstGeom prst="roundRect">
            <a:avLst>
              <a:gd name="adj" fmla="val 2004"/>
            </a:avLst>
          </a:prstGeom>
          <a:solidFill>
            <a:srgbClr val="FFFFFF">
              <a:alpha val="0"/>
            </a:srgbClr>
          </a:solidFill>
          <a:ln w="31750">
            <a:solidFill>
              <a:srgbClr val="E53935"/>
            </a:solidFill>
            <a:prstDash val="solid"/>
          </a:ln>
        </p:spPr>
      </p:sp>
      <p:sp>
        <p:nvSpPr>
          <p:cNvPr id="39" name="Shape 32"/>
          <p:cNvSpPr/>
          <p:nvPr/>
        </p:nvSpPr>
        <p:spPr>
          <a:xfrm>
            <a:off x="5355824" y="1558805"/>
            <a:ext cx="274320" cy="274320"/>
          </a:xfrm>
          <a:prstGeom prst="ellipse">
            <a:avLst/>
          </a:prstGeom>
          <a:solidFill>
            <a:srgbClr val="E53935"/>
          </a:solidFill>
          <a:ln w="12700">
            <a:solidFill>
              <a:srgbClr val="FFFFFF"/>
            </a:solidFill>
            <a:prstDash val="solid"/>
          </a:ln>
        </p:spPr>
      </p:sp>
      <p:sp>
        <p:nvSpPr>
          <p:cNvPr id="40" name="Text 33"/>
          <p:cNvSpPr txBox="1"/>
          <p:nvPr/>
        </p:nvSpPr>
        <p:spPr>
          <a:xfrm>
            <a:off x="5355824" y="15588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1"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42"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Presentasi: aplikasi siap pakai (4 menit)</a:t>
            </a:r>
            <a:endParaRPr lang="en-US" sz="1800" dirty="0"/>
          </a:p>
        </p:txBody>
      </p:sp>
      <p:sp>
        <p:nvSpPr>
          <p:cNvPr id="43"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Tunjukkan: poster QR → pindai → pakai tanpa penjelasan, panduan pengguna, hasil uji perangkat, rencana perawatan (laporan, cadangan, rollback).</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Aplikasi Online Siap Pakai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Proyek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Lolos daftar rilis; GitHub Release v1.0.x dengan catatan rilis.</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Panduan pengguna di aplikasi dan README; tautan Laporkan Masalah aktif.</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Uji di minimal 3 perangkat; QR dan poster mini siap.</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Cadangan data dan kode tersimpan; dipresentasikan dengan uji tanpa penjelasan.</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11: Deployment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Panduan pengguna tersedia</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Uji di minimal 3 perangkat</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QR aplikasi siap</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Presentasi dan rencana perawatan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yang membuat aplikasimu siap dipakai orang lain?</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rencanamu jika ada laporan masalah?</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Ilmu dan karya yang bermanfaat bagi orang lain adalah amal jariyah.</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12: Proyek Akhir, Digital Solution Project.</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3 Modul 11 - Deployment</dc:title>
  <dc:subject>PptxGenJS Presentation</dc:subject>
  <dc:creator>PptxGenJS</dc:creator>
  <cp:lastModifiedBy>PptxGenJS</cp:lastModifiedBy>
  <cp:revision>1</cp:revision>
  <dcterms:created xsi:type="dcterms:W3CDTF">2026-10-02T14:49:25Z</dcterms:created>
  <dcterms:modified xsi:type="dcterms:W3CDTF">2026-10-02T14:49:25Z</dcterms:modified>
</cp:coreProperties>
</file>