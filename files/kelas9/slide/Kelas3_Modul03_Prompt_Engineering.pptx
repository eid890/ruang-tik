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3: Prompt Engineering — Proyek: Prompt Library Santri
Terdiri dari 3 pertemuan (Pertemuan 7–9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PENTING: periksa ketentuan usia minimal layanan AI yang dipakai. Pada modul ini AI dioperasikan guru di proyektor dengan akun pondok, atau kelompok bergiliran mengetik di komputer guru di bawah pengawasan langsung. Santri menyusun prompt di Google Docs.
- Modul ini memperdalam materi Kelas VII Modul 9–10 (4 bahan prompt) dan menjadi bekal langsung untuk Modul 4 (Coding dengan AI).
- Jawaban AI berbeda setiap kali ditanya. Gunakan jawaban yang muncul sebagai bahan diskusi, bukan kunci.
- Tegaskan kembali: data pribadi, kata sandi, dan data asli santri tidak boleh dimasukkan ke AI.
CATATAN
Lima komponen prompt di modul ini: Role (peran), Context (konteks), Task (tugas), Constraints (batasan), Output format (format). Teknik lanjutan: iterative prompting (bertahap), few-shot (memberi contoh), meminta AI bertanya balik, meminta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ke-7, dengan judul "Lima Komponen Prompt". Kita memperdalam seni bertanya kepada AI, sebagai bekal membuat proyek dengan bantuan AI.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proposal solusi digital kalian sudah disetujui. Untuk membangunnya, kita akan banyak dibantu AI. Agar AI benar-benar membantu, kita harus pandai menyusun prompt.
Sekarang pertanyaan hari ini. Coba pikirkan sejenak:
"Di Kelas VII kalian belajar 4 bahan prompt. Masih ingat apa saja?"
(Beri waktu 1 menit. Minta 2–3 santri menjawab. Hargai semua jawaban.)
Peran, konteks, tugas, dan format. Hari ini kita menambahkan satu komponen penting: BATASAN, atau constraints. Ilmu menyusun prompt yang baik disebut PROMPT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yang kuat memiliki lima komponen.
ROLE atau PERAN: AI berperan sebagai siapa. Contoh: kamu adalah guru pemrograman yang sabar.
CONTEXT atau KONTEKS: siapa kita dan bagaimana keadaan kita. Contoh: saya santri kelas 9 yang baru belajar JavaScript.
TASK atau TUGAS: apa yang diminta. Contoh: jelaskan apa itu variabel.
CONSTRAINTS atau BATASAN: aturan yang harus dipatuhi. Contoh: maksimal 100 kata, jangan memakai istilah sulit tanpa penjelasan. Batasan mencegah jawaban yang terlalu panjang atau terlalu rumit.
FORMAT: bentuk jawaban. Contoh: beri satu contoh kode pendek dan satu perumpamaan.
Komponen batasan adalah tambahan baru dari yang kalian pelajari di Kelas VII.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prompt lemah dan prompt kuat.
Prompt LEMAH: variabel itu apa. Buatkan web. Perbaiki kode saya, tetapi kodenya tidak disertakan. AI harus menebak-nebak, dan hasilnya sering tidak sesuai.
Prompt KUAT: menyebutkan peran dan konteks, tugasnya spesifik dengan batasan yang jelas, dan format jawabannya disebutkan.
Prompt kuat memang lebih panjang, tetapi menghemat waktu, karena kita tidak perlu bertanya berulang-ulang.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bedah satu prompt kuat. Setiap warna adalah satu komponen.
Merah, peran: kamu adalah guru pemrograman yang sabar.
Biru, konteks: saya santri SMP kelas 9 yang baru belajar JavaScript.
Hijau, tugas: jelaskan apa itu variabel.
Ungu, batasan: maksimal 100 kata, tanpa istilah sulit tanpa penjelasan.
Kuning, format: beri satu contoh kode pendek dan satu perumpamaan dari pesantren.
Sebentar lagi kita buktikan perbedaan hasilnya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(Guru membuka layanan AI di proyektor dengan akun pondok. Santri membuka Google Docs: Lab_Prompt_KelN.)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Saya mengetik prompt lemah: variabel itu apa. Kirim.
(Bacakan sebagian jawaban AI.)
Catat di Docs: berapa panjang jawabannya? Berapa istilah sulit yang muncul? Apakah ada contoh yang mudah dipahami? Biasanya muncul istilah seperti memori, paradigma, scope, hoisting, yang membingungkan pemula.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Saya klik Obrolan baru, lalu mengetik prompt kuat dengan lima komponen, tanda a.
(Bacakan jawaban AI, tanda b.)
Perhatikan: jawabannya singkat, memakai perumpamaan loker santri, dan ada contoh kode pendek: let hafalan sama dengan 3. Jauh lebih mudah dipahami, bukan?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Bandingkan kedua jawaban secara objektif dengan tabel penilaian di Docs: kejelasan dari satu sampai lima, kesesuaian dengan level kita dari satu sampai lima, ada contoh atau tidak, dan apakah panjangnya tepat.
Menilai dengan kriteria membuat kita tidak hanya berkata "bagus" atau "jelek", tetapi tahu MENGAPA.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Setiap kelompok memperbaiki tiga prompt lemah: buatkan web, perbaiki kode saya, dan buat soal. Ubah menjadi prompt kuat dengan lima komponen.
Contoh di layar untuk buatkan web: kamu mentor web untuk pemula, saya santri kelas 9, bantu saya membuat kerangka HTML halaman jadwal setoran, jelaskan setiap bagian, maksimal 20 baris kode, beri komentar di setiap bagian.
Tandai kelima komponen dengan warna huruf yang berbeda, seperti slide 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Saya mencobakan satu prompt dari setiap kelompok di layar.
(Ketik prompt kelompok, bacakan hasilnya.)
Kelas menilai hasilnya dengan tabel kriteria. Apakah AI mematuhi batasan? Misalnya, apakah kodenya benar-benar tidak lebih dari 20 baris dan ada komentar?
Perhatikan: kode dari AI ini nanti benar-benar bisa kalian pakai untuk proyek, karena sesuai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Tulis kesimpulan kelompok di Docs: komponen mana yang paling mengubah hasil, dan mengapa. Simpan satu prompt terbaik kelompok. Prompt ini akan masuk ke Prompt Library di pertemuan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Lab Prompt kelompok berisi: tabel perbandingan, tiga prompt yang diperbaiki dengan komponen berwarna, hasil uji satu prompt, dan kesimpulan.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menyebut 5 komponen?
- 3 prompt diperbaiki?
- hasil dibandingkan dengan tabel?
- tidak ada data pribadi di prompt?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komponen mana yang paling mengubah hasil?
Pertanyaan kedua: mengapa batasan (constraints) penting?
(Minta 2–3 santri menjawab secara bergantian.)
Pesan adab kita hari ini: bertanya dengan jelas dan sopan adalah adab penuntut ilmu. Para sahabat bertanya kepada Rasulullah dengan pertanyaan yang jelas dan bermanfaat. Biasakan adab ini, kepada guru maupun saat memakai alat.
Pekan depan: teknik prompt lanjutan dan keamanan data.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ke-8, dengan judul "Teknik Prompt Lanjutan". Kita belajar teknik-teknik yang dipakai para pengguna AI berpengalaman.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lima komponen prompt. Siapa yang ingat komponen baru yang kita tambahkan?
(Tunggu jawaban: batasan atau constraints.)
Sekarang pertanyaan hari ini. Coba pikirkan sejenak:
"Jika jawaban AI belum sesuai, apakah kita harus mengulang dari awal?"
(Beri waktu 1 menit. Minta 2–3 santri menjawab. Hargai semua jawaban.)
Tidak perlu. Kita bisa melanjutkan percakapan dan memperbaikinya sedikit demi sedikit. Teknik ini disebut PROMPT BERTAHAP. Hari ini kita mempelajari tiga teknik lanjutan, dan yang sangat penting: keamanan data saat memakai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teknik lanjutan.
BERTAHAP atau iterative: mulai dengan prompt sederhana, lalu perbaiki hasilnya sedikit demi sedikit: buat lebih singkat, tambahkan contoh, ubah bagian kedua. Seperti memahat, sedikit demi sedikit.
MEMBERI CONTOH atau few-shot: kita tunjukkan satu atau dua contoh hasil yang kita inginkan, lalu minta AI membuat yang serupa. Sangat ampuh untuk membuat soal atau data dengan format tertentu.
AI BERTANYA BALIK: minta AI bertanya dulu sebelum menjawab: sebelum menjawab, tanyakan tiga hal yang perlu kamu ketahui dari saya. AI jadi memahami kebutuhan kita.
LANGKAH DEMI LANGKAH: minta AI menjelaskan satu langkah, lalu menunggu kita siap. Cocok untuk belajar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teknik few-shot di layar. Kita ingin membuat soal adab dengan format tertentu.
Kita tulis: buat tiga soal lagi dengan format seperti contoh. Lalu kita beri dua contoh lengkap: soal, tiga pilihan A, B, C, dan jawabannya.
AI akan meniru format itu persis. Tanpa contoh, AI mungkin membuat empat pilihan, atau tidak mencantumkan jawaban.
Catatan penting: walaupun formatnya benar, isi soal adab dan agama tetap harus diperiksa ustadz.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coding dengan AI nanti, kita akan sering menempel kode. Ingat aturan keamanan.
Yang AMAN ditempel: kode buatan sendiri, asalkan tidak berisi kata sandi; data fiktif atau contoh; dan pertanyaan tentang konsep atau pelajaran.
Yang JANGAN PERNAH ditempel: nama lengkap, alamat, nomor HP, NIK; kata sandi, kode verifikasi, atau kunci rahasia aplikasi yang disebut API key; dan data asli santri, nilai, atau catatan pribadi.
Mengapa? Karena isi percakapan dengan AI bisa disimpan oleh perusahaan pembuatnya, dan kita tidak tahu ke mana data itu pergi. Sebelum menekan kirim, selalu periksa.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mencoba setiap teknik di layar. Setiap kelompok menyiapkan prompt di Docs, lalu guru mengetikkannya.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Putaran pertama dengan prompt sederhana: jelaskan perbedaan HTML, CSS, dan JavaScript untuk santri kelas 9.
(Bacakan jawaban.)
Jawabannya sudah lumayan, tetapi belum ada perumpamaan dan agak panjang. Kita perbaiki tanpa mengulang dari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Kita lanjutkan percakapan, tanda a: bagus, sekarang jelaskan dengan perumpamaan membangun masjid.
(Bacakan jawaban, tanda b.)
HTML adalah tiang, dinding, dan atap. CSS adalah cat, kaligrafi, dan karpet. JavaScript adalah listrik dan pengeras suara yang membuatnya berfungsi. Perumpamaan ini sama dengan yang kalian pelajari di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Putaran ketiga: ringkas dalam tabel tiga baris: nama, fungsi, dan perumpamaan.
(Bacakan jawaban.)
Dalam tiga putaran, kita mendapat penjelasan yang singkat, jelas, dan mudah diingat. Inilah prompt bertahap: tidak perlu sempurna di awal, tetapi diperbaiki sedikit demi sedikit.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Setiap kelompok menulis dua contoh soal pelajaran dengan format pilihan mereka, misalnya soal tentang HTML. Lalu minta AI membuat tiga soal serupa.
(Ujikan prompt dari beberapa kelompok.)
Perhatikan: AI meniru format persis, termasuk tiga pilihan dan jawaban. Tetap periksa kebenaran jawabannya!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coba teknik AI bertanya balik, memakai proyek proposal kalian. Contoh: saya ingin membuat web jadwal setoran untuk santri. Sebelum memberi saran, tanyakan tiga hal yang perlu kamu ketahui dari saya.
(Bacakan pertanyaan AI.)
Pertanyaan AI ini sangat berguna untuk mematangkan proposal: siapa yang mengisi target, apakah data perlu disimpan, dibuka di HP atau komputer. Kelompok mencatat jawabannya.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Biasakan memeriksa sebelum menekan kirim. Tulis daftar periksa ini di Docs kelompok:
Tidak ada nama lengkap, alamat, atau nomor HP.
Tidak ada kata sandi, kode verifikasi, atau kunci API.
Data yang ditempel hanya data fiktif.
Bahasanya santun dan tujuannya baik.
Daftar ini juga akan menjadi bagian dari Prompt Library pekan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ke Docs kelompok: catatan percakapan bertahap, satu prompt few-shot dengan hasilnya, pertanyaan balik AI tentang proyek dan jawaban kelompok, serta daftar periksa keamanan.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satu percakapan bertahap minimal 3 putaran?
- satu prompt dengan contoh?
- satu prompt AI bertanya balik?
- lolos daftar periksa keamanan?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teknik mana yang paling membantumu?
Pertanyaan kedua: data apa yang tidak boleh dimasukkan ke AI?
(Minta 2–3 santri menjawab secara bergantian.)
Pesan adab kita hari ini: menjaga rahasia diri dan orang lain adalah amanah, termasuk saat "berbicara" dengan mesin. Apa yang sudah terkirim tidak bisa ditarik kembali.
Pekan depan: proyek Prompt Library Santri.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ke-9, dengan judul "Prompt Library Santri". Hari ini kita menyelesaikan proyek Modul 3: perpustakaan prompt yang teruji untuk seluruh kelas.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teknik lanjutan. Siapa yang ingat, apa itu few-shot?
(Tunggu jawaban: memberi contoh dalam prompt.)
Sekarang pertanyaan hari ini. Coba pikirkan sejenak:
"Jika setiap santri menyimpan prompt terbaiknya, bagaimana agar semua bisa memakainya?"
(Beri waktu 1 menit. Minta 2–3 santri menjawab. Hargai semua jawaban.)
Kita kumpulkan dalam satu PERPUSTAKAAN PROMPT, atau Prompt Library: kumpulan prompt template yang sudah diuji, dikelompokkan menurut kegunaan, dan bisa dipakai siapa saja di kelas, bahkan adik kelas kalian. Di Kelas VII kalian membuat AI Study Assistant di Google Docs. Kali ini kita membuatnya di Google Sheets agar bisa disaring dan diurutkan.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Library kita dibagi menjadi lima kategori.
BELAJAR CODING: prompt untuk menjelaskan konsep, menjelaskan kode, dan latihan soal coding.
DEBUGGING: prompt untuk mencari penyebab error, dengan meminta penjelasan, bukan jawaban jadi.
MERANCANG PROYEK: prompt untuk bertanya balik, mematangkan fitur, atau membantu membuat flowchart.
BELAJAR MAPEL: prompt untuk mapel lain, melanjutkan AI Study Assistant di Kelas VII.
MENULIS DAN DOKUMENTASI: prompt untuk membantu menulis README, laporan proyek, dan presentasi.
Setiap kelompok menyumbang lima prompt, satu dari setiap kategori.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Library disusun di Google Sheets dengan enam kolom: kategori, judul, prompt template, teknik yang dipakai, nilai hasil uji dari satu sampai lima, dan kelompok penguji.
Perhatikan contoh baris Debugging: kode saya, kurung siku tempel kode, gejalanya, kurung siku gejala, jelaskan penyebab dan langkah perbaikan satu per satu, jangan ganti semua kode.
Bagian dalam kurung siku diganti oleh pengguna, seperti prompt template di Kelas VII.
Karena di Sheets, pengguna bisa memakai filter untuk mencari prompt berdasarkan kategori, seperti yang kalian pelajari di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(Guru menyiapkan satu file Google Sheets bersama: Prompt_Library_Kelas9, dibagikan ke akun kelas sebagai Editor, dengan baris judul enam kolom.)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Docs kelompok, tulis lima prompt template, satu dari setiap kategori: belajar coding, debugging, merancang proyek, belajar mapel, serta menulis dan dokumentasi.
Setiap prompt memakai lima komponen, dan kurung siku untuk bagian yang diganti pengguna. Boleh mengembangkan prompt terbaik dari pertemuan 7 dan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Pada minimal dua prompt, terapkan teknik lanjutan dari pekan lalu, dan tulis tekniknya di judul. Contoh di layar: prompt Merancang Proyek dengan teknik bertanya balik.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Setiap kelompok mengganti bagian kurung siku dengan contoh nyata, lalu saya mengetikkannya ke AI.
(Uji satu atau dua prompt dari setiap kelompok.)
Contoh di layar: prompt debugging. AI menjelaskan penyebab dan langkah perbaikan tanpa mengganti semua kode, sesuai batasan yang kita minta.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Nilai setiap hasil dengan skala satu sampai lima. Nilai lima artinya jelas, sesuai level, dan patuh semua batasan.
Jika nilainya di bawah empat, perbaiki prompt-nya dan uji ulang. Hanya prompt bernilai empat dan lima yang masuk ke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Buka file Prompt Library Kelas9 dari Shared with me. Isi baris-baris kelompok kalian: kategori dengan dropdown, judul, prompt template, teknik, nilai, dan kelompok penguji.
Filter sudah aktif, sehingga siapa pun bisa mencari prompt berdasarkan kategori.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Bersama-sama, kita tambahkan lembar kedua bernama Petunjuk. Isinya cara memakai Library dan aturan keamanan:
Satu, ganti bagian kurung siku dengan kebutuhanmu.
Dua, pahami jawaban AI, jangan salin tanpa mengerti.
Tiga, jangan masukkan data pribadi, kata sandi, atau kunci API.
Empat, periksa jawaban penting ke sumber terpercaya.
Lima, urusan agama, tanyakan kepada ustadz.
Alhamdulillah, Prompt Library Kelas 9 sudah jadi. Library ini akan sering kita pakai di modul-modul coding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setiap kelompok menyumbang lima prompt template dengan lima komponen, minimal dua memakai teknik lanjutan dan semuanya bernilai empat atau lima, Library rapi dengan lembar petunjuk, serta kelompok mempresentasikan satu prompt terbaik.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kelompok menyumbang 5 prompt?
- semua prompt diuji dan dinilai?
- ada kategori dan petunjuk pakai?
- ada aturan keamanan di Library?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prompt mana yang paling ingin kamu pakai untuk proyekmu?
Pertanyaan kedua: bagaimana Library ini membantu adik kelas?
(Minta 2–3 santri menjawab secara bergantian.)
Pesan adab kita hari ini: ilmu yang dibagikan menjadi amal jariyah. Bagikan yang sudah teruji dan bermanfaat, agar orang lain tidak tersesat dan tidak membuang waktu.
Pekan depan: kita masuk Modul 4: Coding dengan AI. Alhamdulillah, Modul 3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slideLayout" Target="../slideLayouts/slideLayout1.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1  ·  MODUL 3</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Prompt Engineering</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Prompt Library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mendalami seni menyusun prompt: lima komponen (peran, konteks, tugas, batasan, format), teknik bertahap dan memberi contoh, serta keamanan data, lalu menyusun perpustakaan prompt yang teruji untuk belajar dan membuat proyek.</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07</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Lima Komponen Prompt</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08</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Teknik Prompt Lanjutan</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09</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Prompt Library Santri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Layanan AI gratis (dioperasikan guru/di bawah pengawasan), Google Docs, Google Sheets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Lima Komponen Prompt</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Peran, konteks, tugas, batasan, format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Prompt Engineering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Di Kelas VII kalian belajar 4 bahan prompt. Masih ingat apa saja?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lima komponen prompt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Mengubah prompt lemah menjadi prompt kuat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Membandingkan hasil prompt lemah dan kuat secara objektif</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Lima Komponen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Role (Peran)</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"Kamu adalah guru pemrograman yang sabar."</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Context (Konteks)</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"Saya santri kelas 9 yang baru belajar JavaScript."</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Task (Tugas)</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"Jelaskan apa itu variabel."</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Constraints (Batasan)</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"Maksimal 100 kata. Jangan pakai istilah sulit tanpa penjelasan."</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Format</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"Beri 1 contoh kode pendek dan 1 perumpamaan."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Prompt Lemah vs Prompt Kuat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Prompt Kuat</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Peran + konteks jelas</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Tugas spesifik dengan batasan</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Format yang diinginkan disebutkan</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Prompt Lemah</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"variabel itu apa"</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"buatkan web"</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"perbaiki kode saya" (tanpa kode)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Membedah Prompt Kuat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1371600" cy="548640"/>
          </a:xfrm>
          <a:prstGeom prst="roundRect">
            <a:avLst>
              <a:gd name="adj" fmla="val 13333"/>
            </a:avLst>
          </a:prstGeom>
          <a:solidFill>
            <a:srgbClr val="E53935"/>
          </a:solidFill>
          <a:ln w="12700">
            <a:solidFill>
              <a:srgbClr val="E53935"/>
            </a:solidFill>
            <a:prstDash val="solid"/>
          </a:ln>
        </p:spPr>
      </p:sp>
      <p:sp>
        <p:nvSpPr>
          <p:cNvPr id="10" name="Text 6"/>
          <p:cNvSpPr txBox="1"/>
          <p:nvPr/>
        </p:nvSpPr>
        <p:spPr>
          <a:xfrm>
            <a:off x="457200" y="1143000"/>
            <a:ext cx="13716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Peran</a:t>
            </a:r>
            <a:endParaRPr lang="en-US" sz="1300" dirty="0"/>
          </a:p>
        </p:txBody>
      </p:sp>
      <p:sp>
        <p:nvSpPr>
          <p:cNvPr id="11" name="Shape 7"/>
          <p:cNvSpPr/>
          <p:nvPr/>
        </p:nvSpPr>
        <p:spPr>
          <a:xfrm>
            <a:off x="1920240" y="1143000"/>
            <a:ext cx="6766560" cy="548640"/>
          </a:xfrm>
          <a:prstGeom prst="roundRect">
            <a:avLst>
              <a:gd name="adj" fmla="val 10000"/>
            </a:avLst>
          </a:prstGeom>
          <a:solidFill>
            <a:srgbClr val="FFFFFF"/>
          </a:solidFill>
          <a:ln w="19050">
            <a:solidFill>
              <a:srgbClr val="E53935"/>
            </a:solidFill>
            <a:prstDash val="solid"/>
          </a:ln>
        </p:spPr>
      </p:sp>
      <p:sp>
        <p:nvSpPr>
          <p:cNvPr id="12" name="Text 8"/>
          <p:cNvSpPr txBox="1"/>
          <p:nvPr/>
        </p:nvSpPr>
        <p:spPr>
          <a:xfrm>
            <a:off x="2057400" y="1143000"/>
            <a:ext cx="6583680" cy="54864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Kamu adalah guru pemrograman yang sabar.</a:t>
            </a:r>
            <a:endParaRPr lang="en-US" sz="1300" dirty="0"/>
          </a:p>
        </p:txBody>
      </p:sp>
      <p:sp>
        <p:nvSpPr>
          <p:cNvPr id="13" name="Shape 9"/>
          <p:cNvSpPr/>
          <p:nvPr/>
        </p:nvSpPr>
        <p:spPr>
          <a:xfrm>
            <a:off x="457200" y="1801368"/>
            <a:ext cx="1371600" cy="548640"/>
          </a:xfrm>
          <a:prstGeom prst="roundRect">
            <a:avLst>
              <a:gd name="adj" fmla="val 13333"/>
            </a:avLst>
          </a:prstGeom>
          <a:solidFill>
            <a:srgbClr val="0078D4"/>
          </a:solidFill>
          <a:ln w="12700">
            <a:solidFill>
              <a:srgbClr val="0078D4"/>
            </a:solidFill>
            <a:prstDash val="solid"/>
          </a:ln>
        </p:spPr>
      </p:sp>
      <p:sp>
        <p:nvSpPr>
          <p:cNvPr id="14" name="Text 10"/>
          <p:cNvSpPr txBox="1"/>
          <p:nvPr/>
        </p:nvSpPr>
        <p:spPr>
          <a:xfrm>
            <a:off x="457200" y="1801368"/>
            <a:ext cx="13716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Konteks</a:t>
            </a:r>
            <a:endParaRPr lang="en-US" sz="1300" dirty="0"/>
          </a:p>
        </p:txBody>
      </p:sp>
      <p:sp>
        <p:nvSpPr>
          <p:cNvPr id="15" name="Shape 11"/>
          <p:cNvSpPr/>
          <p:nvPr/>
        </p:nvSpPr>
        <p:spPr>
          <a:xfrm>
            <a:off x="1920240" y="1801368"/>
            <a:ext cx="6766560" cy="548640"/>
          </a:xfrm>
          <a:prstGeom prst="roundRect">
            <a:avLst>
              <a:gd name="adj" fmla="val 10000"/>
            </a:avLst>
          </a:prstGeom>
          <a:solidFill>
            <a:srgbClr val="FFFFFF"/>
          </a:solidFill>
          <a:ln w="19050">
            <a:solidFill>
              <a:srgbClr val="0078D4"/>
            </a:solidFill>
            <a:prstDash val="solid"/>
          </a:ln>
        </p:spPr>
      </p:sp>
      <p:sp>
        <p:nvSpPr>
          <p:cNvPr id="16" name="Text 12"/>
          <p:cNvSpPr txBox="1"/>
          <p:nvPr/>
        </p:nvSpPr>
        <p:spPr>
          <a:xfrm>
            <a:off x="2057400" y="1801368"/>
            <a:ext cx="6583680" cy="54864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Saya santri SMP kelas 9 yang baru belajar JavaScript.</a:t>
            </a:r>
            <a:endParaRPr lang="en-US" sz="1300" dirty="0"/>
          </a:p>
        </p:txBody>
      </p:sp>
      <p:sp>
        <p:nvSpPr>
          <p:cNvPr id="17" name="Shape 13"/>
          <p:cNvSpPr/>
          <p:nvPr/>
        </p:nvSpPr>
        <p:spPr>
          <a:xfrm>
            <a:off x="457200" y="2459736"/>
            <a:ext cx="1371600" cy="548640"/>
          </a:xfrm>
          <a:prstGeom prst="roundRect">
            <a:avLst>
              <a:gd name="adj" fmla="val 13333"/>
            </a:avLst>
          </a:prstGeom>
          <a:solidFill>
            <a:srgbClr val="1F7A5C"/>
          </a:solidFill>
          <a:ln w="12700">
            <a:solidFill>
              <a:srgbClr val="1F7A5C"/>
            </a:solidFill>
            <a:prstDash val="solid"/>
          </a:ln>
        </p:spPr>
      </p:sp>
      <p:sp>
        <p:nvSpPr>
          <p:cNvPr id="18" name="Text 14"/>
          <p:cNvSpPr txBox="1"/>
          <p:nvPr/>
        </p:nvSpPr>
        <p:spPr>
          <a:xfrm>
            <a:off x="457200" y="2459736"/>
            <a:ext cx="13716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Tugas</a:t>
            </a:r>
            <a:endParaRPr lang="en-US" sz="1300" dirty="0"/>
          </a:p>
        </p:txBody>
      </p:sp>
      <p:sp>
        <p:nvSpPr>
          <p:cNvPr id="19" name="Shape 15"/>
          <p:cNvSpPr/>
          <p:nvPr/>
        </p:nvSpPr>
        <p:spPr>
          <a:xfrm>
            <a:off x="1920240" y="2459736"/>
            <a:ext cx="6766560" cy="548640"/>
          </a:xfrm>
          <a:prstGeom prst="roundRect">
            <a:avLst>
              <a:gd name="adj" fmla="val 10000"/>
            </a:avLst>
          </a:prstGeom>
          <a:solidFill>
            <a:srgbClr val="FFFFFF"/>
          </a:solidFill>
          <a:ln w="19050">
            <a:solidFill>
              <a:srgbClr val="1F7A5C"/>
            </a:solidFill>
            <a:prstDash val="solid"/>
          </a:ln>
        </p:spPr>
      </p:sp>
      <p:sp>
        <p:nvSpPr>
          <p:cNvPr id="20" name="Text 16"/>
          <p:cNvSpPr txBox="1"/>
          <p:nvPr/>
        </p:nvSpPr>
        <p:spPr>
          <a:xfrm>
            <a:off x="2057400" y="2459736"/>
            <a:ext cx="6583680" cy="54864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Jelaskan apa itu variabel.</a:t>
            </a:r>
            <a:endParaRPr lang="en-US" sz="1300" dirty="0"/>
          </a:p>
        </p:txBody>
      </p:sp>
      <p:sp>
        <p:nvSpPr>
          <p:cNvPr id="21" name="Shape 17"/>
          <p:cNvSpPr/>
          <p:nvPr/>
        </p:nvSpPr>
        <p:spPr>
          <a:xfrm>
            <a:off x="457200" y="3118104"/>
            <a:ext cx="1371600" cy="548640"/>
          </a:xfrm>
          <a:prstGeom prst="roundRect">
            <a:avLst>
              <a:gd name="adj" fmla="val 13333"/>
            </a:avLst>
          </a:prstGeom>
          <a:solidFill>
            <a:srgbClr val="8E44AD"/>
          </a:solidFill>
          <a:ln w="12700">
            <a:solidFill>
              <a:srgbClr val="8E44AD"/>
            </a:solidFill>
            <a:prstDash val="solid"/>
          </a:ln>
        </p:spPr>
      </p:sp>
      <p:sp>
        <p:nvSpPr>
          <p:cNvPr id="22" name="Text 18"/>
          <p:cNvSpPr txBox="1"/>
          <p:nvPr/>
        </p:nvSpPr>
        <p:spPr>
          <a:xfrm>
            <a:off x="457200" y="3118104"/>
            <a:ext cx="13716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Batasan</a:t>
            </a:r>
            <a:endParaRPr lang="en-US" sz="1300" dirty="0"/>
          </a:p>
        </p:txBody>
      </p:sp>
      <p:sp>
        <p:nvSpPr>
          <p:cNvPr id="23" name="Shape 19"/>
          <p:cNvSpPr/>
          <p:nvPr/>
        </p:nvSpPr>
        <p:spPr>
          <a:xfrm>
            <a:off x="1920240" y="3118104"/>
            <a:ext cx="6766560" cy="548640"/>
          </a:xfrm>
          <a:prstGeom prst="roundRect">
            <a:avLst>
              <a:gd name="adj" fmla="val 10000"/>
            </a:avLst>
          </a:prstGeom>
          <a:solidFill>
            <a:srgbClr val="FFFFFF"/>
          </a:solidFill>
          <a:ln w="19050">
            <a:solidFill>
              <a:srgbClr val="8E44AD"/>
            </a:solidFill>
            <a:prstDash val="solid"/>
          </a:ln>
        </p:spPr>
      </p:sp>
      <p:sp>
        <p:nvSpPr>
          <p:cNvPr id="24" name="Text 20"/>
          <p:cNvSpPr txBox="1"/>
          <p:nvPr/>
        </p:nvSpPr>
        <p:spPr>
          <a:xfrm>
            <a:off x="2057400" y="3118104"/>
            <a:ext cx="6583680" cy="54864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Maksimal 100 kata, tanpa istilah sulit tanpa penjelasan.</a:t>
            </a:r>
            <a:endParaRPr lang="en-US" sz="1300" dirty="0"/>
          </a:p>
        </p:txBody>
      </p:sp>
      <p:sp>
        <p:nvSpPr>
          <p:cNvPr id="25" name="Shape 21"/>
          <p:cNvSpPr/>
          <p:nvPr/>
        </p:nvSpPr>
        <p:spPr>
          <a:xfrm>
            <a:off x="457200" y="3776472"/>
            <a:ext cx="1371600" cy="548640"/>
          </a:xfrm>
          <a:prstGeom prst="roundRect">
            <a:avLst>
              <a:gd name="adj" fmla="val 13333"/>
            </a:avLst>
          </a:prstGeom>
          <a:solidFill>
            <a:srgbClr val="D4A017"/>
          </a:solidFill>
          <a:ln w="12700">
            <a:solidFill>
              <a:srgbClr val="D4A017"/>
            </a:solidFill>
            <a:prstDash val="solid"/>
          </a:ln>
        </p:spPr>
      </p:sp>
      <p:sp>
        <p:nvSpPr>
          <p:cNvPr id="26" name="Text 22"/>
          <p:cNvSpPr txBox="1"/>
          <p:nvPr/>
        </p:nvSpPr>
        <p:spPr>
          <a:xfrm>
            <a:off x="457200" y="3776472"/>
            <a:ext cx="13716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27" name="Shape 23"/>
          <p:cNvSpPr/>
          <p:nvPr/>
        </p:nvSpPr>
        <p:spPr>
          <a:xfrm>
            <a:off x="1920240" y="3776472"/>
            <a:ext cx="6766560" cy="548640"/>
          </a:xfrm>
          <a:prstGeom prst="roundRect">
            <a:avLst>
              <a:gd name="adj" fmla="val 10000"/>
            </a:avLst>
          </a:prstGeom>
          <a:solidFill>
            <a:srgbClr val="FFFFFF"/>
          </a:solidFill>
          <a:ln w="19050">
            <a:solidFill>
              <a:srgbClr val="D4A017"/>
            </a:solidFill>
            <a:prstDash val="solid"/>
          </a:ln>
        </p:spPr>
      </p:sp>
      <p:sp>
        <p:nvSpPr>
          <p:cNvPr id="28" name="Text 24"/>
          <p:cNvSpPr txBox="1"/>
          <p:nvPr/>
        </p:nvSpPr>
        <p:spPr>
          <a:xfrm>
            <a:off x="2057400" y="3776472"/>
            <a:ext cx="6583680" cy="54864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Beri 1 contoh kode pendek dan 1 perumpamaan dari pesantren.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Laboratorium Prompt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AI di proyektor · santri menyusun prompt di Docs</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Membandingkan prompt lemah dan kuat</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Memperbaiki prompt kelompok</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4560296" y="1805693"/>
            <a:ext cx="886968"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4651736" y="1805693"/>
            <a:ext cx="704088"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variabel itu apa</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10972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Variabel adalah lokasi penyimpanan bernama dalam memori yang menyimpan nilai yang dapat berubah selama eksekusi program. Dalam paradigma pemrograman imperatif, variabel memiliki tipe data, ruang lingkup (scope), dan masa hidup (lifetime). Deklarasi variabel di JavaScript dapat menggunakan var, let, atau const, yang masing-masing memiliki perilaku hoisting dan block scoping berbeda...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153165"/>
            <a:ext cx="3588471" cy="1152144"/>
          </a:xfrm>
          <a:prstGeom prst="roundRect">
            <a:avLst>
              <a:gd name="adj" fmla="val 3968"/>
            </a:avLst>
          </a:prstGeom>
          <a:solidFill>
            <a:srgbClr val="FFFFFF">
              <a:alpha val="0"/>
            </a:srgbClr>
          </a:solidFill>
          <a:ln w="31750">
            <a:solidFill>
              <a:srgbClr val="E53935"/>
            </a:solidFill>
            <a:prstDash val="solid"/>
          </a:ln>
        </p:spPr>
      </p:sp>
      <p:sp>
        <p:nvSpPr>
          <p:cNvPr id="41" name="Shape 32"/>
          <p:cNvSpPr/>
          <p:nvPr/>
        </p:nvSpPr>
        <p:spPr>
          <a:xfrm>
            <a:off x="5273528" y="201600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0160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3" name="Image 7" descr="preencoded.png">    </p:cNvPr>
          <p:cNvPicPr>
            <a:picLocks noChangeAspect="1"/>
          </p:cNvPicPr>
          <p:nvPr/>
        </p:nvPicPr>
        <p:blipFill>
          <a:blip r:embed="rId8"/>
          <a:stretch>
            <a:fillRect/>
          </a:stretch>
        </p:blipFill>
        <p:spPr>
          <a:xfrm>
            <a:off x="3793132" y="278410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prompt lemah</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mengetik: "variabel itu apa". Santri mencatat: panjang jawaban, istilah sulit, contoh yang diberikan.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832104"/>
          </a:xfrm>
          <a:prstGeom prst="roundRect">
            <a:avLst>
              <a:gd name="adj" fmla="val 10989"/>
            </a:avLst>
          </a:prstGeom>
          <a:solidFill>
            <a:srgbClr val="E3E9F5"/>
          </a:solidFill>
          <a:ln w="12700">
            <a:solidFill>
              <a:srgbClr val="E3E9F5"/>
            </a:solidFill>
            <a:prstDash val="solid"/>
          </a:ln>
        </p:spPr>
      </p:sp>
      <p:sp>
        <p:nvSpPr>
          <p:cNvPr id="32" name="Text 25"/>
          <p:cNvSpPr txBox="1"/>
          <p:nvPr/>
        </p:nvSpPr>
        <p:spPr>
          <a:xfrm>
            <a:off x="2648468" y="1805693"/>
            <a:ext cx="2707356" cy="8321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adalah guru pemrograman yang sabar (peran). Saya santri SMP kelas 9 yang baru belajar JavaScript (konteks). Jelaskan apa itu variabel (tugas). Jangan memakai istilah sulit tanpa penjelasan dan maksimal 100 kata (batasan). Beri 1 contoh kode pendek dan 1 perumpamaan dari kehidupan pesantren (format).</a:t>
            </a:r>
            <a:endParaRPr lang="en-US" sz="750" dirty="0"/>
          </a:p>
        </p:txBody>
      </p:sp>
      <p:pic>
        <p:nvPicPr>
          <p:cNvPr id="33" name="Image 5" descr="preencoded.png">    </p:cNvPr>
          <p:cNvPicPr>
            <a:picLocks noChangeAspect="1"/>
          </p:cNvPicPr>
          <p:nvPr/>
        </p:nvPicPr>
        <p:blipFill>
          <a:blip r:embed="rId6"/>
          <a:stretch>
            <a:fillRect/>
          </a:stretch>
        </p:blipFill>
        <p:spPr>
          <a:xfrm>
            <a:off x="1593616" y="2729237"/>
            <a:ext cx="182880" cy="182880"/>
          </a:xfrm>
          <a:prstGeom prst="rect">
            <a:avLst/>
          </a:prstGeom>
        </p:spPr>
      </p:pic>
      <p:sp>
        <p:nvSpPr>
          <p:cNvPr id="34" name="Text 26"/>
          <p:cNvSpPr txBox="1"/>
          <p:nvPr/>
        </p:nvSpPr>
        <p:spPr>
          <a:xfrm>
            <a:off x="1849648" y="2729237"/>
            <a:ext cx="3533607" cy="9601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Variabel itu seperti loker santri yang diberi nama. Isinya bisa diganti, namanya tetap.</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Contoh:</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let hafalan = 3;</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hafalan = 4;</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Loker bernama hafalan awalnya berisi 3, lalu diganti 4. Komputer memakai nama variabel untuk mengingat dan mengubah data.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2538740" y="1787405"/>
            <a:ext cx="2926812" cy="868680"/>
          </a:xfrm>
          <a:prstGeom prst="roundRect">
            <a:avLst>
              <a:gd name="adj" fmla="val 5263"/>
            </a:avLst>
          </a:prstGeom>
          <a:solidFill>
            <a:srgbClr val="FFFFFF">
              <a:alpha val="0"/>
            </a:srgbClr>
          </a:solidFill>
          <a:ln w="31750">
            <a:solidFill>
              <a:srgbClr val="E53935"/>
            </a:solidFill>
            <a:prstDash val="solid"/>
          </a:ln>
        </p:spPr>
      </p:sp>
      <p:sp>
        <p:nvSpPr>
          <p:cNvPr id="41" name="Shape 32"/>
          <p:cNvSpPr/>
          <p:nvPr/>
        </p:nvSpPr>
        <p:spPr>
          <a:xfrm>
            <a:off x="5328392" y="165024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328392" y="16502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3" name="Image 7" descr="preencoded.png">    </p:cNvPr>
          <p:cNvPicPr>
            <a:picLocks noChangeAspect="1"/>
          </p:cNvPicPr>
          <p:nvPr/>
        </p:nvPicPr>
        <p:blipFill>
          <a:blip r:embed="rId8"/>
          <a:stretch>
            <a:fillRect/>
          </a:stretch>
        </p:blipFill>
        <p:spPr>
          <a:xfrm>
            <a:off x="4146658" y="2263350"/>
            <a:ext cx="237744" cy="237744"/>
          </a:xfrm>
          <a:prstGeom prst="rect">
            <a:avLst/>
          </a:prstGeom>
        </p:spPr>
      </p:pic>
      <p:sp>
        <p:nvSpPr>
          <p:cNvPr id="44" name="Shape 34"/>
          <p:cNvSpPr/>
          <p:nvPr/>
        </p:nvSpPr>
        <p:spPr>
          <a:xfrm>
            <a:off x="1831360" y="2710949"/>
            <a:ext cx="3570183" cy="996696"/>
          </a:xfrm>
          <a:prstGeom prst="roundRect">
            <a:avLst>
              <a:gd name="adj" fmla="val 4587"/>
            </a:avLst>
          </a:prstGeom>
          <a:solidFill>
            <a:srgbClr val="FFFFFF">
              <a:alpha val="0"/>
            </a:srgbClr>
          </a:solidFill>
          <a:ln w="31750">
            <a:solidFill>
              <a:srgbClr val="E53935"/>
            </a:solidFill>
            <a:prstDash val="solid"/>
          </a:ln>
        </p:spPr>
      </p:sp>
      <p:sp>
        <p:nvSpPr>
          <p:cNvPr id="45" name="Shape 35"/>
          <p:cNvSpPr/>
          <p:nvPr/>
        </p:nvSpPr>
        <p:spPr>
          <a:xfrm>
            <a:off x="5264384" y="2573789"/>
            <a:ext cx="274320" cy="274320"/>
          </a:xfrm>
          <a:prstGeom prst="ellipse">
            <a:avLst/>
          </a:prstGeom>
          <a:solidFill>
            <a:srgbClr val="E53935"/>
          </a:solidFill>
          <a:ln w="12700">
            <a:solidFill>
              <a:srgbClr val="FFFFFF"/>
            </a:solidFill>
            <a:prstDash val="solid"/>
          </a:ln>
        </p:spPr>
      </p:sp>
      <p:sp>
        <p:nvSpPr>
          <p:cNvPr id="46" name="Text 36"/>
          <p:cNvSpPr txBox="1"/>
          <p:nvPr/>
        </p:nvSpPr>
        <p:spPr>
          <a:xfrm>
            <a:off x="5264384" y="25737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7" name="Image 8" descr="preencoded.png">    </p:cNvPr>
          <p:cNvPicPr>
            <a:picLocks noChangeAspect="1"/>
          </p:cNvPicPr>
          <p:nvPr/>
        </p:nvPicPr>
        <p:blipFill>
          <a:blip r:embed="rId9"/>
          <a:stretch>
            <a:fillRect/>
          </a:stretch>
        </p:blipFill>
        <p:spPr>
          <a:xfrm>
            <a:off x="3793132" y="3257303"/>
            <a:ext cx="237744" cy="237744"/>
          </a:xfrm>
          <a:prstGeom prst="rect">
            <a:avLst/>
          </a:prstGeom>
        </p:spPr>
      </p:pic>
      <p:sp>
        <p:nvSpPr>
          <p:cNvPr id="48"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9"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prompt kuat (5 komponen)</a:t>
            </a:r>
            <a:endParaRPr lang="en-US" sz="1800" dirty="0"/>
          </a:p>
        </p:txBody>
      </p:sp>
      <p:sp>
        <p:nvSpPr>
          <p:cNvPr id="50"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klik Obrolan baru, lalu mengetik prompt dengan 5 komponen.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Lab_Prompt_Kel3 -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Lab_Prompt_Kel3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Perbandingan Hasil</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Kriteria</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Prompt lemah</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Prompt kuat</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Jelas (1–5)</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5</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Sesuai level (1–5)</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5</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Ada contoh</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Tidak</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Panjang tepat</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Tidak</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Bandingkan dengan tabel penilaian</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tabel: Jelas (1–5), Sesuai level (1–5), Ada contoh (ya/tidak), Panjang tepat (ya/tidak).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Lab_Prompt_Kel3 -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Lab_Prompt_Kel3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Perbaikan Prompt</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Lemah: buatkan web</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Kuat: Kamu mentor web untuk pemula. Saya santri</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kelas 9. Bantu saya membuat kerangka HTML halaman</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jadwal setoran. Jelaskan setiap bagian, maksimal</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20 baris kode, beri komentar di setiap bagian.</a:t>
            </a:r>
            <a:endParaRPr lang="en-US" sz="800" dirty="0"/>
          </a:p>
        </p:txBody>
      </p:sp>
      <p:sp>
        <p:nvSpPr>
          <p:cNvPr id="75" name="Shape 64"/>
          <p:cNvSpPr/>
          <p:nvPr/>
        </p:nvSpPr>
        <p:spPr>
          <a:xfrm>
            <a:off x="1527048" y="3042546"/>
            <a:ext cx="3072384" cy="781304"/>
          </a:xfrm>
          <a:prstGeom prst="roundRect">
            <a:avLst>
              <a:gd name="adj" fmla="val 5852"/>
            </a:avLst>
          </a:prstGeom>
          <a:solidFill>
            <a:srgbClr val="FFFFFF">
              <a:alpha val="0"/>
            </a:srgbClr>
          </a:solidFill>
          <a:ln w="31750">
            <a:solidFill>
              <a:srgbClr val="E53935"/>
            </a:solidFill>
            <a:prstDash val="solid"/>
          </a:ln>
        </p:spPr>
      </p:sp>
      <p:sp>
        <p:nvSpPr>
          <p:cNvPr id="76" name="Shape 65"/>
          <p:cNvSpPr/>
          <p:nvPr/>
        </p:nvSpPr>
        <p:spPr>
          <a:xfrm>
            <a:off x="4462272" y="290538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8" name="Image 9" descr="preencoded.png">    </p:cNvPr>
          <p:cNvPicPr>
            <a:picLocks noChangeAspect="1"/>
          </p:cNvPicPr>
          <p:nvPr/>
        </p:nvPicPr>
        <p:blipFill>
          <a:blip r:embed="rId10"/>
          <a:stretch>
            <a:fillRect/>
          </a:stretch>
        </p:blipFill>
        <p:spPr>
          <a:xfrm>
            <a:off x="3214116" y="3469520"/>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3 prompt lemah</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memperbaiki prompt lemah: "buatkan web", "perbaiki kode saya", "buat soal". Tandai 5 komponen dengan warna berbeda.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mentor web untuk pemula. Saya santri kelas 9. Bantu saya membuat kerangka HTML halaman jadwal setoran. Jelaskan setiap bagian, maksimal 20 baris kode, beri komentar.</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10972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Berikut kerangka sederhana dengan komentar:</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 Judul halaman --&gt;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&lt;h1&gt;Jadwal Setoran Hari Ini&lt;/h1&gt;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 Target setoran --&gt;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&lt;p&gt;Target: An-Naba 1–20&lt;/p&gt;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 Tombol tanda sudah setor --&gt;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&lt;button&gt;Sudah Setor&lt;/button&gt;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Penjelasan: h1 untuk judul, p untuk target, button untuk tombol...</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1152144"/>
          </a:xfrm>
          <a:prstGeom prst="roundRect">
            <a:avLst>
              <a:gd name="adj" fmla="val 3968"/>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305842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menguji prompt kelompok</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mencobakan satu prompt dari setiap kelompok. Kelas menilai hasilnya dengan tabel kriteria.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Lab_Prompt_Kel3 -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Lab_Prompt_Kel3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Kesimpulan Kelompok</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Komponen paling berpengaruh: Batasan dan Konteks.</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Tanpa konteks, AI menjawab seperti untuk mahasiswa.</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Tanpa batasan, jawaban terlalu panjang.</a:t>
            </a:r>
            <a:endParaRPr lang="en-US" sz="800" dirty="0"/>
          </a:p>
        </p:txBody>
      </p:sp>
      <p:sp>
        <p:nvSpPr>
          <p:cNvPr id="73" name="Shape 62"/>
          <p:cNvSpPr/>
          <p:nvPr/>
        </p:nvSpPr>
        <p:spPr>
          <a:xfrm>
            <a:off x="1527048" y="2849506"/>
            <a:ext cx="3072384" cy="588264"/>
          </a:xfrm>
          <a:prstGeom prst="roundRect">
            <a:avLst>
              <a:gd name="adj" fmla="val 7772"/>
            </a:avLst>
          </a:prstGeom>
          <a:solidFill>
            <a:srgbClr val="FFFFFF">
              <a:alpha val="0"/>
            </a:srgbClr>
          </a:solidFill>
          <a:ln w="31750">
            <a:solidFill>
              <a:srgbClr val="E53935"/>
            </a:solidFill>
            <a:prstDash val="solid"/>
          </a:ln>
        </p:spPr>
      </p:sp>
      <p:sp>
        <p:nvSpPr>
          <p:cNvPr id="74" name="Shape 63"/>
          <p:cNvSpPr/>
          <p:nvPr/>
        </p:nvSpPr>
        <p:spPr>
          <a:xfrm>
            <a:off x="4462272" y="2712346"/>
            <a:ext cx="274320" cy="274320"/>
          </a:xfrm>
          <a:prstGeom prst="ellipse">
            <a:avLst/>
          </a:prstGeom>
          <a:solidFill>
            <a:srgbClr val="E53935"/>
          </a:solidFill>
          <a:ln w="12700">
            <a:solidFill>
              <a:srgbClr val="FFFFFF"/>
            </a:solidFill>
            <a:prstDash val="solid"/>
          </a:ln>
        </p:spPr>
      </p:sp>
      <p:sp>
        <p:nvSpPr>
          <p:cNvPr id="75" name="Text 64"/>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6" name="Image 9" descr="preencoded.png">    </p:cNvPr>
          <p:cNvPicPr>
            <a:picLocks noChangeAspect="1"/>
          </p:cNvPicPr>
          <p:nvPr/>
        </p:nvPicPr>
        <p:blipFill>
          <a:blip r:embed="rId10"/>
          <a:stretch>
            <a:fillRect/>
          </a:stretch>
        </p:blipFill>
        <p:spPr>
          <a:xfrm>
            <a:off x="3214116" y="3170308"/>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Catat pelajaran: komponen mana paling berpengaruh</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di Docs: komponen mana yang paling mengubah hasil, dan satu prompt terbaik kelompok.</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7</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Lab_Prompt kelompok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perbandingan prompt lemah dan kuat.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prompt lemah yang sudah diperbaiki, komponen ditandai warna.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Hasil uji dan penilaian 1 prompt kelompok.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Kesimpulan: komponen paling berpengaruh.</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menyebut 5 komponen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3 prompt diperbaiki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dibandingkan dengan tabel</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data pribadi di prompt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Komponen mana yang paling mengubah hasil?</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batasan (constraints) penting?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Bertanya dengan jelas dan sopan adalah adab penuntut ilmu, kepada guru maupun saat memakai alat.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Teknik prompt lanjutan dan keamanan data.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Teknik Prompt Lanjutan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Bertahap, memberi contoh, dan bertanya balik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Prompt Engineering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jawaban AI belum sesuai, apakah kita harus mengulang dari awal?</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Menerapkan prompt bertahap (iterative prompting)</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Memberi contoh dalam prompt (few-shot) dan meminta AI bertanya balik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Menjaga keamanan data saat memakai AI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Teknik Lanjutan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Bertahap (Iterative)</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Mulai sederhana, lalu perbaiki: "Lebih singkat", "Tambah contoh", "Ubah bagian 2".</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Memberi Contoh (Few-shot)</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Tunjukkan 1–2 contoh hasil yang diinginkan, lalu minta AI meniru polanya.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AI Bertanya Balik</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"Sebelum menjawab, tanyakan 3 hal yang perlu kamu ketahui dari saya."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Langkah demi Langkah</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"Jelaskan langkah demi langkah, satu per satu, tunggu saya siap."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Few-shot: Membuat Soal Adab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8229600" cy="2468880"/>
          </a:xfrm>
          <a:prstGeom prst="roundRect">
            <a:avLst>
              <a:gd name="adj" fmla="val 2963"/>
            </a:avLst>
          </a:prstGeom>
          <a:solidFill>
            <a:srgbClr val="FFFFFF"/>
          </a:solidFill>
          <a:ln w="19050">
            <a:solidFill>
              <a:srgbClr val="1F7A5C"/>
            </a:solidFill>
            <a:prstDash val="solid"/>
          </a:ln>
        </p:spPr>
      </p:sp>
      <p:sp>
        <p:nvSpPr>
          <p:cNvPr id="10" name="Text 6"/>
          <p:cNvSpPr txBox="1"/>
          <p:nvPr/>
        </p:nvSpPr>
        <p:spPr>
          <a:xfrm>
            <a:off x="640080" y="1188720"/>
            <a:ext cx="7863840" cy="2286000"/>
          </a:xfrm>
          <a:prstGeom prst="rect">
            <a:avLst/>
          </a:prstGeom>
          <a:noFill/>
          <a:ln/>
        </p:spPr>
        <p:txBody>
          <a:bodyPr wrap="square" lIns="0" tIns="0" rIns="0" bIns="0" rtlCol="0" anchor="t"/>
          <a:lstStyle/>
          <a:p>
            <a:pPr indent="0" marL="0">
              <a:buNone/>
            </a:pPr>
            <a:r>
              <a:rPr lang="en-US" sz="1200" b="1" dirty="0">
                <a:solidFill>
                  <a:srgbClr val="1E2A26"/>
                </a:solidFill>
                <a:latin typeface="Courier New" pitchFamily="34" charset="0"/>
                <a:ea typeface="Courier New" pitchFamily="34" charset="-122"/>
                <a:cs typeface="Courier New" pitchFamily="34" charset="-120"/>
              </a:rPr>
              <a:t>Buat 3 soal lagi dengan format seperti contoh:
</a:t>
            </a:r>
            <a:pPr indent="0" marL="0">
              <a:buNone/>
            </a:pPr>
            <a:r>
              <a:rPr lang="en-US" sz="1200" dirty="0">
                <a:solidFill>
                  <a:srgbClr val="0078D4"/>
                </a:solidFill>
                <a:latin typeface="Courier New" pitchFamily="34" charset="0"/>
                <a:ea typeface="Courier New" pitchFamily="34" charset="-122"/>
                <a:cs typeface="Courier New" pitchFamily="34" charset="-120"/>
              </a:rPr>
              <a:t>Contoh 1:
Soal: Saat masuk masjid, kaki mana yang didahulukan?
A. Kiri  B. Kanan  C. Bebas
Jawaban: B
</a:t>
            </a:r>
            <a:pPr indent="0" marL="0">
              <a:buNone/>
            </a:pPr>
            <a:r>
              <a:rPr lang="en-US" sz="1200" dirty="0">
                <a:solidFill>
                  <a:srgbClr val="0078D4"/>
                </a:solidFill>
                <a:latin typeface="Courier New" pitchFamily="34" charset="0"/>
                <a:ea typeface="Courier New" pitchFamily="34" charset="-122"/>
                <a:cs typeface="Courier New" pitchFamily="34" charset="-120"/>
              </a:rPr>
              <a:t>Contoh 2:</a:t>
            </a:r>
            <a:endParaRPr lang="en-US" sz="1200" dirty="0"/>
          </a:p>
          <a:p>
            <a:pPr indent="0" marL="0">
              <a:buNone/>
            </a:pPr>
            <a:r>
              <a:rPr lang="en-US" sz="1200" dirty="0">
                <a:solidFill>
                  <a:srgbClr val="0078D4"/>
                </a:solidFill>
                <a:latin typeface="Courier New" pitchFamily="34" charset="0"/>
                <a:ea typeface="Courier New" pitchFamily="34" charset="-122"/>
                <a:cs typeface="Courier New" pitchFamily="34" charset="-120"/>
              </a:rPr>
              <a:t>Soal: Apa yang diucapkan saat bersin?</a:t>
            </a:r>
            <a:endParaRPr lang="en-US" sz="1200" dirty="0"/>
          </a:p>
          <a:p>
            <a:pPr indent="0" marL="0">
              <a:buNone/>
            </a:pPr>
            <a:r>
              <a:rPr lang="en-US" sz="1200" dirty="0">
                <a:solidFill>
                  <a:srgbClr val="0078D4"/>
                </a:solidFill>
                <a:latin typeface="Courier New" pitchFamily="34" charset="0"/>
                <a:ea typeface="Courier New" pitchFamily="34" charset="-122"/>
                <a:cs typeface="Courier New" pitchFamily="34" charset="-120"/>
              </a:rPr>
              <a:t>A. Alhamdulillah  B. Bismillah  C. Astaghfirullah</a:t>
            </a:r>
            <a:endParaRPr lang="en-US" sz="1200" dirty="0"/>
          </a:p>
          <a:p>
            <a:pPr indent="0" marL="0">
              <a:buNone/>
            </a:pPr>
            <a:r>
              <a:rPr lang="en-US" sz="1200" dirty="0">
                <a:solidFill>
                  <a:srgbClr val="0078D4"/>
                </a:solidFill>
                <a:latin typeface="Courier New" pitchFamily="34" charset="0"/>
                <a:ea typeface="Courier New" pitchFamily="34" charset="-122"/>
                <a:cs typeface="Courier New" pitchFamily="34" charset="-120"/>
              </a:rPr>
              <a:t>Jawaban: A</a:t>
            </a:r>
            <a:endParaRPr lang="en-US" sz="1200" dirty="0"/>
          </a:p>
        </p:txBody>
      </p:sp>
      <p:sp>
        <p:nvSpPr>
          <p:cNvPr id="11" name="Shape 7"/>
          <p:cNvSpPr/>
          <p:nvPr/>
        </p:nvSpPr>
        <p:spPr>
          <a:xfrm>
            <a:off x="457200" y="3749040"/>
            <a:ext cx="8229600" cy="777240"/>
          </a:xfrm>
          <a:prstGeom prst="roundRect">
            <a:avLst>
              <a:gd name="adj" fmla="val 11765"/>
            </a:avLst>
          </a:prstGeom>
          <a:solidFill>
            <a:srgbClr val="FBF1D3"/>
          </a:solidFill>
          <a:ln w="12700">
            <a:solidFill>
              <a:srgbClr val="FBF1D3"/>
            </a:solidFill>
            <a:prstDash val="solid"/>
          </a:ln>
        </p:spPr>
      </p:sp>
      <p:sp>
        <p:nvSpPr>
          <p:cNvPr id="12" name="Text 8"/>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Dengan contoh, AI meniru format persis: soal, 3 pilihan, dan jawaban. Isi adab tetap dicek ustadz.</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Keamanan Data saat Memakai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Aman Ditempel</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Kode program buatan sendiri (tanpa kata sandi)</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Data fiktif atau contoh</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Pertanyaan konsep dan pelajaran</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Jangan Pernah</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Nama lengkap, alamat, nomor HP, NIK</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Kata sandi, kode verifikasi, kunci API</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Data asli santri, nilai, catatan pribadi</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Mencoba Teknik Lanjutan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AI di proyektor · kelompok bergiliran menyusun prompt</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Prompt bertahap</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Few-shot</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AI bertanya balik dan cek keamanan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Bertahap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Jelaskan perbedaan HTML, CSS, dan JavaScript untuk santri kelas 9.</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82296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HTML membuat struktur halaman (judul, paragraf, gambar). CSS mengatur tampilan (warna, huruf, tata letak). JavaScript membuat halaman bisa berinteraksi (tombol bekerja, menghitung, menampilkan pesan). Ketiganya bekerja bersama untuk membangun website modern yang lengkap dan menarik bagi pengguna di berbagai perangkat...</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877824"/>
          </a:xfrm>
          <a:prstGeom prst="roundRect">
            <a:avLst>
              <a:gd name="adj" fmla="val 5208"/>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3" name="Image 7" descr="preencoded.png">    </p:cNvPr>
          <p:cNvPicPr>
            <a:picLocks noChangeAspect="1"/>
          </p:cNvPicPr>
          <p:nvPr/>
        </p:nvPicPr>
        <p:blipFill>
          <a:blip r:embed="rId8"/>
          <a:stretch>
            <a:fillRect/>
          </a:stretch>
        </p:blipFill>
        <p:spPr>
          <a:xfrm>
            <a:off x="3793132" y="2770385"/>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Putaran 1: prompt sederhana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Contoh: "Jelaskan perbedaan HTML, CSS, dan JavaScript untuk santri kelas 9."</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Bertahap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708636" y="1805693"/>
            <a:ext cx="2738628"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2800076" y="1805693"/>
            <a:ext cx="2555748"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Bagus. Sekarang jelaskan dengan perumpamaan membangun masjid.</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7772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HTML = tiang, dinding, dan atap masjid (strukturnya).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CSS = cat, kaligrafi, karpet, dan lampu (keindahannya).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JavaScript = listrik dan pengeras suara (yang membuatnya berfungsi dan bisa merespons).</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2690348" y="1787405"/>
            <a:ext cx="2775204" cy="320040"/>
          </a:xfrm>
          <a:prstGeom prst="roundRect">
            <a:avLst>
              <a:gd name="adj" fmla="val 14286"/>
            </a:avLst>
          </a:prstGeom>
          <a:solidFill>
            <a:srgbClr val="FFFFFF">
              <a:alpha val="0"/>
            </a:srgbClr>
          </a:solidFill>
          <a:ln w="31750">
            <a:solidFill>
              <a:srgbClr val="E53935"/>
            </a:solidFill>
            <a:prstDash val="solid"/>
          </a:ln>
        </p:spPr>
      </p:sp>
      <p:sp>
        <p:nvSpPr>
          <p:cNvPr id="41" name="Shape 32"/>
          <p:cNvSpPr/>
          <p:nvPr/>
        </p:nvSpPr>
        <p:spPr>
          <a:xfrm>
            <a:off x="5328392" y="165024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328392" y="16502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3" name="Image 7" descr="preencoded.png">    </p:cNvPr>
          <p:cNvPicPr>
            <a:picLocks noChangeAspect="1"/>
          </p:cNvPicPr>
          <p:nvPr/>
        </p:nvPicPr>
        <p:blipFill>
          <a:blip r:embed="rId8"/>
          <a:stretch>
            <a:fillRect/>
          </a:stretch>
        </p:blipFill>
        <p:spPr>
          <a:xfrm>
            <a:off x="4214881" y="1961598"/>
            <a:ext cx="237744" cy="237744"/>
          </a:xfrm>
          <a:prstGeom prst="rect">
            <a:avLst/>
          </a:prstGeom>
        </p:spPr>
      </p:pic>
      <p:sp>
        <p:nvSpPr>
          <p:cNvPr id="44" name="Shape 34"/>
          <p:cNvSpPr/>
          <p:nvPr/>
        </p:nvSpPr>
        <p:spPr>
          <a:xfrm>
            <a:off x="1831360" y="2162309"/>
            <a:ext cx="3570183" cy="813816"/>
          </a:xfrm>
          <a:prstGeom prst="roundRect">
            <a:avLst>
              <a:gd name="adj" fmla="val 5618"/>
            </a:avLst>
          </a:prstGeom>
          <a:solidFill>
            <a:srgbClr val="FFFFFF">
              <a:alpha val="0"/>
            </a:srgbClr>
          </a:solidFill>
          <a:ln w="31750">
            <a:solidFill>
              <a:srgbClr val="E53935"/>
            </a:solidFill>
            <a:prstDash val="solid"/>
          </a:ln>
        </p:spPr>
      </p:sp>
      <p:sp>
        <p:nvSpPr>
          <p:cNvPr id="45" name="Shape 35"/>
          <p:cNvSpPr/>
          <p:nvPr/>
        </p:nvSpPr>
        <p:spPr>
          <a:xfrm>
            <a:off x="5264384" y="2025149"/>
            <a:ext cx="274320" cy="274320"/>
          </a:xfrm>
          <a:prstGeom prst="ellipse">
            <a:avLst/>
          </a:prstGeom>
          <a:solidFill>
            <a:srgbClr val="E53935"/>
          </a:solidFill>
          <a:ln w="12700">
            <a:solidFill>
              <a:srgbClr val="FFFFFF"/>
            </a:solidFill>
            <a:prstDash val="solid"/>
          </a:ln>
        </p:spPr>
      </p:sp>
      <p:sp>
        <p:nvSpPr>
          <p:cNvPr id="46" name="Text 36"/>
          <p:cNvSpPr txBox="1"/>
          <p:nvPr/>
        </p:nvSpPr>
        <p:spPr>
          <a:xfrm>
            <a:off x="5264384" y="20251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7" name="Image 8" descr="preencoded.png">    </p:cNvPr>
          <p:cNvPicPr>
            <a:picLocks noChangeAspect="1"/>
          </p:cNvPicPr>
          <p:nvPr/>
        </p:nvPicPr>
        <p:blipFill>
          <a:blip r:embed="rId9"/>
          <a:stretch>
            <a:fillRect/>
          </a:stretch>
        </p:blipFill>
        <p:spPr>
          <a:xfrm>
            <a:off x="3793132" y="2608079"/>
            <a:ext cx="237744" cy="237744"/>
          </a:xfrm>
          <a:prstGeom prst="rect">
            <a:avLst/>
          </a:prstGeom>
        </p:spPr>
      </p:pic>
      <p:sp>
        <p:nvSpPr>
          <p:cNvPr id="48"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9"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Putaran 2: minta perumpamaan</a:t>
            </a:r>
            <a:endParaRPr lang="en-US" sz="1800" dirty="0"/>
          </a:p>
        </p:txBody>
      </p:sp>
      <p:sp>
        <p:nvSpPr>
          <p:cNvPr id="50"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Lanjutkan: "Bagus. Sekarang jelaskan dengan perumpamaan membangun masjid."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Bertahap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955524" y="1805693"/>
            <a:ext cx="2491740"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3046964" y="1805693"/>
            <a:ext cx="2308860"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Ringkas dalam tabel 3 baris: nama, fungsi, perumpamaan.</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6400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 Nama | Fungsi | Perumpamaan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HTML | Struktur | Tiang &amp; dinding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CSS | Tampilan | Cat &amp; kaligrafi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JavaScript | Interaksi | Listrik &amp; sound |</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153165"/>
            <a:ext cx="3588471" cy="694944"/>
          </a:xfrm>
          <a:prstGeom prst="roundRect">
            <a:avLst>
              <a:gd name="adj" fmla="val 6579"/>
            </a:avLst>
          </a:prstGeom>
          <a:solidFill>
            <a:srgbClr val="FFFFFF">
              <a:alpha val="0"/>
            </a:srgbClr>
          </a:solidFill>
          <a:ln w="31750">
            <a:solidFill>
              <a:srgbClr val="E53935"/>
            </a:solidFill>
            <a:prstDash val="solid"/>
          </a:ln>
        </p:spPr>
      </p:sp>
      <p:sp>
        <p:nvSpPr>
          <p:cNvPr id="41" name="Shape 32"/>
          <p:cNvSpPr/>
          <p:nvPr/>
        </p:nvSpPr>
        <p:spPr>
          <a:xfrm>
            <a:off x="5273528" y="201600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0160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53264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Putaran 3: minta ringkas jadi tabel</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Lanjutkan: "Ringkas dalam tabel 3 baris: nama, fungsi, perumpamaan."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Few-shot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Buat 3 soal lagi seperti contoh. Contoh 1: Soal: Tag HTML untuk paragraf? A. &lt;h1&gt; B. &lt;p&gt; C. &lt;img&gt; Jawaban: B. Contoh 2: ...</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7772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Soal 1: Tag HTML untuk gambar?</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A. &lt;img&gt;  B. &lt;a&gt;  C. &lt;ul&gt;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Jawaban: 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Soal 2: Properti CSS untuk warna huruf?</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A. background  B. color  C. margin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Jawaban: B</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Soal 3: ...</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832104"/>
          </a:xfrm>
          <a:prstGeom prst="roundRect">
            <a:avLst>
              <a:gd name="adj" fmla="val 5495"/>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3" name="Image 7" descr="preencoded.png">    </p:cNvPr>
          <p:cNvPicPr>
            <a:picLocks noChangeAspect="1"/>
          </p:cNvPicPr>
          <p:nvPr/>
        </p:nvPicPr>
        <p:blipFill>
          <a:blip r:embed="rId8"/>
          <a:stretch>
            <a:fillRect/>
          </a:stretch>
        </p:blipFill>
        <p:spPr>
          <a:xfrm>
            <a:off x="3793132" y="2745239"/>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Few-shot: buat soal dengan contoh</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menulis 2 contoh soal pelajaran (format sendiri), lalu meminta AI membuat 3 soal serupa. Guru mengujinya.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Bertanya Balik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Saya ingin membuat web jadwal setoran untuk santri. Sebelum memberi saran, tanyakan 3 hal yang perlu kamu ketahui dari saya.</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7772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Baik, sebelum memberi saran: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1. Siapa yang akan mengisi target setoran: ustadz atau santri?</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Apakah data perlu tersimpan, atau cukup ditampilkan?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Akan dibuka di HP atau komputer?</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832104"/>
          </a:xfrm>
          <a:prstGeom prst="roundRect">
            <a:avLst>
              <a:gd name="adj" fmla="val 5495"/>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745239"/>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Minta AI bertanya balik tentang proyek</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Prompt: "Saya ingin membuat web jadwal setoran untuk santri. Sebelum memberi saran, tanyakan 3 hal yang perlu kamu ketahui."</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Keamanan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Sebelum Menekan Kirim</a:t>
            </a:r>
            <a:endParaRPr lang="en-US" sz="1600" dirty="0"/>
          </a:p>
        </p:txBody>
      </p:sp>
      <p:sp>
        <p:nvSpPr>
          <p:cNvPr id="11" name="Shape 7"/>
          <p:cNvSpPr/>
          <p:nvPr/>
        </p:nvSpPr>
        <p:spPr>
          <a:xfrm>
            <a:off x="960120" y="1837944"/>
            <a:ext cx="274320" cy="274320"/>
          </a:xfrm>
          <a:prstGeom prst="roundRect">
            <a:avLst>
              <a:gd name="adj" fmla="val 16667"/>
            </a:avLst>
          </a:prstGeom>
          <a:solidFill>
            <a:srgbClr val="1F7A5C"/>
          </a:solidFill>
          <a:ln w="19050">
            <a:solidFill>
              <a:srgbClr val="1F7A5C"/>
            </a:solidFill>
            <a:prstDash val="solid"/>
          </a:ln>
        </p:spPr>
      </p:sp>
      <p:sp>
        <p:nvSpPr>
          <p:cNvPr id="12" name="Text 8"/>
          <p:cNvSpPr txBox="1"/>
          <p:nvPr/>
        </p:nvSpPr>
        <p:spPr>
          <a:xfrm>
            <a:off x="960120" y="18379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9"/>
          <p:cNvSpPr txBox="1"/>
          <p:nvPr/>
        </p:nvSpPr>
        <p:spPr>
          <a:xfrm>
            <a:off x="1417320" y="178308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Tidak ada nama lengkap, alamat, nomor HP</a:t>
            </a:r>
            <a:endParaRPr lang="en-US" sz="1350" dirty="0"/>
          </a:p>
        </p:txBody>
      </p:sp>
      <p:sp>
        <p:nvSpPr>
          <p:cNvPr id="14" name="Shape 10"/>
          <p:cNvSpPr/>
          <p:nvPr/>
        </p:nvSpPr>
        <p:spPr>
          <a:xfrm>
            <a:off x="960120" y="2386584"/>
            <a:ext cx="274320" cy="274320"/>
          </a:xfrm>
          <a:prstGeom prst="roundRect">
            <a:avLst>
              <a:gd name="adj" fmla="val 16667"/>
            </a:avLst>
          </a:prstGeom>
          <a:solidFill>
            <a:srgbClr val="1F7A5C"/>
          </a:solidFill>
          <a:ln w="19050">
            <a:solidFill>
              <a:srgbClr val="1F7A5C"/>
            </a:solidFill>
            <a:prstDash val="solid"/>
          </a:ln>
        </p:spPr>
      </p:sp>
      <p:sp>
        <p:nvSpPr>
          <p:cNvPr id="15" name="Text 11"/>
          <p:cNvSpPr txBox="1"/>
          <p:nvPr/>
        </p:nvSpPr>
        <p:spPr>
          <a:xfrm>
            <a:off x="960120" y="23865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2"/>
          <p:cNvSpPr txBox="1"/>
          <p:nvPr/>
        </p:nvSpPr>
        <p:spPr>
          <a:xfrm>
            <a:off x="1417320" y="233172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Tidak ada kata sandi, kode verifikasi, kunci API</a:t>
            </a:r>
            <a:endParaRPr lang="en-US" sz="1350" dirty="0"/>
          </a:p>
        </p:txBody>
      </p:sp>
      <p:sp>
        <p:nvSpPr>
          <p:cNvPr id="17" name="Shape 13"/>
          <p:cNvSpPr/>
          <p:nvPr/>
        </p:nvSpPr>
        <p:spPr>
          <a:xfrm>
            <a:off x="960120" y="2935224"/>
            <a:ext cx="274320" cy="274320"/>
          </a:xfrm>
          <a:prstGeom prst="roundRect">
            <a:avLst>
              <a:gd name="adj" fmla="val 16667"/>
            </a:avLst>
          </a:prstGeom>
          <a:solidFill>
            <a:srgbClr val="1F7A5C"/>
          </a:solidFill>
          <a:ln w="19050">
            <a:solidFill>
              <a:srgbClr val="1F7A5C"/>
            </a:solidFill>
            <a:prstDash val="solid"/>
          </a:ln>
        </p:spPr>
      </p:sp>
      <p:sp>
        <p:nvSpPr>
          <p:cNvPr id="18" name="Text 14"/>
          <p:cNvSpPr txBox="1"/>
          <p:nvPr/>
        </p:nvSpPr>
        <p:spPr>
          <a:xfrm>
            <a:off x="960120" y="29352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5"/>
          <p:cNvSpPr txBox="1"/>
          <p:nvPr/>
        </p:nvSpPr>
        <p:spPr>
          <a:xfrm>
            <a:off x="1417320" y="288036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Data yang ditempel hanya data fiktif</a:t>
            </a:r>
            <a:endParaRPr lang="en-US" sz="1350" dirty="0"/>
          </a:p>
        </p:txBody>
      </p:sp>
      <p:sp>
        <p:nvSpPr>
          <p:cNvPr id="20" name="Shape 16"/>
          <p:cNvSpPr/>
          <p:nvPr/>
        </p:nvSpPr>
        <p:spPr>
          <a:xfrm>
            <a:off x="960120" y="3483864"/>
            <a:ext cx="274320" cy="274320"/>
          </a:xfrm>
          <a:prstGeom prst="roundRect">
            <a:avLst>
              <a:gd name="adj" fmla="val 16667"/>
            </a:avLst>
          </a:prstGeom>
          <a:solidFill>
            <a:srgbClr val="1F7A5C"/>
          </a:solidFill>
          <a:ln w="19050">
            <a:solidFill>
              <a:srgbClr val="1F7A5C"/>
            </a:solidFill>
            <a:prstDash val="solid"/>
          </a:ln>
        </p:spPr>
      </p:sp>
      <p:sp>
        <p:nvSpPr>
          <p:cNvPr id="21" name="Text 17"/>
          <p:cNvSpPr txBox="1"/>
          <p:nvPr/>
        </p:nvSpPr>
        <p:spPr>
          <a:xfrm>
            <a:off x="960120" y="34838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18"/>
          <p:cNvSpPr txBox="1"/>
          <p:nvPr/>
        </p:nvSpPr>
        <p:spPr>
          <a:xfrm>
            <a:off x="1417320" y="342900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Bahasa santun dan tujuan baik</a:t>
            </a:r>
            <a:endParaRPr lang="en-US" sz="1350" dirty="0"/>
          </a:p>
        </p:txBody>
      </p:sp>
      <p:sp>
        <p:nvSpPr>
          <p:cNvPr id="23" name="Shape 19"/>
          <p:cNvSpPr/>
          <p:nvPr/>
        </p:nvSpPr>
        <p:spPr>
          <a:xfrm>
            <a:off x="896112" y="1719072"/>
            <a:ext cx="4517136" cy="2276856"/>
          </a:xfrm>
          <a:prstGeom prst="roundRect">
            <a:avLst>
              <a:gd name="adj" fmla="val 2008"/>
            </a:avLst>
          </a:prstGeom>
          <a:solidFill>
            <a:srgbClr val="FFFFFF">
              <a:alpha val="0"/>
            </a:srgbClr>
          </a:solidFill>
          <a:ln w="31750">
            <a:solidFill>
              <a:srgbClr val="E53935"/>
            </a:solidFill>
            <a:prstDash val="solid"/>
          </a:ln>
        </p:spPr>
      </p:sp>
      <p:sp>
        <p:nvSpPr>
          <p:cNvPr id="24" name="Shape 20"/>
          <p:cNvSpPr/>
          <p:nvPr/>
        </p:nvSpPr>
        <p:spPr>
          <a:xfrm>
            <a:off x="5276088" y="1581912"/>
            <a:ext cx="274320" cy="274320"/>
          </a:xfrm>
          <a:prstGeom prst="ellipse">
            <a:avLst/>
          </a:prstGeom>
          <a:solidFill>
            <a:srgbClr val="E53935"/>
          </a:solidFill>
          <a:ln w="12700">
            <a:solidFill>
              <a:srgbClr val="FFFFFF"/>
            </a:solidFill>
            <a:prstDash val="solid"/>
          </a:ln>
        </p:spPr>
      </p:sp>
      <p:sp>
        <p:nvSpPr>
          <p:cNvPr id="25" name="Text 21"/>
          <p:cNvSpPr txBox="1"/>
          <p:nvPr/>
        </p:nvSpPr>
        <p:spPr>
          <a:xfrm>
            <a:off x="5276088" y="15819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Daftar periksa sebelum menekan kirim</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Sebelum mengirim prompt, centang: tanpa data pribadi, tanpa kata sandi/kunci, data fiktif saja, bahasa santun.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8</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Docs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percakapan bertahap 3 putaran.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1 prompt few-shot dengan 2 contoh dan hasilnya.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Pertanyaan balik dari AI tentang proyek kelompok dan jawaban kelompok.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periksa keamanan sebelum mengirim prompt.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percakapan bertahap minimal 3 putaran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prompt dengan contoh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prompt AI bertanya balik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Lolos daftar periksa keamanan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Teknik mana yang paling membantumu?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Data apa yang tidak boleh dimasukkan ke AI?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Menjaga rahasia diri dan orang lain adalah amanah, termasuk saat berbicara dengan mesin.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Prompt Library Santri.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Prompt Library Santri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perpustakaan prompt yang teruji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Prompt Engineering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setiap santri menyimpan prompt terbaiknya, bagaimana agar semua bisa memakainya?</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prompt template dengan lima komponen untuk berbagai kebutuhan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dan menilai setiap prompt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Prompt Library kelas yang rapi di Google Sheets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Kategori Prompt Library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Belajar Coding</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Menjelaskan konsep, menjelaskan kode, latihan soal coding.</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Debugging</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Mencari penyebab error dengan penjelasan, bukan jawaban jadi.</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Merancang Proyek</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Bertanya balik, mematangkan fitur, membuat flowchart.</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Belajar Mapel</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Menjelaskan materi, merangkum, kuis untuk mapel lain.</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Menulis &amp; Dokumentasi</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README, laporan proyek, presentasi.</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Prompt Library (Google Sheets)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1097280" cy="411480"/>
          </a:xfrm>
          <a:prstGeom prst="rect">
            <a:avLst/>
          </a:prstGeom>
          <a:solidFill>
            <a:srgbClr val="0F4C3A"/>
          </a:solidFill>
          <a:ln w="9525">
            <a:solidFill>
              <a:srgbClr val="FFFFFF"/>
            </a:solidFill>
            <a:prstDash val="solid"/>
          </a:ln>
        </p:spPr>
      </p:sp>
      <p:sp>
        <p:nvSpPr>
          <p:cNvPr id="10" name="Text 6"/>
          <p:cNvSpPr txBox="1"/>
          <p:nvPr/>
        </p:nvSpPr>
        <p:spPr>
          <a:xfrm>
            <a:off x="457200" y="11887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Kategori</a:t>
            </a:r>
            <a:endParaRPr lang="en-US" sz="1100" dirty="0"/>
          </a:p>
        </p:txBody>
      </p:sp>
      <p:sp>
        <p:nvSpPr>
          <p:cNvPr id="11" name="Shape 7"/>
          <p:cNvSpPr/>
          <p:nvPr/>
        </p:nvSpPr>
        <p:spPr>
          <a:xfrm>
            <a:off x="1554480" y="1188720"/>
            <a:ext cx="1188720" cy="411480"/>
          </a:xfrm>
          <a:prstGeom prst="rect">
            <a:avLst/>
          </a:prstGeom>
          <a:solidFill>
            <a:srgbClr val="0F4C3A"/>
          </a:solidFill>
          <a:ln w="9525">
            <a:solidFill>
              <a:srgbClr val="FFFFFF"/>
            </a:solidFill>
            <a:prstDash val="solid"/>
          </a:ln>
        </p:spPr>
      </p:sp>
      <p:sp>
        <p:nvSpPr>
          <p:cNvPr id="12" name="Text 8"/>
          <p:cNvSpPr txBox="1"/>
          <p:nvPr/>
        </p:nvSpPr>
        <p:spPr>
          <a:xfrm>
            <a:off x="1554480" y="1188720"/>
            <a:ext cx="11887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Judul</a:t>
            </a:r>
            <a:endParaRPr lang="en-US" sz="1100" dirty="0"/>
          </a:p>
        </p:txBody>
      </p:sp>
      <p:sp>
        <p:nvSpPr>
          <p:cNvPr id="13" name="Shape 9"/>
          <p:cNvSpPr/>
          <p:nvPr/>
        </p:nvSpPr>
        <p:spPr>
          <a:xfrm>
            <a:off x="2743200" y="1188720"/>
            <a:ext cx="3200400" cy="411480"/>
          </a:xfrm>
          <a:prstGeom prst="rect">
            <a:avLst/>
          </a:prstGeom>
          <a:solidFill>
            <a:srgbClr val="0F4C3A"/>
          </a:solidFill>
          <a:ln w="9525">
            <a:solidFill>
              <a:srgbClr val="FFFFFF"/>
            </a:solidFill>
            <a:prstDash val="solid"/>
          </a:ln>
        </p:spPr>
      </p:sp>
      <p:sp>
        <p:nvSpPr>
          <p:cNvPr id="14" name="Text 10"/>
          <p:cNvSpPr txBox="1"/>
          <p:nvPr/>
        </p:nvSpPr>
        <p:spPr>
          <a:xfrm>
            <a:off x="2743200" y="1188720"/>
            <a:ext cx="32004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 template</a:t>
            </a:r>
            <a:endParaRPr lang="en-US" sz="1100" dirty="0"/>
          </a:p>
        </p:txBody>
      </p:sp>
      <p:sp>
        <p:nvSpPr>
          <p:cNvPr id="15" name="Shape 11"/>
          <p:cNvSpPr/>
          <p:nvPr/>
        </p:nvSpPr>
        <p:spPr>
          <a:xfrm>
            <a:off x="5943600" y="1188720"/>
            <a:ext cx="914400" cy="411480"/>
          </a:xfrm>
          <a:prstGeom prst="rect">
            <a:avLst/>
          </a:prstGeom>
          <a:solidFill>
            <a:srgbClr val="0F4C3A"/>
          </a:solidFill>
          <a:ln w="9525">
            <a:solidFill>
              <a:srgbClr val="FFFFFF"/>
            </a:solidFill>
            <a:prstDash val="solid"/>
          </a:ln>
        </p:spPr>
      </p:sp>
      <p:sp>
        <p:nvSpPr>
          <p:cNvPr id="16" name="Text 12"/>
          <p:cNvSpPr txBox="1"/>
          <p:nvPr/>
        </p:nvSpPr>
        <p:spPr>
          <a:xfrm>
            <a:off x="5943600" y="1188720"/>
            <a:ext cx="9144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Teknik</a:t>
            </a:r>
            <a:endParaRPr lang="en-US" sz="1100" dirty="0"/>
          </a:p>
        </p:txBody>
      </p:sp>
      <p:sp>
        <p:nvSpPr>
          <p:cNvPr id="17" name="Shape 13"/>
          <p:cNvSpPr/>
          <p:nvPr/>
        </p:nvSpPr>
        <p:spPr>
          <a:xfrm>
            <a:off x="6858000" y="1188720"/>
            <a:ext cx="640080" cy="411480"/>
          </a:xfrm>
          <a:prstGeom prst="rect">
            <a:avLst/>
          </a:prstGeom>
          <a:solidFill>
            <a:srgbClr val="0F4C3A"/>
          </a:solidFill>
          <a:ln w="9525">
            <a:solidFill>
              <a:srgbClr val="FFFFFF"/>
            </a:solidFill>
            <a:prstDash val="solid"/>
          </a:ln>
        </p:spPr>
      </p:sp>
      <p:sp>
        <p:nvSpPr>
          <p:cNvPr id="18" name="Text 14"/>
          <p:cNvSpPr txBox="1"/>
          <p:nvPr/>
        </p:nvSpPr>
        <p:spPr>
          <a:xfrm>
            <a:off x="6858000" y="1188720"/>
            <a:ext cx="6400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Nilai</a:t>
            </a:r>
            <a:endParaRPr lang="en-US" sz="1100" dirty="0"/>
          </a:p>
        </p:txBody>
      </p:sp>
      <p:sp>
        <p:nvSpPr>
          <p:cNvPr id="19" name="Shape 15"/>
          <p:cNvSpPr/>
          <p:nvPr/>
        </p:nvSpPr>
        <p:spPr>
          <a:xfrm>
            <a:off x="7498080" y="1188720"/>
            <a:ext cx="1188720" cy="411480"/>
          </a:xfrm>
          <a:prstGeom prst="rect">
            <a:avLst/>
          </a:prstGeom>
          <a:solidFill>
            <a:srgbClr val="0F4C3A"/>
          </a:solidFill>
          <a:ln w="9525">
            <a:solidFill>
              <a:srgbClr val="FFFFFF"/>
            </a:solidFill>
            <a:prstDash val="solid"/>
          </a:ln>
        </p:spPr>
      </p:sp>
      <p:sp>
        <p:nvSpPr>
          <p:cNvPr id="20" name="Text 16"/>
          <p:cNvSpPr txBox="1"/>
          <p:nvPr/>
        </p:nvSpPr>
        <p:spPr>
          <a:xfrm>
            <a:off x="7498080" y="1188720"/>
            <a:ext cx="11887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Penguji</a:t>
            </a:r>
            <a:endParaRPr lang="en-US" sz="1100" dirty="0"/>
          </a:p>
        </p:txBody>
      </p:sp>
      <p:sp>
        <p:nvSpPr>
          <p:cNvPr id="21" name="Shape 17"/>
          <p:cNvSpPr/>
          <p:nvPr/>
        </p:nvSpPr>
        <p:spPr>
          <a:xfrm>
            <a:off x="457200" y="1600200"/>
            <a:ext cx="1097280" cy="1005840"/>
          </a:xfrm>
          <a:prstGeom prst="rect">
            <a:avLst/>
          </a:prstGeom>
          <a:solidFill>
            <a:srgbClr val="FFFFFF"/>
          </a:solidFill>
          <a:ln w="6350">
            <a:solidFill>
              <a:srgbClr val="CCCCCC"/>
            </a:solidFill>
            <a:prstDash val="solid"/>
          </a:ln>
        </p:spPr>
      </p:sp>
      <p:sp>
        <p:nvSpPr>
          <p:cNvPr id="22" name="Text 18"/>
          <p:cNvSpPr txBox="1"/>
          <p:nvPr/>
        </p:nvSpPr>
        <p:spPr>
          <a:xfrm>
            <a:off x="502920" y="1600200"/>
            <a:ext cx="100584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Debugging</a:t>
            </a:r>
            <a:endParaRPr lang="en-US" sz="1050" dirty="0"/>
          </a:p>
        </p:txBody>
      </p:sp>
      <p:sp>
        <p:nvSpPr>
          <p:cNvPr id="23" name="Shape 19"/>
          <p:cNvSpPr/>
          <p:nvPr/>
        </p:nvSpPr>
        <p:spPr>
          <a:xfrm>
            <a:off x="1554480" y="1600200"/>
            <a:ext cx="1188720" cy="1005840"/>
          </a:xfrm>
          <a:prstGeom prst="rect">
            <a:avLst/>
          </a:prstGeom>
          <a:solidFill>
            <a:srgbClr val="FFFFFF"/>
          </a:solidFill>
          <a:ln w="6350">
            <a:solidFill>
              <a:srgbClr val="CCCCCC"/>
            </a:solidFill>
            <a:prstDash val="solid"/>
          </a:ln>
        </p:spPr>
      </p:sp>
      <p:sp>
        <p:nvSpPr>
          <p:cNvPr id="24" name="Text 20"/>
          <p:cNvSpPr txBox="1"/>
          <p:nvPr/>
        </p:nvSpPr>
        <p:spPr>
          <a:xfrm>
            <a:off x="1600200" y="1600200"/>
            <a:ext cx="109728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Cari penyebab error</a:t>
            </a:r>
            <a:endParaRPr lang="en-US" sz="1050" dirty="0"/>
          </a:p>
        </p:txBody>
      </p:sp>
      <p:sp>
        <p:nvSpPr>
          <p:cNvPr id="25" name="Shape 21"/>
          <p:cNvSpPr/>
          <p:nvPr/>
        </p:nvSpPr>
        <p:spPr>
          <a:xfrm>
            <a:off x="2743200" y="1600200"/>
            <a:ext cx="3200400" cy="1005840"/>
          </a:xfrm>
          <a:prstGeom prst="rect">
            <a:avLst/>
          </a:prstGeom>
          <a:solidFill>
            <a:srgbClr val="FFFFFF"/>
          </a:solidFill>
          <a:ln w="6350">
            <a:solidFill>
              <a:srgbClr val="CCCCCC"/>
            </a:solidFill>
            <a:prstDash val="solid"/>
          </a:ln>
        </p:spPr>
      </p:sp>
      <p:sp>
        <p:nvSpPr>
          <p:cNvPr id="26" name="Text 22"/>
          <p:cNvSpPr txBox="1"/>
          <p:nvPr/>
        </p:nvSpPr>
        <p:spPr>
          <a:xfrm>
            <a:off x="2788920" y="1600200"/>
            <a:ext cx="3108960" cy="1005840"/>
          </a:xfrm>
          <a:prstGeom prst="rect">
            <a:avLst/>
          </a:prstGeom>
          <a:noFill/>
          <a:ln/>
        </p:spPr>
        <p:txBody>
          <a:bodyPr wrap="square" lIns="0" tIns="0" rIns="0" bIns="0" rtlCol="0" anchor="ctr"/>
          <a:lstStyle/>
          <a:p>
            <a:pPr indent="0" marL="0">
              <a:buNone/>
            </a:pPr>
            <a:r>
              <a:rPr lang="en-US" sz="950" dirty="0">
                <a:solidFill>
                  <a:srgbClr val="1E2A26"/>
                </a:solidFill>
                <a:latin typeface="Courier New" pitchFamily="34" charset="0"/>
                <a:ea typeface="Courier New" pitchFamily="34" charset="-122"/>
                <a:cs typeface="Courier New" pitchFamily="34" charset="-120"/>
              </a:rPr>
              <a:t>Kode saya [tempel kode]. Gejalanya [gejala]. Jelaskan penyebab dan langkah perbaikan satu per satu. Jangan ganti semua kode.</a:t>
            </a:r>
            <a:endParaRPr lang="en-US" sz="950" dirty="0"/>
          </a:p>
        </p:txBody>
      </p:sp>
      <p:sp>
        <p:nvSpPr>
          <p:cNvPr id="27" name="Shape 23"/>
          <p:cNvSpPr/>
          <p:nvPr/>
        </p:nvSpPr>
        <p:spPr>
          <a:xfrm>
            <a:off x="5943600" y="1600200"/>
            <a:ext cx="914400" cy="1005840"/>
          </a:xfrm>
          <a:prstGeom prst="rect">
            <a:avLst/>
          </a:prstGeom>
          <a:solidFill>
            <a:srgbClr val="FFFFFF"/>
          </a:solidFill>
          <a:ln w="6350">
            <a:solidFill>
              <a:srgbClr val="CCCCCC"/>
            </a:solidFill>
            <a:prstDash val="solid"/>
          </a:ln>
        </p:spPr>
      </p:sp>
      <p:sp>
        <p:nvSpPr>
          <p:cNvPr id="28" name="Text 24"/>
          <p:cNvSpPr txBox="1"/>
          <p:nvPr/>
        </p:nvSpPr>
        <p:spPr>
          <a:xfrm>
            <a:off x="5989320" y="1600200"/>
            <a:ext cx="82296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5 komp.</a:t>
            </a:r>
            <a:endParaRPr lang="en-US" sz="1050" dirty="0"/>
          </a:p>
        </p:txBody>
      </p:sp>
      <p:sp>
        <p:nvSpPr>
          <p:cNvPr id="29" name="Shape 25"/>
          <p:cNvSpPr/>
          <p:nvPr/>
        </p:nvSpPr>
        <p:spPr>
          <a:xfrm>
            <a:off x="6858000" y="1600200"/>
            <a:ext cx="640080" cy="1005840"/>
          </a:xfrm>
          <a:prstGeom prst="rect">
            <a:avLst/>
          </a:prstGeom>
          <a:solidFill>
            <a:srgbClr val="FFFFFF"/>
          </a:solidFill>
          <a:ln w="6350">
            <a:solidFill>
              <a:srgbClr val="CCCCCC"/>
            </a:solidFill>
            <a:prstDash val="solid"/>
          </a:ln>
        </p:spPr>
      </p:sp>
      <p:sp>
        <p:nvSpPr>
          <p:cNvPr id="30" name="Text 26"/>
          <p:cNvSpPr txBox="1"/>
          <p:nvPr/>
        </p:nvSpPr>
        <p:spPr>
          <a:xfrm>
            <a:off x="6903720" y="1600200"/>
            <a:ext cx="54864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5</a:t>
            </a:r>
            <a:endParaRPr lang="en-US" sz="1050" dirty="0"/>
          </a:p>
        </p:txBody>
      </p:sp>
      <p:sp>
        <p:nvSpPr>
          <p:cNvPr id="31" name="Shape 27"/>
          <p:cNvSpPr/>
          <p:nvPr/>
        </p:nvSpPr>
        <p:spPr>
          <a:xfrm>
            <a:off x="7498080" y="1600200"/>
            <a:ext cx="1188720" cy="1005840"/>
          </a:xfrm>
          <a:prstGeom prst="rect">
            <a:avLst/>
          </a:prstGeom>
          <a:solidFill>
            <a:srgbClr val="FFFFFF"/>
          </a:solidFill>
          <a:ln w="6350">
            <a:solidFill>
              <a:srgbClr val="CCCCCC"/>
            </a:solidFill>
            <a:prstDash val="solid"/>
          </a:ln>
        </p:spPr>
      </p:sp>
      <p:sp>
        <p:nvSpPr>
          <p:cNvPr id="32" name="Text 28"/>
          <p:cNvSpPr txBox="1"/>
          <p:nvPr/>
        </p:nvSpPr>
        <p:spPr>
          <a:xfrm>
            <a:off x="7543800" y="1600200"/>
            <a:ext cx="109728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Kel 3</a:t>
            </a:r>
            <a:endParaRPr lang="en-US" sz="1050" dirty="0"/>
          </a:p>
        </p:txBody>
      </p:sp>
      <p:sp>
        <p:nvSpPr>
          <p:cNvPr id="33" name="Shape 29"/>
          <p:cNvSpPr/>
          <p:nvPr/>
        </p:nvSpPr>
        <p:spPr>
          <a:xfrm>
            <a:off x="457200" y="2606040"/>
            <a:ext cx="1097280" cy="1005840"/>
          </a:xfrm>
          <a:prstGeom prst="rect">
            <a:avLst/>
          </a:prstGeom>
          <a:solidFill>
            <a:srgbClr val="F3F8F5"/>
          </a:solidFill>
          <a:ln w="6350">
            <a:solidFill>
              <a:srgbClr val="CCCCCC"/>
            </a:solidFill>
            <a:prstDash val="solid"/>
          </a:ln>
        </p:spPr>
      </p:sp>
      <p:sp>
        <p:nvSpPr>
          <p:cNvPr id="34" name="Text 30"/>
          <p:cNvSpPr txBox="1"/>
          <p:nvPr/>
        </p:nvSpPr>
        <p:spPr>
          <a:xfrm>
            <a:off x="502920" y="2606040"/>
            <a:ext cx="100584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Belajar Coding</a:t>
            </a:r>
            <a:endParaRPr lang="en-US" sz="1050" dirty="0"/>
          </a:p>
        </p:txBody>
      </p:sp>
      <p:sp>
        <p:nvSpPr>
          <p:cNvPr id="35" name="Shape 31"/>
          <p:cNvSpPr/>
          <p:nvPr/>
        </p:nvSpPr>
        <p:spPr>
          <a:xfrm>
            <a:off x="1554480" y="2606040"/>
            <a:ext cx="1188720" cy="1005840"/>
          </a:xfrm>
          <a:prstGeom prst="rect">
            <a:avLst/>
          </a:prstGeom>
          <a:solidFill>
            <a:srgbClr val="F3F8F5"/>
          </a:solidFill>
          <a:ln w="6350">
            <a:solidFill>
              <a:srgbClr val="CCCCCC"/>
            </a:solidFill>
            <a:prstDash val="solid"/>
          </a:ln>
        </p:spPr>
      </p:sp>
      <p:sp>
        <p:nvSpPr>
          <p:cNvPr id="36" name="Text 32"/>
          <p:cNvSpPr txBox="1"/>
          <p:nvPr/>
        </p:nvSpPr>
        <p:spPr>
          <a:xfrm>
            <a:off x="1600200" y="2606040"/>
            <a:ext cx="109728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Jelaskan konsep</a:t>
            </a:r>
            <a:endParaRPr lang="en-US" sz="1050" dirty="0"/>
          </a:p>
        </p:txBody>
      </p:sp>
      <p:sp>
        <p:nvSpPr>
          <p:cNvPr id="37" name="Shape 33"/>
          <p:cNvSpPr/>
          <p:nvPr/>
        </p:nvSpPr>
        <p:spPr>
          <a:xfrm>
            <a:off x="2743200" y="2606040"/>
            <a:ext cx="3200400" cy="1005840"/>
          </a:xfrm>
          <a:prstGeom prst="rect">
            <a:avLst/>
          </a:prstGeom>
          <a:solidFill>
            <a:srgbClr val="F3F8F5"/>
          </a:solidFill>
          <a:ln w="6350">
            <a:solidFill>
              <a:srgbClr val="CCCCCC"/>
            </a:solidFill>
            <a:prstDash val="solid"/>
          </a:ln>
        </p:spPr>
      </p:sp>
      <p:sp>
        <p:nvSpPr>
          <p:cNvPr id="38" name="Text 34"/>
          <p:cNvSpPr txBox="1"/>
          <p:nvPr/>
        </p:nvSpPr>
        <p:spPr>
          <a:xfrm>
            <a:off x="2788920" y="2606040"/>
            <a:ext cx="3108960" cy="1005840"/>
          </a:xfrm>
          <a:prstGeom prst="rect">
            <a:avLst/>
          </a:prstGeom>
          <a:noFill/>
          <a:ln/>
        </p:spPr>
        <p:txBody>
          <a:bodyPr wrap="square" lIns="0" tIns="0" rIns="0" bIns="0" rtlCol="0" anchor="ctr"/>
          <a:lstStyle/>
          <a:p>
            <a:pPr indent="0" marL="0">
              <a:buNone/>
            </a:pPr>
            <a:r>
              <a:rPr lang="en-US" sz="950" dirty="0">
                <a:solidFill>
                  <a:srgbClr val="1E2A26"/>
                </a:solidFill>
                <a:latin typeface="Courier New" pitchFamily="34" charset="0"/>
                <a:ea typeface="Courier New" pitchFamily="34" charset="-122"/>
                <a:cs typeface="Courier New" pitchFamily="34" charset="-120"/>
              </a:rPr>
              <a:t>Kamu guru pemrograman sabar. Saya santri kelas 9. Jelaskan [konsep] maks 100 kata + 1 contoh kode + 1 perumpamaan.</a:t>
            </a:r>
            <a:endParaRPr lang="en-US" sz="950" dirty="0"/>
          </a:p>
        </p:txBody>
      </p:sp>
      <p:sp>
        <p:nvSpPr>
          <p:cNvPr id="39" name="Shape 35"/>
          <p:cNvSpPr/>
          <p:nvPr/>
        </p:nvSpPr>
        <p:spPr>
          <a:xfrm>
            <a:off x="5943600" y="2606040"/>
            <a:ext cx="914400" cy="1005840"/>
          </a:xfrm>
          <a:prstGeom prst="rect">
            <a:avLst/>
          </a:prstGeom>
          <a:solidFill>
            <a:srgbClr val="F3F8F5"/>
          </a:solidFill>
          <a:ln w="6350">
            <a:solidFill>
              <a:srgbClr val="CCCCCC"/>
            </a:solidFill>
            <a:prstDash val="solid"/>
          </a:ln>
        </p:spPr>
      </p:sp>
      <p:sp>
        <p:nvSpPr>
          <p:cNvPr id="40" name="Text 36"/>
          <p:cNvSpPr txBox="1"/>
          <p:nvPr/>
        </p:nvSpPr>
        <p:spPr>
          <a:xfrm>
            <a:off x="5989320" y="2606040"/>
            <a:ext cx="82296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5 komp.</a:t>
            </a:r>
            <a:endParaRPr lang="en-US" sz="1050" dirty="0"/>
          </a:p>
        </p:txBody>
      </p:sp>
      <p:sp>
        <p:nvSpPr>
          <p:cNvPr id="41" name="Shape 37"/>
          <p:cNvSpPr/>
          <p:nvPr/>
        </p:nvSpPr>
        <p:spPr>
          <a:xfrm>
            <a:off x="6858000" y="2606040"/>
            <a:ext cx="640080" cy="1005840"/>
          </a:xfrm>
          <a:prstGeom prst="rect">
            <a:avLst/>
          </a:prstGeom>
          <a:solidFill>
            <a:srgbClr val="F3F8F5"/>
          </a:solidFill>
          <a:ln w="6350">
            <a:solidFill>
              <a:srgbClr val="CCCCCC"/>
            </a:solidFill>
            <a:prstDash val="solid"/>
          </a:ln>
        </p:spPr>
      </p:sp>
      <p:sp>
        <p:nvSpPr>
          <p:cNvPr id="42" name="Text 38"/>
          <p:cNvSpPr txBox="1"/>
          <p:nvPr/>
        </p:nvSpPr>
        <p:spPr>
          <a:xfrm>
            <a:off x="6903720" y="2606040"/>
            <a:ext cx="54864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5</a:t>
            </a:r>
            <a:endParaRPr lang="en-US" sz="1050" dirty="0"/>
          </a:p>
        </p:txBody>
      </p:sp>
      <p:sp>
        <p:nvSpPr>
          <p:cNvPr id="43" name="Shape 39"/>
          <p:cNvSpPr/>
          <p:nvPr/>
        </p:nvSpPr>
        <p:spPr>
          <a:xfrm>
            <a:off x="7498080" y="2606040"/>
            <a:ext cx="1188720" cy="1005840"/>
          </a:xfrm>
          <a:prstGeom prst="rect">
            <a:avLst/>
          </a:prstGeom>
          <a:solidFill>
            <a:srgbClr val="F3F8F5"/>
          </a:solidFill>
          <a:ln w="6350">
            <a:solidFill>
              <a:srgbClr val="CCCCCC"/>
            </a:solidFill>
            <a:prstDash val="solid"/>
          </a:ln>
        </p:spPr>
      </p:sp>
      <p:sp>
        <p:nvSpPr>
          <p:cNvPr id="44" name="Text 40"/>
          <p:cNvSpPr txBox="1"/>
          <p:nvPr/>
        </p:nvSpPr>
        <p:spPr>
          <a:xfrm>
            <a:off x="7543800" y="2606040"/>
            <a:ext cx="1097280" cy="10058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Kel 1</a:t>
            </a:r>
            <a:endParaRPr lang="en-US" sz="1050" dirty="0"/>
          </a:p>
        </p:txBody>
      </p:sp>
      <p:sp>
        <p:nvSpPr>
          <p:cNvPr id="45" name="Shape 41"/>
          <p:cNvSpPr/>
          <p:nvPr/>
        </p:nvSpPr>
        <p:spPr>
          <a:xfrm>
            <a:off x="457200" y="3749040"/>
            <a:ext cx="8229600" cy="777240"/>
          </a:xfrm>
          <a:prstGeom prst="roundRect">
            <a:avLst>
              <a:gd name="adj" fmla="val 11765"/>
            </a:avLst>
          </a:prstGeom>
          <a:solidFill>
            <a:srgbClr val="FBF1D3"/>
          </a:solidFill>
          <a:ln w="12700">
            <a:solidFill>
              <a:srgbClr val="FBF1D3"/>
            </a:solidFill>
            <a:prstDash val="solid"/>
          </a:ln>
        </p:spPr>
      </p:sp>
      <p:sp>
        <p:nvSpPr>
          <p:cNvPr id="46" name="Text 42"/>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[kurung siku] = bagian yang diganti pengguna. Filter kolom Kategori untuk mencari prompt.</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Prompt Library</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3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5 prompt template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dan menilai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Library dan aturan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Lab_Prompt_Kel3 -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Lab_Prompt_Kel3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Template Kelompok 3</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1. Belajar Coding:</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Kamu guru pemrograman sabar. Saya santri kelas 9.</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Jelaskan [konsep] maks 100 kata, 1 contoh kode,</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1 perumpamaan dari pesantren.</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2. Debugging: ...</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5 prompt template, satu per kategori</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kelompok, tulis 5 prompt dengan 5 komponen dan [kurung siku] untuk bagian yang diganti.</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Lab_Prompt_Kel3 -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Lab_Prompt_Kel3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3. Merancang Proyek (teknik: bertanya balik)</a:t>
            </a:r>
            <a:endParaRPr lang="en-US" sz="800" dirty="0"/>
          </a:p>
        </p:txBody>
      </p:sp>
      <p:sp>
        <p:nvSpPr>
          <p:cNvPr id="70" name="Text 59"/>
          <p:cNvSpPr txBox="1"/>
          <p:nvPr/>
        </p:nvSpPr>
        <p:spPr>
          <a:xfrm>
            <a:off x="1554480" y="282169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Saya ingin membuat [ide aplikasi] untuk [pengguna].</a:t>
            </a:r>
            <a:endParaRPr lang="en-US" sz="800" dirty="0"/>
          </a:p>
        </p:txBody>
      </p:sp>
      <p:sp>
        <p:nvSpPr>
          <p:cNvPr id="71" name="Text 60"/>
          <p:cNvSpPr txBox="1"/>
          <p:nvPr/>
        </p:nvSpPr>
        <p:spPr>
          <a:xfrm>
            <a:off x="1554480" y="301473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Sebelum memberi saran, tanyakan 3 hal yang perlu</a:t>
            </a:r>
            <a:endParaRPr lang="en-US" sz="800" dirty="0"/>
          </a:p>
        </p:txBody>
      </p:sp>
      <p:sp>
        <p:nvSpPr>
          <p:cNvPr id="72" name="Text 61"/>
          <p:cNvSpPr txBox="1"/>
          <p:nvPr/>
        </p:nvSpPr>
        <p:spPr>
          <a:xfrm>
            <a:off x="1554480" y="320777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kamu ketahui. Setelah saya jawab, beri 3 fitur</a:t>
            </a:r>
            <a:endParaRPr lang="en-US" sz="800" dirty="0"/>
          </a:p>
        </p:txBody>
      </p:sp>
      <p:sp>
        <p:nvSpPr>
          <p:cNvPr id="73" name="Text 62"/>
          <p:cNvSpPr txBox="1"/>
          <p:nvPr/>
        </p:nvSpPr>
        <p:spPr>
          <a:xfrm>
            <a:off x="1554480" y="340081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utama yang bisa dibuat dengan HTML, CSS, JS.</a:t>
            </a:r>
            <a:endParaRPr lang="en-US" sz="800" dirty="0"/>
          </a:p>
        </p:txBody>
      </p:sp>
      <p:sp>
        <p:nvSpPr>
          <p:cNvPr id="74" name="Shape 63"/>
          <p:cNvSpPr/>
          <p:nvPr/>
        </p:nvSpPr>
        <p:spPr>
          <a:xfrm>
            <a:off x="1527048" y="2601221"/>
            <a:ext cx="3072384" cy="974344"/>
          </a:xfrm>
          <a:prstGeom prst="roundRect">
            <a:avLst>
              <a:gd name="adj" fmla="val 4692"/>
            </a:avLst>
          </a:prstGeom>
          <a:solidFill>
            <a:srgbClr val="FFFFFF">
              <a:alpha val="0"/>
            </a:srgbClr>
          </a:solidFill>
          <a:ln w="31750">
            <a:solidFill>
              <a:srgbClr val="E53935"/>
            </a:solidFill>
            <a:prstDash val="solid"/>
          </a:ln>
        </p:spPr>
      </p:sp>
      <p:sp>
        <p:nvSpPr>
          <p:cNvPr id="75" name="Shape 64"/>
          <p:cNvSpPr/>
          <p:nvPr/>
        </p:nvSpPr>
        <p:spPr>
          <a:xfrm>
            <a:off x="4462272" y="2464061"/>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7" name="Image 9" descr="preencoded.png">    </p:cNvPr>
          <p:cNvPicPr>
            <a:picLocks noChangeAspect="1"/>
          </p:cNvPicPr>
          <p:nvPr/>
        </p:nvPicPr>
        <p:blipFill>
          <a:blip r:embed="rId10"/>
          <a:stretch>
            <a:fillRect/>
          </a:stretch>
        </p:blipFill>
        <p:spPr>
          <a:xfrm>
            <a:off x="3214116" y="3134367"/>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teknik lanjutan</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minimal 2 prompt, gunakan teknik: bertahap, few-shot, bertanya balik, atau langkah demi langkah.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Kode saya: let nama = "Ahmad" console.log(nama). Gejalanya: muncul error. Jelaskan penyebab dan langkah perbaikan satu per satu. Jangan ganti semua kode.</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7772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Penyebab: dua perintah ditulis di satu baris tanpa pemisah. Setelah "Ahmad" perlu titik koma ( ; ) atau baris baru.</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Langkah: 1) Tambahkan ; setelah "Ahmad". 2) Jalankan lagi. 3) Periksa Console.</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832104"/>
          </a:xfrm>
          <a:prstGeom prst="roundRect">
            <a:avLst>
              <a:gd name="adj" fmla="val 5495"/>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882399"/>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menguji prompt di layar</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mengganti [kurung siku] dengan contoh nyata. Guru mengetikkan ke AI. Kelompok mencatat hasilnya.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Skala Nilai Prompt</a:t>
            </a:r>
            <a:endParaRPr lang="en-US" sz="1600" dirty="0"/>
          </a:p>
        </p:txBody>
      </p:sp>
      <p:sp>
        <p:nvSpPr>
          <p:cNvPr id="11" name="Shape 7"/>
          <p:cNvSpPr/>
          <p:nvPr/>
        </p:nvSpPr>
        <p:spPr>
          <a:xfrm>
            <a:off x="960120" y="1737360"/>
            <a:ext cx="548640" cy="411480"/>
          </a:xfrm>
          <a:prstGeom prst="roundRect">
            <a:avLst>
              <a:gd name="adj" fmla="val 17778"/>
            </a:avLst>
          </a:prstGeom>
          <a:solidFill>
            <a:srgbClr val="1F7A5C"/>
          </a:solidFill>
          <a:ln w="12700">
            <a:solidFill>
              <a:srgbClr val="1F7A5C"/>
            </a:solidFill>
            <a:prstDash val="solid"/>
          </a:ln>
        </p:spPr>
      </p:sp>
      <p:sp>
        <p:nvSpPr>
          <p:cNvPr id="12" name="Text 8"/>
          <p:cNvSpPr txBox="1"/>
          <p:nvPr/>
        </p:nvSpPr>
        <p:spPr>
          <a:xfrm>
            <a:off x="960120" y="1737360"/>
            <a:ext cx="5486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3" name="Text 9"/>
          <p:cNvSpPr txBox="1"/>
          <p:nvPr/>
        </p:nvSpPr>
        <p:spPr>
          <a:xfrm>
            <a:off x="1645920" y="1737360"/>
            <a:ext cx="3657600" cy="41148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Jelas, sesuai level, patuh semua batasan</a:t>
            </a:r>
            <a:endParaRPr lang="en-US" sz="1350" dirty="0"/>
          </a:p>
        </p:txBody>
      </p:sp>
      <p:sp>
        <p:nvSpPr>
          <p:cNvPr id="14" name="Shape 10"/>
          <p:cNvSpPr/>
          <p:nvPr/>
        </p:nvSpPr>
        <p:spPr>
          <a:xfrm>
            <a:off x="960120" y="2286000"/>
            <a:ext cx="548640" cy="411480"/>
          </a:xfrm>
          <a:prstGeom prst="roundRect">
            <a:avLst>
              <a:gd name="adj" fmla="val 17778"/>
            </a:avLst>
          </a:prstGeom>
          <a:solidFill>
            <a:srgbClr val="7CB342"/>
          </a:solidFill>
          <a:ln w="12700">
            <a:solidFill>
              <a:srgbClr val="7CB342"/>
            </a:solidFill>
            <a:prstDash val="solid"/>
          </a:ln>
        </p:spPr>
      </p:sp>
      <p:sp>
        <p:nvSpPr>
          <p:cNvPr id="15" name="Text 11"/>
          <p:cNvSpPr txBox="1"/>
          <p:nvPr/>
        </p:nvSpPr>
        <p:spPr>
          <a:xfrm>
            <a:off x="960120" y="2286000"/>
            <a:ext cx="5486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2"/>
          <p:cNvSpPr txBox="1"/>
          <p:nvPr/>
        </p:nvSpPr>
        <p:spPr>
          <a:xfrm>
            <a:off x="1645920" y="2286000"/>
            <a:ext cx="3657600" cy="41148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Baik, ada kekurangan kecil</a:t>
            </a:r>
            <a:endParaRPr lang="en-US" sz="1350" dirty="0"/>
          </a:p>
        </p:txBody>
      </p:sp>
      <p:sp>
        <p:nvSpPr>
          <p:cNvPr id="17" name="Shape 13"/>
          <p:cNvSpPr/>
          <p:nvPr/>
        </p:nvSpPr>
        <p:spPr>
          <a:xfrm>
            <a:off x="960120" y="2834640"/>
            <a:ext cx="548640" cy="411480"/>
          </a:xfrm>
          <a:prstGeom prst="roundRect">
            <a:avLst>
              <a:gd name="adj" fmla="val 17778"/>
            </a:avLst>
          </a:prstGeom>
          <a:solidFill>
            <a:srgbClr val="D4A017"/>
          </a:solidFill>
          <a:ln w="12700">
            <a:solidFill>
              <a:srgbClr val="D4A017"/>
            </a:solidFill>
            <a:prstDash val="solid"/>
          </a:ln>
        </p:spPr>
      </p:sp>
      <p:sp>
        <p:nvSpPr>
          <p:cNvPr id="18" name="Text 14"/>
          <p:cNvSpPr txBox="1"/>
          <p:nvPr/>
        </p:nvSpPr>
        <p:spPr>
          <a:xfrm>
            <a:off x="960120" y="2834640"/>
            <a:ext cx="5486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645920" y="2834640"/>
            <a:ext cx="3657600" cy="41148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Cukup, perlu diperbaiki</a:t>
            </a:r>
            <a:endParaRPr lang="en-US" sz="1350" dirty="0"/>
          </a:p>
        </p:txBody>
      </p:sp>
      <p:sp>
        <p:nvSpPr>
          <p:cNvPr id="20" name="Shape 16"/>
          <p:cNvSpPr/>
          <p:nvPr/>
        </p:nvSpPr>
        <p:spPr>
          <a:xfrm>
            <a:off x="960120" y="3383280"/>
            <a:ext cx="548640" cy="411480"/>
          </a:xfrm>
          <a:prstGeom prst="roundRect">
            <a:avLst>
              <a:gd name="adj" fmla="val 17778"/>
            </a:avLst>
          </a:prstGeom>
          <a:solidFill>
            <a:srgbClr val="E53935"/>
          </a:solidFill>
          <a:ln w="12700">
            <a:solidFill>
              <a:srgbClr val="E53935"/>
            </a:solidFill>
            <a:prstDash val="solid"/>
          </a:ln>
        </p:spPr>
      </p:sp>
      <p:sp>
        <p:nvSpPr>
          <p:cNvPr id="21" name="Text 17"/>
          <p:cNvSpPr txBox="1"/>
          <p:nvPr/>
        </p:nvSpPr>
        <p:spPr>
          <a:xfrm>
            <a:off x="960120" y="3383280"/>
            <a:ext cx="5486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2" name="Text 18"/>
          <p:cNvSpPr txBox="1"/>
          <p:nvPr/>
        </p:nvSpPr>
        <p:spPr>
          <a:xfrm>
            <a:off x="1645920" y="3383280"/>
            <a:ext cx="3657600" cy="41148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Tidak sesuai, tulis ulang</a:t>
            </a:r>
            <a:endParaRPr lang="en-US" sz="1350" dirty="0"/>
          </a:p>
        </p:txBody>
      </p:sp>
      <p:sp>
        <p:nvSpPr>
          <p:cNvPr id="23" name="Shape 19"/>
          <p:cNvSpPr/>
          <p:nvPr/>
        </p:nvSpPr>
        <p:spPr>
          <a:xfrm>
            <a:off x="896112" y="1673352"/>
            <a:ext cx="4517136" cy="2231136"/>
          </a:xfrm>
          <a:prstGeom prst="roundRect">
            <a:avLst>
              <a:gd name="adj" fmla="val 2049"/>
            </a:avLst>
          </a:prstGeom>
          <a:solidFill>
            <a:srgbClr val="FFFFFF">
              <a:alpha val="0"/>
            </a:srgbClr>
          </a:solidFill>
          <a:ln w="31750">
            <a:solidFill>
              <a:srgbClr val="E53935"/>
            </a:solidFill>
            <a:prstDash val="solid"/>
          </a:ln>
        </p:spPr>
      </p:sp>
      <p:sp>
        <p:nvSpPr>
          <p:cNvPr id="24" name="Shape 20"/>
          <p:cNvSpPr/>
          <p:nvPr/>
        </p:nvSpPr>
        <p:spPr>
          <a:xfrm>
            <a:off x="5276088" y="1536192"/>
            <a:ext cx="274320" cy="274320"/>
          </a:xfrm>
          <a:prstGeom prst="ellipse">
            <a:avLst/>
          </a:prstGeom>
          <a:solidFill>
            <a:srgbClr val="E53935"/>
          </a:solidFill>
          <a:ln w="12700">
            <a:solidFill>
              <a:srgbClr val="FFFFFF"/>
            </a:solidFill>
            <a:prstDash val="solid"/>
          </a:ln>
        </p:spPr>
      </p:sp>
      <p:sp>
        <p:nvSpPr>
          <p:cNvPr id="25" name="Text 21"/>
          <p:cNvSpPr txBox="1"/>
          <p:nvPr/>
        </p:nvSpPr>
        <p:spPr>
          <a:xfrm>
            <a:off x="5276088" y="15361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Nilai hasil 1–5, perbaiki bila perlu</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Nilai: 5 = jelas, sesuai level, patuh batasan. Jika nilai di bawah 4, perbaiki prompt dan uji ulang.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Library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Prompt_Library_Kelas9 -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Prompt_Library_Kelas9</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52568" y="2573789"/>
            <a:ext cx="1463040" cy="119299"/>
          </a:xfrm>
          <a:prstGeom prst="rect">
            <a:avLst/>
          </a:prstGeom>
          <a:solidFill>
            <a:srgbClr val="F8F9FA"/>
          </a:solidFill>
          <a:ln w="6350">
            <a:solidFill>
              <a:srgbClr val="DDDDDD"/>
            </a:solidFill>
            <a:prstDash val="solid"/>
          </a:ln>
        </p:spPr>
      </p:sp>
      <p:sp>
        <p:nvSpPr>
          <p:cNvPr id="66" name="Text 58"/>
          <p:cNvSpPr txBox="1"/>
          <p:nvPr/>
        </p:nvSpPr>
        <p:spPr>
          <a:xfrm>
            <a:off x="2352568" y="2573789"/>
            <a:ext cx="1463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81560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38156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4364248" y="2573789"/>
            <a:ext cx="365760" cy="119299"/>
          </a:xfrm>
          <a:prstGeom prst="rect">
            <a:avLst/>
          </a:prstGeom>
          <a:solidFill>
            <a:srgbClr val="F8F9FA"/>
          </a:solidFill>
          <a:ln w="6350">
            <a:solidFill>
              <a:srgbClr val="DDDDDD"/>
            </a:solidFill>
            <a:prstDash val="solid"/>
          </a:ln>
        </p:spPr>
      </p:sp>
      <p:sp>
        <p:nvSpPr>
          <p:cNvPr id="70" name="Text 62"/>
          <p:cNvSpPr txBox="1"/>
          <p:nvPr/>
        </p:nvSpPr>
        <p:spPr>
          <a:xfrm>
            <a:off x="43642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730008" y="2573789"/>
            <a:ext cx="457200" cy="119299"/>
          </a:xfrm>
          <a:prstGeom prst="rect">
            <a:avLst/>
          </a:prstGeom>
          <a:solidFill>
            <a:srgbClr val="F8F9FA"/>
          </a:solidFill>
          <a:ln w="6350">
            <a:solidFill>
              <a:srgbClr val="DDDDDD"/>
            </a:solidFill>
            <a:prstDash val="solid"/>
          </a:ln>
        </p:spPr>
      </p:sp>
      <p:sp>
        <p:nvSpPr>
          <p:cNvPr id="72" name="Text 64"/>
          <p:cNvSpPr txBox="1"/>
          <p:nvPr/>
        </p:nvSpPr>
        <p:spPr>
          <a:xfrm>
            <a:off x="47300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Kategori</a:t>
            </a:r>
            <a:endParaRPr lang="en-US" sz="600" dirty="0"/>
          </a:p>
        </p:txBody>
      </p:sp>
      <p:sp>
        <p:nvSpPr>
          <p:cNvPr id="77" name="Shape 69"/>
          <p:cNvSpPr/>
          <p:nvPr/>
        </p:nvSpPr>
        <p:spPr>
          <a:xfrm>
            <a:off x="162104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64848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Judul</a:t>
            </a:r>
            <a:endParaRPr lang="en-US" sz="600" dirty="0"/>
          </a:p>
        </p:txBody>
      </p:sp>
      <p:sp>
        <p:nvSpPr>
          <p:cNvPr id="79" name="Shape 71"/>
          <p:cNvSpPr/>
          <p:nvPr/>
        </p:nvSpPr>
        <p:spPr>
          <a:xfrm>
            <a:off x="2352568" y="2693089"/>
            <a:ext cx="1463040" cy="119299"/>
          </a:xfrm>
          <a:prstGeom prst="rect">
            <a:avLst/>
          </a:prstGeom>
          <a:solidFill>
            <a:srgbClr val="0F4C3A"/>
          </a:solidFill>
          <a:ln w="6350">
            <a:solidFill>
              <a:srgbClr val="E2E2E2"/>
            </a:solidFill>
            <a:prstDash val="solid"/>
          </a:ln>
        </p:spPr>
      </p:sp>
      <p:sp>
        <p:nvSpPr>
          <p:cNvPr id="80" name="Text 72"/>
          <p:cNvSpPr txBox="1"/>
          <p:nvPr/>
        </p:nvSpPr>
        <p:spPr>
          <a:xfrm>
            <a:off x="2380000" y="2693089"/>
            <a:ext cx="1408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Prompt template</a:t>
            </a:r>
            <a:endParaRPr lang="en-US" sz="600" dirty="0"/>
          </a:p>
        </p:txBody>
      </p:sp>
      <p:sp>
        <p:nvSpPr>
          <p:cNvPr id="81" name="Shape 73"/>
          <p:cNvSpPr/>
          <p:nvPr/>
        </p:nvSpPr>
        <p:spPr>
          <a:xfrm>
            <a:off x="3815608" y="2693089"/>
            <a:ext cx="548640" cy="119299"/>
          </a:xfrm>
          <a:prstGeom prst="rect">
            <a:avLst/>
          </a:prstGeom>
          <a:solidFill>
            <a:srgbClr val="0F4C3A"/>
          </a:solidFill>
          <a:ln w="6350">
            <a:solidFill>
              <a:srgbClr val="E2E2E2"/>
            </a:solidFill>
            <a:prstDash val="solid"/>
          </a:ln>
        </p:spPr>
      </p:sp>
      <p:sp>
        <p:nvSpPr>
          <p:cNvPr id="82" name="Text 74"/>
          <p:cNvSpPr txBox="1"/>
          <p:nvPr/>
        </p:nvSpPr>
        <p:spPr>
          <a:xfrm>
            <a:off x="384304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Teknik</a:t>
            </a:r>
            <a:endParaRPr lang="en-US" sz="600" dirty="0"/>
          </a:p>
        </p:txBody>
      </p:sp>
      <p:sp>
        <p:nvSpPr>
          <p:cNvPr id="83" name="Shape 75"/>
          <p:cNvSpPr/>
          <p:nvPr/>
        </p:nvSpPr>
        <p:spPr>
          <a:xfrm>
            <a:off x="4364248" y="2693089"/>
            <a:ext cx="365760" cy="119299"/>
          </a:xfrm>
          <a:prstGeom prst="rect">
            <a:avLst/>
          </a:prstGeom>
          <a:solidFill>
            <a:srgbClr val="0F4C3A"/>
          </a:solidFill>
          <a:ln w="6350">
            <a:solidFill>
              <a:srgbClr val="E2E2E2"/>
            </a:solidFill>
            <a:prstDash val="solid"/>
          </a:ln>
        </p:spPr>
      </p:sp>
      <p:sp>
        <p:nvSpPr>
          <p:cNvPr id="84" name="Text 76"/>
          <p:cNvSpPr txBox="1"/>
          <p:nvPr/>
        </p:nvSpPr>
        <p:spPr>
          <a:xfrm>
            <a:off x="43916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Nilai</a:t>
            </a:r>
            <a:endParaRPr lang="en-US" sz="600" dirty="0"/>
          </a:p>
        </p:txBody>
      </p:sp>
      <p:sp>
        <p:nvSpPr>
          <p:cNvPr id="85" name="Shape 77"/>
          <p:cNvSpPr/>
          <p:nvPr/>
        </p:nvSpPr>
        <p:spPr>
          <a:xfrm>
            <a:off x="4730008" y="2693089"/>
            <a:ext cx="457200" cy="119299"/>
          </a:xfrm>
          <a:prstGeom prst="rect">
            <a:avLst/>
          </a:prstGeom>
          <a:solidFill>
            <a:srgbClr val="0F4C3A"/>
          </a:solidFill>
          <a:ln w="6350">
            <a:solidFill>
              <a:srgbClr val="E2E2E2"/>
            </a:solidFill>
            <a:prstDash val="solid"/>
          </a:ln>
        </p:spPr>
      </p:sp>
      <p:sp>
        <p:nvSpPr>
          <p:cNvPr id="86" name="Text 78"/>
          <p:cNvSpPr txBox="1"/>
          <p:nvPr/>
        </p:nvSpPr>
        <p:spPr>
          <a:xfrm>
            <a:off x="47574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Penguji</a:t>
            </a:r>
            <a:endParaRPr lang="en-US" sz="600" dirty="0"/>
          </a:p>
        </p:txBody>
      </p:sp>
      <p:sp>
        <p:nvSpPr>
          <p:cNvPr id="87" name="Text 79"/>
          <p:cNvSpPr txBox="1"/>
          <p:nvPr/>
        </p:nvSpPr>
        <p:spPr>
          <a:xfrm>
            <a:off x="149303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8" name="Text 80"/>
          <p:cNvSpPr txBox="1"/>
          <p:nvPr/>
        </p:nvSpPr>
        <p:spPr>
          <a:xfrm>
            <a:off x="222455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9" name="Text 81"/>
          <p:cNvSpPr txBox="1"/>
          <p:nvPr/>
        </p:nvSpPr>
        <p:spPr>
          <a:xfrm>
            <a:off x="368759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0" name="Text 82"/>
          <p:cNvSpPr txBox="1"/>
          <p:nvPr/>
        </p:nvSpPr>
        <p:spPr>
          <a:xfrm>
            <a:off x="423623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1" name="Text 83"/>
          <p:cNvSpPr txBox="1"/>
          <p:nvPr/>
        </p:nvSpPr>
        <p:spPr>
          <a:xfrm>
            <a:off x="460199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2" name="Text 84"/>
          <p:cNvSpPr txBox="1"/>
          <p:nvPr/>
        </p:nvSpPr>
        <p:spPr>
          <a:xfrm>
            <a:off x="505919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3" name="Shape 85"/>
          <p:cNvSpPr/>
          <p:nvPr/>
        </p:nvSpPr>
        <p:spPr>
          <a:xfrm>
            <a:off x="587776" y="2812388"/>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95" name="Shape 87"/>
          <p:cNvSpPr/>
          <p:nvPr/>
        </p:nvSpPr>
        <p:spPr>
          <a:xfrm>
            <a:off x="843808" y="2812388"/>
            <a:ext cx="777240" cy="119299"/>
          </a:xfrm>
          <a:prstGeom prst="rect">
            <a:avLst/>
          </a:prstGeom>
          <a:solidFill>
            <a:srgbClr val="FFFFFF"/>
          </a:solidFill>
          <a:ln w="6350">
            <a:solidFill>
              <a:srgbClr val="E2E2E2"/>
            </a:solidFill>
            <a:prstDash val="solid"/>
          </a:ln>
        </p:spPr>
      </p:sp>
      <p:sp>
        <p:nvSpPr>
          <p:cNvPr id="96" name="Text 88"/>
          <p:cNvSpPr txBox="1"/>
          <p:nvPr/>
        </p:nvSpPr>
        <p:spPr>
          <a:xfrm>
            <a:off x="87124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Debugging</a:t>
            </a:r>
            <a:endParaRPr lang="en-US" sz="600" dirty="0"/>
          </a:p>
        </p:txBody>
      </p:sp>
      <p:sp>
        <p:nvSpPr>
          <p:cNvPr id="97" name="Shape 89"/>
          <p:cNvSpPr/>
          <p:nvPr/>
        </p:nvSpPr>
        <p:spPr>
          <a:xfrm>
            <a:off x="1621048" y="2812388"/>
            <a:ext cx="731520" cy="119299"/>
          </a:xfrm>
          <a:prstGeom prst="rect">
            <a:avLst/>
          </a:prstGeom>
          <a:solidFill>
            <a:srgbClr val="FFFFFF"/>
          </a:solidFill>
          <a:ln w="6350">
            <a:solidFill>
              <a:srgbClr val="E2E2E2"/>
            </a:solidFill>
            <a:prstDash val="solid"/>
          </a:ln>
        </p:spPr>
      </p:sp>
      <p:sp>
        <p:nvSpPr>
          <p:cNvPr id="98" name="Text 90"/>
          <p:cNvSpPr txBox="1"/>
          <p:nvPr/>
        </p:nvSpPr>
        <p:spPr>
          <a:xfrm>
            <a:off x="164848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Cari error</a:t>
            </a:r>
            <a:endParaRPr lang="en-US" sz="600" dirty="0"/>
          </a:p>
        </p:txBody>
      </p:sp>
      <p:sp>
        <p:nvSpPr>
          <p:cNvPr id="99" name="Shape 91"/>
          <p:cNvSpPr/>
          <p:nvPr/>
        </p:nvSpPr>
        <p:spPr>
          <a:xfrm>
            <a:off x="2352568" y="2812388"/>
            <a:ext cx="1463040" cy="119299"/>
          </a:xfrm>
          <a:prstGeom prst="rect">
            <a:avLst/>
          </a:prstGeom>
          <a:solidFill>
            <a:srgbClr val="FFFFFF"/>
          </a:solidFill>
          <a:ln w="6350">
            <a:solidFill>
              <a:srgbClr val="E2E2E2"/>
            </a:solidFill>
            <a:prstDash val="solid"/>
          </a:ln>
        </p:spPr>
      </p:sp>
      <p:sp>
        <p:nvSpPr>
          <p:cNvPr id="100" name="Text 92"/>
          <p:cNvSpPr txBox="1"/>
          <p:nvPr/>
        </p:nvSpPr>
        <p:spPr>
          <a:xfrm>
            <a:off x="2380000" y="2812388"/>
            <a:ext cx="14081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Kode saya [kode]. Gejala...</a:t>
            </a:r>
            <a:endParaRPr lang="en-US" sz="600" dirty="0"/>
          </a:p>
        </p:txBody>
      </p:sp>
      <p:sp>
        <p:nvSpPr>
          <p:cNvPr id="101" name="Shape 93"/>
          <p:cNvSpPr/>
          <p:nvPr/>
        </p:nvSpPr>
        <p:spPr>
          <a:xfrm>
            <a:off x="3815608" y="2812388"/>
            <a:ext cx="548640" cy="119299"/>
          </a:xfrm>
          <a:prstGeom prst="rect">
            <a:avLst/>
          </a:prstGeom>
          <a:solidFill>
            <a:srgbClr val="FFFFFF"/>
          </a:solidFill>
          <a:ln w="6350">
            <a:solidFill>
              <a:srgbClr val="E2E2E2"/>
            </a:solidFill>
            <a:prstDash val="solid"/>
          </a:ln>
        </p:spPr>
      </p:sp>
      <p:sp>
        <p:nvSpPr>
          <p:cNvPr id="102" name="Text 94"/>
          <p:cNvSpPr txBox="1"/>
          <p:nvPr/>
        </p:nvSpPr>
        <p:spPr>
          <a:xfrm>
            <a:off x="384304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5 komp.</a:t>
            </a:r>
            <a:endParaRPr lang="en-US" sz="600" dirty="0"/>
          </a:p>
        </p:txBody>
      </p:sp>
      <p:sp>
        <p:nvSpPr>
          <p:cNvPr id="103" name="Shape 95"/>
          <p:cNvSpPr/>
          <p:nvPr/>
        </p:nvSpPr>
        <p:spPr>
          <a:xfrm>
            <a:off x="4364248" y="2812388"/>
            <a:ext cx="365760" cy="119299"/>
          </a:xfrm>
          <a:prstGeom prst="rect">
            <a:avLst/>
          </a:prstGeom>
          <a:solidFill>
            <a:srgbClr val="FFFFFF"/>
          </a:solidFill>
          <a:ln w="6350">
            <a:solidFill>
              <a:srgbClr val="E2E2E2"/>
            </a:solidFill>
            <a:prstDash val="solid"/>
          </a:ln>
        </p:spPr>
      </p:sp>
      <p:sp>
        <p:nvSpPr>
          <p:cNvPr id="104" name="Text 96"/>
          <p:cNvSpPr txBox="1"/>
          <p:nvPr/>
        </p:nvSpPr>
        <p:spPr>
          <a:xfrm>
            <a:off x="43916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05" name="Shape 97"/>
          <p:cNvSpPr/>
          <p:nvPr/>
        </p:nvSpPr>
        <p:spPr>
          <a:xfrm>
            <a:off x="4730008" y="2812388"/>
            <a:ext cx="457200" cy="119299"/>
          </a:xfrm>
          <a:prstGeom prst="rect">
            <a:avLst/>
          </a:prstGeom>
          <a:solidFill>
            <a:srgbClr val="FFFFFF"/>
          </a:solidFill>
          <a:ln w="6350">
            <a:solidFill>
              <a:srgbClr val="E2E2E2"/>
            </a:solidFill>
            <a:prstDash val="solid"/>
          </a:ln>
        </p:spPr>
      </p:sp>
      <p:sp>
        <p:nvSpPr>
          <p:cNvPr id="106" name="Text 98"/>
          <p:cNvSpPr txBox="1"/>
          <p:nvPr/>
        </p:nvSpPr>
        <p:spPr>
          <a:xfrm>
            <a:off x="4757440" y="28123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3</a:t>
            </a:r>
            <a:endParaRPr lang="en-US" sz="600" dirty="0"/>
          </a:p>
        </p:txBody>
      </p:sp>
      <p:sp>
        <p:nvSpPr>
          <p:cNvPr id="107" name="Shape 99"/>
          <p:cNvSpPr/>
          <p:nvPr/>
        </p:nvSpPr>
        <p:spPr>
          <a:xfrm>
            <a:off x="587776" y="2931688"/>
            <a:ext cx="256032" cy="119299"/>
          </a:xfrm>
          <a:prstGeom prst="rect">
            <a:avLst/>
          </a:prstGeom>
          <a:solidFill>
            <a:srgbClr val="F8F9FA"/>
          </a:solidFill>
          <a:ln w="6350">
            <a:solidFill>
              <a:srgbClr val="DDDDDD"/>
            </a:solidFill>
            <a:prstDash val="solid"/>
          </a:ln>
        </p:spPr>
      </p:sp>
      <p:sp>
        <p:nvSpPr>
          <p:cNvPr id="108" name="Text 100"/>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9" name="Shape 101"/>
          <p:cNvSpPr/>
          <p:nvPr/>
        </p:nvSpPr>
        <p:spPr>
          <a:xfrm>
            <a:off x="843808" y="2931688"/>
            <a:ext cx="777240" cy="119299"/>
          </a:xfrm>
          <a:prstGeom prst="rect">
            <a:avLst/>
          </a:prstGeom>
          <a:solidFill>
            <a:srgbClr val="FFFFFF"/>
          </a:solidFill>
          <a:ln w="6350">
            <a:solidFill>
              <a:srgbClr val="E2E2E2"/>
            </a:solidFill>
            <a:prstDash val="solid"/>
          </a:ln>
        </p:spPr>
      </p:sp>
      <p:sp>
        <p:nvSpPr>
          <p:cNvPr id="110" name="Text 102"/>
          <p:cNvSpPr txBox="1"/>
          <p:nvPr/>
        </p:nvSpPr>
        <p:spPr>
          <a:xfrm>
            <a:off x="87124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Coding</a:t>
            </a:r>
            <a:endParaRPr lang="en-US" sz="600" dirty="0"/>
          </a:p>
        </p:txBody>
      </p:sp>
      <p:sp>
        <p:nvSpPr>
          <p:cNvPr id="111" name="Shape 103"/>
          <p:cNvSpPr/>
          <p:nvPr/>
        </p:nvSpPr>
        <p:spPr>
          <a:xfrm>
            <a:off x="1621048" y="2931688"/>
            <a:ext cx="731520" cy="119299"/>
          </a:xfrm>
          <a:prstGeom prst="rect">
            <a:avLst/>
          </a:prstGeom>
          <a:solidFill>
            <a:srgbClr val="FFFFFF"/>
          </a:solidFill>
          <a:ln w="6350">
            <a:solidFill>
              <a:srgbClr val="E2E2E2"/>
            </a:solidFill>
            <a:prstDash val="solid"/>
          </a:ln>
        </p:spPr>
      </p:sp>
      <p:sp>
        <p:nvSpPr>
          <p:cNvPr id="112" name="Text 104"/>
          <p:cNvSpPr txBox="1"/>
          <p:nvPr/>
        </p:nvSpPr>
        <p:spPr>
          <a:xfrm>
            <a:off x="164848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Jelaskan konsep</a:t>
            </a:r>
            <a:endParaRPr lang="en-US" sz="600" dirty="0"/>
          </a:p>
        </p:txBody>
      </p:sp>
      <p:sp>
        <p:nvSpPr>
          <p:cNvPr id="113" name="Shape 105"/>
          <p:cNvSpPr/>
          <p:nvPr/>
        </p:nvSpPr>
        <p:spPr>
          <a:xfrm>
            <a:off x="2352568" y="2931688"/>
            <a:ext cx="1463040" cy="119299"/>
          </a:xfrm>
          <a:prstGeom prst="rect">
            <a:avLst/>
          </a:prstGeom>
          <a:solidFill>
            <a:srgbClr val="FFFFFF"/>
          </a:solidFill>
          <a:ln w="6350">
            <a:solidFill>
              <a:srgbClr val="E2E2E2"/>
            </a:solidFill>
            <a:prstDash val="solid"/>
          </a:ln>
        </p:spPr>
      </p:sp>
      <p:sp>
        <p:nvSpPr>
          <p:cNvPr id="114" name="Text 106"/>
          <p:cNvSpPr txBox="1"/>
          <p:nvPr/>
        </p:nvSpPr>
        <p:spPr>
          <a:xfrm>
            <a:off x="2380000" y="2931688"/>
            <a:ext cx="14081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Kamu guru pemrograman...</a:t>
            </a:r>
            <a:endParaRPr lang="en-US" sz="600" dirty="0"/>
          </a:p>
        </p:txBody>
      </p:sp>
      <p:sp>
        <p:nvSpPr>
          <p:cNvPr id="115" name="Shape 107"/>
          <p:cNvSpPr/>
          <p:nvPr/>
        </p:nvSpPr>
        <p:spPr>
          <a:xfrm>
            <a:off x="3815608" y="2931688"/>
            <a:ext cx="548640" cy="119299"/>
          </a:xfrm>
          <a:prstGeom prst="rect">
            <a:avLst/>
          </a:prstGeom>
          <a:solidFill>
            <a:srgbClr val="FFFFFF"/>
          </a:solidFill>
          <a:ln w="6350">
            <a:solidFill>
              <a:srgbClr val="E2E2E2"/>
            </a:solidFill>
            <a:prstDash val="solid"/>
          </a:ln>
        </p:spPr>
      </p:sp>
      <p:sp>
        <p:nvSpPr>
          <p:cNvPr id="116" name="Text 108"/>
          <p:cNvSpPr txBox="1"/>
          <p:nvPr/>
        </p:nvSpPr>
        <p:spPr>
          <a:xfrm>
            <a:off x="384304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5 komp.</a:t>
            </a:r>
            <a:endParaRPr lang="en-US" sz="600" dirty="0"/>
          </a:p>
        </p:txBody>
      </p:sp>
      <p:sp>
        <p:nvSpPr>
          <p:cNvPr id="117" name="Shape 109"/>
          <p:cNvSpPr/>
          <p:nvPr/>
        </p:nvSpPr>
        <p:spPr>
          <a:xfrm>
            <a:off x="4364248" y="2931688"/>
            <a:ext cx="365760" cy="119299"/>
          </a:xfrm>
          <a:prstGeom prst="rect">
            <a:avLst/>
          </a:prstGeom>
          <a:solidFill>
            <a:srgbClr val="FFFFFF"/>
          </a:solidFill>
          <a:ln w="6350">
            <a:solidFill>
              <a:srgbClr val="E2E2E2"/>
            </a:solidFill>
            <a:prstDash val="solid"/>
          </a:ln>
        </p:spPr>
      </p:sp>
      <p:sp>
        <p:nvSpPr>
          <p:cNvPr id="118" name="Text 110"/>
          <p:cNvSpPr txBox="1"/>
          <p:nvPr/>
        </p:nvSpPr>
        <p:spPr>
          <a:xfrm>
            <a:off x="43916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19" name="Shape 111"/>
          <p:cNvSpPr/>
          <p:nvPr/>
        </p:nvSpPr>
        <p:spPr>
          <a:xfrm>
            <a:off x="4730008" y="2931688"/>
            <a:ext cx="457200" cy="119299"/>
          </a:xfrm>
          <a:prstGeom prst="rect">
            <a:avLst/>
          </a:prstGeom>
          <a:solidFill>
            <a:srgbClr val="FFFFFF"/>
          </a:solidFill>
          <a:ln w="6350">
            <a:solidFill>
              <a:srgbClr val="E2E2E2"/>
            </a:solidFill>
            <a:prstDash val="solid"/>
          </a:ln>
        </p:spPr>
      </p:sp>
      <p:sp>
        <p:nvSpPr>
          <p:cNvPr id="120" name="Text 112"/>
          <p:cNvSpPr txBox="1"/>
          <p:nvPr/>
        </p:nvSpPr>
        <p:spPr>
          <a:xfrm>
            <a:off x="4757440" y="2931688"/>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1</a:t>
            </a:r>
            <a:endParaRPr lang="en-US" sz="600" dirty="0"/>
          </a:p>
        </p:txBody>
      </p:sp>
      <p:sp>
        <p:nvSpPr>
          <p:cNvPr id="121" name="Shape 113"/>
          <p:cNvSpPr/>
          <p:nvPr/>
        </p:nvSpPr>
        <p:spPr>
          <a:xfrm>
            <a:off x="587776" y="3050987"/>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23" name="Shape 115"/>
          <p:cNvSpPr/>
          <p:nvPr/>
        </p:nvSpPr>
        <p:spPr>
          <a:xfrm>
            <a:off x="843808" y="3050987"/>
            <a:ext cx="777240" cy="119299"/>
          </a:xfrm>
          <a:prstGeom prst="rect">
            <a:avLst/>
          </a:prstGeom>
          <a:solidFill>
            <a:srgbClr val="FFFFFF"/>
          </a:solidFill>
          <a:ln w="6350">
            <a:solidFill>
              <a:srgbClr val="E2E2E2"/>
            </a:solidFill>
            <a:prstDash val="solid"/>
          </a:ln>
        </p:spPr>
      </p:sp>
      <p:sp>
        <p:nvSpPr>
          <p:cNvPr id="124" name="Text 116"/>
          <p:cNvSpPr txBox="1"/>
          <p:nvPr/>
        </p:nvSpPr>
        <p:spPr>
          <a:xfrm>
            <a:off x="87124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Proyek</a:t>
            </a:r>
            <a:endParaRPr lang="en-US" sz="600" dirty="0"/>
          </a:p>
        </p:txBody>
      </p:sp>
      <p:sp>
        <p:nvSpPr>
          <p:cNvPr id="125" name="Shape 117"/>
          <p:cNvSpPr/>
          <p:nvPr/>
        </p:nvSpPr>
        <p:spPr>
          <a:xfrm>
            <a:off x="1621048" y="3050987"/>
            <a:ext cx="731520" cy="119299"/>
          </a:xfrm>
          <a:prstGeom prst="rect">
            <a:avLst/>
          </a:prstGeom>
          <a:solidFill>
            <a:srgbClr val="FFFFFF"/>
          </a:solidFill>
          <a:ln w="6350">
            <a:solidFill>
              <a:srgbClr val="E2E2E2"/>
            </a:solidFill>
            <a:prstDash val="solid"/>
          </a:ln>
        </p:spPr>
      </p:sp>
      <p:sp>
        <p:nvSpPr>
          <p:cNvPr id="126" name="Text 118"/>
          <p:cNvSpPr txBox="1"/>
          <p:nvPr/>
        </p:nvSpPr>
        <p:spPr>
          <a:xfrm>
            <a:off x="164848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Matangkan ide</a:t>
            </a:r>
            <a:endParaRPr lang="en-US" sz="600" dirty="0"/>
          </a:p>
        </p:txBody>
      </p:sp>
      <p:sp>
        <p:nvSpPr>
          <p:cNvPr id="127" name="Shape 119"/>
          <p:cNvSpPr/>
          <p:nvPr/>
        </p:nvSpPr>
        <p:spPr>
          <a:xfrm>
            <a:off x="2352568" y="3050987"/>
            <a:ext cx="1463040" cy="119299"/>
          </a:xfrm>
          <a:prstGeom prst="rect">
            <a:avLst/>
          </a:prstGeom>
          <a:solidFill>
            <a:srgbClr val="FFFFFF"/>
          </a:solidFill>
          <a:ln w="6350">
            <a:solidFill>
              <a:srgbClr val="E2E2E2"/>
            </a:solidFill>
            <a:prstDash val="solid"/>
          </a:ln>
        </p:spPr>
      </p:sp>
      <p:sp>
        <p:nvSpPr>
          <p:cNvPr id="128" name="Text 120"/>
          <p:cNvSpPr txBox="1"/>
          <p:nvPr/>
        </p:nvSpPr>
        <p:spPr>
          <a:xfrm>
            <a:off x="2380000" y="3050987"/>
            <a:ext cx="14081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Saya ingin membuat [ide]...</a:t>
            </a:r>
            <a:endParaRPr lang="en-US" sz="600" dirty="0"/>
          </a:p>
        </p:txBody>
      </p:sp>
      <p:sp>
        <p:nvSpPr>
          <p:cNvPr id="129" name="Shape 121"/>
          <p:cNvSpPr/>
          <p:nvPr/>
        </p:nvSpPr>
        <p:spPr>
          <a:xfrm>
            <a:off x="3815608" y="3050987"/>
            <a:ext cx="548640" cy="119299"/>
          </a:xfrm>
          <a:prstGeom prst="rect">
            <a:avLst/>
          </a:prstGeom>
          <a:solidFill>
            <a:srgbClr val="FFFFFF"/>
          </a:solidFill>
          <a:ln w="6350">
            <a:solidFill>
              <a:srgbClr val="E2E2E2"/>
            </a:solidFill>
            <a:prstDash val="solid"/>
          </a:ln>
        </p:spPr>
      </p:sp>
      <p:sp>
        <p:nvSpPr>
          <p:cNvPr id="130" name="Text 122"/>
          <p:cNvSpPr txBox="1"/>
          <p:nvPr/>
        </p:nvSpPr>
        <p:spPr>
          <a:xfrm>
            <a:off x="3843040" y="30509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Tanya balik</a:t>
            </a:r>
            <a:endParaRPr lang="en-US" sz="600" dirty="0"/>
          </a:p>
        </p:txBody>
      </p:sp>
      <p:sp>
        <p:nvSpPr>
          <p:cNvPr id="131" name="Shape 123"/>
          <p:cNvSpPr/>
          <p:nvPr/>
        </p:nvSpPr>
        <p:spPr>
          <a:xfrm>
            <a:off x="4364248" y="3050987"/>
            <a:ext cx="365760" cy="119299"/>
          </a:xfrm>
          <a:prstGeom prst="rect">
            <a:avLst/>
          </a:prstGeom>
          <a:solidFill>
            <a:srgbClr val="FFFFFF"/>
          </a:solidFill>
          <a:ln w="6350">
            <a:solidFill>
              <a:srgbClr val="E2E2E2"/>
            </a:solidFill>
            <a:prstDash val="solid"/>
          </a:ln>
        </p:spPr>
      </p:sp>
      <p:sp>
        <p:nvSpPr>
          <p:cNvPr id="132" name="Text 124"/>
          <p:cNvSpPr txBox="1"/>
          <p:nvPr/>
        </p:nvSpPr>
        <p:spPr>
          <a:xfrm>
            <a:off x="43916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4730008" y="3050987"/>
            <a:ext cx="457200" cy="119299"/>
          </a:xfrm>
          <a:prstGeom prst="rect">
            <a:avLst/>
          </a:prstGeom>
          <a:solidFill>
            <a:srgbClr val="FFFFFF"/>
          </a:solidFill>
          <a:ln w="6350">
            <a:solidFill>
              <a:srgbClr val="E2E2E2"/>
            </a:solidFill>
            <a:prstDash val="solid"/>
          </a:ln>
        </p:spPr>
      </p:sp>
      <p:sp>
        <p:nvSpPr>
          <p:cNvPr id="134" name="Text 126"/>
          <p:cNvSpPr txBox="1"/>
          <p:nvPr/>
        </p:nvSpPr>
        <p:spPr>
          <a:xfrm>
            <a:off x="4757440" y="30509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3</a:t>
            </a:r>
            <a:endParaRPr lang="en-US" sz="600" dirty="0"/>
          </a:p>
        </p:txBody>
      </p:sp>
      <p:sp>
        <p:nvSpPr>
          <p:cNvPr id="135" name="Shape 127"/>
          <p:cNvSpPr/>
          <p:nvPr/>
        </p:nvSpPr>
        <p:spPr>
          <a:xfrm>
            <a:off x="587776" y="3170287"/>
            <a:ext cx="256032" cy="119299"/>
          </a:xfrm>
          <a:prstGeom prst="rect">
            <a:avLst/>
          </a:prstGeom>
          <a:solidFill>
            <a:srgbClr val="F8F9FA"/>
          </a:solidFill>
          <a:ln w="6350">
            <a:solidFill>
              <a:srgbClr val="DDDDDD"/>
            </a:solidFill>
            <a:prstDash val="solid"/>
          </a:ln>
        </p:spPr>
      </p:sp>
      <p:sp>
        <p:nvSpPr>
          <p:cNvPr id="136" name="Text 12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7" name="Shape 129"/>
          <p:cNvSpPr/>
          <p:nvPr/>
        </p:nvSpPr>
        <p:spPr>
          <a:xfrm>
            <a:off x="843808" y="3170287"/>
            <a:ext cx="777240" cy="119299"/>
          </a:xfrm>
          <a:prstGeom prst="rect">
            <a:avLst/>
          </a:prstGeom>
          <a:solidFill>
            <a:srgbClr val="FFFFFF"/>
          </a:solidFill>
          <a:ln w="6350">
            <a:solidFill>
              <a:srgbClr val="E2E2E2"/>
            </a:solidFill>
            <a:prstDash val="solid"/>
          </a:ln>
        </p:spPr>
      </p:sp>
      <p:sp>
        <p:nvSpPr>
          <p:cNvPr id="138" name="Text 130"/>
          <p:cNvSpPr txBox="1"/>
          <p:nvPr/>
        </p:nvSpPr>
        <p:spPr>
          <a:xfrm>
            <a:off x="87124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Mapel</a:t>
            </a:r>
            <a:endParaRPr lang="en-US" sz="600" dirty="0"/>
          </a:p>
        </p:txBody>
      </p:sp>
      <p:sp>
        <p:nvSpPr>
          <p:cNvPr id="139" name="Shape 131"/>
          <p:cNvSpPr/>
          <p:nvPr/>
        </p:nvSpPr>
        <p:spPr>
          <a:xfrm>
            <a:off x="1621048" y="3170287"/>
            <a:ext cx="731520" cy="119299"/>
          </a:xfrm>
          <a:prstGeom prst="rect">
            <a:avLst/>
          </a:prstGeom>
          <a:solidFill>
            <a:srgbClr val="FFFFFF"/>
          </a:solidFill>
          <a:ln w="6350">
            <a:solidFill>
              <a:srgbClr val="E2E2E2"/>
            </a:solidFill>
            <a:prstDash val="solid"/>
          </a:ln>
        </p:spPr>
      </p:sp>
      <p:sp>
        <p:nvSpPr>
          <p:cNvPr id="140" name="Text 132"/>
          <p:cNvSpPr txBox="1"/>
          <p:nvPr/>
        </p:nvSpPr>
        <p:spPr>
          <a:xfrm>
            <a:off x="164848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Kuis Arab</a:t>
            </a:r>
            <a:endParaRPr lang="en-US" sz="600" dirty="0"/>
          </a:p>
        </p:txBody>
      </p:sp>
      <p:sp>
        <p:nvSpPr>
          <p:cNvPr id="141" name="Shape 133"/>
          <p:cNvSpPr/>
          <p:nvPr/>
        </p:nvSpPr>
        <p:spPr>
          <a:xfrm>
            <a:off x="2352568" y="3170287"/>
            <a:ext cx="1463040" cy="119299"/>
          </a:xfrm>
          <a:prstGeom prst="rect">
            <a:avLst/>
          </a:prstGeom>
          <a:solidFill>
            <a:srgbClr val="FFFFFF"/>
          </a:solidFill>
          <a:ln w="6350">
            <a:solidFill>
              <a:srgbClr val="E2E2E2"/>
            </a:solidFill>
            <a:prstDash val="solid"/>
          </a:ln>
        </p:spPr>
      </p:sp>
      <p:sp>
        <p:nvSpPr>
          <p:cNvPr id="142" name="Text 134"/>
          <p:cNvSpPr txBox="1"/>
          <p:nvPr/>
        </p:nvSpPr>
        <p:spPr>
          <a:xfrm>
            <a:off x="2380000" y="3170287"/>
            <a:ext cx="14081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Buat 3 soal seperti...</a:t>
            </a:r>
            <a:endParaRPr lang="en-US" sz="600" dirty="0"/>
          </a:p>
        </p:txBody>
      </p:sp>
      <p:sp>
        <p:nvSpPr>
          <p:cNvPr id="143" name="Shape 135"/>
          <p:cNvSpPr/>
          <p:nvPr/>
        </p:nvSpPr>
        <p:spPr>
          <a:xfrm>
            <a:off x="3815608" y="3170287"/>
            <a:ext cx="548640" cy="119299"/>
          </a:xfrm>
          <a:prstGeom prst="rect">
            <a:avLst/>
          </a:prstGeom>
          <a:solidFill>
            <a:srgbClr val="FFFFFF"/>
          </a:solidFill>
          <a:ln w="6350">
            <a:solidFill>
              <a:srgbClr val="E2E2E2"/>
            </a:solidFill>
            <a:prstDash val="solid"/>
          </a:ln>
        </p:spPr>
      </p:sp>
      <p:sp>
        <p:nvSpPr>
          <p:cNvPr id="144" name="Text 136"/>
          <p:cNvSpPr txBox="1"/>
          <p:nvPr/>
        </p:nvSpPr>
        <p:spPr>
          <a:xfrm>
            <a:off x="3843040" y="31702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Few-shot</a:t>
            </a:r>
            <a:endParaRPr lang="en-US" sz="600" dirty="0"/>
          </a:p>
        </p:txBody>
      </p:sp>
      <p:sp>
        <p:nvSpPr>
          <p:cNvPr id="145" name="Shape 137"/>
          <p:cNvSpPr/>
          <p:nvPr/>
        </p:nvSpPr>
        <p:spPr>
          <a:xfrm>
            <a:off x="4364248" y="3170287"/>
            <a:ext cx="365760" cy="119299"/>
          </a:xfrm>
          <a:prstGeom prst="rect">
            <a:avLst/>
          </a:prstGeom>
          <a:solidFill>
            <a:srgbClr val="FFFFFF"/>
          </a:solidFill>
          <a:ln w="6350">
            <a:solidFill>
              <a:srgbClr val="E2E2E2"/>
            </a:solidFill>
            <a:prstDash val="solid"/>
          </a:ln>
        </p:spPr>
      </p:sp>
      <p:sp>
        <p:nvSpPr>
          <p:cNvPr id="146" name="Text 138"/>
          <p:cNvSpPr txBox="1"/>
          <p:nvPr/>
        </p:nvSpPr>
        <p:spPr>
          <a:xfrm>
            <a:off x="43916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4730008" y="3170287"/>
            <a:ext cx="457200" cy="119299"/>
          </a:xfrm>
          <a:prstGeom prst="rect">
            <a:avLst/>
          </a:prstGeom>
          <a:solidFill>
            <a:srgbClr val="FFFFFF"/>
          </a:solidFill>
          <a:ln w="6350">
            <a:solidFill>
              <a:srgbClr val="E2E2E2"/>
            </a:solidFill>
            <a:prstDash val="solid"/>
          </a:ln>
        </p:spPr>
      </p:sp>
      <p:sp>
        <p:nvSpPr>
          <p:cNvPr id="148" name="Text 140"/>
          <p:cNvSpPr txBox="1"/>
          <p:nvPr/>
        </p:nvSpPr>
        <p:spPr>
          <a:xfrm>
            <a:off x="4757440" y="3170287"/>
            <a:ext cx="4023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2</a:t>
            </a:r>
            <a:endParaRPr lang="en-US" sz="600" dirty="0"/>
          </a:p>
        </p:txBody>
      </p:sp>
      <p:sp>
        <p:nvSpPr>
          <p:cNvPr id="149" name="Shape 141"/>
          <p:cNvSpPr/>
          <p:nvPr/>
        </p:nvSpPr>
        <p:spPr>
          <a:xfrm>
            <a:off x="587776" y="3289586"/>
            <a:ext cx="256032" cy="119299"/>
          </a:xfrm>
          <a:prstGeom prst="rect">
            <a:avLst/>
          </a:prstGeom>
          <a:solidFill>
            <a:srgbClr val="F8F9FA"/>
          </a:solidFill>
          <a:ln w="6350">
            <a:solidFill>
              <a:srgbClr val="DDDDDD"/>
            </a:solidFill>
            <a:prstDash val="solid"/>
          </a:ln>
        </p:spPr>
      </p:sp>
      <p:sp>
        <p:nvSpPr>
          <p:cNvPr id="150" name="Text 14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51" name="Shape 143"/>
          <p:cNvSpPr/>
          <p:nvPr/>
        </p:nvSpPr>
        <p:spPr>
          <a:xfrm>
            <a:off x="843808" y="3289586"/>
            <a:ext cx="777240" cy="119299"/>
          </a:xfrm>
          <a:prstGeom prst="rect">
            <a:avLst/>
          </a:prstGeom>
          <a:solidFill>
            <a:srgbClr val="FFFFFF"/>
          </a:solidFill>
          <a:ln w="6350">
            <a:solidFill>
              <a:srgbClr val="E2E2E2"/>
            </a:solidFill>
            <a:prstDash val="solid"/>
          </a:ln>
        </p:spPr>
      </p:sp>
      <p:sp>
        <p:nvSpPr>
          <p:cNvPr id="152" name="Shape 144"/>
          <p:cNvSpPr/>
          <p:nvPr/>
        </p:nvSpPr>
        <p:spPr>
          <a:xfrm>
            <a:off x="1621048" y="3289586"/>
            <a:ext cx="731520" cy="119299"/>
          </a:xfrm>
          <a:prstGeom prst="rect">
            <a:avLst/>
          </a:prstGeom>
          <a:solidFill>
            <a:srgbClr val="FFFFFF"/>
          </a:solidFill>
          <a:ln w="6350">
            <a:solidFill>
              <a:srgbClr val="E2E2E2"/>
            </a:solidFill>
            <a:prstDash val="solid"/>
          </a:ln>
        </p:spPr>
      </p:sp>
      <p:sp>
        <p:nvSpPr>
          <p:cNvPr id="153" name="Shape 145"/>
          <p:cNvSpPr/>
          <p:nvPr/>
        </p:nvSpPr>
        <p:spPr>
          <a:xfrm>
            <a:off x="2352568" y="3289586"/>
            <a:ext cx="1463040" cy="119299"/>
          </a:xfrm>
          <a:prstGeom prst="rect">
            <a:avLst/>
          </a:prstGeom>
          <a:solidFill>
            <a:srgbClr val="FFFFFF"/>
          </a:solidFill>
          <a:ln w="6350">
            <a:solidFill>
              <a:srgbClr val="E2E2E2"/>
            </a:solidFill>
            <a:prstDash val="solid"/>
          </a:ln>
        </p:spPr>
      </p:sp>
      <p:sp>
        <p:nvSpPr>
          <p:cNvPr id="154" name="Shape 146"/>
          <p:cNvSpPr/>
          <p:nvPr/>
        </p:nvSpPr>
        <p:spPr>
          <a:xfrm>
            <a:off x="3815608" y="3289586"/>
            <a:ext cx="548640" cy="119299"/>
          </a:xfrm>
          <a:prstGeom prst="rect">
            <a:avLst/>
          </a:prstGeom>
          <a:solidFill>
            <a:srgbClr val="FFFFFF"/>
          </a:solidFill>
          <a:ln w="6350">
            <a:solidFill>
              <a:srgbClr val="E2E2E2"/>
            </a:solidFill>
            <a:prstDash val="solid"/>
          </a:ln>
        </p:spPr>
      </p:sp>
      <p:sp>
        <p:nvSpPr>
          <p:cNvPr id="155" name="Shape 147"/>
          <p:cNvSpPr/>
          <p:nvPr/>
        </p:nvSpPr>
        <p:spPr>
          <a:xfrm>
            <a:off x="4364248" y="3289586"/>
            <a:ext cx="365760" cy="119299"/>
          </a:xfrm>
          <a:prstGeom prst="rect">
            <a:avLst/>
          </a:prstGeom>
          <a:solidFill>
            <a:srgbClr val="FFFFFF"/>
          </a:solidFill>
          <a:ln w="6350">
            <a:solidFill>
              <a:srgbClr val="E2E2E2"/>
            </a:solidFill>
            <a:prstDash val="solid"/>
          </a:ln>
        </p:spPr>
      </p:sp>
      <p:sp>
        <p:nvSpPr>
          <p:cNvPr id="156" name="Shape 148"/>
          <p:cNvSpPr/>
          <p:nvPr/>
        </p:nvSpPr>
        <p:spPr>
          <a:xfrm>
            <a:off x="4730008" y="3289586"/>
            <a:ext cx="457200" cy="119299"/>
          </a:xfrm>
          <a:prstGeom prst="rect">
            <a:avLst/>
          </a:prstGeom>
          <a:solidFill>
            <a:srgbClr val="FFFFFF"/>
          </a:solidFill>
          <a:ln w="6350">
            <a:solidFill>
              <a:srgbClr val="E2E2E2"/>
            </a:solidFill>
            <a:prstDash val="solid"/>
          </a:ln>
        </p:spPr>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777240" cy="119299"/>
          </a:xfrm>
          <a:prstGeom prst="rect">
            <a:avLst/>
          </a:prstGeom>
          <a:solidFill>
            <a:srgbClr val="FFFFFF"/>
          </a:solidFill>
          <a:ln w="6350">
            <a:solidFill>
              <a:srgbClr val="E2E2E2"/>
            </a:solidFill>
            <a:prstDash val="solid"/>
          </a:ln>
        </p:spPr>
      </p:sp>
      <p:sp>
        <p:nvSpPr>
          <p:cNvPr id="160" name="Shape 152"/>
          <p:cNvSpPr/>
          <p:nvPr/>
        </p:nvSpPr>
        <p:spPr>
          <a:xfrm>
            <a:off x="1621048" y="3408885"/>
            <a:ext cx="731520" cy="119299"/>
          </a:xfrm>
          <a:prstGeom prst="rect">
            <a:avLst/>
          </a:prstGeom>
          <a:solidFill>
            <a:srgbClr val="FFFFFF"/>
          </a:solidFill>
          <a:ln w="6350">
            <a:solidFill>
              <a:srgbClr val="E2E2E2"/>
            </a:solidFill>
            <a:prstDash val="solid"/>
          </a:ln>
        </p:spPr>
      </p:sp>
      <p:sp>
        <p:nvSpPr>
          <p:cNvPr id="161" name="Shape 153"/>
          <p:cNvSpPr/>
          <p:nvPr/>
        </p:nvSpPr>
        <p:spPr>
          <a:xfrm>
            <a:off x="2352568" y="3408885"/>
            <a:ext cx="1463040" cy="119299"/>
          </a:xfrm>
          <a:prstGeom prst="rect">
            <a:avLst/>
          </a:prstGeom>
          <a:solidFill>
            <a:srgbClr val="FFFFFF"/>
          </a:solidFill>
          <a:ln w="6350">
            <a:solidFill>
              <a:srgbClr val="E2E2E2"/>
            </a:solidFill>
            <a:prstDash val="solid"/>
          </a:ln>
        </p:spPr>
      </p:sp>
      <p:sp>
        <p:nvSpPr>
          <p:cNvPr id="162" name="Shape 154"/>
          <p:cNvSpPr/>
          <p:nvPr/>
        </p:nvSpPr>
        <p:spPr>
          <a:xfrm>
            <a:off x="3815608" y="3408885"/>
            <a:ext cx="548640" cy="119299"/>
          </a:xfrm>
          <a:prstGeom prst="rect">
            <a:avLst/>
          </a:prstGeom>
          <a:solidFill>
            <a:srgbClr val="FFFFFF"/>
          </a:solidFill>
          <a:ln w="6350">
            <a:solidFill>
              <a:srgbClr val="E2E2E2"/>
            </a:solidFill>
            <a:prstDash val="solid"/>
          </a:ln>
        </p:spPr>
      </p:sp>
      <p:sp>
        <p:nvSpPr>
          <p:cNvPr id="163" name="Shape 155"/>
          <p:cNvSpPr/>
          <p:nvPr/>
        </p:nvSpPr>
        <p:spPr>
          <a:xfrm>
            <a:off x="4364248" y="3408885"/>
            <a:ext cx="365760" cy="119299"/>
          </a:xfrm>
          <a:prstGeom prst="rect">
            <a:avLst/>
          </a:prstGeom>
          <a:solidFill>
            <a:srgbClr val="FFFFFF"/>
          </a:solidFill>
          <a:ln w="6350">
            <a:solidFill>
              <a:srgbClr val="E2E2E2"/>
            </a:solidFill>
            <a:prstDash val="solid"/>
          </a:ln>
        </p:spPr>
      </p:sp>
      <p:sp>
        <p:nvSpPr>
          <p:cNvPr id="164" name="Shape 156"/>
          <p:cNvSpPr/>
          <p:nvPr/>
        </p:nvSpPr>
        <p:spPr>
          <a:xfrm>
            <a:off x="4730008" y="3408885"/>
            <a:ext cx="45720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777240" cy="119299"/>
          </a:xfrm>
          <a:prstGeom prst="rect">
            <a:avLst/>
          </a:prstGeom>
          <a:solidFill>
            <a:srgbClr val="FFFFFF"/>
          </a:solidFill>
          <a:ln w="6350">
            <a:solidFill>
              <a:srgbClr val="E2E2E2"/>
            </a:solidFill>
            <a:prstDash val="solid"/>
          </a:ln>
        </p:spPr>
      </p:sp>
      <p:sp>
        <p:nvSpPr>
          <p:cNvPr id="168" name="Shape 160"/>
          <p:cNvSpPr/>
          <p:nvPr/>
        </p:nvSpPr>
        <p:spPr>
          <a:xfrm>
            <a:off x="1621048" y="3528185"/>
            <a:ext cx="731520" cy="119299"/>
          </a:xfrm>
          <a:prstGeom prst="rect">
            <a:avLst/>
          </a:prstGeom>
          <a:solidFill>
            <a:srgbClr val="FFFFFF"/>
          </a:solidFill>
          <a:ln w="6350">
            <a:solidFill>
              <a:srgbClr val="E2E2E2"/>
            </a:solidFill>
            <a:prstDash val="solid"/>
          </a:ln>
        </p:spPr>
      </p:sp>
      <p:sp>
        <p:nvSpPr>
          <p:cNvPr id="169" name="Shape 161"/>
          <p:cNvSpPr/>
          <p:nvPr/>
        </p:nvSpPr>
        <p:spPr>
          <a:xfrm>
            <a:off x="2352568" y="3528185"/>
            <a:ext cx="1463040" cy="119299"/>
          </a:xfrm>
          <a:prstGeom prst="rect">
            <a:avLst/>
          </a:prstGeom>
          <a:solidFill>
            <a:srgbClr val="FFFFFF"/>
          </a:solidFill>
          <a:ln w="6350">
            <a:solidFill>
              <a:srgbClr val="E2E2E2"/>
            </a:solidFill>
            <a:prstDash val="solid"/>
          </a:ln>
        </p:spPr>
      </p:sp>
      <p:sp>
        <p:nvSpPr>
          <p:cNvPr id="170" name="Shape 162"/>
          <p:cNvSpPr/>
          <p:nvPr/>
        </p:nvSpPr>
        <p:spPr>
          <a:xfrm>
            <a:off x="3815608" y="3528185"/>
            <a:ext cx="548640" cy="119299"/>
          </a:xfrm>
          <a:prstGeom prst="rect">
            <a:avLst/>
          </a:prstGeom>
          <a:solidFill>
            <a:srgbClr val="FFFFFF"/>
          </a:solidFill>
          <a:ln w="6350">
            <a:solidFill>
              <a:srgbClr val="E2E2E2"/>
            </a:solidFill>
            <a:prstDash val="solid"/>
          </a:ln>
        </p:spPr>
      </p:sp>
      <p:sp>
        <p:nvSpPr>
          <p:cNvPr id="171" name="Shape 163"/>
          <p:cNvSpPr/>
          <p:nvPr/>
        </p:nvSpPr>
        <p:spPr>
          <a:xfrm>
            <a:off x="4364248" y="3528185"/>
            <a:ext cx="365760" cy="119299"/>
          </a:xfrm>
          <a:prstGeom prst="rect">
            <a:avLst/>
          </a:prstGeom>
          <a:solidFill>
            <a:srgbClr val="FFFFFF"/>
          </a:solidFill>
          <a:ln w="6350">
            <a:solidFill>
              <a:srgbClr val="E2E2E2"/>
            </a:solidFill>
            <a:prstDash val="solid"/>
          </a:ln>
        </p:spPr>
      </p:sp>
      <p:sp>
        <p:nvSpPr>
          <p:cNvPr id="172" name="Shape 164"/>
          <p:cNvSpPr/>
          <p:nvPr/>
        </p:nvSpPr>
        <p:spPr>
          <a:xfrm>
            <a:off x="4730008" y="3528185"/>
            <a:ext cx="457200" cy="119299"/>
          </a:xfrm>
          <a:prstGeom prst="rect">
            <a:avLst/>
          </a:prstGeom>
          <a:solidFill>
            <a:srgbClr val="FFFFFF"/>
          </a:solidFill>
          <a:ln w="6350">
            <a:solidFill>
              <a:srgbClr val="E2E2E2"/>
            </a:solidFill>
            <a:prstDash val="solid"/>
          </a:ln>
        </p:spPr>
      </p:sp>
      <p:sp>
        <p:nvSpPr>
          <p:cNvPr id="173" name="Shape 165"/>
          <p:cNvSpPr/>
          <p:nvPr/>
        </p:nvSpPr>
        <p:spPr>
          <a:xfrm>
            <a:off x="587776" y="3647484"/>
            <a:ext cx="256032" cy="119299"/>
          </a:xfrm>
          <a:prstGeom prst="rect">
            <a:avLst/>
          </a:prstGeom>
          <a:solidFill>
            <a:srgbClr val="F8F9FA"/>
          </a:solidFill>
          <a:ln w="6350">
            <a:solidFill>
              <a:srgbClr val="DDDDDD"/>
            </a:solidFill>
            <a:prstDash val="solid"/>
          </a:ln>
        </p:spPr>
      </p:sp>
      <p:sp>
        <p:nvSpPr>
          <p:cNvPr id="174" name="Text 16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75" name="Shape 167"/>
          <p:cNvSpPr/>
          <p:nvPr/>
        </p:nvSpPr>
        <p:spPr>
          <a:xfrm>
            <a:off x="843808" y="3647484"/>
            <a:ext cx="777240" cy="119299"/>
          </a:xfrm>
          <a:prstGeom prst="rect">
            <a:avLst/>
          </a:prstGeom>
          <a:solidFill>
            <a:srgbClr val="FFFFFF"/>
          </a:solidFill>
          <a:ln w="6350">
            <a:solidFill>
              <a:srgbClr val="E2E2E2"/>
            </a:solidFill>
            <a:prstDash val="solid"/>
          </a:ln>
        </p:spPr>
      </p:sp>
      <p:sp>
        <p:nvSpPr>
          <p:cNvPr id="176" name="Shape 168"/>
          <p:cNvSpPr/>
          <p:nvPr/>
        </p:nvSpPr>
        <p:spPr>
          <a:xfrm>
            <a:off x="1621048" y="3647484"/>
            <a:ext cx="731520" cy="119299"/>
          </a:xfrm>
          <a:prstGeom prst="rect">
            <a:avLst/>
          </a:prstGeom>
          <a:solidFill>
            <a:srgbClr val="FFFFFF"/>
          </a:solidFill>
          <a:ln w="6350">
            <a:solidFill>
              <a:srgbClr val="E2E2E2"/>
            </a:solidFill>
            <a:prstDash val="solid"/>
          </a:ln>
        </p:spPr>
      </p:sp>
      <p:sp>
        <p:nvSpPr>
          <p:cNvPr id="177" name="Shape 169"/>
          <p:cNvSpPr/>
          <p:nvPr/>
        </p:nvSpPr>
        <p:spPr>
          <a:xfrm>
            <a:off x="2352568" y="3647484"/>
            <a:ext cx="1463040" cy="119299"/>
          </a:xfrm>
          <a:prstGeom prst="rect">
            <a:avLst/>
          </a:prstGeom>
          <a:solidFill>
            <a:srgbClr val="FFFFFF"/>
          </a:solidFill>
          <a:ln w="6350">
            <a:solidFill>
              <a:srgbClr val="E2E2E2"/>
            </a:solidFill>
            <a:prstDash val="solid"/>
          </a:ln>
        </p:spPr>
      </p:sp>
      <p:sp>
        <p:nvSpPr>
          <p:cNvPr id="178" name="Shape 170"/>
          <p:cNvSpPr/>
          <p:nvPr/>
        </p:nvSpPr>
        <p:spPr>
          <a:xfrm>
            <a:off x="3815608" y="3647484"/>
            <a:ext cx="548640" cy="119299"/>
          </a:xfrm>
          <a:prstGeom prst="rect">
            <a:avLst/>
          </a:prstGeom>
          <a:solidFill>
            <a:srgbClr val="FFFFFF"/>
          </a:solidFill>
          <a:ln w="6350">
            <a:solidFill>
              <a:srgbClr val="E2E2E2"/>
            </a:solidFill>
            <a:prstDash val="solid"/>
          </a:ln>
        </p:spPr>
      </p:sp>
      <p:sp>
        <p:nvSpPr>
          <p:cNvPr id="179" name="Shape 171"/>
          <p:cNvSpPr/>
          <p:nvPr/>
        </p:nvSpPr>
        <p:spPr>
          <a:xfrm>
            <a:off x="4364248" y="3647484"/>
            <a:ext cx="365760" cy="119299"/>
          </a:xfrm>
          <a:prstGeom prst="rect">
            <a:avLst/>
          </a:prstGeom>
          <a:solidFill>
            <a:srgbClr val="FFFFFF"/>
          </a:solidFill>
          <a:ln w="6350">
            <a:solidFill>
              <a:srgbClr val="E2E2E2"/>
            </a:solidFill>
            <a:prstDash val="solid"/>
          </a:ln>
        </p:spPr>
      </p:sp>
      <p:sp>
        <p:nvSpPr>
          <p:cNvPr id="180" name="Shape 172"/>
          <p:cNvSpPr/>
          <p:nvPr/>
        </p:nvSpPr>
        <p:spPr>
          <a:xfrm>
            <a:off x="4730008" y="3647484"/>
            <a:ext cx="457200" cy="119299"/>
          </a:xfrm>
          <a:prstGeom prst="rect">
            <a:avLst/>
          </a:prstGeom>
          <a:solidFill>
            <a:srgbClr val="FFFFFF"/>
          </a:solidFill>
          <a:ln w="6350">
            <a:solidFill>
              <a:srgbClr val="E2E2E2"/>
            </a:solidFill>
            <a:prstDash val="solid"/>
          </a:ln>
        </p:spPr>
      </p:sp>
      <p:sp>
        <p:nvSpPr>
          <p:cNvPr id="181" name="Shape 173"/>
          <p:cNvSpPr/>
          <p:nvPr/>
        </p:nvSpPr>
        <p:spPr>
          <a:xfrm>
            <a:off x="843808" y="3050987"/>
            <a:ext cx="4343400" cy="119299"/>
          </a:xfrm>
          <a:prstGeom prst="rect">
            <a:avLst/>
          </a:prstGeom>
          <a:solidFill>
            <a:srgbClr val="1A73E8">
              <a:alpha val="12000"/>
            </a:srgbClr>
          </a:solidFill>
          <a:ln w="19050">
            <a:solidFill>
              <a:srgbClr val="1A73E8"/>
            </a:solidFill>
            <a:prstDash val="solid"/>
          </a:ln>
        </p:spPr>
      </p:sp>
      <p:sp>
        <p:nvSpPr>
          <p:cNvPr id="182" name="Shape 174"/>
          <p:cNvSpPr/>
          <p:nvPr/>
        </p:nvSpPr>
        <p:spPr>
          <a:xfrm>
            <a:off x="587776" y="3794216"/>
            <a:ext cx="4950927" cy="201168"/>
          </a:xfrm>
          <a:prstGeom prst="rect">
            <a:avLst/>
          </a:prstGeom>
          <a:solidFill>
            <a:srgbClr val="F8F9FA"/>
          </a:solidFill>
          <a:ln w="12700">
            <a:solidFill>
              <a:srgbClr val="F8F9FA"/>
            </a:solidFill>
            <a:prstDash val="solid"/>
          </a:ln>
        </p:spPr>
      </p:sp>
      <p:sp>
        <p:nvSpPr>
          <p:cNvPr id="183" name="Text 17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84" name="Shape 176"/>
          <p:cNvSpPr/>
          <p:nvPr/>
        </p:nvSpPr>
        <p:spPr>
          <a:xfrm>
            <a:off x="1136416" y="3794216"/>
            <a:ext cx="731520" cy="201168"/>
          </a:xfrm>
          <a:prstGeom prst="rect">
            <a:avLst/>
          </a:prstGeom>
          <a:solidFill>
            <a:srgbClr val="E1EFFE"/>
          </a:solidFill>
          <a:ln w="12700">
            <a:solidFill>
              <a:srgbClr val="E1EFFE"/>
            </a:solidFill>
            <a:prstDash val="solid"/>
          </a:ln>
        </p:spPr>
      </p:sp>
      <p:sp>
        <p:nvSpPr>
          <p:cNvPr id="185" name="Text 17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86" name="Shape 178"/>
          <p:cNvSpPr/>
          <p:nvPr/>
        </p:nvSpPr>
        <p:spPr>
          <a:xfrm>
            <a:off x="825520" y="3032699"/>
            <a:ext cx="4379976" cy="155875"/>
          </a:xfrm>
          <a:prstGeom prst="roundRect">
            <a:avLst>
              <a:gd name="adj" fmla="val 29331"/>
            </a:avLst>
          </a:prstGeom>
          <a:solidFill>
            <a:srgbClr val="FFFFFF">
              <a:alpha val="0"/>
            </a:srgbClr>
          </a:solidFill>
          <a:ln w="31750">
            <a:solidFill>
              <a:srgbClr val="E53935"/>
            </a:solidFill>
            <a:prstDash val="solid"/>
          </a:ln>
        </p:spPr>
      </p:sp>
      <p:sp>
        <p:nvSpPr>
          <p:cNvPr id="187" name="Shape 179"/>
          <p:cNvSpPr/>
          <p:nvPr/>
        </p:nvSpPr>
        <p:spPr>
          <a:xfrm>
            <a:off x="5068336" y="2895539"/>
            <a:ext cx="274320" cy="274320"/>
          </a:xfrm>
          <a:prstGeom prst="ellipse">
            <a:avLst/>
          </a:prstGeom>
          <a:solidFill>
            <a:srgbClr val="E53935"/>
          </a:solidFill>
          <a:ln w="12700">
            <a:solidFill>
              <a:srgbClr val="FFFFFF"/>
            </a:solidFill>
            <a:prstDash val="solid"/>
          </a:ln>
        </p:spPr>
      </p:sp>
      <p:sp>
        <p:nvSpPr>
          <p:cNvPr id="188" name="Text 180"/>
          <p:cNvSpPr txBox="1"/>
          <p:nvPr/>
        </p:nvSpPr>
        <p:spPr>
          <a:xfrm>
            <a:off x="5068336" y="28955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89" name="Image 6" descr="preencoded.png">    </p:cNvPr>
          <p:cNvPicPr>
            <a:picLocks noChangeAspect="1"/>
          </p:cNvPicPr>
          <p:nvPr/>
        </p:nvPicPr>
        <p:blipFill>
          <a:blip r:embed="rId7"/>
          <a:stretch>
            <a:fillRect/>
          </a:stretch>
        </p:blipFill>
        <p:spPr>
          <a:xfrm>
            <a:off x="3232678" y="3116602"/>
            <a:ext cx="237744" cy="237744"/>
          </a:xfrm>
          <a:prstGeom prst="rect">
            <a:avLst/>
          </a:prstGeom>
        </p:spPr>
      </p:pic>
      <p:sp>
        <p:nvSpPr>
          <p:cNvPr id="190" name="Text 18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91" name="Text 18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Masukkan ke Prompt_Library_Kelas9</a:t>
            </a:r>
            <a:endParaRPr lang="en-US" sz="1800" dirty="0"/>
          </a:p>
        </p:txBody>
      </p:sp>
      <p:sp>
        <p:nvSpPr>
          <p:cNvPr id="192" name="Text 18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Sheets bersama (Shared with me). Isi baris kelompokmu: kategori (dropdown), judul, prompt, teknik, nilai, penguji.</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Library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Prompt_Library_Kelas9 -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Prompt_Library_Kelas9</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4044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4044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587776" y="2693089"/>
            <a:ext cx="256032" cy="119299"/>
          </a:xfrm>
          <a:prstGeom prst="rect">
            <a:avLst/>
          </a:prstGeom>
          <a:solidFill>
            <a:srgbClr val="F8F9FA"/>
          </a:solidFill>
          <a:ln w="6350">
            <a:solidFill>
              <a:srgbClr val="DDDDDD"/>
            </a:solidFill>
            <a:prstDash val="solid"/>
          </a:ln>
        </p:spPr>
      </p:sp>
      <p:sp>
        <p:nvSpPr>
          <p:cNvPr id="66" name="Text 58"/>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67" name="Shape 59"/>
          <p:cNvSpPr/>
          <p:nvPr/>
        </p:nvSpPr>
        <p:spPr>
          <a:xfrm>
            <a:off x="843808" y="2693089"/>
            <a:ext cx="3200400" cy="119299"/>
          </a:xfrm>
          <a:prstGeom prst="rect">
            <a:avLst/>
          </a:prstGeom>
          <a:solidFill>
            <a:srgbClr val="0F4C3A"/>
          </a:solidFill>
          <a:ln w="6350">
            <a:solidFill>
              <a:srgbClr val="E2E2E2"/>
            </a:solidFill>
            <a:prstDash val="solid"/>
          </a:ln>
        </p:spPr>
      </p:sp>
      <p:sp>
        <p:nvSpPr>
          <p:cNvPr id="68" name="Text 60"/>
          <p:cNvSpPr txBox="1"/>
          <p:nvPr/>
        </p:nvSpPr>
        <p:spPr>
          <a:xfrm>
            <a:off x="871240" y="2693089"/>
            <a:ext cx="3145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Petunjuk dan Aturan</a:t>
            </a:r>
            <a:endParaRPr lang="en-US" sz="600" dirty="0"/>
          </a:p>
        </p:txBody>
      </p:sp>
      <p:sp>
        <p:nvSpPr>
          <p:cNvPr id="69" name="Shape 61"/>
          <p:cNvSpPr/>
          <p:nvPr/>
        </p:nvSpPr>
        <p:spPr>
          <a:xfrm>
            <a:off x="4044208" y="2693089"/>
            <a:ext cx="914400" cy="119299"/>
          </a:xfrm>
          <a:prstGeom prst="rect">
            <a:avLst/>
          </a:prstGeom>
          <a:solidFill>
            <a:srgbClr val="0F4C3A"/>
          </a:solidFill>
          <a:ln w="6350">
            <a:solidFill>
              <a:srgbClr val="E2E2E2"/>
            </a:solidFill>
            <a:prstDash val="solid"/>
          </a:ln>
        </p:spPr>
      </p:sp>
      <p:sp>
        <p:nvSpPr>
          <p:cNvPr id="70" name="Shape 62"/>
          <p:cNvSpPr/>
          <p:nvPr/>
        </p:nvSpPr>
        <p:spPr>
          <a:xfrm>
            <a:off x="587776" y="2812388"/>
            <a:ext cx="256032" cy="119299"/>
          </a:xfrm>
          <a:prstGeom prst="rect">
            <a:avLst/>
          </a:prstGeom>
          <a:solidFill>
            <a:srgbClr val="F8F9FA"/>
          </a:solidFill>
          <a:ln w="6350">
            <a:solidFill>
              <a:srgbClr val="DDDDDD"/>
            </a:solidFill>
            <a:prstDash val="solid"/>
          </a:ln>
        </p:spPr>
      </p:sp>
      <p:sp>
        <p:nvSpPr>
          <p:cNvPr id="71" name="Text 63"/>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2" name="Shape 64"/>
          <p:cNvSpPr/>
          <p:nvPr/>
        </p:nvSpPr>
        <p:spPr>
          <a:xfrm>
            <a:off x="843808" y="2812388"/>
            <a:ext cx="3200400" cy="119299"/>
          </a:xfrm>
          <a:prstGeom prst="rect">
            <a:avLst/>
          </a:prstGeom>
          <a:solidFill>
            <a:srgbClr val="FFFFFF"/>
          </a:solidFill>
          <a:ln w="6350">
            <a:solidFill>
              <a:srgbClr val="E2E2E2"/>
            </a:solidFill>
            <a:prstDash val="solid"/>
          </a:ln>
        </p:spPr>
      </p:sp>
      <p:sp>
        <p:nvSpPr>
          <p:cNvPr id="73" name="Text 65"/>
          <p:cNvSpPr txBox="1"/>
          <p:nvPr/>
        </p:nvSpPr>
        <p:spPr>
          <a:xfrm>
            <a:off x="871240" y="2812388"/>
            <a:ext cx="3145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1. Ganti bagian [kurung siku] dengan kebutuhanmu.</a:t>
            </a:r>
            <a:endParaRPr lang="en-US" sz="600" dirty="0"/>
          </a:p>
        </p:txBody>
      </p:sp>
      <p:sp>
        <p:nvSpPr>
          <p:cNvPr id="74" name="Shape 66"/>
          <p:cNvSpPr/>
          <p:nvPr/>
        </p:nvSpPr>
        <p:spPr>
          <a:xfrm>
            <a:off x="4044208" y="2812388"/>
            <a:ext cx="914400" cy="119299"/>
          </a:xfrm>
          <a:prstGeom prst="rect">
            <a:avLst/>
          </a:prstGeom>
          <a:solidFill>
            <a:srgbClr val="FFFFFF"/>
          </a:solidFill>
          <a:ln w="6350">
            <a:solidFill>
              <a:srgbClr val="E2E2E2"/>
            </a:solidFill>
            <a:prstDash val="solid"/>
          </a:ln>
        </p:spPr>
      </p:sp>
      <p:sp>
        <p:nvSpPr>
          <p:cNvPr id="75" name="Shape 67"/>
          <p:cNvSpPr/>
          <p:nvPr/>
        </p:nvSpPr>
        <p:spPr>
          <a:xfrm>
            <a:off x="587776" y="2931688"/>
            <a:ext cx="256032" cy="119299"/>
          </a:xfrm>
          <a:prstGeom prst="rect">
            <a:avLst/>
          </a:prstGeom>
          <a:solidFill>
            <a:srgbClr val="F8F9FA"/>
          </a:solidFill>
          <a:ln w="6350">
            <a:solidFill>
              <a:srgbClr val="DDDDDD"/>
            </a:solidFill>
            <a:prstDash val="solid"/>
          </a:ln>
        </p:spPr>
      </p:sp>
      <p:sp>
        <p:nvSpPr>
          <p:cNvPr id="76" name="Text 6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77" name="Shape 69"/>
          <p:cNvSpPr/>
          <p:nvPr/>
        </p:nvSpPr>
        <p:spPr>
          <a:xfrm>
            <a:off x="843808" y="2931688"/>
            <a:ext cx="3200400" cy="119299"/>
          </a:xfrm>
          <a:prstGeom prst="rect">
            <a:avLst/>
          </a:prstGeom>
          <a:solidFill>
            <a:srgbClr val="FFFFFF"/>
          </a:solidFill>
          <a:ln w="6350">
            <a:solidFill>
              <a:srgbClr val="E2E2E2"/>
            </a:solidFill>
            <a:prstDash val="solid"/>
          </a:ln>
        </p:spPr>
      </p:sp>
      <p:sp>
        <p:nvSpPr>
          <p:cNvPr id="78" name="Text 70"/>
          <p:cNvSpPr txBox="1"/>
          <p:nvPr/>
        </p:nvSpPr>
        <p:spPr>
          <a:xfrm>
            <a:off x="871240" y="2931688"/>
            <a:ext cx="3145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2. Pahami jawaban AI; jangan salin tanpa mengerti.</a:t>
            </a:r>
            <a:endParaRPr lang="en-US" sz="600" dirty="0"/>
          </a:p>
        </p:txBody>
      </p:sp>
      <p:sp>
        <p:nvSpPr>
          <p:cNvPr id="79" name="Shape 71"/>
          <p:cNvSpPr/>
          <p:nvPr/>
        </p:nvSpPr>
        <p:spPr>
          <a:xfrm>
            <a:off x="4044208" y="2931688"/>
            <a:ext cx="914400" cy="119299"/>
          </a:xfrm>
          <a:prstGeom prst="rect">
            <a:avLst/>
          </a:prstGeom>
          <a:solidFill>
            <a:srgbClr val="FFFFFF"/>
          </a:solidFill>
          <a:ln w="6350">
            <a:solidFill>
              <a:srgbClr val="E2E2E2"/>
            </a:solidFill>
            <a:prstDash val="solid"/>
          </a:ln>
        </p:spPr>
      </p:sp>
      <p:sp>
        <p:nvSpPr>
          <p:cNvPr id="80" name="Shape 72"/>
          <p:cNvSpPr/>
          <p:nvPr/>
        </p:nvSpPr>
        <p:spPr>
          <a:xfrm>
            <a:off x="587776" y="3050987"/>
            <a:ext cx="256032" cy="119299"/>
          </a:xfrm>
          <a:prstGeom prst="rect">
            <a:avLst/>
          </a:prstGeom>
          <a:solidFill>
            <a:srgbClr val="F8F9FA"/>
          </a:solidFill>
          <a:ln w="6350">
            <a:solidFill>
              <a:srgbClr val="DDDDDD"/>
            </a:solidFill>
            <a:prstDash val="solid"/>
          </a:ln>
        </p:spPr>
      </p:sp>
      <p:sp>
        <p:nvSpPr>
          <p:cNvPr id="81" name="Text 73"/>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82" name="Shape 74"/>
          <p:cNvSpPr/>
          <p:nvPr/>
        </p:nvSpPr>
        <p:spPr>
          <a:xfrm>
            <a:off x="843808" y="3050987"/>
            <a:ext cx="3200400" cy="119299"/>
          </a:xfrm>
          <a:prstGeom prst="rect">
            <a:avLst/>
          </a:prstGeom>
          <a:solidFill>
            <a:srgbClr val="FFFFFF"/>
          </a:solidFill>
          <a:ln w="6350">
            <a:solidFill>
              <a:srgbClr val="E2E2E2"/>
            </a:solidFill>
            <a:prstDash val="solid"/>
          </a:ln>
        </p:spPr>
      </p:sp>
      <p:sp>
        <p:nvSpPr>
          <p:cNvPr id="83" name="Text 75"/>
          <p:cNvSpPr txBox="1"/>
          <p:nvPr/>
        </p:nvSpPr>
        <p:spPr>
          <a:xfrm>
            <a:off x="871240" y="3050987"/>
            <a:ext cx="3145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3. Jangan masukkan data pribadi, kata sandi, kunci API.</a:t>
            </a:r>
            <a:endParaRPr lang="en-US" sz="600" dirty="0"/>
          </a:p>
        </p:txBody>
      </p:sp>
      <p:sp>
        <p:nvSpPr>
          <p:cNvPr id="84" name="Shape 76"/>
          <p:cNvSpPr/>
          <p:nvPr/>
        </p:nvSpPr>
        <p:spPr>
          <a:xfrm>
            <a:off x="4044208" y="3050987"/>
            <a:ext cx="914400" cy="119299"/>
          </a:xfrm>
          <a:prstGeom prst="rect">
            <a:avLst/>
          </a:prstGeom>
          <a:solidFill>
            <a:srgbClr val="FFFFFF"/>
          </a:solidFill>
          <a:ln w="6350">
            <a:solidFill>
              <a:srgbClr val="E2E2E2"/>
            </a:solidFill>
            <a:prstDash val="solid"/>
          </a:ln>
        </p:spPr>
      </p:sp>
      <p:sp>
        <p:nvSpPr>
          <p:cNvPr id="85" name="Shape 77"/>
          <p:cNvSpPr/>
          <p:nvPr/>
        </p:nvSpPr>
        <p:spPr>
          <a:xfrm>
            <a:off x="587776" y="3170287"/>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87" name="Shape 79"/>
          <p:cNvSpPr/>
          <p:nvPr/>
        </p:nvSpPr>
        <p:spPr>
          <a:xfrm>
            <a:off x="843808" y="3170287"/>
            <a:ext cx="3200400" cy="119299"/>
          </a:xfrm>
          <a:prstGeom prst="rect">
            <a:avLst/>
          </a:prstGeom>
          <a:solidFill>
            <a:srgbClr val="FFFFFF"/>
          </a:solidFill>
          <a:ln w="6350">
            <a:solidFill>
              <a:srgbClr val="E2E2E2"/>
            </a:solidFill>
            <a:prstDash val="solid"/>
          </a:ln>
        </p:spPr>
      </p:sp>
      <p:sp>
        <p:nvSpPr>
          <p:cNvPr id="88" name="Text 80"/>
          <p:cNvSpPr txBox="1"/>
          <p:nvPr/>
        </p:nvSpPr>
        <p:spPr>
          <a:xfrm>
            <a:off x="871240" y="3170287"/>
            <a:ext cx="3145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4. Periksa jawaban penting ke sumber terpercaya.</a:t>
            </a:r>
            <a:endParaRPr lang="en-US" sz="600" dirty="0"/>
          </a:p>
        </p:txBody>
      </p:sp>
      <p:sp>
        <p:nvSpPr>
          <p:cNvPr id="89" name="Shape 81"/>
          <p:cNvSpPr/>
          <p:nvPr/>
        </p:nvSpPr>
        <p:spPr>
          <a:xfrm>
            <a:off x="4044208" y="3170287"/>
            <a:ext cx="914400" cy="119299"/>
          </a:xfrm>
          <a:prstGeom prst="rect">
            <a:avLst/>
          </a:prstGeom>
          <a:solidFill>
            <a:srgbClr val="FFFFFF"/>
          </a:solidFill>
          <a:ln w="6350">
            <a:solidFill>
              <a:srgbClr val="E2E2E2"/>
            </a:solidFill>
            <a:prstDash val="solid"/>
          </a:ln>
        </p:spPr>
      </p:sp>
      <p:sp>
        <p:nvSpPr>
          <p:cNvPr id="90" name="Shape 82"/>
          <p:cNvSpPr/>
          <p:nvPr/>
        </p:nvSpPr>
        <p:spPr>
          <a:xfrm>
            <a:off x="587776" y="3289586"/>
            <a:ext cx="256032" cy="119299"/>
          </a:xfrm>
          <a:prstGeom prst="rect">
            <a:avLst/>
          </a:prstGeom>
          <a:solidFill>
            <a:srgbClr val="F8F9FA"/>
          </a:solidFill>
          <a:ln w="6350">
            <a:solidFill>
              <a:srgbClr val="DDDDDD"/>
            </a:solidFill>
            <a:prstDash val="solid"/>
          </a:ln>
        </p:spPr>
      </p:sp>
      <p:sp>
        <p:nvSpPr>
          <p:cNvPr id="91" name="Text 83"/>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92" name="Shape 84"/>
          <p:cNvSpPr/>
          <p:nvPr/>
        </p:nvSpPr>
        <p:spPr>
          <a:xfrm>
            <a:off x="843808" y="3289586"/>
            <a:ext cx="3200400" cy="119299"/>
          </a:xfrm>
          <a:prstGeom prst="rect">
            <a:avLst/>
          </a:prstGeom>
          <a:solidFill>
            <a:srgbClr val="FFFFFF"/>
          </a:solidFill>
          <a:ln w="6350">
            <a:solidFill>
              <a:srgbClr val="E2E2E2"/>
            </a:solidFill>
            <a:prstDash val="solid"/>
          </a:ln>
        </p:spPr>
      </p:sp>
      <p:sp>
        <p:nvSpPr>
          <p:cNvPr id="93" name="Text 85"/>
          <p:cNvSpPr txBox="1"/>
          <p:nvPr/>
        </p:nvSpPr>
        <p:spPr>
          <a:xfrm>
            <a:off x="871240" y="3289586"/>
            <a:ext cx="3145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5. Urusan agama: tanyakan kepada ustadz.</a:t>
            </a:r>
            <a:endParaRPr lang="en-US" sz="600" dirty="0"/>
          </a:p>
        </p:txBody>
      </p:sp>
      <p:sp>
        <p:nvSpPr>
          <p:cNvPr id="94" name="Shape 86"/>
          <p:cNvSpPr/>
          <p:nvPr/>
        </p:nvSpPr>
        <p:spPr>
          <a:xfrm>
            <a:off x="4044208" y="3289586"/>
            <a:ext cx="914400" cy="119299"/>
          </a:xfrm>
          <a:prstGeom prst="rect">
            <a:avLst/>
          </a:prstGeom>
          <a:solidFill>
            <a:srgbClr val="FFFFFF"/>
          </a:solidFill>
          <a:ln w="6350">
            <a:solidFill>
              <a:srgbClr val="E2E2E2"/>
            </a:solidFill>
            <a:prstDash val="solid"/>
          </a:ln>
        </p:spPr>
      </p:sp>
      <p:sp>
        <p:nvSpPr>
          <p:cNvPr id="95" name="Shape 87"/>
          <p:cNvSpPr/>
          <p:nvPr/>
        </p:nvSpPr>
        <p:spPr>
          <a:xfrm>
            <a:off x="587776" y="3408885"/>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97" name="Shape 89"/>
          <p:cNvSpPr/>
          <p:nvPr/>
        </p:nvSpPr>
        <p:spPr>
          <a:xfrm>
            <a:off x="843808" y="3408885"/>
            <a:ext cx="3200400" cy="119299"/>
          </a:xfrm>
          <a:prstGeom prst="rect">
            <a:avLst/>
          </a:prstGeom>
          <a:solidFill>
            <a:srgbClr val="FFFFFF"/>
          </a:solidFill>
          <a:ln w="6350">
            <a:solidFill>
              <a:srgbClr val="E2E2E2"/>
            </a:solidFill>
            <a:prstDash val="solid"/>
          </a:ln>
        </p:spPr>
      </p:sp>
      <p:sp>
        <p:nvSpPr>
          <p:cNvPr id="98" name="Shape 90"/>
          <p:cNvSpPr/>
          <p:nvPr/>
        </p:nvSpPr>
        <p:spPr>
          <a:xfrm>
            <a:off x="4044208" y="3408885"/>
            <a:ext cx="914400" cy="119299"/>
          </a:xfrm>
          <a:prstGeom prst="rect">
            <a:avLst/>
          </a:prstGeom>
          <a:solidFill>
            <a:srgbClr val="FFFFFF"/>
          </a:solidFill>
          <a:ln w="6350">
            <a:solidFill>
              <a:srgbClr val="E2E2E2"/>
            </a:solidFill>
            <a:prstDash val="solid"/>
          </a:ln>
        </p:spPr>
      </p:sp>
      <p:sp>
        <p:nvSpPr>
          <p:cNvPr id="99" name="Shape 91"/>
          <p:cNvSpPr/>
          <p:nvPr/>
        </p:nvSpPr>
        <p:spPr>
          <a:xfrm>
            <a:off x="587776" y="3528185"/>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01" name="Shape 93"/>
          <p:cNvSpPr/>
          <p:nvPr/>
        </p:nvSpPr>
        <p:spPr>
          <a:xfrm>
            <a:off x="843808" y="3528185"/>
            <a:ext cx="3200400" cy="119299"/>
          </a:xfrm>
          <a:prstGeom prst="rect">
            <a:avLst/>
          </a:prstGeom>
          <a:solidFill>
            <a:srgbClr val="FFFFFF"/>
          </a:solidFill>
          <a:ln w="6350">
            <a:solidFill>
              <a:srgbClr val="E2E2E2"/>
            </a:solidFill>
            <a:prstDash val="solid"/>
          </a:ln>
        </p:spPr>
      </p:sp>
      <p:sp>
        <p:nvSpPr>
          <p:cNvPr id="102" name="Shape 94"/>
          <p:cNvSpPr/>
          <p:nvPr/>
        </p:nvSpPr>
        <p:spPr>
          <a:xfrm>
            <a:off x="4044208" y="3528185"/>
            <a:ext cx="914400" cy="119299"/>
          </a:xfrm>
          <a:prstGeom prst="rect">
            <a:avLst/>
          </a:prstGeom>
          <a:solidFill>
            <a:srgbClr val="FFFFFF"/>
          </a:solidFill>
          <a:ln w="6350">
            <a:solidFill>
              <a:srgbClr val="E2E2E2"/>
            </a:solidFill>
            <a:prstDash val="solid"/>
          </a:ln>
        </p:spPr>
      </p:sp>
      <p:sp>
        <p:nvSpPr>
          <p:cNvPr id="103" name="Shape 95"/>
          <p:cNvSpPr/>
          <p:nvPr/>
        </p:nvSpPr>
        <p:spPr>
          <a:xfrm>
            <a:off x="587776" y="3647484"/>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05" name="Shape 97"/>
          <p:cNvSpPr/>
          <p:nvPr/>
        </p:nvSpPr>
        <p:spPr>
          <a:xfrm>
            <a:off x="843808" y="3647484"/>
            <a:ext cx="3200400" cy="119299"/>
          </a:xfrm>
          <a:prstGeom prst="rect">
            <a:avLst/>
          </a:prstGeom>
          <a:solidFill>
            <a:srgbClr val="FFFFFF"/>
          </a:solidFill>
          <a:ln w="6350">
            <a:solidFill>
              <a:srgbClr val="E2E2E2"/>
            </a:solidFill>
            <a:prstDash val="solid"/>
          </a:ln>
        </p:spPr>
      </p:sp>
      <p:sp>
        <p:nvSpPr>
          <p:cNvPr id="106" name="Shape 98"/>
          <p:cNvSpPr/>
          <p:nvPr/>
        </p:nvSpPr>
        <p:spPr>
          <a:xfrm>
            <a:off x="4044208" y="3647484"/>
            <a:ext cx="914400" cy="119299"/>
          </a:xfrm>
          <a:prstGeom prst="rect">
            <a:avLst/>
          </a:prstGeom>
          <a:solidFill>
            <a:srgbClr val="FFFFFF"/>
          </a:solidFill>
          <a:ln w="6350">
            <a:solidFill>
              <a:srgbClr val="E2E2E2"/>
            </a:solidFill>
            <a:prstDash val="solid"/>
          </a:ln>
        </p:spPr>
      </p:sp>
      <p:sp>
        <p:nvSpPr>
          <p:cNvPr id="107" name="Shape 99"/>
          <p:cNvSpPr/>
          <p:nvPr/>
        </p:nvSpPr>
        <p:spPr>
          <a:xfrm>
            <a:off x="587776" y="3794216"/>
            <a:ext cx="4950927" cy="201168"/>
          </a:xfrm>
          <a:prstGeom prst="rect">
            <a:avLst/>
          </a:prstGeom>
          <a:solidFill>
            <a:srgbClr val="F8F9FA"/>
          </a:solidFill>
          <a:ln w="12700">
            <a:solidFill>
              <a:srgbClr val="F8F9FA"/>
            </a:solidFill>
            <a:prstDash val="solid"/>
          </a:ln>
        </p:spPr>
      </p:sp>
      <p:sp>
        <p:nvSpPr>
          <p:cNvPr id="108" name="Text 10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09" name="Text 10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Library</a:t>
            </a:r>
            <a:endParaRPr lang="en-US" sz="700" dirty="0"/>
          </a:p>
        </p:txBody>
      </p:sp>
      <p:sp>
        <p:nvSpPr>
          <p:cNvPr id="110" name="Shape 102"/>
          <p:cNvSpPr/>
          <p:nvPr/>
        </p:nvSpPr>
        <p:spPr>
          <a:xfrm>
            <a:off x="1913656" y="3794216"/>
            <a:ext cx="731520" cy="201168"/>
          </a:xfrm>
          <a:prstGeom prst="rect">
            <a:avLst/>
          </a:prstGeom>
          <a:solidFill>
            <a:srgbClr val="E1EFFE"/>
          </a:solidFill>
          <a:ln w="12700">
            <a:solidFill>
              <a:srgbClr val="E1EFFE"/>
            </a:solidFill>
            <a:prstDash val="solid"/>
          </a:ln>
        </p:spPr>
      </p:sp>
      <p:sp>
        <p:nvSpPr>
          <p:cNvPr id="111" name="Text 103"/>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Petunjuk</a:t>
            </a:r>
            <a:endParaRPr lang="en-US" sz="700" dirty="0"/>
          </a:p>
        </p:txBody>
      </p:sp>
      <p:sp>
        <p:nvSpPr>
          <p:cNvPr id="112" name="Shape 104"/>
          <p:cNvSpPr/>
          <p:nvPr/>
        </p:nvSpPr>
        <p:spPr>
          <a:xfrm>
            <a:off x="825520" y="2794100"/>
            <a:ext cx="3236976" cy="633073"/>
          </a:xfrm>
          <a:prstGeom prst="roundRect">
            <a:avLst>
              <a:gd name="adj" fmla="val 7222"/>
            </a:avLst>
          </a:prstGeom>
          <a:solidFill>
            <a:srgbClr val="FFFFFF">
              <a:alpha val="0"/>
            </a:srgbClr>
          </a:solidFill>
          <a:ln w="31750">
            <a:solidFill>
              <a:srgbClr val="E53935"/>
            </a:solidFill>
            <a:prstDash val="solid"/>
          </a:ln>
        </p:spPr>
      </p:sp>
      <p:sp>
        <p:nvSpPr>
          <p:cNvPr id="113" name="Shape 105"/>
          <p:cNvSpPr/>
          <p:nvPr/>
        </p:nvSpPr>
        <p:spPr>
          <a:xfrm>
            <a:off x="3925336" y="2656940"/>
            <a:ext cx="274320" cy="274320"/>
          </a:xfrm>
          <a:prstGeom prst="ellipse">
            <a:avLst/>
          </a:prstGeom>
          <a:solidFill>
            <a:srgbClr val="E53935"/>
          </a:solidFill>
          <a:ln w="12700">
            <a:solidFill>
              <a:srgbClr val="FFFFFF"/>
            </a:solidFill>
            <a:prstDash val="solid"/>
          </a:ln>
        </p:spPr>
      </p:sp>
      <p:sp>
        <p:nvSpPr>
          <p:cNvPr id="114" name="Text 106"/>
          <p:cNvSpPr txBox="1"/>
          <p:nvPr/>
        </p:nvSpPr>
        <p:spPr>
          <a:xfrm>
            <a:off x="39253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15" name="Image 6" descr="preencoded.png">    </p:cNvPr>
          <p:cNvPicPr>
            <a:picLocks noChangeAspect="1"/>
          </p:cNvPicPr>
          <p:nvPr/>
        </p:nvPicPr>
        <p:blipFill>
          <a:blip r:embed="rId7"/>
          <a:stretch>
            <a:fillRect/>
          </a:stretch>
        </p:blipFill>
        <p:spPr>
          <a:xfrm>
            <a:off x="2604028" y="3140462"/>
            <a:ext cx="237744" cy="237744"/>
          </a:xfrm>
          <a:prstGeom prst="rect">
            <a:avLst/>
          </a:prstGeom>
        </p:spPr>
      </p:pic>
      <p:sp>
        <p:nvSpPr>
          <p:cNvPr id="116" name="Text 10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17" name="Text 10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lembar Petunjuk &amp; Aturan</a:t>
            </a:r>
            <a:endParaRPr lang="en-US" sz="1800" dirty="0"/>
          </a:p>
        </p:txBody>
      </p:sp>
      <p:sp>
        <p:nvSpPr>
          <p:cNvPr id="118" name="Text 10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dan kelas menulis lembar kedua: cara memakai Library dan aturan keamanan (dari pertemuan 8).</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Prompt Library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kelompok menyumbang 5 prompt template (satu per kategori) dengan 5 komponen.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2 prompt memakai teknik lanjutan; semua prompt bernilai 4–5 setelah diuji.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Library rapi di Google Sheets: kategori, filter, dan lembar Petunjuk &amp; Aturan.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Kelompok mempresentasikan 1 prompt terbaik dan hasil ujinya.</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3: Prompt Engineering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kelompok menyumbang 5 prompt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prompt diuji dan dinilai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kategori dan petunjuk pakai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aturan keamanan di Library</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Prompt mana yang paling ingin kamu pakai untuk proyekmu?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Library ini membantu adik kelas?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Ilmu yang dibagikan menjadi amal jariyah. Bagikan yang sudah teruji dan bermanfaat.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4: Coding dengan AI.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3 - Prompt Engineering</dc:title>
  <dc:subject>PptxGenJS Presentation</dc:subject>
  <dc:creator>PptxGenJS</dc:creator>
  <cp:lastModifiedBy>PptxGenJS</cp:lastModifiedBy>
  <cp:revision>1</cp:revision>
  <dcterms:created xsi:type="dcterms:W3CDTF">2026-10-02T06:33:56Z</dcterms:created>
  <dcterms:modified xsi:type="dcterms:W3CDTF">2026-10-02T06:33:56Z</dcterms:modified>
</cp:coreProperties>
</file>