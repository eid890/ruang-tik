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10: UI/UX Dasar — Proyek: Redesign Aplikasi
Terdiri dari 3 pertemuan (Pertemuan 28–30 Kelas IX),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Modul ini memperbaiki aplikasi kelompok yang sudah ada (versi 3–4). Tidak ada fitur baru; fokus pada kemudahan pemakaian.
- Pertemuan 30: siapkan 2–3 pengguna dari kelas lain untuk uji kegunaan (usability test). Uji dilakukan di HP.
- Kaitkan dengan prinsip desain Kelas VII (kontras, perataan, pengulangan, kedekatan) dan responsif Kelas VIII.
- Simpan tangkapan layar SEBELUM perbaikan agar perbandingan sebelum–sesudah bisa ditunjukkan.
CATATAN
Istilah: UI (User Interface: tampilan yang dilihat dan disentuh), UX (User Experience: pengalaman dan perasaan saat memakai), usability test (uji kegunaan dengan tugas nyata), ukuran sentuh (tombol minimal sekitar 44 piksel agar mudah diketuk), umpan balik (aplikasi memberi tanda bahwa aksi berhasil/sedang diproses), variabel CSS (--nama: nilai).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ke-28, dengan judul "UI, UX &amp; Audit Kegunaan". Kita belajar melihat aplikasi dari mata pengguna.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aplikasi kelompok kalian sudah memiliki fitur yang lengkap: menghitung, menyimpan, dan menampilkan data. Sekarang pertanyaannya: apakah aplikasi itu MUDAH dipakai?
Sekarang pertanyaan hari ini. Coba pikirkan sejenak:
"Pernahkah kalian memakai aplikasi yang membuat bingung, walaupun fiturnya lengkap?"
(Beri waktu 1 menit. Minta 2–3 santri menjawab. Hargai semua jawaban.)
Fitur yang lengkap belum tentu mudah dipakai. Jika pengguna bingung, mereka akan berhenti memakainya. Ilmu yang mempelajari kemudahan dan kenyamanan aplikasi disebut UI dan UX. Hari ini kita mengenalnya.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UI singkatan dari User Interface, artinya antarmuka pengguna. UI adalah TAMPILAN: warna, huruf, tombol, dan tata letak, yaitu yang dilihat dan disentuh.
UX singkatan dari User Experience, artinya pengalaman pengguna. UX adalah PERASAAN saat memakai: mudah atau sulit, cepat atau lambat, nyaman atau membingungkan.
Perumpamaannya: UI adalah tampilan masjid, kaligrafi dan karpetnya. UX adalah pengalaman jamaah: apakah mudah menemukan tempat wudhu, apakah shaf nyaman, apakah suara imam terdengar jelas.
Kolom kanan berwarna merah bukan berarti UX buruk; keduanya sama pentingnya. UI yang indah tanpa UX yang baik tetap membuat pengguna pergi.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lima prinsip kegunaan yang kita pakai.
JELAS: pengguna langsung tahu apa yang harus dilakukan, dengan label dan petunjuk singkat.
KONSISTEN: warna, bentuk tombol, dan istilah sama di seluruh aplikasi. Jangan satu tombol bertuliskan Simpan, tombol lain Kirim, untuk hal yang sama.
ADA UMPAN BALIK: setiap aksi diberi tanda, misalnya "Menyimpan..." lalu "Tersimpan!". Tanpa itu, pengguna bingung apakah tombolnya bekerja, lalu menekannya berkali-kali.
MUDAH DIJANGKAU: tombol besar dan mudah diketuk di HP, teks cukup besar untuk dibaca.
MENCEGAH KESALAHAN: contoh isian, batas angka, dan pesan yang ramah ketika pengguna salah.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Bandingkan dua layar di depan kalian.
SEBELUM: judul pucat dan hampir tidak terlihat, petunjuk panjang dengan huruf kecil abu-abu, kolom tanpa label sehingga pengguna tidak tahu harus mengisi apa, dua tombol kecil berwarna mencolok, dan tombol hapus berdekatan dengan tombol ok. Sangat mudah salah tekan!
SESUDAH: judul jelas dengan kontras tinggi, setiap kolom berlabel dengan contoh isian, satu tombol utama yang besar, ada umpan balik "Tersimpan!", dan warna sesuai identitas pondok.
Fiturnya sama persis, tetapi pengalaman pemakaiannya sangat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aplikasi kelompok yang sudah online. Kita mengauditnya, artinya memeriksa dengan teliti menurut lima prinsip.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aplikasi kelompok di HP dan di DevTools mode HP. Ambil tangkapan layar setiap bagian, lalu simpan di folder proyek dengan nama sebelum_1, sebelum_2, dan seterusnya.
Di Windows, tangkapan layar bisa dibuat dengan Windows, Shift, S. Gambar-gambar ini nanti menjadi bukti perbandingan sebelum dan sesudah.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Satu anggota berpura-pura menjadi pengguna baru yang belum pernah melihat aplikasi. Ia melakukan tugas utama, misalnya menyimpan setoran, sambil berbicara keras tentang apa yang ia pikirkan: saya mencari, saya bingung, saya kira.
Anggota lain mencatat setiap kebingungan. Teknik ini disebut berpikir keras, atau think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Buat tabel audit di Docs dengan empat kolom: prinsip, nilai dari satu sampai tiga, temuan, dan usulan perbaikan. Satu baris untuk setiap prinsip.
Nilai 1 artinya kurang, 2 cukup, 3 baik.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Periksa setiap prinsip dengan teliti di tampilan HP.
Apakah jelas apa yang harus dilakukan? Apakah istilah dan warna konsisten? Apakah ada umpan balik setelah menekan tombol? Apakah tombol mudah diketuk dengan jari? Apa yang terjadi jika pengguna salah mengisi, misalnya angka minus atau kolom kosong?
Tulis temuan dengan contoh nyata, bukan hanya "kurang bagus".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Tukar aplikasi dengan kelompok lain. Setiap kelompok mengaudit aplikasi kelompok lain dengan tabel yang sama, lalu bandingkan temuannya.
Sering kali orang lain melihat masalah yang tidak kita sadari, karena kita sudah terbiasa dengan aplikasi buatan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Gabungkan temuan sendiri dan temuan kelompok lain. Urutkan dari yang paling mengganggu pengguna. Pilih lima perbaikan untuk dikerjakan pekan depan.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Dokumen audit kelompok berisi: tangkapan layar sebelum, catatan think aloud, tabel audit dari dua kelompok, dan rencana lima perbaikan.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bisa membedakan UI dan UX?
- bisa menyebut 5 prinsip?
- audit 5 prinsip terisi?
- minimal 5 temuan perbaikan?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prinsip mana yang paling kurang di aplikasimu?
Pertanyaan kedua: mengapa pembuat aplikasi sering tidak melihat kekurangannya sendiri?
(Minta 2–3 santri menjawab secara bergantian.)
Pesan adab kita hari ini: memudahkan orang lain adalah akhlak mulia. Rasulullah bersabda, maknanya: permudahlah dan jangan mempersulit. Hadits ini diriwayatkan oleh Bukhari dan Muslim. Aplikasi yang mudah dipakai adalah bentuk kepedulian kepada pengguna.
Pekan depan: memperbaiki tampilan: hierarki, kontras, ukuran sentuh, umpan balik.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ke-29, dengan judul "Memperbaiki Tampilan". Kita menerapkan perbaikan UI/UX ke aplikasi kelompok.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mengaudit aplikasi. Siapa yang ingat lima prinsip kegunaan?
(Tunggu jawaban: jelas, konsisten, umpan balik, mudah dijangkau, mencegah kesalahan.)
Sekarang pertanyaan hari ini. Coba pikirkan sejenak:
"Mengapa tulisan abu-abu muda di latar putih sulit dibaca, terutama di bawah sinar matahari?"
(Beri waktu 1 menit. Minta 2–3 santri menjawab. Hargai semua jawaban.)
Karena KONTRAS-nya rendah: perbedaan warna tulisan dan latar terlalu kecil. Hari ini kita memperbaiki tampilan aplikasi dengan teknik-teknik UI: kontras, hierarki, ukuran sentuh, dan umpan balik.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teknik yang kita terapkan hari ini.
HIERARKI: yang terpenting dibuat paling besar atau tebal. Urutannya: judul, label, isi, lalu keterangan kecil. Mata pengguna langsung tahu mana yang penting.
KONTRAS: tulisan gelap di latar terang, atau sebaliknya. Hindari tulisan abu-abu muda, karena sulit dibaca, terutama di bawah sinar matahari atau oleh orang yang penglihatannya kurang.
UKURAN SENTUH: tombol dan kolom isian minimal sekitar 44 piksel tingginya, kira-kira selebar ujung jari, dengan jarak antartombol yang cukup.
UMPAN BALIK: saat menyimpan, tampilkan "Menyimpan...", nonaktifkan tombol sementara agar tidak ditekan berkali-kali, lalu tampilkan "Tersimpan!".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konsistensi, kita pakai CSS VARIABEL.
Perhatikan kode di layar. Di bagian titik dua root, kita tulis warna-warna utama sekali saja: tanda strip strip hijau berisi hijau tua pondok, strip strip emas berisi emas, dan strip strip teks berisi warna tulisan.
Lalu di mana saja kita memakai var, kurung, nama variabel. Misalnya tombol: background var strip strip emas, dan min-height 44px untuk ukuran sentuh.
Mengapa? Jika suatu hari ingin mengganti warna, cukup ubah satu baris, dan seluruh aplikasi ikut berubah. Prinsipnya sama dengan tabel Santri di Modul 7: satu sumber, dipakai berkali-kali.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index.html proyek dan rencana perbaikan dari pekan lalu. Buat salinan cadangan dulu. Setiap perbaikan: ubah, simpan, lihat di mode 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 awal tag style, tulis titik dua root berisi variabel warna: hijau, emas, teks, dan latar. Lalu cari warna-warna yang tersebar di CSS, dan ganti dengan var. Misalnya body background var latar, header background var hijau.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Perbaiki kontras dan hierarki. Judul dibuat besar, label tebal, dan keterangan minimal 14 piksel dengan abu-abu tua, bukan abu-abu muda. Hapus warna-warna pucat yang sulit dibaca, dan catat dengan komentar.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Tambahkan tag label di atas setiap kolom isian. Atribut for pada label harus sama dengan id pada input; dengan begitu, mengetuk label juga mengaktifkan kolomnya, sangat membantu di HP.
Isi placeholder dengan contoh, misalnya Contoh: S001. Pastikan istilah konsisten di seluruh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Buat kolom dan tombol ramah sentuhan: min-height 44 piksel, font-size 16 piksel, dan lebar penuh. Ukuran huruf 16 piksel juga mencegah HP memperbesar layar secara otomatis saat pengguna mengetik.
Usahakan hanya SATU tombol utama per layar, agar pengguna tidak ragu.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Tambahkan umpan balik di fungsi simpan. Sebelum fetch: nonaktifkan tombol dengan disabled sama dengan true, dan ubah tulisannya menjadi Menyimpan titik titik titik. Setelah selesai: aktifkan kembali, kembalikan tulisan Simpan, dan tampilkan pesan Alhamdulillah, tersimpan.
Ini mencegah pengguna menekan tombol berkali-kali sehingga data tersimpan ganda. Jika perlu, tanyakan kepada AI dengan menyertakan fungsi simpan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Lihat hasilnya di mode HP. Ambil tangkapan layar SESUDAH, lalu letakkan berdampingan dengan tangkapan layar SEBELUM di dokumen audit.
Bandingkan: apakah kelima perbaikan sudah terlihat? Commit ke GitHub dengan pesan jelas: Perbaikan UI/UX, label, ukuran sentuh, umpan balik.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Kelompok mengumpulkan: CSS variabel, label dan ukuran sentuh, umpan balik saat menyimpan, serta tangkapan layar sebelum dan sesudah dengan commit.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label dan contoh isian ada?
- tombol utama besar dan konsisten?
- ada umpan balik saat menyimpan?
- pencegahan kesalahan di input?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perbaikan mana yang paling terasa bedanya?
Pertanyaan kedua: bagaimana CSS variabel memudahkan konsistensi?
(Minta 2–3 santri menjawab secara bergantian.)
Pesan adab kita hari ini: perhatikan orang yang berbeda kemampuan. Tulisan yang jelas dan kontras membantu orang tua, ustadz, atau santri yang penglihatannya kurang. Memudahkan mereka adalah bagian dari ihsan.
Pekan depan: proyek Redesign Aplikasi dan uji kegunaan.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ke-30, dengan judul "Redesign Aplikasi". Hari ini kita membuktikan perbaikan desain dengan uji kegunaan bersama pengguna nyata.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memperbaiki tampilan. Siapa yang ingat, berapa tinggi minimal tombol agar mudah diketuk di HP?
(Tunggu jawaban: sekitar 44 piksel.)
Sekarang pertanyaan hari ini. Coba pikirkan sejenak:
"Bagaimana membuktikan bahwa perbaikan tampilan benar-benar membuat aplikasi lebih mudah dipakai?"
(Beri waktu 1 menit. Minta 2–3 santri menjawab. Hargai semua jawaban.)
Dengan USABILITY TEST atau uji kegunaan: pengguna nyata diberi tugas, lalu kita mengamati apakah mereka berhasil, berapa lama, dan di mana mereka bingung. Hasil uji adalah bukti, bukan sekadar pendapat.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Uji kegunaan dilakukan dengan memberi pengguna TUGAS nyata, lalu mencatat hasilnya dalam tabel: berhasil atau tidak, berapa lama, dan di mana mereka bingung.
Contoh tugas di layar: simpan setoran S001, An-Naba, 20 ayat. Cek total setoran pekan ini. Lihat tiga setoran terakhir.
Aturan penting bagi pengamat: berikan tugas, bukan petunjuk. Jangan membantu dan jangan menjelaskan, cukup amati dan catat. Dan ingat: jika pengguna gagal, itu adalah kesalahan desain, bukan kesalahan pengguna. Tugas kita memperbaiki aplikasi, bukan menyalahkan pengguna.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(Atur agar setiap kelompok bisa menguji 2–3 pengguna dari kelas atau kelompok lain. Setiap kelompok juga menjadi pengguna bagi kelompok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Tulis tiga tugas uji berdasarkan fitur utama aplikasi. Tugas ditulis sebagai TUJUAN, bukan langkah-langkah. Contoh benar: simpan setoranmu hari ini. Contoh salah: klik kolom kode, lalu ketik, lalu klik tombol. Jika kita memberi langkah, kita tidak menguji apakah aplikasinya jelas.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Siapkan lembar pengamatan: satu tabel untuk setiap pengguna, dengan kolom tugas, berhasil, waktu, dan bingung di mana. Siapkan stopwatch di HP.
Bagi peran: satu anggota membacakan tugas, satu memegang stopwatch, satu mencatat.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Uji dengan minimal dua pengguna. Bacakan tugas satu per satu, mulai stopwatch, dan amati tanpa membantu. Jika pengguna bertanya, jawab dengan ramah: coba saja seperti yang kamu pikirkan.
Hentikan stopwatch saat tugas selesai, atau setelah dua menit jika pengguna menyerah. Catat semuanya.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Rangkum hasil di Sheets atau Docs: berapa tugas berhasil dari total, rata-rata waktu setiap tugas, dan masalah yang muncul lebih dari sekali.
Contoh di layar: tugas 2 hanya berhasil satu dari dua, dengan rata-rata 35 detik, karena pengguna sulit menemukan tombol Cek. Inilah masalah terpenting yang harus diperbaiki.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Perbaiki satu masalah yang paling sering muncul, misalnya pindahkan tombol Cek ke tempat yang lebih terlihat dan beri label yang lebih jelas. Uji ulang tugas itu dengan satu pengguna baru. Apakah sekarang lebih cepat? Commit perubahan.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Setiap kelompok mempresentasikan redesign selama empat menit: tangkapan layar sebelum dan sesudah, lima perbaikan yang dilakukan, hasil uji kegunaan berupa tingkat berhasil dan waktu, serta perbaikan yang dilakukan setelah uji.
Kekuatan presentasi ini adalah BUKTI: angka dan pengamatan, bukan sekadar "menurut kami lebih bagus".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dinyatakan selesai jika: audit dan lima perbaikan sudah diterapkan, uji kegunaan dilakukan dan diukur, masalah terbesar diperbaiki dan diuji ulang, serta presentasi sebelum–sesudah dengan bukti sudah disampaikan.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- 3 tugas uji disiapkan?
- minimal 2 pengguna diuji?
- hasil diukur dan dicatat?
- presentasi sebelum–sesudah?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hasil uji yang paling mengejutkan?
Pertanyaan kedua: bagaimana kamu memastikan desain berpihak pada pengguna?
(Minta 2–3 santri menjawab secara bergantian.)
Pesan adab kita hari ini: terimalah masukan pengguna dengan lapang dada. Mereka sedang membantu kita menjadi lebih baik. Orang yang mau menerima kritik akan terus berkembang.
Pekan depan: kita masuk Modul 11: Deployment. Alhamdulillah, Modul 10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1.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9.png"/><Relationship Id="rId10" Type="http://schemas.openxmlformats.org/officeDocument/2006/relationships/image" Target="../media/image-38-10.png"/><Relationship Id="rId11" Type="http://schemas.openxmlformats.org/officeDocument/2006/relationships/slideLayout" Target="../slideLayouts/slideLayout1.xml"/><Relationship Id="rId1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9.png"/><Relationship Id="rId10" Type="http://schemas.openxmlformats.org/officeDocument/2006/relationships/image" Target="../media/image-39-10.png"/><Relationship Id="rId11" Type="http://schemas.openxmlformats.org/officeDocument/2006/relationships/slideLayout" Target="../slideLayouts/slideLayout1.xml"/><Relationship Id="rId1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slideLayout" Target="../slideLayouts/slideLayout1.xml"/><Relationship Id="rId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3 WUSTHA  ·  SEMESTER 2  ·  MODUL 10</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UI/UX Dasar</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Redesign Aplikasi</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memahami perbedaan UI dan UX, mengaudit aplikasi kelompok dengan prinsip kegunaan, memperbaiki tampilan (hierarki, kontras, ukuran sentuh, umpan balik), dan menguji kegunaan bersama pengguna nyata.</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28</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UI, UX &amp; Audit Kegunaan</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29</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Memperbaiki Tampilan</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30</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Redesign Aplikasi</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Aplikasi proyek kelompok, Notepad, browser (DevTools), HP untuk uji, Google Docs, layanan AI (akun pondok, bergiliran, diawasi guru)</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28</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UI, UX &amp; Audit Kegunaan</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Melihat aplikasi dari mata pengguna</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10: UI/UX Dasar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Pernahkah kalian memakai aplikasi yang membuat bingung, walaupun fiturnya lengkap?</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28</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Membedakan UI dan UX</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lima prinsip kegunaan aplikasi</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Mengaudit aplikasi kelompok dengan daftar kegunaan</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UI dan UX</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UI (User Interface)</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Tampilan: warna, huruf, tombol, tata letak</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Yang DILIHAT dan DISENTUH</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Contoh: tombol emas besar di bawah</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UX (User Experience)</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Pengalaman: mudah, cepat, nyaman?</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Yang DIRASAKAN saat memakai</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Contoh: santri bisa setor data dalam 10 detik tanpa bingung</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Lima Prinsip Kegunaan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1. Jelas</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Pengguna langsung tahu apa yang harus dilakukan. Label dan petunjuk singkat.</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2. Konsisten</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Warna, tombol, dan istilah sama di seluruh aplikasi.</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3. Ada Umpan Balik</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Setiap aksi diberi tanda: "Menyimpan...", "Tersimpan!"</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4. Mudah Dijangkau</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Tombol besar, mudah diketuk di HP, teks terbaca.</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5. Mencegah Kesalahan</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Contoh isian, batas angka, pesan ramah saat salah.</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Sebelum dan Sesudah</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822960" y="1051560"/>
            <a:ext cx="1828800" cy="3017520"/>
          </a:xfrm>
          <a:prstGeom prst="roundRect">
            <a:avLst>
              <a:gd name="adj" fmla="val 6000"/>
            </a:avLst>
          </a:prstGeom>
          <a:solidFill>
            <a:srgbClr val="FFFFFF"/>
          </a:solidFill>
          <a:ln w="19050">
            <a:solidFill>
              <a:srgbClr val="333333"/>
            </a:solidFill>
            <a:prstDash val="solid"/>
          </a:ln>
        </p:spPr>
      </p:sp>
      <p:sp>
        <p:nvSpPr>
          <p:cNvPr id="10" name="Shape 6"/>
          <p:cNvSpPr/>
          <p:nvPr/>
        </p:nvSpPr>
        <p:spPr>
          <a:xfrm>
            <a:off x="896112" y="1188720"/>
            <a:ext cx="1682496" cy="2743200"/>
          </a:xfrm>
          <a:prstGeom prst="rect">
            <a:avLst/>
          </a:prstGeom>
          <a:solidFill>
            <a:srgbClr val="FFF9C4"/>
          </a:solidFill>
          <a:ln w="12700">
            <a:solidFill>
              <a:srgbClr val="FFF9C4"/>
            </a:solidFill>
            <a:prstDash val="solid"/>
          </a:ln>
        </p:spPr>
      </p:sp>
      <p:sp>
        <p:nvSpPr>
          <p:cNvPr id="11" name="Text 7"/>
          <p:cNvSpPr txBox="1"/>
          <p:nvPr/>
        </p:nvSpPr>
        <p:spPr>
          <a:xfrm>
            <a:off x="941832" y="1234440"/>
            <a:ext cx="1682496" cy="182880"/>
          </a:xfrm>
          <a:prstGeom prst="rect">
            <a:avLst/>
          </a:prstGeom>
          <a:noFill/>
          <a:ln/>
        </p:spPr>
        <p:txBody>
          <a:bodyPr wrap="square" lIns="0" tIns="0" rIns="0" bIns="0" rtlCol="0" anchor="t"/>
          <a:lstStyle/>
          <a:p>
            <a:pPr indent="0" marL="0">
              <a:buNone/>
            </a:pPr>
            <a:r>
              <a:rPr lang="en-US" sz="700" dirty="0">
                <a:solidFill>
                  <a:srgbClr val="B0BEC5"/>
                </a:solidFill>
                <a:latin typeface="Comic Sans MS" pitchFamily="34" charset="0"/>
                <a:ea typeface="Comic Sans MS" pitchFamily="34" charset="-122"/>
                <a:cs typeface="Comic Sans MS" pitchFamily="34" charset="-120"/>
              </a:rPr>
              <a:t>setoran harian kel 3</a:t>
            </a:r>
            <a:endParaRPr lang="en-US" sz="700" dirty="0"/>
          </a:p>
        </p:txBody>
      </p:sp>
      <p:sp>
        <p:nvSpPr>
          <p:cNvPr id="12" name="Text 8"/>
          <p:cNvSpPr txBox="1"/>
          <p:nvPr/>
        </p:nvSpPr>
        <p:spPr>
          <a:xfrm>
            <a:off x="941832" y="1463040"/>
            <a:ext cx="1591056" cy="411480"/>
          </a:xfrm>
          <a:prstGeom prst="rect">
            <a:avLst/>
          </a:prstGeom>
          <a:noFill/>
          <a:ln/>
        </p:spPr>
        <p:txBody>
          <a:bodyPr wrap="square" lIns="0" tIns="0" rIns="0" bIns="0" rtlCol="0" anchor="t"/>
          <a:lstStyle/>
          <a:p>
            <a:pPr indent="0" marL="0">
              <a:buNone/>
            </a:pPr>
            <a:r>
              <a:rPr lang="en-US" sz="600" dirty="0">
                <a:solidFill>
                  <a:srgbClr val="999999"/>
                </a:solidFill>
                <a:latin typeface="Calibri" pitchFamily="34" charset="0"/>
                <a:ea typeface="Calibri" pitchFamily="34" charset="-122"/>
                <a:cs typeface="Calibri" pitchFamily="34" charset="-120"/>
              </a:rPr>
              <a:t>masukkan kode dan surat dan ayat lalu klik tombol di bawah kalau sudah</a:t>
            </a:r>
            <a:endParaRPr lang="en-US" sz="600" dirty="0"/>
          </a:p>
        </p:txBody>
      </p:sp>
      <p:sp>
        <p:nvSpPr>
          <p:cNvPr id="13" name="Shape 9"/>
          <p:cNvSpPr/>
          <p:nvPr/>
        </p:nvSpPr>
        <p:spPr>
          <a:xfrm>
            <a:off x="941832" y="1920240"/>
            <a:ext cx="925373" cy="146304"/>
          </a:xfrm>
          <a:prstGeom prst="rect">
            <a:avLst/>
          </a:prstGeom>
          <a:solidFill>
            <a:srgbClr val="FFFFFF"/>
          </a:solidFill>
          <a:ln w="6350">
            <a:solidFill>
              <a:srgbClr val="DDDDDD"/>
            </a:solidFill>
            <a:prstDash val="solid"/>
          </a:ln>
        </p:spPr>
      </p:sp>
      <p:sp>
        <p:nvSpPr>
          <p:cNvPr id="14" name="Shape 10"/>
          <p:cNvSpPr/>
          <p:nvPr/>
        </p:nvSpPr>
        <p:spPr>
          <a:xfrm>
            <a:off x="941832" y="2121408"/>
            <a:ext cx="925373" cy="146304"/>
          </a:xfrm>
          <a:prstGeom prst="rect">
            <a:avLst/>
          </a:prstGeom>
          <a:solidFill>
            <a:srgbClr val="FFFFFF"/>
          </a:solidFill>
          <a:ln w="6350">
            <a:solidFill>
              <a:srgbClr val="DDDDDD"/>
            </a:solidFill>
            <a:prstDash val="solid"/>
          </a:ln>
        </p:spPr>
      </p:sp>
      <p:sp>
        <p:nvSpPr>
          <p:cNvPr id="15" name="Shape 11"/>
          <p:cNvSpPr/>
          <p:nvPr/>
        </p:nvSpPr>
        <p:spPr>
          <a:xfrm>
            <a:off x="941832" y="2322576"/>
            <a:ext cx="925373" cy="146304"/>
          </a:xfrm>
          <a:prstGeom prst="rect">
            <a:avLst/>
          </a:prstGeom>
          <a:solidFill>
            <a:srgbClr val="FFFFFF"/>
          </a:solidFill>
          <a:ln w="6350">
            <a:solidFill>
              <a:srgbClr val="DDDDDD"/>
            </a:solidFill>
            <a:prstDash val="solid"/>
          </a:ln>
        </p:spPr>
      </p:sp>
      <p:sp>
        <p:nvSpPr>
          <p:cNvPr id="16" name="Shape 12"/>
          <p:cNvSpPr/>
          <p:nvPr/>
        </p:nvSpPr>
        <p:spPr>
          <a:xfrm>
            <a:off x="941832" y="2560320"/>
            <a:ext cx="320040" cy="128016"/>
          </a:xfrm>
          <a:prstGeom prst="rect">
            <a:avLst/>
          </a:prstGeom>
          <a:solidFill>
            <a:srgbClr val="FF5252"/>
          </a:solidFill>
          <a:ln w="12700">
            <a:solidFill>
              <a:srgbClr val="FF5252"/>
            </a:solidFill>
            <a:prstDash val="solid"/>
          </a:ln>
        </p:spPr>
      </p:sp>
      <p:sp>
        <p:nvSpPr>
          <p:cNvPr id="17" name="Text 13"/>
          <p:cNvSpPr txBox="1"/>
          <p:nvPr/>
        </p:nvSpPr>
        <p:spPr>
          <a:xfrm>
            <a:off x="941832" y="2560320"/>
            <a:ext cx="320040" cy="128016"/>
          </a:xfrm>
          <a:prstGeom prst="rect">
            <a:avLst/>
          </a:prstGeom>
          <a:noFill/>
          <a:ln/>
        </p:spPr>
        <p:txBody>
          <a:bodyPr wrap="square" lIns="0" tIns="0" rIns="0" bIns="0" rtlCol="0" anchor="ctr"/>
          <a:lstStyle/>
          <a:p>
            <a:pPr algn="ctr" indent="0" marL="0">
              <a:buNone/>
            </a:pPr>
            <a:r>
              <a:rPr lang="en-US" sz="500" dirty="0">
                <a:solidFill>
                  <a:srgbClr val="FFEB3B"/>
                </a:solidFill>
                <a:latin typeface="Calibri" pitchFamily="34" charset="0"/>
                <a:ea typeface="Calibri" pitchFamily="34" charset="-122"/>
                <a:cs typeface="Calibri" pitchFamily="34" charset="-120"/>
              </a:rPr>
              <a:t>ok</a:t>
            </a:r>
            <a:endParaRPr lang="en-US" sz="500" dirty="0"/>
          </a:p>
        </p:txBody>
      </p:sp>
      <p:sp>
        <p:nvSpPr>
          <p:cNvPr id="18" name="Shape 14"/>
          <p:cNvSpPr/>
          <p:nvPr/>
        </p:nvSpPr>
        <p:spPr>
          <a:xfrm>
            <a:off x="1307592" y="2560320"/>
            <a:ext cx="320040" cy="128016"/>
          </a:xfrm>
          <a:prstGeom prst="rect">
            <a:avLst/>
          </a:prstGeom>
          <a:solidFill>
            <a:srgbClr val="7C4DFF"/>
          </a:solidFill>
          <a:ln w="12700">
            <a:solidFill>
              <a:srgbClr val="7C4DFF"/>
            </a:solidFill>
            <a:prstDash val="solid"/>
          </a:ln>
        </p:spPr>
      </p:sp>
      <p:sp>
        <p:nvSpPr>
          <p:cNvPr id="19" name="Text 15"/>
          <p:cNvSpPr txBox="1"/>
          <p:nvPr/>
        </p:nvSpPr>
        <p:spPr>
          <a:xfrm>
            <a:off x="1307592" y="2560320"/>
            <a:ext cx="320040" cy="128016"/>
          </a:xfrm>
          <a:prstGeom prst="rect">
            <a:avLst/>
          </a:prstGeom>
          <a:noFill/>
          <a:ln/>
        </p:spPr>
        <p:txBody>
          <a:bodyPr wrap="square" lIns="0" tIns="0" rIns="0" bIns="0" rtlCol="0" anchor="ctr"/>
          <a:lstStyle/>
          <a:p>
            <a:pPr algn="ctr" indent="0" marL="0">
              <a:buNone/>
            </a:pPr>
            <a:r>
              <a:rPr lang="en-US" sz="500" dirty="0">
                <a:solidFill>
                  <a:srgbClr val="FFFFFF"/>
                </a:solidFill>
                <a:latin typeface="Calibri" pitchFamily="34" charset="0"/>
                <a:ea typeface="Calibri" pitchFamily="34" charset="-122"/>
                <a:cs typeface="Calibri" pitchFamily="34" charset="-120"/>
              </a:rPr>
              <a:t>hapus</a:t>
            </a:r>
            <a:endParaRPr lang="en-US" sz="500" dirty="0"/>
          </a:p>
        </p:txBody>
      </p:sp>
      <p:sp>
        <p:nvSpPr>
          <p:cNvPr id="20" name="Text 16"/>
          <p:cNvSpPr txBox="1"/>
          <p:nvPr/>
        </p:nvSpPr>
        <p:spPr>
          <a:xfrm>
            <a:off x="822960" y="4114800"/>
            <a:ext cx="1828800" cy="365760"/>
          </a:xfrm>
          <a:prstGeom prst="rect">
            <a:avLst/>
          </a:prstGeom>
          <a:noFill/>
          <a:ln/>
        </p:spPr>
        <p:txBody>
          <a:bodyPr wrap="square" lIns="0" tIns="0" rIns="0" bIns="0" rtlCol="0" anchor="t"/>
          <a:lstStyle/>
          <a:p>
            <a:pPr algn="ctr" indent="0" marL="0">
              <a:buNone/>
            </a:pPr>
            <a:r>
              <a:rPr lang="en-US" sz="1400" b="1" dirty="0">
                <a:solidFill>
                  <a:srgbClr val="E53935"/>
                </a:solidFill>
                <a:latin typeface="Calibri" pitchFamily="34" charset="0"/>
                <a:ea typeface="Calibri" pitchFamily="34" charset="-122"/>
                <a:cs typeface="Calibri" pitchFamily="34" charset="-120"/>
              </a:rPr>
              <a:t>SEBELUM</a:t>
            </a:r>
            <a:endParaRPr lang="en-US" sz="1400" dirty="0"/>
          </a:p>
        </p:txBody>
      </p:sp>
      <p:sp>
        <p:nvSpPr>
          <p:cNvPr id="21" name="Shape 17"/>
          <p:cNvSpPr/>
          <p:nvPr/>
        </p:nvSpPr>
        <p:spPr>
          <a:xfrm>
            <a:off x="3291840" y="1051560"/>
            <a:ext cx="1828800" cy="3017520"/>
          </a:xfrm>
          <a:prstGeom prst="roundRect">
            <a:avLst>
              <a:gd name="adj" fmla="val 6000"/>
            </a:avLst>
          </a:prstGeom>
          <a:solidFill>
            <a:srgbClr val="FFFFFF"/>
          </a:solidFill>
          <a:ln w="19050">
            <a:solidFill>
              <a:srgbClr val="333333"/>
            </a:solidFill>
            <a:prstDash val="solid"/>
          </a:ln>
        </p:spPr>
      </p:sp>
      <p:sp>
        <p:nvSpPr>
          <p:cNvPr id="22" name="Shape 18"/>
          <p:cNvSpPr/>
          <p:nvPr/>
        </p:nvSpPr>
        <p:spPr>
          <a:xfrm>
            <a:off x="3364992" y="1188720"/>
            <a:ext cx="1682496" cy="2743200"/>
          </a:xfrm>
          <a:prstGeom prst="rect">
            <a:avLst/>
          </a:prstGeom>
          <a:solidFill>
            <a:srgbClr val="F3F8F5"/>
          </a:solidFill>
          <a:ln w="12700">
            <a:solidFill>
              <a:srgbClr val="F3F8F5"/>
            </a:solidFill>
            <a:prstDash val="solid"/>
          </a:ln>
        </p:spPr>
      </p:sp>
      <p:sp>
        <p:nvSpPr>
          <p:cNvPr id="23" name="Shape 19"/>
          <p:cNvSpPr/>
          <p:nvPr/>
        </p:nvSpPr>
        <p:spPr>
          <a:xfrm>
            <a:off x="3364992" y="1188720"/>
            <a:ext cx="1682496" cy="347472"/>
          </a:xfrm>
          <a:prstGeom prst="rect">
            <a:avLst/>
          </a:prstGeom>
          <a:solidFill>
            <a:srgbClr val="0F4C3A"/>
          </a:solidFill>
          <a:ln w="12700">
            <a:solidFill>
              <a:srgbClr val="0F4C3A"/>
            </a:solidFill>
            <a:prstDash val="solid"/>
          </a:ln>
        </p:spPr>
      </p:sp>
      <p:sp>
        <p:nvSpPr>
          <p:cNvPr id="24" name="Text 20"/>
          <p:cNvSpPr txBox="1"/>
          <p:nvPr/>
        </p:nvSpPr>
        <p:spPr>
          <a:xfrm>
            <a:off x="3364992" y="1188720"/>
            <a:ext cx="168249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Setoran Harian</a:t>
            </a:r>
            <a:endParaRPr lang="en-US" sz="1000" dirty="0"/>
          </a:p>
        </p:txBody>
      </p:sp>
      <p:sp>
        <p:nvSpPr>
          <p:cNvPr id="25" name="Text 21"/>
          <p:cNvSpPr txBox="1"/>
          <p:nvPr/>
        </p:nvSpPr>
        <p:spPr>
          <a:xfrm>
            <a:off x="3456432" y="1600200"/>
            <a:ext cx="1499616" cy="128016"/>
          </a:xfrm>
          <a:prstGeom prst="rect">
            <a:avLst/>
          </a:prstGeom>
          <a:noFill/>
          <a:ln/>
        </p:spPr>
        <p:txBody>
          <a:bodyPr wrap="square" lIns="0" tIns="0" rIns="0" bIns="0" rtlCol="0" anchor="t"/>
          <a:lstStyle/>
          <a:p>
            <a:pPr indent="0" marL="0">
              <a:buNone/>
            </a:pPr>
            <a:r>
              <a:rPr lang="en-US" sz="550" b="1" dirty="0">
                <a:solidFill>
                  <a:srgbClr val="1E2A26"/>
                </a:solidFill>
                <a:latin typeface="Arial" pitchFamily="34" charset="0"/>
                <a:ea typeface="Arial" pitchFamily="34" charset="-122"/>
                <a:cs typeface="Arial" pitchFamily="34" charset="-120"/>
              </a:rPr>
              <a:t>Kode santri (contoh: S001)</a:t>
            </a:r>
            <a:endParaRPr lang="en-US" sz="550" dirty="0"/>
          </a:p>
        </p:txBody>
      </p:sp>
      <p:sp>
        <p:nvSpPr>
          <p:cNvPr id="26" name="Shape 22"/>
          <p:cNvSpPr/>
          <p:nvPr/>
        </p:nvSpPr>
        <p:spPr>
          <a:xfrm>
            <a:off x="3456432" y="1737360"/>
            <a:ext cx="1499616" cy="182880"/>
          </a:xfrm>
          <a:prstGeom prst="roundRect">
            <a:avLst>
              <a:gd name="adj" fmla="val 15000"/>
            </a:avLst>
          </a:prstGeom>
          <a:solidFill>
            <a:srgbClr val="FFFFFF"/>
          </a:solidFill>
          <a:ln w="9525">
            <a:solidFill>
              <a:srgbClr val="999999"/>
            </a:solidFill>
            <a:prstDash val="solid"/>
          </a:ln>
        </p:spPr>
      </p:sp>
      <p:sp>
        <p:nvSpPr>
          <p:cNvPr id="27" name="Text 23"/>
          <p:cNvSpPr txBox="1"/>
          <p:nvPr/>
        </p:nvSpPr>
        <p:spPr>
          <a:xfrm>
            <a:off x="3456432" y="1947672"/>
            <a:ext cx="1499616" cy="128016"/>
          </a:xfrm>
          <a:prstGeom prst="rect">
            <a:avLst/>
          </a:prstGeom>
          <a:noFill/>
          <a:ln/>
        </p:spPr>
        <p:txBody>
          <a:bodyPr wrap="square" lIns="0" tIns="0" rIns="0" bIns="0" rtlCol="0" anchor="t"/>
          <a:lstStyle/>
          <a:p>
            <a:pPr indent="0" marL="0">
              <a:buNone/>
            </a:pPr>
            <a:r>
              <a:rPr lang="en-US" sz="550" b="1" dirty="0">
                <a:solidFill>
                  <a:srgbClr val="1E2A26"/>
                </a:solidFill>
                <a:latin typeface="Arial" pitchFamily="34" charset="0"/>
                <a:ea typeface="Arial" pitchFamily="34" charset="-122"/>
                <a:cs typeface="Arial" pitchFamily="34" charset="-120"/>
              </a:rPr>
              <a:t>Surat</a:t>
            </a:r>
            <a:endParaRPr lang="en-US" sz="550" dirty="0"/>
          </a:p>
        </p:txBody>
      </p:sp>
      <p:sp>
        <p:nvSpPr>
          <p:cNvPr id="28" name="Shape 24"/>
          <p:cNvSpPr/>
          <p:nvPr/>
        </p:nvSpPr>
        <p:spPr>
          <a:xfrm>
            <a:off x="3456432" y="2084832"/>
            <a:ext cx="1499616" cy="182880"/>
          </a:xfrm>
          <a:prstGeom prst="roundRect">
            <a:avLst>
              <a:gd name="adj" fmla="val 15000"/>
            </a:avLst>
          </a:prstGeom>
          <a:solidFill>
            <a:srgbClr val="FFFFFF"/>
          </a:solidFill>
          <a:ln w="9525">
            <a:solidFill>
              <a:srgbClr val="999999"/>
            </a:solidFill>
            <a:prstDash val="solid"/>
          </a:ln>
        </p:spPr>
      </p:sp>
      <p:sp>
        <p:nvSpPr>
          <p:cNvPr id="29" name="Text 25"/>
          <p:cNvSpPr txBox="1"/>
          <p:nvPr/>
        </p:nvSpPr>
        <p:spPr>
          <a:xfrm>
            <a:off x="3456432" y="2295144"/>
            <a:ext cx="1499616" cy="128016"/>
          </a:xfrm>
          <a:prstGeom prst="rect">
            <a:avLst/>
          </a:prstGeom>
          <a:noFill/>
          <a:ln/>
        </p:spPr>
        <p:txBody>
          <a:bodyPr wrap="square" lIns="0" tIns="0" rIns="0" bIns="0" rtlCol="0" anchor="t"/>
          <a:lstStyle/>
          <a:p>
            <a:pPr indent="0" marL="0">
              <a:buNone/>
            </a:pPr>
            <a:r>
              <a:rPr lang="en-US" sz="550" b="1" dirty="0">
                <a:solidFill>
                  <a:srgbClr val="1E2A26"/>
                </a:solidFill>
                <a:latin typeface="Arial" pitchFamily="34" charset="0"/>
                <a:ea typeface="Arial" pitchFamily="34" charset="-122"/>
                <a:cs typeface="Arial" pitchFamily="34" charset="-120"/>
              </a:rPr>
              <a:t>Jumlah ayat</a:t>
            </a:r>
            <a:endParaRPr lang="en-US" sz="550" dirty="0"/>
          </a:p>
        </p:txBody>
      </p:sp>
      <p:sp>
        <p:nvSpPr>
          <p:cNvPr id="30" name="Shape 26"/>
          <p:cNvSpPr/>
          <p:nvPr/>
        </p:nvSpPr>
        <p:spPr>
          <a:xfrm>
            <a:off x="3456432" y="2432304"/>
            <a:ext cx="1499616" cy="182880"/>
          </a:xfrm>
          <a:prstGeom prst="roundRect">
            <a:avLst>
              <a:gd name="adj" fmla="val 15000"/>
            </a:avLst>
          </a:prstGeom>
          <a:solidFill>
            <a:srgbClr val="FFFFFF"/>
          </a:solidFill>
          <a:ln w="9525">
            <a:solidFill>
              <a:srgbClr val="999999"/>
            </a:solidFill>
            <a:prstDash val="solid"/>
          </a:ln>
        </p:spPr>
      </p:sp>
      <p:sp>
        <p:nvSpPr>
          <p:cNvPr id="31" name="Shape 27"/>
          <p:cNvSpPr/>
          <p:nvPr/>
        </p:nvSpPr>
        <p:spPr>
          <a:xfrm>
            <a:off x="3456432" y="2670048"/>
            <a:ext cx="1499616" cy="274320"/>
          </a:xfrm>
          <a:prstGeom prst="roundRect">
            <a:avLst>
              <a:gd name="adj" fmla="val 50000"/>
            </a:avLst>
          </a:prstGeom>
          <a:solidFill>
            <a:srgbClr val="D4A017"/>
          </a:solidFill>
          <a:ln w="12700">
            <a:solidFill>
              <a:srgbClr val="D4A017"/>
            </a:solidFill>
            <a:prstDash val="solid"/>
          </a:ln>
        </p:spPr>
      </p:sp>
      <p:sp>
        <p:nvSpPr>
          <p:cNvPr id="32" name="Text 28"/>
          <p:cNvSpPr txBox="1"/>
          <p:nvPr/>
        </p:nvSpPr>
        <p:spPr>
          <a:xfrm>
            <a:off x="3456432" y="2670048"/>
            <a:ext cx="149961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Simpan Setoran</a:t>
            </a:r>
            <a:endParaRPr lang="en-US" sz="800" dirty="0"/>
          </a:p>
        </p:txBody>
      </p:sp>
      <p:sp>
        <p:nvSpPr>
          <p:cNvPr id="33" name="Text 29"/>
          <p:cNvSpPr txBox="1"/>
          <p:nvPr/>
        </p:nvSpPr>
        <p:spPr>
          <a:xfrm>
            <a:off x="3456432" y="2990088"/>
            <a:ext cx="1499616" cy="182880"/>
          </a:xfrm>
          <a:prstGeom prst="rect">
            <a:avLst/>
          </a:prstGeom>
          <a:noFill/>
          <a:ln/>
        </p:spPr>
        <p:txBody>
          <a:bodyPr wrap="square" lIns="0" tIns="0" rIns="0" bIns="0" rtlCol="0" anchor="t"/>
          <a:lstStyle/>
          <a:p>
            <a:pPr algn="ctr" indent="0" marL="0">
              <a:buNone/>
            </a:pPr>
            <a:r>
              <a:rPr lang="en-US" sz="650" b="1" dirty="0">
                <a:solidFill>
                  <a:srgbClr val="1F7A5C"/>
                </a:solidFill>
                <a:latin typeface="Arial" pitchFamily="34" charset="0"/>
                <a:ea typeface="Arial" pitchFamily="34" charset="-122"/>
                <a:cs typeface="Arial" pitchFamily="34" charset="-120"/>
              </a:rPr>
              <a:t>✓ Alhamdulillah, tersimpan!</a:t>
            </a:r>
            <a:endParaRPr lang="en-US" sz="650" dirty="0"/>
          </a:p>
        </p:txBody>
      </p:sp>
      <p:sp>
        <p:nvSpPr>
          <p:cNvPr id="34" name="Text 30"/>
          <p:cNvSpPr txBox="1"/>
          <p:nvPr/>
        </p:nvSpPr>
        <p:spPr>
          <a:xfrm>
            <a:off x="3291840" y="4114800"/>
            <a:ext cx="1828800" cy="365760"/>
          </a:xfrm>
          <a:prstGeom prst="rect">
            <a:avLst/>
          </a:prstGeom>
          <a:noFill/>
          <a:ln/>
        </p:spPr>
        <p:txBody>
          <a:bodyPr wrap="square" lIns="0" tIns="0" rIns="0" bIns="0" rtlCol="0" anchor="t"/>
          <a:lstStyle/>
          <a:p>
            <a:pPr algn="ctr" indent="0" marL="0">
              <a:buNone/>
            </a:pPr>
            <a:r>
              <a:rPr lang="en-US" sz="1400" b="1" dirty="0">
                <a:solidFill>
                  <a:srgbClr val="1F7A5C"/>
                </a:solidFill>
                <a:latin typeface="Calibri" pitchFamily="34" charset="0"/>
                <a:ea typeface="Calibri" pitchFamily="34" charset="-122"/>
                <a:cs typeface="Calibri" pitchFamily="34" charset="-120"/>
              </a:rPr>
              <a:t>SESUDAH</a:t>
            </a:r>
            <a:endParaRPr lang="en-US" sz="1400" dirty="0"/>
          </a:p>
        </p:txBody>
      </p:sp>
      <p:sp>
        <p:nvSpPr>
          <p:cNvPr id="35" name="Shape 31"/>
          <p:cNvSpPr/>
          <p:nvPr/>
        </p:nvSpPr>
        <p:spPr>
          <a:xfrm>
            <a:off x="5577840" y="1280160"/>
            <a:ext cx="274320" cy="274320"/>
          </a:xfrm>
          <a:prstGeom prst="ellipse">
            <a:avLst/>
          </a:prstGeom>
          <a:solidFill>
            <a:srgbClr val="1F7A5C"/>
          </a:solidFill>
          <a:ln/>
        </p:spPr>
      </p:sp>
      <p:sp>
        <p:nvSpPr>
          <p:cNvPr id="36" name="Text 32"/>
          <p:cNvSpPr txBox="1"/>
          <p:nvPr/>
        </p:nvSpPr>
        <p:spPr>
          <a:xfrm>
            <a:off x="5577840" y="12801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7" name="Text 33"/>
          <p:cNvSpPr txBox="1"/>
          <p:nvPr/>
        </p:nvSpPr>
        <p:spPr>
          <a:xfrm>
            <a:off x="5943600" y="1188720"/>
            <a:ext cx="2743200" cy="45720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Judul jelas, kontras tinggi</a:t>
            </a:r>
            <a:endParaRPr lang="en-US" sz="1250" dirty="0"/>
          </a:p>
        </p:txBody>
      </p:sp>
      <p:sp>
        <p:nvSpPr>
          <p:cNvPr id="38" name="Shape 34"/>
          <p:cNvSpPr/>
          <p:nvPr/>
        </p:nvSpPr>
        <p:spPr>
          <a:xfrm>
            <a:off x="5577840" y="1847088"/>
            <a:ext cx="274320" cy="274320"/>
          </a:xfrm>
          <a:prstGeom prst="ellipse">
            <a:avLst/>
          </a:prstGeom>
          <a:solidFill>
            <a:srgbClr val="1F7A5C"/>
          </a:solidFill>
          <a:ln/>
        </p:spPr>
      </p:sp>
      <p:sp>
        <p:nvSpPr>
          <p:cNvPr id="39" name="Text 35"/>
          <p:cNvSpPr txBox="1"/>
          <p:nvPr/>
        </p:nvSpPr>
        <p:spPr>
          <a:xfrm>
            <a:off x="5577840" y="18470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0" name="Text 36"/>
          <p:cNvSpPr txBox="1"/>
          <p:nvPr/>
        </p:nvSpPr>
        <p:spPr>
          <a:xfrm>
            <a:off x="5943600" y="1755648"/>
            <a:ext cx="2743200" cy="45720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Label di atas setiap kolom + contoh isian</a:t>
            </a:r>
            <a:endParaRPr lang="en-US" sz="1250" dirty="0"/>
          </a:p>
        </p:txBody>
      </p:sp>
      <p:sp>
        <p:nvSpPr>
          <p:cNvPr id="41" name="Shape 37"/>
          <p:cNvSpPr/>
          <p:nvPr/>
        </p:nvSpPr>
        <p:spPr>
          <a:xfrm>
            <a:off x="5577840" y="2414016"/>
            <a:ext cx="274320" cy="274320"/>
          </a:xfrm>
          <a:prstGeom prst="ellipse">
            <a:avLst/>
          </a:prstGeom>
          <a:solidFill>
            <a:srgbClr val="1F7A5C"/>
          </a:solidFill>
          <a:ln/>
        </p:spPr>
      </p:sp>
      <p:sp>
        <p:nvSpPr>
          <p:cNvPr id="42" name="Text 38"/>
          <p:cNvSpPr txBox="1"/>
          <p:nvPr/>
        </p:nvSpPr>
        <p:spPr>
          <a:xfrm>
            <a:off x="5577840" y="24140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3" name="Text 39"/>
          <p:cNvSpPr txBox="1"/>
          <p:nvPr/>
        </p:nvSpPr>
        <p:spPr>
          <a:xfrm>
            <a:off x="5943600" y="2322576"/>
            <a:ext cx="2743200" cy="45720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Satu tombol utama, besar</a:t>
            </a:r>
            <a:endParaRPr lang="en-US" sz="1250" dirty="0"/>
          </a:p>
        </p:txBody>
      </p:sp>
      <p:sp>
        <p:nvSpPr>
          <p:cNvPr id="44" name="Shape 40"/>
          <p:cNvSpPr/>
          <p:nvPr/>
        </p:nvSpPr>
        <p:spPr>
          <a:xfrm>
            <a:off x="5577840" y="2980944"/>
            <a:ext cx="274320" cy="274320"/>
          </a:xfrm>
          <a:prstGeom prst="ellipse">
            <a:avLst/>
          </a:prstGeom>
          <a:solidFill>
            <a:srgbClr val="1F7A5C"/>
          </a:solidFill>
          <a:ln/>
        </p:spPr>
      </p:sp>
      <p:sp>
        <p:nvSpPr>
          <p:cNvPr id="45" name="Text 41"/>
          <p:cNvSpPr txBox="1"/>
          <p:nvPr/>
        </p:nvSpPr>
        <p:spPr>
          <a:xfrm>
            <a:off x="5577840" y="29809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6" name="Text 42"/>
          <p:cNvSpPr txBox="1"/>
          <p:nvPr/>
        </p:nvSpPr>
        <p:spPr>
          <a:xfrm>
            <a:off x="5943600" y="2889504"/>
            <a:ext cx="2743200" cy="45720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Umpan balik: "Tersimpan!"</a:t>
            </a:r>
            <a:endParaRPr lang="en-US" sz="1250" dirty="0"/>
          </a:p>
        </p:txBody>
      </p:sp>
      <p:sp>
        <p:nvSpPr>
          <p:cNvPr id="47" name="Shape 43"/>
          <p:cNvSpPr/>
          <p:nvPr/>
        </p:nvSpPr>
        <p:spPr>
          <a:xfrm>
            <a:off x="5577840" y="3547872"/>
            <a:ext cx="274320" cy="274320"/>
          </a:xfrm>
          <a:prstGeom prst="ellipse">
            <a:avLst/>
          </a:prstGeom>
          <a:solidFill>
            <a:srgbClr val="1F7A5C"/>
          </a:solidFill>
          <a:ln/>
        </p:spPr>
      </p:sp>
      <p:sp>
        <p:nvSpPr>
          <p:cNvPr id="48" name="Text 44"/>
          <p:cNvSpPr txBox="1"/>
          <p:nvPr/>
        </p:nvSpPr>
        <p:spPr>
          <a:xfrm>
            <a:off x="5577840" y="35478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9" name="Text 45"/>
          <p:cNvSpPr txBox="1"/>
          <p:nvPr/>
        </p:nvSpPr>
        <p:spPr>
          <a:xfrm>
            <a:off x="5943600" y="3456432"/>
            <a:ext cx="2743200" cy="45720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Warna sesuai identitas pondok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Mengaudit Aplikasi Kelompok</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HP dan Google Docs</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Memotret kondisi sebelum</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Audit 5 prinsip</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Daftar perbaikan</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Kondisi Awal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  ›  Proyek  ›  Kelas9  ›  Proyek_Kel3</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Text 27"/>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index.html</a:t>
            </a:r>
            <a:endParaRPr lang="en-US" sz="700" dirty="0"/>
          </a:p>
        </p:txBody>
      </p:sp>
      <p:sp>
        <p:nvSpPr>
          <p:cNvPr id="38" name="Shape 28"/>
          <p:cNvSpPr/>
          <p:nvPr/>
        </p:nvSpPr>
        <p:spPr>
          <a:xfrm>
            <a:off x="2760025" y="1839613"/>
            <a:ext cx="786384" cy="603504"/>
          </a:xfrm>
          <a:prstGeom prst="roundRect">
            <a:avLst>
              <a:gd name="adj" fmla="val 6061"/>
            </a:avLst>
          </a:prstGeom>
          <a:solidFill>
            <a:srgbClr val="CCE4F7"/>
          </a:solidFill>
          <a:ln w="12700">
            <a:solidFill>
              <a:srgbClr val="CCE4F7"/>
            </a:solidFill>
            <a:prstDash val="solid"/>
          </a:ln>
        </p:spPr>
      </p:sp>
      <p:pic>
        <p:nvPicPr>
          <p:cNvPr id="39"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40" name="Text 29"/>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sebelum_1.png</a:t>
            </a:r>
            <a:endParaRPr lang="en-US" sz="700" dirty="0"/>
          </a:p>
        </p:txBody>
      </p:sp>
      <p:pic>
        <p:nvPicPr>
          <p:cNvPr id="41" name="Image 9" descr="preencoded.png">    </p:cNvPr>
          <p:cNvPicPr>
            <a:picLocks noChangeAspect="1"/>
          </p:cNvPicPr>
          <p:nvPr/>
        </p:nvPicPr>
        <p:blipFill>
          <a:blip r:embed="rId10"/>
          <a:stretch>
            <a:fillRect/>
          </a:stretch>
        </p:blipFill>
        <p:spPr>
          <a:xfrm>
            <a:off x="3875593" y="1876189"/>
            <a:ext cx="292608" cy="292608"/>
          </a:xfrm>
          <a:prstGeom prst="rect">
            <a:avLst/>
          </a:prstGeom>
        </p:spPr>
      </p:pic>
      <p:sp>
        <p:nvSpPr>
          <p:cNvPr id="42" name="Text 30"/>
          <p:cNvSpPr txBox="1"/>
          <p:nvPr/>
        </p:nvSpPr>
        <p:spPr>
          <a:xfrm>
            <a:off x="361041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sebelum_2.png</a:t>
            </a:r>
            <a:endParaRPr lang="en-US" sz="700" dirty="0"/>
          </a:p>
        </p:txBody>
      </p:sp>
      <p:sp>
        <p:nvSpPr>
          <p:cNvPr id="43" name="Shape 31"/>
          <p:cNvSpPr/>
          <p:nvPr/>
        </p:nvSpPr>
        <p:spPr>
          <a:xfrm>
            <a:off x="2723449" y="1803037"/>
            <a:ext cx="1728216" cy="676656"/>
          </a:xfrm>
          <a:prstGeom prst="roundRect">
            <a:avLst>
              <a:gd name="adj" fmla="val 6757"/>
            </a:avLst>
          </a:prstGeom>
          <a:solidFill>
            <a:srgbClr val="FFFFFF">
              <a:alpha val="0"/>
            </a:srgbClr>
          </a:solidFill>
          <a:ln w="31750">
            <a:solidFill>
              <a:srgbClr val="E53935"/>
            </a:solidFill>
            <a:prstDash val="solid"/>
          </a:ln>
        </p:spPr>
      </p:sp>
      <p:sp>
        <p:nvSpPr>
          <p:cNvPr id="44" name="Shape 32"/>
          <p:cNvSpPr/>
          <p:nvPr/>
        </p:nvSpPr>
        <p:spPr>
          <a:xfrm>
            <a:off x="4314505" y="1665877"/>
            <a:ext cx="274320" cy="274320"/>
          </a:xfrm>
          <a:prstGeom prst="ellipse">
            <a:avLst/>
          </a:prstGeom>
          <a:solidFill>
            <a:srgbClr val="E53935"/>
          </a:solidFill>
          <a:ln w="12700">
            <a:solidFill>
              <a:srgbClr val="FFFFFF"/>
            </a:solidFill>
            <a:prstDash val="solid"/>
          </a:ln>
        </p:spPr>
      </p:sp>
      <p:sp>
        <p:nvSpPr>
          <p:cNvPr id="45" name="Text 33"/>
          <p:cNvSpPr txBox="1"/>
          <p:nvPr/>
        </p:nvSpPr>
        <p:spPr>
          <a:xfrm>
            <a:off x="4314505" y="16658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46" name="Image 10" descr="preencoded.png">    </p:cNvPr>
          <p:cNvPicPr>
            <a:picLocks noChangeAspect="1"/>
          </p:cNvPicPr>
          <p:nvPr/>
        </p:nvPicPr>
        <p:blipFill>
          <a:blip r:embed="rId11"/>
          <a:stretch>
            <a:fillRect/>
          </a:stretch>
        </p:blipFill>
        <p:spPr>
          <a:xfrm>
            <a:off x="3670310" y="2171540"/>
            <a:ext cx="237744" cy="237744"/>
          </a:xfrm>
          <a:prstGeom prst="rect">
            <a:avLst/>
          </a:prstGeom>
        </p:spPr>
      </p:pic>
      <p:sp>
        <p:nvSpPr>
          <p:cNvPr id="47"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48"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Tangkap layar kondisi SEBELUM</a:t>
            </a:r>
            <a:endParaRPr lang="en-US" sz="1800" dirty="0"/>
          </a:p>
        </p:txBody>
      </p:sp>
      <p:sp>
        <p:nvSpPr>
          <p:cNvPr id="49"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aplikasi di HP dan di DevTools mode HP. Ambil tangkapan layar setiap halaman/bagian. Simpan di folder proyek: sebelum_1.png, ...</a:t>
            </a:r>
            <a:endParaRPr lang="en-US" sz="1300" dirty="0"/>
          </a:p>
        </p:txBody>
      </p:sp>
      <p:sp>
        <p:nvSpPr>
          <p:cNvPr id="50" name="Shape 3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1" name="Image 11" descr="preencoded.png">    </p:cNvPr>
          <p:cNvPicPr>
            <a:picLocks noChangeAspect="1"/>
          </p:cNvPicPr>
          <p:nvPr/>
        </p:nvPicPr>
        <p:blipFill>
          <a:blip r:embed="rId12"/>
          <a:stretch>
            <a:fillRect/>
          </a:stretch>
        </p:blipFill>
        <p:spPr>
          <a:xfrm>
            <a:off x="6108192" y="3721608"/>
            <a:ext cx="201168" cy="201168"/>
          </a:xfrm>
          <a:prstGeom prst="rect">
            <a:avLst/>
          </a:prstGeom>
        </p:spPr>
      </p:pic>
      <p:sp>
        <p:nvSpPr>
          <p:cNvPr id="52" name="Text 3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Tangkapan layar di Windows: Win + Shift + 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Kondisi Awal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822960" y="1234440"/>
            <a:ext cx="1280160" cy="2560320"/>
          </a:xfrm>
          <a:prstGeom prst="roundRect">
            <a:avLst>
              <a:gd name="adj" fmla="val 12857"/>
            </a:avLst>
          </a:prstGeom>
          <a:solidFill>
            <a:srgbClr val="1A1A1A"/>
          </a:solidFill>
          <a:ln w="12700">
            <a:solidFill>
              <a:srgbClr val="1A1A1A"/>
            </a:solidFill>
            <a:prstDash val="solid"/>
          </a:ln>
        </p:spPr>
      </p:sp>
      <p:sp>
        <p:nvSpPr>
          <p:cNvPr id="11" name="Shape 7"/>
          <p:cNvSpPr/>
          <p:nvPr/>
        </p:nvSpPr>
        <p:spPr>
          <a:xfrm>
            <a:off x="914400" y="1325880"/>
            <a:ext cx="1097280" cy="2377440"/>
          </a:xfrm>
          <a:prstGeom prst="roundRect">
            <a:avLst>
              <a:gd name="adj" fmla="val 10000"/>
            </a:avLst>
          </a:prstGeom>
          <a:solidFill>
            <a:srgbClr val="FFFFFF"/>
          </a:solidFill>
          <a:ln w="12700">
            <a:solidFill>
              <a:srgbClr val="FFFFFF"/>
            </a:solidFill>
            <a:prstDash val="solid"/>
          </a:ln>
        </p:spPr>
      </p:sp>
      <p:sp>
        <p:nvSpPr>
          <p:cNvPr id="12" name="Shape 8"/>
          <p:cNvSpPr/>
          <p:nvPr/>
        </p:nvSpPr>
        <p:spPr>
          <a:xfrm>
            <a:off x="841248" y="1188720"/>
            <a:ext cx="1243584" cy="2651760"/>
          </a:xfrm>
          <a:prstGeom prst="roundRect">
            <a:avLst>
              <a:gd name="adj" fmla="val 8824"/>
            </a:avLst>
          </a:prstGeom>
          <a:solidFill>
            <a:srgbClr val="FFFFFF"/>
          </a:solidFill>
          <a:ln w="19050">
            <a:solidFill>
              <a:srgbClr val="333333"/>
            </a:solidFill>
            <a:prstDash val="solid"/>
          </a:ln>
        </p:spPr>
      </p:sp>
      <p:sp>
        <p:nvSpPr>
          <p:cNvPr id="13" name="Shape 9"/>
          <p:cNvSpPr/>
          <p:nvPr/>
        </p:nvSpPr>
        <p:spPr>
          <a:xfrm>
            <a:off x="914400" y="1325880"/>
            <a:ext cx="1097280" cy="2377440"/>
          </a:xfrm>
          <a:prstGeom prst="rect">
            <a:avLst/>
          </a:prstGeom>
          <a:solidFill>
            <a:srgbClr val="FFF9C4"/>
          </a:solidFill>
          <a:ln w="12700">
            <a:solidFill>
              <a:srgbClr val="FFF9C4"/>
            </a:solidFill>
            <a:prstDash val="solid"/>
          </a:ln>
        </p:spPr>
      </p:sp>
      <p:sp>
        <p:nvSpPr>
          <p:cNvPr id="14" name="Text 10"/>
          <p:cNvSpPr txBox="1"/>
          <p:nvPr/>
        </p:nvSpPr>
        <p:spPr>
          <a:xfrm>
            <a:off x="960120" y="1371600"/>
            <a:ext cx="1097280" cy="182880"/>
          </a:xfrm>
          <a:prstGeom prst="rect">
            <a:avLst/>
          </a:prstGeom>
          <a:noFill/>
          <a:ln/>
        </p:spPr>
        <p:txBody>
          <a:bodyPr wrap="square" lIns="0" tIns="0" rIns="0" bIns="0" rtlCol="0" anchor="t"/>
          <a:lstStyle/>
          <a:p>
            <a:pPr indent="0" marL="0">
              <a:buNone/>
            </a:pPr>
            <a:r>
              <a:rPr lang="en-US" sz="700" dirty="0">
                <a:solidFill>
                  <a:srgbClr val="B0BEC5"/>
                </a:solidFill>
                <a:latin typeface="Comic Sans MS" pitchFamily="34" charset="0"/>
                <a:ea typeface="Comic Sans MS" pitchFamily="34" charset="-122"/>
                <a:cs typeface="Comic Sans MS" pitchFamily="34" charset="-120"/>
              </a:rPr>
              <a:t>setoran harian kel 3</a:t>
            </a:r>
            <a:endParaRPr lang="en-US" sz="700" dirty="0"/>
          </a:p>
        </p:txBody>
      </p:sp>
      <p:sp>
        <p:nvSpPr>
          <p:cNvPr id="15" name="Text 11"/>
          <p:cNvSpPr txBox="1"/>
          <p:nvPr/>
        </p:nvSpPr>
        <p:spPr>
          <a:xfrm>
            <a:off x="960120" y="1600200"/>
            <a:ext cx="1005840" cy="411480"/>
          </a:xfrm>
          <a:prstGeom prst="rect">
            <a:avLst/>
          </a:prstGeom>
          <a:noFill/>
          <a:ln/>
        </p:spPr>
        <p:txBody>
          <a:bodyPr wrap="square" lIns="0" tIns="0" rIns="0" bIns="0" rtlCol="0" anchor="t"/>
          <a:lstStyle/>
          <a:p>
            <a:pPr indent="0" marL="0">
              <a:buNone/>
            </a:pPr>
            <a:r>
              <a:rPr lang="en-US" sz="600" dirty="0">
                <a:solidFill>
                  <a:srgbClr val="999999"/>
                </a:solidFill>
                <a:latin typeface="Calibri" pitchFamily="34" charset="0"/>
                <a:ea typeface="Calibri" pitchFamily="34" charset="-122"/>
                <a:cs typeface="Calibri" pitchFamily="34" charset="-120"/>
              </a:rPr>
              <a:t>masukkan kode dan surat dan ayat lalu klik tombol di bawah kalau sudah</a:t>
            </a:r>
            <a:endParaRPr lang="en-US" sz="600" dirty="0"/>
          </a:p>
        </p:txBody>
      </p:sp>
      <p:sp>
        <p:nvSpPr>
          <p:cNvPr id="16" name="Shape 12"/>
          <p:cNvSpPr/>
          <p:nvPr/>
        </p:nvSpPr>
        <p:spPr>
          <a:xfrm>
            <a:off x="960120" y="2057400"/>
            <a:ext cx="603504" cy="146304"/>
          </a:xfrm>
          <a:prstGeom prst="rect">
            <a:avLst/>
          </a:prstGeom>
          <a:solidFill>
            <a:srgbClr val="FFFFFF"/>
          </a:solidFill>
          <a:ln w="6350">
            <a:solidFill>
              <a:srgbClr val="DDDDDD"/>
            </a:solidFill>
            <a:prstDash val="solid"/>
          </a:ln>
        </p:spPr>
      </p:sp>
      <p:sp>
        <p:nvSpPr>
          <p:cNvPr id="17" name="Shape 13"/>
          <p:cNvSpPr/>
          <p:nvPr/>
        </p:nvSpPr>
        <p:spPr>
          <a:xfrm>
            <a:off x="960120" y="2258568"/>
            <a:ext cx="603504" cy="146304"/>
          </a:xfrm>
          <a:prstGeom prst="rect">
            <a:avLst/>
          </a:prstGeom>
          <a:solidFill>
            <a:srgbClr val="FFFFFF"/>
          </a:solidFill>
          <a:ln w="6350">
            <a:solidFill>
              <a:srgbClr val="DDDDDD"/>
            </a:solidFill>
            <a:prstDash val="solid"/>
          </a:ln>
        </p:spPr>
      </p:sp>
      <p:sp>
        <p:nvSpPr>
          <p:cNvPr id="18" name="Shape 14"/>
          <p:cNvSpPr/>
          <p:nvPr/>
        </p:nvSpPr>
        <p:spPr>
          <a:xfrm>
            <a:off x="960120" y="2459736"/>
            <a:ext cx="603504" cy="146304"/>
          </a:xfrm>
          <a:prstGeom prst="rect">
            <a:avLst/>
          </a:prstGeom>
          <a:solidFill>
            <a:srgbClr val="FFFFFF"/>
          </a:solidFill>
          <a:ln w="6350">
            <a:solidFill>
              <a:srgbClr val="DDDDDD"/>
            </a:solidFill>
            <a:prstDash val="solid"/>
          </a:ln>
        </p:spPr>
      </p:sp>
      <p:sp>
        <p:nvSpPr>
          <p:cNvPr id="19" name="Shape 15"/>
          <p:cNvSpPr/>
          <p:nvPr/>
        </p:nvSpPr>
        <p:spPr>
          <a:xfrm>
            <a:off x="960120" y="2697480"/>
            <a:ext cx="320040" cy="128016"/>
          </a:xfrm>
          <a:prstGeom prst="rect">
            <a:avLst/>
          </a:prstGeom>
          <a:solidFill>
            <a:srgbClr val="FF5252"/>
          </a:solidFill>
          <a:ln w="12700">
            <a:solidFill>
              <a:srgbClr val="FF5252"/>
            </a:solidFill>
            <a:prstDash val="solid"/>
          </a:ln>
        </p:spPr>
      </p:sp>
      <p:sp>
        <p:nvSpPr>
          <p:cNvPr id="20" name="Text 16"/>
          <p:cNvSpPr txBox="1"/>
          <p:nvPr/>
        </p:nvSpPr>
        <p:spPr>
          <a:xfrm>
            <a:off x="960120" y="2697480"/>
            <a:ext cx="320040" cy="128016"/>
          </a:xfrm>
          <a:prstGeom prst="rect">
            <a:avLst/>
          </a:prstGeom>
          <a:noFill/>
          <a:ln/>
        </p:spPr>
        <p:txBody>
          <a:bodyPr wrap="square" lIns="0" tIns="0" rIns="0" bIns="0" rtlCol="0" anchor="ctr"/>
          <a:lstStyle/>
          <a:p>
            <a:pPr algn="ctr" indent="0" marL="0">
              <a:buNone/>
            </a:pPr>
            <a:r>
              <a:rPr lang="en-US" sz="500" dirty="0">
                <a:solidFill>
                  <a:srgbClr val="FFEB3B"/>
                </a:solidFill>
                <a:latin typeface="Calibri" pitchFamily="34" charset="0"/>
                <a:ea typeface="Calibri" pitchFamily="34" charset="-122"/>
                <a:cs typeface="Calibri" pitchFamily="34" charset="-120"/>
              </a:rPr>
              <a:t>ok</a:t>
            </a:r>
            <a:endParaRPr lang="en-US" sz="500" dirty="0"/>
          </a:p>
        </p:txBody>
      </p:sp>
      <p:sp>
        <p:nvSpPr>
          <p:cNvPr id="21" name="Shape 17"/>
          <p:cNvSpPr/>
          <p:nvPr/>
        </p:nvSpPr>
        <p:spPr>
          <a:xfrm>
            <a:off x="1325880" y="2697480"/>
            <a:ext cx="320040" cy="128016"/>
          </a:xfrm>
          <a:prstGeom prst="rect">
            <a:avLst/>
          </a:prstGeom>
          <a:solidFill>
            <a:srgbClr val="7C4DFF"/>
          </a:solidFill>
          <a:ln w="12700">
            <a:solidFill>
              <a:srgbClr val="7C4DFF"/>
            </a:solidFill>
            <a:prstDash val="solid"/>
          </a:ln>
        </p:spPr>
      </p:sp>
      <p:sp>
        <p:nvSpPr>
          <p:cNvPr id="22" name="Text 18"/>
          <p:cNvSpPr txBox="1"/>
          <p:nvPr/>
        </p:nvSpPr>
        <p:spPr>
          <a:xfrm>
            <a:off x="1325880" y="2697480"/>
            <a:ext cx="320040" cy="128016"/>
          </a:xfrm>
          <a:prstGeom prst="rect">
            <a:avLst/>
          </a:prstGeom>
          <a:noFill/>
          <a:ln/>
        </p:spPr>
        <p:txBody>
          <a:bodyPr wrap="square" lIns="0" tIns="0" rIns="0" bIns="0" rtlCol="0" anchor="ctr"/>
          <a:lstStyle/>
          <a:p>
            <a:pPr algn="ctr" indent="0" marL="0">
              <a:buNone/>
            </a:pPr>
            <a:r>
              <a:rPr lang="en-US" sz="500" dirty="0">
                <a:solidFill>
                  <a:srgbClr val="FFFFFF"/>
                </a:solidFill>
                <a:latin typeface="Calibri" pitchFamily="34" charset="0"/>
                <a:ea typeface="Calibri" pitchFamily="34" charset="-122"/>
                <a:cs typeface="Calibri" pitchFamily="34" charset="-120"/>
              </a:rPr>
              <a:t>hapus</a:t>
            </a:r>
            <a:endParaRPr lang="en-US" sz="500" dirty="0"/>
          </a:p>
        </p:txBody>
      </p:sp>
      <p:sp>
        <p:nvSpPr>
          <p:cNvPr id="23" name="Shape 19"/>
          <p:cNvSpPr/>
          <p:nvPr/>
        </p:nvSpPr>
        <p:spPr>
          <a:xfrm>
            <a:off x="2606040" y="1417320"/>
            <a:ext cx="2743200" cy="822960"/>
          </a:xfrm>
          <a:prstGeom prst="roundRect">
            <a:avLst>
              <a:gd name="adj" fmla="val 16667"/>
            </a:avLst>
          </a:prstGeom>
          <a:solidFill>
            <a:srgbClr val="FFFFFF"/>
          </a:solidFill>
          <a:ln w="12700">
            <a:solidFill>
              <a:srgbClr val="BBBBBB"/>
            </a:solidFill>
            <a:prstDash val="solid"/>
          </a:ln>
        </p:spPr>
      </p:sp>
      <p:sp>
        <p:nvSpPr>
          <p:cNvPr id="24" name="Text 20"/>
          <p:cNvSpPr txBox="1"/>
          <p:nvPr/>
        </p:nvSpPr>
        <p:spPr>
          <a:xfrm>
            <a:off x="2697480" y="1417320"/>
            <a:ext cx="2560320" cy="822960"/>
          </a:xfrm>
          <a:prstGeom prst="rect">
            <a:avLst/>
          </a:prstGeom>
          <a:noFill/>
          <a:ln/>
        </p:spPr>
        <p:txBody>
          <a:bodyPr wrap="square" lIns="0" tIns="0" rIns="0" bIns="0" rtlCol="0" anchor="ctr"/>
          <a:lstStyle/>
          <a:p>
            <a:pPr indent="0" marL="0">
              <a:buNone/>
            </a:pPr>
            <a:r>
              <a:rPr lang="en-US" sz="1100" i="1" dirty="0">
                <a:solidFill>
                  <a:srgbClr val="1E2A26"/>
                </a:solidFill>
                <a:latin typeface="Calibri" pitchFamily="34" charset="0"/>
                <a:ea typeface="Calibri" pitchFamily="34" charset="-122"/>
                <a:cs typeface="Calibri" pitchFamily="34" charset="-120"/>
              </a:rPr>
              <a:t>"Hmm, kolom pertama ini untuk apa ya? Tombol mana yang menyimpan?"</a:t>
            </a:r>
            <a:endParaRPr lang="en-US" sz="1100" dirty="0"/>
          </a:p>
        </p:txBody>
      </p:sp>
      <p:sp>
        <p:nvSpPr>
          <p:cNvPr id="25" name="Shape 21"/>
          <p:cNvSpPr/>
          <p:nvPr/>
        </p:nvSpPr>
        <p:spPr>
          <a:xfrm>
            <a:off x="2788920" y="2514600"/>
            <a:ext cx="2377440" cy="1188720"/>
          </a:xfrm>
          <a:prstGeom prst="rect">
            <a:avLst/>
          </a:prstGeom>
          <a:solidFill>
            <a:srgbClr val="FFFFFF"/>
          </a:solidFill>
          <a:ln w="9525">
            <a:solidFill>
              <a:srgbClr val="999999"/>
            </a:solidFill>
            <a:prstDash val="solid"/>
          </a:ln>
        </p:spPr>
      </p:sp>
      <p:sp>
        <p:nvSpPr>
          <p:cNvPr id="26" name="Text 22"/>
          <p:cNvSpPr txBox="1"/>
          <p:nvPr/>
        </p:nvSpPr>
        <p:spPr>
          <a:xfrm>
            <a:off x="2880360" y="2560320"/>
            <a:ext cx="2194560" cy="1097280"/>
          </a:xfrm>
          <a:prstGeom prst="rect">
            <a:avLst/>
          </a:prstGeom>
          <a:noFill/>
          <a:ln/>
        </p:spPr>
        <p:txBody>
          <a:bodyPr wrap="square" lIns="0" tIns="0" rIns="0" bIns="0" rtlCol="0" anchor="t"/>
          <a:lstStyle/>
          <a:p>
            <a:pPr indent="0" marL="0">
              <a:buNone/>
            </a:pPr>
            <a:r>
              <a:rPr lang="en-US" sz="1100" dirty="0">
                <a:solidFill>
                  <a:srgbClr val="1155CC"/>
                </a:solidFill>
                <a:latin typeface="Arial" pitchFamily="34" charset="0"/>
                <a:ea typeface="Arial" pitchFamily="34" charset="-122"/>
                <a:cs typeface="Arial" pitchFamily="34" charset="-120"/>
              </a:rPr>
              <a:t>Catatan:</a:t>
            </a:r>
            <a:endParaRPr lang="en-US" sz="1100" dirty="0"/>
          </a:p>
          <a:p>
            <a:pPr indent="0" marL="0">
              <a:buNone/>
            </a:pPr>
            <a:r>
              <a:rPr lang="en-US" sz="1100" dirty="0">
                <a:solidFill>
                  <a:srgbClr val="1155CC"/>
                </a:solidFill>
                <a:latin typeface="Arial" pitchFamily="34" charset="0"/>
                <a:ea typeface="Arial" pitchFamily="34" charset="-122"/>
                <a:cs typeface="Arial" pitchFamily="34" charset="-120"/>
              </a:rPr>
              <a:t>• bingung kolom 1</a:t>
            </a:r>
            <a:endParaRPr lang="en-US" sz="1100" dirty="0"/>
          </a:p>
          <a:p>
            <a:pPr indent="0" marL="0">
              <a:buNone/>
            </a:pPr>
            <a:r>
              <a:rPr lang="en-US" sz="1100" dirty="0">
                <a:solidFill>
                  <a:srgbClr val="1155CC"/>
                </a:solidFill>
                <a:latin typeface="Arial" pitchFamily="34" charset="0"/>
                <a:ea typeface="Arial" pitchFamily="34" charset="-122"/>
                <a:cs typeface="Arial" pitchFamily="34" charset="-120"/>
              </a:rPr>
              <a:t>• ragu tombol</a:t>
            </a:r>
            <a:endParaRPr lang="en-US" sz="1100" dirty="0"/>
          </a:p>
        </p:txBody>
      </p:sp>
      <p:sp>
        <p:nvSpPr>
          <p:cNvPr id="27" name="Text 2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28" name="Text 2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Coba sebagai pengguna baru</a:t>
            </a:r>
            <a:endParaRPr lang="en-US" sz="1800" dirty="0"/>
          </a:p>
        </p:txBody>
      </p:sp>
      <p:sp>
        <p:nvSpPr>
          <p:cNvPr id="29" name="Text 2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Satu anggota berpura-pura belum pernah melihat aplikasi. Lakukan tugas utama sambil berbicara keras: "Saya mencari...". Anggota lain mencatat.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Audit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Audit_UIUX_Kel3 -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Audit_UIUX_Kel3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Audit Kegunaan Aplikasi</a:t>
            </a:r>
            <a:endParaRPr lang="en-US" sz="1100" dirty="0"/>
          </a:p>
        </p:txBody>
      </p:sp>
      <p:sp>
        <p:nvSpPr>
          <p:cNvPr id="70" name="Shape 59"/>
          <p:cNvSpPr/>
          <p:nvPr/>
        </p:nvSpPr>
        <p:spPr>
          <a:xfrm>
            <a:off x="1554480" y="2876938"/>
            <a:ext cx="75438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Prinsip</a:t>
            </a:r>
            <a:endParaRPr lang="en-US" sz="650" dirty="0"/>
          </a:p>
        </p:txBody>
      </p:sp>
      <p:sp>
        <p:nvSpPr>
          <p:cNvPr id="72" name="Shape 61"/>
          <p:cNvSpPr/>
          <p:nvPr/>
        </p:nvSpPr>
        <p:spPr>
          <a:xfrm>
            <a:off x="2308860" y="2876938"/>
            <a:ext cx="754380" cy="182880"/>
          </a:xfrm>
          <a:prstGeom prst="rect">
            <a:avLst/>
          </a:prstGeom>
          <a:solidFill>
            <a:srgbClr val="D9EAD3"/>
          </a:solidFill>
          <a:ln w="6350">
            <a:solidFill>
              <a:srgbClr val="777777"/>
            </a:solidFill>
            <a:prstDash val="solid"/>
          </a:ln>
        </p:spPr>
      </p:sp>
      <p:sp>
        <p:nvSpPr>
          <p:cNvPr id="73" name="Text 62"/>
          <p:cNvSpPr txBox="1"/>
          <p:nvPr/>
        </p:nvSpPr>
        <p:spPr>
          <a:xfrm>
            <a:off x="233629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Nilai</a:t>
            </a:r>
            <a:endParaRPr lang="en-US" sz="650" dirty="0"/>
          </a:p>
        </p:txBody>
      </p:sp>
      <p:sp>
        <p:nvSpPr>
          <p:cNvPr id="74" name="Shape 63"/>
          <p:cNvSpPr/>
          <p:nvPr/>
        </p:nvSpPr>
        <p:spPr>
          <a:xfrm>
            <a:off x="3063240" y="2876938"/>
            <a:ext cx="754380" cy="182880"/>
          </a:xfrm>
          <a:prstGeom prst="rect">
            <a:avLst/>
          </a:prstGeom>
          <a:solidFill>
            <a:srgbClr val="D9EAD3"/>
          </a:solidFill>
          <a:ln w="6350">
            <a:solidFill>
              <a:srgbClr val="777777"/>
            </a:solidFill>
            <a:prstDash val="solid"/>
          </a:ln>
        </p:spPr>
      </p:sp>
      <p:sp>
        <p:nvSpPr>
          <p:cNvPr id="75" name="Text 64"/>
          <p:cNvSpPr txBox="1"/>
          <p:nvPr/>
        </p:nvSpPr>
        <p:spPr>
          <a:xfrm>
            <a:off x="309067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Temuan</a:t>
            </a:r>
            <a:endParaRPr lang="en-US" sz="650" dirty="0"/>
          </a:p>
        </p:txBody>
      </p:sp>
      <p:sp>
        <p:nvSpPr>
          <p:cNvPr id="76" name="Shape 65"/>
          <p:cNvSpPr/>
          <p:nvPr/>
        </p:nvSpPr>
        <p:spPr>
          <a:xfrm>
            <a:off x="3817620" y="2876938"/>
            <a:ext cx="754380" cy="182880"/>
          </a:xfrm>
          <a:prstGeom prst="rect">
            <a:avLst/>
          </a:prstGeom>
          <a:solidFill>
            <a:srgbClr val="D9EAD3"/>
          </a:solidFill>
          <a:ln w="6350">
            <a:solidFill>
              <a:srgbClr val="777777"/>
            </a:solidFill>
            <a:prstDash val="solid"/>
          </a:ln>
        </p:spPr>
      </p:sp>
      <p:sp>
        <p:nvSpPr>
          <p:cNvPr id="77" name="Text 66"/>
          <p:cNvSpPr txBox="1"/>
          <p:nvPr/>
        </p:nvSpPr>
        <p:spPr>
          <a:xfrm>
            <a:off x="384505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Usulan</a:t>
            </a:r>
            <a:endParaRPr lang="en-US" sz="650" dirty="0"/>
          </a:p>
        </p:txBody>
      </p:sp>
      <p:sp>
        <p:nvSpPr>
          <p:cNvPr id="78" name="Shape 67"/>
          <p:cNvSpPr/>
          <p:nvPr/>
        </p:nvSpPr>
        <p:spPr>
          <a:xfrm>
            <a:off x="1554480" y="3059818"/>
            <a:ext cx="754380" cy="182880"/>
          </a:xfrm>
          <a:prstGeom prst="rect">
            <a:avLst/>
          </a:prstGeom>
          <a:solidFill>
            <a:srgbClr val="FFFFFF"/>
          </a:solidFill>
          <a:ln w="6350">
            <a:solidFill>
              <a:srgbClr val="777777"/>
            </a:solidFill>
            <a:prstDash val="solid"/>
          </a:ln>
        </p:spPr>
      </p:sp>
      <p:sp>
        <p:nvSpPr>
          <p:cNvPr id="79" name="Text 68"/>
          <p:cNvSpPr txBox="1"/>
          <p:nvPr/>
        </p:nvSpPr>
        <p:spPr>
          <a:xfrm>
            <a:off x="158191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Jelas</a:t>
            </a:r>
            <a:endParaRPr lang="en-US" sz="650" dirty="0"/>
          </a:p>
        </p:txBody>
      </p:sp>
      <p:sp>
        <p:nvSpPr>
          <p:cNvPr id="80" name="Shape 69"/>
          <p:cNvSpPr/>
          <p:nvPr/>
        </p:nvSpPr>
        <p:spPr>
          <a:xfrm>
            <a:off x="2308860" y="3059818"/>
            <a:ext cx="754380" cy="182880"/>
          </a:xfrm>
          <a:prstGeom prst="rect">
            <a:avLst/>
          </a:prstGeom>
          <a:solidFill>
            <a:srgbClr val="FFFFFF"/>
          </a:solidFill>
          <a:ln w="6350">
            <a:solidFill>
              <a:srgbClr val="777777"/>
            </a:solidFill>
            <a:prstDash val="solid"/>
          </a:ln>
        </p:spPr>
      </p:sp>
      <p:sp>
        <p:nvSpPr>
          <p:cNvPr id="81" name="Text 70"/>
          <p:cNvSpPr txBox="1"/>
          <p:nvPr/>
        </p:nvSpPr>
        <p:spPr>
          <a:xfrm>
            <a:off x="233629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1</a:t>
            </a:r>
            <a:endParaRPr lang="en-US" sz="650" dirty="0"/>
          </a:p>
        </p:txBody>
      </p:sp>
      <p:sp>
        <p:nvSpPr>
          <p:cNvPr id="82" name="Shape 71"/>
          <p:cNvSpPr/>
          <p:nvPr/>
        </p:nvSpPr>
        <p:spPr>
          <a:xfrm>
            <a:off x="3063240" y="3059818"/>
            <a:ext cx="754380" cy="182880"/>
          </a:xfrm>
          <a:prstGeom prst="rect">
            <a:avLst/>
          </a:prstGeom>
          <a:solidFill>
            <a:srgbClr val="FFFFFF"/>
          </a:solidFill>
          <a:ln w="6350">
            <a:solidFill>
              <a:srgbClr val="777777"/>
            </a:solidFill>
            <a:prstDash val="solid"/>
          </a:ln>
        </p:spPr>
      </p:sp>
      <p:sp>
        <p:nvSpPr>
          <p:cNvPr id="83" name="Text 72"/>
          <p:cNvSpPr txBox="1"/>
          <p:nvPr/>
        </p:nvSpPr>
        <p:spPr>
          <a:xfrm>
            <a:off x="309067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Kolom tanpa label</a:t>
            </a:r>
            <a:endParaRPr lang="en-US" sz="650" dirty="0"/>
          </a:p>
        </p:txBody>
      </p:sp>
      <p:sp>
        <p:nvSpPr>
          <p:cNvPr id="84" name="Shape 73"/>
          <p:cNvSpPr/>
          <p:nvPr/>
        </p:nvSpPr>
        <p:spPr>
          <a:xfrm>
            <a:off x="3817620" y="3059818"/>
            <a:ext cx="754380" cy="182880"/>
          </a:xfrm>
          <a:prstGeom prst="rect">
            <a:avLst/>
          </a:prstGeom>
          <a:solidFill>
            <a:srgbClr val="FFFFFF"/>
          </a:solidFill>
          <a:ln w="6350">
            <a:solidFill>
              <a:srgbClr val="777777"/>
            </a:solidFill>
            <a:prstDash val="solid"/>
          </a:ln>
        </p:spPr>
      </p:sp>
      <p:sp>
        <p:nvSpPr>
          <p:cNvPr id="85" name="Text 74"/>
          <p:cNvSpPr txBox="1"/>
          <p:nvPr/>
        </p:nvSpPr>
        <p:spPr>
          <a:xfrm>
            <a:off x="384505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Tambah label</a:t>
            </a:r>
            <a:endParaRPr lang="en-US" sz="650" dirty="0"/>
          </a:p>
        </p:txBody>
      </p:sp>
      <p:sp>
        <p:nvSpPr>
          <p:cNvPr id="86" name="Shape 75"/>
          <p:cNvSpPr/>
          <p:nvPr/>
        </p:nvSpPr>
        <p:spPr>
          <a:xfrm>
            <a:off x="1554480" y="3242698"/>
            <a:ext cx="754380" cy="182880"/>
          </a:xfrm>
          <a:prstGeom prst="rect">
            <a:avLst/>
          </a:prstGeom>
          <a:solidFill>
            <a:srgbClr val="FFFFFF"/>
          </a:solidFill>
          <a:ln w="6350">
            <a:solidFill>
              <a:srgbClr val="777777"/>
            </a:solidFill>
            <a:prstDash val="solid"/>
          </a:ln>
        </p:spPr>
      </p:sp>
      <p:sp>
        <p:nvSpPr>
          <p:cNvPr id="87" name="Text 76"/>
          <p:cNvSpPr txBox="1"/>
          <p:nvPr/>
        </p:nvSpPr>
        <p:spPr>
          <a:xfrm>
            <a:off x="158191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Konsisten</a:t>
            </a:r>
            <a:endParaRPr lang="en-US" sz="650" dirty="0"/>
          </a:p>
        </p:txBody>
      </p:sp>
      <p:sp>
        <p:nvSpPr>
          <p:cNvPr id="88" name="Shape 77"/>
          <p:cNvSpPr/>
          <p:nvPr/>
        </p:nvSpPr>
        <p:spPr>
          <a:xfrm>
            <a:off x="2308860" y="3242698"/>
            <a:ext cx="754380" cy="182880"/>
          </a:xfrm>
          <a:prstGeom prst="rect">
            <a:avLst/>
          </a:prstGeom>
          <a:solidFill>
            <a:srgbClr val="FFFFFF"/>
          </a:solidFill>
          <a:ln w="6350">
            <a:solidFill>
              <a:srgbClr val="777777"/>
            </a:solidFill>
            <a:prstDash val="solid"/>
          </a:ln>
        </p:spPr>
      </p:sp>
      <p:sp>
        <p:nvSpPr>
          <p:cNvPr id="89" name="Text 78"/>
          <p:cNvSpPr txBox="1"/>
          <p:nvPr/>
        </p:nvSpPr>
        <p:spPr>
          <a:xfrm>
            <a:off x="233629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2</a:t>
            </a:r>
            <a:endParaRPr lang="en-US" sz="650" dirty="0"/>
          </a:p>
        </p:txBody>
      </p:sp>
      <p:sp>
        <p:nvSpPr>
          <p:cNvPr id="90" name="Shape 79"/>
          <p:cNvSpPr/>
          <p:nvPr/>
        </p:nvSpPr>
        <p:spPr>
          <a:xfrm>
            <a:off x="3063240" y="3242698"/>
            <a:ext cx="754380" cy="182880"/>
          </a:xfrm>
          <a:prstGeom prst="rect">
            <a:avLst/>
          </a:prstGeom>
          <a:solidFill>
            <a:srgbClr val="FFFFFF"/>
          </a:solidFill>
          <a:ln w="6350">
            <a:solidFill>
              <a:srgbClr val="777777"/>
            </a:solidFill>
            <a:prstDash val="solid"/>
          </a:ln>
        </p:spPr>
      </p:sp>
      <p:sp>
        <p:nvSpPr>
          <p:cNvPr id="91" name="Text 80"/>
          <p:cNvSpPr txBox="1"/>
          <p:nvPr/>
        </p:nvSpPr>
        <p:spPr>
          <a:xfrm>
            <a:off x="309067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Simpan vs Kirim</a:t>
            </a:r>
            <a:endParaRPr lang="en-US" sz="650" dirty="0"/>
          </a:p>
        </p:txBody>
      </p:sp>
      <p:sp>
        <p:nvSpPr>
          <p:cNvPr id="92" name="Shape 81"/>
          <p:cNvSpPr/>
          <p:nvPr/>
        </p:nvSpPr>
        <p:spPr>
          <a:xfrm>
            <a:off x="3817620" y="3242698"/>
            <a:ext cx="754380" cy="182880"/>
          </a:xfrm>
          <a:prstGeom prst="rect">
            <a:avLst/>
          </a:prstGeom>
          <a:solidFill>
            <a:srgbClr val="FFFFFF"/>
          </a:solidFill>
          <a:ln w="6350">
            <a:solidFill>
              <a:srgbClr val="777777"/>
            </a:solidFill>
            <a:prstDash val="solid"/>
          </a:ln>
        </p:spPr>
      </p:sp>
      <p:sp>
        <p:nvSpPr>
          <p:cNvPr id="93" name="Text 82"/>
          <p:cNvSpPr txBox="1"/>
          <p:nvPr/>
        </p:nvSpPr>
        <p:spPr>
          <a:xfrm>
            <a:off x="384505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Satu istilah</a:t>
            </a:r>
            <a:endParaRPr lang="en-US" sz="650" dirty="0"/>
          </a:p>
        </p:txBody>
      </p:sp>
      <p:sp>
        <p:nvSpPr>
          <p:cNvPr id="94" name="Shape 83"/>
          <p:cNvSpPr/>
          <p:nvPr/>
        </p:nvSpPr>
        <p:spPr>
          <a:xfrm>
            <a:off x="1554480" y="3425578"/>
            <a:ext cx="754380" cy="182880"/>
          </a:xfrm>
          <a:prstGeom prst="rect">
            <a:avLst/>
          </a:prstGeom>
          <a:solidFill>
            <a:srgbClr val="FFFFFF"/>
          </a:solidFill>
          <a:ln w="6350">
            <a:solidFill>
              <a:srgbClr val="777777"/>
            </a:solidFill>
            <a:prstDash val="solid"/>
          </a:ln>
        </p:spPr>
      </p:sp>
      <p:sp>
        <p:nvSpPr>
          <p:cNvPr id="95" name="Text 84"/>
          <p:cNvSpPr txBox="1"/>
          <p:nvPr/>
        </p:nvSpPr>
        <p:spPr>
          <a:xfrm>
            <a:off x="1581912" y="342557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Umpan balik</a:t>
            </a:r>
            <a:endParaRPr lang="en-US" sz="650" dirty="0"/>
          </a:p>
        </p:txBody>
      </p:sp>
      <p:sp>
        <p:nvSpPr>
          <p:cNvPr id="96" name="Shape 85"/>
          <p:cNvSpPr/>
          <p:nvPr/>
        </p:nvSpPr>
        <p:spPr>
          <a:xfrm>
            <a:off x="2308860" y="3425578"/>
            <a:ext cx="754380" cy="182880"/>
          </a:xfrm>
          <a:prstGeom prst="rect">
            <a:avLst/>
          </a:prstGeom>
          <a:solidFill>
            <a:srgbClr val="FFFFFF"/>
          </a:solidFill>
          <a:ln w="6350">
            <a:solidFill>
              <a:srgbClr val="777777"/>
            </a:solidFill>
            <a:prstDash val="solid"/>
          </a:ln>
        </p:spPr>
      </p:sp>
      <p:sp>
        <p:nvSpPr>
          <p:cNvPr id="97" name="Text 86"/>
          <p:cNvSpPr txBox="1"/>
          <p:nvPr/>
        </p:nvSpPr>
        <p:spPr>
          <a:xfrm>
            <a:off x="2336292" y="342557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1</a:t>
            </a:r>
            <a:endParaRPr lang="en-US" sz="650" dirty="0"/>
          </a:p>
        </p:txBody>
      </p:sp>
      <p:sp>
        <p:nvSpPr>
          <p:cNvPr id="98" name="Shape 87"/>
          <p:cNvSpPr/>
          <p:nvPr/>
        </p:nvSpPr>
        <p:spPr>
          <a:xfrm>
            <a:off x="3063240" y="3425578"/>
            <a:ext cx="754380" cy="182880"/>
          </a:xfrm>
          <a:prstGeom prst="rect">
            <a:avLst/>
          </a:prstGeom>
          <a:solidFill>
            <a:srgbClr val="FFFFFF"/>
          </a:solidFill>
          <a:ln w="6350">
            <a:solidFill>
              <a:srgbClr val="777777"/>
            </a:solidFill>
            <a:prstDash val="solid"/>
          </a:ln>
        </p:spPr>
      </p:sp>
      <p:sp>
        <p:nvSpPr>
          <p:cNvPr id="99" name="Text 88"/>
          <p:cNvSpPr txBox="1"/>
          <p:nvPr/>
        </p:nvSpPr>
        <p:spPr>
          <a:xfrm>
            <a:off x="3090672" y="342557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Tak ada pesan</a:t>
            </a:r>
            <a:endParaRPr lang="en-US" sz="650" dirty="0"/>
          </a:p>
        </p:txBody>
      </p:sp>
      <p:sp>
        <p:nvSpPr>
          <p:cNvPr id="100" name="Shape 89"/>
          <p:cNvSpPr/>
          <p:nvPr/>
        </p:nvSpPr>
        <p:spPr>
          <a:xfrm>
            <a:off x="3817620" y="3425578"/>
            <a:ext cx="754380" cy="182880"/>
          </a:xfrm>
          <a:prstGeom prst="rect">
            <a:avLst/>
          </a:prstGeom>
          <a:solidFill>
            <a:srgbClr val="FFFFFF"/>
          </a:solidFill>
          <a:ln w="6350">
            <a:solidFill>
              <a:srgbClr val="777777"/>
            </a:solidFill>
            <a:prstDash val="solid"/>
          </a:ln>
        </p:spPr>
      </p:sp>
      <p:sp>
        <p:nvSpPr>
          <p:cNvPr id="101" name="Text 90"/>
          <p:cNvSpPr txBox="1"/>
          <p:nvPr/>
        </p:nvSpPr>
        <p:spPr>
          <a:xfrm>
            <a:off x="3845052" y="342557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Menyimpan...</a:t>
            </a:r>
            <a:endParaRPr lang="en-US" sz="650" dirty="0"/>
          </a:p>
        </p:txBody>
      </p:sp>
      <p:sp>
        <p:nvSpPr>
          <p:cNvPr id="102" name="Shape 91"/>
          <p:cNvSpPr/>
          <p:nvPr/>
        </p:nvSpPr>
        <p:spPr>
          <a:xfrm>
            <a:off x="1554480" y="3608458"/>
            <a:ext cx="754380" cy="182880"/>
          </a:xfrm>
          <a:prstGeom prst="rect">
            <a:avLst/>
          </a:prstGeom>
          <a:solidFill>
            <a:srgbClr val="FFFFFF"/>
          </a:solidFill>
          <a:ln w="6350">
            <a:solidFill>
              <a:srgbClr val="777777"/>
            </a:solidFill>
            <a:prstDash val="solid"/>
          </a:ln>
        </p:spPr>
      </p:sp>
      <p:sp>
        <p:nvSpPr>
          <p:cNvPr id="103" name="Text 92"/>
          <p:cNvSpPr txBox="1"/>
          <p:nvPr/>
        </p:nvSpPr>
        <p:spPr>
          <a:xfrm>
            <a:off x="1581912" y="360845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Mudah dijangkau</a:t>
            </a:r>
            <a:endParaRPr lang="en-US" sz="650" dirty="0"/>
          </a:p>
        </p:txBody>
      </p:sp>
      <p:sp>
        <p:nvSpPr>
          <p:cNvPr id="104" name="Shape 93"/>
          <p:cNvSpPr/>
          <p:nvPr/>
        </p:nvSpPr>
        <p:spPr>
          <a:xfrm>
            <a:off x="2308860" y="3608458"/>
            <a:ext cx="754380" cy="182880"/>
          </a:xfrm>
          <a:prstGeom prst="rect">
            <a:avLst/>
          </a:prstGeom>
          <a:solidFill>
            <a:srgbClr val="FFFFFF"/>
          </a:solidFill>
          <a:ln w="6350">
            <a:solidFill>
              <a:srgbClr val="777777"/>
            </a:solidFill>
            <a:prstDash val="solid"/>
          </a:ln>
        </p:spPr>
      </p:sp>
      <p:sp>
        <p:nvSpPr>
          <p:cNvPr id="105" name="Text 94"/>
          <p:cNvSpPr txBox="1"/>
          <p:nvPr/>
        </p:nvSpPr>
        <p:spPr>
          <a:xfrm>
            <a:off x="2336292" y="360845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2</a:t>
            </a:r>
            <a:endParaRPr lang="en-US" sz="650" dirty="0"/>
          </a:p>
        </p:txBody>
      </p:sp>
      <p:sp>
        <p:nvSpPr>
          <p:cNvPr id="106" name="Shape 95"/>
          <p:cNvSpPr/>
          <p:nvPr/>
        </p:nvSpPr>
        <p:spPr>
          <a:xfrm>
            <a:off x="3063240" y="3608458"/>
            <a:ext cx="754380" cy="182880"/>
          </a:xfrm>
          <a:prstGeom prst="rect">
            <a:avLst/>
          </a:prstGeom>
          <a:solidFill>
            <a:srgbClr val="FFFFFF"/>
          </a:solidFill>
          <a:ln w="6350">
            <a:solidFill>
              <a:srgbClr val="777777"/>
            </a:solidFill>
            <a:prstDash val="solid"/>
          </a:ln>
        </p:spPr>
      </p:sp>
      <p:sp>
        <p:nvSpPr>
          <p:cNvPr id="107" name="Text 96"/>
          <p:cNvSpPr txBox="1"/>
          <p:nvPr/>
        </p:nvSpPr>
        <p:spPr>
          <a:xfrm>
            <a:off x="3090672" y="360845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Tombol kecil</a:t>
            </a:r>
            <a:endParaRPr lang="en-US" sz="650" dirty="0"/>
          </a:p>
        </p:txBody>
      </p:sp>
      <p:sp>
        <p:nvSpPr>
          <p:cNvPr id="108" name="Shape 97"/>
          <p:cNvSpPr/>
          <p:nvPr/>
        </p:nvSpPr>
        <p:spPr>
          <a:xfrm>
            <a:off x="3817620" y="3608458"/>
            <a:ext cx="754380" cy="182880"/>
          </a:xfrm>
          <a:prstGeom prst="rect">
            <a:avLst/>
          </a:prstGeom>
          <a:solidFill>
            <a:srgbClr val="FFFFFF"/>
          </a:solidFill>
          <a:ln w="6350">
            <a:solidFill>
              <a:srgbClr val="777777"/>
            </a:solidFill>
            <a:prstDash val="solid"/>
          </a:ln>
        </p:spPr>
      </p:sp>
      <p:sp>
        <p:nvSpPr>
          <p:cNvPr id="109" name="Text 98"/>
          <p:cNvSpPr txBox="1"/>
          <p:nvPr/>
        </p:nvSpPr>
        <p:spPr>
          <a:xfrm>
            <a:off x="3845052" y="360845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Tinggi 44px</a:t>
            </a:r>
            <a:endParaRPr lang="en-US" sz="650" dirty="0"/>
          </a:p>
        </p:txBody>
      </p:sp>
      <p:sp>
        <p:nvSpPr>
          <p:cNvPr id="110" name="Shape 99"/>
          <p:cNvSpPr/>
          <p:nvPr/>
        </p:nvSpPr>
        <p:spPr>
          <a:xfrm>
            <a:off x="1554480" y="3791338"/>
            <a:ext cx="754380" cy="182880"/>
          </a:xfrm>
          <a:prstGeom prst="rect">
            <a:avLst/>
          </a:prstGeom>
          <a:solidFill>
            <a:srgbClr val="FFFFFF"/>
          </a:solidFill>
          <a:ln w="6350">
            <a:solidFill>
              <a:srgbClr val="777777"/>
            </a:solidFill>
            <a:prstDash val="solid"/>
          </a:ln>
        </p:spPr>
      </p:sp>
      <p:sp>
        <p:nvSpPr>
          <p:cNvPr id="111" name="Text 100"/>
          <p:cNvSpPr txBox="1"/>
          <p:nvPr/>
        </p:nvSpPr>
        <p:spPr>
          <a:xfrm>
            <a:off x="1581912" y="379133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Cegah salah</a:t>
            </a:r>
            <a:endParaRPr lang="en-US" sz="650" dirty="0"/>
          </a:p>
        </p:txBody>
      </p:sp>
      <p:sp>
        <p:nvSpPr>
          <p:cNvPr id="112" name="Shape 101"/>
          <p:cNvSpPr/>
          <p:nvPr/>
        </p:nvSpPr>
        <p:spPr>
          <a:xfrm>
            <a:off x="2308860" y="3791338"/>
            <a:ext cx="754380" cy="182880"/>
          </a:xfrm>
          <a:prstGeom prst="rect">
            <a:avLst/>
          </a:prstGeom>
          <a:solidFill>
            <a:srgbClr val="FFFFFF"/>
          </a:solidFill>
          <a:ln w="6350">
            <a:solidFill>
              <a:srgbClr val="777777"/>
            </a:solidFill>
            <a:prstDash val="solid"/>
          </a:ln>
        </p:spPr>
      </p:sp>
      <p:sp>
        <p:nvSpPr>
          <p:cNvPr id="113" name="Text 102"/>
          <p:cNvSpPr txBox="1"/>
          <p:nvPr/>
        </p:nvSpPr>
        <p:spPr>
          <a:xfrm>
            <a:off x="2336292" y="379133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2</a:t>
            </a:r>
            <a:endParaRPr lang="en-US" sz="650" dirty="0"/>
          </a:p>
        </p:txBody>
      </p:sp>
      <p:sp>
        <p:nvSpPr>
          <p:cNvPr id="114" name="Shape 103"/>
          <p:cNvSpPr/>
          <p:nvPr/>
        </p:nvSpPr>
        <p:spPr>
          <a:xfrm>
            <a:off x="3063240" y="3791338"/>
            <a:ext cx="754380" cy="182880"/>
          </a:xfrm>
          <a:prstGeom prst="rect">
            <a:avLst/>
          </a:prstGeom>
          <a:solidFill>
            <a:srgbClr val="FFFFFF"/>
          </a:solidFill>
          <a:ln w="6350">
            <a:solidFill>
              <a:srgbClr val="777777"/>
            </a:solidFill>
            <a:prstDash val="solid"/>
          </a:ln>
        </p:spPr>
      </p:sp>
      <p:sp>
        <p:nvSpPr>
          <p:cNvPr id="115" name="Text 104"/>
          <p:cNvSpPr txBox="1"/>
          <p:nvPr/>
        </p:nvSpPr>
        <p:spPr>
          <a:xfrm>
            <a:off x="3090672" y="379133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Ayat bisa minus</a:t>
            </a:r>
            <a:endParaRPr lang="en-US" sz="650" dirty="0"/>
          </a:p>
        </p:txBody>
      </p:sp>
      <p:sp>
        <p:nvSpPr>
          <p:cNvPr id="116" name="Shape 105"/>
          <p:cNvSpPr/>
          <p:nvPr/>
        </p:nvSpPr>
        <p:spPr>
          <a:xfrm>
            <a:off x="3817620" y="3791338"/>
            <a:ext cx="754380" cy="182880"/>
          </a:xfrm>
          <a:prstGeom prst="rect">
            <a:avLst/>
          </a:prstGeom>
          <a:solidFill>
            <a:srgbClr val="FFFFFF"/>
          </a:solidFill>
          <a:ln w="6350">
            <a:solidFill>
              <a:srgbClr val="777777"/>
            </a:solidFill>
            <a:prstDash val="solid"/>
          </a:ln>
        </p:spPr>
      </p:sp>
      <p:sp>
        <p:nvSpPr>
          <p:cNvPr id="117" name="Text 106"/>
          <p:cNvSpPr txBox="1"/>
          <p:nvPr/>
        </p:nvSpPr>
        <p:spPr>
          <a:xfrm>
            <a:off x="3845052" y="379133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min=0</a:t>
            </a:r>
            <a:endParaRPr lang="en-US" sz="650" dirty="0"/>
          </a:p>
        </p:txBody>
      </p:sp>
      <p:sp>
        <p:nvSpPr>
          <p:cNvPr id="118" name="Shape 107"/>
          <p:cNvSpPr/>
          <p:nvPr/>
        </p:nvSpPr>
        <p:spPr>
          <a:xfrm>
            <a:off x="1527048" y="2849506"/>
            <a:ext cx="3072384" cy="1152144"/>
          </a:xfrm>
          <a:prstGeom prst="roundRect">
            <a:avLst>
              <a:gd name="adj" fmla="val 3968"/>
            </a:avLst>
          </a:prstGeom>
          <a:solidFill>
            <a:srgbClr val="FFFFFF">
              <a:alpha val="0"/>
            </a:srgbClr>
          </a:solidFill>
          <a:ln w="31750">
            <a:solidFill>
              <a:srgbClr val="E53935"/>
            </a:solidFill>
            <a:prstDash val="solid"/>
          </a:ln>
        </p:spPr>
      </p:sp>
      <p:sp>
        <p:nvSpPr>
          <p:cNvPr id="119" name="Shape 108"/>
          <p:cNvSpPr/>
          <p:nvPr/>
        </p:nvSpPr>
        <p:spPr>
          <a:xfrm>
            <a:off x="4462272" y="2712346"/>
            <a:ext cx="274320" cy="274320"/>
          </a:xfrm>
          <a:prstGeom prst="ellipse">
            <a:avLst/>
          </a:prstGeom>
          <a:solidFill>
            <a:srgbClr val="E53935"/>
          </a:solidFill>
          <a:ln w="12700">
            <a:solidFill>
              <a:srgbClr val="FFFFFF"/>
            </a:solidFill>
            <a:prstDash val="solid"/>
          </a:ln>
        </p:spPr>
      </p:sp>
      <p:sp>
        <p:nvSpPr>
          <p:cNvPr id="120" name="Text 109"/>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121" name="Image 9" descr="preencoded.png">    </p:cNvPr>
          <p:cNvPicPr>
            <a:picLocks noChangeAspect="1"/>
          </p:cNvPicPr>
          <p:nvPr/>
        </p:nvPicPr>
        <p:blipFill>
          <a:blip r:embed="rId10"/>
          <a:stretch>
            <a:fillRect/>
          </a:stretch>
        </p:blipFill>
        <p:spPr>
          <a:xfrm>
            <a:off x="3214116" y="3480442"/>
            <a:ext cx="237744" cy="237744"/>
          </a:xfrm>
          <a:prstGeom prst="rect">
            <a:avLst/>
          </a:prstGeom>
        </p:spPr>
      </p:pic>
      <p:sp>
        <p:nvSpPr>
          <p:cNvPr id="122" name="Text 11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123" name="Text 11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tabel audit 5 prinsip</a:t>
            </a:r>
            <a:endParaRPr lang="en-US" sz="1800" dirty="0"/>
          </a:p>
        </p:txBody>
      </p:sp>
      <p:sp>
        <p:nvSpPr>
          <p:cNvPr id="124" name="Text 11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Docs: Prinsip | Nilai (1–3) | Temuan | Usulan perbaikan.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Audit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Harian</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file:///C:/.../Proyek_Kel3/index.html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EEEEEE"/>
          </a:solidFill>
          <a:ln w="12700">
            <a:solidFill>
              <a:srgbClr val="EEEEEE"/>
            </a:solidFill>
            <a:prstDash val="solid"/>
          </a:ln>
        </p:spPr>
      </p:sp>
      <p:sp>
        <p:nvSpPr>
          <p:cNvPr id="30" name="Shape 23"/>
          <p:cNvSpPr/>
          <p:nvPr/>
        </p:nvSpPr>
        <p:spPr>
          <a:xfrm>
            <a:off x="2286000" y="1714253"/>
            <a:ext cx="1554480" cy="2244555"/>
          </a:xfrm>
          <a:prstGeom prst="roundRect">
            <a:avLst>
              <a:gd name="adj" fmla="val 7059"/>
            </a:avLst>
          </a:prstGeom>
          <a:solidFill>
            <a:srgbClr val="FFFFFF"/>
          </a:solidFill>
          <a:ln w="19050">
            <a:solidFill>
              <a:srgbClr val="333333"/>
            </a:solidFill>
            <a:prstDash val="solid"/>
          </a:ln>
        </p:spPr>
      </p:sp>
      <p:sp>
        <p:nvSpPr>
          <p:cNvPr id="31" name="Shape 24"/>
          <p:cNvSpPr/>
          <p:nvPr/>
        </p:nvSpPr>
        <p:spPr>
          <a:xfrm>
            <a:off x="2359152" y="1851413"/>
            <a:ext cx="1408176" cy="1970235"/>
          </a:xfrm>
          <a:prstGeom prst="rect">
            <a:avLst/>
          </a:prstGeom>
          <a:solidFill>
            <a:srgbClr val="FFF9C4"/>
          </a:solidFill>
          <a:ln w="12700">
            <a:solidFill>
              <a:srgbClr val="FFF9C4"/>
            </a:solidFill>
            <a:prstDash val="solid"/>
          </a:ln>
        </p:spPr>
      </p:sp>
      <p:sp>
        <p:nvSpPr>
          <p:cNvPr id="32" name="Text 25"/>
          <p:cNvSpPr txBox="1"/>
          <p:nvPr/>
        </p:nvSpPr>
        <p:spPr>
          <a:xfrm>
            <a:off x="2404872" y="1897133"/>
            <a:ext cx="1408176" cy="182880"/>
          </a:xfrm>
          <a:prstGeom prst="rect">
            <a:avLst/>
          </a:prstGeom>
          <a:noFill/>
          <a:ln/>
        </p:spPr>
        <p:txBody>
          <a:bodyPr wrap="square" lIns="0" tIns="0" rIns="0" bIns="0" rtlCol="0" anchor="t"/>
          <a:lstStyle/>
          <a:p>
            <a:pPr indent="0" marL="0">
              <a:buNone/>
            </a:pPr>
            <a:r>
              <a:rPr lang="en-US" sz="700" dirty="0">
                <a:solidFill>
                  <a:srgbClr val="B0BEC5"/>
                </a:solidFill>
                <a:latin typeface="Comic Sans MS" pitchFamily="34" charset="0"/>
                <a:ea typeface="Comic Sans MS" pitchFamily="34" charset="-122"/>
                <a:cs typeface="Comic Sans MS" pitchFamily="34" charset="-120"/>
              </a:rPr>
              <a:t>setoran harian kel 3</a:t>
            </a:r>
            <a:endParaRPr lang="en-US" sz="700" dirty="0"/>
          </a:p>
        </p:txBody>
      </p:sp>
      <p:sp>
        <p:nvSpPr>
          <p:cNvPr id="33" name="Text 26"/>
          <p:cNvSpPr txBox="1"/>
          <p:nvPr/>
        </p:nvSpPr>
        <p:spPr>
          <a:xfrm>
            <a:off x="2404872" y="2125733"/>
            <a:ext cx="1316736" cy="411480"/>
          </a:xfrm>
          <a:prstGeom prst="rect">
            <a:avLst/>
          </a:prstGeom>
          <a:noFill/>
          <a:ln/>
        </p:spPr>
        <p:txBody>
          <a:bodyPr wrap="square" lIns="0" tIns="0" rIns="0" bIns="0" rtlCol="0" anchor="t"/>
          <a:lstStyle/>
          <a:p>
            <a:pPr indent="0" marL="0">
              <a:buNone/>
            </a:pPr>
            <a:r>
              <a:rPr lang="en-US" sz="600" dirty="0">
                <a:solidFill>
                  <a:srgbClr val="999999"/>
                </a:solidFill>
                <a:latin typeface="Calibri" pitchFamily="34" charset="0"/>
                <a:ea typeface="Calibri" pitchFamily="34" charset="-122"/>
                <a:cs typeface="Calibri" pitchFamily="34" charset="-120"/>
              </a:rPr>
              <a:t>masukkan kode dan surat dan ayat lalu klik tombol di bawah kalau sudah</a:t>
            </a:r>
            <a:endParaRPr lang="en-US" sz="600" dirty="0"/>
          </a:p>
        </p:txBody>
      </p:sp>
      <p:sp>
        <p:nvSpPr>
          <p:cNvPr id="34" name="Shape 27"/>
          <p:cNvSpPr/>
          <p:nvPr/>
        </p:nvSpPr>
        <p:spPr>
          <a:xfrm>
            <a:off x="2404872" y="2582933"/>
            <a:ext cx="774497" cy="146304"/>
          </a:xfrm>
          <a:prstGeom prst="rect">
            <a:avLst/>
          </a:prstGeom>
          <a:solidFill>
            <a:srgbClr val="FFFFFF"/>
          </a:solidFill>
          <a:ln w="6350">
            <a:solidFill>
              <a:srgbClr val="DDDDDD"/>
            </a:solidFill>
            <a:prstDash val="solid"/>
          </a:ln>
        </p:spPr>
      </p:sp>
      <p:sp>
        <p:nvSpPr>
          <p:cNvPr id="35" name="Shape 28"/>
          <p:cNvSpPr/>
          <p:nvPr/>
        </p:nvSpPr>
        <p:spPr>
          <a:xfrm>
            <a:off x="2404872" y="2784101"/>
            <a:ext cx="774497" cy="146304"/>
          </a:xfrm>
          <a:prstGeom prst="rect">
            <a:avLst/>
          </a:prstGeom>
          <a:solidFill>
            <a:srgbClr val="FFFFFF"/>
          </a:solidFill>
          <a:ln w="6350">
            <a:solidFill>
              <a:srgbClr val="DDDDDD"/>
            </a:solidFill>
            <a:prstDash val="solid"/>
          </a:ln>
        </p:spPr>
      </p:sp>
      <p:sp>
        <p:nvSpPr>
          <p:cNvPr id="36" name="Shape 29"/>
          <p:cNvSpPr/>
          <p:nvPr/>
        </p:nvSpPr>
        <p:spPr>
          <a:xfrm>
            <a:off x="2404872" y="2985269"/>
            <a:ext cx="774497" cy="146304"/>
          </a:xfrm>
          <a:prstGeom prst="rect">
            <a:avLst/>
          </a:prstGeom>
          <a:solidFill>
            <a:srgbClr val="FFFFFF"/>
          </a:solidFill>
          <a:ln w="6350">
            <a:solidFill>
              <a:srgbClr val="DDDDDD"/>
            </a:solidFill>
            <a:prstDash val="solid"/>
          </a:ln>
        </p:spPr>
      </p:sp>
      <p:sp>
        <p:nvSpPr>
          <p:cNvPr id="37" name="Shape 30"/>
          <p:cNvSpPr/>
          <p:nvPr/>
        </p:nvSpPr>
        <p:spPr>
          <a:xfrm>
            <a:off x="2404872" y="3223013"/>
            <a:ext cx="320040" cy="128016"/>
          </a:xfrm>
          <a:prstGeom prst="rect">
            <a:avLst/>
          </a:prstGeom>
          <a:solidFill>
            <a:srgbClr val="FF5252"/>
          </a:solidFill>
          <a:ln w="12700">
            <a:solidFill>
              <a:srgbClr val="FF5252"/>
            </a:solidFill>
            <a:prstDash val="solid"/>
          </a:ln>
        </p:spPr>
      </p:sp>
      <p:sp>
        <p:nvSpPr>
          <p:cNvPr id="38" name="Text 31"/>
          <p:cNvSpPr txBox="1"/>
          <p:nvPr/>
        </p:nvSpPr>
        <p:spPr>
          <a:xfrm>
            <a:off x="2404872" y="3223013"/>
            <a:ext cx="320040" cy="128016"/>
          </a:xfrm>
          <a:prstGeom prst="rect">
            <a:avLst/>
          </a:prstGeom>
          <a:noFill/>
          <a:ln/>
        </p:spPr>
        <p:txBody>
          <a:bodyPr wrap="square" lIns="0" tIns="0" rIns="0" bIns="0" rtlCol="0" anchor="ctr"/>
          <a:lstStyle/>
          <a:p>
            <a:pPr algn="ctr" indent="0" marL="0">
              <a:buNone/>
            </a:pPr>
            <a:r>
              <a:rPr lang="en-US" sz="500" dirty="0">
                <a:solidFill>
                  <a:srgbClr val="FFEB3B"/>
                </a:solidFill>
                <a:latin typeface="Calibri" pitchFamily="34" charset="0"/>
                <a:ea typeface="Calibri" pitchFamily="34" charset="-122"/>
                <a:cs typeface="Calibri" pitchFamily="34" charset="-120"/>
              </a:rPr>
              <a:t>ok</a:t>
            </a:r>
            <a:endParaRPr lang="en-US" sz="500" dirty="0"/>
          </a:p>
        </p:txBody>
      </p:sp>
      <p:sp>
        <p:nvSpPr>
          <p:cNvPr id="39" name="Shape 32"/>
          <p:cNvSpPr/>
          <p:nvPr/>
        </p:nvSpPr>
        <p:spPr>
          <a:xfrm>
            <a:off x="2770632" y="3223013"/>
            <a:ext cx="320040" cy="128016"/>
          </a:xfrm>
          <a:prstGeom prst="rect">
            <a:avLst/>
          </a:prstGeom>
          <a:solidFill>
            <a:srgbClr val="7C4DFF"/>
          </a:solidFill>
          <a:ln w="12700">
            <a:solidFill>
              <a:srgbClr val="7C4DFF"/>
            </a:solidFill>
            <a:prstDash val="solid"/>
          </a:ln>
        </p:spPr>
      </p:sp>
      <p:sp>
        <p:nvSpPr>
          <p:cNvPr id="40" name="Text 33"/>
          <p:cNvSpPr txBox="1"/>
          <p:nvPr/>
        </p:nvSpPr>
        <p:spPr>
          <a:xfrm>
            <a:off x="2770632" y="3223013"/>
            <a:ext cx="320040" cy="128016"/>
          </a:xfrm>
          <a:prstGeom prst="rect">
            <a:avLst/>
          </a:prstGeom>
          <a:noFill/>
          <a:ln/>
        </p:spPr>
        <p:txBody>
          <a:bodyPr wrap="square" lIns="0" tIns="0" rIns="0" bIns="0" rtlCol="0" anchor="ctr"/>
          <a:lstStyle/>
          <a:p>
            <a:pPr algn="ctr" indent="0" marL="0">
              <a:buNone/>
            </a:pPr>
            <a:r>
              <a:rPr lang="en-US" sz="500" dirty="0">
                <a:solidFill>
                  <a:srgbClr val="FFFFFF"/>
                </a:solidFill>
                <a:latin typeface="Calibri" pitchFamily="34" charset="0"/>
                <a:ea typeface="Calibri" pitchFamily="34" charset="-122"/>
                <a:cs typeface="Calibri" pitchFamily="34" charset="-120"/>
              </a:rPr>
              <a:t>hapus</a:t>
            </a:r>
            <a:endParaRPr lang="en-US" sz="500" dirty="0"/>
          </a:p>
        </p:txBody>
      </p:sp>
      <p:sp>
        <p:nvSpPr>
          <p:cNvPr id="41" name="Shape 34"/>
          <p:cNvSpPr/>
          <p:nvPr/>
        </p:nvSpPr>
        <p:spPr>
          <a:xfrm>
            <a:off x="2267712" y="1695965"/>
            <a:ext cx="1591056" cy="2281131"/>
          </a:xfrm>
          <a:prstGeom prst="roundRect">
            <a:avLst>
              <a:gd name="adj" fmla="val 2874"/>
            </a:avLst>
          </a:prstGeom>
          <a:solidFill>
            <a:srgbClr val="FFFFFF">
              <a:alpha val="0"/>
            </a:srgbClr>
          </a:solidFill>
          <a:ln w="31750">
            <a:solidFill>
              <a:srgbClr val="E53935"/>
            </a:solidFill>
            <a:prstDash val="solid"/>
          </a:ln>
        </p:spPr>
      </p:sp>
      <p:sp>
        <p:nvSpPr>
          <p:cNvPr id="42" name="Shape 35"/>
          <p:cNvSpPr/>
          <p:nvPr/>
        </p:nvSpPr>
        <p:spPr>
          <a:xfrm>
            <a:off x="3721608" y="1558805"/>
            <a:ext cx="274320" cy="274320"/>
          </a:xfrm>
          <a:prstGeom prst="ellipse">
            <a:avLst/>
          </a:prstGeom>
          <a:solidFill>
            <a:srgbClr val="E53935"/>
          </a:solidFill>
          <a:ln w="12700">
            <a:solidFill>
              <a:srgbClr val="FFFFFF"/>
            </a:solidFill>
            <a:prstDash val="solid"/>
          </a:ln>
        </p:spPr>
      </p:sp>
      <p:sp>
        <p:nvSpPr>
          <p:cNvPr id="43" name="Text 36"/>
          <p:cNvSpPr txBox="1"/>
          <p:nvPr/>
        </p:nvSpPr>
        <p:spPr>
          <a:xfrm>
            <a:off x="3721608"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4" name="Text 3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5" name="Text 3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Periksa setiap prinsip dengan teliti</a:t>
            </a:r>
            <a:endParaRPr lang="en-US" sz="1800" dirty="0"/>
          </a:p>
        </p:txBody>
      </p:sp>
      <p:sp>
        <p:nvSpPr>
          <p:cNvPr id="46" name="Text 3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Jelas? Konsisten? Ada umpan balik? Tombol mudah diketuk di HP? Apa yang terjadi jika salah isi? Isi temuan dengan contoh nyata.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Audit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1051560" y="1234440"/>
            <a:ext cx="1280160" cy="2560320"/>
          </a:xfrm>
          <a:prstGeom prst="roundRect">
            <a:avLst>
              <a:gd name="adj" fmla="val 12857"/>
            </a:avLst>
          </a:prstGeom>
          <a:solidFill>
            <a:srgbClr val="1A1A1A"/>
          </a:solidFill>
          <a:ln w="12700">
            <a:solidFill>
              <a:srgbClr val="1A1A1A"/>
            </a:solidFill>
            <a:prstDash val="solid"/>
          </a:ln>
        </p:spPr>
      </p:sp>
      <p:sp>
        <p:nvSpPr>
          <p:cNvPr id="11" name="Shape 7"/>
          <p:cNvSpPr/>
          <p:nvPr/>
        </p:nvSpPr>
        <p:spPr>
          <a:xfrm>
            <a:off x="1143000" y="1325880"/>
            <a:ext cx="1097280" cy="2377440"/>
          </a:xfrm>
          <a:prstGeom prst="roundRect">
            <a:avLst>
              <a:gd name="adj" fmla="val 10000"/>
            </a:avLst>
          </a:prstGeom>
          <a:solidFill>
            <a:srgbClr val="FFFFFF"/>
          </a:solidFill>
          <a:ln w="12700">
            <a:solidFill>
              <a:srgbClr val="FFFFFF"/>
            </a:solidFill>
            <a:prstDash val="solid"/>
          </a:ln>
        </p:spPr>
      </p:sp>
      <p:sp>
        <p:nvSpPr>
          <p:cNvPr id="12" name="Shape 8"/>
          <p:cNvSpPr/>
          <p:nvPr/>
        </p:nvSpPr>
        <p:spPr>
          <a:xfrm>
            <a:off x="1069848" y="1188720"/>
            <a:ext cx="1243584" cy="2651760"/>
          </a:xfrm>
          <a:prstGeom prst="roundRect">
            <a:avLst>
              <a:gd name="adj" fmla="val 8824"/>
            </a:avLst>
          </a:prstGeom>
          <a:solidFill>
            <a:srgbClr val="FFFFFF"/>
          </a:solidFill>
          <a:ln w="19050">
            <a:solidFill>
              <a:srgbClr val="333333"/>
            </a:solidFill>
            <a:prstDash val="solid"/>
          </a:ln>
        </p:spPr>
      </p:sp>
      <p:sp>
        <p:nvSpPr>
          <p:cNvPr id="13" name="Shape 9"/>
          <p:cNvSpPr/>
          <p:nvPr/>
        </p:nvSpPr>
        <p:spPr>
          <a:xfrm>
            <a:off x="1143000" y="1325880"/>
            <a:ext cx="1097280" cy="2377440"/>
          </a:xfrm>
          <a:prstGeom prst="rect">
            <a:avLst/>
          </a:prstGeom>
          <a:solidFill>
            <a:srgbClr val="FFF9C4"/>
          </a:solidFill>
          <a:ln w="12700">
            <a:solidFill>
              <a:srgbClr val="FFF9C4"/>
            </a:solidFill>
            <a:prstDash val="solid"/>
          </a:ln>
        </p:spPr>
      </p:sp>
      <p:sp>
        <p:nvSpPr>
          <p:cNvPr id="14" name="Text 10"/>
          <p:cNvSpPr txBox="1"/>
          <p:nvPr/>
        </p:nvSpPr>
        <p:spPr>
          <a:xfrm>
            <a:off x="1188720" y="1371600"/>
            <a:ext cx="1097280" cy="182880"/>
          </a:xfrm>
          <a:prstGeom prst="rect">
            <a:avLst/>
          </a:prstGeom>
          <a:noFill/>
          <a:ln/>
        </p:spPr>
        <p:txBody>
          <a:bodyPr wrap="square" lIns="0" tIns="0" rIns="0" bIns="0" rtlCol="0" anchor="t"/>
          <a:lstStyle/>
          <a:p>
            <a:pPr indent="0" marL="0">
              <a:buNone/>
            </a:pPr>
            <a:r>
              <a:rPr lang="en-US" sz="700" dirty="0">
                <a:solidFill>
                  <a:srgbClr val="B0BEC5"/>
                </a:solidFill>
                <a:latin typeface="Comic Sans MS" pitchFamily="34" charset="0"/>
                <a:ea typeface="Comic Sans MS" pitchFamily="34" charset="-122"/>
                <a:cs typeface="Comic Sans MS" pitchFamily="34" charset="-120"/>
              </a:rPr>
              <a:t>setoran harian kel 3</a:t>
            </a:r>
            <a:endParaRPr lang="en-US" sz="700" dirty="0"/>
          </a:p>
        </p:txBody>
      </p:sp>
      <p:sp>
        <p:nvSpPr>
          <p:cNvPr id="15" name="Text 11"/>
          <p:cNvSpPr txBox="1"/>
          <p:nvPr/>
        </p:nvSpPr>
        <p:spPr>
          <a:xfrm>
            <a:off x="1188720" y="1600200"/>
            <a:ext cx="1005840" cy="411480"/>
          </a:xfrm>
          <a:prstGeom prst="rect">
            <a:avLst/>
          </a:prstGeom>
          <a:noFill/>
          <a:ln/>
        </p:spPr>
        <p:txBody>
          <a:bodyPr wrap="square" lIns="0" tIns="0" rIns="0" bIns="0" rtlCol="0" anchor="t"/>
          <a:lstStyle/>
          <a:p>
            <a:pPr indent="0" marL="0">
              <a:buNone/>
            </a:pPr>
            <a:r>
              <a:rPr lang="en-US" sz="600" dirty="0">
                <a:solidFill>
                  <a:srgbClr val="999999"/>
                </a:solidFill>
                <a:latin typeface="Calibri" pitchFamily="34" charset="0"/>
                <a:ea typeface="Calibri" pitchFamily="34" charset="-122"/>
                <a:cs typeface="Calibri" pitchFamily="34" charset="-120"/>
              </a:rPr>
              <a:t>masukkan kode dan surat dan ayat lalu klik tombol di bawah kalau sudah</a:t>
            </a:r>
            <a:endParaRPr lang="en-US" sz="600" dirty="0"/>
          </a:p>
        </p:txBody>
      </p:sp>
      <p:sp>
        <p:nvSpPr>
          <p:cNvPr id="16" name="Shape 12"/>
          <p:cNvSpPr/>
          <p:nvPr/>
        </p:nvSpPr>
        <p:spPr>
          <a:xfrm>
            <a:off x="1188720" y="2057400"/>
            <a:ext cx="603504" cy="146304"/>
          </a:xfrm>
          <a:prstGeom prst="rect">
            <a:avLst/>
          </a:prstGeom>
          <a:solidFill>
            <a:srgbClr val="FFFFFF"/>
          </a:solidFill>
          <a:ln w="6350">
            <a:solidFill>
              <a:srgbClr val="DDDDDD"/>
            </a:solidFill>
            <a:prstDash val="solid"/>
          </a:ln>
        </p:spPr>
      </p:sp>
      <p:sp>
        <p:nvSpPr>
          <p:cNvPr id="17" name="Shape 13"/>
          <p:cNvSpPr/>
          <p:nvPr/>
        </p:nvSpPr>
        <p:spPr>
          <a:xfrm>
            <a:off x="1188720" y="2258568"/>
            <a:ext cx="603504" cy="146304"/>
          </a:xfrm>
          <a:prstGeom prst="rect">
            <a:avLst/>
          </a:prstGeom>
          <a:solidFill>
            <a:srgbClr val="FFFFFF"/>
          </a:solidFill>
          <a:ln w="6350">
            <a:solidFill>
              <a:srgbClr val="DDDDDD"/>
            </a:solidFill>
            <a:prstDash val="solid"/>
          </a:ln>
        </p:spPr>
      </p:sp>
      <p:sp>
        <p:nvSpPr>
          <p:cNvPr id="18" name="Shape 14"/>
          <p:cNvSpPr/>
          <p:nvPr/>
        </p:nvSpPr>
        <p:spPr>
          <a:xfrm>
            <a:off x="1188720" y="2459736"/>
            <a:ext cx="603504" cy="146304"/>
          </a:xfrm>
          <a:prstGeom prst="rect">
            <a:avLst/>
          </a:prstGeom>
          <a:solidFill>
            <a:srgbClr val="FFFFFF"/>
          </a:solidFill>
          <a:ln w="6350">
            <a:solidFill>
              <a:srgbClr val="DDDDDD"/>
            </a:solidFill>
            <a:prstDash val="solid"/>
          </a:ln>
        </p:spPr>
      </p:sp>
      <p:sp>
        <p:nvSpPr>
          <p:cNvPr id="19" name="Shape 15"/>
          <p:cNvSpPr/>
          <p:nvPr/>
        </p:nvSpPr>
        <p:spPr>
          <a:xfrm>
            <a:off x="1188720" y="2697480"/>
            <a:ext cx="320040" cy="128016"/>
          </a:xfrm>
          <a:prstGeom prst="rect">
            <a:avLst/>
          </a:prstGeom>
          <a:solidFill>
            <a:srgbClr val="FF5252"/>
          </a:solidFill>
          <a:ln w="12700">
            <a:solidFill>
              <a:srgbClr val="FF5252"/>
            </a:solidFill>
            <a:prstDash val="solid"/>
          </a:ln>
        </p:spPr>
      </p:sp>
      <p:sp>
        <p:nvSpPr>
          <p:cNvPr id="20" name="Text 16"/>
          <p:cNvSpPr txBox="1"/>
          <p:nvPr/>
        </p:nvSpPr>
        <p:spPr>
          <a:xfrm>
            <a:off x="1188720" y="2697480"/>
            <a:ext cx="320040" cy="128016"/>
          </a:xfrm>
          <a:prstGeom prst="rect">
            <a:avLst/>
          </a:prstGeom>
          <a:noFill/>
          <a:ln/>
        </p:spPr>
        <p:txBody>
          <a:bodyPr wrap="square" lIns="0" tIns="0" rIns="0" bIns="0" rtlCol="0" anchor="ctr"/>
          <a:lstStyle/>
          <a:p>
            <a:pPr algn="ctr" indent="0" marL="0">
              <a:buNone/>
            </a:pPr>
            <a:r>
              <a:rPr lang="en-US" sz="500" dirty="0">
                <a:solidFill>
                  <a:srgbClr val="FFEB3B"/>
                </a:solidFill>
                <a:latin typeface="Calibri" pitchFamily="34" charset="0"/>
                <a:ea typeface="Calibri" pitchFamily="34" charset="-122"/>
                <a:cs typeface="Calibri" pitchFamily="34" charset="-120"/>
              </a:rPr>
              <a:t>ok</a:t>
            </a:r>
            <a:endParaRPr lang="en-US" sz="500" dirty="0"/>
          </a:p>
        </p:txBody>
      </p:sp>
      <p:sp>
        <p:nvSpPr>
          <p:cNvPr id="21" name="Shape 17"/>
          <p:cNvSpPr/>
          <p:nvPr/>
        </p:nvSpPr>
        <p:spPr>
          <a:xfrm>
            <a:off x="1554480" y="2697480"/>
            <a:ext cx="320040" cy="128016"/>
          </a:xfrm>
          <a:prstGeom prst="rect">
            <a:avLst/>
          </a:prstGeom>
          <a:solidFill>
            <a:srgbClr val="7C4DFF"/>
          </a:solidFill>
          <a:ln w="12700">
            <a:solidFill>
              <a:srgbClr val="7C4DFF"/>
            </a:solidFill>
            <a:prstDash val="solid"/>
          </a:ln>
        </p:spPr>
      </p:sp>
      <p:sp>
        <p:nvSpPr>
          <p:cNvPr id="22" name="Text 18"/>
          <p:cNvSpPr txBox="1"/>
          <p:nvPr/>
        </p:nvSpPr>
        <p:spPr>
          <a:xfrm>
            <a:off x="1554480" y="2697480"/>
            <a:ext cx="320040" cy="128016"/>
          </a:xfrm>
          <a:prstGeom prst="rect">
            <a:avLst/>
          </a:prstGeom>
          <a:noFill/>
          <a:ln/>
        </p:spPr>
        <p:txBody>
          <a:bodyPr wrap="square" lIns="0" tIns="0" rIns="0" bIns="0" rtlCol="0" anchor="ctr"/>
          <a:lstStyle/>
          <a:p>
            <a:pPr algn="ctr" indent="0" marL="0">
              <a:buNone/>
            </a:pPr>
            <a:r>
              <a:rPr lang="en-US" sz="500" dirty="0">
                <a:solidFill>
                  <a:srgbClr val="FFFFFF"/>
                </a:solidFill>
                <a:latin typeface="Calibri" pitchFamily="34" charset="0"/>
                <a:ea typeface="Calibri" pitchFamily="34" charset="-122"/>
                <a:cs typeface="Calibri" pitchFamily="34" charset="-120"/>
              </a:rPr>
              <a:t>hapus</a:t>
            </a:r>
            <a:endParaRPr lang="en-US" sz="500" dirty="0"/>
          </a:p>
        </p:txBody>
      </p:sp>
      <p:sp>
        <p:nvSpPr>
          <p:cNvPr id="23" name="Shape 19"/>
          <p:cNvSpPr/>
          <p:nvPr/>
        </p:nvSpPr>
        <p:spPr>
          <a:xfrm>
            <a:off x="3703320" y="1234440"/>
            <a:ext cx="1280160" cy="2560320"/>
          </a:xfrm>
          <a:prstGeom prst="roundRect">
            <a:avLst>
              <a:gd name="adj" fmla="val 12857"/>
            </a:avLst>
          </a:prstGeom>
          <a:solidFill>
            <a:srgbClr val="1A1A1A"/>
          </a:solidFill>
          <a:ln w="12700">
            <a:solidFill>
              <a:srgbClr val="1A1A1A"/>
            </a:solidFill>
            <a:prstDash val="solid"/>
          </a:ln>
        </p:spPr>
      </p:sp>
      <p:sp>
        <p:nvSpPr>
          <p:cNvPr id="24" name="Shape 20"/>
          <p:cNvSpPr/>
          <p:nvPr/>
        </p:nvSpPr>
        <p:spPr>
          <a:xfrm>
            <a:off x="3794760" y="1325880"/>
            <a:ext cx="1097280" cy="2377440"/>
          </a:xfrm>
          <a:prstGeom prst="roundRect">
            <a:avLst>
              <a:gd name="adj" fmla="val 10000"/>
            </a:avLst>
          </a:prstGeom>
          <a:solidFill>
            <a:srgbClr val="FFFFFF"/>
          </a:solidFill>
          <a:ln w="12700">
            <a:solidFill>
              <a:srgbClr val="FFFFFF"/>
            </a:solidFill>
            <a:prstDash val="solid"/>
          </a:ln>
        </p:spPr>
      </p:sp>
      <p:sp>
        <p:nvSpPr>
          <p:cNvPr id="25" name="Shape 21"/>
          <p:cNvSpPr/>
          <p:nvPr/>
        </p:nvSpPr>
        <p:spPr>
          <a:xfrm>
            <a:off x="3721608" y="1188720"/>
            <a:ext cx="1243584" cy="2651760"/>
          </a:xfrm>
          <a:prstGeom prst="roundRect">
            <a:avLst>
              <a:gd name="adj" fmla="val 8824"/>
            </a:avLst>
          </a:prstGeom>
          <a:solidFill>
            <a:srgbClr val="FFFFFF"/>
          </a:solidFill>
          <a:ln w="19050">
            <a:solidFill>
              <a:srgbClr val="333333"/>
            </a:solidFill>
            <a:prstDash val="solid"/>
          </a:ln>
        </p:spPr>
      </p:sp>
      <p:sp>
        <p:nvSpPr>
          <p:cNvPr id="26" name="Shape 22"/>
          <p:cNvSpPr/>
          <p:nvPr/>
        </p:nvSpPr>
        <p:spPr>
          <a:xfrm>
            <a:off x="3794760" y="1325880"/>
            <a:ext cx="1097280" cy="2377440"/>
          </a:xfrm>
          <a:prstGeom prst="rect">
            <a:avLst/>
          </a:prstGeom>
          <a:solidFill>
            <a:srgbClr val="F3F8F5"/>
          </a:solidFill>
          <a:ln w="12700">
            <a:solidFill>
              <a:srgbClr val="F3F8F5"/>
            </a:solidFill>
            <a:prstDash val="solid"/>
          </a:ln>
        </p:spPr>
      </p:sp>
      <p:sp>
        <p:nvSpPr>
          <p:cNvPr id="27" name="Shape 23"/>
          <p:cNvSpPr/>
          <p:nvPr/>
        </p:nvSpPr>
        <p:spPr>
          <a:xfrm>
            <a:off x="3794760" y="1325880"/>
            <a:ext cx="1097280" cy="347472"/>
          </a:xfrm>
          <a:prstGeom prst="rect">
            <a:avLst/>
          </a:prstGeom>
          <a:solidFill>
            <a:srgbClr val="0F4C3A"/>
          </a:solidFill>
          <a:ln w="12700">
            <a:solidFill>
              <a:srgbClr val="0F4C3A"/>
            </a:solidFill>
            <a:prstDash val="solid"/>
          </a:ln>
        </p:spPr>
      </p:sp>
      <p:sp>
        <p:nvSpPr>
          <p:cNvPr id="28" name="Text 24"/>
          <p:cNvSpPr txBox="1"/>
          <p:nvPr/>
        </p:nvSpPr>
        <p:spPr>
          <a:xfrm>
            <a:off x="3794760" y="1325880"/>
            <a:ext cx="109728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Setoran Harian</a:t>
            </a:r>
            <a:endParaRPr lang="en-US" sz="1000" dirty="0"/>
          </a:p>
        </p:txBody>
      </p:sp>
      <p:sp>
        <p:nvSpPr>
          <p:cNvPr id="29" name="Text 25"/>
          <p:cNvSpPr txBox="1"/>
          <p:nvPr/>
        </p:nvSpPr>
        <p:spPr>
          <a:xfrm>
            <a:off x="3886200" y="1737360"/>
            <a:ext cx="914400" cy="128016"/>
          </a:xfrm>
          <a:prstGeom prst="rect">
            <a:avLst/>
          </a:prstGeom>
          <a:noFill/>
          <a:ln/>
        </p:spPr>
        <p:txBody>
          <a:bodyPr wrap="square" lIns="0" tIns="0" rIns="0" bIns="0" rtlCol="0" anchor="t"/>
          <a:lstStyle/>
          <a:p>
            <a:pPr indent="0" marL="0">
              <a:buNone/>
            </a:pPr>
            <a:r>
              <a:rPr lang="en-US" sz="550" b="1" dirty="0">
                <a:solidFill>
                  <a:srgbClr val="1E2A26"/>
                </a:solidFill>
                <a:latin typeface="Arial" pitchFamily="34" charset="0"/>
                <a:ea typeface="Arial" pitchFamily="34" charset="-122"/>
                <a:cs typeface="Arial" pitchFamily="34" charset="-120"/>
              </a:rPr>
              <a:t>Kode santri (contoh: S001)</a:t>
            </a:r>
            <a:endParaRPr lang="en-US" sz="550" dirty="0"/>
          </a:p>
        </p:txBody>
      </p:sp>
      <p:sp>
        <p:nvSpPr>
          <p:cNvPr id="30" name="Shape 26"/>
          <p:cNvSpPr/>
          <p:nvPr/>
        </p:nvSpPr>
        <p:spPr>
          <a:xfrm>
            <a:off x="3886200" y="1874520"/>
            <a:ext cx="914400" cy="182880"/>
          </a:xfrm>
          <a:prstGeom prst="roundRect">
            <a:avLst>
              <a:gd name="adj" fmla="val 15000"/>
            </a:avLst>
          </a:prstGeom>
          <a:solidFill>
            <a:srgbClr val="FFFFFF"/>
          </a:solidFill>
          <a:ln w="9525">
            <a:solidFill>
              <a:srgbClr val="999999"/>
            </a:solidFill>
            <a:prstDash val="solid"/>
          </a:ln>
        </p:spPr>
      </p:sp>
      <p:sp>
        <p:nvSpPr>
          <p:cNvPr id="31" name="Text 27"/>
          <p:cNvSpPr txBox="1"/>
          <p:nvPr/>
        </p:nvSpPr>
        <p:spPr>
          <a:xfrm>
            <a:off x="3886200" y="2084832"/>
            <a:ext cx="914400" cy="128016"/>
          </a:xfrm>
          <a:prstGeom prst="rect">
            <a:avLst/>
          </a:prstGeom>
          <a:noFill/>
          <a:ln/>
        </p:spPr>
        <p:txBody>
          <a:bodyPr wrap="square" lIns="0" tIns="0" rIns="0" bIns="0" rtlCol="0" anchor="t"/>
          <a:lstStyle/>
          <a:p>
            <a:pPr indent="0" marL="0">
              <a:buNone/>
            </a:pPr>
            <a:r>
              <a:rPr lang="en-US" sz="550" b="1" dirty="0">
                <a:solidFill>
                  <a:srgbClr val="1E2A26"/>
                </a:solidFill>
                <a:latin typeface="Arial" pitchFamily="34" charset="0"/>
                <a:ea typeface="Arial" pitchFamily="34" charset="-122"/>
                <a:cs typeface="Arial" pitchFamily="34" charset="-120"/>
              </a:rPr>
              <a:t>Surat</a:t>
            </a:r>
            <a:endParaRPr lang="en-US" sz="550" dirty="0"/>
          </a:p>
        </p:txBody>
      </p:sp>
      <p:sp>
        <p:nvSpPr>
          <p:cNvPr id="32" name="Shape 28"/>
          <p:cNvSpPr/>
          <p:nvPr/>
        </p:nvSpPr>
        <p:spPr>
          <a:xfrm>
            <a:off x="3886200" y="2221992"/>
            <a:ext cx="914400" cy="182880"/>
          </a:xfrm>
          <a:prstGeom prst="roundRect">
            <a:avLst>
              <a:gd name="adj" fmla="val 15000"/>
            </a:avLst>
          </a:prstGeom>
          <a:solidFill>
            <a:srgbClr val="FFFFFF"/>
          </a:solidFill>
          <a:ln w="9525">
            <a:solidFill>
              <a:srgbClr val="999999"/>
            </a:solidFill>
            <a:prstDash val="solid"/>
          </a:ln>
        </p:spPr>
      </p:sp>
      <p:sp>
        <p:nvSpPr>
          <p:cNvPr id="33" name="Text 29"/>
          <p:cNvSpPr txBox="1"/>
          <p:nvPr/>
        </p:nvSpPr>
        <p:spPr>
          <a:xfrm>
            <a:off x="3886200" y="2432304"/>
            <a:ext cx="914400" cy="128016"/>
          </a:xfrm>
          <a:prstGeom prst="rect">
            <a:avLst/>
          </a:prstGeom>
          <a:noFill/>
          <a:ln/>
        </p:spPr>
        <p:txBody>
          <a:bodyPr wrap="square" lIns="0" tIns="0" rIns="0" bIns="0" rtlCol="0" anchor="t"/>
          <a:lstStyle/>
          <a:p>
            <a:pPr indent="0" marL="0">
              <a:buNone/>
            </a:pPr>
            <a:r>
              <a:rPr lang="en-US" sz="550" b="1" dirty="0">
                <a:solidFill>
                  <a:srgbClr val="1E2A26"/>
                </a:solidFill>
                <a:latin typeface="Arial" pitchFamily="34" charset="0"/>
                <a:ea typeface="Arial" pitchFamily="34" charset="-122"/>
                <a:cs typeface="Arial" pitchFamily="34" charset="-120"/>
              </a:rPr>
              <a:t>Jumlah ayat</a:t>
            </a:r>
            <a:endParaRPr lang="en-US" sz="550" dirty="0"/>
          </a:p>
        </p:txBody>
      </p:sp>
      <p:sp>
        <p:nvSpPr>
          <p:cNvPr id="34" name="Shape 30"/>
          <p:cNvSpPr/>
          <p:nvPr/>
        </p:nvSpPr>
        <p:spPr>
          <a:xfrm>
            <a:off x="3886200" y="2569464"/>
            <a:ext cx="914400" cy="182880"/>
          </a:xfrm>
          <a:prstGeom prst="roundRect">
            <a:avLst>
              <a:gd name="adj" fmla="val 15000"/>
            </a:avLst>
          </a:prstGeom>
          <a:solidFill>
            <a:srgbClr val="FFFFFF"/>
          </a:solidFill>
          <a:ln w="9525">
            <a:solidFill>
              <a:srgbClr val="999999"/>
            </a:solidFill>
            <a:prstDash val="solid"/>
          </a:ln>
        </p:spPr>
      </p:sp>
      <p:sp>
        <p:nvSpPr>
          <p:cNvPr id="35" name="Shape 31"/>
          <p:cNvSpPr/>
          <p:nvPr/>
        </p:nvSpPr>
        <p:spPr>
          <a:xfrm>
            <a:off x="3886200" y="2807208"/>
            <a:ext cx="914400" cy="274320"/>
          </a:xfrm>
          <a:prstGeom prst="roundRect">
            <a:avLst>
              <a:gd name="adj" fmla="val 50000"/>
            </a:avLst>
          </a:prstGeom>
          <a:solidFill>
            <a:srgbClr val="D4A017"/>
          </a:solidFill>
          <a:ln w="12700">
            <a:solidFill>
              <a:srgbClr val="D4A017"/>
            </a:solidFill>
            <a:prstDash val="solid"/>
          </a:ln>
        </p:spPr>
      </p:sp>
      <p:sp>
        <p:nvSpPr>
          <p:cNvPr id="36" name="Text 32"/>
          <p:cNvSpPr txBox="1"/>
          <p:nvPr/>
        </p:nvSpPr>
        <p:spPr>
          <a:xfrm>
            <a:off x="3886200" y="2807208"/>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Simpan Setoran</a:t>
            </a:r>
            <a:endParaRPr lang="en-US" sz="800" dirty="0"/>
          </a:p>
        </p:txBody>
      </p:sp>
      <p:sp>
        <p:nvSpPr>
          <p:cNvPr id="37" name="Text 33"/>
          <p:cNvSpPr txBox="1"/>
          <p:nvPr/>
        </p:nvSpPr>
        <p:spPr>
          <a:xfrm>
            <a:off x="3886200" y="3127248"/>
            <a:ext cx="914400" cy="182880"/>
          </a:xfrm>
          <a:prstGeom prst="rect">
            <a:avLst/>
          </a:prstGeom>
          <a:noFill/>
          <a:ln/>
        </p:spPr>
        <p:txBody>
          <a:bodyPr wrap="square" lIns="0" tIns="0" rIns="0" bIns="0" rtlCol="0" anchor="t"/>
          <a:lstStyle/>
          <a:p>
            <a:pPr algn="ctr" indent="0" marL="0">
              <a:buNone/>
            </a:pPr>
            <a:r>
              <a:rPr lang="en-US" sz="650" b="1" dirty="0">
                <a:solidFill>
                  <a:srgbClr val="1F7A5C"/>
                </a:solidFill>
                <a:latin typeface="Arial" pitchFamily="34" charset="0"/>
                <a:ea typeface="Arial" pitchFamily="34" charset="-122"/>
                <a:cs typeface="Arial" pitchFamily="34" charset="-120"/>
              </a:rPr>
              <a:t>✓ Alhamdulillah, tersimpan!</a:t>
            </a:r>
            <a:endParaRPr lang="en-US" sz="650" dirty="0"/>
          </a:p>
        </p:txBody>
      </p:sp>
      <p:sp>
        <p:nvSpPr>
          <p:cNvPr id="38" name="Text 34"/>
          <p:cNvSpPr txBox="1"/>
          <p:nvPr/>
        </p:nvSpPr>
        <p:spPr>
          <a:xfrm>
            <a:off x="2697480" y="2148840"/>
            <a:ext cx="731520" cy="548640"/>
          </a:xfrm>
          <a:prstGeom prst="rect">
            <a:avLst/>
          </a:prstGeom>
          <a:noFill/>
          <a:ln/>
        </p:spPr>
        <p:txBody>
          <a:bodyPr wrap="square" lIns="0" tIns="0" rIns="0" bIns="0" rtlCol="0" anchor="t"/>
          <a:lstStyle/>
          <a:p>
            <a:pPr algn="ctr" indent="0" marL="0">
              <a:buNone/>
            </a:pPr>
            <a:r>
              <a:rPr lang="en-US" sz="2800" b="1" dirty="0">
                <a:solidFill>
                  <a:srgbClr val="D4A017"/>
                </a:solidFill>
                <a:latin typeface="Calibri" pitchFamily="34" charset="0"/>
                <a:ea typeface="Calibri" pitchFamily="34" charset="-122"/>
                <a:cs typeface="Calibri" pitchFamily="34" charset="-120"/>
              </a:rPr>
              <a:t>⇄</a:t>
            </a:r>
            <a:endParaRPr lang="en-US" sz="2800" dirty="0"/>
          </a:p>
        </p:txBody>
      </p:sp>
      <p:sp>
        <p:nvSpPr>
          <p:cNvPr id="39"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0"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Tukar audit dengan kelompok lain</a:t>
            </a:r>
            <a:endParaRPr lang="en-US" sz="1800" dirty="0"/>
          </a:p>
        </p:txBody>
      </p:sp>
      <p:sp>
        <p:nvSpPr>
          <p:cNvPr id="41"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Kelompok lain mengaudit aplikasimu dengan tabel yang sama. Bandingkan temuan: apa yang tidak kalian lihat?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Rencana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Audit_UIUX_Kel3 -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Audit_UIUX_Kel3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Rencana Perbaikan (Prioritas)</a:t>
            </a:r>
            <a:endParaRPr lang="en-US" sz="1100" dirty="0"/>
          </a:p>
        </p:txBody>
      </p:sp>
      <p:sp>
        <p:nvSpPr>
          <p:cNvPr id="70" name="Text 59"/>
          <p:cNvSpPr txBox="1"/>
          <p:nvPr/>
        </p:nvSpPr>
        <p:spPr>
          <a:xfrm>
            <a:off x="1645920" y="287693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1. Tambah label + contoh isian di setiap kolom</a:t>
            </a:r>
            <a:endParaRPr lang="en-US" sz="750" dirty="0"/>
          </a:p>
        </p:txBody>
      </p:sp>
      <p:sp>
        <p:nvSpPr>
          <p:cNvPr id="71" name="Text 60"/>
          <p:cNvSpPr txBox="1"/>
          <p:nvPr/>
        </p:nvSpPr>
        <p:spPr>
          <a:xfrm>
            <a:off x="1645920" y="3024195"/>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2. Umpan balik: "Menyimpan..." lalu "Tersimpan!"</a:t>
            </a:r>
            <a:endParaRPr lang="en-US" sz="750" dirty="0"/>
          </a:p>
        </p:txBody>
      </p:sp>
      <p:sp>
        <p:nvSpPr>
          <p:cNvPr id="72" name="Text 61"/>
          <p:cNvSpPr txBox="1"/>
          <p:nvPr/>
        </p:nvSpPr>
        <p:spPr>
          <a:xfrm>
            <a:off x="1645920" y="3171451"/>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3. Tombol utama besar (tinggi 44px), satu saja</a:t>
            </a:r>
            <a:endParaRPr lang="en-US" sz="750" dirty="0"/>
          </a:p>
        </p:txBody>
      </p:sp>
      <p:sp>
        <p:nvSpPr>
          <p:cNvPr id="73" name="Text 62"/>
          <p:cNvSpPr txBox="1"/>
          <p:nvPr/>
        </p:nvSpPr>
        <p:spPr>
          <a:xfrm>
            <a:off x="1645920" y="331870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4. Ayat minimal 0, maksimal 300 di HTML</a:t>
            </a:r>
            <a:endParaRPr lang="en-US" sz="750" dirty="0"/>
          </a:p>
        </p:txBody>
      </p:sp>
      <p:sp>
        <p:nvSpPr>
          <p:cNvPr id="74" name="Text 63"/>
          <p:cNvSpPr txBox="1"/>
          <p:nvPr/>
        </p:nvSpPr>
        <p:spPr>
          <a:xfrm>
            <a:off x="1645920" y="3465964"/>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5. Satu istilah: "Simpan" di semua tombol</a:t>
            </a:r>
            <a:endParaRPr lang="en-US" sz="750" dirty="0"/>
          </a:p>
        </p:txBody>
      </p:sp>
      <p:sp>
        <p:nvSpPr>
          <p:cNvPr id="75" name="Shape 64"/>
          <p:cNvSpPr/>
          <p:nvPr/>
        </p:nvSpPr>
        <p:spPr>
          <a:xfrm>
            <a:off x="1527048" y="2849506"/>
            <a:ext cx="3072384" cy="782003"/>
          </a:xfrm>
          <a:prstGeom prst="roundRect">
            <a:avLst>
              <a:gd name="adj" fmla="val 5847"/>
            </a:avLst>
          </a:prstGeom>
          <a:solidFill>
            <a:srgbClr val="FFFFFF">
              <a:alpha val="0"/>
            </a:srgbClr>
          </a:solidFill>
          <a:ln w="31750">
            <a:solidFill>
              <a:srgbClr val="E53935"/>
            </a:solidFill>
            <a:prstDash val="solid"/>
          </a:ln>
        </p:spPr>
      </p:sp>
      <p:sp>
        <p:nvSpPr>
          <p:cNvPr id="76" name="Shape 65"/>
          <p:cNvSpPr/>
          <p:nvPr/>
        </p:nvSpPr>
        <p:spPr>
          <a:xfrm>
            <a:off x="4462272" y="2712346"/>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78" name="Image 9" descr="preencoded.png">    </p:cNvPr>
          <p:cNvPicPr>
            <a:picLocks noChangeAspect="1"/>
          </p:cNvPicPr>
          <p:nvPr/>
        </p:nvPicPr>
        <p:blipFill>
          <a:blip r:embed="rId10"/>
          <a:stretch>
            <a:fillRect/>
          </a:stretch>
        </p:blipFill>
        <p:spPr>
          <a:xfrm>
            <a:off x="3214116" y="3276864"/>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Susun daftar perbaikan berprioritas</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Gabungkan temuan sendiri dan kelompok lain. Urutkan: paling mengganggu pengguna di atas. Pilih 5 perbaikan.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28</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Dokumen Audit_UIUX kelompok berisi: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Tangkapan layar kondisi SEBELUM.</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Catatan think aloud pengguna baru.</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Tabel audit 5 prinsip dari kelompok sendiri dan kelompok lain.</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Rencana 5 perbaikan berprioritas.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membedakan UI dan UX</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menyebut 5 prinsip</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Audit 5 prinsip terisi</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Minimal 5 temuan perbaikan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Prinsip mana yang paling kurang di aplikasimu?</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pembuat aplikasi sering tidak melihat kekurangannya sendiri?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Memudahkan orang lain adalah akhlak mulia. Aplikasi yang mudah dipakai adalah bentuk kepedulian kepada pengguna.</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Memperbaiki tampilan: hierarki, kontras, ukuran sentuh, umpan balik.</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29</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Memperbaiki Tampilan</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Hierarki, kontras, ukuran sentuh, umpan balik</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10: UI/UX Dasar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Mengapa tulisan abu-abu muda di latar putih sulit dibaca, terutama di bawah sinar matahari?</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29</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Menerapkan hierarki visual dan kontras yang cukup</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tombol dan kolom ramah sentuhan di HP</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Menambahkan umpan balik dan pencegahan kesalahan</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Teknik Memperbaiki Tampilan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Hierarki</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Yang terpenting paling besar/tebal: judul → label → isi → keterangan.</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Kontras</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Tulisan gelap di latar terang (atau sebaliknya). Hindari abu-abu muda.</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Ukuran Sentuh</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Tombol dan kolom minimal ±44px tinggi; jarak antartombol cukup.</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Umpan Balik</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"Menyimpan...", tombol nonaktif sementara, lalu "Tersimpan!"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CSS Variabel: Kunci Konsistensi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754880" cy="2743200"/>
          </a:xfrm>
          <a:prstGeom prst="roundRect">
            <a:avLst>
              <a:gd name="adj" fmla="val 2000"/>
            </a:avLst>
          </a:prstGeom>
          <a:solidFill>
            <a:srgbClr val="FFFFFF"/>
          </a:solidFill>
          <a:ln w="12700">
            <a:solidFill>
              <a:srgbClr val="BBBBBB"/>
            </a:solidFill>
            <a:prstDash val="solid"/>
          </a:ln>
        </p:spPr>
      </p:sp>
      <p:sp>
        <p:nvSpPr>
          <p:cNvPr id="10" name="Text 6"/>
          <p:cNvSpPr txBox="1"/>
          <p:nvPr/>
        </p:nvSpPr>
        <p:spPr>
          <a:xfrm>
            <a:off x="594360" y="1170432"/>
            <a:ext cx="4572000" cy="274320"/>
          </a:xfrm>
          <a:prstGeom prst="rect">
            <a:avLst/>
          </a:prstGeom>
          <a:noFill/>
          <a:ln/>
        </p:spPr>
        <p:txBody>
          <a:bodyPr wrap="square" lIns="0" tIns="0" rIns="0" bIns="0" rtlCol="0" anchor="t"/>
          <a:lstStyle/>
          <a:p>
            <a:pPr indent="0" marL="0">
              <a:buNone/>
            </a:pPr>
            <a:r>
              <a:rPr lang="en-US" sz="1200" dirty="0">
                <a:solidFill>
                  <a:srgbClr val="222222"/>
                </a:solidFill>
                <a:latin typeface="Courier New" pitchFamily="34" charset="0"/>
                <a:ea typeface="Courier New" pitchFamily="34" charset="-122"/>
                <a:cs typeface="Courier New" pitchFamily="34" charset="-120"/>
              </a:rPr>
              <a:t>:root {</a:t>
            </a:r>
            <a:endParaRPr lang="en-US" sz="1200" dirty="0"/>
          </a:p>
        </p:txBody>
      </p:sp>
      <p:sp>
        <p:nvSpPr>
          <p:cNvPr id="11" name="Text 7"/>
          <p:cNvSpPr txBox="1"/>
          <p:nvPr/>
        </p:nvSpPr>
        <p:spPr>
          <a:xfrm>
            <a:off x="594360" y="1453896"/>
            <a:ext cx="4572000" cy="274320"/>
          </a:xfrm>
          <a:prstGeom prst="rect">
            <a:avLst/>
          </a:prstGeom>
          <a:noFill/>
          <a:ln/>
        </p:spPr>
        <p:txBody>
          <a:bodyPr wrap="square" lIns="0" tIns="0" rIns="0" bIns="0" rtlCol="0" anchor="t"/>
          <a:lstStyle/>
          <a:p>
            <a:pPr indent="0" marL="0">
              <a:buNone/>
            </a:pPr>
            <a:r>
              <a:rPr lang="en-US" sz="1200" dirty="0">
                <a:solidFill>
                  <a:srgbClr val="1F7A5C"/>
                </a:solidFill>
                <a:latin typeface="Courier New" pitchFamily="34" charset="0"/>
                <a:ea typeface="Courier New" pitchFamily="34" charset="-122"/>
                <a:cs typeface="Courier New" pitchFamily="34" charset="-120"/>
              </a:rPr>
              <a:t>  --hijau: #0F4C3A;</a:t>
            </a:r>
            <a:endParaRPr lang="en-US" sz="1200" dirty="0"/>
          </a:p>
        </p:txBody>
      </p:sp>
      <p:sp>
        <p:nvSpPr>
          <p:cNvPr id="12" name="Text 8"/>
          <p:cNvSpPr txBox="1"/>
          <p:nvPr/>
        </p:nvSpPr>
        <p:spPr>
          <a:xfrm>
            <a:off x="594360" y="1737360"/>
            <a:ext cx="4572000" cy="274320"/>
          </a:xfrm>
          <a:prstGeom prst="rect">
            <a:avLst/>
          </a:prstGeom>
          <a:noFill/>
          <a:ln/>
        </p:spPr>
        <p:txBody>
          <a:bodyPr wrap="square" lIns="0" tIns="0" rIns="0" bIns="0" rtlCol="0" anchor="t"/>
          <a:lstStyle/>
          <a:p>
            <a:pPr indent="0" marL="0">
              <a:buNone/>
            </a:pPr>
            <a:r>
              <a:rPr lang="en-US" sz="1200" dirty="0">
                <a:solidFill>
                  <a:srgbClr val="1F7A5C"/>
                </a:solidFill>
                <a:latin typeface="Courier New" pitchFamily="34" charset="0"/>
                <a:ea typeface="Courier New" pitchFamily="34" charset="-122"/>
                <a:cs typeface="Courier New" pitchFamily="34" charset="-120"/>
              </a:rPr>
              <a:t>  --emas: #D4A017;</a:t>
            </a:r>
            <a:endParaRPr lang="en-US" sz="1200" dirty="0"/>
          </a:p>
        </p:txBody>
      </p:sp>
      <p:sp>
        <p:nvSpPr>
          <p:cNvPr id="13" name="Text 9"/>
          <p:cNvSpPr txBox="1"/>
          <p:nvPr/>
        </p:nvSpPr>
        <p:spPr>
          <a:xfrm>
            <a:off x="594360" y="2020824"/>
            <a:ext cx="4572000" cy="274320"/>
          </a:xfrm>
          <a:prstGeom prst="rect">
            <a:avLst/>
          </a:prstGeom>
          <a:noFill/>
          <a:ln/>
        </p:spPr>
        <p:txBody>
          <a:bodyPr wrap="square" lIns="0" tIns="0" rIns="0" bIns="0" rtlCol="0" anchor="t"/>
          <a:lstStyle/>
          <a:p>
            <a:pPr indent="0" marL="0">
              <a:buNone/>
            </a:pPr>
            <a:r>
              <a:rPr lang="en-US" sz="1200" dirty="0">
                <a:solidFill>
                  <a:srgbClr val="1F7A5C"/>
                </a:solidFill>
                <a:latin typeface="Courier New" pitchFamily="34" charset="0"/>
                <a:ea typeface="Courier New" pitchFamily="34" charset="-122"/>
                <a:cs typeface="Courier New" pitchFamily="34" charset="-120"/>
              </a:rPr>
              <a:t>  --teks: #222222;</a:t>
            </a:r>
            <a:endParaRPr lang="en-US" sz="1200" dirty="0"/>
          </a:p>
        </p:txBody>
      </p:sp>
      <p:sp>
        <p:nvSpPr>
          <p:cNvPr id="14" name="Text 10"/>
          <p:cNvSpPr txBox="1"/>
          <p:nvPr/>
        </p:nvSpPr>
        <p:spPr>
          <a:xfrm>
            <a:off x="594360" y="2304288"/>
            <a:ext cx="4572000" cy="274320"/>
          </a:xfrm>
          <a:prstGeom prst="rect">
            <a:avLst/>
          </a:prstGeom>
          <a:noFill/>
          <a:ln/>
        </p:spPr>
        <p:txBody>
          <a:bodyPr wrap="square" lIns="0" tIns="0" rIns="0" bIns="0" rtlCol="0" anchor="t"/>
          <a:lstStyle/>
          <a:p>
            <a:pPr indent="0" marL="0">
              <a:buNone/>
            </a:pPr>
            <a:r>
              <a:rPr lang="en-US" sz="1200" dirty="0">
                <a:solidFill>
                  <a:srgbClr val="222222"/>
                </a:solidFill>
                <a:latin typeface="Courier New" pitchFamily="34" charset="0"/>
                <a:ea typeface="Courier New" pitchFamily="34" charset="-122"/>
                <a:cs typeface="Courier New" pitchFamily="34" charset="-120"/>
              </a:rPr>
              <a:t>}</a:t>
            </a:r>
            <a:endParaRPr lang="en-US" sz="1200" dirty="0"/>
          </a:p>
        </p:txBody>
      </p:sp>
      <p:sp>
        <p:nvSpPr>
          <p:cNvPr id="15" name="Text 11"/>
          <p:cNvSpPr txBox="1"/>
          <p:nvPr/>
        </p:nvSpPr>
        <p:spPr>
          <a:xfrm>
            <a:off x="594360" y="2587752"/>
            <a:ext cx="4572000" cy="274320"/>
          </a:xfrm>
          <a:prstGeom prst="rect">
            <a:avLst/>
          </a:prstGeom>
          <a:noFill/>
          <a:ln/>
        </p:spPr>
        <p:txBody>
          <a:bodyPr wrap="square" lIns="0" tIns="0" rIns="0" bIns="0" rtlCol="0" anchor="t"/>
          <a:lstStyle/>
          <a:p>
            <a:pPr indent="0" marL="0">
              <a:buNone/>
            </a:pPr>
            <a:r>
              <a:rPr lang="en-US" sz="1200" dirty="0">
                <a:solidFill>
                  <a:srgbClr val="222222"/>
                </a:solidFill>
                <a:latin typeface="Courier New" pitchFamily="34" charset="0"/>
                <a:ea typeface="Courier New" pitchFamily="34" charset="-122"/>
                <a:cs typeface="Courier New" pitchFamily="34" charset="-120"/>
              </a:rPr>
              <a:t>button {</a:t>
            </a:r>
            <a:endParaRPr lang="en-US" sz="1200" dirty="0"/>
          </a:p>
        </p:txBody>
      </p:sp>
      <p:sp>
        <p:nvSpPr>
          <p:cNvPr id="16" name="Text 12"/>
          <p:cNvSpPr txBox="1"/>
          <p:nvPr/>
        </p:nvSpPr>
        <p:spPr>
          <a:xfrm>
            <a:off x="594360" y="2871216"/>
            <a:ext cx="4572000" cy="274320"/>
          </a:xfrm>
          <a:prstGeom prst="rect">
            <a:avLst/>
          </a:prstGeom>
          <a:noFill/>
          <a:ln/>
        </p:spPr>
        <p:txBody>
          <a:bodyPr wrap="square" lIns="0" tIns="0" rIns="0" bIns="0" rtlCol="0" anchor="t"/>
          <a:lstStyle/>
          <a:p>
            <a:pPr indent="0" marL="0">
              <a:buNone/>
            </a:pPr>
            <a:r>
              <a:rPr lang="en-US" sz="1200" b="1" dirty="0">
                <a:solidFill>
                  <a:srgbClr val="1F7A5C"/>
                </a:solidFill>
                <a:latin typeface="Courier New" pitchFamily="34" charset="0"/>
                <a:ea typeface="Courier New" pitchFamily="34" charset="-122"/>
                <a:cs typeface="Courier New" pitchFamily="34" charset="-120"/>
              </a:rPr>
              <a:t>  background: var(--emas);</a:t>
            </a:r>
            <a:endParaRPr lang="en-US" sz="1200" dirty="0"/>
          </a:p>
        </p:txBody>
      </p:sp>
      <p:sp>
        <p:nvSpPr>
          <p:cNvPr id="17" name="Text 13"/>
          <p:cNvSpPr txBox="1"/>
          <p:nvPr/>
        </p:nvSpPr>
        <p:spPr>
          <a:xfrm>
            <a:off x="594360" y="3154680"/>
            <a:ext cx="4572000" cy="274320"/>
          </a:xfrm>
          <a:prstGeom prst="rect">
            <a:avLst/>
          </a:prstGeom>
          <a:noFill/>
          <a:ln/>
        </p:spPr>
        <p:txBody>
          <a:bodyPr wrap="square" lIns="0" tIns="0" rIns="0" bIns="0" rtlCol="0" anchor="t"/>
          <a:lstStyle/>
          <a:p>
            <a:pPr indent="0" marL="0">
              <a:buNone/>
            </a:pPr>
            <a:r>
              <a:rPr lang="en-US" sz="1200" dirty="0">
                <a:solidFill>
                  <a:srgbClr val="222222"/>
                </a:solidFill>
                <a:latin typeface="Courier New" pitchFamily="34" charset="0"/>
                <a:ea typeface="Courier New" pitchFamily="34" charset="-122"/>
                <a:cs typeface="Courier New" pitchFamily="34" charset="-120"/>
              </a:rPr>
              <a:t>  min-height: 44px;</a:t>
            </a:r>
            <a:endParaRPr lang="en-US" sz="1200" dirty="0"/>
          </a:p>
        </p:txBody>
      </p:sp>
      <p:sp>
        <p:nvSpPr>
          <p:cNvPr id="18" name="Text 14"/>
          <p:cNvSpPr txBox="1"/>
          <p:nvPr/>
        </p:nvSpPr>
        <p:spPr>
          <a:xfrm>
            <a:off x="594360" y="3438144"/>
            <a:ext cx="4572000" cy="274320"/>
          </a:xfrm>
          <a:prstGeom prst="rect">
            <a:avLst/>
          </a:prstGeom>
          <a:noFill/>
          <a:ln/>
        </p:spPr>
        <p:txBody>
          <a:bodyPr wrap="square" lIns="0" tIns="0" rIns="0" bIns="0" rtlCol="0" anchor="t"/>
          <a:lstStyle/>
          <a:p>
            <a:pPr indent="0" marL="0">
              <a:buNone/>
            </a:pPr>
            <a:r>
              <a:rPr lang="en-US" sz="1200" dirty="0">
                <a:solidFill>
                  <a:srgbClr val="222222"/>
                </a:solidFill>
                <a:latin typeface="Courier New" pitchFamily="34" charset="0"/>
                <a:ea typeface="Courier New" pitchFamily="34" charset="-122"/>
                <a:cs typeface="Courier New" pitchFamily="34" charset="-120"/>
              </a:rPr>
              <a:t>}</a:t>
            </a:r>
            <a:endParaRPr lang="en-US" sz="1200" dirty="0"/>
          </a:p>
        </p:txBody>
      </p:sp>
      <p:sp>
        <p:nvSpPr>
          <p:cNvPr id="19" name="Shape 15"/>
          <p:cNvSpPr/>
          <p:nvPr/>
        </p:nvSpPr>
        <p:spPr>
          <a:xfrm>
            <a:off x="5440680" y="1097280"/>
            <a:ext cx="3246120" cy="2743200"/>
          </a:xfrm>
          <a:prstGeom prst="roundRect">
            <a:avLst>
              <a:gd name="adj" fmla="val 3333"/>
            </a:avLst>
          </a:prstGeom>
          <a:solidFill>
            <a:srgbClr val="E6F2EC"/>
          </a:solidFill>
          <a:ln w="12700">
            <a:solidFill>
              <a:srgbClr val="E6F2EC"/>
            </a:solidFill>
            <a:prstDash val="solid"/>
          </a:ln>
        </p:spPr>
      </p:sp>
      <p:sp>
        <p:nvSpPr>
          <p:cNvPr id="20" name="Text 16"/>
          <p:cNvSpPr txBox="1"/>
          <p:nvPr/>
        </p:nvSpPr>
        <p:spPr>
          <a:xfrm>
            <a:off x="5577840" y="1188720"/>
            <a:ext cx="3017520" cy="365760"/>
          </a:xfrm>
          <a:prstGeom prst="rect">
            <a:avLst/>
          </a:prstGeom>
          <a:noFill/>
          <a:ln/>
        </p:spPr>
        <p:txBody>
          <a:bodyPr wrap="square" lIns="0" tIns="0" rIns="0" bIns="0" rtlCol="0" anchor="t"/>
          <a:lstStyle/>
          <a:p>
            <a:pPr indent="0" marL="0">
              <a:buNone/>
            </a:pPr>
            <a:r>
              <a:rPr lang="en-US" sz="1500" b="1" dirty="0">
                <a:solidFill>
                  <a:srgbClr val="0F4C3A"/>
                </a:solidFill>
                <a:latin typeface="Cambria" pitchFamily="34" charset="0"/>
                <a:ea typeface="Cambria" pitchFamily="34" charset="-122"/>
                <a:cs typeface="Cambria" pitchFamily="34" charset="-120"/>
              </a:rPr>
              <a:t>Mengapa?</a:t>
            </a:r>
            <a:endParaRPr lang="en-US" sz="1500" dirty="0"/>
          </a:p>
        </p:txBody>
      </p:sp>
      <p:sp>
        <p:nvSpPr>
          <p:cNvPr id="21" name="Text 17"/>
          <p:cNvSpPr txBox="1"/>
          <p:nvPr/>
        </p:nvSpPr>
        <p:spPr>
          <a:xfrm>
            <a:off x="5577840" y="1600200"/>
            <a:ext cx="3017520" cy="210312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Warna ditulis SEKALI di :root, lalu dipakai di mana saja dengan var(). Ingin ganti warna? Cukup ubah satu baris, seluruh aplikasi ikut berubah.</a:t>
            </a:r>
            <a:endParaRPr lang="en-US" sz="1300" dirty="0"/>
          </a:p>
        </p:txBody>
      </p:sp>
      <p:sp>
        <p:nvSpPr>
          <p:cNvPr id="22" name="Shape 18"/>
          <p:cNvSpPr/>
          <p:nvPr/>
        </p:nvSpPr>
        <p:spPr>
          <a:xfrm>
            <a:off x="457200" y="4023360"/>
            <a:ext cx="8229600" cy="548640"/>
          </a:xfrm>
          <a:prstGeom prst="roundRect">
            <a:avLst>
              <a:gd name="adj" fmla="val 16667"/>
            </a:avLst>
          </a:prstGeom>
          <a:solidFill>
            <a:srgbClr val="FBF1D3"/>
          </a:solidFill>
          <a:ln w="12700">
            <a:solidFill>
              <a:srgbClr val="FBF1D3"/>
            </a:solidFill>
            <a:prstDash val="solid"/>
          </a:ln>
        </p:spPr>
      </p:sp>
      <p:sp>
        <p:nvSpPr>
          <p:cNvPr id="23" name="Text 19"/>
          <p:cNvSpPr txBox="1"/>
          <p:nvPr/>
        </p:nvSpPr>
        <p:spPr>
          <a:xfrm>
            <a:off x="640080" y="4023360"/>
            <a:ext cx="7863840" cy="548640"/>
          </a:xfrm>
          <a:prstGeom prst="rect">
            <a:avLst/>
          </a:prstGeom>
          <a:noFill/>
          <a:ln/>
        </p:spPr>
        <p:txBody>
          <a:bodyPr wrap="square" lIns="0" tIns="0" rIns="0" bIns="0" rtlCol="0" anchor="ctr"/>
          <a:lstStyle/>
          <a:p>
            <a:pPr indent="0" marL="0">
              <a:buNone/>
            </a:pPr>
            <a:r>
              <a:rPr lang="en-US" sz="1350" b="1" dirty="0">
                <a:solidFill>
                  <a:srgbClr val="0F4C3A"/>
                </a:solidFill>
                <a:latin typeface="Calibri" pitchFamily="34" charset="0"/>
                <a:ea typeface="Calibri" pitchFamily="34" charset="-122"/>
                <a:cs typeface="Calibri" pitchFamily="34" charset="-120"/>
              </a:rPr>
              <a:t>Sama seperti tabel Santri di database: satu sumber, dipakai berkali-kali.</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Menerapkan Perbaikan</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CSS variabel dan kontras</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Label dan ukuran sentuh</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Umpan balik dan cegah kesalahan</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Warna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pPr indent="0" marL="0">
              <a:buNone/>
            </a:pPr>
            <a:r>
              <a:rPr lang="en-US" sz="900" dirty="0">
                <a:solidFill>
                  <a:srgbClr val="1A5FB4"/>
                </a:solidFill>
                <a:latin typeface="Courier New" pitchFamily="34" charset="0"/>
                <a:ea typeface="Courier New" pitchFamily="34" charset="-122"/>
                <a:cs typeface="Courier New" pitchFamily="34" charset="-120"/>
              </a:rPr>
              <a:t>&lt;style&gt;</a:t>
            </a:r>
            <a:endParaRPr lang="en-US" sz="900" dirty="0"/>
          </a:p>
        </p:txBody>
      </p:sp>
      <p:sp>
        <p:nvSpPr>
          <p:cNvPr id="27" name="Shape 23"/>
          <p:cNvSpPr/>
          <p:nvPr/>
        </p:nvSpPr>
        <p:spPr>
          <a:xfrm>
            <a:off x="913668" y="1835288"/>
            <a:ext cx="4555175" cy="173736"/>
          </a:xfrm>
          <a:prstGeom prst="rect">
            <a:avLst/>
          </a:prstGeom>
          <a:solidFill>
            <a:srgbClr val="FFF59D"/>
          </a:solidFill>
          <a:ln w="12700">
            <a:solidFill>
              <a:srgbClr val="FFF59D"/>
            </a:solidFill>
            <a:prstDash val="solid"/>
          </a:ln>
        </p:spPr>
      </p:sp>
      <p:sp>
        <p:nvSpPr>
          <p:cNvPr id="28" name="Text 24"/>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9" name="Text 25"/>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:root {</a:t>
            </a:r>
            <a:endParaRPr lang="en-US" sz="900" dirty="0"/>
          </a:p>
        </p:txBody>
      </p:sp>
      <p:sp>
        <p:nvSpPr>
          <p:cNvPr id="30" name="Shape 26"/>
          <p:cNvSpPr/>
          <p:nvPr/>
        </p:nvSpPr>
        <p:spPr>
          <a:xfrm>
            <a:off x="913668" y="2009024"/>
            <a:ext cx="4555175" cy="173736"/>
          </a:xfrm>
          <a:prstGeom prst="rect">
            <a:avLst/>
          </a:prstGeom>
          <a:solidFill>
            <a:srgbClr val="FFF59D"/>
          </a:solidFill>
          <a:ln w="12700">
            <a:solidFill>
              <a:srgbClr val="FFF59D"/>
            </a:solidFill>
            <a:prstDash val="solid"/>
          </a:ln>
        </p:spPr>
      </p:sp>
      <p:sp>
        <p:nvSpPr>
          <p:cNvPr id="31" name="Text 27"/>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2" name="Text 28"/>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--hijau: #0F4C3A;</a:t>
            </a:r>
            <a:endParaRPr lang="en-US" sz="900" dirty="0"/>
          </a:p>
        </p:txBody>
      </p:sp>
      <p:sp>
        <p:nvSpPr>
          <p:cNvPr id="33" name="Shape 29"/>
          <p:cNvSpPr/>
          <p:nvPr/>
        </p:nvSpPr>
        <p:spPr>
          <a:xfrm>
            <a:off x="913668" y="2182760"/>
            <a:ext cx="4555175" cy="173736"/>
          </a:xfrm>
          <a:prstGeom prst="rect">
            <a:avLst/>
          </a:prstGeom>
          <a:solidFill>
            <a:srgbClr val="FFF59D"/>
          </a:solidFill>
          <a:ln w="12700">
            <a:solidFill>
              <a:srgbClr val="FFF59D"/>
            </a:solidFill>
            <a:prstDash val="solid"/>
          </a:ln>
        </p:spPr>
      </p:sp>
      <p:sp>
        <p:nvSpPr>
          <p:cNvPr id="34" name="Text 30"/>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5" name="Text 31"/>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--emas: #D4A017;</a:t>
            </a:r>
            <a:endParaRPr lang="en-US" sz="900" dirty="0"/>
          </a:p>
        </p:txBody>
      </p:sp>
      <p:sp>
        <p:nvSpPr>
          <p:cNvPr id="36" name="Shape 32"/>
          <p:cNvSpPr/>
          <p:nvPr/>
        </p:nvSpPr>
        <p:spPr>
          <a:xfrm>
            <a:off x="913668" y="2356496"/>
            <a:ext cx="4555175" cy="173736"/>
          </a:xfrm>
          <a:prstGeom prst="rect">
            <a:avLst/>
          </a:prstGeom>
          <a:solidFill>
            <a:srgbClr val="FFF59D"/>
          </a:solidFill>
          <a:ln w="12700">
            <a:solidFill>
              <a:srgbClr val="FFF59D"/>
            </a:solidFill>
            <a:prstDash val="solid"/>
          </a:ln>
        </p:spPr>
      </p:sp>
      <p:sp>
        <p:nvSpPr>
          <p:cNvPr id="37" name="Text 33"/>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8" name="Text 34"/>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--teks: #222222;</a:t>
            </a:r>
            <a:endParaRPr lang="en-US" sz="900" dirty="0"/>
          </a:p>
        </p:txBody>
      </p:sp>
      <p:sp>
        <p:nvSpPr>
          <p:cNvPr id="39" name="Shape 35"/>
          <p:cNvSpPr/>
          <p:nvPr/>
        </p:nvSpPr>
        <p:spPr>
          <a:xfrm>
            <a:off x="913668" y="2530232"/>
            <a:ext cx="4555175" cy="173736"/>
          </a:xfrm>
          <a:prstGeom prst="rect">
            <a:avLst/>
          </a:prstGeom>
          <a:solidFill>
            <a:srgbClr val="FFF59D"/>
          </a:solidFill>
          <a:ln w="12700">
            <a:solidFill>
              <a:srgbClr val="FFF59D"/>
            </a:solidFill>
            <a:prstDash val="solid"/>
          </a:ln>
        </p:spPr>
      </p:sp>
      <p:sp>
        <p:nvSpPr>
          <p:cNvPr id="40" name="Text 36"/>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41" name="Text 37"/>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--latar: #F3F8F5;</a:t>
            </a:r>
            <a:endParaRPr lang="en-US" sz="900" dirty="0"/>
          </a:p>
        </p:txBody>
      </p:sp>
      <p:sp>
        <p:nvSpPr>
          <p:cNvPr id="42" name="Shape 38"/>
          <p:cNvSpPr/>
          <p:nvPr/>
        </p:nvSpPr>
        <p:spPr>
          <a:xfrm>
            <a:off x="913668" y="2703968"/>
            <a:ext cx="4555175" cy="173736"/>
          </a:xfrm>
          <a:prstGeom prst="rect">
            <a:avLst/>
          </a:prstGeom>
          <a:solidFill>
            <a:srgbClr val="FFF59D"/>
          </a:solidFill>
          <a:ln w="12700">
            <a:solidFill>
              <a:srgbClr val="FFF59D"/>
            </a:solidFill>
            <a:prstDash val="solid"/>
          </a:ln>
        </p:spPr>
      </p:sp>
      <p:sp>
        <p:nvSpPr>
          <p:cNvPr id="43" name="Text 39"/>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4" name="Text 40"/>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45" name="Text 41"/>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6" name="Text 42"/>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body { background: var(--latar); color: var(--teks); }</a:t>
            </a:r>
            <a:endParaRPr lang="en-US" sz="900" dirty="0"/>
          </a:p>
        </p:txBody>
      </p:sp>
      <p:sp>
        <p:nvSpPr>
          <p:cNvPr id="47" name="Text 43"/>
          <p:cNvSpPr txBox="1"/>
          <p:nvPr/>
        </p:nvSpPr>
        <p:spPr>
          <a:xfrm>
            <a:off x="639348" y="305144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9</a:t>
            </a:r>
            <a:endParaRPr lang="en-US" sz="800" dirty="0"/>
          </a:p>
        </p:txBody>
      </p:sp>
      <p:sp>
        <p:nvSpPr>
          <p:cNvPr id="48" name="Text 44"/>
          <p:cNvSpPr txBox="1"/>
          <p:nvPr/>
        </p:nvSpPr>
        <p:spPr>
          <a:xfrm>
            <a:off x="986820" y="305144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header { background: var(--hijau); color: white; }</a:t>
            </a:r>
            <a:endParaRPr lang="en-US" sz="900" dirty="0"/>
          </a:p>
        </p:txBody>
      </p:sp>
      <p:sp>
        <p:nvSpPr>
          <p:cNvPr id="49" name="Shape 45"/>
          <p:cNvSpPr/>
          <p:nvPr/>
        </p:nvSpPr>
        <p:spPr>
          <a:xfrm>
            <a:off x="913668" y="1817000"/>
            <a:ext cx="4555175" cy="1078992"/>
          </a:xfrm>
          <a:prstGeom prst="roundRect">
            <a:avLst>
              <a:gd name="adj" fmla="val 4237"/>
            </a:avLst>
          </a:prstGeom>
          <a:solidFill>
            <a:srgbClr val="FFFFFF">
              <a:alpha val="0"/>
            </a:srgbClr>
          </a:solidFill>
          <a:ln w="31750">
            <a:solidFill>
              <a:srgbClr val="E53935"/>
            </a:solidFill>
            <a:prstDash val="solid"/>
          </a:ln>
        </p:spPr>
      </p:sp>
      <p:sp>
        <p:nvSpPr>
          <p:cNvPr id="50" name="Shape 46"/>
          <p:cNvSpPr/>
          <p:nvPr/>
        </p:nvSpPr>
        <p:spPr>
          <a:xfrm>
            <a:off x="5331684" y="1679840"/>
            <a:ext cx="274320" cy="274320"/>
          </a:xfrm>
          <a:prstGeom prst="ellipse">
            <a:avLst/>
          </a:prstGeom>
          <a:solidFill>
            <a:srgbClr val="E53935"/>
          </a:solidFill>
          <a:ln w="12700">
            <a:solidFill>
              <a:srgbClr val="FFFFFF"/>
            </a:solidFill>
            <a:prstDash val="solid"/>
          </a:ln>
        </p:spPr>
      </p:sp>
      <p:sp>
        <p:nvSpPr>
          <p:cNvPr id="51" name="Text 47"/>
          <p:cNvSpPr txBox="1"/>
          <p:nvPr/>
        </p:nvSpPr>
        <p:spPr>
          <a:xfrm>
            <a:off x="5331684" y="1679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52" name="Image 2" descr="preencoded.png">    </p:cNvPr>
          <p:cNvPicPr>
            <a:picLocks noChangeAspect="1"/>
          </p:cNvPicPr>
          <p:nvPr/>
        </p:nvPicPr>
        <p:blipFill>
          <a:blip r:embed="rId3"/>
          <a:stretch>
            <a:fillRect/>
          </a:stretch>
        </p:blipFill>
        <p:spPr>
          <a:xfrm>
            <a:off x="3417186" y="2408616"/>
            <a:ext cx="237744" cy="237744"/>
          </a:xfrm>
          <a:prstGeom prst="rect">
            <a:avLst/>
          </a:prstGeom>
        </p:spPr>
      </p:pic>
      <p:sp>
        <p:nvSpPr>
          <p:cNvPr id="53" name="Text 4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4" name="Text 4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Tambahkan CSS variabel di :root</a:t>
            </a:r>
            <a:endParaRPr lang="en-US" sz="1800" dirty="0"/>
          </a:p>
        </p:txBody>
      </p:sp>
      <p:sp>
        <p:nvSpPr>
          <p:cNvPr id="55" name="Text 5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awal &lt;style&gt;, tulis :root dengan --hijau, --emas, --teks, --latar. Ganti warna yang tersebar dengan var(...).</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Warna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Shape 21"/>
          <p:cNvSpPr/>
          <p:nvPr/>
        </p:nvSpPr>
        <p:spPr>
          <a:xfrm>
            <a:off x="913668" y="1661552"/>
            <a:ext cx="4555175" cy="173736"/>
          </a:xfrm>
          <a:prstGeom prst="rect">
            <a:avLst/>
          </a:prstGeom>
          <a:solidFill>
            <a:srgbClr val="FFF59D"/>
          </a:solidFill>
          <a:ln w="12700">
            <a:solidFill>
              <a:srgbClr val="FFF59D"/>
            </a:solidFill>
            <a:prstDash val="solid"/>
          </a:ln>
        </p:spPr>
      </p:sp>
      <p:sp>
        <p:nvSpPr>
          <p:cNvPr id="26" name="Text 22"/>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7" name="Text 23"/>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h1 { font-size: 24px; }</a:t>
            </a:r>
            <a:endParaRPr lang="en-US" sz="900" dirty="0"/>
          </a:p>
        </p:txBody>
      </p:sp>
      <p:sp>
        <p:nvSpPr>
          <p:cNvPr id="28" name="Shape 24"/>
          <p:cNvSpPr/>
          <p:nvPr/>
        </p:nvSpPr>
        <p:spPr>
          <a:xfrm>
            <a:off x="913668" y="1835288"/>
            <a:ext cx="4555175" cy="173736"/>
          </a:xfrm>
          <a:prstGeom prst="rect">
            <a:avLst/>
          </a:prstGeom>
          <a:solidFill>
            <a:srgbClr val="FFF59D"/>
          </a:solidFill>
          <a:ln w="12700">
            <a:solidFill>
              <a:srgbClr val="FFF59D"/>
            </a:solidFill>
            <a:prstDash val="solid"/>
          </a:ln>
        </p:spPr>
      </p:sp>
      <p:sp>
        <p:nvSpPr>
          <p:cNvPr id="29" name="Text 25"/>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30" name="Text 26"/>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label { display: block;</a:t>
            </a:r>
            <a:endParaRPr lang="en-US" sz="900" dirty="0"/>
          </a:p>
        </p:txBody>
      </p:sp>
      <p:sp>
        <p:nvSpPr>
          <p:cNvPr id="31" name="Shape 27"/>
          <p:cNvSpPr/>
          <p:nvPr/>
        </p:nvSpPr>
        <p:spPr>
          <a:xfrm>
            <a:off x="913668" y="2009024"/>
            <a:ext cx="4555175" cy="173736"/>
          </a:xfrm>
          <a:prstGeom prst="rect">
            <a:avLst/>
          </a:prstGeom>
          <a:solidFill>
            <a:srgbClr val="FFF59D"/>
          </a:solidFill>
          <a:ln w="12700">
            <a:solidFill>
              <a:srgbClr val="FFF59D"/>
            </a:solidFill>
            <a:prstDash val="solid"/>
          </a:ln>
        </p:spPr>
      </p:sp>
      <p:sp>
        <p:nvSpPr>
          <p:cNvPr id="32" name="Text 28"/>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3" name="Text 29"/>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font-weight: bold; }</a:t>
            </a:r>
            <a:endParaRPr lang="en-US" sz="900" dirty="0"/>
          </a:p>
        </p:txBody>
      </p:sp>
      <p:sp>
        <p:nvSpPr>
          <p:cNvPr id="34" name="Shape 30"/>
          <p:cNvSpPr/>
          <p:nvPr/>
        </p:nvSpPr>
        <p:spPr>
          <a:xfrm>
            <a:off x="913668" y="2182760"/>
            <a:ext cx="4555175" cy="173736"/>
          </a:xfrm>
          <a:prstGeom prst="rect">
            <a:avLst/>
          </a:prstGeom>
          <a:solidFill>
            <a:srgbClr val="FFF59D"/>
          </a:solidFill>
          <a:ln w="12700">
            <a:solidFill>
              <a:srgbClr val="FFF59D"/>
            </a:solidFill>
            <a:prstDash val="solid"/>
          </a:ln>
        </p:spPr>
      </p:sp>
      <p:sp>
        <p:nvSpPr>
          <p:cNvPr id="35" name="Text 31"/>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6" name="Text 32"/>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.keterangan { font-size: 14px;</a:t>
            </a:r>
            <a:endParaRPr lang="en-US" sz="900" dirty="0"/>
          </a:p>
        </p:txBody>
      </p:sp>
      <p:sp>
        <p:nvSpPr>
          <p:cNvPr id="37" name="Shape 33"/>
          <p:cNvSpPr/>
          <p:nvPr/>
        </p:nvSpPr>
        <p:spPr>
          <a:xfrm>
            <a:off x="913668" y="2356496"/>
            <a:ext cx="4555175" cy="173736"/>
          </a:xfrm>
          <a:prstGeom prst="rect">
            <a:avLst/>
          </a:prstGeom>
          <a:solidFill>
            <a:srgbClr val="FFF59D"/>
          </a:solidFill>
          <a:ln w="12700">
            <a:solidFill>
              <a:srgbClr val="FFF59D"/>
            </a:solidFill>
            <a:prstDash val="solid"/>
          </a:ln>
        </p:spPr>
      </p:sp>
      <p:sp>
        <p:nvSpPr>
          <p:cNvPr id="38" name="Text 34"/>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9" name="Text 35"/>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color: #555555; }</a:t>
            </a:r>
            <a:endParaRPr lang="en-US" sz="900" dirty="0"/>
          </a:p>
        </p:txBody>
      </p:sp>
      <p:sp>
        <p:nvSpPr>
          <p:cNvPr id="40" name="Shape 36"/>
          <p:cNvSpPr/>
          <p:nvPr/>
        </p:nvSpPr>
        <p:spPr>
          <a:xfrm>
            <a:off x="913668" y="2530232"/>
            <a:ext cx="4555175" cy="173736"/>
          </a:xfrm>
          <a:prstGeom prst="rect">
            <a:avLst/>
          </a:prstGeom>
          <a:solidFill>
            <a:srgbClr val="FFF59D"/>
          </a:solidFill>
          <a:ln w="12700">
            <a:solidFill>
              <a:srgbClr val="FFF59D"/>
            </a:solidFill>
            <a:prstDash val="solid"/>
          </a:ln>
        </p:spPr>
      </p:sp>
      <p:sp>
        <p:nvSpPr>
          <p:cNvPr id="41" name="Text 37"/>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42" name="Text 38"/>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dihapus: #CCCCCC (pucat) */</a:t>
            </a:r>
            <a:endParaRPr lang="en-US" sz="900" dirty="0"/>
          </a:p>
        </p:txBody>
      </p:sp>
      <p:sp>
        <p:nvSpPr>
          <p:cNvPr id="43" name="Shape 39"/>
          <p:cNvSpPr/>
          <p:nvPr/>
        </p:nvSpPr>
        <p:spPr>
          <a:xfrm>
            <a:off x="913668" y="1643264"/>
            <a:ext cx="4555175" cy="1078992"/>
          </a:xfrm>
          <a:prstGeom prst="roundRect">
            <a:avLst>
              <a:gd name="adj" fmla="val 4237"/>
            </a:avLst>
          </a:prstGeom>
          <a:solidFill>
            <a:srgbClr val="FFFFFF">
              <a:alpha val="0"/>
            </a:srgbClr>
          </a:solidFill>
          <a:ln w="31750">
            <a:solidFill>
              <a:srgbClr val="E53935"/>
            </a:solidFill>
            <a:prstDash val="solid"/>
          </a:ln>
        </p:spPr>
      </p:sp>
      <p:sp>
        <p:nvSpPr>
          <p:cNvPr id="44" name="Shape 40"/>
          <p:cNvSpPr/>
          <p:nvPr/>
        </p:nvSpPr>
        <p:spPr>
          <a:xfrm>
            <a:off x="5331684" y="1506104"/>
            <a:ext cx="274320" cy="274320"/>
          </a:xfrm>
          <a:prstGeom prst="ellipse">
            <a:avLst/>
          </a:prstGeom>
          <a:solidFill>
            <a:srgbClr val="E53935"/>
          </a:solidFill>
          <a:ln w="12700">
            <a:solidFill>
              <a:srgbClr val="FFFFFF"/>
            </a:solidFill>
            <a:prstDash val="solid"/>
          </a:ln>
        </p:spPr>
      </p:sp>
      <p:sp>
        <p:nvSpPr>
          <p:cNvPr id="45" name="Text 41"/>
          <p:cNvSpPr txBox="1"/>
          <p:nvPr/>
        </p:nvSpPr>
        <p:spPr>
          <a:xfrm>
            <a:off x="5331684" y="15061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46" name="Image 2" descr="preencoded.png">    </p:cNvPr>
          <p:cNvPicPr>
            <a:picLocks noChangeAspect="1"/>
          </p:cNvPicPr>
          <p:nvPr/>
        </p:nvPicPr>
        <p:blipFill>
          <a:blip r:embed="rId3"/>
          <a:stretch>
            <a:fillRect/>
          </a:stretch>
        </p:blipFill>
        <p:spPr>
          <a:xfrm>
            <a:off x="3417186" y="2234880"/>
            <a:ext cx="237744" cy="237744"/>
          </a:xfrm>
          <a:prstGeom prst="rect">
            <a:avLst/>
          </a:prstGeom>
        </p:spPr>
      </p:pic>
      <p:sp>
        <p:nvSpPr>
          <p:cNvPr id="47" name="Text 4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8" name="Text 4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Perbaiki kontras dan hierarki teks</a:t>
            </a:r>
            <a:endParaRPr lang="en-US" sz="1800" dirty="0"/>
          </a:p>
        </p:txBody>
      </p:sp>
      <p:sp>
        <p:nvSpPr>
          <p:cNvPr id="49" name="Text 4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Teks utama gelap (--teks), judul tebal dan besar, keterangan cukup besar (min 14px). Hapus warna pucat.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Kolom &amp; Tombol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Shape 21"/>
          <p:cNvSpPr/>
          <p:nvPr/>
        </p:nvSpPr>
        <p:spPr>
          <a:xfrm>
            <a:off x="913668" y="1661552"/>
            <a:ext cx="4555175" cy="173736"/>
          </a:xfrm>
          <a:prstGeom prst="rect">
            <a:avLst/>
          </a:prstGeom>
          <a:solidFill>
            <a:srgbClr val="FFF59D"/>
          </a:solidFill>
          <a:ln w="12700">
            <a:solidFill>
              <a:srgbClr val="FFF59D"/>
            </a:solidFill>
            <a:prstDash val="solid"/>
          </a:ln>
        </p:spPr>
      </p:sp>
      <p:sp>
        <p:nvSpPr>
          <p:cNvPr id="26" name="Text 22"/>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7" name="Text 23"/>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&lt;label for="kode"&gt;</a:t>
            </a:r>
            <a:pPr indent="0" marL="0">
              <a:buNone/>
            </a:pPr>
            <a:r>
              <a:rPr lang="en-US" sz="900" dirty="0">
                <a:solidFill>
                  <a:srgbClr val="222222"/>
                </a:solidFill>
                <a:latin typeface="Courier New" pitchFamily="34" charset="0"/>
                <a:ea typeface="Courier New" pitchFamily="34" charset="-122"/>
                <a:cs typeface="Courier New" pitchFamily="34" charset="-120"/>
              </a:rPr>
              <a:t>Kode santri</a:t>
            </a:r>
            <a:pPr indent="0" marL="0">
              <a:buNone/>
            </a:pPr>
            <a:r>
              <a:rPr lang="en-US" sz="900" dirty="0">
                <a:solidFill>
                  <a:srgbClr val="1A5FB4"/>
                </a:solidFill>
                <a:latin typeface="Courier New" pitchFamily="34" charset="0"/>
                <a:ea typeface="Courier New" pitchFamily="34" charset="-122"/>
                <a:cs typeface="Courier New" pitchFamily="34" charset="-120"/>
              </a:rPr>
              <a:t>&lt;/label&gt;</a:t>
            </a:r>
            <a:endParaRPr lang="en-US" sz="900" dirty="0"/>
          </a:p>
        </p:txBody>
      </p:sp>
      <p:sp>
        <p:nvSpPr>
          <p:cNvPr id="28" name="Text 24"/>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9" name="Text 25"/>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&lt;input id="kode" name="kode"</a:t>
            </a:r>
            <a:endParaRPr lang="en-US" sz="900" dirty="0"/>
          </a:p>
        </p:txBody>
      </p:sp>
      <p:sp>
        <p:nvSpPr>
          <p:cNvPr id="30" name="Text 26"/>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1" name="Text 27"/>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placeholder="Contoh: S001" required&gt;</a:t>
            </a:r>
            <a:endParaRPr lang="en-US" sz="900" dirty="0"/>
          </a:p>
        </p:txBody>
      </p:sp>
      <p:sp>
        <p:nvSpPr>
          <p:cNvPr id="32" name="Text 28"/>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3" name="Text 29"/>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1E2A26"/>
                </a:solidFill>
                <a:latin typeface="Courier New" pitchFamily="34" charset="0"/>
                <a:ea typeface="Courier New" pitchFamily="34" charset="-122"/>
                <a:cs typeface="Courier New" pitchFamily="34" charset="-120"/>
              </a:rPr>
              <a:t> </a:t>
            </a:r>
            <a:endParaRPr lang="en-US" sz="900" dirty="0"/>
          </a:p>
        </p:txBody>
      </p:sp>
      <p:sp>
        <p:nvSpPr>
          <p:cNvPr id="34" name="Shape 30"/>
          <p:cNvSpPr/>
          <p:nvPr/>
        </p:nvSpPr>
        <p:spPr>
          <a:xfrm>
            <a:off x="913668" y="2356496"/>
            <a:ext cx="4555175" cy="173736"/>
          </a:xfrm>
          <a:prstGeom prst="rect">
            <a:avLst/>
          </a:prstGeom>
          <a:solidFill>
            <a:srgbClr val="FFF59D"/>
          </a:solidFill>
          <a:ln w="12700">
            <a:solidFill>
              <a:srgbClr val="FFF59D"/>
            </a:solidFill>
            <a:prstDash val="solid"/>
          </a:ln>
        </p:spPr>
      </p:sp>
      <p:sp>
        <p:nvSpPr>
          <p:cNvPr id="35" name="Text 31"/>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6" name="Text 32"/>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1A5FB4"/>
                </a:solidFill>
                <a:latin typeface="Courier New" pitchFamily="34" charset="0"/>
                <a:ea typeface="Courier New" pitchFamily="34" charset="-122"/>
                <a:cs typeface="Courier New" pitchFamily="34" charset="-120"/>
              </a:rPr>
              <a:t>&lt;label for="ayat"&gt;</a:t>
            </a:r>
            <a:pPr indent="0" marL="0">
              <a:buNone/>
            </a:pPr>
            <a:r>
              <a:rPr lang="en-US" sz="900" dirty="0">
                <a:solidFill>
                  <a:srgbClr val="222222"/>
                </a:solidFill>
                <a:latin typeface="Courier New" pitchFamily="34" charset="0"/>
                <a:ea typeface="Courier New" pitchFamily="34" charset="-122"/>
                <a:cs typeface="Courier New" pitchFamily="34" charset="-120"/>
              </a:rPr>
              <a:t>Jumlah ayat</a:t>
            </a:r>
            <a:pPr indent="0" marL="0">
              <a:buNone/>
            </a:pPr>
            <a:r>
              <a:rPr lang="en-US" sz="900" dirty="0">
                <a:solidFill>
                  <a:srgbClr val="1A5FB4"/>
                </a:solidFill>
                <a:latin typeface="Courier New" pitchFamily="34" charset="0"/>
                <a:ea typeface="Courier New" pitchFamily="34" charset="-122"/>
                <a:cs typeface="Courier New" pitchFamily="34" charset="-120"/>
              </a:rPr>
              <a:t>&lt;/label&gt;</a:t>
            </a:r>
            <a:endParaRPr lang="en-US" sz="900" dirty="0"/>
          </a:p>
        </p:txBody>
      </p:sp>
      <p:sp>
        <p:nvSpPr>
          <p:cNvPr id="37" name="Text 33"/>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8" name="Text 34"/>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&lt;input id="ayat" name="ayat"</a:t>
            </a:r>
            <a:endParaRPr lang="en-US" sz="900" dirty="0"/>
          </a:p>
        </p:txBody>
      </p:sp>
      <p:sp>
        <p:nvSpPr>
          <p:cNvPr id="39" name="Text 35"/>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0" name="Text 36"/>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type="number" min="0" max="300"</a:t>
            </a:r>
            <a:endParaRPr lang="en-US" sz="900" dirty="0"/>
          </a:p>
        </p:txBody>
      </p:sp>
      <p:sp>
        <p:nvSpPr>
          <p:cNvPr id="41" name="Text 37"/>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2" name="Text 38"/>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placeholder="Contoh: 20" required&gt;</a:t>
            </a:r>
            <a:endParaRPr lang="en-US" sz="900" dirty="0"/>
          </a:p>
        </p:txBody>
      </p:sp>
      <p:sp>
        <p:nvSpPr>
          <p:cNvPr id="43" name="Shape 39"/>
          <p:cNvSpPr/>
          <p:nvPr/>
        </p:nvSpPr>
        <p:spPr>
          <a:xfrm>
            <a:off x="913668" y="1643264"/>
            <a:ext cx="4555175" cy="1426464"/>
          </a:xfrm>
          <a:prstGeom prst="roundRect">
            <a:avLst>
              <a:gd name="adj" fmla="val 3205"/>
            </a:avLst>
          </a:prstGeom>
          <a:solidFill>
            <a:srgbClr val="FFFFFF">
              <a:alpha val="0"/>
            </a:srgbClr>
          </a:solidFill>
          <a:ln w="31750">
            <a:solidFill>
              <a:srgbClr val="E53935"/>
            </a:solidFill>
            <a:prstDash val="solid"/>
          </a:ln>
        </p:spPr>
      </p:sp>
      <p:sp>
        <p:nvSpPr>
          <p:cNvPr id="44" name="Shape 40"/>
          <p:cNvSpPr/>
          <p:nvPr/>
        </p:nvSpPr>
        <p:spPr>
          <a:xfrm>
            <a:off x="5331684" y="1506104"/>
            <a:ext cx="274320" cy="274320"/>
          </a:xfrm>
          <a:prstGeom prst="ellipse">
            <a:avLst/>
          </a:prstGeom>
          <a:solidFill>
            <a:srgbClr val="E53935"/>
          </a:solidFill>
          <a:ln w="12700">
            <a:solidFill>
              <a:srgbClr val="FFFFFF"/>
            </a:solidFill>
            <a:prstDash val="solid"/>
          </a:ln>
        </p:spPr>
      </p:sp>
      <p:sp>
        <p:nvSpPr>
          <p:cNvPr id="45" name="Text 41"/>
          <p:cNvSpPr txBox="1"/>
          <p:nvPr/>
        </p:nvSpPr>
        <p:spPr>
          <a:xfrm>
            <a:off x="5331684" y="15061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6" name="Image 2" descr="preencoded.png">    </p:cNvPr>
          <p:cNvPicPr>
            <a:picLocks noChangeAspect="1"/>
          </p:cNvPicPr>
          <p:nvPr/>
        </p:nvPicPr>
        <p:blipFill>
          <a:blip r:embed="rId3"/>
          <a:stretch>
            <a:fillRect/>
          </a:stretch>
        </p:blipFill>
        <p:spPr>
          <a:xfrm>
            <a:off x="3417186" y="2425990"/>
            <a:ext cx="237744" cy="237744"/>
          </a:xfrm>
          <a:prstGeom prst="rect">
            <a:avLst/>
          </a:prstGeom>
        </p:spPr>
      </p:pic>
      <p:sp>
        <p:nvSpPr>
          <p:cNvPr id="47" name="Text 4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8" name="Text 4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Label dan contoh isian setiap kolom</a:t>
            </a:r>
            <a:endParaRPr lang="en-US" sz="1800" dirty="0"/>
          </a:p>
        </p:txBody>
      </p:sp>
      <p:sp>
        <p:nvSpPr>
          <p:cNvPr id="49" name="Text 4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Tambahkan &lt;label for="..."&gt; di atas setiap input, dan placeholder berisi contoh. Satu istilah yang konsisten.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Kolom &amp; Tombol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input, button {</a:t>
            </a:r>
            <a:endParaRPr lang="en-US" sz="900" dirty="0"/>
          </a:p>
        </p:txBody>
      </p:sp>
      <p:sp>
        <p:nvSpPr>
          <p:cNvPr id="27" name="Shape 23"/>
          <p:cNvSpPr/>
          <p:nvPr/>
        </p:nvSpPr>
        <p:spPr>
          <a:xfrm>
            <a:off x="913668" y="1835288"/>
            <a:ext cx="4555175" cy="173736"/>
          </a:xfrm>
          <a:prstGeom prst="rect">
            <a:avLst/>
          </a:prstGeom>
          <a:solidFill>
            <a:srgbClr val="FFF59D"/>
          </a:solidFill>
          <a:ln w="12700">
            <a:solidFill>
              <a:srgbClr val="FFF59D"/>
            </a:solidFill>
            <a:prstDash val="solid"/>
          </a:ln>
        </p:spPr>
      </p:sp>
      <p:sp>
        <p:nvSpPr>
          <p:cNvPr id="28" name="Text 24"/>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9" name="Text 25"/>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min-height: 44px;</a:t>
            </a:r>
            <a:endParaRPr lang="en-US" sz="900" dirty="0"/>
          </a:p>
        </p:txBody>
      </p:sp>
      <p:sp>
        <p:nvSpPr>
          <p:cNvPr id="30" name="Shape 26"/>
          <p:cNvSpPr/>
          <p:nvPr/>
        </p:nvSpPr>
        <p:spPr>
          <a:xfrm>
            <a:off x="913668" y="2009024"/>
            <a:ext cx="4555175" cy="173736"/>
          </a:xfrm>
          <a:prstGeom prst="rect">
            <a:avLst/>
          </a:prstGeom>
          <a:solidFill>
            <a:srgbClr val="FFF59D"/>
          </a:solidFill>
          <a:ln w="12700">
            <a:solidFill>
              <a:srgbClr val="FFF59D"/>
            </a:solidFill>
            <a:prstDash val="solid"/>
          </a:ln>
        </p:spPr>
      </p:sp>
      <p:sp>
        <p:nvSpPr>
          <p:cNvPr id="31" name="Text 27"/>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2" name="Text 28"/>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font-size: 16px;</a:t>
            </a:r>
            <a:endParaRPr lang="en-US" sz="900" dirty="0"/>
          </a:p>
        </p:txBody>
      </p:sp>
      <p:sp>
        <p:nvSpPr>
          <p:cNvPr id="33" name="Shape 29"/>
          <p:cNvSpPr/>
          <p:nvPr/>
        </p:nvSpPr>
        <p:spPr>
          <a:xfrm>
            <a:off x="913668" y="2182760"/>
            <a:ext cx="4555175" cy="173736"/>
          </a:xfrm>
          <a:prstGeom prst="rect">
            <a:avLst/>
          </a:prstGeom>
          <a:solidFill>
            <a:srgbClr val="FFF59D"/>
          </a:solidFill>
          <a:ln w="12700">
            <a:solidFill>
              <a:srgbClr val="FFF59D"/>
            </a:solidFill>
            <a:prstDash val="solid"/>
          </a:ln>
        </p:spPr>
      </p:sp>
      <p:sp>
        <p:nvSpPr>
          <p:cNvPr id="34" name="Text 30"/>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5" name="Text 31"/>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width: 100%;</a:t>
            </a:r>
            <a:endParaRPr lang="en-US" sz="900" dirty="0"/>
          </a:p>
        </p:txBody>
      </p:sp>
      <p:sp>
        <p:nvSpPr>
          <p:cNvPr id="36" name="Text 32"/>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7" name="Text 33"/>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A0522D"/>
                </a:solidFill>
                <a:latin typeface="Courier New" pitchFamily="34" charset="0"/>
                <a:ea typeface="Courier New" pitchFamily="34" charset="-122"/>
                <a:cs typeface="Courier New" pitchFamily="34" charset="-120"/>
              </a:rPr>
              <a:t>      box-sizing: border-box;</a:t>
            </a:r>
            <a:endParaRPr lang="en-US" sz="900" dirty="0"/>
          </a:p>
        </p:txBody>
      </p:sp>
      <p:sp>
        <p:nvSpPr>
          <p:cNvPr id="38" name="Text 34"/>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39" name="Text 35"/>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t>
            </a:r>
            <a:endParaRPr lang="en-US" sz="900" dirty="0"/>
          </a:p>
        </p:txBody>
      </p:sp>
      <p:sp>
        <p:nvSpPr>
          <p:cNvPr id="40" name="Text 36"/>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1" name="Text 37"/>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button { background: var(--emas); border-radius: 22px; }</a:t>
            </a:r>
            <a:endParaRPr lang="en-US" sz="900" dirty="0"/>
          </a:p>
        </p:txBody>
      </p:sp>
      <p:sp>
        <p:nvSpPr>
          <p:cNvPr id="42" name="Shape 38"/>
          <p:cNvSpPr/>
          <p:nvPr/>
        </p:nvSpPr>
        <p:spPr>
          <a:xfrm>
            <a:off x="913668" y="1643264"/>
            <a:ext cx="4555175" cy="1252728"/>
          </a:xfrm>
          <a:prstGeom prst="roundRect">
            <a:avLst>
              <a:gd name="adj" fmla="val 3650"/>
            </a:avLst>
          </a:prstGeom>
          <a:solidFill>
            <a:srgbClr val="FFFFFF">
              <a:alpha val="0"/>
            </a:srgbClr>
          </a:solidFill>
          <a:ln w="31750">
            <a:solidFill>
              <a:srgbClr val="E53935"/>
            </a:solidFill>
            <a:prstDash val="solid"/>
          </a:ln>
        </p:spPr>
      </p:sp>
      <p:sp>
        <p:nvSpPr>
          <p:cNvPr id="43" name="Shape 39"/>
          <p:cNvSpPr/>
          <p:nvPr/>
        </p:nvSpPr>
        <p:spPr>
          <a:xfrm>
            <a:off x="5331684" y="1506104"/>
            <a:ext cx="274320" cy="274320"/>
          </a:xfrm>
          <a:prstGeom prst="ellipse">
            <a:avLst/>
          </a:prstGeom>
          <a:solidFill>
            <a:srgbClr val="E53935"/>
          </a:solidFill>
          <a:ln w="12700">
            <a:solidFill>
              <a:srgbClr val="FFFFFF"/>
            </a:solidFill>
            <a:prstDash val="solid"/>
          </a:ln>
        </p:spPr>
      </p:sp>
      <p:sp>
        <p:nvSpPr>
          <p:cNvPr id="44" name="Text 40"/>
          <p:cNvSpPr txBox="1"/>
          <p:nvPr/>
        </p:nvSpPr>
        <p:spPr>
          <a:xfrm>
            <a:off x="5331684" y="15061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5" name="Image 2" descr="preencoded.png">    </p:cNvPr>
          <p:cNvPicPr>
            <a:picLocks noChangeAspect="1"/>
          </p:cNvPicPr>
          <p:nvPr/>
        </p:nvPicPr>
        <p:blipFill>
          <a:blip r:embed="rId3"/>
          <a:stretch>
            <a:fillRect/>
          </a:stretch>
        </p:blipFill>
        <p:spPr>
          <a:xfrm>
            <a:off x="3417186" y="2330435"/>
            <a:ext cx="237744" cy="237744"/>
          </a:xfrm>
          <a:prstGeom prst="rect">
            <a:avLst/>
          </a:prstGeom>
        </p:spPr>
      </p:pic>
      <p:sp>
        <p:nvSpPr>
          <p:cNvPr id="46" name="Text 4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7" name="Text 4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Ukuran sentuh: tombol dan kolom besar</a:t>
            </a:r>
            <a:endParaRPr lang="en-US" sz="1800" dirty="0"/>
          </a:p>
        </p:txBody>
      </p:sp>
      <p:sp>
        <p:nvSpPr>
          <p:cNvPr id="48" name="Text 4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input, button { min-height: 44px; font-size: 16px; width: 100%; } Satu tombol utama per layar.</a:t>
            </a:r>
            <a:endParaRPr lang="en-US" sz="1300" dirty="0"/>
          </a:p>
        </p:txBody>
      </p:sp>
      <p:sp>
        <p:nvSpPr>
          <p:cNvPr id="49" name="Shape 44"/>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0" name="Image 3" descr="preencoded.png">    </p:cNvPr>
          <p:cNvPicPr>
            <a:picLocks noChangeAspect="1"/>
          </p:cNvPicPr>
          <p:nvPr/>
        </p:nvPicPr>
        <p:blipFill>
          <a:blip r:embed="rId4"/>
          <a:stretch>
            <a:fillRect/>
          </a:stretch>
        </p:blipFill>
        <p:spPr>
          <a:xfrm>
            <a:off x="6108192" y="3721608"/>
            <a:ext cx="201168" cy="201168"/>
          </a:xfrm>
          <a:prstGeom prst="rect">
            <a:avLst/>
          </a:prstGeom>
        </p:spPr>
      </p:pic>
      <p:sp>
        <p:nvSpPr>
          <p:cNvPr id="51" name="Text 45"/>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font-size 16px mencegah HP memperbesar layar otomatis saat mengetik.</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Umpan Balik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const tombol = ev.target.querySelector('button');</a:t>
            </a:r>
            <a:endParaRPr lang="en-US" sz="900" dirty="0"/>
          </a:p>
        </p:txBody>
      </p:sp>
      <p:sp>
        <p:nvSpPr>
          <p:cNvPr id="27" name="Shape 23"/>
          <p:cNvSpPr/>
          <p:nvPr/>
        </p:nvSpPr>
        <p:spPr>
          <a:xfrm>
            <a:off x="913668" y="1835288"/>
            <a:ext cx="4555175" cy="173736"/>
          </a:xfrm>
          <a:prstGeom prst="rect">
            <a:avLst/>
          </a:prstGeom>
          <a:solidFill>
            <a:srgbClr val="FFF59D"/>
          </a:solidFill>
          <a:ln w="12700">
            <a:solidFill>
              <a:srgbClr val="FFF59D"/>
            </a:solidFill>
            <a:prstDash val="solid"/>
          </a:ln>
        </p:spPr>
      </p:sp>
      <p:sp>
        <p:nvSpPr>
          <p:cNvPr id="28" name="Text 24"/>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9" name="Text 25"/>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tombol.disabled = true; // cegah klik ganda</a:t>
            </a:r>
            <a:endParaRPr lang="en-US" sz="900" dirty="0"/>
          </a:p>
        </p:txBody>
      </p:sp>
      <p:sp>
        <p:nvSpPr>
          <p:cNvPr id="30" name="Shape 26"/>
          <p:cNvSpPr/>
          <p:nvPr/>
        </p:nvSpPr>
        <p:spPr>
          <a:xfrm>
            <a:off x="913668" y="2009024"/>
            <a:ext cx="4555175" cy="173736"/>
          </a:xfrm>
          <a:prstGeom prst="rect">
            <a:avLst/>
          </a:prstGeom>
          <a:solidFill>
            <a:srgbClr val="FFF59D"/>
          </a:solidFill>
          <a:ln w="12700">
            <a:solidFill>
              <a:srgbClr val="FFF59D"/>
            </a:solidFill>
            <a:prstDash val="solid"/>
          </a:ln>
        </p:spPr>
      </p:sp>
      <p:sp>
        <p:nvSpPr>
          <p:cNvPr id="31" name="Text 27"/>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2" name="Text 28"/>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tombol.textContent = 'Menyimpan...';</a:t>
            </a:r>
            <a:endParaRPr lang="en-US" sz="900" dirty="0"/>
          </a:p>
        </p:txBody>
      </p:sp>
      <p:sp>
        <p:nvSpPr>
          <p:cNvPr id="33" name="Text 29"/>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4" name="Text 30"/>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await fetch(URL_APPS_SCRIPT, { ... });</a:t>
            </a:r>
            <a:endParaRPr lang="en-US" sz="900" dirty="0"/>
          </a:p>
        </p:txBody>
      </p:sp>
      <p:sp>
        <p:nvSpPr>
          <p:cNvPr id="35" name="Shape 31"/>
          <p:cNvSpPr/>
          <p:nvPr/>
        </p:nvSpPr>
        <p:spPr>
          <a:xfrm>
            <a:off x="913668" y="2356496"/>
            <a:ext cx="4555175" cy="173736"/>
          </a:xfrm>
          <a:prstGeom prst="rect">
            <a:avLst/>
          </a:prstGeom>
          <a:solidFill>
            <a:srgbClr val="FFF59D"/>
          </a:solidFill>
          <a:ln w="12700">
            <a:solidFill>
              <a:srgbClr val="FFF59D"/>
            </a:solidFill>
            <a:prstDash val="solid"/>
          </a:ln>
        </p:spPr>
      </p:sp>
      <p:sp>
        <p:nvSpPr>
          <p:cNvPr id="36" name="Text 32"/>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7" name="Text 33"/>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tombol.disabled = false;</a:t>
            </a:r>
            <a:endParaRPr lang="en-US" sz="900" dirty="0"/>
          </a:p>
        </p:txBody>
      </p:sp>
      <p:sp>
        <p:nvSpPr>
          <p:cNvPr id="38" name="Shape 34"/>
          <p:cNvSpPr/>
          <p:nvPr/>
        </p:nvSpPr>
        <p:spPr>
          <a:xfrm>
            <a:off x="913668" y="2530232"/>
            <a:ext cx="4555175" cy="173736"/>
          </a:xfrm>
          <a:prstGeom prst="rect">
            <a:avLst/>
          </a:prstGeom>
          <a:solidFill>
            <a:srgbClr val="FFF59D"/>
          </a:solidFill>
          <a:ln w="12700">
            <a:solidFill>
              <a:srgbClr val="FFF59D"/>
            </a:solidFill>
            <a:prstDash val="solid"/>
          </a:ln>
        </p:spPr>
      </p:sp>
      <p:sp>
        <p:nvSpPr>
          <p:cNvPr id="39" name="Text 35"/>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40" name="Text 36"/>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tombol.textContent = 'Simpan';</a:t>
            </a:r>
            <a:endParaRPr lang="en-US" sz="900" dirty="0"/>
          </a:p>
        </p:txBody>
      </p:sp>
      <p:sp>
        <p:nvSpPr>
          <p:cNvPr id="41" name="Shape 37"/>
          <p:cNvSpPr/>
          <p:nvPr/>
        </p:nvSpPr>
        <p:spPr>
          <a:xfrm>
            <a:off x="913668" y="2703968"/>
            <a:ext cx="4555175" cy="173736"/>
          </a:xfrm>
          <a:prstGeom prst="rect">
            <a:avLst/>
          </a:prstGeom>
          <a:solidFill>
            <a:srgbClr val="FFF59D"/>
          </a:solidFill>
          <a:ln w="12700">
            <a:solidFill>
              <a:srgbClr val="FFF59D"/>
            </a:solidFill>
            <a:prstDash val="solid"/>
          </a:ln>
        </p:spPr>
      </p:sp>
      <p:sp>
        <p:nvSpPr>
          <p:cNvPr id="42" name="Text 38"/>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3" name="Text 39"/>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pesan.textContent = '✓ Alhamdulillah, tersimpan!';</a:t>
            </a:r>
            <a:endParaRPr lang="en-US" sz="900" dirty="0"/>
          </a:p>
        </p:txBody>
      </p:sp>
      <p:sp>
        <p:nvSpPr>
          <p:cNvPr id="44" name="Shape 40"/>
          <p:cNvSpPr/>
          <p:nvPr/>
        </p:nvSpPr>
        <p:spPr>
          <a:xfrm>
            <a:off x="913668" y="1643264"/>
            <a:ext cx="4555175" cy="1252728"/>
          </a:xfrm>
          <a:prstGeom prst="roundRect">
            <a:avLst>
              <a:gd name="adj" fmla="val 3650"/>
            </a:avLst>
          </a:prstGeom>
          <a:solidFill>
            <a:srgbClr val="FFFFFF">
              <a:alpha val="0"/>
            </a:srgbClr>
          </a:solidFill>
          <a:ln w="31750">
            <a:solidFill>
              <a:srgbClr val="E53935"/>
            </a:solidFill>
            <a:prstDash val="solid"/>
          </a:ln>
        </p:spPr>
      </p:sp>
      <p:sp>
        <p:nvSpPr>
          <p:cNvPr id="45" name="Shape 41"/>
          <p:cNvSpPr/>
          <p:nvPr/>
        </p:nvSpPr>
        <p:spPr>
          <a:xfrm>
            <a:off x="5331684" y="1506104"/>
            <a:ext cx="274320" cy="274320"/>
          </a:xfrm>
          <a:prstGeom prst="ellipse">
            <a:avLst/>
          </a:prstGeom>
          <a:solidFill>
            <a:srgbClr val="E53935"/>
          </a:solidFill>
          <a:ln w="12700">
            <a:solidFill>
              <a:srgbClr val="FFFFFF"/>
            </a:solidFill>
            <a:prstDash val="solid"/>
          </a:ln>
        </p:spPr>
      </p:sp>
      <p:sp>
        <p:nvSpPr>
          <p:cNvPr id="46" name="Text 42"/>
          <p:cNvSpPr txBox="1"/>
          <p:nvPr/>
        </p:nvSpPr>
        <p:spPr>
          <a:xfrm>
            <a:off x="5331684" y="15061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47" name="Image 2" descr="preencoded.png">    </p:cNvPr>
          <p:cNvPicPr>
            <a:picLocks noChangeAspect="1"/>
          </p:cNvPicPr>
          <p:nvPr/>
        </p:nvPicPr>
        <p:blipFill>
          <a:blip r:embed="rId3"/>
          <a:stretch>
            <a:fillRect/>
          </a:stretch>
        </p:blipFill>
        <p:spPr>
          <a:xfrm>
            <a:off x="3417186" y="2330435"/>
            <a:ext cx="237744" cy="237744"/>
          </a:xfrm>
          <a:prstGeom prst="rect">
            <a:avLst/>
          </a:prstGeom>
        </p:spPr>
      </p:pic>
      <p:sp>
        <p:nvSpPr>
          <p:cNvPr id="48" name="Text 4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9" name="Text 4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Umpan balik: Menyimpan... dan tombol nonaktif</a:t>
            </a:r>
            <a:endParaRPr lang="en-US" sz="1800" dirty="0"/>
          </a:p>
        </p:txBody>
      </p:sp>
      <p:sp>
        <p:nvSpPr>
          <p:cNvPr id="50" name="Text 4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Sebelum fetch: tombol.disabled = true; teks "Menyimpan...". Setelah selesai: disabled = false; "Tersimpan!".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Umpan Balik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868680" y="1143000"/>
            <a:ext cx="1645920" cy="2743200"/>
          </a:xfrm>
          <a:prstGeom prst="roundRect">
            <a:avLst>
              <a:gd name="adj" fmla="val 6667"/>
            </a:avLst>
          </a:prstGeom>
          <a:solidFill>
            <a:srgbClr val="FFFFFF"/>
          </a:solidFill>
          <a:ln w="19050">
            <a:solidFill>
              <a:srgbClr val="333333"/>
            </a:solidFill>
            <a:prstDash val="solid"/>
          </a:ln>
        </p:spPr>
      </p:sp>
      <p:sp>
        <p:nvSpPr>
          <p:cNvPr id="11" name="Shape 7"/>
          <p:cNvSpPr/>
          <p:nvPr/>
        </p:nvSpPr>
        <p:spPr>
          <a:xfrm>
            <a:off x="941832" y="1280160"/>
            <a:ext cx="1499616" cy="2468880"/>
          </a:xfrm>
          <a:prstGeom prst="rect">
            <a:avLst/>
          </a:prstGeom>
          <a:solidFill>
            <a:srgbClr val="FFF9C4"/>
          </a:solidFill>
          <a:ln w="12700">
            <a:solidFill>
              <a:srgbClr val="FFF9C4"/>
            </a:solidFill>
            <a:prstDash val="solid"/>
          </a:ln>
        </p:spPr>
      </p:sp>
      <p:sp>
        <p:nvSpPr>
          <p:cNvPr id="12" name="Text 8"/>
          <p:cNvSpPr txBox="1"/>
          <p:nvPr/>
        </p:nvSpPr>
        <p:spPr>
          <a:xfrm>
            <a:off x="987552" y="1325880"/>
            <a:ext cx="1499616" cy="182880"/>
          </a:xfrm>
          <a:prstGeom prst="rect">
            <a:avLst/>
          </a:prstGeom>
          <a:noFill/>
          <a:ln/>
        </p:spPr>
        <p:txBody>
          <a:bodyPr wrap="square" lIns="0" tIns="0" rIns="0" bIns="0" rtlCol="0" anchor="t"/>
          <a:lstStyle/>
          <a:p>
            <a:pPr indent="0" marL="0">
              <a:buNone/>
            </a:pPr>
            <a:r>
              <a:rPr lang="en-US" sz="700" dirty="0">
                <a:solidFill>
                  <a:srgbClr val="B0BEC5"/>
                </a:solidFill>
                <a:latin typeface="Comic Sans MS" pitchFamily="34" charset="0"/>
                <a:ea typeface="Comic Sans MS" pitchFamily="34" charset="-122"/>
                <a:cs typeface="Comic Sans MS" pitchFamily="34" charset="-120"/>
              </a:rPr>
              <a:t>setoran harian kel 3</a:t>
            </a:r>
            <a:endParaRPr lang="en-US" sz="700" dirty="0"/>
          </a:p>
        </p:txBody>
      </p:sp>
      <p:sp>
        <p:nvSpPr>
          <p:cNvPr id="13" name="Text 9"/>
          <p:cNvSpPr txBox="1"/>
          <p:nvPr/>
        </p:nvSpPr>
        <p:spPr>
          <a:xfrm>
            <a:off x="987552" y="1554480"/>
            <a:ext cx="1408176" cy="411480"/>
          </a:xfrm>
          <a:prstGeom prst="rect">
            <a:avLst/>
          </a:prstGeom>
          <a:noFill/>
          <a:ln/>
        </p:spPr>
        <p:txBody>
          <a:bodyPr wrap="square" lIns="0" tIns="0" rIns="0" bIns="0" rtlCol="0" anchor="t"/>
          <a:lstStyle/>
          <a:p>
            <a:pPr indent="0" marL="0">
              <a:buNone/>
            </a:pPr>
            <a:r>
              <a:rPr lang="en-US" sz="600" dirty="0">
                <a:solidFill>
                  <a:srgbClr val="999999"/>
                </a:solidFill>
                <a:latin typeface="Calibri" pitchFamily="34" charset="0"/>
                <a:ea typeface="Calibri" pitchFamily="34" charset="-122"/>
                <a:cs typeface="Calibri" pitchFamily="34" charset="-120"/>
              </a:rPr>
              <a:t>masukkan kode dan surat dan ayat lalu klik tombol di bawah kalau sudah</a:t>
            </a:r>
            <a:endParaRPr lang="en-US" sz="600" dirty="0"/>
          </a:p>
        </p:txBody>
      </p:sp>
      <p:sp>
        <p:nvSpPr>
          <p:cNvPr id="14" name="Shape 10"/>
          <p:cNvSpPr/>
          <p:nvPr/>
        </p:nvSpPr>
        <p:spPr>
          <a:xfrm>
            <a:off x="987552" y="2011680"/>
            <a:ext cx="824789" cy="146304"/>
          </a:xfrm>
          <a:prstGeom prst="rect">
            <a:avLst/>
          </a:prstGeom>
          <a:solidFill>
            <a:srgbClr val="FFFFFF"/>
          </a:solidFill>
          <a:ln w="6350">
            <a:solidFill>
              <a:srgbClr val="DDDDDD"/>
            </a:solidFill>
            <a:prstDash val="solid"/>
          </a:ln>
        </p:spPr>
      </p:sp>
      <p:sp>
        <p:nvSpPr>
          <p:cNvPr id="15" name="Shape 11"/>
          <p:cNvSpPr/>
          <p:nvPr/>
        </p:nvSpPr>
        <p:spPr>
          <a:xfrm>
            <a:off x="987552" y="2212848"/>
            <a:ext cx="824789" cy="146304"/>
          </a:xfrm>
          <a:prstGeom prst="rect">
            <a:avLst/>
          </a:prstGeom>
          <a:solidFill>
            <a:srgbClr val="FFFFFF"/>
          </a:solidFill>
          <a:ln w="6350">
            <a:solidFill>
              <a:srgbClr val="DDDDDD"/>
            </a:solidFill>
            <a:prstDash val="solid"/>
          </a:ln>
        </p:spPr>
      </p:sp>
      <p:sp>
        <p:nvSpPr>
          <p:cNvPr id="16" name="Shape 12"/>
          <p:cNvSpPr/>
          <p:nvPr/>
        </p:nvSpPr>
        <p:spPr>
          <a:xfrm>
            <a:off x="987552" y="2414016"/>
            <a:ext cx="824789" cy="146304"/>
          </a:xfrm>
          <a:prstGeom prst="rect">
            <a:avLst/>
          </a:prstGeom>
          <a:solidFill>
            <a:srgbClr val="FFFFFF"/>
          </a:solidFill>
          <a:ln w="6350">
            <a:solidFill>
              <a:srgbClr val="DDDDDD"/>
            </a:solidFill>
            <a:prstDash val="solid"/>
          </a:ln>
        </p:spPr>
      </p:sp>
      <p:sp>
        <p:nvSpPr>
          <p:cNvPr id="17" name="Shape 13"/>
          <p:cNvSpPr/>
          <p:nvPr/>
        </p:nvSpPr>
        <p:spPr>
          <a:xfrm>
            <a:off x="987552" y="2651760"/>
            <a:ext cx="320040" cy="128016"/>
          </a:xfrm>
          <a:prstGeom prst="rect">
            <a:avLst/>
          </a:prstGeom>
          <a:solidFill>
            <a:srgbClr val="FF5252"/>
          </a:solidFill>
          <a:ln w="12700">
            <a:solidFill>
              <a:srgbClr val="FF5252"/>
            </a:solidFill>
            <a:prstDash val="solid"/>
          </a:ln>
        </p:spPr>
      </p:sp>
      <p:sp>
        <p:nvSpPr>
          <p:cNvPr id="18" name="Text 14"/>
          <p:cNvSpPr txBox="1"/>
          <p:nvPr/>
        </p:nvSpPr>
        <p:spPr>
          <a:xfrm>
            <a:off x="987552" y="2651760"/>
            <a:ext cx="320040" cy="128016"/>
          </a:xfrm>
          <a:prstGeom prst="rect">
            <a:avLst/>
          </a:prstGeom>
          <a:noFill/>
          <a:ln/>
        </p:spPr>
        <p:txBody>
          <a:bodyPr wrap="square" lIns="0" tIns="0" rIns="0" bIns="0" rtlCol="0" anchor="ctr"/>
          <a:lstStyle/>
          <a:p>
            <a:pPr algn="ctr" indent="0" marL="0">
              <a:buNone/>
            </a:pPr>
            <a:r>
              <a:rPr lang="en-US" sz="500" dirty="0">
                <a:solidFill>
                  <a:srgbClr val="FFEB3B"/>
                </a:solidFill>
                <a:latin typeface="Calibri" pitchFamily="34" charset="0"/>
                <a:ea typeface="Calibri" pitchFamily="34" charset="-122"/>
                <a:cs typeface="Calibri" pitchFamily="34" charset="-120"/>
              </a:rPr>
              <a:t>ok</a:t>
            </a:r>
            <a:endParaRPr lang="en-US" sz="500" dirty="0"/>
          </a:p>
        </p:txBody>
      </p:sp>
      <p:sp>
        <p:nvSpPr>
          <p:cNvPr id="19" name="Shape 15"/>
          <p:cNvSpPr/>
          <p:nvPr/>
        </p:nvSpPr>
        <p:spPr>
          <a:xfrm>
            <a:off x="1353312" y="2651760"/>
            <a:ext cx="320040" cy="128016"/>
          </a:xfrm>
          <a:prstGeom prst="rect">
            <a:avLst/>
          </a:prstGeom>
          <a:solidFill>
            <a:srgbClr val="7C4DFF"/>
          </a:solidFill>
          <a:ln w="12700">
            <a:solidFill>
              <a:srgbClr val="7C4DFF"/>
            </a:solidFill>
            <a:prstDash val="solid"/>
          </a:ln>
        </p:spPr>
      </p:sp>
      <p:sp>
        <p:nvSpPr>
          <p:cNvPr id="20" name="Text 16"/>
          <p:cNvSpPr txBox="1"/>
          <p:nvPr/>
        </p:nvSpPr>
        <p:spPr>
          <a:xfrm>
            <a:off x="1353312" y="2651760"/>
            <a:ext cx="320040" cy="128016"/>
          </a:xfrm>
          <a:prstGeom prst="rect">
            <a:avLst/>
          </a:prstGeom>
          <a:noFill/>
          <a:ln/>
        </p:spPr>
        <p:txBody>
          <a:bodyPr wrap="square" lIns="0" tIns="0" rIns="0" bIns="0" rtlCol="0" anchor="ctr"/>
          <a:lstStyle/>
          <a:p>
            <a:pPr algn="ctr" indent="0" marL="0">
              <a:buNone/>
            </a:pPr>
            <a:r>
              <a:rPr lang="en-US" sz="500" dirty="0">
                <a:solidFill>
                  <a:srgbClr val="FFFFFF"/>
                </a:solidFill>
                <a:latin typeface="Calibri" pitchFamily="34" charset="0"/>
                <a:ea typeface="Calibri" pitchFamily="34" charset="-122"/>
                <a:cs typeface="Calibri" pitchFamily="34" charset="-120"/>
              </a:rPr>
              <a:t>hapus</a:t>
            </a:r>
            <a:endParaRPr lang="en-US" sz="500" dirty="0"/>
          </a:p>
        </p:txBody>
      </p:sp>
      <p:sp>
        <p:nvSpPr>
          <p:cNvPr id="21" name="Text 17"/>
          <p:cNvSpPr txBox="1"/>
          <p:nvPr/>
        </p:nvSpPr>
        <p:spPr>
          <a:xfrm>
            <a:off x="868680" y="3886200"/>
            <a:ext cx="1645920" cy="274320"/>
          </a:xfrm>
          <a:prstGeom prst="rect">
            <a:avLst/>
          </a:prstGeom>
          <a:noFill/>
          <a:ln/>
        </p:spPr>
        <p:txBody>
          <a:bodyPr wrap="square" lIns="0" tIns="0" rIns="0" bIns="0" rtlCol="0" anchor="t"/>
          <a:lstStyle/>
          <a:p>
            <a:pPr algn="ctr" indent="0" marL="0">
              <a:buNone/>
            </a:pPr>
            <a:r>
              <a:rPr lang="en-US" sz="1200" b="1" dirty="0">
                <a:solidFill>
                  <a:srgbClr val="E53935"/>
                </a:solidFill>
                <a:latin typeface="Calibri" pitchFamily="34" charset="0"/>
                <a:ea typeface="Calibri" pitchFamily="34" charset="-122"/>
                <a:cs typeface="Calibri" pitchFamily="34" charset="-120"/>
              </a:rPr>
              <a:t>SEBELUM</a:t>
            </a:r>
            <a:endParaRPr lang="en-US" sz="1200" dirty="0"/>
          </a:p>
        </p:txBody>
      </p:sp>
      <p:sp>
        <p:nvSpPr>
          <p:cNvPr id="22" name="Text 18"/>
          <p:cNvSpPr txBox="1"/>
          <p:nvPr/>
        </p:nvSpPr>
        <p:spPr>
          <a:xfrm>
            <a:off x="2697480" y="2240280"/>
            <a:ext cx="731520" cy="457200"/>
          </a:xfrm>
          <a:prstGeom prst="rect">
            <a:avLst/>
          </a:prstGeom>
          <a:noFill/>
          <a:ln/>
        </p:spPr>
        <p:txBody>
          <a:bodyPr wrap="square" lIns="0" tIns="0" rIns="0" bIns="0" rtlCol="0" anchor="t"/>
          <a:lstStyle/>
          <a:p>
            <a:pPr algn="ctr" indent="0" marL="0">
              <a:buNone/>
            </a:pPr>
            <a:r>
              <a:rPr lang="en-US" sz="2600" b="1" dirty="0">
                <a:solidFill>
                  <a:srgbClr val="D4A017"/>
                </a:solidFill>
                <a:latin typeface="Calibri" pitchFamily="34" charset="0"/>
                <a:ea typeface="Calibri" pitchFamily="34" charset="-122"/>
                <a:cs typeface="Calibri" pitchFamily="34" charset="-120"/>
              </a:rPr>
              <a:t>→</a:t>
            </a:r>
            <a:endParaRPr lang="en-US" sz="2600" dirty="0"/>
          </a:p>
        </p:txBody>
      </p:sp>
      <p:sp>
        <p:nvSpPr>
          <p:cNvPr id="23" name="Shape 19"/>
          <p:cNvSpPr/>
          <p:nvPr/>
        </p:nvSpPr>
        <p:spPr>
          <a:xfrm>
            <a:off x="3520440" y="1143000"/>
            <a:ext cx="1645920" cy="2743200"/>
          </a:xfrm>
          <a:prstGeom prst="roundRect">
            <a:avLst>
              <a:gd name="adj" fmla="val 6667"/>
            </a:avLst>
          </a:prstGeom>
          <a:solidFill>
            <a:srgbClr val="FFFFFF"/>
          </a:solidFill>
          <a:ln w="19050">
            <a:solidFill>
              <a:srgbClr val="333333"/>
            </a:solidFill>
            <a:prstDash val="solid"/>
          </a:ln>
        </p:spPr>
      </p:sp>
      <p:sp>
        <p:nvSpPr>
          <p:cNvPr id="24" name="Shape 20"/>
          <p:cNvSpPr/>
          <p:nvPr/>
        </p:nvSpPr>
        <p:spPr>
          <a:xfrm>
            <a:off x="3593592" y="1280160"/>
            <a:ext cx="1499616" cy="2468880"/>
          </a:xfrm>
          <a:prstGeom prst="rect">
            <a:avLst/>
          </a:prstGeom>
          <a:solidFill>
            <a:srgbClr val="F3F8F5"/>
          </a:solidFill>
          <a:ln w="12700">
            <a:solidFill>
              <a:srgbClr val="F3F8F5"/>
            </a:solidFill>
            <a:prstDash val="solid"/>
          </a:ln>
        </p:spPr>
      </p:sp>
      <p:sp>
        <p:nvSpPr>
          <p:cNvPr id="25" name="Shape 21"/>
          <p:cNvSpPr/>
          <p:nvPr/>
        </p:nvSpPr>
        <p:spPr>
          <a:xfrm>
            <a:off x="3593592" y="1280160"/>
            <a:ext cx="1499616" cy="347472"/>
          </a:xfrm>
          <a:prstGeom prst="rect">
            <a:avLst/>
          </a:prstGeom>
          <a:solidFill>
            <a:srgbClr val="0F4C3A"/>
          </a:solidFill>
          <a:ln w="12700">
            <a:solidFill>
              <a:srgbClr val="0F4C3A"/>
            </a:solidFill>
            <a:prstDash val="solid"/>
          </a:ln>
        </p:spPr>
      </p:sp>
      <p:sp>
        <p:nvSpPr>
          <p:cNvPr id="26" name="Text 22"/>
          <p:cNvSpPr txBox="1"/>
          <p:nvPr/>
        </p:nvSpPr>
        <p:spPr>
          <a:xfrm>
            <a:off x="3593592" y="1280160"/>
            <a:ext cx="149961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Setoran Harian</a:t>
            </a:r>
            <a:endParaRPr lang="en-US" sz="1000" dirty="0"/>
          </a:p>
        </p:txBody>
      </p:sp>
      <p:sp>
        <p:nvSpPr>
          <p:cNvPr id="27" name="Text 23"/>
          <p:cNvSpPr txBox="1"/>
          <p:nvPr/>
        </p:nvSpPr>
        <p:spPr>
          <a:xfrm>
            <a:off x="3685032" y="1691640"/>
            <a:ext cx="1316736" cy="128016"/>
          </a:xfrm>
          <a:prstGeom prst="rect">
            <a:avLst/>
          </a:prstGeom>
          <a:noFill/>
          <a:ln/>
        </p:spPr>
        <p:txBody>
          <a:bodyPr wrap="square" lIns="0" tIns="0" rIns="0" bIns="0" rtlCol="0" anchor="t"/>
          <a:lstStyle/>
          <a:p>
            <a:pPr indent="0" marL="0">
              <a:buNone/>
            </a:pPr>
            <a:r>
              <a:rPr lang="en-US" sz="550" b="1" dirty="0">
                <a:solidFill>
                  <a:srgbClr val="1E2A26"/>
                </a:solidFill>
                <a:latin typeface="Arial" pitchFamily="34" charset="0"/>
                <a:ea typeface="Arial" pitchFamily="34" charset="-122"/>
                <a:cs typeface="Arial" pitchFamily="34" charset="-120"/>
              </a:rPr>
              <a:t>Kode santri (contoh: S001)</a:t>
            </a:r>
            <a:endParaRPr lang="en-US" sz="550" dirty="0"/>
          </a:p>
        </p:txBody>
      </p:sp>
      <p:sp>
        <p:nvSpPr>
          <p:cNvPr id="28" name="Shape 24"/>
          <p:cNvSpPr/>
          <p:nvPr/>
        </p:nvSpPr>
        <p:spPr>
          <a:xfrm>
            <a:off x="3685032" y="1828800"/>
            <a:ext cx="1316736" cy="182880"/>
          </a:xfrm>
          <a:prstGeom prst="roundRect">
            <a:avLst>
              <a:gd name="adj" fmla="val 15000"/>
            </a:avLst>
          </a:prstGeom>
          <a:solidFill>
            <a:srgbClr val="FFFFFF"/>
          </a:solidFill>
          <a:ln w="9525">
            <a:solidFill>
              <a:srgbClr val="999999"/>
            </a:solidFill>
            <a:prstDash val="solid"/>
          </a:ln>
        </p:spPr>
      </p:sp>
      <p:sp>
        <p:nvSpPr>
          <p:cNvPr id="29" name="Text 25"/>
          <p:cNvSpPr txBox="1"/>
          <p:nvPr/>
        </p:nvSpPr>
        <p:spPr>
          <a:xfrm>
            <a:off x="3685032" y="2039112"/>
            <a:ext cx="1316736" cy="128016"/>
          </a:xfrm>
          <a:prstGeom prst="rect">
            <a:avLst/>
          </a:prstGeom>
          <a:noFill/>
          <a:ln/>
        </p:spPr>
        <p:txBody>
          <a:bodyPr wrap="square" lIns="0" tIns="0" rIns="0" bIns="0" rtlCol="0" anchor="t"/>
          <a:lstStyle/>
          <a:p>
            <a:pPr indent="0" marL="0">
              <a:buNone/>
            </a:pPr>
            <a:r>
              <a:rPr lang="en-US" sz="550" b="1" dirty="0">
                <a:solidFill>
                  <a:srgbClr val="1E2A26"/>
                </a:solidFill>
                <a:latin typeface="Arial" pitchFamily="34" charset="0"/>
                <a:ea typeface="Arial" pitchFamily="34" charset="-122"/>
                <a:cs typeface="Arial" pitchFamily="34" charset="-120"/>
              </a:rPr>
              <a:t>Surat</a:t>
            </a:r>
            <a:endParaRPr lang="en-US" sz="550" dirty="0"/>
          </a:p>
        </p:txBody>
      </p:sp>
      <p:sp>
        <p:nvSpPr>
          <p:cNvPr id="30" name="Shape 26"/>
          <p:cNvSpPr/>
          <p:nvPr/>
        </p:nvSpPr>
        <p:spPr>
          <a:xfrm>
            <a:off x="3685032" y="2176272"/>
            <a:ext cx="1316736" cy="182880"/>
          </a:xfrm>
          <a:prstGeom prst="roundRect">
            <a:avLst>
              <a:gd name="adj" fmla="val 15000"/>
            </a:avLst>
          </a:prstGeom>
          <a:solidFill>
            <a:srgbClr val="FFFFFF"/>
          </a:solidFill>
          <a:ln w="9525">
            <a:solidFill>
              <a:srgbClr val="999999"/>
            </a:solidFill>
            <a:prstDash val="solid"/>
          </a:ln>
        </p:spPr>
      </p:sp>
      <p:sp>
        <p:nvSpPr>
          <p:cNvPr id="31" name="Text 27"/>
          <p:cNvSpPr txBox="1"/>
          <p:nvPr/>
        </p:nvSpPr>
        <p:spPr>
          <a:xfrm>
            <a:off x="3685032" y="2386584"/>
            <a:ext cx="1316736" cy="128016"/>
          </a:xfrm>
          <a:prstGeom prst="rect">
            <a:avLst/>
          </a:prstGeom>
          <a:noFill/>
          <a:ln/>
        </p:spPr>
        <p:txBody>
          <a:bodyPr wrap="square" lIns="0" tIns="0" rIns="0" bIns="0" rtlCol="0" anchor="t"/>
          <a:lstStyle/>
          <a:p>
            <a:pPr indent="0" marL="0">
              <a:buNone/>
            </a:pPr>
            <a:r>
              <a:rPr lang="en-US" sz="550" b="1" dirty="0">
                <a:solidFill>
                  <a:srgbClr val="1E2A26"/>
                </a:solidFill>
                <a:latin typeface="Arial" pitchFamily="34" charset="0"/>
                <a:ea typeface="Arial" pitchFamily="34" charset="-122"/>
                <a:cs typeface="Arial" pitchFamily="34" charset="-120"/>
              </a:rPr>
              <a:t>Jumlah ayat</a:t>
            </a:r>
            <a:endParaRPr lang="en-US" sz="550" dirty="0"/>
          </a:p>
        </p:txBody>
      </p:sp>
      <p:sp>
        <p:nvSpPr>
          <p:cNvPr id="32" name="Shape 28"/>
          <p:cNvSpPr/>
          <p:nvPr/>
        </p:nvSpPr>
        <p:spPr>
          <a:xfrm>
            <a:off x="3685032" y="2523744"/>
            <a:ext cx="1316736" cy="182880"/>
          </a:xfrm>
          <a:prstGeom prst="roundRect">
            <a:avLst>
              <a:gd name="adj" fmla="val 15000"/>
            </a:avLst>
          </a:prstGeom>
          <a:solidFill>
            <a:srgbClr val="FFFFFF"/>
          </a:solidFill>
          <a:ln w="9525">
            <a:solidFill>
              <a:srgbClr val="999999"/>
            </a:solidFill>
            <a:prstDash val="solid"/>
          </a:ln>
        </p:spPr>
      </p:sp>
      <p:sp>
        <p:nvSpPr>
          <p:cNvPr id="33" name="Shape 29"/>
          <p:cNvSpPr/>
          <p:nvPr/>
        </p:nvSpPr>
        <p:spPr>
          <a:xfrm>
            <a:off x="3685032" y="2761488"/>
            <a:ext cx="1316736" cy="274320"/>
          </a:xfrm>
          <a:prstGeom prst="roundRect">
            <a:avLst>
              <a:gd name="adj" fmla="val 50000"/>
            </a:avLst>
          </a:prstGeom>
          <a:solidFill>
            <a:srgbClr val="D4A017"/>
          </a:solidFill>
          <a:ln w="12700">
            <a:solidFill>
              <a:srgbClr val="D4A017"/>
            </a:solidFill>
            <a:prstDash val="solid"/>
          </a:ln>
        </p:spPr>
      </p:sp>
      <p:sp>
        <p:nvSpPr>
          <p:cNvPr id="34" name="Text 30"/>
          <p:cNvSpPr txBox="1"/>
          <p:nvPr/>
        </p:nvSpPr>
        <p:spPr>
          <a:xfrm>
            <a:off x="3685032" y="2761488"/>
            <a:ext cx="131673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Simpan Setoran</a:t>
            </a:r>
            <a:endParaRPr lang="en-US" sz="800" dirty="0"/>
          </a:p>
        </p:txBody>
      </p:sp>
      <p:sp>
        <p:nvSpPr>
          <p:cNvPr id="35" name="Text 31"/>
          <p:cNvSpPr txBox="1"/>
          <p:nvPr/>
        </p:nvSpPr>
        <p:spPr>
          <a:xfrm>
            <a:off x="3685032" y="3081528"/>
            <a:ext cx="1316736" cy="182880"/>
          </a:xfrm>
          <a:prstGeom prst="rect">
            <a:avLst/>
          </a:prstGeom>
          <a:noFill/>
          <a:ln/>
        </p:spPr>
        <p:txBody>
          <a:bodyPr wrap="square" lIns="0" tIns="0" rIns="0" bIns="0" rtlCol="0" anchor="t"/>
          <a:lstStyle/>
          <a:p>
            <a:pPr algn="ctr" indent="0" marL="0">
              <a:buNone/>
            </a:pPr>
            <a:r>
              <a:rPr lang="en-US" sz="650" b="1" dirty="0">
                <a:solidFill>
                  <a:srgbClr val="1F7A5C"/>
                </a:solidFill>
                <a:latin typeface="Arial" pitchFamily="34" charset="0"/>
                <a:ea typeface="Arial" pitchFamily="34" charset="-122"/>
                <a:cs typeface="Arial" pitchFamily="34" charset="-120"/>
              </a:rPr>
              <a:t>✓ Alhamdulillah, tersimpan!</a:t>
            </a:r>
            <a:endParaRPr lang="en-US" sz="650" dirty="0"/>
          </a:p>
        </p:txBody>
      </p:sp>
      <p:sp>
        <p:nvSpPr>
          <p:cNvPr id="36" name="Text 32"/>
          <p:cNvSpPr txBox="1"/>
          <p:nvPr/>
        </p:nvSpPr>
        <p:spPr>
          <a:xfrm>
            <a:off x="3520440" y="3886200"/>
            <a:ext cx="1645920" cy="274320"/>
          </a:xfrm>
          <a:prstGeom prst="rect">
            <a:avLst/>
          </a:prstGeom>
          <a:noFill/>
          <a:ln/>
        </p:spPr>
        <p:txBody>
          <a:bodyPr wrap="square" lIns="0" tIns="0" rIns="0" bIns="0" rtlCol="0" anchor="t"/>
          <a:lstStyle/>
          <a:p>
            <a:pPr algn="ctr" indent="0" marL="0">
              <a:buNone/>
            </a:pPr>
            <a:r>
              <a:rPr lang="en-US" sz="1200" b="1" dirty="0">
                <a:solidFill>
                  <a:srgbClr val="1F7A5C"/>
                </a:solidFill>
                <a:latin typeface="Calibri" pitchFamily="34" charset="0"/>
                <a:ea typeface="Calibri" pitchFamily="34" charset="-122"/>
                <a:cs typeface="Calibri" pitchFamily="34" charset="-120"/>
              </a:rPr>
              <a:t>SESUDAH</a:t>
            </a:r>
            <a:endParaRPr lang="en-US" sz="1200" dirty="0"/>
          </a:p>
        </p:txBody>
      </p:sp>
      <p:sp>
        <p:nvSpPr>
          <p:cNvPr id="37" name="Shape 33"/>
          <p:cNvSpPr/>
          <p:nvPr/>
        </p:nvSpPr>
        <p:spPr>
          <a:xfrm>
            <a:off x="3456432" y="1078992"/>
            <a:ext cx="1773936" cy="2871216"/>
          </a:xfrm>
          <a:prstGeom prst="roundRect">
            <a:avLst>
              <a:gd name="adj" fmla="val 2577"/>
            </a:avLst>
          </a:prstGeom>
          <a:solidFill>
            <a:srgbClr val="FFFFFF">
              <a:alpha val="0"/>
            </a:srgbClr>
          </a:solidFill>
          <a:ln w="31750">
            <a:solidFill>
              <a:srgbClr val="E53935"/>
            </a:solidFill>
            <a:prstDash val="solid"/>
          </a:ln>
        </p:spPr>
      </p:sp>
      <p:sp>
        <p:nvSpPr>
          <p:cNvPr id="38" name="Shape 34"/>
          <p:cNvSpPr/>
          <p:nvPr/>
        </p:nvSpPr>
        <p:spPr>
          <a:xfrm>
            <a:off x="5093208" y="941832"/>
            <a:ext cx="274320" cy="274320"/>
          </a:xfrm>
          <a:prstGeom prst="ellipse">
            <a:avLst/>
          </a:prstGeom>
          <a:solidFill>
            <a:srgbClr val="E53935"/>
          </a:solidFill>
          <a:ln w="12700">
            <a:solidFill>
              <a:srgbClr val="FFFFFF"/>
            </a:solidFill>
            <a:prstDash val="solid"/>
          </a:ln>
        </p:spPr>
      </p:sp>
      <p:sp>
        <p:nvSpPr>
          <p:cNvPr id="39" name="Text 35"/>
          <p:cNvSpPr txBox="1"/>
          <p:nvPr/>
        </p:nvSpPr>
        <p:spPr>
          <a:xfrm>
            <a:off x="5093208" y="9418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0" name="Text 3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41" name="Text 3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Bandingkan sebelum dan sesudah</a:t>
            </a:r>
            <a:endParaRPr lang="en-US" sz="1800" dirty="0"/>
          </a:p>
        </p:txBody>
      </p:sp>
      <p:sp>
        <p:nvSpPr>
          <p:cNvPr id="42" name="Text 3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Lihat di mode HP. Ambil tangkapan layar SESUDAH. Letakkan berdampingan dengan SEBELUM di dokumen audit.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29</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Kelompok mengumpulkan: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CSS variabel di :root dan dipakai di seluruh CSS.</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Label + contoh isian; tombol dan kolom min 44px.</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Umpan balik Menyimpan.../Tersimpan! dan tombol nonaktif sementara.</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Tangkapan layar sebelum–sesudah dan commit ke GitHub.</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29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Label dan contoh isian ada</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Tombol utama besar dan konsisten</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umpan balik saat menyimpan</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Pencegahan kesalahan di input</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Perbaikan mana yang paling terasa bedanya?</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CSS variabel memudahkan konsistensi?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Perhatikan orang yang berbeda kemampuan: tulisan jelas dan kontras membantu yang penglihatannya kurang.</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Redesign Aplikasi dan uji kegunaan.</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30</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Redesign Aplikasi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uji kegunaan dan presentasi sebelum–sesudah</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10: UI/UX Dasar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membuktikan bahwa perbaikan tampilan benar-benar membuat aplikasi lebih mudah dipakai?</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30</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Melakukan uji kegunaan dengan tugas nyata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Mengukur keberhasilan dan waktu penyelesaian tugas</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Mempresentasikan perbandingan sebelum–sesudah dengan bukti</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Uji Kegunaan (Usability Test)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3108960" cy="411480"/>
          </a:xfrm>
          <a:prstGeom prst="rect">
            <a:avLst/>
          </a:prstGeom>
          <a:solidFill>
            <a:srgbClr val="0F4C3A"/>
          </a:solidFill>
          <a:ln w="9525">
            <a:solidFill>
              <a:srgbClr val="FFFFFF"/>
            </a:solidFill>
            <a:prstDash val="solid"/>
          </a:ln>
        </p:spPr>
      </p:sp>
      <p:sp>
        <p:nvSpPr>
          <p:cNvPr id="10" name="Text 6"/>
          <p:cNvSpPr txBox="1"/>
          <p:nvPr/>
        </p:nvSpPr>
        <p:spPr>
          <a:xfrm>
            <a:off x="457200" y="1143000"/>
            <a:ext cx="310896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Tugas</a:t>
            </a:r>
            <a:endParaRPr lang="en-US" sz="1200" dirty="0"/>
          </a:p>
        </p:txBody>
      </p:sp>
      <p:sp>
        <p:nvSpPr>
          <p:cNvPr id="11" name="Shape 7"/>
          <p:cNvSpPr/>
          <p:nvPr/>
        </p:nvSpPr>
        <p:spPr>
          <a:xfrm>
            <a:off x="3566160" y="1143000"/>
            <a:ext cx="1188720" cy="411480"/>
          </a:xfrm>
          <a:prstGeom prst="rect">
            <a:avLst/>
          </a:prstGeom>
          <a:solidFill>
            <a:srgbClr val="0F4C3A"/>
          </a:solidFill>
          <a:ln w="9525">
            <a:solidFill>
              <a:srgbClr val="FFFFFF"/>
            </a:solidFill>
            <a:prstDash val="solid"/>
          </a:ln>
        </p:spPr>
      </p:sp>
      <p:sp>
        <p:nvSpPr>
          <p:cNvPr id="12" name="Text 8"/>
          <p:cNvSpPr txBox="1"/>
          <p:nvPr/>
        </p:nvSpPr>
        <p:spPr>
          <a:xfrm>
            <a:off x="3566160" y="1143000"/>
            <a:ext cx="118872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Berhasil?</a:t>
            </a:r>
            <a:endParaRPr lang="en-US" sz="1200" dirty="0"/>
          </a:p>
        </p:txBody>
      </p:sp>
      <p:sp>
        <p:nvSpPr>
          <p:cNvPr id="13" name="Shape 9"/>
          <p:cNvSpPr/>
          <p:nvPr/>
        </p:nvSpPr>
        <p:spPr>
          <a:xfrm>
            <a:off x="4754880" y="1143000"/>
            <a:ext cx="1097280" cy="411480"/>
          </a:xfrm>
          <a:prstGeom prst="rect">
            <a:avLst/>
          </a:prstGeom>
          <a:solidFill>
            <a:srgbClr val="0F4C3A"/>
          </a:solidFill>
          <a:ln w="9525">
            <a:solidFill>
              <a:srgbClr val="FFFFFF"/>
            </a:solidFill>
            <a:prstDash val="solid"/>
          </a:ln>
        </p:spPr>
      </p:sp>
      <p:sp>
        <p:nvSpPr>
          <p:cNvPr id="14" name="Text 10"/>
          <p:cNvSpPr txBox="1"/>
          <p:nvPr/>
        </p:nvSpPr>
        <p:spPr>
          <a:xfrm>
            <a:off x="4754880" y="1143000"/>
            <a:ext cx="10972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Waktu</a:t>
            </a:r>
            <a:endParaRPr lang="en-US" sz="1200" dirty="0"/>
          </a:p>
        </p:txBody>
      </p:sp>
      <p:sp>
        <p:nvSpPr>
          <p:cNvPr id="15" name="Shape 11"/>
          <p:cNvSpPr/>
          <p:nvPr/>
        </p:nvSpPr>
        <p:spPr>
          <a:xfrm>
            <a:off x="5852160" y="1143000"/>
            <a:ext cx="2834640" cy="411480"/>
          </a:xfrm>
          <a:prstGeom prst="rect">
            <a:avLst/>
          </a:prstGeom>
          <a:solidFill>
            <a:srgbClr val="0F4C3A"/>
          </a:solidFill>
          <a:ln w="9525">
            <a:solidFill>
              <a:srgbClr val="FFFFFF"/>
            </a:solidFill>
            <a:prstDash val="solid"/>
          </a:ln>
        </p:spPr>
      </p:sp>
      <p:sp>
        <p:nvSpPr>
          <p:cNvPr id="16" name="Text 12"/>
          <p:cNvSpPr txBox="1"/>
          <p:nvPr/>
        </p:nvSpPr>
        <p:spPr>
          <a:xfrm>
            <a:off x="5852160" y="1143000"/>
            <a:ext cx="28346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Bingung di mana?</a:t>
            </a:r>
            <a:endParaRPr lang="en-US" sz="1200" dirty="0"/>
          </a:p>
        </p:txBody>
      </p:sp>
      <p:sp>
        <p:nvSpPr>
          <p:cNvPr id="17" name="Shape 13"/>
          <p:cNvSpPr/>
          <p:nvPr/>
        </p:nvSpPr>
        <p:spPr>
          <a:xfrm>
            <a:off x="457200" y="1554480"/>
            <a:ext cx="3108960" cy="502920"/>
          </a:xfrm>
          <a:prstGeom prst="rect">
            <a:avLst/>
          </a:prstGeom>
          <a:solidFill>
            <a:srgbClr val="FFFFFF"/>
          </a:solidFill>
          <a:ln w="6350">
            <a:solidFill>
              <a:srgbClr val="CCCCCC"/>
            </a:solidFill>
            <a:prstDash val="solid"/>
          </a:ln>
        </p:spPr>
      </p:sp>
      <p:sp>
        <p:nvSpPr>
          <p:cNvPr id="18" name="Text 14"/>
          <p:cNvSpPr txBox="1"/>
          <p:nvPr/>
        </p:nvSpPr>
        <p:spPr>
          <a:xfrm>
            <a:off x="512064" y="1554480"/>
            <a:ext cx="3017520" cy="502920"/>
          </a:xfrm>
          <a:prstGeom prst="rect">
            <a:avLst/>
          </a:prstGeom>
          <a:noFill/>
          <a:ln/>
        </p:spPr>
        <p:txBody>
          <a:bodyPr wrap="square" lIns="0" tIns="0" rIns="0" bIns="0" rtlCol="0" anchor="ctr"/>
          <a:lstStyle/>
          <a:p>
            <a:pPr algn="l" indent="0" marL="0">
              <a:buNone/>
            </a:pPr>
            <a:r>
              <a:rPr lang="en-US" sz="1150" dirty="0">
                <a:solidFill>
                  <a:srgbClr val="1E2A26"/>
                </a:solidFill>
                <a:latin typeface="Calibri" pitchFamily="34" charset="0"/>
                <a:ea typeface="Calibri" pitchFamily="34" charset="-122"/>
                <a:cs typeface="Calibri" pitchFamily="34" charset="-120"/>
              </a:rPr>
              <a:t>1. Simpan setoran S001, An-Naba, 20 ayat</a:t>
            </a:r>
            <a:endParaRPr lang="en-US" sz="1150" dirty="0"/>
          </a:p>
        </p:txBody>
      </p:sp>
      <p:sp>
        <p:nvSpPr>
          <p:cNvPr id="19" name="Shape 15"/>
          <p:cNvSpPr/>
          <p:nvPr/>
        </p:nvSpPr>
        <p:spPr>
          <a:xfrm>
            <a:off x="3566160" y="1554480"/>
            <a:ext cx="1188720" cy="502920"/>
          </a:xfrm>
          <a:prstGeom prst="rect">
            <a:avLst/>
          </a:prstGeom>
          <a:solidFill>
            <a:srgbClr val="FFFFFF"/>
          </a:solidFill>
          <a:ln w="6350">
            <a:solidFill>
              <a:srgbClr val="CCCCCC"/>
            </a:solidFill>
            <a:prstDash val="solid"/>
          </a:ln>
        </p:spPr>
      </p:sp>
      <p:sp>
        <p:nvSpPr>
          <p:cNvPr id="20" name="Text 16"/>
          <p:cNvSpPr txBox="1"/>
          <p:nvPr/>
        </p:nvSpPr>
        <p:spPr>
          <a:xfrm>
            <a:off x="3621024" y="1554480"/>
            <a:ext cx="1097280" cy="502920"/>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Ya</a:t>
            </a:r>
            <a:endParaRPr lang="en-US" sz="1150" dirty="0"/>
          </a:p>
        </p:txBody>
      </p:sp>
      <p:sp>
        <p:nvSpPr>
          <p:cNvPr id="21" name="Shape 17"/>
          <p:cNvSpPr/>
          <p:nvPr/>
        </p:nvSpPr>
        <p:spPr>
          <a:xfrm>
            <a:off x="4754880" y="1554480"/>
            <a:ext cx="1097280" cy="502920"/>
          </a:xfrm>
          <a:prstGeom prst="rect">
            <a:avLst/>
          </a:prstGeom>
          <a:solidFill>
            <a:srgbClr val="FFFFFF"/>
          </a:solidFill>
          <a:ln w="6350">
            <a:solidFill>
              <a:srgbClr val="CCCCCC"/>
            </a:solidFill>
            <a:prstDash val="solid"/>
          </a:ln>
        </p:spPr>
      </p:sp>
      <p:sp>
        <p:nvSpPr>
          <p:cNvPr id="22" name="Text 18"/>
          <p:cNvSpPr txBox="1"/>
          <p:nvPr/>
        </p:nvSpPr>
        <p:spPr>
          <a:xfrm>
            <a:off x="4809744" y="1554480"/>
            <a:ext cx="1005840" cy="502920"/>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15 dtk</a:t>
            </a:r>
            <a:endParaRPr lang="en-US" sz="1150" dirty="0"/>
          </a:p>
        </p:txBody>
      </p:sp>
      <p:sp>
        <p:nvSpPr>
          <p:cNvPr id="23" name="Shape 19"/>
          <p:cNvSpPr/>
          <p:nvPr/>
        </p:nvSpPr>
        <p:spPr>
          <a:xfrm>
            <a:off x="5852160" y="1554480"/>
            <a:ext cx="2834640" cy="502920"/>
          </a:xfrm>
          <a:prstGeom prst="rect">
            <a:avLst/>
          </a:prstGeom>
          <a:solidFill>
            <a:srgbClr val="FFFFFF"/>
          </a:solidFill>
          <a:ln w="6350">
            <a:solidFill>
              <a:srgbClr val="CCCCCC"/>
            </a:solidFill>
            <a:prstDash val="solid"/>
          </a:ln>
        </p:spPr>
      </p:sp>
      <p:sp>
        <p:nvSpPr>
          <p:cNvPr id="24" name="Text 20"/>
          <p:cNvSpPr txBox="1"/>
          <p:nvPr/>
        </p:nvSpPr>
        <p:spPr>
          <a:xfrm>
            <a:off x="5907024" y="1554480"/>
            <a:ext cx="2743200" cy="502920"/>
          </a:xfrm>
          <a:prstGeom prst="rect">
            <a:avLst/>
          </a:prstGeom>
          <a:noFill/>
          <a:ln/>
        </p:spPr>
        <p:txBody>
          <a:bodyPr wrap="square" lIns="0" tIns="0" rIns="0" bIns="0" rtlCol="0" anchor="ctr"/>
          <a:lstStyle/>
          <a:p>
            <a:pPr algn="l" indent="0" marL="0">
              <a:buNone/>
            </a:pPr>
            <a:r>
              <a:rPr lang="en-US" sz="1150" dirty="0">
                <a:solidFill>
                  <a:srgbClr val="1E2A26"/>
                </a:solidFill>
                <a:latin typeface="Calibri" pitchFamily="34" charset="0"/>
                <a:ea typeface="Calibri" pitchFamily="34" charset="-122"/>
                <a:cs typeface="Calibri" pitchFamily="34" charset="-120"/>
              </a:rPr>
              <a:t>—</a:t>
            </a:r>
            <a:endParaRPr lang="en-US" sz="1150" dirty="0"/>
          </a:p>
        </p:txBody>
      </p:sp>
      <p:sp>
        <p:nvSpPr>
          <p:cNvPr id="25" name="Shape 21"/>
          <p:cNvSpPr/>
          <p:nvPr/>
        </p:nvSpPr>
        <p:spPr>
          <a:xfrm>
            <a:off x="457200" y="2057400"/>
            <a:ext cx="3108960" cy="502920"/>
          </a:xfrm>
          <a:prstGeom prst="rect">
            <a:avLst/>
          </a:prstGeom>
          <a:solidFill>
            <a:srgbClr val="F3F8F5"/>
          </a:solidFill>
          <a:ln w="6350">
            <a:solidFill>
              <a:srgbClr val="CCCCCC"/>
            </a:solidFill>
            <a:prstDash val="solid"/>
          </a:ln>
        </p:spPr>
      </p:sp>
      <p:sp>
        <p:nvSpPr>
          <p:cNvPr id="26" name="Text 22"/>
          <p:cNvSpPr txBox="1"/>
          <p:nvPr/>
        </p:nvSpPr>
        <p:spPr>
          <a:xfrm>
            <a:off x="512064" y="2057400"/>
            <a:ext cx="3017520" cy="502920"/>
          </a:xfrm>
          <a:prstGeom prst="rect">
            <a:avLst/>
          </a:prstGeom>
          <a:noFill/>
          <a:ln/>
        </p:spPr>
        <p:txBody>
          <a:bodyPr wrap="square" lIns="0" tIns="0" rIns="0" bIns="0" rtlCol="0" anchor="ctr"/>
          <a:lstStyle/>
          <a:p>
            <a:pPr algn="l" indent="0" marL="0">
              <a:buNone/>
            </a:pPr>
            <a:r>
              <a:rPr lang="en-US" sz="1150" dirty="0">
                <a:solidFill>
                  <a:srgbClr val="1E2A26"/>
                </a:solidFill>
                <a:latin typeface="Calibri" pitchFamily="34" charset="0"/>
                <a:ea typeface="Calibri" pitchFamily="34" charset="-122"/>
                <a:cs typeface="Calibri" pitchFamily="34" charset="-120"/>
              </a:rPr>
              <a:t>2. Cek total setoran pekan ini untuk S001</a:t>
            </a:r>
            <a:endParaRPr lang="en-US" sz="1150" dirty="0"/>
          </a:p>
        </p:txBody>
      </p:sp>
      <p:sp>
        <p:nvSpPr>
          <p:cNvPr id="27" name="Shape 23"/>
          <p:cNvSpPr/>
          <p:nvPr/>
        </p:nvSpPr>
        <p:spPr>
          <a:xfrm>
            <a:off x="3566160" y="2057400"/>
            <a:ext cx="1188720" cy="502920"/>
          </a:xfrm>
          <a:prstGeom prst="rect">
            <a:avLst/>
          </a:prstGeom>
          <a:solidFill>
            <a:srgbClr val="F3F8F5"/>
          </a:solidFill>
          <a:ln w="6350">
            <a:solidFill>
              <a:srgbClr val="CCCCCC"/>
            </a:solidFill>
            <a:prstDash val="solid"/>
          </a:ln>
        </p:spPr>
      </p:sp>
      <p:sp>
        <p:nvSpPr>
          <p:cNvPr id="28" name="Text 24"/>
          <p:cNvSpPr txBox="1"/>
          <p:nvPr/>
        </p:nvSpPr>
        <p:spPr>
          <a:xfrm>
            <a:off x="3621024" y="2057400"/>
            <a:ext cx="1097280" cy="502920"/>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Ya</a:t>
            </a:r>
            <a:endParaRPr lang="en-US" sz="1150" dirty="0"/>
          </a:p>
        </p:txBody>
      </p:sp>
      <p:sp>
        <p:nvSpPr>
          <p:cNvPr id="29" name="Shape 25"/>
          <p:cNvSpPr/>
          <p:nvPr/>
        </p:nvSpPr>
        <p:spPr>
          <a:xfrm>
            <a:off x="4754880" y="2057400"/>
            <a:ext cx="1097280" cy="502920"/>
          </a:xfrm>
          <a:prstGeom prst="rect">
            <a:avLst/>
          </a:prstGeom>
          <a:solidFill>
            <a:srgbClr val="F3F8F5"/>
          </a:solidFill>
          <a:ln w="6350">
            <a:solidFill>
              <a:srgbClr val="CCCCCC"/>
            </a:solidFill>
            <a:prstDash val="solid"/>
          </a:ln>
        </p:spPr>
      </p:sp>
      <p:sp>
        <p:nvSpPr>
          <p:cNvPr id="30" name="Text 26"/>
          <p:cNvSpPr txBox="1"/>
          <p:nvPr/>
        </p:nvSpPr>
        <p:spPr>
          <a:xfrm>
            <a:off x="4809744" y="2057400"/>
            <a:ext cx="1005840" cy="502920"/>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22 dtk</a:t>
            </a:r>
            <a:endParaRPr lang="en-US" sz="1150" dirty="0"/>
          </a:p>
        </p:txBody>
      </p:sp>
      <p:sp>
        <p:nvSpPr>
          <p:cNvPr id="31" name="Shape 27"/>
          <p:cNvSpPr/>
          <p:nvPr/>
        </p:nvSpPr>
        <p:spPr>
          <a:xfrm>
            <a:off x="5852160" y="2057400"/>
            <a:ext cx="2834640" cy="502920"/>
          </a:xfrm>
          <a:prstGeom prst="rect">
            <a:avLst/>
          </a:prstGeom>
          <a:solidFill>
            <a:srgbClr val="F3F8F5"/>
          </a:solidFill>
          <a:ln w="6350">
            <a:solidFill>
              <a:srgbClr val="CCCCCC"/>
            </a:solidFill>
            <a:prstDash val="solid"/>
          </a:ln>
        </p:spPr>
      </p:sp>
      <p:sp>
        <p:nvSpPr>
          <p:cNvPr id="32" name="Text 28"/>
          <p:cNvSpPr txBox="1"/>
          <p:nvPr/>
        </p:nvSpPr>
        <p:spPr>
          <a:xfrm>
            <a:off x="5907024" y="2057400"/>
            <a:ext cx="2743200" cy="502920"/>
          </a:xfrm>
          <a:prstGeom prst="rect">
            <a:avLst/>
          </a:prstGeom>
          <a:noFill/>
          <a:ln/>
        </p:spPr>
        <p:txBody>
          <a:bodyPr wrap="square" lIns="0" tIns="0" rIns="0" bIns="0" rtlCol="0" anchor="ctr"/>
          <a:lstStyle/>
          <a:p>
            <a:pPr algn="l" indent="0" marL="0">
              <a:buNone/>
            </a:pPr>
            <a:r>
              <a:rPr lang="en-US" sz="1150" dirty="0">
                <a:solidFill>
                  <a:srgbClr val="1E2A26"/>
                </a:solidFill>
                <a:latin typeface="Calibri" pitchFamily="34" charset="0"/>
                <a:ea typeface="Calibri" pitchFamily="34" charset="-122"/>
                <a:cs typeface="Calibri" pitchFamily="34" charset="-120"/>
              </a:rPr>
              <a:t>Mencari tombol Cek</a:t>
            </a:r>
            <a:endParaRPr lang="en-US" sz="1150" dirty="0"/>
          </a:p>
        </p:txBody>
      </p:sp>
      <p:sp>
        <p:nvSpPr>
          <p:cNvPr id="33" name="Shape 29"/>
          <p:cNvSpPr/>
          <p:nvPr/>
        </p:nvSpPr>
        <p:spPr>
          <a:xfrm>
            <a:off x="457200" y="2560320"/>
            <a:ext cx="3108960" cy="502920"/>
          </a:xfrm>
          <a:prstGeom prst="rect">
            <a:avLst/>
          </a:prstGeom>
          <a:solidFill>
            <a:srgbClr val="FFFFFF"/>
          </a:solidFill>
          <a:ln w="6350">
            <a:solidFill>
              <a:srgbClr val="CCCCCC"/>
            </a:solidFill>
            <a:prstDash val="solid"/>
          </a:ln>
        </p:spPr>
      </p:sp>
      <p:sp>
        <p:nvSpPr>
          <p:cNvPr id="34" name="Text 30"/>
          <p:cNvSpPr txBox="1"/>
          <p:nvPr/>
        </p:nvSpPr>
        <p:spPr>
          <a:xfrm>
            <a:off x="512064" y="2560320"/>
            <a:ext cx="3017520" cy="502920"/>
          </a:xfrm>
          <a:prstGeom prst="rect">
            <a:avLst/>
          </a:prstGeom>
          <a:noFill/>
          <a:ln/>
        </p:spPr>
        <p:txBody>
          <a:bodyPr wrap="square" lIns="0" tIns="0" rIns="0" bIns="0" rtlCol="0" anchor="ctr"/>
          <a:lstStyle/>
          <a:p>
            <a:pPr algn="l" indent="0" marL="0">
              <a:buNone/>
            </a:pPr>
            <a:r>
              <a:rPr lang="en-US" sz="1150" dirty="0">
                <a:solidFill>
                  <a:srgbClr val="1E2A26"/>
                </a:solidFill>
                <a:latin typeface="Calibri" pitchFamily="34" charset="0"/>
                <a:ea typeface="Calibri" pitchFamily="34" charset="-122"/>
                <a:cs typeface="Calibri" pitchFamily="34" charset="-120"/>
              </a:rPr>
              <a:t>3. Lihat 3 setoran terakhir</a:t>
            </a:r>
            <a:endParaRPr lang="en-US" sz="1150" dirty="0"/>
          </a:p>
        </p:txBody>
      </p:sp>
      <p:sp>
        <p:nvSpPr>
          <p:cNvPr id="35" name="Shape 31"/>
          <p:cNvSpPr/>
          <p:nvPr/>
        </p:nvSpPr>
        <p:spPr>
          <a:xfrm>
            <a:off x="3566160" y="2560320"/>
            <a:ext cx="1188720" cy="502920"/>
          </a:xfrm>
          <a:prstGeom prst="rect">
            <a:avLst/>
          </a:prstGeom>
          <a:solidFill>
            <a:srgbClr val="FFFFFF"/>
          </a:solidFill>
          <a:ln w="6350">
            <a:solidFill>
              <a:srgbClr val="CCCCCC"/>
            </a:solidFill>
            <a:prstDash val="solid"/>
          </a:ln>
        </p:spPr>
      </p:sp>
      <p:sp>
        <p:nvSpPr>
          <p:cNvPr id="36" name="Text 32"/>
          <p:cNvSpPr txBox="1"/>
          <p:nvPr/>
        </p:nvSpPr>
        <p:spPr>
          <a:xfrm>
            <a:off x="3621024" y="2560320"/>
            <a:ext cx="1097280" cy="502920"/>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Ya</a:t>
            </a:r>
            <a:endParaRPr lang="en-US" sz="1150" dirty="0"/>
          </a:p>
        </p:txBody>
      </p:sp>
      <p:sp>
        <p:nvSpPr>
          <p:cNvPr id="37" name="Shape 33"/>
          <p:cNvSpPr/>
          <p:nvPr/>
        </p:nvSpPr>
        <p:spPr>
          <a:xfrm>
            <a:off x="4754880" y="2560320"/>
            <a:ext cx="1097280" cy="502920"/>
          </a:xfrm>
          <a:prstGeom prst="rect">
            <a:avLst/>
          </a:prstGeom>
          <a:solidFill>
            <a:srgbClr val="FFFFFF"/>
          </a:solidFill>
          <a:ln w="6350">
            <a:solidFill>
              <a:srgbClr val="CCCCCC"/>
            </a:solidFill>
            <a:prstDash val="solid"/>
          </a:ln>
        </p:spPr>
      </p:sp>
      <p:sp>
        <p:nvSpPr>
          <p:cNvPr id="38" name="Text 34"/>
          <p:cNvSpPr txBox="1"/>
          <p:nvPr/>
        </p:nvSpPr>
        <p:spPr>
          <a:xfrm>
            <a:off x="4809744" y="2560320"/>
            <a:ext cx="1005840" cy="502920"/>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8 dtk</a:t>
            </a:r>
            <a:endParaRPr lang="en-US" sz="1150" dirty="0"/>
          </a:p>
        </p:txBody>
      </p:sp>
      <p:sp>
        <p:nvSpPr>
          <p:cNvPr id="39" name="Shape 35"/>
          <p:cNvSpPr/>
          <p:nvPr/>
        </p:nvSpPr>
        <p:spPr>
          <a:xfrm>
            <a:off x="5852160" y="2560320"/>
            <a:ext cx="2834640" cy="502920"/>
          </a:xfrm>
          <a:prstGeom prst="rect">
            <a:avLst/>
          </a:prstGeom>
          <a:solidFill>
            <a:srgbClr val="FFFFFF"/>
          </a:solidFill>
          <a:ln w="6350">
            <a:solidFill>
              <a:srgbClr val="CCCCCC"/>
            </a:solidFill>
            <a:prstDash val="solid"/>
          </a:ln>
        </p:spPr>
      </p:sp>
      <p:sp>
        <p:nvSpPr>
          <p:cNvPr id="40" name="Text 36"/>
          <p:cNvSpPr txBox="1"/>
          <p:nvPr/>
        </p:nvSpPr>
        <p:spPr>
          <a:xfrm>
            <a:off x="5907024" y="2560320"/>
            <a:ext cx="2743200" cy="502920"/>
          </a:xfrm>
          <a:prstGeom prst="rect">
            <a:avLst/>
          </a:prstGeom>
          <a:noFill/>
          <a:ln/>
        </p:spPr>
        <p:txBody>
          <a:bodyPr wrap="square" lIns="0" tIns="0" rIns="0" bIns="0" rtlCol="0" anchor="ctr"/>
          <a:lstStyle/>
          <a:p>
            <a:pPr algn="l" indent="0" marL="0">
              <a:buNone/>
            </a:pPr>
            <a:r>
              <a:rPr lang="en-US" sz="1150" dirty="0">
                <a:solidFill>
                  <a:srgbClr val="1E2A26"/>
                </a:solidFill>
                <a:latin typeface="Calibri" pitchFamily="34" charset="0"/>
                <a:ea typeface="Calibri" pitchFamily="34" charset="-122"/>
                <a:cs typeface="Calibri" pitchFamily="34" charset="-120"/>
              </a:rPr>
              <a:t>—</a:t>
            </a:r>
            <a:endParaRPr lang="en-US" sz="1150" dirty="0"/>
          </a:p>
        </p:txBody>
      </p:sp>
      <p:sp>
        <p:nvSpPr>
          <p:cNvPr id="41" name="Shape 37"/>
          <p:cNvSpPr/>
          <p:nvPr/>
        </p:nvSpPr>
        <p:spPr>
          <a:xfrm>
            <a:off x="457200" y="3200400"/>
            <a:ext cx="8229600" cy="1325880"/>
          </a:xfrm>
          <a:prstGeom prst="roundRect">
            <a:avLst>
              <a:gd name="adj" fmla="val 6897"/>
            </a:avLst>
          </a:prstGeom>
          <a:solidFill>
            <a:srgbClr val="E6F2EC"/>
          </a:solidFill>
          <a:ln w="12700">
            <a:solidFill>
              <a:srgbClr val="E6F2EC"/>
            </a:solidFill>
            <a:prstDash val="solid"/>
          </a:ln>
        </p:spPr>
      </p:sp>
      <p:sp>
        <p:nvSpPr>
          <p:cNvPr id="42" name="Text 38"/>
          <p:cNvSpPr txBox="1"/>
          <p:nvPr/>
        </p:nvSpPr>
        <p:spPr>
          <a:xfrm>
            <a:off x="640080" y="3246120"/>
            <a:ext cx="7863840" cy="1234440"/>
          </a:xfrm>
          <a:prstGeom prst="rect">
            <a:avLst/>
          </a:prstGeom>
          <a:noFill/>
          <a:ln/>
        </p:spPr>
        <p:txBody>
          <a:bodyPr wrap="square" lIns="0" tIns="0" rIns="0" bIns="0" rtlCol="0" anchor="ctr"/>
          <a:lstStyle/>
          <a:p>
            <a:pPr indent="0" marL="0">
              <a:buNone/>
            </a:pPr>
            <a:r>
              <a:rPr lang="en-US" sz="1350" b="1" dirty="0">
                <a:solidFill>
                  <a:srgbClr val="0F4C3A"/>
                </a:solidFill>
                <a:latin typeface="Calibri" pitchFamily="34" charset="0"/>
                <a:ea typeface="Calibri" pitchFamily="34" charset="-122"/>
                <a:cs typeface="Calibri" pitchFamily="34" charset="-120"/>
              </a:rPr>
              <a:t>Aturan pengamat: </a:t>
            </a:r>
            <a:pPr indent="0" marL="0">
              <a:buNone/>
            </a:pPr>
            <a:r>
              <a:rPr lang="en-US" sz="1350" dirty="0">
                <a:solidFill>
                  <a:srgbClr val="1E2A26"/>
                </a:solidFill>
                <a:latin typeface="Calibri" pitchFamily="34" charset="0"/>
                <a:ea typeface="Calibri" pitchFamily="34" charset="-122"/>
                <a:cs typeface="Calibri" pitchFamily="34" charset="-120"/>
              </a:rPr>
              <a:t>beri tugas, bukan petunjuk. Jangan membantu dan jangan menjelaskan. Catat apa yang terjadi. Jika pengguna gagal, itu kesalahan desain, bukan kesalahan pengguna.</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Uji Kegunaan dan Presentasi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10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Menyiapkan tugas uji</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Menguji pengguna</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Perbaikan akhir dan presentasi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Persiapan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Uji_Kegunaan_Kel3 -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Uji_Kegunaan_Kel3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Tugas Uji Kegunaan</a:t>
            </a:r>
            <a:endParaRPr lang="en-US" sz="1100" dirty="0"/>
          </a:p>
        </p:txBody>
      </p:sp>
      <p:sp>
        <p:nvSpPr>
          <p:cNvPr id="70" name="Text 59"/>
          <p:cNvSpPr txBox="1"/>
          <p:nvPr/>
        </p:nvSpPr>
        <p:spPr>
          <a:xfrm>
            <a:off x="1645920" y="287693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1. Simpan setoran: kode S001, An-Naba, 20 ayat.</a:t>
            </a:r>
            <a:endParaRPr lang="en-US" sz="750" dirty="0"/>
          </a:p>
        </p:txBody>
      </p:sp>
      <p:sp>
        <p:nvSpPr>
          <p:cNvPr id="71" name="Text 60"/>
          <p:cNvSpPr txBox="1"/>
          <p:nvPr/>
        </p:nvSpPr>
        <p:spPr>
          <a:xfrm>
            <a:off x="1645920" y="3024195"/>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2. Cek total setoran pekan ini untuk S001.</a:t>
            </a:r>
            <a:endParaRPr lang="en-US" sz="750" dirty="0"/>
          </a:p>
        </p:txBody>
      </p:sp>
      <p:sp>
        <p:nvSpPr>
          <p:cNvPr id="72" name="Text 61"/>
          <p:cNvSpPr txBox="1"/>
          <p:nvPr/>
        </p:nvSpPr>
        <p:spPr>
          <a:xfrm>
            <a:off x="1645920" y="3171451"/>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3. Lihat tiga setoran terakhir.</a:t>
            </a:r>
            <a:endParaRPr lang="en-US" sz="750" dirty="0"/>
          </a:p>
        </p:txBody>
      </p:sp>
      <p:sp>
        <p:nvSpPr>
          <p:cNvPr id="73" name="Text 62"/>
          <p:cNvSpPr txBox="1"/>
          <p:nvPr/>
        </p:nvSpPr>
        <p:spPr>
          <a:xfrm>
            <a:off x="1554480" y="331870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(Data latihan. Jangan beri petunjuk cara.)</a:t>
            </a:r>
            <a:endParaRPr lang="en-US" sz="800" dirty="0"/>
          </a:p>
        </p:txBody>
      </p:sp>
      <p:sp>
        <p:nvSpPr>
          <p:cNvPr id="74" name="Shape 63"/>
          <p:cNvSpPr/>
          <p:nvPr/>
        </p:nvSpPr>
        <p:spPr>
          <a:xfrm>
            <a:off x="1527048" y="2849506"/>
            <a:ext cx="3072384" cy="487490"/>
          </a:xfrm>
          <a:prstGeom prst="roundRect">
            <a:avLst>
              <a:gd name="adj" fmla="val 9379"/>
            </a:avLst>
          </a:prstGeom>
          <a:solidFill>
            <a:srgbClr val="FFFFFF">
              <a:alpha val="0"/>
            </a:srgbClr>
          </a:solidFill>
          <a:ln w="31750">
            <a:solidFill>
              <a:srgbClr val="E53935"/>
            </a:solidFill>
            <a:prstDash val="solid"/>
          </a:ln>
        </p:spPr>
      </p:sp>
      <p:sp>
        <p:nvSpPr>
          <p:cNvPr id="75" name="Shape 64"/>
          <p:cNvSpPr/>
          <p:nvPr/>
        </p:nvSpPr>
        <p:spPr>
          <a:xfrm>
            <a:off x="4462272" y="2712346"/>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77" name="Image 9" descr="preencoded.png">    </p:cNvPr>
          <p:cNvPicPr>
            <a:picLocks noChangeAspect="1"/>
          </p:cNvPicPr>
          <p:nvPr/>
        </p:nvPicPr>
        <p:blipFill>
          <a:blip r:embed="rId10"/>
          <a:stretch>
            <a:fillRect/>
          </a:stretch>
        </p:blipFill>
        <p:spPr>
          <a:xfrm>
            <a:off x="3214116" y="3114882"/>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3 tugas uji</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Tugas berupa tujuan, bukan langkah. Contoh: "Simpan setoranmu hari ini", bukan "Klik kolom kode lalu...".</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Persiapan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Uji_Kegunaan_Kel3 -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Uji_Kegunaan_Kel3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Pengguna 1 (Santri 8B)</a:t>
            </a:r>
            <a:endParaRPr lang="en-US" sz="1100" dirty="0"/>
          </a:p>
        </p:txBody>
      </p:sp>
      <p:sp>
        <p:nvSpPr>
          <p:cNvPr id="70" name="Shape 59"/>
          <p:cNvSpPr/>
          <p:nvPr/>
        </p:nvSpPr>
        <p:spPr>
          <a:xfrm>
            <a:off x="1554480" y="2876938"/>
            <a:ext cx="75438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Tugas</a:t>
            </a:r>
            <a:endParaRPr lang="en-US" sz="650" dirty="0"/>
          </a:p>
        </p:txBody>
      </p:sp>
      <p:sp>
        <p:nvSpPr>
          <p:cNvPr id="72" name="Shape 61"/>
          <p:cNvSpPr/>
          <p:nvPr/>
        </p:nvSpPr>
        <p:spPr>
          <a:xfrm>
            <a:off x="2308860" y="2876938"/>
            <a:ext cx="754380" cy="182880"/>
          </a:xfrm>
          <a:prstGeom prst="rect">
            <a:avLst/>
          </a:prstGeom>
          <a:solidFill>
            <a:srgbClr val="D9EAD3"/>
          </a:solidFill>
          <a:ln w="6350">
            <a:solidFill>
              <a:srgbClr val="777777"/>
            </a:solidFill>
            <a:prstDash val="solid"/>
          </a:ln>
        </p:spPr>
      </p:sp>
      <p:sp>
        <p:nvSpPr>
          <p:cNvPr id="73" name="Text 62"/>
          <p:cNvSpPr txBox="1"/>
          <p:nvPr/>
        </p:nvSpPr>
        <p:spPr>
          <a:xfrm>
            <a:off x="233629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Berhasil?</a:t>
            </a:r>
            <a:endParaRPr lang="en-US" sz="650" dirty="0"/>
          </a:p>
        </p:txBody>
      </p:sp>
      <p:sp>
        <p:nvSpPr>
          <p:cNvPr id="74" name="Shape 63"/>
          <p:cNvSpPr/>
          <p:nvPr/>
        </p:nvSpPr>
        <p:spPr>
          <a:xfrm>
            <a:off x="3063240" y="2876938"/>
            <a:ext cx="754380" cy="182880"/>
          </a:xfrm>
          <a:prstGeom prst="rect">
            <a:avLst/>
          </a:prstGeom>
          <a:solidFill>
            <a:srgbClr val="D9EAD3"/>
          </a:solidFill>
          <a:ln w="6350">
            <a:solidFill>
              <a:srgbClr val="777777"/>
            </a:solidFill>
            <a:prstDash val="solid"/>
          </a:ln>
        </p:spPr>
      </p:sp>
      <p:sp>
        <p:nvSpPr>
          <p:cNvPr id="75" name="Text 64"/>
          <p:cNvSpPr txBox="1"/>
          <p:nvPr/>
        </p:nvSpPr>
        <p:spPr>
          <a:xfrm>
            <a:off x="309067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Waktu</a:t>
            </a:r>
            <a:endParaRPr lang="en-US" sz="650" dirty="0"/>
          </a:p>
        </p:txBody>
      </p:sp>
      <p:sp>
        <p:nvSpPr>
          <p:cNvPr id="76" name="Shape 65"/>
          <p:cNvSpPr/>
          <p:nvPr/>
        </p:nvSpPr>
        <p:spPr>
          <a:xfrm>
            <a:off x="3817620" y="2876938"/>
            <a:ext cx="754380" cy="182880"/>
          </a:xfrm>
          <a:prstGeom prst="rect">
            <a:avLst/>
          </a:prstGeom>
          <a:solidFill>
            <a:srgbClr val="D9EAD3"/>
          </a:solidFill>
          <a:ln w="6350">
            <a:solidFill>
              <a:srgbClr val="777777"/>
            </a:solidFill>
            <a:prstDash val="solid"/>
          </a:ln>
        </p:spPr>
      </p:sp>
      <p:sp>
        <p:nvSpPr>
          <p:cNvPr id="77" name="Text 66"/>
          <p:cNvSpPr txBox="1"/>
          <p:nvPr/>
        </p:nvSpPr>
        <p:spPr>
          <a:xfrm>
            <a:off x="3845052" y="2876938"/>
            <a:ext cx="70866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Bingung</a:t>
            </a:r>
            <a:endParaRPr lang="en-US" sz="650" dirty="0"/>
          </a:p>
        </p:txBody>
      </p:sp>
      <p:sp>
        <p:nvSpPr>
          <p:cNvPr id="78" name="Shape 67"/>
          <p:cNvSpPr/>
          <p:nvPr/>
        </p:nvSpPr>
        <p:spPr>
          <a:xfrm>
            <a:off x="1554480" y="3059818"/>
            <a:ext cx="754380" cy="182880"/>
          </a:xfrm>
          <a:prstGeom prst="rect">
            <a:avLst/>
          </a:prstGeom>
          <a:solidFill>
            <a:srgbClr val="FFFFFF"/>
          </a:solidFill>
          <a:ln w="6350">
            <a:solidFill>
              <a:srgbClr val="777777"/>
            </a:solidFill>
            <a:prstDash val="solid"/>
          </a:ln>
        </p:spPr>
      </p:sp>
      <p:sp>
        <p:nvSpPr>
          <p:cNvPr id="79" name="Text 68"/>
          <p:cNvSpPr txBox="1"/>
          <p:nvPr/>
        </p:nvSpPr>
        <p:spPr>
          <a:xfrm>
            <a:off x="1581912" y="305981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1</a:t>
            </a:r>
            <a:endParaRPr lang="en-US" sz="650" dirty="0"/>
          </a:p>
        </p:txBody>
      </p:sp>
      <p:sp>
        <p:nvSpPr>
          <p:cNvPr id="80" name="Shape 69"/>
          <p:cNvSpPr/>
          <p:nvPr/>
        </p:nvSpPr>
        <p:spPr>
          <a:xfrm>
            <a:off x="2308860" y="3059818"/>
            <a:ext cx="754380" cy="182880"/>
          </a:xfrm>
          <a:prstGeom prst="rect">
            <a:avLst/>
          </a:prstGeom>
          <a:solidFill>
            <a:srgbClr val="FFFFFF"/>
          </a:solidFill>
          <a:ln w="6350">
            <a:solidFill>
              <a:srgbClr val="777777"/>
            </a:solidFill>
            <a:prstDash val="solid"/>
          </a:ln>
        </p:spPr>
      </p:sp>
      <p:sp>
        <p:nvSpPr>
          <p:cNvPr id="81" name="Text 70"/>
          <p:cNvSpPr txBox="1"/>
          <p:nvPr/>
        </p:nvSpPr>
        <p:spPr>
          <a:xfrm>
            <a:off x="2336292" y="3059818"/>
            <a:ext cx="708660" cy="182880"/>
          </a:xfrm>
          <a:prstGeom prst="rect">
            <a:avLst/>
          </a:prstGeom>
          <a:noFill/>
          <a:ln/>
        </p:spPr>
        <p:txBody>
          <a:bodyPr wrap="square" lIns="0" tIns="0" rIns="0" bIns="0" rtlCol="0" anchor="ctr"/>
          <a:lstStyle/>
          <a:p>
            <a:pPr indent="0" marL="0">
              <a:buNone/>
            </a:pPr>
            <a:endParaRPr lang="en-US" sz="650" dirty="0"/>
          </a:p>
        </p:txBody>
      </p:sp>
      <p:sp>
        <p:nvSpPr>
          <p:cNvPr id="82" name="Shape 71"/>
          <p:cNvSpPr/>
          <p:nvPr/>
        </p:nvSpPr>
        <p:spPr>
          <a:xfrm>
            <a:off x="3063240" y="3059818"/>
            <a:ext cx="754380" cy="182880"/>
          </a:xfrm>
          <a:prstGeom prst="rect">
            <a:avLst/>
          </a:prstGeom>
          <a:solidFill>
            <a:srgbClr val="FFFFFF"/>
          </a:solidFill>
          <a:ln w="6350">
            <a:solidFill>
              <a:srgbClr val="777777"/>
            </a:solidFill>
            <a:prstDash val="solid"/>
          </a:ln>
        </p:spPr>
      </p:sp>
      <p:sp>
        <p:nvSpPr>
          <p:cNvPr id="83" name="Text 72"/>
          <p:cNvSpPr txBox="1"/>
          <p:nvPr/>
        </p:nvSpPr>
        <p:spPr>
          <a:xfrm>
            <a:off x="3090672" y="3059818"/>
            <a:ext cx="708660" cy="182880"/>
          </a:xfrm>
          <a:prstGeom prst="rect">
            <a:avLst/>
          </a:prstGeom>
          <a:noFill/>
          <a:ln/>
        </p:spPr>
        <p:txBody>
          <a:bodyPr wrap="square" lIns="0" tIns="0" rIns="0" bIns="0" rtlCol="0" anchor="ctr"/>
          <a:lstStyle/>
          <a:p>
            <a:pPr indent="0" marL="0">
              <a:buNone/>
            </a:pPr>
            <a:endParaRPr lang="en-US" sz="650" dirty="0"/>
          </a:p>
        </p:txBody>
      </p:sp>
      <p:sp>
        <p:nvSpPr>
          <p:cNvPr id="84" name="Shape 73"/>
          <p:cNvSpPr/>
          <p:nvPr/>
        </p:nvSpPr>
        <p:spPr>
          <a:xfrm>
            <a:off x="3817620" y="3059818"/>
            <a:ext cx="754380" cy="182880"/>
          </a:xfrm>
          <a:prstGeom prst="rect">
            <a:avLst/>
          </a:prstGeom>
          <a:solidFill>
            <a:srgbClr val="FFFFFF"/>
          </a:solidFill>
          <a:ln w="6350">
            <a:solidFill>
              <a:srgbClr val="777777"/>
            </a:solidFill>
            <a:prstDash val="solid"/>
          </a:ln>
        </p:spPr>
      </p:sp>
      <p:sp>
        <p:nvSpPr>
          <p:cNvPr id="85" name="Text 74"/>
          <p:cNvSpPr txBox="1"/>
          <p:nvPr/>
        </p:nvSpPr>
        <p:spPr>
          <a:xfrm>
            <a:off x="3845052" y="3059818"/>
            <a:ext cx="708660" cy="182880"/>
          </a:xfrm>
          <a:prstGeom prst="rect">
            <a:avLst/>
          </a:prstGeom>
          <a:noFill/>
          <a:ln/>
        </p:spPr>
        <p:txBody>
          <a:bodyPr wrap="square" lIns="0" tIns="0" rIns="0" bIns="0" rtlCol="0" anchor="ctr"/>
          <a:lstStyle/>
          <a:p>
            <a:pPr indent="0" marL="0">
              <a:buNone/>
            </a:pPr>
            <a:endParaRPr lang="en-US" sz="650" dirty="0"/>
          </a:p>
        </p:txBody>
      </p:sp>
      <p:sp>
        <p:nvSpPr>
          <p:cNvPr id="86" name="Shape 75"/>
          <p:cNvSpPr/>
          <p:nvPr/>
        </p:nvSpPr>
        <p:spPr>
          <a:xfrm>
            <a:off x="1554480" y="3242698"/>
            <a:ext cx="754380" cy="182880"/>
          </a:xfrm>
          <a:prstGeom prst="rect">
            <a:avLst/>
          </a:prstGeom>
          <a:solidFill>
            <a:srgbClr val="FFFFFF"/>
          </a:solidFill>
          <a:ln w="6350">
            <a:solidFill>
              <a:srgbClr val="777777"/>
            </a:solidFill>
            <a:prstDash val="solid"/>
          </a:ln>
        </p:spPr>
      </p:sp>
      <p:sp>
        <p:nvSpPr>
          <p:cNvPr id="87" name="Text 76"/>
          <p:cNvSpPr txBox="1"/>
          <p:nvPr/>
        </p:nvSpPr>
        <p:spPr>
          <a:xfrm>
            <a:off x="1581912" y="324269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2</a:t>
            </a:r>
            <a:endParaRPr lang="en-US" sz="650" dirty="0"/>
          </a:p>
        </p:txBody>
      </p:sp>
      <p:sp>
        <p:nvSpPr>
          <p:cNvPr id="88" name="Shape 77"/>
          <p:cNvSpPr/>
          <p:nvPr/>
        </p:nvSpPr>
        <p:spPr>
          <a:xfrm>
            <a:off x="2308860" y="3242698"/>
            <a:ext cx="754380" cy="182880"/>
          </a:xfrm>
          <a:prstGeom prst="rect">
            <a:avLst/>
          </a:prstGeom>
          <a:solidFill>
            <a:srgbClr val="FFFFFF"/>
          </a:solidFill>
          <a:ln w="6350">
            <a:solidFill>
              <a:srgbClr val="777777"/>
            </a:solidFill>
            <a:prstDash val="solid"/>
          </a:ln>
        </p:spPr>
      </p:sp>
      <p:sp>
        <p:nvSpPr>
          <p:cNvPr id="89" name="Text 78"/>
          <p:cNvSpPr txBox="1"/>
          <p:nvPr/>
        </p:nvSpPr>
        <p:spPr>
          <a:xfrm>
            <a:off x="2336292" y="3242698"/>
            <a:ext cx="708660" cy="182880"/>
          </a:xfrm>
          <a:prstGeom prst="rect">
            <a:avLst/>
          </a:prstGeom>
          <a:noFill/>
          <a:ln/>
        </p:spPr>
        <p:txBody>
          <a:bodyPr wrap="square" lIns="0" tIns="0" rIns="0" bIns="0" rtlCol="0" anchor="ctr"/>
          <a:lstStyle/>
          <a:p>
            <a:pPr indent="0" marL="0">
              <a:buNone/>
            </a:pPr>
            <a:endParaRPr lang="en-US" sz="650" dirty="0"/>
          </a:p>
        </p:txBody>
      </p:sp>
      <p:sp>
        <p:nvSpPr>
          <p:cNvPr id="90" name="Shape 79"/>
          <p:cNvSpPr/>
          <p:nvPr/>
        </p:nvSpPr>
        <p:spPr>
          <a:xfrm>
            <a:off x="3063240" y="3242698"/>
            <a:ext cx="754380" cy="182880"/>
          </a:xfrm>
          <a:prstGeom prst="rect">
            <a:avLst/>
          </a:prstGeom>
          <a:solidFill>
            <a:srgbClr val="FFFFFF"/>
          </a:solidFill>
          <a:ln w="6350">
            <a:solidFill>
              <a:srgbClr val="777777"/>
            </a:solidFill>
            <a:prstDash val="solid"/>
          </a:ln>
        </p:spPr>
      </p:sp>
      <p:sp>
        <p:nvSpPr>
          <p:cNvPr id="91" name="Text 80"/>
          <p:cNvSpPr txBox="1"/>
          <p:nvPr/>
        </p:nvSpPr>
        <p:spPr>
          <a:xfrm>
            <a:off x="3090672" y="3242698"/>
            <a:ext cx="708660" cy="182880"/>
          </a:xfrm>
          <a:prstGeom prst="rect">
            <a:avLst/>
          </a:prstGeom>
          <a:noFill/>
          <a:ln/>
        </p:spPr>
        <p:txBody>
          <a:bodyPr wrap="square" lIns="0" tIns="0" rIns="0" bIns="0" rtlCol="0" anchor="ctr"/>
          <a:lstStyle/>
          <a:p>
            <a:pPr indent="0" marL="0">
              <a:buNone/>
            </a:pPr>
            <a:endParaRPr lang="en-US" sz="650" dirty="0"/>
          </a:p>
        </p:txBody>
      </p:sp>
      <p:sp>
        <p:nvSpPr>
          <p:cNvPr id="92" name="Shape 81"/>
          <p:cNvSpPr/>
          <p:nvPr/>
        </p:nvSpPr>
        <p:spPr>
          <a:xfrm>
            <a:off x="3817620" y="3242698"/>
            <a:ext cx="754380" cy="182880"/>
          </a:xfrm>
          <a:prstGeom prst="rect">
            <a:avLst/>
          </a:prstGeom>
          <a:solidFill>
            <a:srgbClr val="FFFFFF"/>
          </a:solidFill>
          <a:ln w="6350">
            <a:solidFill>
              <a:srgbClr val="777777"/>
            </a:solidFill>
            <a:prstDash val="solid"/>
          </a:ln>
        </p:spPr>
      </p:sp>
      <p:sp>
        <p:nvSpPr>
          <p:cNvPr id="93" name="Text 82"/>
          <p:cNvSpPr txBox="1"/>
          <p:nvPr/>
        </p:nvSpPr>
        <p:spPr>
          <a:xfrm>
            <a:off x="3845052" y="3242698"/>
            <a:ext cx="708660" cy="182880"/>
          </a:xfrm>
          <a:prstGeom prst="rect">
            <a:avLst/>
          </a:prstGeom>
          <a:noFill/>
          <a:ln/>
        </p:spPr>
        <p:txBody>
          <a:bodyPr wrap="square" lIns="0" tIns="0" rIns="0" bIns="0" rtlCol="0" anchor="ctr"/>
          <a:lstStyle/>
          <a:p>
            <a:pPr indent="0" marL="0">
              <a:buNone/>
            </a:pPr>
            <a:endParaRPr lang="en-US" sz="650" dirty="0"/>
          </a:p>
        </p:txBody>
      </p:sp>
      <p:sp>
        <p:nvSpPr>
          <p:cNvPr id="94" name="Shape 83"/>
          <p:cNvSpPr/>
          <p:nvPr/>
        </p:nvSpPr>
        <p:spPr>
          <a:xfrm>
            <a:off x="1554480" y="3425578"/>
            <a:ext cx="754380" cy="182880"/>
          </a:xfrm>
          <a:prstGeom prst="rect">
            <a:avLst/>
          </a:prstGeom>
          <a:solidFill>
            <a:srgbClr val="FFFFFF"/>
          </a:solidFill>
          <a:ln w="6350">
            <a:solidFill>
              <a:srgbClr val="777777"/>
            </a:solidFill>
            <a:prstDash val="solid"/>
          </a:ln>
        </p:spPr>
      </p:sp>
      <p:sp>
        <p:nvSpPr>
          <p:cNvPr id="95" name="Text 84"/>
          <p:cNvSpPr txBox="1"/>
          <p:nvPr/>
        </p:nvSpPr>
        <p:spPr>
          <a:xfrm>
            <a:off x="1581912" y="3425578"/>
            <a:ext cx="70866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3</a:t>
            </a:r>
            <a:endParaRPr lang="en-US" sz="650" dirty="0"/>
          </a:p>
        </p:txBody>
      </p:sp>
      <p:sp>
        <p:nvSpPr>
          <p:cNvPr id="96" name="Shape 85"/>
          <p:cNvSpPr/>
          <p:nvPr/>
        </p:nvSpPr>
        <p:spPr>
          <a:xfrm>
            <a:off x="2308860" y="3425578"/>
            <a:ext cx="754380" cy="182880"/>
          </a:xfrm>
          <a:prstGeom prst="rect">
            <a:avLst/>
          </a:prstGeom>
          <a:solidFill>
            <a:srgbClr val="FFFFFF"/>
          </a:solidFill>
          <a:ln w="6350">
            <a:solidFill>
              <a:srgbClr val="777777"/>
            </a:solidFill>
            <a:prstDash val="solid"/>
          </a:ln>
        </p:spPr>
      </p:sp>
      <p:sp>
        <p:nvSpPr>
          <p:cNvPr id="97" name="Text 86"/>
          <p:cNvSpPr txBox="1"/>
          <p:nvPr/>
        </p:nvSpPr>
        <p:spPr>
          <a:xfrm>
            <a:off x="2336292" y="3425578"/>
            <a:ext cx="708660" cy="182880"/>
          </a:xfrm>
          <a:prstGeom prst="rect">
            <a:avLst/>
          </a:prstGeom>
          <a:noFill/>
          <a:ln/>
        </p:spPr>
        <p:txBody>
          <a:bodyPr wrap="square" lIns="0" tIns="0" rIns="0" bIns="0" rtlCol="0" anchor="ctr"/>
          <a:lstStyle/>
          <a:p>
            <a:pPr indent="0" marL="0">
              <a:buNone/>
            </a:pPr>
            <a:endParaRPr lang="en-US" sz="650" dirty="0"/>
          </a:p>
        </p:txBody>
      </p:sp>
      <p:sp>
        <p:nvSpPr>
          <p:cNvPr id="98" name="Shape 87"/>
          <p:cNvSpPr/>
          <p:nvPr/>
        </p:nvSpPr>
        <p:spPr>
          <a:xfrm>
            <a:off x="3063240" y="3425578"/>
            <a:ext cx="754380" cy="182880"/>
          </a:xfrm>
          <a:prstGeom prst="rect">
            <a:avLst/>
          </a:prstGeom>
          <a:solidFill>
            <a:srgbClr val="FFFFFF"/>
          </a:solidFill>
          <a:ln w="6350">
            <a:solidFill>
              <a:srgbClr val="777777"/>
            </a:solidFill>
            <a:prstDash val="solid"/>
          </a:ln>
        </p:spPr>
      </p:sp>
      <p:sp>
        <p:nvSpPr>
          <p:cNvPr id="99" name="Text 88"/>
          <p:cNvSpPr txBox="1"/>
          <p:nvPr/>
        </p:nvSpPr>
        <p:spPr>
          <a:xfrm>
            <a:off x="3090672" y="3425578"/>
            <a:ext cx="708660" cy="182880"/>
          </a:xfrm>
          <a:prstGeom prst="rect">
            <a:avLst/>
          </a:prstGeom>
          <a:noFill/>
          <a:ln/>
        </p:spPr>
        <p:txBody>
          <a:bodyPr wrap="square" lIns="0" tIns="0" rIns="0" bIns="0" rtlCol="0" anchor="ctr"/>
          <a:lstStyle/>
          <a:p>
            <a:pPr indent="0" marL="0">
              <a:buNone/>
            </a:pPr>
            <a:endParaRPr lang="en-US" sz="650" dirty="0"/>
          </a:p>
        </p:txBody>
      </p:sp>
      <p:sp>
        <p:nvSpPr>
          <p:cNvPr id="100" name="Shape 89"/>
          <p:cNvSpPr/>
          <p:nvPr/>
        </p:nvSpPr>
        <p:spPr>
          <a:xfrm>
            <a:off x="3817620" y="3425578"/>
            <a:ext cx="754380" cy="182880"/>
          </a:xfrm>
          <a:prstGeom prst="rect">
            <a:avLst/>
          </a:prstGeom>
          <a:solidFill>
            <a:srgbClr val="FFFFFF"/>
          </a:solidFill>
          <a:ln w="6350">
            <a:solidFill>
              <a:srgbClr val="777777"/>
            </a:solidFill>
            <a:prstDash val="solid"/>
          </a:ln>
        </p:spPr>
      </p:sp>
      <p:sp>
        <p:nvSpPr>
          <p:cNvPr id="101" name="Text 90"/>
          <p:cNvSpPr txBox="1"/>
          <p:nvPr/>
        </p:nvSpPr>
        <p:spPr>
          <a:xfrm>
            <a:off x="3845052" y="3425578"/>
            <a:ext cx="708660" cy="182880"/>
          </a:xfrm>
          <a:prstGeom prst="rect">
            <a:avLst/>
          </a:prstGeom>
          <a:noFill/>
          <a:ln/>
        </p:spPr>
        <p:txBody>
          <a:bodyPr wrap="square" lIns="0" tIns="0" rIns="0" bIns="0" rtlCol="0" anchor="ctr"/>
          <a:lstStyle/>
          <a:p>
            <a:pPr indent="0" marL="0">
              <a:buNone/>
            </a:pPr>
            <a:endParaRPr lang="en-US" sz="650" dirty="0"/>
          </a:p>
        </p:txBody>
      </p:sp>
      <p:sp>
        <p:nvSpPr>
          <p:cNvPr id="102" name="Shape 91"/>
          <p:cNvSpPr/>
          <p:nvPr/>
        </p:nvSpPr>
        <p:spPr>
          <a:xfrm>
            <a:off x="1527048" y="2849506"/>
            <a:ext cx="3072384" cy="786384"/>
          </a:xfrm>
          <a:prstGeom prst="roundRect">
            <a:avLst>
              <a:gd name="adj" fmla="val 5814"/>
            </a:avLst>
          </a:prstGeom>
          <a:solidFill>
            <a:srgbClr val="FFFFFF">
              <a:alpha val="0"/>
            </a:srgbClr>
          </a:solidFill>
          <a:ln w="31750">
            <a:solidFill>
              <a:srgbClr val="E53935"/>
            </a:solidFill>
            <a:prstDash val="solid"/>
          </a:ln>
        </p:spPr>
      </p:sp>
      <p:sp>
        <p:nvSpPr>
          <p:cNvPr id="103" name="Shape 92"/>
          <p:cNvSpPr/>
          <p:nvPr/>
        </p:nvSpPr>
        <p:spPr>
          <a:xfrm>
            <a:off x="4462272" y="2712346"/>
            <a:ext cx="274320" cy="274320"/>
          </a:xfrm>
          <a:prstGeom prst="ellipse">
            <a:avLst/>
          </a:prstGeom>
          <a:solidFill>
            <a:srgbClr val="E53935"/>
          </a:solidFill>
          <a:ln w="12700">
            <a:solidFill>
              <a:srgbClr val="FFFFFF"/>
            </a:solidFill>
            <a:prstDash val="solid"/>
          </a:ln>
        </p:spPr>
      </p:sp>
      <p:sp>
        <p:nvSpPr>
          <p:cNvPr id="104" name="Text 93"/>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105" name="Image 9" descr="preencoded.png">    </p:cNvPr>
          <p:cNvPicPr>
            <a:picLocks noChangeAspect="1"/>
          </p:cNvPicPr>
          <p:nvPr/>
        </p:nvPicPr>
        <p:blipFill>
          <a:blip r:embed="rId10"/>
          <a:stretch>
            <a:fillRect/>
          </a:stretch>
        </p:blipFill>
        <p:spPr>
          <a:xfrm>
            <a:off x="3214116" y="3279274"/>
            <a:ext cx="237744" cy="237744"/>
          </a:xfrm>
          <a:prstGeom prst="rect">
            <a:avLst/>
          </a:prstGeom>
        </p:spPr>
      </p:pic>
      <p:sp>
        <p:nvSpPr>
          <p:cNvPr id="106" name="Text 9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107" name="Text 9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Siapkan lembar pengamatan dan stopwatch</a:t>
            </a:r>
            <a:endParaRPr lang="en-US" sz="1800" dirty="0"/>
          </a:p>
        </p:txBody>
      </p:sp>
      <p:sp>
        <p:nvSpPr>
          <p:cNvPr id="108" name="Text 9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Tabel: Tugas | Berhasil? | Waktu | Bingung di mana? Satu tabel per pengguna. Siapkan stopwatch HP.</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1143000" y="1508760"/>
            <a:ext cx="548640" cy="548640"/>
          </a:xfrm>
          <a:prstGeom prst="ellipse">
            <a:avLst/>
          </a:prstGeom>
          <a:solidFill>
            <a:srgbClr val="E8C39E"/>
          </a:solidFill>
          <a:ln/>
        </p:spPr>
      </p:sp>
      <p:sp>
        <p:nvSpPr>
          <p:cNvPr id="11" name="Shape 7"/>
          <p:cNvSpPr/>
          <p:nvPr/>
        </p:nvSpPr>
        <p:spPr>
          <a:xfrm>
            <a:off x="1005840" y="2103120"/>
            <a:ext cx="822960" cy="1097280"/>
          </a:xfrm>
          <a:prstGeom prst="roundRect">
            <a:avLst>
              <a:gd name="adj" fmla="val 22222"/>
            </a:avLst>
          </a:prstGeom>
          <a:solidFill>
            <a:srgbClr val="1F7A5C"/>
          </a:solidFill>
          <a:ln w="12700">
            <a:solidFill>
              <a:srgbClr val="1F7A5C"/>
            </a:solidFill>
            <a:prstDash val="solid"/>
          </a:ln>
        </p:spPr>
      </p:sp>
      <p:sp>
        <p:nvSpPr>
          <p:cNvPr id="12" name="Shape 8"/>
          <p:cNvSpPr/>
          <p:nvPr/>
        </p:nvSpPr>
        <p:spPr>
          <a:xfrm>
            <a:off x="1965960" y="1874520"/>
            <a:ext cx="640080" cy="1280160"/>
          </a:xfrm>
          <a:prstGeom prst="roundRect">
            <a:avLst>
              <a:gd name="adj" fmla="val 25714"/>
            </a:avLst>
          </a:prstGeom>
          <a:solidFill>
            <a:srgbClr val="1A1A1A"/>
          </a:solidFill>
          <a:ln w="12700">
            <a:solidFill>
              <a:srgbClr val="1A1A1A"/>
            </a:solidFill>
            <a:prstDash val="solid"/>
          </a:ln>
        </p:spPr>
      </p:sp>
      <p:sp>
        <p:nvSpPr>
          <p:cNvPr id="13" name="Shape 9"/>
          <p:cNvSpPr/>
          <p:nvPr/>
        </p:nvSpPr>
        <p:spPr>
          <a:xfrm>
            <a:off x="2057400" y="1965960"/>
            <a:ext cx="457200" cy="1097280"/>
          </a:xfrm>
          <a:prstGeom prst="roundRect">
            <a:avLst>
              <a:gd name="adj" fmla="val 24000"/>
            </a:avLst>
          </a:prstGeom>
          <a:solidFill>
            <a:srgbClr val="FFFFFF"/>
          </a:solidFill>
          <a:ln w="12700">
            <a:solidFill>
              <a:srgbClr val="FFFFFF"/>
            </a:solidFill>
            <a:prstDash val="solid"/>
          </a:ln>
        </p:spPr>
      </p:sp>
      <p:sp>
        <p:nvSpPr>
          <p:cNvPr id="14" name="Shape 10"/>
          <p:cNvSpPr/>
          <p:nvPr/>
        </p:nvSpPr>
        <p:spPr>
          <a:xfrm>
            <a:off x="2011680" y="1874520"/>
            <a:ext cx="548640" cy="1280160"/>
          </a:xfrm>
          <a:prstGeom prst="roundRect">
            <a:avLst>
              <a:gd name="adj" fmla="val 20000"/>
            </a:avLst>
          </a:prstGeom>
          <a:solidFill>
            <a:srgbClr val="FFFFFF"/>
          </a:solidFill>
          <a:ln w="19050">
            <a:solidFill>
              <a:srgbClr val="333333"/>
            </a:solidFill>
            <a:prstDash val="solid"/>
          </a:ln>
        </p:spPr>
      </p:sp>
      <p:sp>
        <p:nvSpPr>
          <p:cNvPr id="15" name="Shape 11"/>
          <p:cNvSpPr/>
          <p:nvPr/>
        </p:nvSpPr>
        <p:spPr>
          <a:xfrm>
            <a:off x="2084832" y="2011680"/>
            <a:ext cx="402336" cy="1005840"/>
          </a:xfrm>
          <a:prstGeom prst="rect">
            <a:avLst/>
          </a:prstGeom>
          <a:solidFill>
            <a:srgbClr val="F3F8F5"/>
          </a:solidFill>
          <a:ln w="12700">
            <a:solidFill>
              <a:srgbClr val="F3F8F5"/>
            </a:solidFill>
            <a:prstDash val="solid"/>
          </a:ln>
        </p:spPr>
      </p:sp>
      <p:sp>
        <p:nvSpPr>
          <p:cNvPr id="16" name="Shape 12"/>
          <p:cNvSpPr/>
          <p:nvPr/>
        </p:nvSpPr>
        <p:spPr>
          <a:xfrm>
            <a:off x="2084832" y="2011680"/>
            <a:ext cx="402336" cy="347472"/>
          </a:xfrm>
          <a:prstGeom prst="rect">
            <a:avLst/>
          </a:prstGeom>
          <a:solidFill>
            <a:srgbClr val="0F4C3A"/>
          </a:solidFill>
          <a:ln w="12700">
            <a:solidFill>
              <a:srgbClr val="0F4C3A"/>
            </a:solidFill>
            <a:prstDash val="solid"/>
          </a:ln>
        </p:spPr>
      </p:sp>
      <p:sp>
        <p:nvSpPr>
          <p:cNvPr id="17" name="Text 13"/>
          <p:cNvSpPr txBox="1"/>
          <p:nvPr/>
        </p:nvSpPr>
        <p:spPr>
          <a:xfrm>
            <a:off x="2084832" y="2011680"/>
            <a:ext cx="40233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Setoran Harian</a:t>
            </a:r>
            <a:endParaRPr lang="en-US" sz="1000" dirty="0"/>
          </a:p>
        </p:txBody>
      </p:sp>
      <p:sp>
        <p:nvSpPr>
          <p:cNvPr id="18" name="Text 14"/>
          <p:cNvSpPr txBox="1"/>
          <p:nvPr/>
        </p:nvSpPr>
        <p:spPr>
          <a:xfrm>
            <a:off x="2176272" y="2423160"/>
            <a:ext cx="219456" cy="128016"/>
          </a:xfrm>
          <a:prstGeom prst="rect">
            <a:avLst/>
          </a:prstGeom>
          <a:noFill/>
          <a:ln/>
        </p:spPr>
        <p:txBody>
          <a:bodyPr wrap="square" lIns="0" tIns="0" rIns="0" bIns="0" rtlCol="0" anchor="t"/>
          <a:lstStyle/>
          <a:p>
            <a:pPr indent="0" marL="0">
              <a:buNone/>
            </a:pPr>
            <a:r>
              <a:rPr lang="en-US" sz="550" b="1" dirty="0">
                <a:solidFill>
                  <a:srgbClr val="1E2A26"/>
                </a:solidFill>
                <a:latin typeface="Arial" pitchFamily="34" charset="0"/>
                <a:ea typeface="Arial" pitchFamily="34" charset="-122"/>
                <a:cs typeface="Arial" pitchFamily="34" charset="-120"/>
              </a:rPr>
              <a:t>Kode santri (contoh: S001)</a:t>
            </a:r>
            <a:endParaRPr lang="en-US" sz="550" dirty="0"/>
          </a:p>
        </p:txBody>
      </p:sp>
      <p:sp>
        <p:nvSpPr>
          <p:cNvPr id="19" name="Shape 15"/>
          <p:cNvSpPr/>
          <p:nvPr/>
        </p:nvSpPr>
        <p:spPr>
          <a:xfrm>
            <a:off x="2176272" y="2560320"/>
            <a:ext cx="219456" cy="182880"/>
          </a:xfrm>
          <a:prstGeom prst="roundRect">
            <a:avLst>
              <a:gd name="adj" fmla="val 15000"/>
            </a:avLst>
          </a:prstGeom>
          <a:solidFill>
            <a:srgbClr val="FFFFFF"/>
          </a:solidFill>
          <a:ln w="9525">
            <a:solidFill>
              <a:srgbClr val="999999"/>
            </a:solidFill>
            <a:prstDash val="solid"/>
          </a:ln>
        </p:spPr>
      </p:sp>
      <p:sp>
        <p:nvSpPr>
          <p:cNvPr id="20" name="Text 16"/>
          <p:cNvSpPr txBox="1"/>
          <p:nvPr/>
        </p:nvSpPr>
        <p:spPr>
          <a:xfrm>
            <a:off x="2176272" y="2770632"/>
            <a:ext cx="219456" cy="128016"/>
          </a:xfrm>
          <a:prstGeom prst="rect">
            <a:avLst/>
          </a:prstGeom>
          <a:noFill/>
          <a:ln/>
        </p:spPr>
        <p:txBody>
          <a:bodyPr wrap="square" lIns="0" tIns="0" rIns="0" bIns="0" rtlCol="0" anchor="t"/>
          <a:lstStyle/>
          <a:p>
            <a:pPr indent="0" marL="0">
              <a:buNone/>
            </a:pPr>
            <a:r>
              <a:rPr lang="en-US" sz="550" b="1" dirty="0">
                <a:solidFill>
                  <a:srgbClr val="1E2A26"/>
                </a:solidFill>
                <a:latin typeface="Arial" pitchFamily="34" charset="0"/>
                <a:ea typeface="Arial" pitchFamily="34" charset="-122"/>
                <a:cs typeface="Arial" pitchFamily="34" charset="-120"/>
              </a:rPr>
              <a:t>Surat</a:t>
            </a:r>
            <a:endParaRPr lang="en-US" sz="550" dirty="0"/>
          </a:p>
        </p:txBody>
      </p:sp>
      <p:sp>
        <p:nvSpPr>
          <p:cNvPr id="21" name="Shape 17"/>
          <p:cNvSpPr/>
          <p:nvPr/>
        </p:nvSpPr>
        <p:spPr>
          <a:xfrm>
            <a:off x="2176272" y="2907792"/>
            <a:ext cx="219456" cy="182880"/>
          </a:xfrm>
          <a:prstGeom prst="roundRect">
            <a:avLst>
              <a:gd name="adj" fmla="val 15000"/>
            </a:avLst>
          </a:prstGeom>
          <a:solidFill>
            <a:srgbClr val="FFFFFF"/>
          </a:solidFill>
          <a:ln w="9525">
            <a:solidFill>
              <a:srgbClr val="999999"/>
            </a:solidFill>
            <a:prstDash val="solid"/>
          </a:ln>
        </p:spPr>
      </p:sp>
      <p:sp>
        <p:nvSpPr>
          <p:cNvPr id="22" name="Text 18"/>
          <p:cNvSpPr txBox="1"/>
          <p:nvPr/>
        </p:nvSpPr>
        <p:spPr>
          <a:xfrm>
            <a:off x="2176272" y="3118104"/>
            <a:ext cx="219456" cy="128016"/>
          </a:xfrm>
          <a:prstGeom prst="rect">
            <a:avLst/>
          </a:prstGeom>
          <a:noFill/>
          <a:ln/>
        </p:spPr>
        <p:txBody>
          <a:bodyPr wrap="square" lIns="0" tIns="0" rIns="0" bIns="0" rtlCol="0" anchor="t"/>
          <a:lstStyle/>
          <a:p>
            <a:pPr indent="0" marL="0">
              <a:buNone/>
            </a:pPr>
            <a:r>
              <a:rPr lang="en-US" sz="550" b="1" dirty="0">
                <a:solidFill>
                  <a:srgbClr val="1E2A26"/>
                </a:solidFill>
                <a:latin typeface="Arial" pitchFamily="34" charset="0"/>
                <a:ea typeface="Arial" pitchFamily="34" charset="-122"/>
                <a:cs typeface="Arial" pitchFamily="34" charset="-120"/>
              </a:rPr>
              <a:t>Jumlah ayat</a:t>
            </a:r>
            <a:endParaRPr lang="en-US" sz="550" dirty="0"/>
          </a:p>
        </p:txBody>
      </p:sp>
      <p:sp>
        <p:nvSpPr>
          <p:cNvPr id="23" name="Shape 19"/>
          <p:cNvSpPr/>
          <p:nvPr/>
        </p:nvSpPr>
        <p:spPr>
          <a:xfrm>
            <a:off x="2176272" y="3255264"/>
            <a:ext cx="219456" cy="182880"/>
          </a:xfrm>
          <a:prstGeom prst="roundRect">
            <a:avLst>
              <a:gd name="adj" fmla="val 15000"/>
            </a:avLst>
          </a:prstGeom>
          <a:solidFill>
            <a:srgbClr val="FFFFFF"/>
          </a:solidFill>
          <a:ln w="9525">
            <a:solidFill>
              <a:srgbClr val="999999"/>
            </a:solidFill>
            <a:prstDash val="solid"/>
          </a:ln>
        </p:spPr>
      </p:sp>
      <p:sp>
        <p:nvSpPr>
          <p:cNvPr id="24" name="Shape 20"/>
          <p:cNvSpPr/>
          <p:nvPr/>
        </p:nvSpPr>
        <p:spPr>
          <a:xfrm>
            <a:off x="2176272" y="3493008"/>
            <a:ext cx="219456" cy="274320"/>
          </a:xfrm>
          <a:prstGeom prst="roundRect">
            <a:avLst>
              <a:gd name="adj" fmla="val 62500"/>
            </a:avLst>
          </a:prstGeom>
          <a:solidFill>
            <a:srgbClr val="D4A017"/>
          </a:solidFill>
          <a:ln w="12700">
            <a:solidFill>
              <a:srgbClr val="D4A017"/>
            </a:solidFill>
            <a:prstDash val="solid"/>
          </a:ln>
        </p:spPr>
      </p:sp>
      <p:sp>
        <p:nvSpPr>
          <p:cNvPr id="25" name="Text 21"/>
          <p:cNvSpPr txBox="1"/>
          <p:nvPr/>
        </p:nvSpPr>
        <p:spPr>
          <a:xfrm>
            <a:off x="2176272" y="3493008"/>
            <a:ext cx="21945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Simpan Setoran</a:t>
            </a:r>
            <a:endParaRPr lang="en-US" sz="800" dirty="0"/>
          </a:p>
        </p:txBody>
      </p:sp>
      <p:sp>
        <p:nvSpPr>
          <p:cNvPr id="26" name="Text 22"/>
          <p:cNvSpPr txBox="1"/>
          <p:nvPr/>
        </p:nvSpPr>
        <p:spPr>
          <a:xfrm>
            <a:off x="2176272" y="3813048"/>
            <a:ext cx="219456" cy="182880"/>
          </a:xfrm>
          <a:prstGeom prst="rect">
            <a:avLst/>
          </a:prstGeom>
          <a:noFill/>
          <a:ln/>
        </p:spPr>
        <p:txBody>
          <a:bodyPr wrap="square" lIns="0" tIns="0" rIns="0" bIns="0" rtlCol="0" anchor="t"/>
          <a:lstStyle/>
          <a:p>
            <a:pPr algn="ctr" indent="0" marL="0">
              <a:buNone/>
            </a:pPr>
            <a:r>
              <a:rPr lang="en-US" sz="650" b="1" dirty="0">
                <a:solidFill>
                  <a:srgbClr val="1F7A5C"/>
                </a:solidFill>
                <a:latin typeface="Arial" pitchFamily="34" charset="0"/>
                <a:ea typeface="Arial" pitchFamily="34" charset="-122"/>
                <a:cs typeface="Arial" pitchFamily="34" charset="-120"/>
              </a:rPr>
              <a:t>✓ Alhamdulillah, tersimpan!</a:t>
            </a:r>
            <a:endParaRPr lang="en-US" sz="650" dirty="0"/>
          </a:p>
        </p:txBody>
      </p:sp>
      <p:sp>
        <p:nvSpPr>
          <p:cNvPr id="27" name="Shape 23"/>
          <p:cNvSpPr/>
          <p:nvPr/>
        </p:nvSpPr>
        <p:spPr>
          <a:xfrm>
            <a:off x="3703320" y="1508760"/>
            <a:ext cx="548640" cy="548640"/>
          </a:xfrm>
          <a:prstGeom prst="ellipse">
            <a:avLst/>
          </a:prstGeom>
          <a:solidFill>
            <a:srgbClr val="E8C39E"/>
          </a:solidFill>
          <a:ln/>
        </p:spPr>
      </p:sp>
      <p:sp>
        <p:nvSpPr>
          <p:cNvPr id="28" name="Shape 24"/>
          <p:cNvSpPr/>
          <p:nvPr/>
        </p:nvSpPr>
        <p:spPr>
          <a:xfrm>
            <a:off x="3566160" y="2103120"/>
            <a:ext cx="822960" cy="1097280"/>
          </a:xfrm>
          <a:prstGeom prst="roundRect">
            <a:avLst>
              <a:gd name="adj" fmla="val 22222"/>
            </a:avLst>
          </a:prstGeom>
          <a:solidFill>
            <a:srgbClr val="D4A017"/>
          </a:solidFill>
          <a:ln w="12700">
            <a:solidFill>
              <a:srgbClr val="D4A017"/>
            </a:solidFill>
            <a:prstDash val="solid"/>
          </a:ln>
        </p:spPr>
      </p:sp>
      <p:pic>
        <p:nvPicPr>
          <p:cNvPr id="29" name="Image 2" descr="preencoded.png">    </p:cNvPr>
          <p:cNvPicPr>
            <a:picLocks noChangeAspect="1"/>
          </p:cNvPicPr>
          <p:nvPr/>
        </p:nvPicPr>
        <p:blipFill>
          <a:blip r:embed="rId3"/>
          <a:stretch>
            <a:fillRect/>
          </a:stretch>
        </p:blipFill>
        <p:spPr>
          <a:xfrm>
            <a:off x="4526280" y="1600200"/>
            <a:ext cx="365760" cy="365760"/>
          </a:xfrm>
          <a:prstGeom prst="rect">
            <a:avLst/>
          </a:prstGeom>
        </p:spPr>
      </p:pic>
      <p:sp>
        <p:nvSpPr>
          <p:cNvPr id="30" name="Text 25"/>
          <p:cNvSpPr txBox="1"/>
          <p:nvPr/>
        </p:nvSpPr>
        <p:spPr>
          <a:xfrm>
            <a:off x="4434840" y="2011680"/>
            <a:ext cx="822960" cy="320040"/>
          </a:xfrm>
          <a:prstGeom prst="rect">
            <a:avLst/>
          </a:prstGeom>
          <a:noFill/>
          <a:ln/>
        </p:spPr>
        <p:txBody>
          <a:bodyPr wrap="square" lIns="0" tIns="0" rIns="0" bIns="0" rtlCol="0" anchor="t"/>
          <a:lstStyle/>
          <a:p>
            <a:pPr indent="0" marL="0">
              <a:buNone/>
            </a:pPr>
            <a:r>
              <a:rPr lang="en-US" sz="1400" b="1" dirty="0">
                <a:solidFill>
                  <a:srgbClr val="1E2A26"/>
                </a:solidFill>
                <a:latin typeface="Courier New" pitchFamily="34" charset="0"/>
                <a:ea typeface="Courier New" pitchFamily="34" charset="-122"/>
                <a:cs typeface="Courier New" pitchFamily="34" charset="-120"/>
              </a:rPr>
              <a:t>00:15</a:t>
            </a:r>
            <a:endParaRPr lang="en-US" sz="1400" dirty="0"/>
          </a:p>
        </p:txBody>
      </p:sp>
      <p:sp>
        <p:nvSpPr>
          <p:cNvPr id="31" name="Text 26"/>
          <p:cNvSpPr txBox="1"/>
          <p:nvPr/>
        </p:nvSpPr>
        <p:spPr>
          <a:xfrm>
            <a:off x="960120" y="3337560"/>
            <a:ext cx="1097280" cy="274320"/>
          </a:xfrm>
          <a:prstGeom prst="rect">
            <a:avLst/>
          </a:prstGeom>
          <a:noFill/>
          <a:ln/>
        </p:spPr>
        <p:txBody>
          <a:bodyPr wrap="square" lIns="0" tIns="0" rIns="0" bIns="0" rtlCol="0" anchor="t"/>
          <a:lstStyle/>
          <a:p>
            <a:pPr algn="ctr" indent="0" marL="0">
              <a:buNone/>
            </a:pPr>
            <a:r>
              <a:rPr lang="en-US" sz="1200" b="1" dirty="0">
                <a:solidFill>
                  <a:srgbClr val="1E2A26"/>
                </a:solidFill>
                <a:latin typeface="Calibri" pitchFamily="34" charset="0"/>
                <a:ea typeface="Calibri" pitchFamily="34" charset="-122"/>
                <a:cs typeface="Calibri" pitchFamily="34" charset="-120"/>
              </a:rPr>
              <a:t>Pengguna</a:t>
            </a:r>
            <a:endParaRPr lang="en-US" sz="1200" dirty="0"/>
          </a:p>
        </p:txBody>
      </p:sp>
      <p:sp>
        <p:nvSpPr>
          <p:cNvPr id="32" name="Text 27"/>
          <p:cNvSpPr txBox="1"/>
          <p:nvPr/>
        </p:nvSpPr>
        <p:spPr>
          <a:xfrm>
            <a:off x="3520440" y="3337560"/>
            <a:ext cx="1097280" cy="274320"/>
          </a:xfrm>
          <a:prstGeom prst="rect">
            <a:avLst/>
          </a:prstGeom>
          <a:noFill/>
          <a:ln/>
        </p:spPr>
        <p:txBody>
          <a:bodyPr wrap="square" lIns="0" tIns="0" rIns="0" bIns="0" rtlCol="0" anchor="t"/>
          <a:lstStyle/>
          <a:p>
            <a:pPr algn="ctr" indent="0" marL="0">
              <a:buNone/>
            </a:pPr>
            <a:r>
              <a:rPr lang="en-US" sz="1200" b="1" dirty="0">
                <a:solidFill>
                  <a:srgbClr val="1E2A26"/>
                </a:solidFill>
                <a:latin typeface="Calibri" pitchFamily="34" charset="0"/>
                <a:ea typeface="Calibri" pitchFamily="34" charset="-122"/>
                <a:cs typeface="Calibri" pitchFamily="34" charset="-120"/>
              </a:rPr>
              <a:t>Pengamat</a:t>
            </a:r>
            <a:endParaRPr lang="en-US" sz="1200" dirty="0"/>
          </a:p>
        </p:txBody>
      </p:sp>
      <p:sp>
        <p:nvSpPr>
          <p:cNvPr id="33" name="Text 2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34" name="Text 2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dengan pengguna 1 dan 2</a:t>
            </a:r>
            <a:endParaRPr lang="en-US" sz="1800" dirty="0"/>
          </a:p>
        </p:txBody>
      </p:sp>
      <p:sp>
        <p:nvSpPr>
          <p:cNvPr id="35" name="Text 3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Bacakan tugas satu per satu. Mulai stopwatch. Amati tanpa membantu. Catat hasil.</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Hasil_Uji_Kel3 -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Hasil_Uji_Kel3</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6400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483888" y="2573789"/>
            <a:ext cx="822960" cy="119299"/>
          </a:xfrm>
          <a:prstGeom prst="rect">
            <a:avLst/>
          </a:prstGeom>
          <a:solidFill>
            <a:srgbClr val="F8F9FA"/>
          </a:solidFill>
          <a:ln w="6350">
            <a:solidFill>
              <a:srgbClr val="DDDDDD"/>
            </a:solidFill>
            <a:prstDash val="solid"/>
          </a:ln>
        </p:spPr>
      </p:sp>
      <p:sp>
        <p:nvSpPr>
          <p:cNvPr id="64" name="Text 56"/>
          <p:cNvSpPr txBox="1"/>
          <p:nvPr/>
        </p:nvSpPr>
        <p:spPr>
          <a:xfrm>
            <a:off x="1483888" y="2573789"/>
            <a:ext cx="8229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306848" y="2573789"/>
            <a:ext cx="822960" cy="119299"/>
          </a:xfrm>
          <a:prstGeom prst="rect">
            <a:avLst/>
          </a:prstGeom>
          <a:solidFill>
            <a:srgbClr val="F8F9FA"/>
          </a:solidFill>
          <a:ln w="6350">
            <a:solidFill>
              <a:srgbClr val="DDDDDD"/>
            </a:solidFill>
            <a:prstDash val="solid"/>
          </a:ln>
        </p:spPr>
      </p:sp>
      <p:sp>
        <p:nvSpPr>
          <p:cNvPr id="66" name="Text 58"/>
          <p:cNvSpPr txBox="1"/>
          <p:nvPr/>
        </p:nvSpPr>
        <p:spPr>
          <a:xfrm>
            <a:off x="2306848" y="2573789"/>
            <a:ext cx="8229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3129808" y="2573789"/>
            <a:ext cx="822960" cy="119299"/>
          </a:xfrm>
          <a:prstGeom prst="rect">
            <a:avLst/>
          </a:prstGeom>
          <a:solidFill>
            <a:srgbClr val="F8F9FA"/>
          </a:solidFill>
          <a:ln w="6350">
            <a:solidFill>
              <a:srgbClr val="DDDDDD"/>
            </a:solidFill>
            <a:prstDash val="solid"/>
          </a:ln>
        </p:spPr>
      </p:sp>
      <p:sp>
        <p:nvSpPr>
          <p:cNvPr id="68" name="Text 60"/>
          <p:cNvSpPr txBox="1"/>
          <p:nvPr/>
        </p:nvSpPr>
        <p:spPr>
          <a:xfrm>
            <a:off x="3129808" y="2573789"/>
            <a:ext cx="8229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587776" y="2693089"/>
            <a:ext cx="256032" cy="119299"/>
          </a:xfrm>
          <a:prstGeom prst="rect">
            <a:avLst/>
          </a:prstGeom>
          <a:solidFill>
            <a:srgbClr val="F8F9FA"/>
          </a:solidFill>
          <a:ln w="6350">
            <a:solidFill>
              <a:srgbClr val="DDDDDD"/>
            </a:solidFill>
            <a:prstDash val="solid"/>
          </a:ln>
        </p:spPr>
      </p:sp>
      <p:sp>
        <p:nvSpPr>
          <p:cNvPr id="70" name="Text 62"/>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1" name="Shape 63"/>
          <p:cNvSpPr/>
          <p:nvPr/>
        </p:nvSpPr>
        <p:spPr>
          <a:xfrm>
            <a:off x="843808" y="2693089"/>
            <a:ext cx="640080" cy="119299"/>
          </a:xfrm>
          <a:prstGeom prst="rect">
            <a:avLst/>
          </a:prstGeom>
          <a:solidFill>
            <a:srgbClr val="0F4C3A"/>
          </a:solidFill>
          <a:ln w="6350">
            <a:solidFill>
              <a:srgbClr val="E2E2E2"/>
            </a:solidFill>
            <a:prstDash val="solid"/>
          </a:ln>
        </p:spPr>
      </p:sp>
      <p:sp>
        <p:nvSpPr>
          <p:cNvPr id="72" name="Text 64"/>
          <p:cNvSpPr txBox="1"/>
          <p:nvPr/>
        </p:nvSpPr>
        <p:spPr>
          <a:xfrm>
            <a:off x="87124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Tugas</a:t>
            </a:r>
            <a:endParaRPr lang="en-US" sz="600" dirty="0"/>
          </a:p>
        </p:txBody>
      </p:sp>
      <p:sp>
        <p:nvSpPr>
          <p:cNvPr id="73" name="Shape 65"/>
          <p:cNvSpPr/>
          <p:nvPr/>
        </p:nvSpPr>
        <p:spPr>
          <a:xfrm>
            <a:off x="1483888" y="2693089"/>
            <a:ext cx="822960" cy="119299"/>
          </a:xfrm>
          <a:prstGeom prst="rect">
            <a:avLst/>
          </a:prstGeom>
          <a:solidFill>
            <a:srgbClr val="0F4C3A"/>
          </a:solidFill>
          <a:ln w="6350">
            <a:solidFill>
              <a:srgbClr val="E2E2E2"/>
            </a:solidFill>
            <a:prstDash val="solid"/>
          </a:ln>
        </p:spPr>
      </p:sp>
      <p:sp>
        <p:nvSpPr>
          <p:cNvPr id="74" name="Text 66"/>
          <p:cNvSpPr txBox="1"/>
          <p:nvPr/>
        </p:nvSpPr>
        <p:spPr>
          <a:xfrm>
            <a:off x="1511320" y="2693089"/>
            <a:ext cx="7680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Berhasil</a:t>
            </a:r>
            <a:endParaRPr lang="en-US" sz="600" dirty="0"/>
          </a:p>
        </p:txBody>
      </p:sp>
      <p:sp>
        <p:nvSpPr>
          <p:cNvPr id="75" name="Shape 67"/>
          <p:cNvSpPr/>
          <p:nvPr/>
        </p:nvSpPr>
        <p:spPr>
          <a:xfrm>
            <a:off x="2306848" y="2693089"/>
            <a:ext cx="822960" cy="119299"/>
          </a:xfrm>
          <a:prstGeom prst="rect">
            <a:avLst/>
          </a:prstGeom>
          <a:solidFill>
            <a:srgbClr val="0F4C3A"/>
          </a:solidFill>
          <a:ln w="6350">
            <a:solidFill>
              <a:srgbClr val="E2E2E2"/>
            </a:solidFill>
            <a:prstDash val="solid"/>
          </a:ln>
        </p:spPr>
      </p:sp>
      <p:sp>
        <p:nvSpPr>
          <p:cNvPr id="76" name="Text 68"/>
          <p:cNvSpPr txBox="1"/>
          <p:nvPr/>
        </p:nvSpPr>
        <p:spPr>
          <a:xfrm>
            <a:off x="2334280" y="2693089"/>
            <a:ext cx="7680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 waktu</a:t>
            </a:r>
            <a:endParaRPr lang="en-US" sz="600" dirty="0"/>
          </a:p>
        </p:txBody>
      </p:sp>
      <p:sp>
        <p:nvSpPr>
          <p:cNvPr id="77" name="Shape 69"/>
          <p:cNvSpPr/>
          <p:nvPr/>
        </p:nvSpPr>
        <p:spPr>
          <a:xfrm>
            <a:off x="3129808" y="2693089"/>
            <a:ext cx="822960" cy="119299"/>
          </a:xfrm>
          <a:prstGeom prst="rect">
            <a:avLst/>
          </a:prstGeom>
          <a:solidFill>
            <a:srgbClr val="0F4C3A"/>
          </a:solidFill>
          <a:ln w="6350">
            <a:solidFill>
              <a:srgbClr val="E2E2E2"/>
            </a:solidFill>
            <a:prstDash val="solid"/>
          </a:ln>
        </p:spPr>
      </p:sp>
      <p:sp>
        <p:nvSpPr>
          <p:cNvPr id="78" name="Text 70"/>
          <p:cNvSpPr txBox="1"/>
          <p:nvPr/>
        </p:nvSpPr>
        <p:spPr>
          <a:xfrm>
            <a:off x="3157240" y="2693089"/>
            <a:ext cx="7680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Masalah</a:t>
            </a:r>
            <a:endParaRPr lang="en-US" sz="600" dirty="0"/>
          </a:p>
        </p:txBody>
      </p:sp>
      <p:sp>
        <p:nvSpPr>
          <p:cNvPr id="79" name="Shape 71"/>
          <p:cNvSpPr/>
          <p:nvPr/>
        </p:nvSpPr>
        <p:spPr>
          <a:xfrm>
            <a:off x="587776" y="2812388"/>
            <a:ext cx="256032" cy="119299"/>
          </a:xfrm>
          <a:prstGeom prst="rect">
            <a:avLst/>
          </a:prstGeom>
          <a:solidFill>
            <a:srgbClr val="F8F9FA"/>
          </a:solidFill>
          <a:ln w="6350">
            <a:solidFill>
              <a:srgbClr val="DDDDDD"/>
            </a:solidFill>
            <a:prstDash val="solid"/>
          </a:ln>
        </p:spPr>
      </p:sp>
      <p:sp>
        <p:nvSpPr>
          <p:cNvPr id="80" name="Text 72"/>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1" name="Shape 73"/>
          <p:cNvSpPr/>
          <p:nvPr/>
        </p:nvSpPr>
        <p:spPr>
          <a:xfrm>
            <a:off x="843808" y="2812388"/>
            <a:ext cx="640080" cy="119299"/>
          </a:xfrm>
          <a:prstGeom prst="rect">
            <a:avLst/>
          </a:prstGeom>
          <a:solidFill>
            <a:srgbClr val="FFFFFF"/>
          </a:solidFill>
          <a:ln w="6350">
            <a:solidFill>
              <a:srgbClr val="E2E2E2"/>
            </a:solidFill>
            <a:prstDash val="solid"/>
          </a:ln>
        </p:spPr>
      </p:sp>
      <p:sp>
        <p:nvSpPr>
          <p:cNvPr id="82" name="Text 74"/>
          <p:cNvSpPr txBox="1"/>
          <p:nvPr/>
        </p:nvSpPr>
        <p:spPr>
          <a:xfrm>
            <a:off x="871240" y="28123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83" name="Shape 75"/>
          <p:cNvSpPr/>
          <p:nvPr/>
        </p:nvSpPr>
        <p:spPr>
          <a:xfrm>
            <a:off x="1483888" y="2812388"/>
            <a:ext cx="822960" cy="119299"/>
          </a:xfrm>
          <a:prstGeom prst="rect">
            <a:avLst/>
          </a:prstGeom>
          <a:solidFill>
            <a:srgbClr val="FFFFFF"/>
          </a:solidFill>
          <a:ln w="6350">
            <a:solidFill>
              <a:srgbClr val="E2E2E2"/>
            </a:solidFill>
            <a:prstDash val="solid"/>
          </a:ln>
        </p:spPr>
      </p:sp>
      <p:sp>
        <p:nvSpPr>
          <p:cNvPr id="84" name="Text 76"/>
          <p:cNvSpPr txBox="1"/>
          <p:nvPr/>
        </p:nvSpPr>
        <p:spPr>
          <a:xfrm>
            <a:off x="1511320" y="2812388"/>
            <a:ext cx="7680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2/2</a:t>
            </a:r>
            <a:endParaRPr lang="en-US" sz="600" dirty="0"/>
          </a:p>
        </p:txBody>
      </p:sp>
      <p:sp>
        <p:nvSpPr>
          <p:cNvPr id="85" name="Shape 77"/>
          <p:cNvSpPr/>
          <p:nvPr/>
        </p:nvSpPr>
        <p:spPr>
          <a:xfrm>
            <a:off x="2306848" y="2812388"/>
            <a:ext cx="822960" cy="119299"/>
          </a:xfrm>
          <a:prstGeom prst="rect">
            <a:avLst/>
          </a:prstGeom>
          <a:solidFill>
            <a:srgbClr val="FFFFFF"/>
          </a:solidFill>
          <a:ln w="6350">
            <a:solidFill>
              <a:srgbClr val="E2E2E2"/>
            </a:solidFill>
            <a:prstDash val="solid"/>
          </a:ln>
        </p:spPr>
      </p:sp>
      <p:sp>
        <p:nvSpPr>
          <p:cNvPr id="86" name="Text 78"/>
          <p:cNvSpPr txBox="1"/>
          <p:nvPr/>
        </p:nvSpPr>
        <p:spPr>
          <a:xfrm>
            <a:off x="2334280" y="2812388"/>
            <a:ext cx="7680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14 dtk</a:t>
            </a:r>
            <a:endParaRPr lang="en-US" sz="600" dirty="0"/>
          </a:p>
        </p:txBody>
      </p:sp>
      <p:sp>
        <p:nvSpPr>
          <p:cNvPr id="87" name="Shape 79"/>
          <p:cNvSpPr/>
          <p:nvPr/>
        </p:nvSpPr>
        <p:spPr>
          <a:xfrm>
            <a:off x="3129808" y="2812388"/>
            <a:ext cx="822960" cy="119299"/>
          </a:xfrm>
          <a:prstGeom prst="rect">
            <a:avLst/>
          </a:prstGeom>
          <a:solidFill>
            <a:srgbClr val="FFFFFF"/>
          </a:solidFill>
          <a:ln w="6350">
            <a:solidFill>
              <a:srgbClr val="E2E2E2"/>
            </a:solidFill>
            <a:prstDash val="solid"/>
          </a:ln>
        </p:spPr>
      </p:sp>
      <p:sp>
        <p:nvSpPr>
          <p:cNvPr id="88" name="Text 80"/>
          <p:cNvSpPr txBox="1"/>
          <p:nvPr/>
        </p:nvSpPr>
        <p:spPr>
          <a:xfrm>
            <a:off x="3157240" y="2812388"/>
            <a:ext cx="7680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t>
            </a:r>
            <a:endParaRPr lang="en-US" sz="600" dirty="0"/>
          </a:p>
        </p:txBody>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640080" cy="119299"/>
          </a:xfrm>
          <a:prstGeom prst="rect">
            <a:avLst/>
          </a:prstGeom>
          <a:solidFill>
            <a:srgbClr val="FFFFFF"/>
          </a:solidFill>
          <a:ln w="6350">
            <a:solidFill>
              <a:srgbClr val="E2E2E2"/>
            </a:solidFill>
            <a:prstDash val="solid"/>
          </a:ln>
        </p:spPr>
      </p:sp>
      <p:sp>
        <p:nvSpPr>
          <p:cNvPr id="92" name="Text 84"/>
          <p:cNvSpPr txBox="1"/>
          <p:nvPr/>
        </p:nvSpPr>
        <p:spPr>
          <a:xfrm>
            <a:off x="871240" y="2931688"/>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93" name="Shape 85"/>
          <p:cNvSpPr/>
          <p:nvPr/>
        </p:nvSpPr>
        <p:spPr>
          <a:xfrm>
            <a:off x="1483888" y="2931688"/>
            <a:ext cx="822960" cy="119299"/>
          </a:xfrm>
          <a:prstGeom prst="rect">
            <a:avLst/>
          </a:prstGeom>
          <a:solidFill>
            <a:srgbClr val="FFFFFF"/>
          </a:solidFill>
          <a:ln w="6350">
            <a:solidFill>
              <a:srgbClr val="E2E2E2"/>
            </a:solidFill>
            <a:prstDash val="solid"/>
          </a:ln>
        </p:spPr>
      </p:sp>
      <p:sp>
        <p:nvSpPr>
          <p:cNvPr id="94" name="Text 86"/>
          <p:cNvSpPr txBox="1"/>
          <p:nvPr/>
        </p:nvSpPr>
        <p:spPr>
          <a:xfrm>
            <a:off x="1511320" y="2931688"/>
            <a:ext cx="7680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1/2</a:t>
            </a:r>
            <a:endParaRPr lang="en-US" sz="600" dirty="0"/>
          </a:p>
        </p:txBody>
      </p:sp>
      <p:sp>
        <p:nvSpPr>
          <p:cNvPr id="95" name="Shape 87"/>
          <p:cNvSpPr/>
          <p:nvPr/>
        </p:nvSpPr>
        <p:spPr>
          <a:xfrm>
            <a:off x="2306848" y="2931688"/>
            <a:ext cx="822960" cy="119299"/>
          </a:xfrm>
          <a:prstGeom prst="rect">
            <a:avLst/>
          </a:prstGeom>
          <a:solidFill>
            <a:srgbClr val="FFFFFF"/>
          </a:solidFill>
          <a:ln w="6350">
            <a:solidFill>
              <a:srgbClr val="E2E2E2"/>
            </a:solidFill>
            <a:prstDash val="solid"/>
          </a:ln>
        </p:spPr>
      </p:sp>
      <p:sp>
        <p:nvSpPr>
          <p:cNvPr id="96" name="Text 88"/>
          <p:cNvSpPr txBox="1"/>
          <p:nvPr/>
        </p:nvSpPr>
        <p:spPr>
          <a:xfrm>
            <a:off x="2334280" y="2931688"/>
            <a:ext cx="7680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35 dtk</a:t>
            </a:r>
            <a:endParaRPr lang="en-US" sz="600" dirty="0"/>
          </a:p>
        </p:txBody>
      </p:sp>
      <p:sp>
        <p:nvSpPr>
          <p:cNvPr id="97" name="Shape 89"/>
          <p:cNvSpPr/>
          <p:nvPr/>
        </p:nvSpPr>
        <p:spPr>
          <a:xfrm>
            <a:off x="3129808" y="2931688"/>
            <a:ext cx="822960" cy="119299"/>
          </a:xfrm>
          <a:prstGeom prst="rect">
            <a:avLst/>
          </a:prstGeom>
          <a:solidFill>
            <a:srgbClr val="FFFFFF"/>
          </a:solidFill>
          <a:ln w="6350">
            <a:solidFill>
              <a:srgbClr val="E2E2E2"/>
            </a:solidFill>
            <a:prstDash val="solid"/>
          </a:ln>
        </p:spPr>
      </p:sp>
      <p:sp>
        <p:nvSpPr>
          <p:cNvPr id="98" name="Text 90"/>
          <p:cNvSpPr txBox="1"/>
          <p:nvPr/>
        </p:nvSpPr>
        <p:spPr>
          <a:xfrm>
            <a:off x="3157240" y="2931688"/>
            <a:ext cx="7680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Tombol Cek</a:t>
            </a:r>
            <a:endParaRPr lang="en-US" sz="600" dirty="0"/>
          </a:p>
        </p:txBody>
      </p:sp>
      <p:sp>
        <p:nvSpPr>
          <p:cNvPr id="99" name="Shape 91"/>
          <p:cNvSpPr/>
          <p:nvPr/>
        </p:nvSpPr>
        <p:spPr>
          <a:xfrm>
            <a:off x="587776" y="3050987"/>
            <a:ext cx="256032" cy="119299"/>
          </a:xfrm>
          <a:prstGeom prst="rect">
            <a:avLst/>
          </a:prstGeom>
          <a:solidFill>
            <a:srgbClr val="F8F9FA"/>
          </a:solidFill>
          <a:ln w="6350">
            <a:solidFill>
              <a:srgbClr val="DDDDDD"/>
            </a:solidFill>
            <a:prstDash val="solid"/>
          </a:ln>
        </p:spPr>
      </p:sp>
      <p:sp>
        <p:nvSpPr>
          <p:cNvPr id="100" name="Text 92"/>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01" name="Shape 93"/>
          <p:cNvSpPr/>
          <p:nvPr/>
        </p:nvSpPr>
        <p:spPr>
          <a:xfrm>
            <a:off x="843808" y="3050987"/>
            <a:ext cx="640080" cy="119299"/>
          </a:xfrm>
          <a:prstGeom prst="rect">
            <a:avLst/>
          </a:prstGeom>
          <a:solidFill>
            <a:srgbClr val="FFFFFF"/>
          </a:solidFill>
          <a:ln w="6350">
            <a:solidFill>
              <a:srgbClr val="E2E2E2"/>
            </a:solidFill>
            <a:prstDash val="solid"/>
          </a:ln>
        </p:spPr>
      </p:sp>
      <p:sp>
        <p:nvSpPr>
          <p:cNvPr id="102" name="Text 94"/>
          <p:cNvSpPr txBox="1"/>
          <p:nvPr/>
        </p:nvSpPr>
        <p:spPr>
          <a:xfrm>
            <a:off x="871240" y="3050987"/>
            <a:ext cx="5852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03" name="Shape 95"/>
          <p:cNvSpPr/>
          <p:nvPr/>
        </p:nvSpPr>
        <p:spPr>
          <a:xfrm>
            <a:off x="1483888" y="3050987"/>
            <a:ext cx="822960" cy="119299"/>
          </a:xfrm>
          <a:prstGeom prst="rect">
            <a:avLst/>
          </a:prstGeom>
          <a:solidFill>
            <a:srgbClr val="FFFFFF"/>
          </a:solidFill>
          <a:ln w="6350">
            <a:solidFill>
              <a:srgbClr val="E2E2E2"/>
            </a:solidFill>
            <a:prstDash val="solid"/>
          </a:ln>
        </p:spPr>
      </p:sp>
      <p:sp>
        <p:nvSpPr>
          <p:cNvPr id="104" name="Text 96"/>
          <p:cNvSpPr txBox="1"/>
          <p:nvPr/>
        </p:nvSpPr>
        <p:spPr>
          <a:xfrm>
            <a:off x="1511320" y="3050987"/>
            <a:ext cx="7680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2/2</a:t>
            </a:r>
            <a:endParaRPr lang="en-US" sz="600" dirty="0"/>
          </a:p>
        </p:txBody>
      </p:sp>
      <p:sp>
        <p:nvSpPr>
          <p:cNvPr id="105" name="Shape 97"/>
          <p:cNvSpPr/>
          <p:nvPr/>
        </p:nvSpPr>
        <p:spPr>
          <a:xfrm>
            <a:off x="2306848" y="3050987"/>
            <a:ext cx="822960" cy="119299"/>
          </a:xfrm>
          <a:prstGeom prst="rect">
            <a:avLst/>
          </a:prstGeom>
          <a:solidFill>
            <a:srgbClr val="FFFFFF"/>
          </a:solidFill>
          <a:ln w="6350">
            <a:solidFill>
              <a:srgbClr val="E2E2E2"/>
            </a:solidFill>
            <a:prstDash val="solid"/>
          </a:ln>
        </p:spPr>
      </p:sp>
      <p:sp>
        <p:nvSpPr>
          <p:cNvPr id="106" name="Text 98"/>
          <p:cNvSpPr txBox="1"/>
          <p:nvPr/>
        </p:nvSpPr>
        <p:spPr>
          <a:xfrm>
            <a:off x="2334280" y="3050987"/>
            <a:ext cx="7680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9 dtk</a:t>
            </a:r>
            <a:endParaRPr lang="en-US" sz="600" dirty="0"/>
          </a:p>
        </p:txBody>
      </p:sp>
      <p:sp>
        <p:nvSpPr>
          <p:cNvPr id="107" name="Shape 99"/>
          <p:cNvSpPr/>
          <p:nvPr/>
        </p:nvSpPr>
        <p:spPr>
          <a:xfrm>
            <a:off x="3129808" y="3050987"/>
            <a:ext cx="822960" cy="119299"/>
          </a:xfrm>
          <a:prstGeom prst="rect">
            <a:avLst/>
          </a:prstGeom>
          <a:solidFill>
            <a:srgbClr val="FFFFFF"/>
          </a:solidFill>
          <a:ln w="6350">
            <a:solidFill>
              <a:srgbClr val="E2E2E2"/>
            </a:solidFill>
            <a:prstDash val="solid"/>
          </a:ln>
        </p:spPr>
      </p:sp>
      <p:sp>
        <p:nvSpPr>
          <p:cNvPr id="108" name="Text 100"/>
          <p:cNvSpPr txBox="1"/>
          <p:nvPr/>
        </p:nvSpPr>
        <p:spPr>
          <a:xfrm>
            <a:off x="3157240" y="3050987"/>
            <a:ext cx="7680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t>
            </a:r>
            <a:endParaRPr lang="en-US" sz="600" dirty="0"/>
          </a:p>
        </p:txBody>
      </p:sp>
      <p:sp>
        <p:nvSpPr>
          <p:cNvPr id="109" name="Shape 101"/>
          <p:cNvSpPr/>
          <p:nvPr/>
        </p:nvSpPr>
        <p:spPr>
          <a:xfrm>
            <a:off x="587776" y="3170287"/>
            <a:ext cx="256032" cy="119299"/>
          </a:xfrm>
          <a:prstGeom prst="rect">
            <a:avLst/>
          </a:prstGeom>
          <a:solidFill>
            <a:srgbClr val="F8F9FA"/>
          </a:solidFill>
          <a:ln w="6350">
            <a:solidFill>
              <a:srgbClr val="DDDDDD"/>
            </a:solidFill>
            <a:prstDash val="solid"/>
          </a:ln>
        </p:spPr>
      </p:sp>
      <p:sp>
        <p:nvSpPr>
          <p:cNvPr id="110" name="Text 10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11" name="Shape 103"/>
          <p:cNvSpPr/>
          <p:nvPr/>
        </p:nvSpPr>
        <p:spPr>
          <a:xfrm>
            <a:off x="843808" y="3170287"/>
            <a:ext cx="640080" cy="119299"/>
          </a:xfrm>
          <a:prstGeom prst="rect">
            <a:avLst/>
          </a:prstGeom>
          <a:solidFill>
            <a:srgbClr val="FFFFFF"/>
          </a:solidFill>
          <a:ln w="6350">
            <a:solidFill>
              <a:srgbClr val="E2E2E2"/>
            </a:solidFill>
            <a:prstDash val="solid"/>
          </a:ln>
        </p:spPr>
      </p:sp>
      <p:sp>
        <p:nvSpPr>
          <p:cNvPr id="112" name="Text 104"/>
          <p:cNvSpPr txBox="1"/>
          <p:nvPr/>
        </p:nvSpPr>
        <p:spPr>
          <a:xfrm>
            <a:off x="871240" y="3170287"/>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Total</a:t>
            </a:r>
            <a:endParaRPr lang="en-US" sz="600" dirty="0"/>
          </a:p>
        </p:txBody>
      </p:sp>
      <p:sp>
        <p:nvSpPr>
          <p:cNvPr id="113" name="Shape 105"/>
          <p:cNvSpPr/>
          <p:nvPr/>
        </p:nvSpPr>
        <p:spPr>
          <a:xfrm>
            <a:off x="1483888" y="3170287"/>
            <a:ext cx="822960" cy="119299"/>
          </a:xfrm>
          <a:prstGeom prst="rect">
            <a:avLst/>
          </a:prstGeom>
          <a:solidFill>
            <a:srgbClr val="FFFFFF"/>
          </a:solidFill>
          <a:ln w="6350">
            <a:solidFill>
              <a:srgbClr val="E2E2E2"/>
            </a:solidFill>
            <a:prstDash val="solid"/>
          </a:ln>
        </p:spPr>
      </p:sp>
      <p:sp>
        <p:nvSpPr>
          <p:cNvPr id="114" name="Text 106"/>
          <p:cNvSpPr txBox="1"/>
          <p:nvPr/>
        </p:nvSpPr>
        <p:spPr>
          <a:xfrm>
            <a:off x="1511320" y="3170287"/>
            <a:ext cx="7680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5/6</a:t>
            </a:r>
            <a:endParaRPr lang="en-US" sz="600" dirty="0"/>
          </a:p>
        </p:txBody>
      </p:sp>
      <p:sp>
        <p:nvSpPr>
          <p:cNvPr id="115" name="Shape 107"/>
          <p:cNvSpPr/>
          <p:nvPr/>
        </p:nvSpPr>
        <p:spPr>
          <a:xfrm>
            <a:off x="2306848" y="3170287"/>
            <a:ext cx="822960" cy="119299"/>
          </a:xfrm>
          <a:prstGeom prst="rect">
            <a:avLst/>
          </a:prstGeom>
          <a:solidFill>
            <a:srgbClr val="FFFFFF"/>
          </a:solidFill>
          <a:ln w="6350">
            <a:solidFill>
              <a:srgbClr val="E2E2E2"/>
            </a:solidFill>
            <a:prstDash val="solid"/>
          </a:ln>
        </p:spPr>
      </p:sp>
      <p:sp>
        <p:nvSpPr>
          <p:cNvPr id="116" name="Text 108"/>
          <p:cNvSpPr txBox="1"/>
          <p:nvPr/>
        </p:nvSpPr>
        <p:spPr>
          <a:xfrm>
            <a:off x="2334280" y="3170287"/>
            <a:ext cx="7680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19 dtk</a:t>
            </a:r>
            <a:endParaRPr lang="en-US" sz="600" dirty="0"/>
          </a:p>
        </p:txBody>
      </p:sp>
      <p:sp>
        <p:nvSpPr>
          <p:cNvPr id="117" name="Shape 109"/>
          <p:cNvSpPr/>
          <p:nvPr/>
        </p:nvSpPr>
        <p:spPr>
          <a:xfrm>
            <a:off x="3129808" y="3170287"/>
            <a:ext cx="822960" cy="119299"/>
          </a:xfrm>
          <a:prstGeom prst="rect">
            <a:avLst/>
          </a:prstGeom>
          <a:solidFill>
            <a:srgbClr val="FFFFFF"/>
          </a:solidFill>
          <a:ln w="6350">
            <a:solidFill>
              <a:srgbClr val="E2E2E2"/>
            </a:solidFill>
            <a:prstDash val="solid"/>
          </a:ln>
        </p:spPr>
      </p:sp>
      <p:sp>
        <p:nvSpPr>
          <p:cNvPr id="118" name="Shape 110"/>
          <p:cNvSpPr/>
          <p:nvPr/>
        </p:nvSpPr>
        <p:spPr>
          <a:xfrm>
            <a:off x="587776" y="3289586"/>
            <a:ext cx="256032" cy="119299"/>
          </a:xfrm>
          <a:prstGeom prst="rect">
            <a:avLst/>
          </a:prstGeom>
          <a:solidFill>
            <a:srgbClr val="F8F9FA"/>
          </a:solidFill>
          <a:ln w="6350">
            <a:solidFill>
              <a:srgbClr val="DDDDDD"/>
            </a:solidFill>
            <a:prstDash val="solid"/>
          </a:ln>
        </p:spPr>
      </p:sp>
      <p:sp>
        <p:nvSpPr>
          <p:cNvPr id="119" name="Text 111"/>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20" name="Shape 112"/>
          <p:cNvSpPr/>
          <p:nvPr/>
        </p:nvSpPr>
        <p:spPr>
          <a:xfrm>
            <a:off x="843808" y="3289586"/>
            <a:ext cx="640080" cy="119299"/>
          </a:xfrm>
          <a:prstGeom prst="rect">
            <a:avLst/>
          </a:prstGeom>
          <a:solidFill>
            <a:srgbClr val="FFFFFF"/>
          </a:solidFill>
          <a:ln w="6350">
            <a:solidFill>
              <a:srgbClr val="E2E2E2"/>
            </a:solidFill>
            <a:prstDash val="solid"/>
          </a:ln>
        </p:spPr>
      </p:sp>
      <p:sp>
        <p:nvSpPr>
          <p:cNvPr id="121" name="Shape 113"/>
          <p:cNvSpPr/>
          <p:nvPr/>
        </p:nvSpPr>
        <p:spPr>
          <a:xfrm>
            <a:off x="1483888" y="3289586"/>
            <a:ext cx="822960" cy="119299"/>
          </a:xfrm>
          <a:prstGeom prst="rect">
            <a:avLst/>
          </a:prstGeom>
          <a:solidFill>
            <a:srgbClr val="FFFFFF"/>
          </a:solidFill>
          <a:ln w="6350">
            <a:solidFill>
              <a:srgbClr val="E2E2E2"/>
            </a:solidFill>
            <a:prstDash val="solid"/>
          </a:ln>
        </p:spPr>
      </p:sp>
      <p:sp>
        <p:nvSpPr>
          <p:cNvPr id="122" name="Shape 114"/>
          <p:cNvSpPr/>
          <p:nvPr/>
        </p:nvSpPr>
        <p:spPr>
          <a:xfrm>
            <a:off x="2306848" y="3289586"/>
            <a:ext cx="822960" cy="119299"/>
          </a:xfrm>
          <a:prstGeom prst="rect">
            <a:avLst/>
          </a:prstGeom>
          <a:solidFill>
            <a:srgbClr val="FFFFFF"/>
          </a:solidFill>
          <a:ln w="6350">
            <a:solidFill>
              <a:srgbClr val="E2E2E2"/>
            </a:solidFill>
            <a:prstDash val="solid"/>
          </a:ln>
        </p:spPr>
      </p:sp>
      <p:sp>
        <p:nvSpPr>
          <p:cNvPr id="123" name="Shape 115"/>
          <p:cNvSpPr/>
          <p:nvPr/>
        </p:nvSpPr>
        <p:spPr>
          <a:xfrm>
            <a:off x="3129808" y="3289586"/>
            <a:ext cx="822960" cy="119299"/>
          </a:xfrm>
          <a:prstGeom prst="rect">
            <a:avLst/>
          </a:prstGeom>
          <a:solidFill>
            <a:srgbClr val="FFFFFF"/>
          </a:solidFill>
          <a:ln w="6350">
            <a:solidFill>
              <a:srgbClr val="E2E2E2"/>
            </a:solidFill>
            <a:prstDash val="solid"/>
          </a:ln>
        </p:spPr>
      </p:sp>
      <p:sp>
        <p:nvSpPr>
          <p:cNvPr id="124" name="Shape 116"/>
          <p:cNvSpPr/>
          <p:nvPr/>
        </p:nvSpPr>
        <p:spPr>
          <a:xfrm>
            <a:off x="587776" y="3408885"/>
            <a:ext cx="256032" cy="119299"/>
          </a:xfrm>
          <a:prstGeom prst="rect">
            <a:avLst/>
          </a:prstGeom>
          <a:solidFill>
            <a:srgbClr val="F8F9FA"/>
          </a:solidFill>
          <a:ln w="6350">
            <a:solidFill>
              <a:srgbClr val="DDDDDD"/>
            </a:solidFill>
            <a:prstDash val="solid"/>
          </a:ln>
        </p:spPr>
      </p:sp>
      <p:sp>
        <p:nvSpPr>
          <p:cNvPr id="125" name="Text 117"/>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6" name="Shape 118"/>
          <p:cNvSpPr/>
          <p:nvPr/>
        </p:nvSpPr>
        <p:spPr>
          <a:xfrm>
            <a:off x="843808" y="3408885"/>
            <a:ext cx="640080" cy="119299"/>
          </a:xfrm>
          <a:prstGeom prst="rect">
            <a:avLst/>
          </a:prstGeom>
          <a:solidFill>
            <a:srgbClr val="FFFFFF"/>
          </a:solidFill>
          <a:ln w="6350">
            <a:solidFill>
              <a:srgbClr val="E2E2E2"/>
            </a:solidFill>
            <a:prstDash val="solid"/>
          </a:ln>
        </p:spPr>
      </p:sp>
      <p:sp>
        <p:nvSpPr>
          <p:cNvPr id="127" name="Shape 119"/>
          <p:cNvSpPr/>
          <p:nvPr/>
        </p:nvSpPr>
        <p:spPr>
          <a:xfrm>
            <a:off x="1483888" y="3408885"/>
            <a:ext cx="822960" cy="119299"/>
          </a:xfrm>
          <a:prstGeom prst="rect">
            <a:avLst/>
          </a:prstGeom>
          <a:solidFill>
            <a:srgbClr val="FFFFFF"/>
          </a:solidFill>
          <a:ln w="6350">
            <a:solidFill>
              <a:srgbClr val="E2E2E2"/>
            </a:solidFill>
            <a:prstDash val="solid"/>
          </a:ln>
        </p:spPr>
      </p:sp>
      <p:sp>
        <p:nvSpPr>
          <p:cNvPr id="128" name="Shape 120"/>
          <p:cNvSpPr/>
          <p:nvPr/>
        </p:nvSpPr>
        <p:spPr>
          <a:xfrm>
            <a:off x="2306848" y="3408885"/>
            <a:ext cx="822960" cy="119299"/>
          </a:xfrm>
          <a:prstGeom prst="rect">
            <a:avLst/>
          </a:prstGeom>
          <a:solidFill>
            <a:srgbClr val="FFFFFF"/>
          </a:solidFill>
          <a:ln w="6350">
            <a:solidFill>
              <a:srgbClr val="E2E2E2"/>
            </a:solidFill>
            <a:prstDash val="solid"/>
          </a:ln>
        </p:spPr>
      </p:sp>
      <p:sp>
        <p:nvSpPr>
          <p:cNvPr id="129" name="Shape 121"/>
          <p:cNvSpPr/>
          <p:nvPr/>
        </p:nvSpPr>
        <p:spPr>
          <a:xfrm>
            <a:off x="3129808" y="3408885"/>
            <a:ext cx="822960" cy="119299"/>
          </a:xfrm>
          <a:prstGeom prst="rect">
            <a:avLst/>
          </a:prstGeom>
          <a:solidFill>
            <a:srgbClr val="FFFFFF"/>
          </a:solidFill>
          <a:ln w="6350">
            <a:solidFill>
              <a:srgbClr val="E2E2E2"/>
            </a:solidFill>
            <a:prstDash val="solid"/>
          </a:ln>
        </p:spPr>
      </p:sp>
      <p:sp>
        <p:nvSpPr>
          <p:cNvPr id="130" name="Shape 122"/>
          <p:cNvSpPr/>
          <p:nvPr/>
        </p:nvSpPr>
        <p:spPr>
          <a:xfrm>
            <a:off x="587776" y="3528185"/>
            <a:ext cx="256032" cy="119299"/>
          </a:xfrm>
          <a:prstGeom prst="rect">
            <a:avLst/>
          </a:prstGeom>
          <a:solidFill>
            <a:srgbClr val="F8F9FA"/>
          </a:solidFill>
          <a:ln w="6350">
            <a:solidFill>
              <a:srgbClr val="DDDDDD"/>
            </a:solidFill>
            <a:prstDash val="solid"/>
          </a:ln>
        </p:spPr>
      </p:sp>
      <p:sp>
        <p:nvSpPr>
          <p:cNvPr id="131" name="Text 123"/>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2" name="Shape 124"/>
          <p:cNvSpPr/>
          <p:nvPr/>
        </p:nvSpPr>
        <p:spPr>
          <a:xfrm>
            <a:off x="843808" y="3528185"/>
            <a:ext cx="640080" cy="119299"/>
          </a:xfrm>
          <a:prstGeom prst="rect">
            <a:avLst/>
          </a:prstGeom>
          <a:solidFill>
            <a:srgbClr val="FFFFFF"/>
          </a:solidFill>
          <a:ln w="6350">
            <a:solidFill>
              <a:srgbClr val="E2E2E2"/>
            </a:solidFill>
            <a:prstDash val="solid"/>
          </a:ln>
        </p:spPr>
      </p:sp>
      <p:sp>
        <p:nvSpPr>
          <p:cNvPr id="133" name="Shape 125"/>
          <p:cNvSpPr/>
          <p:nvPr/>
        </p:nvSpPr>
        <p:spPr>
          <a:xfrm>
            <a:off x="1483888" y="3528185"/>
            <a:ext cx="822960" cy="119299"/>
          </a:xfrm>
          <a:prstGeom prst="rect">
            <a:avLst/>
          </a:prstGeom>
          <a:solidFill>
            <a:srgbClr val="FFFFFF"/>
          </a:solidFill>
          <a:ln w="6350">
            <a:solidFill>
              <a:srgbClr val="E2E2E2"/>
            </a:solidFill>
            <a:prstDash val="solid"/>
          </a:ln>
        </p:spPr>
      </p:sp>
      <p:sp>
        <p:nvSpPr>
          <p:cNvPr id="134" name="Shape 126"/>
          <p:cNvSpPr/>
          <p:nvPr/>
        </p:nvSpPr>
        <p:spPr>
          <a:xfrm>
            <a:off x="2306848" y="3528185"/>
            <a:ext cx="822960" cy="119299"/>
          </a:xfrm>
          <a:prstGeom prst="rect">
            <a:avLst/>
          </a:prstGeom>
          <a:solidFill>
            <a:srgbClr val="FFFFFF"/>
          </a:solidFill>
          <a:ln w="6350">
            <a:solidFill>
              <a:srgbClr val="E2E2E2"/>
            </a:solidFill>
            <a:prstDash val="solid"/>
          </a:ln>
        </p:spPr>
      </p:sp>
      <p:sp>
        <p:nvSpPr>
          <p:cNvPr id="135" name="Shape 127"/>
          <p:cNvSpPr/>
          <p:nvPr/>
        </p:nvSpPr>
        <p:spPr>
          <a:xfrm>
            <a:off x="3129808" y="3528185"/>
            <a:ext cx="822960" cy="119299"/>
          </a:xfrm>
          <a:prstGeom prst="rect">
            <a:avLst/>
          </a:prstGeom>
          <a:solidFill>
            <a:srgbClr val="FFFFFF"/>
          </a:solidFill>
          <a:ln w="6350">
            <a:solidFill>
              <a:srgbClr val="E2E2E2"/>
            </a:solidFill>
            <a:prstDash val="solid"/>
          </a:ln>
        </p:spPr>
      </p:sp>
      <p:sp>
        <p:nvSpPr>
          <p:cNvPr id="136" name="Shape 128"/>
          <p:cNvSpPr/>
          <p:nvPr/>
        </p:nvSpPr>
        <p:spPr>
          <a:xfrm>
            <a:off x="587776" y="3647484"/>
            <a:ext cx="256032" cy="119299"/>
          </a:xfrm>
          <a:prstGeom prst="rect">
            <a:avLst/>
          </a:prstGeom>
          <a:solidFill>
            <a:srgbClr val="F8F9FA"/>
          </a:solidFill>
          <a:ln w="6350">
            <a:solidFill>
              <a:srgbClr val="DDDDDD"/>
            </a:solidFill>
            <a:prstDash val="solid"/>
          </a:ln>
        </p:spPr>
      </p:sp>
      <p:sp>
        <p:nvSpPr>
          <p:cNvPr id="137" name="Text 129"/>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8" name="Shape 130"/>
          <p:cNvSpPr/>
          <p:nvPr/>
        </p:nvSpPr>
        <p:spPr>
          <a:xfrm>
            <a:off x="843808" y="3647484"/>
            <a:ext cx="640080" cy="119299"/>
          </a:xfrm>
          <a:prstGeom prst="rect">
            <a:avLst/>
          </a:prstGeom>
          <a:solidFill>
            <a:srgbClr val="FFFFFF"/>
          </a:solidFill>
          <a:ln w="6350">
            <a:solidFill>
              <a:srgbClr val="E2E2E2"/>
            </a:solidFill>
            <a:prstDash val="solid"/>
          </a:ln>
        </p:spPr>
      </p:sp>
      <p:sp>
        <p:nvSpPr>
          <p:cNvPr id="139" name="Shape 131"/>
          <p:cNvSpPr/>
          <p:nvPr/>
        </p:nvSpPr>
        <p:spPr>
          <a:xfrm>
            <a:off x="1483888" y="3647484"/>
            <a:ext cx="822960" cy="119299"/>
          </a:xfrm>
          <a:prstGeom prst="rect">
            <a:avLst/>
          </a:prstGeom>
          <a:solidFill>
            <a:srgbClr val="FFFFFF"/>
          </a:solidFill>
          <a:ln w="6350">
            <a:solidFill>
              <a:srgbClr val="E2E2E2"/>
            </a:solidFill>
            <a:prstDash val="solid"/>
          </a:ln>
        </p:spPr>
      </p:sp>
      <p:sp>
        <p:nvSpPr>
          <p:cNvPr id="140" name="Shape 132"/>
          <p:cNvSpPr/>
          <p:nvPr/>
        </p:nvSpPr>
        <p:spPr>
          <a:xfrm>
            <a:off x="2306848" y="3647484"/>
            <a:ext cx="822960" cy="119299"/>
          </a:xfrm>
          <a:prstGeom prst="rect">
            <a:avLst/>
          </a:prstGeom>
          <a:solidFill>
            <a:srgbClr val="FFFFFF"/>
          </a:solidFill>
          <a:ln w="6350">
            <a:solidFill>
              <a:srgbClr val="E2E2E2"/>
            </a:solidFill>
            <a:prstDash val="solid"/>
          </a:ln>
        </p:spPr>
      </p:sp>
      <p:sp>
        <p:nvSpPr>
          <p:cNvPr id="141" name="Shape 133"/>
          <p:cNvSpPr/>
          <p:nvPr/>
        </p:nvSpPr>
        <p:spPr>
          <a:xfrm>
            <a:off x="3129808" y="3647484"/>
            <a:ext cx="822960" cy="119299"/>
          </a:xfrm>
          <a:prstGeom prst="rect">
            <a:avLst/>
          </a:prstGeom>
          <a:solidFill>
            <a:srgbClr val="FFFFFF"/>
          </a:solidFill>
          <a:ln w="6350">
            <a:solidFill>
              <a:srgbClr val="E2E2E2"/>
            </a:solidFill>
            <a:prstDash val="solid"/>
          </a:ln>
        </p:spPr>
      </p:sp>
      <p:sp>
        <p:nvSpPr>
          <p:cNvPr id="142" name="Shape 134"/>
          <p:cNvSpPr/>
          <p:nvPr/>
        </p:nvSpPr>
        <p:spPr>
          <a:xfrm>
            <a:off x="1483888" y="2931688"/>
            <a:ext cx="2468880" cy="119299"/>
          </a:xfrm>
          <a:prstGeom prst="rect">
            <a:avLst/>
          </a:prstGeom>
          <a:solidFill>
            <a:srgbClr val="1A73E8">
              <a:alpha val="12000"/>
            </a:srgbClr>
          </a:solidFill>
          <a:ln w="19050">
            <a:solidFill>
              <a:srgbClr val="1A73E8"/>
            </a:solidFill>
            <a:prstDash val="solid"/>
          </a:ln>
        </p:spPr>
      </p:sp>
      <p:sp>
        <p:nvSpPr>
          <p:cNvPr id="143" name="Shape 135"/>
          <p:cNvSpPr/>
          <p:nvPr/>
        </p:nvSpPr>
        <p:spPr>
          <a:xfrm>
            <a:off x="587776" y="3794216"/>
            <a:ext cx="4950927" cy="201168"/>
          </a:xfrm>
          <a:prstGeom prst="rect">
            <a:avLst/>
          </a:prstGeom>
          <a:solidFill>
            <a:srgbClr val="F8F9FA"/>
          </a:solidFill>
          <a:ln w="12700">
            <a:solidFill>
              <a:srgbClr val="F8F9FA"/>
            </a:solidFill>
            <a:prstDash val="solid"/>
          </a:ln>
        </p:spPr>
      </p:sp>
      <p:sp>
        <p:nvSpPr>
          <p:cNvPr id="144" name="Text 136"/>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5" name="Shape 137"/>
          <p:cNvSpPr/>
          <p:nvPr/>
        </p:nvSpPr>
        <p:spPr>
          <a:xfrm>
            <a:off x="1136416" y="3794216"/>
            <a:ext cx="731520" cy="201168"/>
          </a:xfrm>
          <a:prstGeom prst="rect">
            <a:avLst/>
          </a:prstGeom>
          <a:solidFill>
            <a:srgbClr val="E1EFFE"/>
          </a:solidFill>
          <a:ln w="12700">
            <a:solidFill>
              <a:srgbClr val="E1EFFE"/>
            </a:solidFill>
            <a:prstDash val="solid"/>
          </a:ln>
        </p:spPr>
      </p:sp>
      <p:sp>
        <p:nvSpPr>
          <p:cNvPr id="146" name="Text 138"/>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147" name="Shape 139"/>
          <p:cNvSpPr/>
          <p:nvPr/>
        </p:nvSpPr>
        <p:spPr>
          <a:xfrm>
            <a:off x="1465600" y="2913400"/>
            <a:ext cx="2505456" cy="155875"/>
          </a:xfrm>
          <a:prstGeom prst="roundRect">
            <a:avLst>
              <a:gd name="adj" fmla="val 29331"/>
            </a:avLst>
          </a:prstGeom>
          <a:solidFill>
            <a:srgbClr val="FFFFFF">
              <a:alpha val="0"/>
            </a:srgbClr>
          </a:solidFill>
          <a:ln w="31750">
            <a:solidFill>
              <a:srgbClr val="E53935"/>
            </a:solidFill>
            <a:prstDash val="solid"/>
          </a:ln>
        </p:spPr>
      </p:sp>
      <p:sp>
        <p:nvSpPr>
          <p:cNvPr id="148" name="Shape 140"/>
          <p:cNvSpPr/>
          <p:nvPr/>
        </p:nvSpPr>
        <p:spPr>
          <a:xfrm>
            <a:off x="3833896" y="2776240"/>
            <a:ext cx="274320" cy="274320"/>
          </a:xfrm>
          <a:prstGeom prst="ellipse">
            <a:avLst/>
          </a:prstGeom>
          <a:solidFill>
            <a:srgbClr val="E53935"/>
          </a:solidFill>
          <a:ln w="12700">
            <a:solidFill>
              <a:srgbClr val="FFFFFF"/>
            </a:solidFill>
            <a:prstDash val="solid"/>
          </a:ln>
        </p:spPr>
      </p:sp>
      <p:sp>
        <p:nvSpPr>
          <p:cNvPr id="149" name="Text 141"/>
          <p:cNvSpPr txBox="1"/>
          <p:nvPr/>
        </p:nvSpPr>
        <p:spPr>
          <a:xfrm>
            <a:off x="3833896" y="27762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150" name="Image 6" descr="preencoded.png">    </p:cNvPr>
          <p:cNvPicPr>
            <a:picLocks noChangeAspect="1"/>
          </p:cNvPicPr>
          <p:nvPr/>
        </p:nvPicPr>
        <p:blipFill>
          <a:blip r:embed="rId7"/>
          <a:stretch>
            <a:fillRect/>
          </a:stretch>
        </p:blipFill>
        <p:spPr>
          <a:xfrm>
            <a:off x="2841772" y="2997302"/>
            <a:ext cx="237744" cy="237744"/>
          </a:xfrm>
          <a:prstGeom prst="rect">
            <a:avLst/>
          </a:prstGeom>
        </p:spPr>
      </p:pic>
      <p:sp>
        <p:nvSpPr>
          <p:cNvPr id="151" name="Text 14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152" name="Text 14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Rangkum hasil: tingkat berhasil dan waktu</a:t>
            </a:r>
            <a:endParaRPr lang="en-US" sz="1800" dirty="0"/>
          </a:p>
        </p:txBody>
      </p:sp>
      <p:sp>
        <p:nvSpPr>
          <p:cNvPr id="153" name="Text 14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Hitung: berapa tugas berhasil dari total, rata-rata waktu per tugas, dan masalah yang muncul lebih dari sekali.</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Harian</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https://santri-wu-kel3.github.io/setoran-harian/</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EEEEEE"/>
          </a:solidFill>
          <a:ln w="12700">
            <a:solidFill>
              <a:srgbClr val="EEEEEE"/>
            </a:solidFill>
            <a:prstDash val="solid"/>
          </a:ln>
        </p:spPr>
      </p:sp>
      <p:sp>
        <p:nvSpPr>
          <p:cNvPr id="30" name="Shape 23"/>
          <p:cNvSpPr/>
          <p:nvPr/>
        </p:nvSpPr>
        <p:spPr>
          <a:xfrm>
            <a:off x="2286000" y="1714253"/>
            <a:ext cx="1554480" cy="2244555"/>
          </a:xfrm>
          <a:prstGeom prst="roundRect">
            <a:avLst>
              <a:gd name="adj" fmla="val 7059"/>
            </a:avLst>
          </a:prstGeom>
          <a:solidFill>
            <a:srgbClr val="FFFFFF"/>
          </a:solidFill>
          <a:ln w="19050">
            <a:solidFill>
              <a:srgbClr val="333333"/>
            </a:solidFill>
            <a:prstDash val="solid"/>
          </a:ln>
        </p:spPr>
      </p:sp>
      <p:sp>
        <p:nvSpPr>
          <p:cNvPr id="31" name="Shape 24"/>
          <p:cNvSpPr/>
          <p:nvPr/>
        </p:nvSpPr>
        <p:spPr>
          <a:xfrm>
            <a:off x="2359152" y="1851413"/>
            <a:ext cx="1408176" cy="1970235"/>
          </a:xfrm>
          <a:prstGeom prst="rect">
            <a:avLst/>
          </a:prstGeom>
          <a:solidFill>
            <a:srgbClr val="F3F8F5"/>
          </a:solidFill>
          <a:ln w="12700">
            <a:solidFill>
              <a:srgbClr val="F3F8F5"/>
            </a:solidFill>
            <a:prstDash val="solid"/>
          </a:ln>
        </p:spPr>
      </p:sp>
      <p:sp>
        <p:nvSpPr>
          <p:cNvPr id="32" name="Shape 25"/>
          <p:cNvSpPr/>
          <p:nvPr/>
        </p:nvSpPr>
        <p:spPr>
          <a:xfrm>
            <a:off x="2359152" y="1851413"/>
            <a:ext cx="1408176" cy="347472"/>
          </a:xfrm>
          <a:prstGeom prst="rect">
            <a:avLst/>
          </a:prstGeom>
          <a:solidFill>
            <a:srgbClr val="0F4C3A"/>
          </a:solidFill>
          <a:ln w="12700">
            <a:solidFill>
              <a:srgbClr val="0F4C3A"/>
            </a:solidFill>
            <a:prstDash val="solid"/>
          </a:ln>
        </p:spPr>
      </p:sp>
      <p:sp>
        <p:nvSpPr>
          <p:cNvPr id="33" name="Text 26"/>
          <p:cNvSpPr txBox="1"/>
          <p:nvPr/>
        </p:nvSpPr>
        <p:spPr>
          <a:xfrm>
            <a:off x="2359152" y="1851413"/>
            <a:ext cx="140817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Setoran Harian</a:t>
            </a:r>
            <a:endParaRPr lang="en-US" sz="1000" dirty="0"/>
          </a:p>
        </p:txBody>
      </p:sp>
      <p:sp>
        <p:nvSpPr>
          <p:cNvPr id="34" name="Text 27"/>
          <p:cNvSpPr txBox="1"/>
          <p:nvPr/>
        </p:nvSpPr>
        <p:spPr>
          <a:xfrm>
            <a:off x="2450592" y="2262893"/>
            <a:ext cx="1225296" cy="128016"/>
          </a:xfrm>
          <a:prstGeom prst="rect">
            <a:avLst/>
          </a:prstGeom>
          <a:noFill/>
          <a:ln/>
        </p:spPr>
        <p:txBody>
          <a:bodyPr wrap="square" lIns="0" tIns="0" rIns="0" bIns="0" rtlCol="0" anchor="t"/>
          <a:lstStyle/>
          <a:p>
            <a:pPr indent="0" marL="0">
              <a:buNone/>
            </a:pPr>
            <a:r>
              <a:rPr lang="en-US" sz="550" b="1" dirty="0">
                <a:solidFill>
                  <a:srgbClr val="1E2A26"/>
                </a:solidFill>
                <a:latin typeface="Arial" pitchFamily="34" charset="0"/>
                <a:ea typeface="Arial" pitchFamily="34" charset="-122"/>
                <a:cs typeface="Arial" pitchFamily="34" charset="-120"/>
              </a:rPr>
              <a:t>Kode santri (contoh: S001)</a:t>
            </a:r>
            <a:endParaRPr lang="en-US" sz="550" dirty="0"/>
          </a:p>
        </p:txBody>
      </p:sp>
      <p:sp>
        <p:nvSpPr>
          <p:cNvPr id="35" name="Shape 28"/>
          <p:cNvSpPr/>
          <p:nvPr/>
        </p:nvSpPr>
        <p:spPr>
          <a:xfrm>
            <a:off x="2450592" y="2400053"/>
            <a:ext cx="1225296" cy="182880"/>
          </a:xfrm>
          <a:prstGeom prst="roundRect">
            <a:avLst>
              <a:gd name="adj" fmla="val 15000"/>
            </a:avLst>
          </a:prstGeom>
          <a:solidFill>
            <a:srgbClr val="FFFFFF"/>
          </a:solidFill>
          <a:ln w="9525">
            <a:solidFill>
              <a:srgbClr val="999999"/>
            </a:solidFill>
            <a:prstDash val="solid"/>
          </a:ln>
        </p:spPr>
      </p:sp>
      <p:sp>
        <p:nvSpPr>
          <p:cNvPr id="36" name="Text 29"/>
          <p:cNvSpPr txBox="1"/>
          <p:nvPr/>
        </p:nvSpPr>
        <p:spPr>
          <a:xfrm>
            <a:off x="2450592" y="2610365"/>
            <a:ext cx="1225296" cy="128016"/>
          </a:xfrm>
          <a:prstGeom prst="rect">
            <a:avLst/>
          </a:prstGeom>
          <a:noFill/>
          <a:ln/>
        </p:spPr>
        <p:txBody>
          <a:bodyPr wrap="square" lIns="0" tIns="0" rIns="0" bIns="0" rtlCol="0" anchor="t"/>
          <a:lstStyle/>
          <a:p>
            <a:pPr indent="0" marL="0">
              <a:buNone/>
            </a:pPr>
            <a:r>
              <a:rPr lang="en-US" sz="550" b="1" dirty="0">
                <a:solidFill>
                  <a:srgbClr val="1E2A26"/>
                </a:solidFill>
                <a:latin typeface="Arial" pitchFamily="34" charset="0"/>
                <a:ea typeface="Arial" pitchFamily="34" charset="-122"/>
                <a:cs typeface="Arial" pitchFamily="34" charset="-120"/>
              </a:rPr>
              <a:t>Surat</a:t>
            </a:r>
            <a:endParaRPr lang="en-US" sz="550" dirty="0"/>
          </a:p>
        </p:txBody>
      </p:sp>
      <p:sp>
        <p:nvSpPr>
          <p:cNvPr id="37" name="Shape 30"/>
          <p:cNvSpPr/>
          <p:nvPr/>
        </p:nvSpPr>
        <p:spPr>
          <a:xfrm>
            <a:off x="2450592" y="2747525"/>
            <a:ext cx="1225296" cy="182880"/>
          </a:xfrm>
          <a:prstGeom prst="roundRect">
            <a:avLst>
              <a:gd name="adj" fmla="val 15000"/>
            </a:avLst>
          </a:prstGeom>
          <a:solidFill>
            <a:srgbClr val="FFFFFF"/>
          </a:solidFill>
          <a:ln w="9525">
            <a:solidFill>
              <a:srgbClr val="999999"/>
            </a:solidFill>
            <a:prstDash val="solid"/>
          </a:ln>
        </p:spPr>
      </p:sp>
      <p:sp>
        <p:nvSpPr>
          <p:cNvPr id="38" name="Text 31"/>
          <p:cNvSpPr txBox="1"/>
          <p:nvPr/>
        </p:nvSpPr>
        <p:spPr>
          <a:xfrm>
            <a:off x="2450592" y="2957837"/>
            <a:ext cx="1225296" cy="128016"/>
          </a:xfrm>
          <a:prstGeom prst="rect">
            <a:avLst/>
          </a:prstGeom>
          <a:noFill/>
          <a:ln/>
        </p:spPr>
        <p:txBody>
          <a:bodyPr wrap="square" lIns="0" tIns="0" rIns="0" bIns="0" rtlCol="0" anchor="t"/>
          <a:lstStyle/>
          <a:p>
            <a:pPr indent="0" marL="0">
              <a:buNone/>
            </a:pPr>
            <a:r>
              <a:rPr lang="en-US" sz="550" b="1" dirty="0">
                <a:solidFill>
                  <a:srgbClr val="1E2A26"/>
                </a:solidFill>
                <a:latin typeface="Arial" pitchFamily="34" charset="0"/>
                <a:ea typeface="Arial" pitchFamily="34" charset="-122"/>
                <a:cs typeface="Arial" pitchFamily="34" charset="-120"/>
              </a:rPr>
              <a:t>Jumlah ayat</a:t>
            </a:r>
            <a:endParaRPr lang="en-US" sz="550" dirty="0"/>
          </a:p>
        </p:txBody>
      </p:sp>
      <p:sp>
        <p:nvSpPr>
          <p:cNvPr id="39" name="Shape 32"/>
          <p:cNvSpPr/>
          <p:nvPr/>
        </p:nvSpPr>
        <p:spPr>
          <a:xfrm>
            <a:off x="2450592" y="3094997"/>
            <a:ext cx="1225296" cy="182880"/>
          </a:xfrm>
          <a:prstGeom prst="roundRect">
            <a:avLst>
              <a:gd name="adj" fmla="val 15000"/>
            </a:avLst>
          </a:prstGeom>
          <a:solidFill>
            <a:srgbClr val="FFFFFF"/>
          </a:solidFill>
          <a:ln w="9525">
            <a:solidFill>
              <a:srgbClr val="999999"/>
            </a:solidFill>
            <a:prstDash val="solid"/>
          </a:ln>
        </p:spPr>
      </p:sp>
      <p:sp>
        <p:nvSpPr>
          <p:cNvPr id="40" name="Shape 33"/>
          <p:cNvSpPr/>
          <p:nvPr/>
        </p:nvSpPr>
        <p:spPr>
          <a:xfrm>
            <a:off x="2450592" y="3332741"/>
            <a:ext cx="1225296" cy="274320"/>
          </a:xfrm>
          <a:prstGeom prst="roundRect">
            <a:avLst>
              <a:gd name="adj" fmla="val 50000"/>
            </a:avLst>
          </a:prstGeom>
          <a:solidFill>
            <a:srgbClr val="D4A017"/>
          </a:solidFill>
          <a:ln w="12700">
            <a:solidFill>
              <a:srgbClr val="D4A017"/>
            </a:solidFill>
            <a:prstDash val="solid"/>
          </a:ln>
        </p:spPr>
      </p:sp>
      <p:sp>
        <p:nvSpPr>
          <p:cNvPr id="41" name="Text 34"/>
          <p:cNvSpPr txBox="1"/>
          <p:nvPr/>
        </p:nvSpPr>
        <p:spPr>
          <a:xfrm>
            <a:off x="2450592" y="3332741"/>
            <a:ext cx="12252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Simpan Setoran</a:t>
            </a:r>
            <a:endParaRPr lang="en-US" sz="800" dirty="0"/>
          </a:p>
        </p:txBody>
      </p:sp>
      <p:sp>
        <p:nvSpPr>
          <p:cNvPr id="42" name="Text 35"/>
          <p:cNvSpPr txBox="1"/>
          <p:nvPr/>
        </p:nvSpPr>
        <p:spPr>
          <a:xfrm>
            <a:off x="2450592" y="3652781"/>
            <a:ext cx="1225296" cy="182880"/>
          </a:xfrm>
          <a:prstGeom prst="rect">
            <a:avLst/>
          </a:prstGeom>
          <a:noFill/>
          <a:ln/>
        </p:spPr>
        <p:txBody>
          <a:bodyPr wrap="square" lIns="0" tIns="0" rIns="0" bIns="0" rtlCol="0" anchor="t"/>
          <a:lstStyle/>
          <a:p>
            <a:pPr algn="ctr" indent="0" marL="0">
              <a:buNone/>
            </a:pPr>
            <a:r>
              <a:rPr lang="en-US" sz="650" b="1" dirty="0">
                <a:solidFill>
                  <a:srgbClr val="1F7A5C"/>
                </a:solidFill>
                <a:latin typeface="Arial" pitchFamily="34" charset="0"/>
                <a:ea typeface="Arial" pitchFamily="34" charset="-122"/>
                <a:cs typeface="Arial" pitchFamily="34" charset="-120"/>
              </a:rPr>
              <a:t>✓ Alhamdulillah, tersimpan!</a:t>
            </a:r>
            <a:endParaRPr lang="en-US" sz="650" dirty="0"/>
          </a:p>
        </p:txBody>
      </p:sp>
      <p:sp>
        <p:nvSpPr>
          <p:cNvPr id="43" name="Shape 36"/>
          <p:cNvSpPr/>
          <p:nvPr/>
        </p:nvSpPr>
        <p:spPr>
          <a:xfrm>
            <a:off x="2267712" y="1695965"/>
            <a:ext cx="1591056" cy="2281131"/>
          </a:xfrm>
          <a:prstGeom prst="roundRect">
            <a:avLst>
              <a:gd name="adj" fmla="val 2874"/>
            </a:avLst>
          </a:prstGeom>
          <a:solidFill>
            <a:srgbClr val="FFFFFF">
              <a:alpha val="0"/>
            </a:srgbClr>
          </a:solidFill>
          <a:ln w="31750">
            <a:solidFill>
              <a:srgbClr val="E53935"/>
            </a:solidFill>
            <a:prstDash val="solid"/>
          </a:ln>
        </p:spPr>
      </p:sp>
      <p:sp>
        <p:nvSpPr>
          <p:cNvPr id="44" name="Shape 37"/>
          <p:cNvSpPr/>
          <p:nvPr/>
        </p:nvSpPr>
        <p:spPr>
          <a:xfrm>
            <a:off x="3721608" y="1558805"/>
            <a:ext cx="274320" cy="274320"/>
          </a:xfrm>
          <a:prstGeom prst="ellipse">
            <a:avLst/>
          </a:prstGeom>
          <a:solidFill>
            <a:srgbClr val="E53935"/>
          </a:solidFill>
          <a:ln w="12700">
            <a:solidFill>
              <a:srgbClr val="FFFFFF"/>
            </a:solidFill>
            <a:prstDash val="solid"/>
          </a:ln>
        </p:spPr>
      </p:sp>
      <p:sp>
        <p:nvSpPr>
          <p:cNvPr id="45" name="Text 38"/>
          <p:cNvSpPr txBox="1"/>
          <p:nvPr/>
        </p:nvSpPr>
        <p:spPr>
          <a:xfrm>
            <a:off x="3721608"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6" name="Text 3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7" name="Text 4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Perbaiki masalah terbesar, uji ulang singkat</a:t>
            </a:r>
            <a:endParaRPr lang="en-US" sz="1800" dirty="0"/>
          </a:p>
        </p:txBody>
      </p:sp>
      <p:sp>
        <p:nvSpPr>
          <p:cNvPr id="48" name="Text 4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Perbaiki 1 masalah yang paling sering. Uji ulang tugas itu dengan 1 pengguna baru. Commit.</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ect">
            <a:avLst/>
          </a:prstGeom>
          <a:solidFill>
            <a:srgbClr val="FFFFFF"/>
          </a:solidFill>
          <a:ln w="12700">
            <a:solidFill>
              <a:srgbClr val="BBBBBB"/>
            </a:solidFill>
            <a:prstDash val="solid"/>
          </a:ln>
        </p:spPr>
      </p:sp>
      <p:sp>
        <p:nvSpPr>
          <p:cNvPr id="10" name="Shape 6"/>
          <p:cNvSpPr/>
          <p:nvPr/>
        </p:nvSpPr>
        <p:spPr>
          <a:xfrm>
            <a:off x="594360" y="1188720"/>
            <a:ext cx="1371600" cy="2377440"/>
          </a:xfrm>
          <a:prstGeom prst="roundRect">
            <a:avLst>
              <a:gd name="adj" fmla="val 8000"/>
            </a:avLst>
          </a:prstGeom>
          <a:solidFill>
            <a:srgbClr val="FFFFFF"/>
          </a:solidFill>
          <a:ln w="19050">
            <a:solidFill>
              <a:srgbClr val="333333"/>
            </a:solidFill>
            <a:prstDash val="solid"/>
          </a:ln>
        </p:spPr>
      </p:sp>
      <p:sp>
        <p:nvSpPr>
          <p:cNvPr id="11" name="Shape 7"/>
          <p:cNvSpPr/>
          <p:nvPr/>
        </p:nvSpPr>
        <p:spPr>
          <a:xfrm>
            <a:off x="667512" y="1325880"/>
            <a:ext cx="1225296" cy="2103120"/>
          </a:xfrm>
          <a:prstGeom prst="rect">
            <a:avLst/>
          </a:prstGeom>
          <a:solidFill>
            <a:srgbClr val="FFF9C4"/>
          </a:solidFill>
          <a:ln w="12700">
            <a:solidFill>
              <a:srgbClr val="FFF9C4"/>
            </a:solidFill>
            <a:prstDash val="solid"/>
          </a:ln>
        </p:spPr>
      </p:sp>
      <p:sp>
        <p:nvSpPr>
          <p:cNvPr id="12" name="Text 8"/>
          <p:cNvSpPr txBox="1"/>
          <p:nvPr/>
        </p:nvSpPr>
        <p:spPr>
          <a:xfrm>
            <a:off x="713232" y="1371600"/>
            <a:ext cx="1225296" cy="182880"/>
          </a:xfrm>
          <a:prstGeom prst="rect">
            <a:avLst/>
          </a:prstGeom>
          <a:noFill/>
          <a:ln/>
        </p:spPr>
        <p:txBody>
          <a:bodyPr wrap="square" lIns="0" tIns="0" rIns="0" bIns="0" rtlCol="0" anchor="t"/>
          <a:lstStyle/>
          <a:p>
            <a:pPr indent="0" marL="0">
              <a:buNone/>
            </a:pPr>
            <a:r>
              <a:rPr lang="en-US" sz="700" dirty="0">
                <a:solidFill>
                  <a:srgbClr val="B0BEC5"/>
                </a:solidFill>
                <a:latin typeface="Comic Sans MS" pitchFamily="34" charset="0"/>
                <a:ea typeface="Comic Sans MS" pitchFamily="34" charset="-122"/>
                <a:cs typeface="Comic Sans MS" pitchFamily="34" charset="-120"/>
              </a:rPr>
              <a:t>setoran harian kel 3</a:t>
            </a:r>
            <a:endParaRPr lang="en-US" sz="700" dirty="0"/>
          </a:p>
        </p:txBody>
      </p:sp>
      <p:sp>
        <p:nvSpPr>
          <p:cNvPr id="13" name="Text 9"/>
          <p:cNvSpPr txBox="1"/>
          <p:nvPr/>
        </p:nvSpPr>
        <p:spPr>
          <a:xfrm>
            <a:off x="713232" y="1600200"/>
            <a:ext cx="1133856" cy="411480"/>
          </a:xfrm>
          <a:prstGeom prst="rect">
            <a:avLst/>
          </a:prstGeom>
          <a:noFill/>
          <a:ln/>
        </p:spPr>
        <p:txBody>
          <a:bodyPr wrap="square" lIns="0" tIns="0" rIns="0" bIns="0" rtlCol="0" anchor="t"/>
          <a:lstStyle/>
          <a:p>
            <a:pPr indent="0" marL="0">
              <a:buNone/>
            </a:pPr>
            <a:r>
              <a:rPr lang="en-US" sz="600" dirty="0">
                <a:solidFill>
                  <a:srgbClr val="999999"/>
                </a:solidFill>
                <a:latin typeface="Calibri" pitchFamily="34" charset="0"/>
                <a:ea typeface="Calibri" pitchFamily="34" charset="-122"/>
                <a:cs typeface="Calibri" pitchFamily="34" charset="-120"/>
              </a:rPr>
              <a:t>masukkan kode dan surat dan ayat lalu klik tombol di bawah kalau sudah</a:t>
            </a:r>
            <a:endParaRPr lang="en-US" sz="600" dirty="0"/>
          </a:p>
        </p:txBody>
      </p:sp>
      <p:sp>
        <p:nvSpPr>
          <p:cNvPr id="14" name="Shape 10"/>
          <p:cNvSpPr/>
          <p:nvPr/>
        </p:nvSpPr>
        <p:spPr>
          <a:xfrm>
            <a:off x="713232" y="2057400"/>
            <a:ext cx="673913" cy="146304"/>
          </a:xfrm>
          <a:prstGeom prst="rect">
            <a:avLst/>
          </a:prstGeom>
          <a:solidFill>
            <a:srgbClr val="FFFFFF"/>
          </a:solidFill>
          <a:ln w="6350">
            <a:solidFill>
              <a:srgbClr val="DDDDDD"/>
            </a:solidFill>
            <a:prstDash val="solid"/>
          </a:ln>
        </p:spPr>
      </p:sp>
      <p:sp>
        <p:nvSpPr>
          <p:cNvPr id="15" name="Shape 11"/>
          <p:cNvSpPr/>
          <p:nvPr/>
        </p:nvSpPr>
        <p:spPr>
          <a:xfrm>
            <a:off x="713232" y="2258568"/>
            <a:ext cx="673913" cy="146304"/>
          </a:xfrm>
          <a:prstGeom prst="rect">
            <a:avLst/>
          </a:prstGeom>
          <a:solidFill>
            <a:srgbClr val="FFFFFF"/>
          </a:solidFill>
          <a:ln w="6350">
            <a:solidFill>
              <a:srgbClr val="DDDDDD"/>
            </a:solidFill>
            <a:prstDash val="solid"/>
          </a:ln>
        </p:spPr>
      </p:sp>
      <p:sp>
        <p:nvSpPr>
          <p:cNvPr id="16" name="Shape 12"/>
          <p:cNvSpPr/>
          <p:nvPr/>
        </p:nvSpPr>
        <p:spPr>
          <a:xfrm>
            <a:off x="713232" y="2459736"/>
            <a:ext cx="673913" cy="146304"/>
          </a:xfrm>
          <a:prstGeom prst="rect">
            <a:avLst/>
          </a:prstGeom>
          <a:solidFill>
            <a:srgbClr val="FFFFFF"/>
          </a:solidFill>
          <a:ln w="6350">
            <a:solidFill>
              <a:srgbClr val="DDDDDD"/>
            </a:solidFill>
            <a:prstDash val="solid"/>
          </a:ln>
        </p:spPr>
      </p:sp>
      <p:sp>
        <p:nvSpPr>
          <p:cNvPr id="17" name="Shape 13"/>
          <p:cNvSpPr/>
          <p:nvPr/>
        </p:nvSpPr>
        <p:spPr>
          <a:xfrm>
            <a:off x="713232" y="2697480"/>
            <a:ext cx="320040" cy="128016"/>
          </a:xfrm>
          <a:prstGeom prst="rect">
            <a:avLst/>
          </a:prstGeom>
          <a:solidFill>
            <a:srgbClr val="FF5252"/>
          </a:solidFill>
          <a:ln w="12700">
            <a:solidFill>
              <a:srgbClr val="FF5252"/>
            </a:solidFill>
            <a:prstDash val="solid"/>
          </a:ln>
        </p:spPr>
      </p:sp>
      <p:sp>
        <p:nvSpPr>
          <p:cNvPr id="18" name="Text 14"/>
          <p:cNvSpPr txBox="1"/>
          <p:nvPr/>
        </p:nvSpPr>
        <p:spPr>
          <a:xfrm>
            <a:off x="713232" y="2697480"/>
            <a:ext cx="320040" cy="128016"/>
          </a:xfrm>
          <a:prstGeom prst="rect">
            <a:avLst/>
          </a:prstGeom>
          <a:noFill/>
          <a:ln/>
        </p:spPr>
        <p:txBody>
          <a:bodyPr wrap="square" lIns="0" tIns="0" rIns="0" bIns="0" rtlCol="0" anchor="ctr"/>
          <a:lstStyle/>
          <a:p>
            <a:pPr algn="ctr" indent="0" marL="0">
              <a:buNone/>
            </a:pPr>
            <a:r>
              <a:rPr lang="en-US" sz="500" dirty="0">
                <a:solidFill>
                  <a:srgbClr val="FFEB3B"/>
                </a:solidFill>
                <a:latin typeface="Calibri" pitchFamily="34" charset="0"/>
                <a:ea typeface="Calibri" pitchFamily="34" charset="-122"/>
                <a:cs typeface="Calibri" pitchFamily="34" charset="-120"/>
              </a:rPr>
              <a:t>ok</a:t>
            </a:r>
            <a:endParaRPr lang="en-US" sz="500" dirty="0"/>
          </a:p>
        </p:txBody>
      </p:sp>
      <p:sp>
        <p:nvSpPr>
          <p:cNvPr id="19" name="Shape 15"/>
          <p:cNvSpPr/>
          <p:nvPr/>
        </p:nvSpPr>
        <p:spPr>
          <a:xfrm>
            <a:off x="1078992" y="2697480"/>
            <a:ext cx="320040" cy="128016"/>
          </a:xfrm>
          <a:prstGeom prst="rect">
            <a:avLst/>
          </a:prstGeom>
          <a:solidFill>
            <a:srgbClr val="7C4DFF"/>
          </a:solidFill>
          <a:ln w="12700">
            <a:solidFill>
              <a:srgbClr val="7C4DFF"/>
            </a:solidFill>
            <a:prstDash val="solid"/>
          </a:ln>
        </p:spPr>
      </p:sp>
      <p:sp>
        <p:nvSpPr>
          <p:cNvPr id="20" name="Text 16"/>
          <p:cNvSpPr txBox="1"/>
          <p:nvPr/>
        </p:nvSpPr>
        <p:spPr>
          <a:xfrm>
            <a:off x="1078992" y="2697480"/>
            <a:ext cx="320040" cy="128016"/>
          </a:xfrm>
          <a:prstGeom prst="rect">
            <a:avLst/>
          </a:prstGeom>
          <a:noFill/>
          <a:ln/>
        </p:spPr>
        <p:txBody>
          <a:bodyPr wrap="square" lIns="0" tIns="0" rIns="0" bIns="0" rtlCol="0" anchor="ctr"/>
          <a:lstStyle/>
          <a:p>
            <a:pPr algn="ctr" indent="0" marL="0">
              <a:buNone/>
            </a:pPr>
            <a:r>
              <a:rPr lang="en-US" sz="500" dirty="0">
                <a:solidFill>
                  <a:srgbClr val="FFFFFF"/>
                </a:solidFill>
                <a:latin typeface="Calibri" pitchFamily="34" charset="0"/>
                <a:ea typeface="Calibri" pitchFamily="34" charset="-122"/>
                <a:cs typeface="Calibri" pitchFamily="34" charset="-120"/>
              </a:rPr>
              <a:t>hapus</a:t>
            </a:r>
            <a:endParaRPr lang="en-US" sz="500" dirty="0"/>
          </a:p>
        </p:txBody>
      </p:sp>
      <p:sp>
        <p:nvSpPr>
          <p:cNvPr id="21" name="Shape 17"/>
          <p:cNvSpPr/>
          <p:nvPr/>
        </p:nvSpPr>
        <p:spPr>
          <a:xfrm>
            <a:off x="2148840" y="1188720"/>
            <a:ext cx="1371600" cy="2377440"/>
          </a:xfrm>
          <a:prstGeom prst="roundRect">
            <a:avLst>
              <a:gd name="adj" fmla="val 8000"/>
            </a:avLst>
          </a:prstGeom>
          <a:solidFill>
            <a:srgbClr val="FFFFFF"/>
          </a:solidFill>
          <a:ln w="19050">
            <a:solidFill>
              <a:srgbClr val="333333"/>
            </a:solidFill>
            <a:prstDash val="solid"/>
          </a:ln>
        </p:spPr>
      </p:sp>
      <p:sp>
        <p:nvSpPr>
          <p:cNvPr id="22" name="Shape 18"/>
          <p:cNvSpPr/>
          <p:nvPr/>
        </p:nvSpPr>
        <p:spPr>
          <a:xfrm>
            <a:off x="2221992" y="1325880"/>
            <a:ext cx="1225296" cy="2103120"/>
          </a:xfrm>
          <a:prstGeom prst="rect">
            <a:avLst/>
          </a:prstGeom>
          <a:solidFill>
            <a:srgbClr val="F3F8F5"/>
          </a:solidFill>
          <a:ln w="12700">
            <a:solidFill>
              <a:srgbClr val="F3F8F5"/>
            </a:solidFill>
            <a:prstDash val="solid"/>
          </a:ln>
        </p:spPr>
      </p:sp>
      <p:sp>
        <p:nvSpPr>
          <p:cNvPr id="23" name="Shape 19"/>
          <p:cNvSpPr/>
          <p:nvPr/>
        </p:nvSpPr>
        <p:spPr>
          <a:xfrm>
            <a:off x="2221992" y="1325880"/>
            <a:ext cx="1225296" cy="347472"/>
          </a:xfrm>
          <a:prstGeom prst="rect">
            <a:avLst/>
          </a:prstGeom>
          <a:solidFill>
            <a:srgbClr val="0F4C3A"/>
          </a:solidFill>
          <a:ln w="12700">
            <a:solidFill>
              <a:srgbClr val="0F4C3A"/>
            </a:solidFill>
            <a:prstDash val="solid"/>
          </a:ln>
        </p:spPr>
      </p:sp>
      <p:sp>
        <p:nvSpPr>
          <p:cNvPr id="24" name="Text 20"/>
          <p:cNvSpPr txBox="1"/>
          <p:nvPr/>
        </p:nvSpPr>
        <p:spPr>
          <a:xfrm>
            <a:off x="2221992" y="1325880"/>
            <a:ext cx="122529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Setoran Harian</a:t>
            </a:r>
            <a:endParaRPr lang="en-US" sz="1000" dirty="0"/>
          </a:p>
        </p:txBody>
      </p:sp>
      <p:sp>
        <p:nvSpPr>
          <p:cNvPr id="25" name="Text 21"/>
          <p:cNvSpPr txBox="1"/>
          <p:nvPr/>
        </p:nvSpPr>
        <p:spPr>
          <a:xfrm>
            <a:off x="2313432" y="1737360"/>
            <a:ext cx="1042416" cy="128016"/>
          </a:xfrm>
          <a:prstGeom prst="rect">
            <a:avLst/>
          </a:prstGeom>
          <a:noFill/>
          <a:ln/>
        </p:spPr>
        <p:txBody>
          <a:bodyPr wrap="square" lIns="0" tIns="0" rIns="0" bIns="0" rtlCol="0" anchor="t"/>
          <a:lstStyle/>
          <a:p>
            <a:pPr indent="0" marL="0">
              <a:buNone/>
            </a:pPr>
            <a:r>
              <a:rPr lang="en-US" sz="550" b="1" dirty="0">
                <a:solidFill>
                  <a:srgbClr val="1E2A26"/>
                </a:solidFill>
                <a:latin typeface="Arial" pitchFamily="34" charset="0"/>
                <a:ea typeface="Arial" pitchFamily="34" charset="-122"/>
                <a:cs typeface="Arial" pitchFamily="34" charset="-120"/>
              </a:rPr>
              <a:t>Kode santri (contoh: S001)</a:t>
            </a:r>
            <a:endParaRPr lang="en-US" sz="550" dirty="0"/>
          </a:p>
        </p:txBody>
      </p:sp>
      <p:sp>
        <p:nvSpPr>
          <p:cNvPr id="26" name="Shape 22"/>
          <p:cNvSpPr/>
          <p:nvPr/>
        </p:nvSpPr>
        <p:spPr>
          <a:xfrm>
            <a:off x="2313432" y="1874520"/>
            <a:ext cx="1042416" cy="182880"/>
          </a:xfrm>
          <a:prstGeom prst="roundRect">
            <a:avLst>
              <a:gd name="adj" fmla="val 15000"/>
            </a:avLst>
          </a:prstGeom>
          <a:solidFill>
            <a:srgbClr val="FFFFFF"/>
          </a:solidFill>
          <a:ln w="9525">
            <a:solidFill>
              <a:srgbClr val="999999"/>
            </a:solidFill>
            <a:prstDash val="solid"/>
          </a:ln>
        </p:spPr>
      </p:sp>
      <p:sp>
        <p:nvSpPr>
          <p:cNvPr id="27" name="Text 23"/>
          <p:cNvSpPr txBox="1"/>
          <p:nvPr/>
        </p:nvSpPr>
        <p:spPr>
          <a:xfrm>
            <a:off x="2313432" y="2084832"/>
            <a:ext cx="1042416" cy="128016"/>
          </a:xfrm>
          <a:prstGeom prst="rect">
            <a:avLst/>
          </a:prstGeom>
          <a:noFill/>
          <a:ln/>
        </p:spPr>
        <p:txBody>
          <a:bodyPr wrap="square" lIns="0" tIns="0" rIns="0" bIns="0" rtlCol="0" anchor="t"/>
          <a:lstStyle/>
          <a:p>
            <a:pPr indent="0" marL="0">
              <a:buNone/>
            </a:pPr>
            <a:r>
              <a:rPr lang="en-US" sz="550" b="1" dirty="0">
                <a:solidFill>
                  <a:srgbClr val="1E2A26"/>
                </a:solidFill>
                <a:latin typeface="Arial" pitchFamily="34" charset="0"/>
                <a:ea typeface="Arial" pitchFamily="34" charset="-122"/>
                <a:cs typeface="Arial" pitchFamily="34" charset="-120"/>
              </a:rPr>
              <a:t>Surat</a:t>
            </a:r>
            <a:endParaRPr lang="en-US" sz="550" dirty="0"/>
          </a:p>
        </p:txBody>
      </p:sp>
      <p:sp>
        <p:nvSpPr>
          <p:cNvPr id="28" name="Shape 24"/>
          <p:cNvSpPr/>
          <p:nvPr/>
        </p:nvSpPr>
        <p:spPr>
          <a:xfrm>
            <a:off x="2313432" y="2221992"/>
            <a:ext cx="1042416" cy="182880"/>
          </a:xfrm>
          <a:prstGeom prst="roundRect">
            <a:avLst>
              <a:gd name="adj" fmla="val 15000"/>
            </a:avLst>
          </a:prstGeom>
          <a:solidFill>
            <a:srgbClr val="FFFFFF"/>
          </a:solidFill>
          <a:ln w="9525">
            <a:solidFill>
              <a:srgbClr val="999999"/>
            </a:solidFill>
            <a:prstDash val="solid"/>
          </a:ln>
        </p:spPr>
      </p:sp>
      <p:sp>
        <p:nvSpPr>
          <p:cNvPr id="29" name="Text 25"/>
          <p:cNvSpPr txBox="1"/>
          <p:nvPr/>
        </p:nvSpPr>
        <p:spPr>
          <a:xfrm>
            <a:off x="2313432" y="2432304"/>
            <a:ext cx="1042416" cy="128016"/>
          </a:xfrm>
          <a:prstGeom prst="rect">
            <a:avLst/>
          </a:prstGeom>
          <a:noFill/>
          <a:ln/>
        </p:spPr>
        <p:txBody>
          <a:bodyPr wrap="square" lIns="0" tIns="0" rIns="0" bIns="0" rtlCol="0" anchor="t"/>
          <a:lstStyle/>
          <a:p>
            <a:pPr indent="0" marL="0">
              <a:buNone/>
            </a:pPr>
            <a:r>
              <a:rPr lang="en-US" sz="550" b="1" dirty="0">
                <a:solidFill>
                  <a:srgbClr val="1E2A26"/>
                </a:solidFill>
                <a:latin typeface="Arial" pitchFamily="34" charset="0"/>
                <a:ea typeface="Arial" pitchFamily="34" charset="-122"/>
                <a:cs typeface="Arial" pitchFamily="34" charset="-120"/>
              </a:rPr>
              <a:t>Jumlah ayat</a:t>
            </a:r>
            <a:endParaRPr lang="en-US" sz="550" dirty="0"/>
          </a:p>
        </p:txBody>
      </p:sp>
      <p:sp>
        <p:nvSpPr>
          <p:cNvPr id="30" name="Shape 26"/>
          <p:cNvSpPr/>
          <p:nvPr/>
        </p:nvSpPr>
        <p:spPr>
          <a:xfrm>
            <a:off x="2313432" y="2569464"/>
            <a:ext cx="1042416" cy="182880"/>
          </a:xfrm>
          <a:prstGeom prst="roundRect">
            <a:avLst>
              <a:gd name="adj" fmla="val 15000"/>
            </a:avLst>
          </a:prstGeom>
          <a:solidFill>
            <a:srgbClr val="FFFFFF"/>
          </a:solidFill>
          <a:ln w="9525">
            <a:solidFill>
              <a:srgbClr val="999999"/>
            </a:solidFill>
            <a:prstDash val="solid"/>
          </a:ln>
        </p:spPr>
      </p:sp>
      <p:sp>
        <p:nvSpPr>
          <p:cNvPr id="31" name="Shape 27"/>
          <p:cNvSpPr/>
          <p:nvPr/>
        </p:nvSpPr>
        <p:spPr>
          <a:xfrm>
            <a:off x="2313432" y="2807208"/>
            <a:ext cx="1042416" cy="274320"/>
          </a:xfrm>
          <a:prstGeom prst="roundRect">
            <a:avLst>
              <a:gd name="adj" fmla="val 50000"/>
            </a:avLst>
          </a:prstGeom>
          <a:solidFill>
            <a:srgbClr val="D4A017"/>
          </a:solidFill>
          <a:ln w="12700">
            <a:solidFill>
              <a:srgbClr val="D4A017"/>
            </a:solidFill>
            <a:prstDash val="solid"/>
          </a:ln>
        </p:spPr>
      </p:sp>
      <p:sp>
        <p:nvSpPr>
          <p:cNvPr id="32" name="Text 28"/>
          <p:cNvSpPr txBox="1"/>
          <p:nvPr/>
        </p:nvSpPr>
        <p:spPr>
          <a:xfrm>
            <a:off x="2313432" y="2807208"/>
            <a:ext cx="104241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Simpan Setoran</a:t>
            </a:r>
            <a:endParaRPr lang="en-US" sz="800" dirty="0"/>
          </a:p>
        </p:txBody>
      </p:sp>
      <p:sp>
        <p:nvSpPr>
          <p:cNvPr id="33" name="Text 29"/>
          <p:cNvSpPr txBox="1"/>
          <p:nvPr/>
        </p:nvSpPr>
        <p:spPr>
          <a:xfrm>
            <a:off x="2313432" y="3127248"/>
            <a:ext cx="1042416" cy="182880"/>
          </a:xfrm>
          <a:prstGeom prst="rect">
            <a:avLst/>
          </a:prstGeom>
          <a:noFill/>
          <a:ln/>
        </p:spPr>
        <p:txBody>
          <a:bodyPr wrap="square" lIns="0" tIns="0" rIns="0" bIns="0" rtlCol="0" anchor="t"/>
          <a:lstStyle/>
          <a:p>
            <a:pPr algn="ctr" indent="0" marL="0">
              <a:buNone/>
            </a:pPr>
            <a:r>
              <a:rPr lang="en-US" sz="650" b="1" dirty="0">
                <a:solidFill>
                  <a:srgbClr val="1F7A5C"/>
                </a:solidFill>
                <a:latin typeface="Arial" pitchFamily="34" charset="0"/>
                <a:ea typeface="Arial" pitchFamily="34" charset="-122"/>
                <a:cs typeface="Arial" pitchFamily="34" charset="-120"/>
              </a:rPr>
              <a:t>✓ Alhamdulillah, tersimpan!</a:t>
            </a:r>
            <a:endParaRPr lang="en-US" sz="650" dirty="0"/>
          </a:p>
        </p:txBody>
      </p:sp>
      <p:sp>
        <p:nvSpPr>
          <p:cNvPr id="34" name="Text 30"/>
          <p:cNvSpPr txBox="1"/>
          <p:nvPr/>
        </p:nvSpPr>
        <p:spPr>
          <a:xfrm>
            <a:off x="3794760" y="1234440"/>
            <a:ext cx="1737360" cy="274320"/>
          </a:xfrm>
          <a:prstGeom prst="rect">
            <a:avLst/>
          </a:prstGeom>
          <a:noFill/>
          <a:ln/>
        </p:spPr>
        <p:txBody>
          <a:bodyPr wrap="square" lIns="0" tIns="0" rIns="0" bIns="0" rtlCol="0" anchor="t"/>
          <a:lstStyle/>
          <a:p>
            <a:pPr indent="0" marL="0">
              <a:buNone/>
            </a:pPr>
            <a:r>
              <a:rPr lang="en-US" sz="1200" b="1" dirty="0">
                <a:solidFill>
                  <a:srgbClr val="0F4C3A"/>
                </a:solidFill>
                <a:latin typeface="Calibri" pitchFamily="34" charset="0"/>
                <a:ea typeface="Calibri" pitchFamily="34" charset="-122"/>
                <a:cs typeface="Calibri" pitchFamily="34" charset="-120"/>
              </a:rPr>
              <a:t>Hasil uji</a:t>
            </a:r>
            <a:endParaRPr lang="en-US" sz="1200" dirty="0"/>
          </a:p>
        </p:txBody>
      </p:sp>
      <p:sp>
        <p:nvSpPr>
          <p:cNvPr id="35" name="Text 31"/>
          <p:cNvSpPr txBox="1"/>
          <p:nvPr/>
        </p:nvSpPr>
        <p:spPr>
          <a:xfrm>
            <a:off x="3794760" y="1554480"/>
            <a:ext cx="1737360" cy="128016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Berhasil: 5/6</a:t>
            </a:r>
            <a:endParaRPr lang="en-US" sz="1100" dirty="0"/>
          </a:p>
          <a:p>
            <a:pPr indent="0" marL="0">
              <a:buNone/>
            </a:pPr>
            <a:r>
              <a:rPr lang="en-US" sz="1100" dirty="0">
                <a:solidFill>
                  <a:srgbClr val="1E2A26"/>
                </a:solidFill>
                <a:latin typeface="Calibri" pitchFamily="34" charset="0"/>
                <a:ea typeface="Calibri" pitchFamily="34" charset="-122"/>
                <a:cs typeface="Calibri" pitchFamily="34" charset="-120"/>
              </a:rPr>
              <a:t>Rata waktu: 19 dtk</a:t>
            </a:r>
            <a:endParaRPr lang="en-US" sz="1100" dirty="0"/>
          </a:p>
          <a:p>
            <a:pPr indent="0" marL="0">
              <a:buNone/>
            </a:pPr>
            <a:r>
              <a:rPr lang="en-US" sz="1100" dirty="0">
                <a:solidFill>
                  <a:srgbClr val="1E2A26"/>
                </a:solidFill>
                <a:latin typeface="Calibri" pitchFamily="34" charset="0"/>
                <a:ea typeface="Calibri" pitchFamily="34" charset="-122"/>
                <a:cs typeface="Calibri" pitchFamily="34" charset="-120"/>
              </a:rPr>
              <a:t>Setelah perbaikan tugas 2: 12 dtk</a:t>
            </a:r>
            <a:endParaRPr lang="en-US" sz="1100" dirty="0"/>
          </a:p>
        </p:txBody>
      </p:sp>
      <p:sp>
        <p:nvSpPr>
          <p:cNvPr id="36" name="Shape 32"/>
          <p:cNvSpPr/>
          <p:nvPr/>
        </p:nvSpPr>
        <p:spPr>
          <a:xfrm>
            <a:off x="484632" y="1078992"/>
            <a:ext cx="5157216" cy="2688336"/>
          </a:xfrm>
          <a:prstGeom prst="roundRect">
            <a:avLst>
              <a:gd name="adj" fmla="val 1701"/>
            </a:avLst>
          </a:prstGeom>
          <a:solidFill>
            <a:srgbClr val="FFFFFF">
              <a:alpha val="0"/>
            </a:srgbClr>
          </a:solidFill>
          <a:ln w="31750">
            <a:solidFill>
              <a:srgbClr val="E53935"/>
            </a:solidFill>
            <a:prstDash val="solid"/>
          </a:ln>
        </p:spPr>
      </p:sp>
      <p:sp>
        <p:nvSpPr>
          <p:cNvPr id="37" name="Shape 33"/>
          <p:cNvSpPr/>
          <p:nvPr/>
        </p:nvSpPr>
        <p:spPr>
          <a:xfrm>
            <a:off x="5504688" y="941832"/>
            <a:ext cx="274320" cy="274320"/>
          </a:xfrm>
          <a:prstGeom prst="ellipse">
            <a:avLst/>
          </a:prstGeom>
          <a:solidFill>
            <a:srgbClr val="E53935"/>
          </a:solidFill>
          <a:ln w="12700">
            <a:solidFill>
              <a:srgbClr val="FFFFFF"/>
            </a:solidFill>
            <a:prstDash val="solid"/>
          </a:ln>
        </p:spPr>
      </p:sp>
      <p:sp>
        <p:nvSpPr>
          <p:cNvPr id="38" name="Text 34"/>
          <p:cNvSpPr txBox="1"/>
          <p:nvPr/>
        </p:nvSpPr>
        <p:spPr>
          <a:xfrm>
            <a:off x="5504688" y="9418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9"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40"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Presentasi sebelum–sesudah (4 menit)</a:t>
            </a:r>
            <a:endParaRPr lang="en-US" sz="1800" dirty="0"/>
          </a:p>
        </p:txBody>
      </p:sp>
      <p:sp>
        <p:nvSpPr>
          <p:cNvPr id="41"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Tampilkan: tangkapan layar sebelum–sesudah, 5 perbaikan, hasil uji (berhasil dan waktu), dan perbaikan dari uji.</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Redesign Aplikasi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Proyek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Audit 5 prinsip dan minimal 5 perbaikan UI/UX diterapkan.</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Uji kegunaan 3 tugas dengan minimal 2 pengguna; hasil diukur.</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Masalah terbesar dari uji diperbaiki dan diuji ulang.</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Presentasi sebelum–sesudah dengan bukti; perubahan di-commit.</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10: UI/UX Dasar · Pertemuan 30</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3 tugas uji disiapkan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Minimal 2 pengguna diuji</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Hasil diukur dan dicatat</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Presentasi sebelum–sesudah</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hasil uji yang paling mengejutkan?</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kamu memastikan desain berpihak pada pengguna?</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Terima masukan pengguna dengan lapang dada; mereka membantu kita menjadi lebih baik.</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11: Deployment.</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3 Modul 10 - UI/UX Dasar</dc:title>
  <dc:subject>PptxGenJS Presentation</dc:subject>
  <dc:creator>PptxGenJS</dc:creator>
  <cp:lastModifiedBy>PptxGenJS</cp:lastModifiedBy>
  <cp:revision>1</cp:revision>
  <dcterms:created xsi:type="dcterms:W3CDTF">2026-10-02T14:46:13Z</dcterms:created>
  <dcterms:modified xsi:type="dcterms:W3CDTF">2026-10-02T14:46:13Z</dcterms:modified>
</cp:coreProperties>
</file>