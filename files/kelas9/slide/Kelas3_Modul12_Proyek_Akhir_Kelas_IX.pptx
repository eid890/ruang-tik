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PETUNJUK UNTUK GURU (tidak perlu dibacakan)
Modul 12: Proyek Akhir Kelas IX — Proyek: Digital Solution Project
Terdiri dari 3 pertemuan (Pertemuan 34–36 Kelas IX), masing-masing 2 JP / 100 menit.
CARA MEMAKAI SLIDE INI
1. Seluruh materi sudah tersedia di catatan pembicara (speaker notes) setiap slide. Cukup dibacakan kepada santri.
2. Kalimat di dalam tanda kurung ( ... ) adalah petunjuk tindakan untuk guru, tidak dibacakan.
3. Pada slide "Panduan Praktik Bergambar", kotak MERAH bernomor adalah bagian yang harus diklik santri. Tampilkan slide itu selama santri praktik.
4. Gunakan Presenter View (saat Slide Show, klik kanan → Show Presenter View) agar naskah terlihat oleh guru saja. Naskah juga bisa dicetak: File → Print → "Notes Pages".
PERSIAPAN SEBELUM MENGAJAR
- Proyek akhir ini adalah puncak jenjang Wustha. Aplikasi yang dipamerkan adalah hasil perjalanan Kelas IX: proposal (Modul 2) → kode (4–6) → database dan backend (7–8) → fitur (9) → UI/UX (10) → rilis (11).
- Kalender Kelas IX pada Semester Genap padat (TKA, UAN, Ujian Pondok &amp; Tasmi'). Jika waktu tidak cukup, P35 dan P36 dapat digabung atau presentasi dipindah ke hari pameran/penerimaan rapor dengan izin pimpinan (lihat Lampiran Kelas IX).
- Undang pimpinan, asatidz, dan calon pengguna (misalnya pengelola perpustakaan) sebagai penilai tamu pada pameran.
- Penilaian memakai rubrik proyek (Lampiran 8) ditambah penilaian laporan dan portofolio.
CATATAN
Istilah: laporan proyek (dokumen yang menceritakan proses dan hasil proyek), portofolio (kumpulan karya terbaik dari Kelas VII sampai IX), pitch (presentasi singkat yang meyakinkan), demo (peragaan langsung aplikasi).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ke-34, dengan judul "Finalisasi &amp; Laporan Proyek". Kita memasuki proyek akhir jenjang Wustha: Digital Solution Project.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Alhamdulillah, kita sampai di modul terakhir dari perjalanan tiga tahun TIK di jenjang Wustha. Di Kelas VII kalian menjadi Digital User, di Kelas VIII Digital Creator, dan di Kelas IX Digital Builder.
Aplikasi yang kalian bangun sejak Modul 2 kini sudah dirilis. Saatnya menuntaskan dan menceritakannya.
Sekarang pertanyaan hari ini. Coba pikirkan sejenak:
"Jika proposal kalian di awal Kelas IX dibandingkan dengan aplikasi sekarang, apa yang sudah tercapai?"
(Beri waktu 1 menit. Minta 2–3 santri menjawab. Hargai semua jawaban.)
Inilah yang kita periksa hari ini: membandingkan rencana dengan hasil, dengan jujur. Lalu kita menuliskan seluruh perjalanan itu dalam LAPORAN PROYEK. Dalam Islam, evaluasi diri seperti ini disebut muhasabah.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Perhatikan perjalanan proyek kalian sepanjang Kelas IX.
Modul 2: proposal dari masalah nyata pesantren. Modul 4 sampai 6: kode pertama dan JavaScript. Modul 7 dan 8: database dan backend. Modul 9: fitur baru dengan bantuan AI. Modul 10: perbaikan UI dan UX. Modul 11: rilis versi 1.0. Dan sekarang Modul 12: pameran.
Seluruh tahap itu tercatat di Google Docs dan riwayat commit GitHub. Itulah bahan untuk laporan proyek kalian.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Laporan proyek memiliki delapan bagian. Hampir semua bahannya sudah ada di dokumen-dokumen kalian.
Satu dan dua, LATAR BELAKANG DAN PENGGUNA: dari proposal dan wawancara Modul 2.
Tiga, SOLUSI DAN FITUR: apa yang dibuat dan mengapa.
Empat, RANCANGAN: flowchart, sketsa, dan diagram relasi database.
Lima, PEMBANGUNAN: teknologi yang dipakai, versi-versi, dan commit penting.
Enam, PENGUJIAN DAN HASIL: test case, uji kegunaan, dan apakah ukuran berhasil tercapai.
Tujuh dan delapan, PERAN AI DAN REFLEKSI: bantuan AI apa adanya, pelajaran yang didapat, dan rencana pengembangan.
Lampirkan tautan aplikasi, repository, dan poster QR.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Buka proposal Modul 2, dokumen-dokumen proyek, aplikasi, dan repository GitHub kelompok.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Buat tabel yang membandingkan fitur di proposal dengan hasil: status selesai, sebagian, atau belum, beserta buktinya.
Tidak semua rencana harus tercapai. Yang penting jujur. Fitur yang belum tercapai menjadi rencana pengembangan, misalnya untuk adik kelas.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Buka ukuran berhasil yang kalian tulis di proposal Modul 2. Bandingkan dengan hasil uji kegunaan dan uji pengguna. Tercapai, sebagian, atau belum? Tulis alasannya dengan jujur.
Contoh di layar: target sepuluh pengguna, tetapi baru enam yang mencoba. Hasilnya sebagian tercapai, dengan alasan yang jelas.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Pilih satu atau dua kekurangan terpenting yang bisa selesai hari ini, misalnya grafik capaian pekanan seperti di layar. Kerjakan dengan siklus Modul 9: tulis test case, perbaiki, uji, commit, lalu rilis versi baru, misalnya v1.1.0 karena ada fitur baru.
Jangan memulai fitur besar yang tidak akan selesai. Lebih baik sedikit tetapi tuntas.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Buat dokumen Laporan Proyek Akhir kelompok dengan delapan judul bagian bergaya Heading 1. Bagi tugas: setiap anggota menulis dua bagian.
Ambil bahan dari dokumen-dokumen sebelumnya: proposal, rancangan database, rancangan fitur, audit UI/UX, dan dokumen rilis. Jangan menulis ulang dari nol.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Tulis bagian Peran AI dengan jujur, dalam tabel: tahap, bantuan AI, dan yang dikerjakan atau diubah sendiri. Sertakan contoh prompt terbaik, dan satu kesalahan AI yang berhasil kalian temukan.
Bagian ini menunjukkan bahwa kalian adalah pengendali AI, bukan sekadar penyalin.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Tambahkan lampiran: tautan aplikasi, repository dan rilis, poster QR, hasil uji, dan tangkapan layar sebelum dan sesudah. Sisipkan daftar isi otomatis seperti di Kelas VII. Periksa ejaan dan gaya judul.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Kelompok mengumpulkan: tabel rencana dan hasil dengan evaluasi ukuran berhasil, satu kekurangan yang dituntaskan, laporan delapan bagian, dan bagian peran AI yang jujur.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tabel rencana vs hasil terisi?
- ukuran berhasil dievaluasi?
- laporan proyek 8 bagian?
- peran AI ditulis jujur?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apa yang tercapai melebihi rencana?
Pertanyaan kedua: apa yang belum tercapai dan mengapa?
(Minta 2–3 santri menjawab secara bergantian.)
Pesan adab kita hari ini: muhasabah: hitunglah diri kalian sebelum kalian dihitung. Evaluasi yang jujur bukan untuk menyesali, tetapi untuk memperbaiki. Begitulah seorang mukmin bertumbuh.
Pekan depan: persiapan presentasi dan portofolio tiga tahun.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ke-35, dengan judul "Presentasi &amp; Portofolio Wustha". Kita menyiapkan presentasi akhir dan merapikan karya tiga tahun.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menyusun laporan proyek. Siapa yang ingat delapan bagian laporan?
(Tunggu jawaban beberapa santri.)
Sekarang pertanyaan hari ini. Coba pikirkan sejenak:
"Jika kalian hanya punya 5 menit di depan pimpinan pondok, apa yang akan kalian tunjukkan?"
(Beri waktu 1 menit. Minta 2–3 santri menjawab. Hargai semua jawaban.)
Masalahnya, solusinya, demo yang meyakinkan, buktinya, dan pelajaran yang didapat. Semua itu dalam 5 menit! Hari ini kita menyiapkan presentasi itu, sekaligus merapikan portofolio karya kalian dari Kelas VII sampai 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Presentasi akhir lima menit, maksimal delapan slide, dengan lima bagian.
MASALAH, 40 detik: cerita pengguna dan bukti dari wawancara.
SOLUSI, 40 detik: nama aplikasi, tiga fitur utama, dan alur sistem.
DEMO, 90 detik: bagian terpenting. Pindai QR dan pakai aplikasi langsung. Siapkan video demo sebagai cadangan jika internet bermasalah.
BUKTI, 60 detik: test case, hasil uji kegunaan, dan ukuran berhasil.
AI DAN PELAJARAN, 50 detik: peran AI, kesulitan, dan rencana pengembangan.
Ingat Pitch 3 Menit di Modul 2? Kini kalian punya karya nyata untuk ditunjukkan.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 tiga tahun, kalian telah mengumpulkan banyak karya di folder Portofolio sejak Kelas VII Modul 1.
KELAS VII, Digital User: dokumen dan slide, poster dakwah di Canva, video dan podcast, serta AI Study Assistant.
KELAS VIII, Digital Creator: formulir dan database, dashboard, website dengan Google Sites dan HTML, serta sistem informasi dengan QR.
KELAS IX, Digital Builder: flowchart dan proposal, Prompt Library, aplikasi web dengan backend, dan Digital Solution Project.
Hari ini kita merapikannya menjadi portofolio digital: satu halaman yang menunjukkan perjalanan kalian. Portofolio ini bisa kalian bawa ke jenjang Ulya.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Kelompok menyiapkan presentasi; setiap santri merapikan portofolio pribadinya.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Buat slide presentasi dengan Google Slides atau Canva, memakai template pondok dari Kelas VII. Maksimal delapan slide.
Ingat prinsip slide yang baik: satu ide per slide, sedikit teks, banyak gambar, terutama tangkapan layar aplikasi dan foto proses kerja kelompok.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Rancang skenario demo 90 detik dengan langkah dan waktunya: pindai QR, simpan setoran, tunjukkan baris baru di Sheets lewat proyektor, cek total dan grafik, lalu tunjukkan tautan laporan masalah dan nomor versi.
Siapkan data latihan khusus untuk demo agar hasilnya bisa diperkirakan.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Rekam video demo cadangan berdurasi sekitar satu menit: rekam layar HP saat menjalankan skenario. Sunting singkat dengan Clipchamp seperti di Kelas VII, tambahkan judul dan keterangan.
Jika internet bermasalah saat pameran, putar video ini. Programmer profesional selalu menyiapkan rencana cadangan.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Setiap santri merapikan folder portofolio pribadinya menjadi tiga folder: Kelas7, Kelas8, Kelas9. Pilih tiga sampai empat karya terbaik dari setiap kelas. Pastikan nama file jelas, sesuai pelajaran manajemen file di Kelas VII.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Buat satu halaman portofolio digital, dengan Google Docs atau dengan HTML dan GitHub Pages bagi yang ingin menantang diri. Isinya: gambar atau tangkapan layar setiap karya terbaik, judul, tahun, dan satu kalimat pelajaran dari karya itu.
Ingat: hanya nama panggilan, tanpa data pribadi.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Latihan presentasi penuh lima menit dengan stopwatch, di depan kelompok lain. Pastikan setiap anggota berbicara. Terima satu pujian dan satu saran, lalu perbaiki.
Latihan adalah kunci. Presentasi yang dilatih tiga kali jauh lebih tenang dan meyakinkan.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Kumpulkan: slide dan skenario demo, video demo cadangan, portofolio pribadi dan halaman portofolio digital, serta catatan masukan latihan.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slide maksimal 8?
- demo diuji dan ada cadangan?
- portofolio 3 tahun rapi?
- latihan presentasi dengan waktu?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karya mana dalam portofoliomu yang paling kamu banggakan?
Pertanyaan kedua: bagaimana kemampuanmu berubah dari Kelas VII ke IX?
(Minta 2–3 santri menjawab secara bergantian.)
Pesan adab kita hari ini: ceritakan nikmat Allah dengan syukur, bukan dengan sombong. Semua kemampuan ini adalah karunia Allah melalui guru, orang tua, dan teman-teman.
Pekan depan: presentasi dan Pameran Digital Solution.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ke-36, dengan judul "Pameran Digital Solution". Hari ini adalah puncak perjalanan TIK kalian di jenjang Wustha.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Alhamdulillah, tibalah hari yang kita nantikan: Pameran Digital Solution, puncak perjalanan TIK kalian selama tiga tahun di jenjang Wustha.
(Sambut para tamu: pimpinan pondok, asatidz, dan calon pengguna.)
Sekarang pertanyaan hari ini. Coba pikirkan sejenak:
"Apa yang ingin kalian tinggalkan untuk adik-adik kelas di pondok ini?"
(Beri waktu 1 menit. Minta 2–3 santri menjawab. Hargai semua jawaban.)
Aplikasi kalian, laporan, dan catatan di GitHub bisa menjadi warisan bagi adik kelas: mereka bisa memakai, mempelajari, dan mengembangkannya. Hari ini tunjukkan karya terbaik kalian dengan percaya diri dan rendah hati.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Inilah susunan pameran hari ini.
PEMBUKAAN: salam, doa, dan sambutan.
PRESENTASI KELOMPOK: lima menit presentasi dan dua menit tanya jawab untuk setiap kelompok.
STAN COBA APLIKASI: setiap kelompok membuka meja dengan poster QR; pengunjung mencoba aplikasi langsung.
PENILAIAN DAN APRESIASI: penilai memakai rubrik proyek. Ada apresiasi untuk beberapa kategori: solusi terbaik, paling bermanfaat, dan desain terbaik.
REFLEKSI DAN PENUTUP: refleksi perjalanan Wustha, pesan untuk adik kelas, dan doa.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Saat sesi tanya jawab, perhatikan sikap kalian.
Yang BAIK: dengarkan pertanyaan sampai selesai, lalu jawab dengan singkat. Jujur jika belum tahu: pertanyaan yang bagus, akan kami pelajari. Tunjukkan bukti: test case, data uji, atau riwayat commit.
Yang DIHINDARI: memotong pertanyaan, mengarang jawaban atau melebih-lebihkan kemampuan aplikasi, dan menyalahkan anggota lain atau AI.
Penilai lebih menghargai kejujuran daripada jawaban yang dibuat-buat.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(Durasi menyesuaikan jumlah kelompok. Jika waktu tidak cukup, presentasi dapat dilanjutkan pada hari pameran/penerimaan rapor dengan izin pimpinan.)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Setiap kelompok menyiapkan stan: poster QR, satu HP untuk demo, laptop dengan Google Sheets terbuka untuk menunjukkan data masuk, laporan proyek dalam bentuk cetak atau digital, dan video demo cadangan.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Sebelum tamu datang, uji koneksi: buka aplikasi di HP demo, lakukan satu simpan uji, dan pastikan data masuk ke Sheets. Jika internet tidak stabil, siapkan video demo di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Setiap kelompok mempresentasikan proyeknya selama lima menit, dilanjutkan dua menit tanya jawab: masalah, solusi, demo, bukti, serta AI dan pelajaran. Setiap anggota berbicara.
(Penilai mengisi rubrik proyek. Guru menjaga waktu.)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Setelah presentasi, buka stan coba aplikasi. Pengunjung memindai QR dan mencoba sendiri. Anggota kelompok membantu dengan ramah, dan mencatat masukan pengunjung. Masukan ini berharga untuk pengembangan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Setiap santri menulis refleksi tiga tahun TIK: karya yang paling dibanggakan, pelajaran terbesar, kemampuan yang ingin dikembangkan di jenjang Ulya, dan satu pesan untuk adik kelas.
Simpan di portofolio. Refleksi ini adalah penutup portofolio Wustha kalian.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Pengumuman apresiasi untuk kelompok-kelompok terbaik. Seluruh repository dan laporan proyek diserahkan kepada guru sebagai warisan untuk adik kelas: mereka bisa memakai, mempelajari, dan mengembangkannya.
(Pimpinan atau guru menyampaikan pesan penutup.)
Barakallahu fiikum. Kalian telah menempuh perjalanan dari Digital User, menjadi Digital Creator, hingga Digital Builder. Tutup dengan hamdalah dan doa kafaratul majelis.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Proyek akhir jenjang Wustha dinyatakan selesai jika: aplikasi online menyelesaikan masalah nyata dengan aman dan teruji, laporan delapan bagian lengkap, presentasi dan demo sudah dilakukan, serta setiap santri memiliki portofolio tiga tahun dan refleksi Wustha.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presentasi 5 menit tepat waktu?
- demo berjalan (langsung atau video)?
- menjawab pertanyaan?
- refleksi Wustha ditulis?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apa pelajaran terbesar dari tiga tahun belajar TIK?
Pertanyaan kedua: bagaimana kamu akan memakai kemampuan ini untuk kebaikan?
(Minta 2–3 santri menjawab secara bergantian.)
Pesan adab kita hari ini: ilmu adalah amanah. Amalkan dan ajarkan untuk kemaslahatan umat. Sebaik-baik manusia adalah yang paling bermanfaat bagi manusia lain. Jadilah santri yang menguasai teknologi, berakhlak mulia, dan memakai ilmunya untuk dakwah dan kebaikan.
Alhamdulillah, perjalanan TIK jenjang Wustha telah selesai.
Pekan depan: jenjang Ulya. Barakallahu fiikum, sampai jumpa di jenjang berikutnya, insya Allah.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slideLayout" Target="../slideLayouts/slideLayout1.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slideLayout" Target="../slideLayouts/slideLayout1.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2.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slideLayout" Target="../slideLayouts/slideLayout1.xml"/><Relationship Id="rId1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slideLayout" Target="../slideLayouts/slideLayout1.xm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slideLayout" Target="../slideLayouts/slideLayout1.xml"/><Relationship Id="rId1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slideLayout" Target="../slideLayouts/slideLayout1.xml"/><Relationship Id="rId9"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image" Target="../media/image-21-9.png"/><Relationship Id="rId10" Type="http://schemas.openxmlformats.org/officeDocument/2006/relationships/image" Target="../media/image-21-10.png"/><Relationship Id="rId11" Type="http://schemas.openxmlformats.org/officeDocument/2006/relationships/image" Target="../media/image-21-11.png"/><Relationship Id="rId12" Type="http://schemas.openxmlformats.org/officeDocument/2006/relationships/image" Target="../media/image-21-12.png"/><Relationship Id="rId13" Type="http://schemas.openxmlformats.org/officeDocument/2006/relationships/image" Target="../media/image-21-13.png"/><Relationship Id="rId14" Type="http://schemas.openxmlformats.org/officeDocument/2006/relationships/image" Target="../media/image-21-14.png"/><Relationship Id="rId15" Type="http://schemas.openxmlformats.org/officeDocument/2006/relationships/slideLayout" Target="../slideLayouts/slideLayout1.xml"/><Relationship Id="rId1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slideLayout" Target="../slideLayouts/slideLayout1.xml"/><Relationship Id="rId10"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image" Target="../media/image-24-8.png"/><Relationship Id="rId9" Type="http://schemas.openxmlformats.org/officeDocument/2006/relationships/image" Target="../media/image-24-9.png"/><Relationship Id="rId10" Type="http://schemas.openxmlformats.org/officeDocument/2006/relationships/image" Target="../media/image-24-10.png"/><Relationship Id="rId11" Type="http://schemas.openxmlformats.org/officeDocument/2006/relationships/slideLayout" Target="../slideLayouts/slideLayout1.xml"/><Relationship Id="rId1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slideLayout" Target="../slideLayouts/slideLayout1.xml"/><Relationship Id="rId10"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image" Target="../media/image-26-10.png"/><Relationship Id="rId11" Type="http://schemas.openxmlformats.org/officeDocument/2006/relationships/image" Target="../media/image-26-11.png"/><Relationship Id="rId12" Type="http://schemas.openxmlformats.org/officeDocument/2006/relationships/image" Target="../media/image-26-12.png"/><Relationship Id="rId13" Type="http://schemas.openxmlformats.org/officeDocument/2006/relationships/slideLayout" Target="../slideLayouts/slideLayout1.xml"/><Relationship Id="rId1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slideLayout" Target="../slideLayouts/slideLayout1.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1.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image" Target="../media/image-35-6.png"/><Relationship Id="rId7" Type="http://schemas.openxmlformats.org/officeDocument/2006/relationships/image" Target="../media/image-35-7.png"/><Relationship Id="rId8" Type="http://schemas.openxmlformats.org/officeDocument/2006/relationships/slideLayout" Target="../slideLayouts/slideLayout1.xml"/><Relationship Id="rId9"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slideLayout" Target="../slideLayouts/slideLayout1.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image" Target="../media/image-39-2.png"/><Relationship Id="rId7" Type="http://schemas.openxmlformats.org/officeDocument/2006/relationships/image" Target="../media/image-39-7.png"/><Relationship Id="rId8" Type="http://schemas.openxmlformats.org/officeDocument/2006/relationships/slideLayout" Target="../slideLayouts/slideLayout1.xml"/><Relationship Id="rId9"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2.png"/><Relationship Id="rId4" Type="http://schemas.openxmlformats.org/officeDocument/2006/relationships/slideLayout" Target="../slideLayouts/slideLayout1.xml"/><Relationship Id="rId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2.png"/><Relationship Id="rId4" Type="http://schemas.openxmlformats.org/officeDocument/2006/relationships/slideLayout" Target="../slideLayouts/slideLayout1.xm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image" Target="../media/image-42-7.png"/><Relationship Id="rId8" Type="http://schemas.openxmlformats.org/officeDocument/2006/relationships/image" Target="../media/image-42-8.png"/><Relationship Id="rId9" Type="http://schemas.openxmlformats.org/officeDocument/2006/relationships/image" Target="../media/image-42-9.png"/><Relationship Id="rId10" Type="http://schemas.openxmlformats.org/officeDocument/2006/relationships/image" Target="../media/image-42-10.png"/><Relationship Id="rId11" Type="http://schemas.openxmlformats.org/officeDocument/2006/relationships/slideLayout" Target="../slideLayouts/slideLayout1.xml"/><Relationship Id="rId1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2.png"/><Relationship Id="rId4" Type="http://schemas.openxmlformats.org/officeDocument/2006/relationships/slideLayout" Target="../slideLayouts/slideLayout1.xml"/><Relationship Id="rId5"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6720840" y="45720"/>
            <a:ext cx="2377440" cy="2377440"/>
          </a:xfrm>
          <a:prstGeom prst="ellipse">
            <a:avLst/>
          </a:prstGeom>
          <a:solidFill>
            <a:srgbClr val="1F7A5C">
              <a:alpha val="70000"/>
            </a:srgbClr>
          </a:solidFill>
          <a:ln/>
        </p:spPr>
      </p:sp>
      <p:pic>
        <p:nvPicPr>
          <p:cNvPr id="3" name="Image 0" descr="/home/claude/logo.png">    </p:cNvPr>
          <p:cNvPicPr>
            <a:picLocks noChangeAspect="1"/>
          </p:cNvPicPr>
          <p:nvPr/>
        </p:nvPicPr>
        <p:blipFill>
          <a:blip r:embed="rId1"/>
          <a:stretch>
            <a:fillRect/>
          </a:stretch>
        </p:blipFill>
        <p:spPr>
          <a:xfrm>
            <a:off x="6949440" y="274320"/>
            <a:ext cx="1920240" cy="1920240"/>
          </a:xfrm>
          <a:prstGeom prst="rect">
            <a:avLst/>
          </a:prstGeom>
        </p:spPr>
      </p:pic>
      <p:sp>
        <p:nvSpPr>
          <p:cNvPr id="4" name="Text 1"/>
          <p:cNvSpPr txBox="1"/>
          <p:nvPr/>
        </p:nvSpPr>
        <p:spPr>
          <a:xfrm>
            <a:off x="548640" y="274320"/>
            <a:ext cx="6400800" cy="274320"/>
          </a:xfrm>
          <a:prstGeom prst="rect">
            <a:avLst/>
          </a:prstGeom>
          <a:noFill/>
          <a:ln/>
        </p:spPr>
        <p:txBody>
          <a:bodyPr wrap="square" lIns="0" tIns="0" rIns="0" bIns="0" rtlCol="0" anchor="t"/>
          <a:lstStyle/>
          <a:p>
            <a:pPr indent="0" marL="0">
              <a:buNone/>
            </a:pPr>
            <a:r>
              <a:rPr lang="en-US" sz="1100" b="1" spc="200" kern="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
        <p:nvSpPr>
          <p:cNvPr id="5" name="Text 2"/>
          <p:cNvSpPr txBox="1"/>
          <p:nvPr/>
        </p:nvSpPr>
        <p:spPr>
          <a:xfrm>
            <a:off x="548640" y="566928"/>
            <a:ext cx="6400800" cy="32004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KELAS 3 WUSTHA  ·  SEMESTER 2  ·  MODUL 12</a:t>
            </a:r>
            <a:endParaRPr lang="en-US" sz="1200" dirty="0"/>
          </a:p>
        </p:txBody>
      </p:sp>
      <p:sp>
        <p:nvSpPr>
          <p:cNvPr id="6" name="Text 3"/>
          <p:cNvSpPr txBox="1"/>
          <p:nvPr/>
        </p:nvSpPr>
        <p:spPr>
          <a:xfrm>
            <a:off x="548640" y="896112"/>
            <a:ext cx="62179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Proyek Akhir Kelas IX</a:t>
            </a:r>
            <a:endParaRPr lang="en-US" sz="3800" dirty="0"/>
          </a:p>
        </p:txBody>
      </p:sp>
      <p:sp>
        <p:nvSpPr>
          <p:cNvPr id="7" name="Text 4"/>
          <p:cNvSpPr txBox="1"/>
          <p:nvPr/>
        </p:nvSpPr>
        <p:spPr>
          <a:xfrm>
            <a:off x="548640" y="1737360"/>
            <a:ext cx="6858000" cy="365760"/>
          </a:xfrm>
          <a:prstGeom prst="rect">
            <a:avLst/>
          </a:prstGeom>
          <a:noFill/>
          <a:ln/>
        </p:spPr>
        <p:txBody>
          <a:bodyPr wrap="square" lIns="0" tIns="0" rIns="0" bIns="0" rtlCol="0" anchor="t"/>
          <a:lstStyle/>
          <a:p>
            <a:pPr indent="0" marL="0">
              <a:buNone/>
            </a:pPr>
            <a:r>
              <a:rPr lang="en-US" sz="1600" dirty="0">
                <a:solidFill>
                  <a:srgbClr val="BFE3D3"/>
                </a:solidFill>
                <a:latin typeface="Calibri" pitchFamily="34" charset="0"/>
                <a:ea typeface="Calibri" pitchFamily="34" charset="-122"/>
                <a:cs typeface="Calibri" pitchFamily="34" charset="-120"/>
              </a:rPr>
              <a:t>Proyek Modul:  </a:t>
            </a:r>
            <a:pPr indent="0" marL="0">
              <a:buNone/>
            </a:pPr>
            <a:r>
              <a:rPr lang="en-US" sz="1600" b="1" dirty="0">
                <a:solidFill>
                  <a:srgbClr val="D4A017"/>
                </a:solidFill>
                <a:latin typeface="Calibri" pitchFamily="34" charset="0"/>
                <a:ea typeface="Calibri" pitchFamily="34" charset="-122"/>
                <a:cs typeface="Calibri" pitchFamily="34" charset="-120"/>
              </a:rPr>
              <a:t>Digital Solution Project</a:t>
            </a:r>
            <a:endParaRPr lang="en-US" sz="1600" dirty="0"/>
          </a:p>
        </p:txBody>
      </p:sp>
      <p:sp>
        <p:nvSpPr>
          <p:cNvPr id="8" name="Text 5"/>
          <p:cNvSpPr txBox="1"/>
          <p:nvPr/>
        </p:nvSpPr>
        <p:spPr>
          <a:xfrm>
            <a:off x="548640" y="2148840"/>
            <a:ext cx="6217920" cy="7772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Proyek akhir jenjang Wustha: setiap kelompok menuntaskan solusi digital untuk masalah nyata pesantren yang dibangun sepanjang Kelas IX, menyusun laporan proyek dan portofolio tiga tahun, lalu mempresentasikannya dalam pameran.</a:t>
            </a:r>
            <a:endParaRPr lang="en-US" sz="1300" dirty="0"/>
          </a:p>
        </p:txBody>
      </p:sp>
      <p:sp>
        <p:nvSpPr>
          <p:cNvPr id="9" name="Shape 6"/>
          <p:cNvSpPr/>
          <p:nvPr/>
        </p:nvSpPr>
        <p:spPr>
          <a:xfrm>
            <a:off x="548640" y="3017520"/>
            <a:ext cx="2514600" cy="1234440"/>
          </a:xfrm>
          <a:prstGeom prst="roundRect">
            <a:avLst>
              <a:gd name="adj" fmla="val 8889"/>
            </a:avLst>
          </a:prstGeom>
          <a:solidFill>
            <a:srgbClr val="1F7A5C"/>
          </a:solidFill>
          <a:ln w="12700">
            <a:solidFill>
              <a:srgbClr val="1F7A5C"/>
            </a:solidFill>
            <a:prstDash val="solid"/>
          </a:ln>
        </p:spPr>
      </p:sp>
      <p:sp>
        <p:nvSpPr>
          <p:cNvPr id="10" name="Text 7"/>
          <p:cNvSpPr txBox="1"/>
          <p:nvPr/>
        </p:nvSpPr>
        <p:spPr>
          <a:xfrm>
            <a:off x="73152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34</a:t>
            </a:r>
            <a:endParaRPr lang="en-US" sz="1000" dirty="0"/>
          </a:p>
        </p:txBody>
      </p:sp>
      <p:sp>
        <p:nvSpPr>
          <p:cNvPr id="11" name="Text 8"/>
          <p:cNvSpPr txBox="1"/>
          <p:nvPr/>
        </p:nvSpPr>
        <p:spPr>
          <a:xfrm>
            <a:off x="73152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Finalisasi &amp; Laporan Proyek</a:t>
            </a:r>
            <a:endParaRPr lang="en-US" sz="1500" dirty="0"/>
          </a:p>
        </p:txBody>
      </p:sp>
      <p:sp>
        <p:nvSpPr>
          <p:cNvPr id="12" name="Shape 9"/>
          <p:cNvSpPr/>
          <p:nvPr/>
        </p:nvSpPr>
        <p:spPr>
          <a:xfrm>
            <a:off x="3246120" y="3017520"/>
            <a:ext cx="2514600" cy="1234440"/>
          </a:xfrm>
          <a:prstGeom prst="roundRect">
            <a:avLst>
              <a:gd name="adj" fmla="val 8889"/>
            </a:avLst>
          </a:prstGeom>
          <a:solidFill>
            <a:srgbClr val="1F7A5C"/>
          </a:solidFill>
          <a:ln w="12700">
            <a:solidFill>
              <a:srgbClr val="1F7A5C"/>
            </a:solidFill>
            <a:prstDash val="solid"/>
          </a:ln>
        </p:spPr>
      </p:sp>
      <p:sp>
        <p:nvSpPr>
          <p:cNvPr id="13" name="Text 10"/>
          <p:cNvSpPr txBox="1"/>
          <p:nvPr/>
        </p:nvSpPr>
        <p:spPr>
          <a:xfrm>
            <a:off x="342900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35</a:t>
            </a:r>
            <a:endParaRPr lang="en-US" sz="1000" dirty="0"/>
          </a:p>
        </p:txBody>
      </p:sp>
      <p:sp>
        <p:nvSpPr>
          <p:cNvPr id="14" name="Text 11"/>
          <p:cNvSpPr txBox="1"/>
          <p:nvPr/>
        </p:nvSpPr>
        <p:spPr>
          <a:xfrm>
            <a:off x="342900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Presentasi &amp; Portofolio Wustha</a:t>
            </a:r>
            <a:endParaRPr lang="en-US" sz="1500" dirty="0"/>
          </a:p>
        </p:txBody>
      </p:sp>
      <p:sp>
        <p:nvSpPr>
          <p:cNvPr id="15" name="Shape 12"/>
          <p:cNvSpPr/>
          <p:nvPr/>
        </p:nvSpPr>
        <p:spPr>
          <a:xfrm>
            <a:off x="5943600" y="3017520"/>
            <a:ext cx="2514600" cy="1234440"/>
          </a:xfrm>
          <a:prstGeom prst="roundRect">
            <a:avLst>
              <a:gd name="adj" fmla="val 8889"/>
            </a:avLst>
          </a:prstGeom>
          <a:solidFill>
            <a:srgbClr val="1F7A5C"/>
          </a:solidFill>
          <a:ln w="12700">
            <a:solidFill>
              <a:srgbClr val="1F7A5C"/>
            </a:solidFill>
            <a:prstDash val="solid"/>
          </a:ln>
        </p:spPr>
      </p:sp>
      <p:sp>
        <p:nvSpPr>
          <p:cNvPr id="16" name="Text 13"/>
          <p:cNvSpPr txBox="1"/>
          <p:nvPr/>
        </p:nvSpPr>
        <p:spPr>
          <a:xfrm>
            <a:off x="612648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36</a:t>
            </a:r>
            <a:endParaRPr lang="en-US" sz="1000" dirty="0"/>
          </a:p>
        </p:txBody>
      </p:sp>
      <p:sp>
        <p:nvSpPr>
          <p:cNvPr id="17" name="Text 14"/>
          <p:cNvSpPr txBox="1"/>
          <p:nvPr/>
        </p:nvSpPr>
        <p:spPr>
          <a:xfrm>
            <a:off x="612648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Pameran Digital Solution</a:t>
            </a:r>
            <a:endParaRPr lang="en-US" sz="1500" dirty="0"/>
          </a:p>
        </p:txBody>
      </p:sp>
      <p:sp>
        <p:nvSpPr>
          <p:cNvPr id="18" name="Text 15"/>
          <p:cNvSpPr txBox="1"/>
          <p:nvPr/>
        </p:nvSpPr>
        <p:spPr>
          <a:xfrm>
            <a:off x="548640" y="4434840"/>
            <a:ext cx="8046720" cy="36576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Alat: Aplikasi proyek kelompok, GitHub, Google Docs/Slides atau Canva, Clipchamp (opsional), folder Portofolio, HP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34</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Finalisasi &amp; Laporan Proyek</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Membandingkan rencana dengan hasil</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12: Proyek Akhir Kelas IX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12: Proyek Akhir Kelas IX · Pertemuan 34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Jika proposal kalian di awal Kelas IX dibandingkan dengan aplikasi sekarang, apa yang sudah tercapai?</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12: Proyek Akhir Kelas IX · Pertemuan 34</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Mengevaluasi hasil proyek terhadap proposal dan ukuran berhasil</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Menuntaskan kekurangan terpenting dalam aplikasi</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Menyusun laporan proyek yang lengkap dan jujur</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Perjalanan Digital Solution Project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12: Proyek Akhir Kelas IX · Pertemuan 34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731520" y="2194560"/>
            <a:ext cx="7680960" cy="0"/>
          </a:xfrm>
          <a:prstGeom prst="line">
            <a:avLst/>
          </a:prstGeom>
          <a:noFill/>
          <a:ln w="38100">
            <a:solidFill>
              <a:srgbClr val="1F7A5C"/>
            </a:solidFill>
            <a:prstDash val="solid"/>
          </a:ln>
        </p:spPr>
      </p:sp>
      <p:sp>
        <p:nvSpPr>
          <p:cNvPr id="10" name="Shape 6"/>
          <p:cNvSpPr/>
          <p:nvPr/>
        </p:nvSpPr>
        <p:spPr>
          <a:xfrm>
            <a:off x="822960" y="1965960"/>
            <a:ext cx="457200" cy="457200"/>
          </a:xfrm>
          <a:prstGeom prst="ellipse">
            <a:avLst/>
          </a:prstGeom>
          <a:solidFill>
            <a:srgbClr val="0F4C3A"/>
          </a:solidFill>
          <a:ln/>
        </p:spPr>
      </p:sp>
      <p:sp>
        <p:nvSpPr>
          <p:cNvPr id="11" name="Text 7"/>
          <p:cNvSpPr txBox="1"/>
          <p:nvPr/>
        </p:nvSpPr>
        <p:spPr>
          <a:xfrm>
            <a:off x="548640" y="1371600"/>
            <a:ext cx="1005840" cy="365760"/>
          </a:xfrm>
          <a:prstGeom prst="rect">
            <a:avLst/>
          </a:prstGeom>
          <a:noFill/>
          <a:ln/>
        </p:spPr>
        <p:txBody>
          <a:bodyPr wrap="square" lIns="0" tIns="0" rIns="0" bIns="0" rtlCol="0" anchor="t"/>
          <a:lstStyle/>
          <a:p>
            <a:pPr algn="ctr" indent="0" marL="0">
              <a:buNone/>
            </a:pPr>
            <a:r>
              <a:rPr lang="en-US" sz="1200" b="1" dirty="0">
                <a:solidFill>
                  <a:srgbClr val="0F4C3A"/>
                </a:solidFill>
                <a:latin typeface="Calibri" pitchFamily="34" charset="0"/>
                <a:ea typeface="Calibri" pitchFamily="34" charset="-122"/>
                <a:cs typeface="Calibri" pitchFamily="34" charset="-120"/>
              </a:rPr>
              <a:t>M2</a:t>
            </a:r>
            <a:endParaRPr lang="en-US" sz="1200" dirty="0"/>
          </a:p>
        </p:txBody>
      </p:sp>
      <p:sp>
        <p:nvSpPr>
          <p:cNvPr id="12" name="Text 8"/>
          <p:cNvSpPr txBox="1"/>
          <p:nvPr/>
        </p:nvSpPr>
        <p:spPr>
          <a:xfrm>
            <a:off x="457200" y="2560320"/>
            <a:ext cx="1188720" cy="640080"/>
          </a:xfrm>
          <a:prstGeom prst="rect">
            <a:avLst/>
          </a:prstGeom>
          <a:noFill/>
          <a:ln/>
        </p:spPr>
        <p:txBody>
          <a:bodyPr wrap="square" lIns="0" tIns="0" rIns="0" bIns="0" rtlCol="0" anchor="t"/>
          <a:lstStyle/>
          <a:p>
            <a:pPr algn="ctr" indent="0" marL="0">
              <a:buNone/>
            </a:pPr>
            <a:r>
              <a:rPr lang="en-US" sz="1150" dirty="0">
                <a:solidFill>
                  <a:srgbClr val="1E2A26"/>
                </a:solidFill>
                <a:latin typeface="Calibri" pitchFamily="34" charset="0"/>
                <a:ea typeface="Calibri" pitchFamily="34" charset="-122"/>
                <a:cs typeface="Calibri" pitchFamily="34" charset="-120"/>
              </a:rPr>
              <a:t>Proposal</a:t>
            </a:r>
            <a:endParaRPr lang="en-US" sz="1150" dirty="0"/>
          </a:p>
        </p:txBody>
      </p:sp>
      <p:sp>
        <p:nvSpPr>
          <p:cNvPr id="13" name="Shape 9"/>
          <p:cNvSpPr/>
          <p:nvPr/>
        </p:nvSpPr>
        <p:spPr>
          <a:xfrm>
            <a:off x="2084832" y="1965960"/>
            <a:ext cx="457200" cy="457200"/>
          </a:xfrm>
          <a:prstGeom prst="ellipse">
            <a:avLst/>
          </a:prstGeom>
          <a:solidFill>
            <a:srgbClr val="0F4C3A"/>
          </a:solidFill>
          <a:ln/>
        </p:spPr>
      </p:sp>
      <p:sp>
        <p:nvSpPr>
          <p:cNvPr id="14" name="Text 10"/>
          <p:cNvSpPr txBox="1"/>
          <p:nvPr/>
        </p:nvSpPr>
        <p:spPr>
          <a:xfrm>
            <a:off x="1810512" y="1371600"/>
            <a:ext cx="1005840" cy="365760"/>
          </a:xfrm>
          <a:prstGeom prst="rect">
            <a:avLst/>
          </a:prstGeom>
          <a:noFill/>
          <a:ln/>
        </p:spPr>
        <p:txBody>
          <a:bodyPr wrap="square" lIns="0" tIns="0" rIns="0" bIns="0" rtlCol="0" anchor="t"/>
          <a:lstStyle/>
          <a:p>
            <a:pPr algn="ctr" indent="0" marL="0">
              <a:buNone/>
            </a:pPr>
            <a:r>
              <a:rPr lang="en-US" sz="1200" b="1" dirty="0">
                <a:solidFill>
                  <a:srgbClr val="0F4C3A"/>
                </a:solidFill>
                <a:latin typeface="Calibri" pitchFamily="34" charset="0"/>
                <a:ea typeface="Calibri" pitchFamily="34" charset="-122"/>
                <a:cs typeface="Calibri" pitchFamily="34" charset="-120"/>
              </a:rPr>
              <a:t>M4–6</a:t>
            </a:r>
            <a:endParaRPr lang="en-US" sz="1200" dirty="0"/>
          </a:p>
        </p:txBody>
      </p:sp>
      <p:sp>
        <p:nvSpPr>
          <p:cNvPr id="15" name="Text 11"/>
          <p:cNvSpPr txBox="1"/>
          <p:nvPr/>
        </p:nvSpPr>
        <p:spPr>
          <a:xfrm>
            <a:off x="1719072" y="2560320"/>
            <a:ext cx="1188720" cy="640080"/>
          </a:xfrm>
          <a:prstGeom prst="rect">
            <a:avLst/>
          </a:prstGeom>
          <a:noFill/>
          <a:ln/>
        </p:spPr>
        <p:txBody>
          <a:bodyPr wrap="square" lIns="0" tIns="0" rIns="0" bIns="0" rtlCol="0" anchor="t"/>
          <a:lstStyle/>
          <a:p>
            <a:pPr algn="ctr" indent="0" marL="0">
              <a:buNone/>
            </a:pPr>
            <a:r>
              <a:rPr lang="en-US" sz="1150" dirty="0">
                <a:solidFill>
                  <a:srgbClr val="1E2A26"/>
                </a:solidFill>
                <a:latin typeface="Calibri" pitchFamily="34" charset="0"/>
                <a:ea typeface="Calibri" pitchFamily="34" charset="-122"/>
                <a:cs typeface="Calibri" pitchFamily="34" charset="-120"/>
              </a:rPr>
              <a:t>Kode &amp; JS</a:t>
            </a:r>
            <a:endParaRPr lang="en-US" sz="1150" dirty="0"/>
          </a:p>
        </p:txBody>
      </p:sp>
      <p:sp>
        <p:nvSpPr>
          <p:cNvPr id="16" name="Shape 12"/>
          <p:cNvSpPr/>
          <p:nvPr/>
        </p:nvSpPr>
        <p:spPr>
          <a:xfrm>
            <a:off x="3346704" y="1965960"/>
            <a:ext cx="457200" cy="457200"/>
          </a:xfrm>
          <a:prstGeom prst="ellipse">
            <a:avLst/>
          </a:prstGeom>
          <a:solidFill>
            <a:srgbClr val="0F4C3A"/>
          </a:solidFill>
          <a:ln/>
        </p:spPr>
      </p:sp>
      <p:sp>
        <p:nvSpPr>
          <p:cNvPr id="17" name="Text 13"/>
          <p:cNvSpPr txBox="1"/>
          <p:nvPr/>
        </p:nvSpPr>
        <p:spPr>
          <a:xfrm>
            <a:off x="3072384" y="1371600"/>
            <a:ext cx="1005840" cy="365760"/>
          </a:xfrm>
          <a:prstGeom prst="rect">
            <a:avLst/>
          </a:prstGeom>
          <a:noFill/>
          <a:ln/>
        </p:spPr>
        <p:txBody>
          <a:bodyPr wrap="square" lIns="0" tIns="0" rIns="0" bIns="0" rtlCol="0" anchor="t"/>
          <a:lstStyle/>
          <a:p>
            <a:pPr algn="ctr" indent="0" marL="0">
              <a:buNone/>
            </a:pPr>
            <a:r>
              <a:rPr lang="en-US" sz="1200" b="1" dirty="0">
                <a:solidFill>
                  <a:srgbClr val="0F4C3A"/>
                </a:solidFill>
                <a:latin typeface="Calibri" pitchFamily="34" charset="0"/>
                <a:ea typeface="Calibri" pitchFamily="34" charset="-122"/>
                <a:cs typeface="Calibri" pitchFamily="34" charset="-120"/>
              </a:rPr>
              <a:t>M7–8</a:t>
            </a:r>
            <a:endParaRPr lang="en-US" sz="1200" dirty="0"/>
          </a:p>
        </p:txBody>
      </p:sp>
      <p:sp>
        <p:nvSpPr>
          <p:cNvPr id="18" name="Text 14"/>
          <p:cNvSpPr txBox="1"/>
          <p:nvPr/>
        </p:nvSpPr>
        <p:spPr>
          <a:xfrm>
            <a:off x="2980944" y="2560320"/>
            <a:ext cx="1188720" cy="640080"/>
          </a:xfrm>
          <a:prstGeom prst="rect">
            <a:avLst/>
          </a:prstGeom>
          <a:noFill/>
          <a:ln/>
        </p:spPr>
        <p:txBody>
          <a:bodyPr wrap="square" lIns="0" tIns="0" rIns="0" bIns="0" rtlCol="0" anchor="t"/>
          <a:lstStyle/>
          <a:p>
            <a:pPr algn="ctr" indent="0" marL="0">
              <a:buNone/>
            </a:pPr>
            <a:r>
              <a:rPr lang="en-US" sz="1150" dirty="0">
                <a:solidFill>
                  <a:srgbClr val="1E2A26"/>
                </a:solidFill>
                <a:latin typeface="Calibri" pitchFamily="34" charset="0"/>
                <a:ea typeface="Calibri" pitchFamily="34" charset="-122"/>
                <a:cs typeface="Calibri" pitchFamily="34" charset="-120"/>
              </a:rPr>
              <a:t>Database &amp; Backend</a:t>
            </a:r>
            <a:endParaRPr lang="en-US" sz="1150" dirty="0"/>
          </a:p>
        </p:txBody>
      </p:sp>
      <p:sp>
        <p:nvSpPr>
          <p:cNvPr id="19" name="Shape 15"/>
          <p:cNvSpPr/>
          <p:nvPr/>
        </p:nvSpPr>
        <p:spPr>
          <a:xfrm>
            <a:off x="4608576" y="1965960"/>
            <a:ext cx="457200" cy="457200"/>
          </a:xfrm>
          <a:prstGeom prst="ellipse">
            <a:avLst/>
          </a:prstGeom>
          <a:solidFill>
            <a:srgbClr val="0F4C3A"/>
          </a:solidFill>
          <a:ln/>
        </p:spPr>
      </p:sp>
      <p:sp>
        <p:nvSpPr>
          <p:cNvPr id="20" name="Text 16"/>
          <p:cNvSpPr txBox="1"/>
          <p:nvPr/>
        </p:nvSpPr>
        <p:spPr>
          <a:xfrm>
            <a:off x="4334256" y="1371600"/>
            <a:ext cx="1005840" cy="365760"/>
          </a:xfrm>
          <a:prstGeom prst="rect">
            <a:avLst/>
          </a:prstGeom>
          <a:noFill/>
          <a:ln/>
        </p:spPr>
        <p:txBody>
          <a:bodyPr wrap="square" lIns="0" tIns="0" rIns="0" bIns="0" rtlCol="0" anchor="t"/>
          <a:lstStyle/>
          <a:p>
            <a:pPr algn="ctr" indent="0" marL="0">
              <a:buNone/>
            </a:pPr>
            <a:r>
              <a:rPr lang="en-US" sz="1200" b="1" dirty="0">
                <a:solidFill>
                  <a:srgbClr val="0F4C3A"/>
                </a:solidFill>
                <a:latin typeface="Calibri" pitchFamily="34" charset="0"/>
                <a:ea typeface="Calibri" pitchFamily="34" charset="-122"/>
                <a:cs typeface="Calibri" pitchFamily="34" charset="-120"/>
              </a:rPr>
              <a:t>M9</a:t>
            </a:r>
            <a:endParaRPr lang="en-US" sz="1200" dirty="0"/>
          </a:p>
        </p:txBody>
      </p:sp>
      <p:sp>
        <p:nvSpPr>
          <p:cNvPr id="21" name="Text 17"/>
          <p:cNvSpPr txBox="1"/>
          <p:nvPr/>
        </p:nvSpPr>
        <p:spPr>
          <a:xfrm>
            <a:off x="4242816" y="2560320"/>
            <a:ext cx="1188720" cy="640080"/>
          </a:xfrm>
          <a:prstGeom prst="rect">
            <a:avLst/>
          </a:prstGeom>
          <a:noFill/>
          <a:ln/>
        </p:spPr>
        <p:txBody>
          <a:bodyPr wrap="square" lIns="0" tIns="0" rIns="0" bIns="0" rtlCol="0" anchor="t"/>
          <a:lstStyle/>
          <a:p>
            <a:pPr algn="ctr" indent="0" marL="0">
              <a:buNone/>
            </a:pPr>
            <a:r>
              <a:rPr lang="en-US" sz="1150" dirty="0">
                <a:solidFill>
                  <a:srgbClr val="1E2A26"/>
                </a:solidFill>
                <a:latin typeface="Calibri" pitchFamily="34" charset="0"/>
                <a:ea typeface="Calibri" pitchFamily="34" charset="-122"/>
                <a:cs typeface="Calibri" pitchFamily="34" charset="-120"/>
              </a:rPr>
              <a:t>Fitur + AI</a:t>
            </a:r>
            <a:endParaRPr lang="en-US" sz="1150" dirty="0"/>
          </a:p>
        </p:txBody>
      </p:sp>
      <p:sp>
        <p:nvSpPr>
          <p:cNvPr id="22" name="Shape 18"/>
          <p:cNvSpPr/>
          <p:nvPr/>
        </p:nvSpPr>
        <p:spPr>
          <a:xfrm>
            <a:off x="5870448" y="1965960"/>
            <a:ext cx="457200" cy="457200"/>
          </a:xfrm>
          <a:prstGeom prst="ellipse">
            <a:avLst/>
          </a:prstGeom>
          <a:solidFill>
            <a:srgbClr val="0F4C3A"/>
          </a:solidFill>
          <a:ln/>
        </p:spPr>
      </p:sp>
      <p:sp>
        <p:nvSpPr>
          <p:cNvPr id="23" name="Text 19"/>
          <p:cNvSpPr txBox="1"/>
          <p:nvPr/>
        </p:nvSpPr>
        <p:spPr>
          <a:xfrm>
            <a:off x="5596128" y="1371600"/>
            <a:ext cx="1005840" cy="365760"/>
          </a:xfrm>
          <a:prstGeom prst="rect">
            <a:avLst/>
          </a:prstGeom>
          <a:noFill/>
          <a:ln/>
        </p:spPr>
        <p:txBody>
          <a:bodyPr wrap="square" lIns="0" tIns="0" rIns="0" bIns="0" rtlCol="0" anchor="t"/>
          <a:lstStyle/>
          <a:p>
            <a:pPr algn="ctr" indent="0" marL="0">
              <a:buNone/>
            </a:pPr>
            <a:r>
              <a:rPr lang="en-US" sz="1200" b="1" dirty="0">
                <a:solidFill>
                  <a:srgbClr val="0F4C3A"/>
                </a:solidFill>
                <a:latin typeface="Calibri" pitchFamily="34" charset="0"/>
                <a:ea typeface="Calibri" pitchFamily="34" charset="-122"/>
                <a:cs typeface="Calibri" pitchFamily="34" charset="-120"/>
              </a:rPr>
              <a:t>M10</a:t>
            </a:r>
            <a:endParaRPr lang="en-US" sz="1200" dirty="0"/>
          </a:p>
        </p:txBody>
      </p:sp>
      <p:sp>
        <p:nvSpPr>
          <p:cNvPr id="24" name="Text 20"/>
          <p:cNvSpPr txBox="1"/>
          <p:nvPr/>
        </p:nvSpPr>
        <p:spPr>
          <a:xfrm>
            <a:off x="5504688" y="2560320"/>
            <a:ext cx="1188720" cy="640080"/>
          </a:xfrm>
          <a:prstGeom prst="rect">
            <a:avLst/>
          </a:prstGeom>
          <a:noFill/>
          <a:ln/>
        </p:spPr>
        <p:txBody>
          <a:bodyPr wrap="square" lIns="0" tIns="0" rIns="0" bIns="0" rtlCol="0" anchor="t"/>
          <a:lstStyle/>
          <a:p>
            <a:pPr algn="ctr" indent="0" marL="0">
              <a:buNone/>
            </a:pPr>
            <a:r>
              <a:rPr lang="en-US" sz="1150" dirty="0">
                <a:solidFill>
                  <a:srgbClr val="1E2A26"/>
                </a:solidFill>
                <a:latin typeface="Calibri" pitchFamily="34" charset="0"/>
                <a:ea typeface="Calibri" pitchFamily="34" charset="-122"/>
                <a:cs typeface="Calibri" pitchFamily="34" charset="-120"/>
              </a:rPr>
              <a:t>UI/UX</a:t>
            </a:r>
            <a:endParaRPr lang="en-US" sz="1150" dirty="0"/>
          </a:p>
        </p:txBody>
      </p:sp>
      <p:sp>
        <p:nvSpPr>
          <p:cNvPr id="25" name="Shape 21"/>
          <p:cNvSpPr/>
          <p:nvPr/>
        </p:nvSpPr>
        <p:spPr>
          <a:xfrm>
            <a:off x="7132320" y="1965960"/>
            <a:ext cx="457200" cy="457200"/>
          </a:xfrm>
          <a:prstGeom prst="ellipse">
            <a:avLst/>
          </a:prstGeom>
          <a:solidFill>
            <a:srgbClr val="0F4C3A"/>
          </a:solidFill>
          <a:ln/>
        </p:spPr>
      </p:sp>
      <p:sp>
        <p:nvSpPr>
          <p:cNvPr id="26" name="Text 22"/>
          <p:cNvSpPr txBox="1"/>
          <p:nvPr/>
        </p:nvSpPr>
        <p:spPr>
          <a:xfrm>
            <a:off x="6858000" y="1371600"/>
            <a:ext cx="1005840" cy="365760"/>
          </a:xfrm>
          <a:prstGeom prst="rect">
            <a:avLst/>
          </a:prstGeom>
          <a:noFill/>
          <a:ln/>
        </p:spPr>
        <p:txBody>
          <a:bodyPr wrap="square" lIns="0" tIns="0" rIns="0" bIns="0" rtlCol="0" anchor="t"/>
          <a:lstStyle/>
          <a:p>
            <a:pPr algn="ctr" indent="0" marL="0">
              <a:buNone/>
            </a:pPr>
            <a:r>
              <a:rPr lang="en-US" sz="1200" b="1" dirty="0">
                <a:solidFill>
                  <a:srgbClr val="0F4C3A"/>
                </a:solidFill>
                <a:latin typeface="Calibri" pitchFamily="34" charset="0"/>
                <a:ea typeface="Calibri" pitchFamily="34" charset="-122"/>
                <a:cs typeface="Calibri" pitchFamily="34" charset="-120"/>
              </a:rPr>
              <a:t>M11</a:t>
            </a:r>
            <a:endParaRPr lang="en-US" sz="1200" dirty="0"/>
          </a:p>
        </p:txBody>
      </p:sp>
      <p:sp>
        <p:nvSpPr>
          <p:cNvPr id="27" name="Text 23"/>
          <p:cNvSpPr txBox="1"/>
          <p:nvPr/>
        </p:nvSpPr>
        <p:spPr>
          <a:xfrm>
            <a:off x="6766560" y="2560320"/>
            <a:ext cx="1188720" cy="640080"/>
          </a:xfrm>
          <a:prstGeom prst="rect">
            <a:avLst/>
          </a:prstGeom>
          <a:noFill/>
          <a:ln/>
        </p:spPr>
        <p:txBody>
          <a:bodyPr wrap="square" lIns="0" tIns="0" rIns="0" bIns="0" rtlCol="0" anchor="t"/>
          <a:lstStyle/>
          <a:p>
            <a:pPr algn="ctr" indent="0" marL="0">
              <a:buNone/>
            </a:pPr>
            <a:r>
              <a:rPr lang="en-US" sz="1150" dirty="0">
                <a:solidFill>
                  <a:srgbClr val="1E2A26"/>
                </a:solidFill>
                <a:latin typeface="Calibri" pitchFamily="34" charset="0"/>
                <a:ea typeface="Calibri" pitchFamily="34" charset="-122"/>
                <a:cs typeface="Calibri" pitchFamily="34" charset="-120"/>
              </a:rPr>
              <a:t>Rilis v1.0</a:t>
            </a:r>
            <a:endParaRPr lang="en-US" sz="1150" dirty="0"/>
          </a:p>
        </p:txBody>
      </p:sp>
      <p:sp>
        <p:nvSpPr>
          <p:cNvPr id="28" name="Shape 24"/>
          <p:cNvSpPr/>
          <p:nvPr/>
        </p:nvSpPr>
        <p:spPr>
          <a:xfrm>
            <a:off x="8394192" y="1965960"/>
            <a:ext cx="457200" cy="457200"/>
          </a:xfrm>
          <a:prstGeom prst="ellipse">
            <a:avLst/>
          </a:prstGeom>
          <a:solidFill>
            <a:srgbClr val="D4A017"/>
          </a:solidFill>
          <a:ln/>
        </p:spPr>
      </p:sp>
      <p:sp>
        <p:nvSpPr>
          <p:cNvPr id="29" name="Text 25"/>
          <p:cNvSpPr txBox="1"/>
          <p:nvPr/>
        </p:nvSpPr>
        <p:spPr>
          <a:xfrm>
            <a:off x="8119872" y="1371600"/>
            <a:ext cx="1005840" cy="365760"/>
          </a:xfrm>
          <a:prstGeom prst="rect">
            <a:avLst/>
          </a:prstGeom>
          <a:noFill/>
          <a:ln/>
        </p:spPr>
        <p:txBody>
          <a:bodyPr wrap="square" lIns="0" tIns="0" rIns="0" bIns="0" rtlCol="0" anchor="t"/>
          <a:lstStyle/>
          <a:p>
            <a:pPr algn="ctr" indent="0" marL="0">
              <a:buNone/>
            </a:pPr>
            <a:r>
              <a:rPr lang="en-US" sz="1200" b="1" dirty="0">
                <a:solidFill>
                  <a:srgbClr val="0F4C3A"/>
                </a:solidFill>
                <a:latin typeface="Calibri" pitchFamily="34" charset="0"/>
                <a:ea typeface="Calibri" pitchFamily="34" charset="-122"/>
                <a:cs typeface="Calibri" pitchFamily="34" charset="-120"/>
              </a:rPr>
              <a:t>M12</a:t>
            </a:r>
            <a:endParaRPr lang="en-US" sz="1200" dirty="0"/>
          </a:p>
        </p:txBody>
      </p:sp>
      <p:sp>
        <p:nvSpPr>
          <p:cNvPr id="30" name="Text 26"/>
          <p:cNvSpPr txBox="1"/>
          <p:nvPr/>
        </p:nvSpPr>
        <p:spPr>
          <a:xfrm>
            <a:off x="8028432" y="2560320"/>
            <a:ext cx="1188720" cy="640080"/>
          </a:xfrm>
          <a:prstGeom prst="rect">
            <a:avLst/>
          </a:prstGeom>
          <a:noFill/>
          <a:ln/>
        </p:spPr>
        <p:txBody>
          <a:bodyPr wrap="square" lIns="0" tIns="0" rIns="0" bIns="0" rtlCol="0" anchor="t"/>
          <a:lstStyle/>
          <a:p>
            <a:pPr algn="ctr" indent="0" marL="0">
              <a:buNone/>
            </a:pPr>
            <a:r>
              <a:rPr lang="en-US" sz="1150" dirty="0">
                <a:solidFill>
                  <a:srgbClr val="1E2A26"/>
                </a:solidFill>
                <a:latin typeface="Calibri" pitchFamily="34" charset="0"/>
                <a:ea typeface="Calibri" pitchFamily="34" charset="-122"/>
                <a:cs typeface="Calibri" pitchFamily="34" charset="-120"/>
              </a:rPr>
              <a:t>Pameran</a:t>
            </a:r>
            <a:endParaRPr lang="en-US" sz="1150" dirty="0"/>
          </a:p>
        </p:txBody>
      </p:sp>
      <p:sp>
        <p:nvSpPr>
          <p:cNvPr id="31" name="Shape 27"/>
          <p:cNvSpPr/>
          <p:nvPr/>
        </p:nvSpPr>
        <p:spPr>
          <a:xfrm>
            <a:off x="457200" y="3474720"/>
            <a:ext cx="8229600" cy="1051560"/>
          </a:xfrm>
          <a:prstGeom prst="roundRect">
            <a:avLst>
              <a:gd name="adj" fmla="val 8696"/>
            </a:avLst>
          </a:prstGeom>
          <a:solidFill>
            <a:srgbClr val="E6F2EC"/>
          </a:solidFill>
          <a:ln w="12700">
            <a:solidFill>
              <a:srgbClr val="E6F2EC"/>
            </a:solidFill>
            <a:prstDash val="solid"/>
          </a:ln>
        </p:spPr>
      </p:sp>
      <p:sp>
        <p:nvSpPr>
          <p:cNvPr id="32" name="Text 28"/>
          <p:cNvSpPr txBox="1"/>
          <p:nvPr/>
        </p:nvSpPr>
        <p:spPr>
          <a:xfrm>
            <a:off x="640080" y="3520440"/>
            <a:ext cx="7863840" cy="960120"/>
          </a:xfrm>
          <a:prstGeom prst="rect">
            <a:avLst/>
          </a:prstGeom>
          <a:noFill/>
          <a:ln/>
        </p:spPr>
        <p:txBody>
          <a:bodyPr wrap="square" lIns="0" tIns="0" rIns="0" bIns="0" rtlCol="0" anchor="ctr"/>
          <a:lstStyle/>
          <a:p>
            <a:pPr indent="0" marL="0">
              <a:buNone/>
            </a:pPr>
            <a:r>
              <a:rPr lang="en-US" sz="1400" b="1" dirty="0">
                <a:solidFill>
                  <a:srgbClr val="0F4C3A"/>
                </a:solidFill>
                <a:latin typeface="Calibri" pitchFamily="34" charset="0"/>
                <a:ea typeface="Calibri" pitchFamily="34" charset="-122"/>
                <a:cs typeface="Calibri" pitchFamily="34" charset="-120"/>
              </a:rPr>
              <a:t>Dari masalah nyata pesantren → menjadi aplikasi online yang teruji, aman, dan bisa dipakai. Semua tahap tercatat di Docs dan GitHub: inilah bahan laporan kalian.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Delapan Bagian Laporan Proyek</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12: Proyek Akhir Kelas IX · Pertemuan 34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25908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1–2. Latar Belakang &amp; Pengguna</a:t>
            </a:r>
            <a:endParaRPr lang="en-US" sz="1600" dirty="0"/>
          </a:p>
        </p:txBody>
      </p:sp>
      <p:sp>
        <p:nvSpPr>
          <p:cNvPr id="13" name="Text 8"/>
          <p:cNvSpPr txBox="1"/>
          <p:nvPr/>
        </p:nvSpPr>
        <p:spPr>
          <a:xfrm>
            <a:off x="6400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Masalah, akar masalah, profil pengguna.</a:t>
            </a:r>
            <a:endParaRPr lang="en-US" sz="1250" dirty="0"/>
          </a:p>
        </p:txBody>
      </p:sp>
      <p:sp>
        <p:nvSpPr>
          <p:cNvPr id="14" name="Shape 9"/>
          <p:cNvSpPr/>
          <p:nvPr/>
        </p:nvSpPr>
        <p:spPr>
          <a:xfrm>
            <a:off x="3276600" y="1097280"/>
            <a:ext cx="25908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34594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3596640" y="1417320"/>
            <a:ext cx="274320" cy="274320"/>
          </a:xfrm>
          <a:prstGeom prst="rect">
            <a:avLst/>
          </a:prstGeom>
        </p:spPr>
      </p:pic>
      <p:sp>
        <p:nvSpPr>
          <p:cNvPr id="17" name="Text 11"/>
          <p:cNvSpPr txBox="1"/>
          <p:nvPr/>
        </p:nvSpPr>
        <p:spPr>
          <a:xfrm>
            <a:off x="41452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3. Solusi &amp; Fitur</a:t>
            </a:r>
            <a:endParaRPr lang="en-US" sz="1600" dirty="0"/>
          </a:p>
        </p:txBody>
      </p:sp>
      <p:sp>
        <p:nvSpPr>
          <p:cNvPr id="18" name="Text 12"/>
          <p:cNvSpPr txBox="1"/>
          <p:nvPr/>
        </p:nvSpPr>
        <p:spPr>
          <a:xfrm>
            <a:off x="34594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Apa yang dibuat dan mengapa.</a:t>
            </a:r>
            <a:endParaRPr lang="en-US" sz="1250" dirty="0"/>
          </a:p>
        </p:txBody>
      </p:sp>
      <p:sp>
        <p:nvSpPr>
          <p:cNvPr id="19" name="Shape 13"/>
          <p:cNvSpPr/>
          <p:nvPr/>
        </p:nvSpPr>
        <p:spPr>
          <a:xfrm>
            <a:off x="6096000" y="1097280"/>
            <a:ext cx="25908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278880" y="128016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6416040" y="1417320"/>
            <a:ext cx="274320" cy="274320"/>
          </a:xfrm>
          <a:prstGeom prst="rect">
            <a:avLst/>
          </a:prstGeom>
        </p:spPr>
      </p:pic>
      <p:sp>
        <p:nvSpPr>
          <p:cNvPr id="22" name="Text 15"/>
          <p:cNvSpPr txBox="1"/>
          <p:nvPr/>
        </p:nvSpPr>
        <p:spPr>
          <a:xfrm>
            <a:off x="69646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4. Rancangan</a:t>
            </a:r>
            <a:endParaRPr lang="en-US" sz="1600" dirty="0"/>
          </a:p>
        </p:txBody>
      </p:sp>
      <p:sp>
        <p:nvSpPr>
          <p:cNvPr id="23" name="Text 16"/>
          <p:cNvSpPr txBox="1"/>
          <p:nvPr/>
        </p:nvSpPr>
        <p:spPr>
          <a:xfrm>
            <a:off x="62788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Flowchart, sketsa, diagram relasi database.</a:t>
            </a:r>
            <a:endParaRPr lang="en-US" sz="1250" dirty="0"/>
          </a:p>
        </p:txBody>
      </p:sp>
      <p:sp>
        <p:nvSpPr>
          <p:cNvPr id="24" name="Shape 17"/>
          <p:cNvSpPr/>
          <p:nvPr/>
        </p:nvSpPr>
        <p:spPr>
          <a:xfrm>
            <a:off x="457200" y="2948940"/>
            <a:ext cx="25908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6400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777240" y="3268980"/>
            <a:ext cx="274320" cy="274320"/>
          </a:xfrm>
          <a:prstGeom prst="rect">
            <a:avLst/>
          </a:prstGeom>
        </p:spPr>
      </p:pic>
      <p:sp>
        <p:nvSpPr>
          <p:cNvPr id="27" name="Text 19"/>
          <p:cNvSpPr txBox="1"/>
          <p:nvPr/>
        </p:nvSpPr>
        <p:spPr>
          <a:xfrm>
            <a:off x="13258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5. Pembangunan</a:t>
            </a:r>
            <a:endParaRPr lang="en-US" sz="1600" dirty="0"/>
          </a:p>
        </p:txBody>
      </p:sp>
      <p:sp>
        <p:nvSpPr>
          <p:cNvPr id="28" name="Text 20"/>
          <p:cNvSpPr txBox="1"/>
          <p:nvPr/>
        </p:nvSpPr>
        <p:spPr>
          <a:xfrm>
            <a:off x="6400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Teknologi, versi, commit penting.</a:t>
            </a:r>
            <a:endParaRPr lang="en-US" sz="1250" dirty="0"/>
          </a:p>
        </p:txBody>
      </p:sp>
      <p:sp>
        <p:nvSpPr>
          <p:cNvPr id="29" name="Shape 21"/>
          <p:cNvSpPr/>
          <p:nvPr/>
        </p:nvSpPr>
        <p:spPr>
          <a:xfrm>
            <a:off x="3276600" y="2948940"/>
            <a:ext cx="2590800" cy="1668780"/>
          </a:xfrm>
          <a:prstGeom prst="roundRect">
            <a:avLst>
              <a:gd name="adj" fmla="val 6575"/>
            </a:avLst>
          </a:prstGeom>
          <a:solidFill>
            <a:srgbClr val="E6F2EC"/>
          </a:solidFill>
          <a:ln w="12700">
            <a:solidFill>
              <a:srgbClr val="E6F2EC"/>
            </a:solidFill>
            <a:prstDash val="solid"/>
          </a:ln>
        </p:spPr>
      </p:sp>
      <p:sp>
        <p:nvSpPr>
          <p:cNvPr id="30" name="Shape 22"/>
          <p:cNvSpPr/>
          <p:nvPr/>
        </p:nvSpPr>
        <p:spPr>
          <a:xfrm>
            <a:off x="3459480" y="3131820"/>
            <a:ext cx="548640" cy="548640"/>
          </a:xfrm>
          <a:prstGeom prst="ellipse">
            <a:avLst/>
          </a:prstGeom>
          <a:solidFill>
            <a:srgbClr val="0F4C3A"/>
          </a:solidFill>
          <a:ln/>
        </p:spPr>
      </p:sp>
      <p:pic>
        <p:nvPicPr>
          <p:cNvPr id="31" name="Image 6" descr="preencoded.png">    </p:cNvPr>
          <p:cNvPicPr>
            <a:picLocks noChangeAspect="1"/>
          </p:cNvPicPr>
          <p:nvPr/>
        </p:nvPicPr>
        <p:blipFill>
          <a:blip r:embed="rId7"/>
          <a:stretch>
            <a:fillRect/>
          </a:stretch>
        </p:blipFill>
        <p:spPr>
          <a:xfrm>
            <a:off x="3596640" y="3268980"/>
            <a:ext cx="274320" cy="274320"/>
          </a:xfrm>
          <a:prstGeom prst="rect">
            <a:avLst/>
          </a:prstGeom>
        </p:spPr>
      </p:pic>
      <p:sp>
        <p:nvSpPr>
          <p:cNvPr id="32" name="Text 23"/>
          <p:cNvSpPr txBox="1"/>
          <p:nvPr/>
        </p:nvSpPr>
        <p:spPr>
          <a:xfrm>
            <a:off x="41452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6. Pengujian &amp; Hasil</a:t>
            </a:r>
            <a:endParaRPr lang="en-US" sz="1600" dirty="0"/>
          </a:p>
        </p:txBody>
      </p:sp>
      <p:sp>
        <p:nvSpPr>
          <p:cNvPr id="33" name="Text 24"/>
          <p:cNvSpPr txBox="1"/>
          <p:nvPr/>
        </p:nvSpPr>
        <p:spPr>
          <a:xfrm>
            <a:off x="34594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Test case, uji kegunaan, ukuran berhasil.</a:t>
            </a:r>
            <a:endParaRPr lang="en-US" sz="1250" dirty="0"/>
          </a:p>
        </p:txBody>
      </p:sp>
      <p:sp>
        <p:nvSpPr>
          <p:cNvPr id="34" name="Shape 25"/>
          <p:cNvSpPr/>
          <p:nvPr/>
        </p:nvSpPr>
        <p:spPr>
          <a:xfrm>
            <a:off x="6096000" y="2948940"/>
            <a:ext cx="2590800" cy="1668780"/>
          </a:xfrm>
          <a:prstGeom prst="roundRect">
            <a:avLst>
              <a:gd name="adj" fmla="val 6575"/>
            </a:avLst>
          </a:prstGeom>
          <a:solidFill>
            <a:srgbClr val="E6F2EC"/>
          </a:solidFill>
          <a:ln w="12700">
            <a:solidFill>
              <a:srgbClr val="E6F2EC"/>
            </a:solidFill>
            <a:prstDash val="solid"/>
          </a:ln>
        </p:spPr>
      </p:sp>
      <p:sp>
        <p:nvSpPr>
          <p:cNvPr id="35" name="Shape 26"/>
          <p:cNvSpPr/>
          <p:nvPr/>
        </p:nvSpPr>
        <p:spPr>
          <a:xfrm>
            <a:off x="6278880" y="3131820"/>
            <a:ext cx="548640" cy="548640"/>
          </a:xfrm>
          <a:prstGeom prst="ellipse">
            <a:avLst/>
          </a:prstGeom>
          <a:solidFill>
            <a:srgbClr val="0F4C3A"/>
          </a:solidFill>
          <a:ln/>
        </p:spPr>
      </p:sp>
      <p:pic>
        <p:nvPicPr>
          <p:cNvPr id="36" name="Image 7" descr="preencoded.png">    </p:cNvPr>
          <p:cNvPicPr>
            <a:picLocks noChangeAspect="1"/>
          </p:cNvPicPr>
          <p:nvPr/>
        </p:nvPicPr>
        <p:blipFill>
          <a:blip r:embed="rId8"/>
          <a:stretch>
            <a:fillRect/>
          </a:stretch>
        </p:blipFill>
        <p:spPr>
          <a:xfrm>
            <a:off x="6416040" y="3268980"/>
            <a:ext cx="274320" cy="274320"/>
          </a:xfrm>
          <a:prstGeom prst="rect">
            <a:avLst/>
          </a:prstGeom>
        </p:spPr>
      </p:pic>
      <p:sp>
        <p:nvSpPr>
          <p:cNvPr id="37" name="Text 27"/>
          <p:cNvSpPr txBox="1"/>
          <p:nvPr/>
        </p:nvSpPr>
        <p:spPr>
          <a:xfrm>
            <a:off x="69646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7–8. Peran AI &amp; Refleksi</a:t>
            </a:r>
            <a:endParaRPr lang="en-US" sz="1600" dirty="0"/>
          </a:p>
        </p:txBody>
      </p:sp>
      <p:sp>
        <p:nvSpPr>
          <p:cNvPr id="38" name="Text 28"/>
          <p:cNvSpPr txBox="1"/>
          <p:nvPr/>
        </p:nvSpPr>
        <p:spPr>
          <a:xfrm>
            <a:off x="62788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Bantuan AI apa adanya; pelajaran dan rencana.</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Evaluasi dan Laporan</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Proyek akhir · kerja kelompok</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Rencana vs hasil</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Menuntaskan kekurangan</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4–6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Menyusun laporan</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Evaluasi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12: Proyek Akhir Kelas IX · Pertemuan 34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Evaluasi_Proyek_Kel3 -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Evaluasi_Proyek_Kel3</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Rencana vs Hasil</a:t>
            </a:r>
            <a:endParaRPr lang="en-US" sz="1100" dirty="0"/>
          </a:p>
        </p:txBody>
      </p:sp>
      <p:sp>
        <p:nvSpPr>
          <p:cNvPr id="70" name="Shape 59"/>
          <p:cNvSpPr/>
          <p:nvPr/>
        </p:nvSpPr>
        <p:spPr>
          <a:xfrm>
            <a:off x="1554480" y="2876938"/>
            <a:ext cx="1005840" cy="182880"/>
          </a:xfrm>
          <a:prstGeom prst="rect">
            <a:avLst/>
          </a:prstGeom>
          <a:solidFill>
            <a:srgbClr val="D9EAD3"/>
          </a:solidFill>
          <a:ln w="6350">
            <a:solidFill>
              <a:srgbClr val="777777"/>
            </a:solidFill>
            <a:prstDash val="solid"/>
          </a:ln>
        </p:spPr>
      </p:sp>
      <p:sp>
        <p:nvSpPr>
          <p:cNvPr id="71" name="Text 60"/>
          <p:cNvSpPr txBox="1"/>
          <p:nvPr/>
        </p:nvSpPr>
        <p:spPr>
          <a:xfrm>
            <a:off x="158191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Fitur</a:t>
            </a:r>
            <a:endParaRPr lang="en-US" sz="650" dirty="0"/>
          </a:p>
        </p:txBody>
      </p:sp>
      <p:sp>
        <p:nvSpPr>
          <p:cNvPr id="72" name="Shape 61"/>
          <p:cNvSpPr/>
          <p:nvPr/>
        </p:nvSpPr>
        <p:spPr>
          <a:xfrm>
            <a:off x="2560320" y="2876938"/>
            <a:ext cx="1005840" cy="182880"/>
          </a:xfrm>
          <a:prstGeom prst="rect">
            <a:avLst/>
          </a:prstGeom>
          <a:solidFill>
            <a:srgbClr val="D9EAD3"/>
          </a:solidFill>
          <a:ln w="6350">
            <a:solidFill>
              <a:srgbClr val="777777"/>
            </a:solidFill>
            <a:prstDash val="solid"/>
          </a:ln>
        </p:spPr>
      </p:sp>
      <p:sp>
        <p:nvSpPr>
          <p:cNvPr id="73" name="Text 62"/>
          <p:cNvSpPr txBox="1"/>
          <p:nvPr/>
        </p:nvSpPr>
        <p:spPr>
          <a:xfrm>
            <a:off x="258775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Status</a:t>
            </a:r>
            <a:endParaRPr lang="en-US" sz="650" dirty="0"/>
          </a:p>
        </p:txBody>
      </p:sp>
      <p:sp>
        <p:nvSpPr>
          <p:cNvPr id="74" name="Shape 63"/>
          <p:cNvSpPr/>
          <p:nvPr/>
        </p:nvSpPr>
        <p:spPr>
          <a:xfrm>
            <a:off x="3566160" y="2876938"/>
            <a:ext cx="1005840" cy="182880"/>
          </a:xfrm>
          <a:prstGeom prst="rect">
            <a:avLst/>
          </a:prstGeom>
          <a:solidFill>
            <a:srgbClr val="D9EAD3"/>
          </a:solidFill>
          <a:ln w="6350">
            <a:solidFill>
              <a:srgbClr val="777777"/>
            </a:solidFill>
            <a:prstDash val="solid"/>
          </a:ln>
        </p:spPr>
      </p:sp>
      <p:sp>
        <p:nvSpPr>
          <p:cNvPr id="75" name="Text 64"/>
          <p:cNvSpPr txBox="1"/>
          <p:nvPr/>
        </p:nvSpPr>
        <p:spPr>
          <a:xfrm>
            <a:off x="359359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Bukti</a:t>
            </a:r>
            <a:endParaRPr lang="en-US" sz="650" dirty="0"/>
          </a:p>
        </p:txBody>
      </p:sp>
      <p:sp>
        <p:nvSpPr>
          <p:cNvPr id="76" name="Shape 65"/>
          <p:cNvSpPr/>
          <p:nvPr/>
        </p:nvSpPr>
        <p:spPr>
          <a:xfrm>
            <a:off x="1554480" y="3059818"/>
            <a:ext cx="1005840" cy="182880"/>
          </a:xfrm>
          <a:prstGeom prst="rect">
            <a:avLst/>
          </a:prstGeom>
          <a:solidFill>
            <a:srgbClr val="FFFFFF"/>
          </a:solidFill>
          <a:ln w="6350">
            <a:solidFill>
              <a:srgbClr val="777777"/>
            </a:solidFill>
            <a:prstDash val="solid"/>
          </a:ln>
        </p:spPr>
      </p:sp>
      <p:sp>
        <p:nvSpPr>
          <p:cNvPr id="77" name="Text 66"/>
          <p:cNvSpPr txBox="1"/>
          <p:nvPr/>
        </p:nvSpPr>
        <p:spPr>
          <a:xfrm>
            <a:off x="158191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Target hari ini</a:t>
            </a:r>
            <a:endParaRPr lang="en-US" sz="650" dirty="0"/>
          </a:p>
        </p:txBody>
      </p:sp>
      <p:sp>
        <p:nvSpPr>
          <p:cNvPr id="78" name="Shape 67"/>
          <p:cNvSpPr/>
          <p:nvPr/>
        </p:nvSpPr>
        <p:spPr>
          <a:xfrm>
            <a:off x="2560320" y="3059818"/>
            <a:ext cx="1005840" cy="182880"/>
          </a:xfrm>
          <a:prstGeom prst="rect">
            <a:avLst/>
          </a:prstGeom>
          <a:solidFill>
            <a:srgbClr val="FFFFFF"/>
          </a:solidFill>
          <a:ln w="6350">
            <a:solidFill>
              <a:srgbClr val="777777"/>
            </a:solidFill>
            <a:prstDash val="solid"/>
          </a:ln>
        </p:spPr>
      </p:sp>
      <p:sp>
        <p:nvSpPr>
          <p:cNvPr id="79" name="Text 68"/>
          <p:cNvSpPr txBox="1"/>
          <p:nvPr/>
        </p:nvSpPr>
        <p:spPr>
          <a:xfrm>
            <a:off x="258775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Selesai</a:t>
            </a:r>
            <a:endParaRPr lang="en-US" sz="650" dirty="0"/>
          </a:p>
        </p:txBody>
      </p:sp>
      <p:sp>
        <p:nvSpPr>
          <p:cNvPr id="80" name="Shape 69"/>
          <p:cNvSpPr/>
          <p:nvPr/>
        </p:nvSpPr>
        <p:spPr>
          <a:xfrm>
            <a:off x="3566160" y="3059818"/>
            <a:ext cx="1005840" cy="182880"/>
          </a:xfrm>
          <a:prstGeom prst="rect">
            <a:avLst/>
          </a:prstGeom>
          <a:solidFill>
            <a:srgbClr val="FFFFFF"/>
          </a:solidFill>
          <a:ln w="6350">
            <a:solidFill>
              <a:srgbClr val="777777"/>
            </a:solidFill>
            <a:prstDash val="solid"/>
          </a:ln>
        </p:spPr>
      </p:sp>
      <p:sp>
        <p:nvSpPr>
          <p:cNvPr id="81" name="Text 70"/>
          <p:cNvSpPr txBox="1"/>
          <p:nvPr/>
        </p:nvSpPr>
        <p:spPr>
          <a:xfrm>
            <a:off x="359359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v1.0</a:t>
            </a:r>
            <a:endParaRPr lang="en-US" sz="650" dirty="0"/>
          </a:p>
        </p:txBody>
      </p:sp>
      <p:sp>
        <p:nvSpPr>
          <p:cNvPr id="82" name="Shape 71"/>
          <p:cNvSpPr/>
          <p:nvPr/>
        </p:nvSpPr>
        <p:spPr>
          <a:xfrm>
            <a:off x="1554480" y="3242698"/>
            <a:ext cx="1005840" cy="182880"/>
          </a:xfrm>
          <a:prstGeom prst="rect">
            <a:avLst/>
          </a:prstGeom>
          <a:solidFill>
            <a:srgbClr val="FFFFFF"/>
          </a:solidFill>
          <a:ln w="6350">
            <a:solidFill>
              <a:srgbClr val="777777"/>
            </a:solidFill>
            <a:prstDash val="solid"/>
          </a:ln>
        </p:spPr>
      </p:sp>
      <p:sp>
        <p:nvSpPr>
          <p:cNvPr id="83" name="Text 72"/>
          <p:cNvSpPr txBox="1"/>
          <p:nvPr/>
        </p:nvSpPr>
        <p:spPr>
          <a:xfrm>
            <a:off x="158191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Tombol Sudah Setor</a:t>
            </a:r>
            <a:endParaRPr lang="en-US" sz="650" dirty="0"/>
          </a:p>
        </p:txBody>
      </p:sp>
      <p:sp>
        <p:nvSpPr>
          <p:cNvPr id="84" name="Shape 73"/>
          <p:cNvSpPr/>
          <p:nvPr/>
        </p:nvSpPr>
        <p:spPr>
          <a:xfrm>
            <a:off x="2560320" y="3242698"/>
            <a:ext cx="1005840" cy="182880"/>
          </a:xfrm>
          <a:prstGeom prst="rect">
            <a:avLst/>
          </a:prstGeom>
          <a:solidFill>
            <a:srgbClr val="FFFFFF"/>
          </a:solidFill>
          <a:ln w="6350">
            <a:solidFill>
              <a:srgbClr val="777777"/>
            </a:solidFill>
            <a:prstDash val="solid"/>
          </a:ln>
        </p:spPr>
      </p:sp>
      <p:sp>
        <p:nvSpPr>
          <p:cNvPr id="85" name="Text 74"/>
          <p:cNvSpPr txBox="1"/>
          <p:nvPr/>
        </p:nvSpPr>
        <p:spPr>
          <a:xfrm>
            <a:off x="258775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Selesai</a:t>
            </a:r>
            <a:endParaRPr lang="en-US" sz="650" dirty="0"/>
          </a:p>
        </p:txBody>
      </p:sp>
      <p:sp>
        <p:nvSpPr>
          <p:cNvPr id="86" name="Shape 75"/>
          <p:cNvSpPr/>
          <p:nvPr/>
        </p:nvSpPr>
        <p:spPr>
          <a:xfrm>
            <a:off x="3566160" y="3242698"/>
            <a:ext cx="1005840" cy="182880"/>
          </a:xfrm>
          <a:prstGeom prst="rect">
            <a:avLst/>
          </a:prstGeom>
          <a:solidFill>
            <a:srgbClr val="FFFFFF"/>
          </a:solidFill>
          <a:ln w="6350">
            <a:solidFill>
              <a:srgbClr val="777777"/>
            </a:solidFill>
            <a:prstDash val="solid"/>
          </a:ln>
        </p:spPr>
      </p:sp>
      <p:sp>
        <p:nvSpPr>
          <p:cNvPr id="87" name="Text 76"/>
          <p:cNvSpPr txBox="1"/>
          <p:nvPr/>
        </p:nvSpPr>
        <p:spPr>
          <a:xfrm>
            <a:off x="359359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v2</a:t>
            </a:r>
            <a:endParaRPr lang="en-US" sz="650" dirty="0"/>
          </a:p>
        </p:txBody>
      </p:sp>
      <p:sp>
        <p:nvSpPr>
          <p:cNvPr id="88" name="Shape 77"/>
          <p:cNvSpPr/>
          <p:nvPr/>
        </p:nvSpPr>
        <p:spPr>
          <a:xfrm>
            <a:off x="1554480" y="3425578"/>
            <a:ext cx="1005840" cy="182880"/>
          </a:xfrm>
          <a:prstGeom prst="rect">
            <a:avLst/>
          </a:prstGeom>
          <a:solidFill>
            <a:srgbClr val="FFFFFF"/>
          </a:solidFill>
          <a:ln w="6350">
            <a:solidFill>
              <a:srgbClr val="777777"/>
            </a:solidFill>
            <a:prstDash val="solid"/>
          </a:ln>
        </p:spPr>
      </p:sp>
      <p:sp>
        <p:nvSpPr>
          <p:cNvPr id="89" name="Text 78"/>
          <p:cNvSpPr txBox="1"/>
          <p:nvPr/>
        </p:nvSpPr>
        <p:spPr>
          <a:xfrm>
            <a:off x="158191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Riwayat</a:t>
            </a:r>
            <a:endParaRPr lang="en-US" sz="650" dirty="0"/>
          </a:p>
        </p:txBody>
      </p:sp>
      <p:sp>
        <p:nvSpPr>
          <p:cNvPr id="90" name="Shape 79"/>
          <p:cNvSpPr/>
          <p:nvPr/>
        </p:nvSpPr>
        <p:spPr>
          <a:xfrm>
            <a:off x="2560320" y="3425578"/>
            <a:ext cx="1005840" cy="182880"/>
          </a:xfrm>
          <a:prstGeom prst="rect">
            <a:avLst/>
          </a:prstGeom>
          <a:solidFill>
            <a:srgbClr val="FFFFFF"/>
          </a:solidFill>
          <a:ln w="6350">
            <a:solidFill>
              <a:srgbClr val="777777"/>
            </a:solidFill>
            <a:prstDash val="solid"/>
          </a:ln>
        </p:spPr>
      </p:sp>
      <p:sp>
        <p:nvSpPr>
          <p:cNvPr id="91" name="Text 80"/>
          <p:cNvSpPr txBox="1"/>
          <p:nvPr/>
        </p:nvSpPr>
        <p:spPr>
          <a:xfrm>
            <a:off x="258775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Selesai</a:t>
            </a:r>
            <a:endParaRPr lang="en-US" sz="650" dirty="0"/>
          </a:p>
        </p:txBody>
      </p:sp>
      <p:sp>
        <p:nvSpPr>
          <p:cNvPr id="92" name="Shape 81"/>
          <p:cNvSpPr/>
          <p:nvPr/>
        </p:nvSpPr>
        <p:spPr>
          <a:xfrm>
            <a:off x="3566160" y="3425578"/>
            <a:ext cx="1005840" cy="182880"/>
          </a:xfrm>
          <a:prstGeom prst="rect">
            <a:avLst/>
          </a:prstGeom>
          <a:solidFill>
            <a:srgbClr val="FFFFFF"/>
          </a:solidFill>
          <a:ln w="6350">
            <a:solidFill>
              <a:srgbClr val="777777"/>
            </a:solidFill>
            <a:prstDash val="solid"/>
          </a:ln>
        </p:spPr>
      </p:sp>
      <p:sp>
        <p:nvSpPr>
          <p:cNvPr id="93" name="Text 82"/>
          <p:cNvSpPr txBox="1"/>
          <p:nvPr/>
        </p:nvSpPr>
        <p:spPr>
          <a:xfrm>
            <a:off x="359359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v3</a:t>
            </a:r>
            <a:endParaRPr lang="en-US" sz="650" dirty="0"/>
          </a:p>
        </p:txBody>
      </p:sp>
      <p:sp>
        <p:nvSpPr>
          <p:cNvPr id="94" name="Shape 83"/>
          <p:cNvSpPr/>
          <p:nvPr/>
        </p:nvSpPr>
        <p:spPr>
          <a:xfrm>
            <a:off x="1554480" y="3608458"/>
            <a:ext cx="1005840" cy="182880"/>
          </a:xfrm>
          <a:prstGeom prst="rect">
            <a:avLst/>
          </a:prstGeom>
          <a:solidFill>
            <a:srgbClr val="FFFFFF"/>
          </a:solidFill>
          <a:ln w="6350">
            <a:solidFill>
              <a:srgbClr val="777777"/>
            </a:solidFill>
            <a:prstDash val="solid"/>
          </a:ln>
        </p:spPr>
      </p:sp>
      <p:sp>
        <p:nvSpPr>
          <p:cNvPr id="95" name="Text 84"/>
          <p:cNvSpPr txBox="1"/>
          <p:nvPr/>
        </p:nvSpPr>
        <p:spPr>
          <a:xfrm>
            <a:off x="1581912" y="360845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Total &amp; status</a:t>
            </a:r>
            <a:endParaRPr lang="en-US" sz="650" dirty="0"/>
          </a:p>
        </p:txBody>
      </p:sp>
      <p:sp>
        <p:nvSpPr>
          <p:cNvPr id="96" name="Shape 85"/>
          <p:cNvSpPr/>
          <p:nvPr/>
        </p:nvSpPr>
        <p:spPr>
          <a:xfrm>
            <a:off x="2560320" y="3608458"/>
            <a:ext cx="1005840" cy="182880"/>
          </a:xfrm>
          <a:prstGeom prst="rect">
            <a:avLst/>
          </a:prstGeom>
          <a:solidFill>
            <a:srgbClr val="FFFFFF"/>
          </a:solidFill>
          <a:ln w="6350">
            <a:solidFill>
              <a:srgbClr val="777777"/>
            </a:solidFill>
            <a:prstDash val="solid"/>
          </a:ln>
        </p:spPr>
      </p:sp>
      <p:sp>
        <p:nvSpPr>
          <p:cNvPr id="97" name="Text 86"/>
          <p:cNvSpPr txBox="1"/>
          <p:nvPr/>
        </p:nvSpPr>
        <p:spPr>
          <a:xfrm>
            <a:off x="2587752" y="360845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Selesai</a:t>
            </a:r>
            <a:endParaRPr lang="en-US" sz="650" dirty="0"/>
          </a:p>
        </p:txBody>
      </p:sp>
      <p:sp>
        <p:nvSpPr>
          <p:cNvPr id="98" name="Shape 87"/>
          <p:cNvSpPr/>
          <p:nvPr/>
        </p:nvSpPr>
        <p:spPr>
          <a:xfrm>
            <a:off x="3566160" y="3608458"/>
            <a:ext cx="1005840" cy="182880"/>
          </a:xfrm>
          <a:prstGeom prst="rect">
            <a:avLst/>
          </a:prstGeom>
          <a:solidFill>
            <a:srgbClr val="FFFFFF"/>
          </a:solidFill>
          <a:ln w="6350">
            <a:solidFill>
              <a:srgbClr val="777777"/>
            </a:solidFill>
            <a:prstDash val="solid"/>
          </a:ln>
        </p:spPr>
      </p:sp>
      <p:sp>
        <p:nvSpPr>
          <p:cNvPr id="99" name="Text 88"/>
          <p:cNvSpPr txBox="1"/>
          <p:nvPr/>
        </p:nvSpPr>
        <p:spPr>
          <a:xfrm>
            <a:off x="3593592" y="360845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v1.1</a:t>
            </a:r>
            <a:endParaRPr lang="en-US" sz="650" dirty="0"/>
          </a:p>
        </p:txBody>
      </p:sp>
      <p:sp>
        <p:nvSpPr>
          <p:cNvPr id="100" name="Shape 89"/>
          <p:cNvSpPr/>
          <p:nvPr/>
        </p:nvSpPr>
        <p:spPr>
          <a:xfrm>
            <a:off x="1554480" y="3791338"/>
            <a:ext cx="1005840" cy="182880"/>
          </a:xfrm>
          <a:prstGeom prst="rect">
            <a:avLst/>
          </a:prstGeom>
          <a:solidFill>
            <a:srgbClr val="FFFFFF"/>
          </a:solidFill>
          <a:ln w="6350">
            <a:solidFill>
              <a:srgbClr val="777777"/>
            </a:solidFill>
            <a:prstDash val="solid"/>
          </a:ln>
        </p:spPr>
      </p:sp>
      <p:sp>
        <p:nvSpPr>
          <p:cNvPr id="101" name="Text 90"/>
          <p:cNvSpPr txBox="1"/>
          <p:nvPr/>
        </p:nvSpPr>
        <p:spPr>
          <a:xfrm>
            <a:off x="1581912" y="379133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Grafik bulanan</a:t>
            </a:r>
            <a:endParaRPr lang="en-US" sz="650" dirty="0"/>
          </a:p>
        </p:txBody>
      </p:sp>
      <p:sp>
        <p:nvSpPr>
          <p:cNvPr id="102" name="Shape 91"/>
          <p:cNvSpPr/>
          <p:nvPr/>
        </p:nvSpPr>
        <p:spPr>
          <a:xfrm>
            <a:off x="2560320" y="3791338"/>
            <a:ext cx="1005840" cy="182880"/>
          </a:xfrm>
          <a:prstGeom prst="rect">
            <a:avLst/>
          </a:prstGeom>
          <a:solidFill>
            <a:srgbClr val="FFFFFF"/>
          </a:solidFill>
          <a:ln w="6350">
            <a:solidFill>
              <a:srgbClr val="777777"/>
            </a:solidFill>
            <a:prstDash val="solid"/>
          </a:ln>
        </p:spPr>
      </p:sp>
      <p:sp>
        <p:nvSpPr>
          <p:cNvPr id="103" name="Text 92"/>
          <p:cNvSpPr txBox="1"/>
          <p:nvPr/>
        </p:nvSpPr>
        <p:spPr>
          <a:xfrm>
            <a:off x="2587752" y="379133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Belum</a:t>
            </a:r>
            <a:endParaRPr lang="en-US" sz="650" dirty="0"/>
          </a:p>
        </p:txBody>
      </p:sp>
      <p:sp>
        <p:nvSpPr>
          <p:cNvPr id="104" name="Shape 93"/>
          <p:cNvSpPr/>
          <p:nvPr/>
        </p:nvSpPr>
        <p:spPr>
          <a:xfrm>
            <a:off x="3566160" y="3791338"/>
            <a:ext cx="1005840" cy="182880"/>
          </a:xfrm>
          <a:prstGeom prst="rect">
            <a:avLst/>
          </a:prstGeom>
          <a:solidFill>
            <a:srgbClr val="FFFFFF"/>
          </a:solidFill>
          <a:ln w="6350">
            <a:solidFill>
              <a:srgbClr val="777777"/>
            </a:solidFill>
            <a:prstDash val="solid"/>
          </a:ln>
        </p:spPr>
      </p:sp>
      <p:sp>
        <p:nvSpPr>
          <p:cNvPr id="105" name="Text 94"/>
          <p:cNvSpPr txBox="1"/>
          <p:nvPr/>
        </p:nvSpPr>
        <p:spPr>
          <a:xfrm>
            <a:off x="3593592" y="379133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rencana v1.2</a:t>
            </a:r>
            <a:endParaRPr lang="en-US" sz="650" dirty="0"/>
          </a:p>
        </p:txBody>
      </p:sp>
      <p:sp>
        <p:nvSpPr>
          <p:cNvPr id="106" name="Shape 95"/>
          <p:cNvSpPr/>
          <p:nvPr/>
        </p:nvSpPr>
        <p:spPr>
          <a:xfrm>
            <a:off x="1527048" y="2849506"/>
            <a:ext cx="3072384" cy="1152144"/>
          </a:xfrm>
          <a:prstGeom prst="roundRect">
            <a:avLst>
              <a:gd name="adj" fmla="val 3968"/>
            </a:avLst>
          </a:prstGeom>
          <a:solidFill>
            <a:srgbClr val="FFFFFF">
              <a:alpha val="0"/>
            </a:srgbClr>
          </a:solidFill>
          <a:ln w="31750">
            <a:solidFill>
              <a:srgbClr val="E53935"/>
            </a:solidFill>
            <a:prstDash val="solid"/>
          </a:ln>
        </p:spPr>
      </p:sp>
      <p:sp>
        <p:nvSpPr>
          <p:cNvPr id="107" name="Shape 96"/>
          <p:cNvSpPr/>
          <p:nvPr/>
        </p:nvSpPr>
        <p:spPr>
          <a:xfrm>
            <a:off x="4462272" y="2712346"/>
            <a:ext cx="274320" cy="274320"/>
          </a:xfrm>
          <a:prstGeom prst="ellipse">
            <a:avLst/>
          </a:prstGeom>
          <a:solidFill>
            <a:srgbClr val="E53935"/>
          </a:solidFill>
          <a:ln w="12700">
            <a:solidFill>
              <a:srgbClr val="FFFFFF"/>
            </a:solidFill>
            <a:prstDash val="solid"/>
          </a:ln>
        </p:spPr>
      </p:sp>
      <p:sp>
        <p:nvSpPr>
          <p:cNvPr id="108" name="Text 97"/>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109" name="Image 9" descr="preencoded.png">    </p:cNvPr>
          <p:cNvPicPr>
            <a:picLocks noChangeAspect="1"/>
          </p:cNvPicPr>
          <p:nvPr/>
        </p:nvPicPr>
        <p:blipFill>
          <a:blip r:embed="rId10"/>
          <a:stretch>
            <a:fillRect/>
          </a:stretch>
        </p:blipFill>
        <p:spPr>
          <a:xfrm>
            <a:off x="3214116" y="3480442"/>
            <a:ext cx="237744" cy="237744"/>
          </a:xfrm>
          <a:prstGeom prst="rect">
            <a:avLst/>
          </a:prstGeom>
        </p:spPr>
      </p:pic>
      <p:sp>
        <p:nvSpPr>
          <p:cNvPr id="110" name="Text 9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111" name="Text 9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Bandingkan fitur rencana dengan hasil</a:t>
            </a:r>
            <a:endParaRPr lang="en-US" sz="1800" dirty="0"/>
          </a:p>
        </p:txBody>
      </p:sp>
      <p:sp>
        <p:nvSpPr>
          <p:cNvPr id="112" name="Text 10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Tabel: Fitur di proposal | Status (Selesai/Sebagian/Belum) | Bukti (tautan/tangkapan layar).</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Evaluasi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12: Proyek Akhir Kelas IX · Pertemuan 34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Evaluasi_Proyek_Kel3 -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Evaluasi_Proyek_Kel3</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Ukuran Berhasil</a:t>
            </a:r>
            <a:endParaRPr lang="en-US" sz="1100" dirty="0"/>
          </a:p>
        </p:txBody>
      </p:sp>
      <p:sp>
        <p:nvSpPr>
          <p:cNvPr id="70" name="Text 59"/>
          <p:cNvSpPr txBox="1"/>
          <p:nvPr/>
        </p:nvSpPr>
        <p:spPr>
          <a:xfrm>
            <a:off x="1554480" y="2876938"/>
            <a:ext cx="3017520" cy="147320"/>
          </a:xfrm>
          <a:prstGeom prst="rect">
            <a:avLst/>
          </a:prstGeom>
          <a:noFill/>
          <a:ln/>
        </p:spPr>
        <p:txBody>
          <a:bodyPr wrap="square" lIns="0" tIns="0" rIns="0" bIns="0" rtlCol="0" anchor="ctr"/>
          <a:lstStyle/>
          <a:p>
            <a:pPr algn="l" indent="0" marL="0">
              <a:buNone/>
            </a:pPr>
            <a:r>
              <a:rPr lang="en-US" sz="800" b="1" dirty="0">
                <a:solidFill>
                  <a:srgbClr val="1E2A26"/>
                </a:solidFill>
                <a:latin typeface="Arial" pitchFamily="34" charset="0"/>
                <a:ea typeface="Arial" pitchFamily="34" charset="-122"/>
                <a:cs typeface="Arial" pitchFamily="34" charset="-120"/>
              </a:rPr>
              <a:t>Target: 10 santri memakai 1 pekan; 7 merasa terbantu.</a:t>
            </a:r>
            <a:endParaRPr lang="en-US" sz="800" dirty="0"/>
          </a:p>
        </p:txBody>
      </p:sp>
      <p:sp>
        <p:nvSpPr>
          <p:cNvPr id="71" name="Text 60"/>
          <p:cNvSpPr txBox="1"/>
          <p:nvPr/>
        </p:nvSpPr>
        <p:spPr>
          <a:xfrm>
            <a:off x="1554480" y="306997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Hasil uji: 6 pengguna mencoba; 5 berhasil semua tugas;</a:t>
            </a:r>
            <a:endParaRPr lang="en-US" sz="800" dirty="0"/>
          </a:p>
        </p:txBody>
      </p:sp>
      <p:sp>
        <p:nvSpPr>
          <p:cNvPr id="72" name="Text 61"/>
          <p:cNvSpPr txBox="1"/>
          <p:nvPr/>
        </p:nvSpPr>
        <p:spPr>
          <a:xfrm>
            <a:off x="1554480" y="326301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5 dari 6 merasa terbantu.</a:t>
            </a:r>
            <a:endParaRPr lang="en-US" sz="800" dirty="0"/>
          </a:p>
        </p:txBody>
      </p:sp>
      <p:sp>
        <p:nvSpPr>
          <p:cNvPr id="73" name="Text 62"/>
          <p:cNvSpPr txBox="1"/>
          <p:nvPr/>
        </p:nvSpPr>
        <p:spPr>
          <a:xfrm>
            <a:off x="1554480" y="3456058"/>
            <a:ext cx="3017520" cy="147320"/>
          </a:xfrm>
          <a:prstGeom prst="rect">
            <a:avLst/>
          </a:prstGeom>
          <a:noFill/>
          <a:ln/>
        </p:spPr>
        <p:txBody>
          <a:bodyPr wrap="square" lIns="0" tIns="0" rIns="0" bIns="0" rtlCol="0" anchor="ctr"/>
          <a:lstStyle/>
          <a:p>
            <a:pPr algn="l" indent="0" marL="0">
              <a:buNone/>
            </a:pPr>
            <a:r>
              <a:rPr lang="en-US" sz="800" b="1" dirty="0">
                <a:solidFill>
                  <a:srgbClr val="1E2A26"/>
                </a:solidFill>
                <a:latin typeface="Arial" pitchFamily="34" charset="0"/>
                <a:ea typeface="Arial" pitchFamily="34" charset="-122"/>
                <a:cs typeface="Arial" pitchFamily="34" charset="-120"/>
              </a:rPr>
              <a:t>Kesimpulan: SEBAGIAN tercapai (jumlah penguji kurang).</a:t>
            </a:r>
            <a:endParaRPr lang="en-US" sz="800" dirty="0"/>
          </a:p>
        </p:txBody>
      </p:sp>
      <p:sp>
        <p:nvSpPr>
          <p:cNvPr id="74" name="Shape 63"/>
          <p:cNvSpPr/>
          <p:nvPr/>
        </p:nvSpPr>
        <p:spPr>
          <a:xfrm>
            <a:off x="1527048" y="2849506"/>
            <a:ext cx="3072384" cy="781304"/>
          </a:xfrm>
          <a:prstGeom prst="roundRect">
            <a:avLst>
              <a:gd name="adj" fmla="val 5852"/>
            </a:avLst>
          </a:prstGeom>
          <a:solidFill>
            <a:srgbClr val="FFFFFF">
              <a:alpha val="0"/>
            </a:srgbClr>
          </a:solidFill>
          <a:ln w="31750">
            <a:solidFill>
              <a:srgbClr val="E53935"/>
            </a:solidFill>
            <a:prstDash val="solid"/>
          </a:ln>
        </p:spPr>
      </p:sp>
      <p:sp>
        <p:nvSpPr>
          <p:cNvPr id="75" name="Shape 64"/>
          <p:cNvSpPr/>
          <p:nvPr/>
        </p:nvSpPr>
        <p:spPr>
          <a:xfrm>
            <a:off x="4462272" y="2712346"/>
            <a:ext cx="274320" cy="274320"/>
          </a:xfrm>
          <a:prstGeom prst="ellipse">
            <a:avLst/>
          </a:prstGeom>
          <a:solidFill>
            <a:srgbClr val="E53935"/>
          </a:solidFill>
          <a:ln w="12700">
            <a:solidFill>
              <a:srgbClr val="FFFFFF"/>
            </a:solidFill>
            <a:prstDash val="solid"/>
          </a:ln>
        </p:spPr>
      </p:sp>
      <p:sp>
        <p:nvSpPr>
          <p:cNvPr id="76" name="Text 65"/>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77" name="Image 9" descr="preencoded.png">    </p:cNvPr>
          <p:cNvPicPr>
            <a:picLocks noChangeAspect="1"/>
          </p:cNvPicPr>
          <p:nvPr/>
        </p:nvPicPr>
        <p:blipFill>
          <a:blip r:embed="rId10"/>
          <a:stretch>
            <a:fillRect/>
          </a:stretch>
        </p:blipFill>
        <p:spPr>
          <a:xfrm>
            <a:off x="3214116" y="3276480"/>
            <a:ext cx="237744" cy="237744"/>
          </a:xfrm>
          <a:prstGeom prst="rect">
            <a:avLst/>
          </a:prstGeom>
        </p:spPr>
      </p:pic>
      <p:sp>
        <p:nvSpPr>
          <p:cNvPr id="78" name="Text 6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79" name="Text 6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Evaluasi ukuran berhasil</a:t>
            </a:r>
            <a:endParaRPr lang="en-US" sz="1800" dirty="0"/>
          </a:p>
        </p:txBody>
      </p:sp>
      <p:sp>
        <p:nvSpPr>
          <p:cNvPr id="80" name="Text 6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ukuran berhasil di proposal. Ukur dengan data latihan dan hasil uji: tercapai, sebagian, atau belum? Tulis alasannya.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Menuntaskan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12: Proyek Akhir Kelas IX · Pertemuan 34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Setoran Harian v1.1</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https://santri-wu-kel3.github.io/setoran-harian/</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606064" y="1695965"/>
            <a:ext cx="4914351" cy="2281131"/>
          </a:xfrm>
          <a:prstGeom prst="rect">
            <a:avLst/>
          </a:prstGeom>
          <a:solidFill>
            <a:srgbClr val="F3F8F5"/>
          </a:solidFill>
          <a:ln w="12700">
            <a:solidFill>
              <a:srgbClr val="F3F8F5"/>
            </a:solidFill>
            <a:prstDash val="solid"/>
          </a:ln>
        </p:spPr>
      </p:sp>
      <p:sp>
        <p:nvSpPr>
          <p:cNvPr id="30" name="Shape 23"/>
          <p:cNvSpPr/>
          <p:nvPr/>
        </p:nvSpPr>
        <p:spPr>
          <a:xfrm>
            <a:off x="606064" y="1695965"/>
            <a:ext cx="4914351" cy="411480"/>
          </a:xfrm>
          <a:prstGeom prst="rect">
            <a:avLst/>
          </a:prstGeom>
          <a:solidFill>
            <a:srgbClr val="0F4C3A"/>
          </a:solidFill>
          <a:ln w="12700">
            <a:solidFill>
              <a:srgbClr val="0F4C3A"/>
            </a:solidFill>
            <a:prstDash val="solid"/>
          </a:ln>
        </p:spPr>
      </p:sp>
      <p:pic>
        <p:nvPicPr>
          <p:cNvPr id="31" name="Image 5" descr="/home/claude/logo.png">    </p:cNvPr>
          <p:cNvPicPr>
            <a:picLocks noChangeAspect="1"/>
          </p:cNvPicPr>
          <p:nvPr/>
        </p:nvPicPr>
        <p:blipFill>
          <a:blip r:embed="rId6"/>
          <a:stretch>
            <a:fillRect/>
          </a:stretch>
        </p:blipFill>
        <p:spPr>
          <a:xfrm>
            <a:off x="660928" y="1741685"/>
            <a:ext cx="320040" cy="320040"/>
          </a:xfrm>
          <a:prstGeom prst="rect">
            <a:avLst/>
          </a:prstGeom>
        </p:spPr>
      </p:pic>
      <p:sp>
        <p:nvSpPr>
          <p:cNvPr id="32" name="Text 24"/>
          <p:cNvSpPr txBox="1"/>
          <p:nvPr/>
        </p:nvSpPr>
        <p:spPr>
          <a:xfrm>
            <a:off x="606064" y="1695965"/>
            <a:ext cx="4914351"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Setoran Harian v1.1</a:t>
            </a:r>
            <a:endParaRPr lang="en-US" sz="1100" dirty="0"/>
          </a:p>
        </p:txBody>
      </p:sp>
      <p:sp>
        <p:nvSpPr>
          <p:cNvPr id="33" name="Shape 25"/>
          <p:cNvSpPr/>
          <p:nvPr/>
        </p:nvSpPr>
        <p:spPr>
          <a:xfrm>
            <a:off x="697504" y="2198885"/>
            <a:ext cx="2320016" cy="1412451"/>
          </a:xfrm>
          <a:prstGeom prst="roundRect">
            <a:avLst>
              <a:gd name="adj" fmla="val 3884"/>
            </a:avLst>
          </a:prstGeom>
          <a:solidFill>
            <a:srgbClr val="FFFFFF"/>
          </a:solidFill>
          <a:ln w="6350">
            <a:solidFill>
              <a:srgbClr val="DDDDDD"/>
            </a:solidFill>
            <a:prstDash val="solid"/>
          </a:ln>
        </p:spPr>
      </p:sp>
      <p:sp>
        <p:nvSpPr>
          <p:cNvPr id="34" name="Text 26"/>
          <p:cNvSpPr txBox="1"/>
          <p:nvPr/>
        </p:nvSpPr>
        <p:spPr>
          <a:xfrm>
            <a:off x="770656" y="2226317"/>
            <a:ext cx="2320016" cy="201168"/>
          </a:xfrm>
          <a:prstGeom prst="rect">
            <a:avLst/>
          </a:prstGeom>
          <a:noFill/>
          <a:ln/>
        </p:spPr>
        <p:txBody>
          <a:bodyPr wrap="square" lIns="0" tIns="0" rIns="0" bIns="0" rtlCol="0" anchor="t"/>
          <a:lstStyle/>
          <a:p>
            <a:pPr indent="0" marL="0">
              <a:buNone/>
            </a:pPr>
            <a:r>
              <a:rPr lang="en-US" sz="800" b="1" dirty="0">
                <a:solidFill>
                  <a:srgbClr val="1F7A5C"/>
                </a:solidFill>
                <a:latin typeface="Arial" pitchFamily="34" charset="0"/>
                <a:ea typeface="Arial" pitchFamily="34" charset="-122"/>
                <a:cs typeface="Arial" pitchFamily="34" charset="-120"/>
              </a:rPr>
              <a:t>Simpan Setoran</a:t>
            </a:r>
            <a:endParaRPr lang="en-US" sz="800" dirty="0"/>
          </a:p>
        </p:txBody>
      </p:sp>
      <p:sp>
        <p:nvSpPr>
          <p:cNvPr id="35" name="Shape 27"/>
          <p:cNvSpPr/>
          <p:nvPr/>
        </p:nvSpPr>
        <p:spPr>
          <a:xfrm>
            <a:off x="3108960" y="2198885"/>
            <a:ext cx="2320016" cy="1412451"/>
          </a:xfrm>
          <a:prstGeom prst="roundRect">
            <a:avLst>
              <a:gd name="adj" fmla="val 3884"/>
            </a:avLst>
          </a:prstGeom>
          <a:solidFill>
            <a:srgbClr val="FFFFFF"/>
          </a:solidFill>
          <a:ln w="6350">
            <a:solidFill>
              <a:srgbClr val="DDDDDD"/>
            </a:solidFill>
            <a:prstDash val="solid"/>
          </a:ln>
        </p:spPr>
      </p:sp>
      <p:sp>
        <p:nvSpPr>
          <p:cNvPr id="36" name="Text 28"/>
          <p:cNvSpPr txBox="1"/>
          <p:nvPr/>
        </p:nvSpPr>
        <p:spPr>
          <a:xfrm>
            <a:off x="3182112" y="2226317"/>
            <a:ext cx="2320016" cy="201168"/>
          </a:xfrm>
          <a:prstGeom prst="rect">
            <a:avLst/>
          </a:prstGeom>
          <a:noFill/>
          <a:ln/>
        </p:spPr>
        <p:txBody>
          <a:bodyPr wrap="square" lIns="0" tIns="0" rIns="0" bIns="0" rtlCol="0" anchor="t"/>
          <a:lstStyle/>
          <a:p>
            <a:pPr indent="0" marL="0">
              <a:buNone/>
            </a:pPr>
            <a:r>
              <a:rPr lang="en-US" sz="800" b="1" dirty="0">
                <a:solidFill>
                  <a:srgbClr val="1F7A5C"/>
                </a:solidFill>
                <a:latin typeface="Arial" pitchFamily="34" charset="0"/>
                <a:ea typeface="Arial" pitchFamily="34" charset="-122"/>
                <a:cs typeface="Arial" pitchFamily="34" charset="-120"/>
              </a:rPr>
              <a:t>Capaian Pekan Ini</a:t>
            </a:r>
            <a:endParaRPr lang="en-US" sz="800" dirty="0"/>
          </a:p>
        </p:txBody>
      </p:sp>
      <p:sp>
        <p:nvSpPr>
          <p:cNvPr id="37" name="Shape 29"/>
          <p:cNvSpPr/>
          <p:nvPr/>
        </p:nvSpPr>
        <p:spPr>
          <a:xfrm>
            <a:off x="3108960" y="2473205"/>
            <a:ext cx="2228576" cy="1092411"/>
          </a:xfrm>
          <a:prstGeom prst="roundRect">
            <a:avLst>
              <a:gd name="adj" fmla="val 2511"/>
            </a:avLst>
          </a:prstGeom>
          <a:solidFill>
            <a:srgbClr val="FFFFFF"/>
          </a:solidFill>
          <a:ln w="9525">
            <a:solidFill>
              <a:srgbClr val="DDDDDD"/>
            </a:solidFill>
            <a:prstDash val="solid"/>
          </a:ln>
        </p:spPr>
      </p:sp>
      <p:sp>
        <p:nvSpPr>
          <p:cNvPr id="38" name="Text 30"/>
          <p:cNvSpPr txBox="1"/>
          <p:nvPr/>
        </p:nvSpPr>
        <p:spPr>
          <a:xfrm>
            <a:off x="3108960" y="2491493"/>
            <a:ext cx="2228576" cy="146304"/>
          </a:xfrm>
          <a:prstGeom prst="rect">
            <a:avLst/>
          </a:prstGeom>
          <a:noFill/>
          <a:ln/>
        </p:spPr>
        <p:txBody>
          <a:bodyPr wrap="square" lIns="0" tIns="0" rIns="0" bIns="0" rtlCol="0" anchor="t"/>
          <a:lstStyle/>
          <a:p>
            <a:pPr algn="ctr" indent="0" marL="0">
              <a:buNone/>
            </a:pPr>
            <a:endParaRPr lang="en-US" sz="650" dirty="0"/>
          </a:p>
        </p:txBody>
      </p:sp>
      <p:sp>
        <p:nvSpPr>
          <p:cNvPr id="39" name="Shape 31"/>
          <p:cNvSpPr/>
          <p:nvPr/>
        </p:nvSpPr>
        <p:spPr>
          <a:xfrm>
            <a:off x="3346119" y="3136304"/>
            <a:ext cx="466661" cy="246432"/>
          </a:xfrm>
          <a:prstGeom prst="rect">
            <a:avLst/>
          </a:prstGeom>
          <a:solidFill>
            <a:srgbClr val="1F7A5C"/>
          </a:solidFill>
          <a:ln w="12700">
            <a:solidFill>
              <a:srgbClr val="1F7A5C"/>
            </a:solidFill>
            <a:prstDash val="solid"/>
          </a:ln>
        </p:spPr>
      </p:sp>
      <p:sp>
        <p:nvSpPr>
          <p:cNvPr id="40" name="Text 32"/>
          <p:cNvSpPr txBox="1"/>
          <p:nvPr/>
        </p:nvSpPr>
        <p:spPr>
          <a:xfrm>
            <a:off x="3200400" y="3391880"/>
            <a:ext cx="758099"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S001</a:t>
            </a:r>
            <a:endParaRPr lang="en-US" sz="500" dirty="0"/>
          </a:p>
        </p:txBody>
      </p:sp>
      <p:sp>
        <p:nvSpPr>
          <p:cNvPr id="41" name="Shape 33"/>
          <p:cNvSpPr/>
          <p:nvPr/>
        </p:nvSpPr>
        <p:spPr>
          <a:xfrm>
            <a:off x="4012777" y="2701805"/>
            <a:ext cx="466661" cy="680931"/>
          </a:xfrm>
          <a:prstGeom prst="rect">
            <a:avLst/>
          </a:prstGeom>
          <a:solidFill>
            <a:srgbClr val="D4A017"/>
          </a:solidFill>
          <a:ln w="12700">
            <a:solidFill>
              <a:srgbClr val="D4A017"/>
            </a:solidFill>
            <a:prstDash val="solid"/>
          </a:ln>
        </p:spPr>
      </p:sp>
      <p:sp>
        <p:nvSpPr>
          <p:cNvPr id="42" name="Text 34"/>
          <p:cNvSpPr txBox="1"/>
          <p:nvPr/>
        </p:nvSpPr>
        <p:spPr>
          <a:xfrm>
            <a:off x="3867059" y="3391880"/>
            <a:ext cx="758099"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S003</a:t>
            </a:r>
            <a:endParaRPr lang="en-US" sz="500" dirty="0"/>
          </a:p>
        </p:txBody>
      </p:sp>
      <p:sp>
        <p:nvSpPr>
          <p:cNvPr id="43" name="Shape 35"/>
          <p:cNvSpPr/>
          <p:nvPr/>
        </p:nvSpPr>
        <p:spPr>
          <a:xfrm>
            <a:off x="4679436" y="2967692"/>
            <a:ext cx="466661" cy="415044"/>
          </a:xfrm>
          <a:prstGeom prst="rect">
            <a:avLst/>
          </a:prstGeom>
          <a:solidFill>
            <a:srgbClr val="1F7A5C"/>
          </a:solidFill>
          <a:ln w="12700">
            <a:solidFill>
              <a:srgbClr val="1F7A5C"/>
            </a:solidFill>
            <a:prstDash val="solid"/>
          </a:ln>
        </p:spPr>
      </p:sp>
      <p:sp>
        <p:nvSpPr>
          <p:cNvPr id="44" name="Text 36"/>
          <p:cNvSpPr txBox="1"/>
          <p:nvPr/>
        </p:nvSpPr>
        <p:spPr>
          <a:xfrm>
            <a:off x="4533717" y="3391880"/>
            <a:ext cx="758099"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S004</a:t>
            </a:r>
            <a:endParaRPr lang="en-US" sz="500" dirty="0"/>
          </a:p>
        </p:txBody>
      </p:sp>
      <p:sp>
        <p:nvSpPr>
          <p:cNvPr id="45" name="Shape 37"/>
          <p:cNvSpPr/>
          <p:nvPr/>
        </p:nvSpPr>
        <p:spPr>
          <a:xfrm>
            <a:off x="3218688" y="3382736"/>
            <a:ext cx="2045696" cy="0"/>
          </a:xfrm>
          <a:prstGeom prst="line">
            <a:avLst/>
          </a:prstGeom>
          <a:noFill/>
          <a:ln w="6350">
            <a:solidFill>
              <a:srgbClr val="888888"/>
            </a:solidFill>
            <a:prstDash val="solid"/>
          </a:ln>
        </p:spPr>
      </p:sp>
      <p:sp>
        <p:nvSpPr>
          <p:cNvPr id="46" name="Shape 38"/>
          <p:cNvSpPr/>
          <p:nvPr/>
        </p:nvSpPr>
        <p:spPr>
          <a:xfrm>
            <a:off x="770656" y="2518925"/>
            <a:ext cx="2173712" cy="182880"/>
          </a:xfrm>
          <a:prstGeom prst="rect">
            <a:avLst/>
          </a:prstGeom>
          <a:solidFill>
            <a:srgbClr val="FFFFFF"/>
          </a:solidFill>
          <a:ln w="6350">
            <a:solidFill>
              <a:srgbClr val="999999"/>
            </a:solidFill>
            <a:prstDash val="solid"/>
          </a:ln>
        </p:spPr>
      </p:sp>
      <p:sp>
        <p:nvSpPr>
          <p:cNvPr id="47" name="Shape 39"/>
          <p:cNvSpPr/>
          <p:nvPr/>
        </p:nvSpPr>
        <p:spPr>
          <a:xfrm>
            <a:off x="770656" y="2774957"/>
            <a:ext cx="2173712" cy="182880"/>
          </a:xfrm>
          <a:prstGeom prst="rect">
            <a:avLst/>
          </a:prstGeom>
          <a:solidFill>
            <a:srgbClr val="FFFFFF"/>
          </a:solidFill>
          <a:ln w="6350">
            <a:solidFill>
              <a:srgbClr val="999999"/>
            </a:solidFill>
            <a:prstDash val="solid"/>
          </a:ln>
        </p:spPr>
      </p:sp>
      <p:sp>
        <p:nvSpPr>
          <p:cNvPr id="48" name="Shape 40"/>
          <p:cNvSpPr/>
          <p:nvPr/>
        </p:nvSpPr>
        <p:spPr>
          <a:xfrm>
            <a:off x="770656" y="3067565"/>
            <a:ext cx="2173712" cy="237744"/>
          </a:xfrm>
          <a:prstGeom prst="roundRect">
            <a:avLst>
              <a:gd name="adj" fmla="val 50000"/>
            </a:avLst>
          </a:prstGeom>
          <a:solidFill>
            <a:srgbClr val="D4A017"/>
          </a:solidFill>
          <a:ln w="12700">
            <a:solidFill>
              <a:srgbClr val="D4A017"/>
            </a:solidFill>
            <a:prstDash val="solid"/>
          </a:ln>
        </p:spPr>
      </p:sp>
      <p:sp>
        <p:nvSpPr>
          <p:cNvPr id="49" name="Text 41"/>
          <p:cNvSpPr txBox="1"/>
          <p:nvPr/>
        </p:nvSpPr>
        <p:spPr>
          <a:xfrm>
            <a:off x="606064" y="3702776"/>
            <a:ext cx="4914351" cy="228600"/>
          </a:xfrm>
          <a:prstGeom prst="rect">
            <a:avLst/>
          </a:prstGeom>
          <a:noFill/>
          <a:ln/>
        </p:spPr>
        <p:txBody>
          <a:bodyPr wrap="square" lIns="0" tIns="0" rIns="0" bIns="0" rtlCol="0" anchor="t"/>
          <a:lstStyle/>
          <a:p>
            <a:pPr algn="ctr" indent="0" marL="0">
              <a:buNone/>
            </a:pPr>
            <a:r>
              <a:rPr lang="en-US" sz="650" u="sng" dirty="0">
                <a:solidFill>
                  <a:srgbClr val="0969DA"/>
                </a:solidFill>
                <a:latin typeface="Arial" pitchFamily="34" charset="0"/>
                <a:ea typeface="Arial" pitchFamily="34" charset="-122"/>
                <a:cs typeface="Arial" pitchFamily="34" charset="-120"/>
              </a:rPr>
              <a:t>Cara Pakai · Laporkan Masalah · v1.1.0</a:t>
            </a:r>
            <a:endParaRPr lang="en-US" sz="650" dirty="0"/>
          </a:p>
        </p:txBody>
      </p:sp>
      <p:sp>
        <p:nvSpPr>
          <p:cNvPr id="50" name="Shape 42"/>
          <p:cNvSpPr/>
          <p:nvPr/>
        </p:nvSpPr>
        <p:spPr>
          <a:xfrm>
            <a:off x="3044952" y="2134877"/>
            <a:ext cx="2448032" cy="1540467"/>
          </a:xfrm>
          <a:prstGeom prst="roundRect">
            <a:avLst>
              <a:gd name="adj" fmla="val 2968"/>
            </a:avLst>
          </a:prstGeom>
          <a:solidFill>
            <a:srgbClr val="FFFFFF">
              <a:alpha val="0"/>
            </a:srgbClr>
          </a:solidFill>
          <a:ln w="31750">
            <a:solidFill>
              <a:srgbClr val="E53935"/>
            </a:solidFill>
            <a:prstDash val="solid"/>
          </a:ln>
        </p:spPr>
      </p:sp>
      <p:sp>
        <p:nvSpPr>
          <p:cNvPr id="51" name="Shape 43"/>
          <p:cNvSpPr/>
          <p:nvPr/>
        </p:nvSpPr>
        <p:spPr>
          <a:xfrm>
            <a:off x="5355824" y="1997717"/>
            <a:ext cx="274320" cy="274320"/>
          </a:xfrm>
          <a:prstGeom prst="ellipse">
            <a:avLst/>
          </a:prstGeom>
          <a:solidFill>
            <a:srgbClr val="E53935"/>
          </a:solidFill>
          <a:ln w="12700">
            <a:solidFill>
              <a:srgbClr val="FFFFFF"/>
            </a:solidFill>
            <a:prstDash val="solid"/>
          </a:ln>
        </p:spPr>
      </p:sp>
      <p:sp>
        <p:nvSpPr>
          <p:cNvPr id="52" name="Text 44"/>
          <p:cNvSpPr txBox="1"/>
          <p:nvPr/>
        </p:nvSpPr>
        <p:spPr>
          <a:xfrm>
            <a:off x="5355824" y="19977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53" name="Image 6" descr="preencoded.png">    </p:cNvPr>
          <p:cNvPicPr>
            <a:picLocks noChangeAspect="1"/>
          </p:cNvPicPr>
          <p:nvPr/>
        </p:nvPicPr>
        <p:blipFill>
          <a:blip r:embed="rId7"/>
          <a:stretch>
            <a:fillRect/>
          </a:stretch>
        </p:blipFill>
        <p:spPr>
          <a:xfrm>
            <a:off x="4389541" y="2980305"/>
            <a:ext cx="237744" cy="237744"/>
          </a:xfrm>
          <a:prstGeom prst="rect">
            <a:avLst/>
          </a:prstGeom>
        </p:spPr>
      </p:pic>
      <p:sp>
        <p:nvSpPr>
          <p:cNvPr id="54" name="Text 4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55" name="Text 4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Tuntaskan 1–2 kekurangan terpenting</a:t>
            </a:r>
            <a:endParaRPr lang="en-US" sz="1800" dirty="0"/>
          </a:p>
        </p:txBody>
      </p:sp>
      <p:sp>
        <p:nvSpPr>
          <p:cNvPr id="56" name="Text 4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Pilih kekurangan yang paling berpengaruh bagi pengguna dan bisa selesai hari ini. Kerjakan dengan siklus: tes → perbaiki → commit → rilis versi baru.</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Laporan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12: Proyek Akhir Kelas IX · Pertemuan 34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Laporan_Proyek_Akhir_Kel3 -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Laporan_Proyek_Akhir_Kel3</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57810"/>
          </a:xfrm>
          <a:prstGeom prst="rect">
            <a:avLst/>
          </a:prstGeom>
          <a:noFill/>
          <a:ln/>
        </p:spPr>
        <p:txBody>
          <a:bodyPr wrap="square" lIns="0" tIns="0" rIns="0" bIns="0" rtlCol="0" anchor="ctr"/>
          <a:lstStyle/>
          <a:p>
            <a:pPr algn="l" indent="0" marL="0">
              <a:buNone/>
            </a:pPr>
            <a:r>
              <a:rPr lang="en-US" sz="1400" b="1" dirty="0">
                <a:solidFill>
                  <a:srgbClr val="1E2A26"/>
                </a:solidFill>
                <a:latin typeface="Arial" pitchFamily="34" charset="0"/>
                <a:ea typeface="Arial" pitchFamily="34" charset="-122"/>
                <a:cs typeface="Arial" pitchFamily="34" charset="-120"/>
              </a:rPr>
              <a:t>Setoran Harian: Laporan Proyek Akhir</a:t>
            </a:r>
            <a:endParaRPr lang="en-US" sz="1400" dirty="0"/>
          </a:p>
        </p:txBody>
      </p:sp>
      <p:sp>
        <p:nvSpPr>
          <p:cNvPr id="70" name="Text 59"/>
          <p:cNvSpPr txBox="1"/>
          <p:nvPr/>
        </p:nvSpPr>
        <p:spPr>
          <a:xfrm>
            <a:off x="1554480" y="293218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1. Latar Belakang</a:t>
            </a:r>
            <a:endParaRPr lang="en-US" sz="1100" dirty="0"/>
          </a:p>
        </p:txBody>
      </p:sp>
      <p:sp>
        <p:nvSpPr>
          <p:cNvPr id="71" name="Text 60"/>
          <p:cNvSpPr txBox="1"/>
          <p:nvPr/>
        </p:nvSpPr>
        <p:spPr>
          <a:xfrm>
            <a:off x="1554480" y="3180468"/>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2. Pengguna</a:t>
            </a:r>
            <a:endParaRPr lang="en-US" sz="1100" dirty="0"/>
          </a:p>
        </p:txBody>
      </p:sp>
      <p:sp>
        <p:nvSpPr>
          <p:cNvPr id="72" name="Text 61"/>
          <p:cNvSpPr txBox="1"/>
          <p:nvPr/>
        </p:nvSpPr>
        <p:spPr>
          <a:xfrm>
            <a:off x="1554480" y="34287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3. Solusi dan Fitur</a:t>
            </a:r>
            <a:endParaRPr lang="en-US" sz="1100" dirty="0"/>
          </a:p>
        </p:txBody>
      </p:sp>
      <p:sp>
        <p:nvSpPr>
          <p:cNvPr id="73" name="Text 62"/>
          <p:cNvSpPr txBox="1"/>
          <p:nvPr/>
        </p:nvSpPr>
        <p:spPr>
          <a:xfrm>
            <a:off x="1554480" y="3677038"/>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4. Rancangan</a:t>
            </a:r>
            <a:endParaRPr lang="en-US" sz="1100" dirty="0"/>
          </a:p>
        </p:txBody>
      </p:sp>
      <p:sp>
        <p:nvSpPr>
          <p:cNvPr id="74" name="Text 63"/>
          <p:cNvSpPr txBox="1"/>
          <p:nvPr/>
        </p:nvSpPr>
        <p:spPr>
          <a:xfrm>
            <a:off x="1554480" y="392532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5. Pembangunan</a:t>
            </a:r>
            <a:endParaRPr lang="en-US" sz="1100" dirty="0"/>
          </a:p>
        </p:txBody>
      </p:sp>
      <p:sp>
        <p:nvSpPr>
          <p:cNvPr id="75" name="Shape 64"/>
          <p:cNvSpPr/>
          <p:nvPr/>
        </p:nvSpPr>
        <p:spPr>
          <a:xfrm>
            <a:off x="1527048" y="2904751"/>
            <a:ext cx="3072384" cy="1250569"/>
          </a:xfrm>
          <a:prstGeom prst="roundRect">
            <a:avLst>
              <a:gd name="adj" fmla="val 3656"/>
            </a:avLst>
          </a:prstGeom>
          <a:solidFill>
            <a:srgbClr val="FFFFFF">
              <a:alpha val="0"/>
            </a:srgbClr>
          </a:solidFill>
          <a:ln w="31750">
            <a:solidFill>
              <a:srgbClr val="E53935"/>
            </a:solidFill>
            <a:prstDash val="solid"/>
          </a:ln>
        </p:spPr>
      </p:sp>
      <p:sp>
        <p:nvSpPr>
          <p:cNvPr id="76" name="Shape 65"/>
          <p:cNvSpPr/>
          <p:nvPr/>
        </p:nvSpPr>
        <p:spPr>
          <a:xfrm>
            <a:off x="4462272" y="2767591"/>
            <a:ext cx="274320" cy="274320"/>
          </a:xfrm>
          <a:prstGeom prst="ellipse">
            <a:avLst/>
          </a:prstGeom>
          <a:solidFill>
            <a:srgbClr val="E53935"/>
          </a:solidFill>
          <a:ln w="12700">
            <a:solidFill>
              <a:srgbClr val="FFFFFF"/>
            </a:solidFill>
            <a:prstDash val="solid"/>
          </a:ln>
        </p:spPr>
      </p:sp>
      <p:sp>
        <p:nvSpPr>
          <p:cNvPr id="77" name="Text 66"/>
          <p:cNvSpPr txBox="1"/>
          <p:nvPr/>
        </p:nvSpPr>
        <p:spPr>
          <a:xfrm>
            <a:off x="4462272" y="276759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78" name="Image 9" descr="preencoded.png">    </p:cNvPr>
          <p:cNvPicPr>
            <a:picLocks noChangeAspect="1"/>
          </p:cNvPicPr>
          <p:nvPr/>
        </p:nvPicPr>
        <p:blipFill>
          <a:blip r:embed="rId10"/>
          <a:stretch>
            <a:fillRect/>
          </a:stretch>
        </p:blipFill>
        <p:spPr>
          <a:xfrm>
            <a:off x="3214116" y="3589821"/>
            <a:ext cx="237744" cy="237744"/>
          </a:xfrm>
          <a:prstGeom prst="rect">
            <a:avLst/>
          </a:prstGeom>
        </p:spPr>
      </p:pic>
      <p:sp>
        <p:nvSpPr>
          <p:cNvPr id="79" name="Text 6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80" name="Text 6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Buat dokumen Laporan Proyek, bagi tugas</a:t>
            </a:r>
            <a:endParaRPr lang="en-US" sz="1800" dirty="0"/>
          </a:p>
        </p:txBody>
      </p:sp>
      <p:sp>
        <p:nvSpPr>
          <p:cNvPr id="81" name="Text 6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Docs: Laporan_Proyek_Akhir_KelN dengan 8 Heading 1. Setiap anggota menulis 2 bagian. Gunakan bahan dari dokumen sebelumnya.</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Laporan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12: Proyek Akhir Kelas IX · Pertemuan 34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Laporan_Proyek_Akhir_Kel3 -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Laporan_Proyek_Akhir_Kel3</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7. Peran AI</a:t>
            </a:r>
            <a:endParaRPr lang="en-US" sz="1100" dirty="0"/>
          </a:p>
        </p:txBody>
      </p:sp>
      <p:sp>
        <p:nvSpPr>
          <p:cNvPr id="70" name="Shape 59"/>
          <p:cNvSpPr/>
          <p:nvPr/>
        </p:nvSpPr>
        <p:spPr>
          <a:xfrm>
            <a:off x="1554480" y="2876938"/>
            <a:ext cx="1005840" cy="182880"/>
          </a:xfrm>
          <a:prstGeom prst="rect">
            <a:avLst/>
          </a:prstGeom>
          <a:solidFill>
            <a:srgbClr val="D9EAD3"/>
          </a:solidFill>
          <a:ln w="6350">
            <a:solidFill>
              <a:srgbClr val="777777"/>
            </a:solidFill>
            <a:prstDash val="solid"/>
          </a:ln>
        </p:spPr>
      </p:sp>
      <p:sp>
        <p:nvSpPr>
          <p:cNvPr id="71" name="Text 60"/>
          <p:cNvSpPr txBox="1"/>
          <p:nvPr/>
        </p:nvSpPr>
        <p:spPr>
          <a:xfrm>
            <a:off x="158191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Tahap</a:t>
            </a:r>
            <a:endParaRPr lang="en-US" sz="650" dirty="0"/>
          </a:p>
        </p:txBody>
      </p:sp>
      <p:sp>
        <p:nvSpPr>
          <p:cNvPr id="72" name="Shape 61"/>
          <p:cNvSpPr/>
          <p:nvPr/>
        </p:nvSpPr>
        <p:spPr>
          <a:xfrm>
            <a:off x="2560320" y="2876938"/>
            <a:ext cx="1005840" cy="182880"/>
          </a:xfrm>
          <a:prstGeom prst="rect">
            <a:avLst/>
          </a:prstGeom>
          <a:solidFill>
            <a:srgbClr val="D9EAD3"/>
          </a:solidFill>
          <a:ln w="6350">
            <a:solidFill>
              <a:srgbClr val="777777"/>
            </a:solidFill>
            <a:prstDash val="solid"/>
          </a:ln>
        </p:spPr>
      </p:sp>
      <p:sp>
        <p:nvSpPr>
          <p:cNvPr id="73" name="Text 62"/>
          <p:cNvSpPr txBox="1"/>
          <p:nvPr/>
        </p:nvSpPr>
        <p:spPr>
          <a:xfrm>
            <a:off x="258775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Bantuan AI</a:t>
            </a:r>
            <a:endParaRPr lang="en-US" sz="650" dirty="0"/>
          </a:p>
        </p:txBody>
      </p:sp>
      <p:sp>
        <p:nvSpPr>
          <p:cNvPr id="74" name="Shape 63"/>
          <p:cNvSpPr/>
          <p:nvPr/>
        </p:nvSpPr>
        <p:spPr>
          <a:xfrm>
            <a:off x="3566160" y="2876938"/>
            <a:ext cx="1005840" cy="182880"/>
          </a:xfrm>
          <a:prstGeom prst="rect">
            <a:avLst/>
          </a:prstGeom>
          <a:solidFill>
            <a:srgbClr val="D9EAD3"/>
          </a:solidFill>
          <a:ln w="6350">
            <a:solidFill>
              <a:srgbClr val="777777"/>
            </a:solidFill>
            <a:prstDash val="solid"/>
          </a:ln>
        </p:spPr>
      </p:sp>
      <p:sp>
        <p:nvSpPr>
          <p:cNvPr id="75" name="Text 64"/>
          <p:cNvSpPr txBox="1"/>
          <p:nvPr/>
        </p:nvSpPr>
        <p:spPr>
          <a:xfrm>
            <a:off x="359359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Sendiri</a:t>
            </a:r>
            <a:endParaRPr lang="en-US" sz="650" dirty="0"/>
          </a:p>
        </p:txBody>
      </p:sp>
      <p:sp>
        <p:nvSpPr>
          <p:cNvPr id="76" name="Shape 65"/>
          <p:cNvSpPr/>
          <p:nvPr/>
        </p:nvSpPr>
        <p:spPr>
          <a:xfrm>
            <a:off x="1554480" y="3059818"/>
            <a:ext cx="1005840" cy="182880"/>
          </a:xfrm>
          <a:prstGeom prst="rect">
            <a:avLst/>
          </a:prstGeom>
          <a:solidFill>
            <a:srgbClr val="FFFFFF"/>
          </a:solidFill>
          <a:ln w="6350">
            <a:solidFill>
              <a:srgbClr val="777777"/>
            </a:solidFill>
            <a:prstDash val="solid"/>
          </a:ln>
        </p:spPr>
      </p:sp>
      <p:sp>
        <p:nvSpPr>
          <p:cNvPr id="77" name="Text 66"/>
          <p:cNvSpPr txBox="1"/>
          <p:nvPr/>
        </p:nvSpPr>
        <p:spPr>
          <a:xfrm>
            <a:off x="158191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Rancangan</a:t>
            </a:r>
            <a:endParaRPr lang="en-US" sz="650" dirty="0"/>
          </a:p>
        </p:txBody>
      </p:sp>
      <p:sp>
        <p:nvSpPr>
          <p:cNvPr id="78" name="Shape 67"/>
          <p:cNvSpPr/>
          <p:nvPr/>
        </p:nvSpPr>
        <p:spPr>
          <a:xfrm>
            <a:off x="2560320" y="3059818"/>
            <a:ext cx="1005840" cy="182880"/>
          </a:xfrm>
          <a:prstGeom prst="rect">
            <a:avLst/>
          </a:prstGeom>
          <a:solidFill>
            <a:srgbClr val="FFFFFF"/>
          </a:solidFill>
          <a:ln w="6350">
            <a:solidFill>
              <a:srgbClr val="777777"/>
            </a:solidFill>
            <a:prstDash val="solid"/>
          </a:ln>
        </p:spPr>
      </p:sp>
      <p:sp>
        <p:nvSpPr>
          <p:cNvPr id="79" name="Text 68"/>
          <p:cNvSpPr txBox="1"/>
          <p:nvPr/>
        </p:nvSpPr>
        <p:spPr>
          <a:xfrm>
            <a:off x="258775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Saran fitur</a:t>
            </a:r>
            <a:endParaRPr lang="en-US" sz="650" dirty="0"/>
          </a:p>
        </p:txBody>
      </p:sp>
      <p:sp>
        <p:nvSpPr>
          <p:cNvPr id="80" name="Shape 69"/>
          <p:cNvSpPr/>
          <p:nvPr/>
        </p:nvSpPr>
        <p:spPr>
          <a:xfrm>
            <a:off x="3566160" y="3059818"/>
            <a:ext cx="1005840" cy="182880"/>
          </a:xfrm>
          <a:prstGeom prst="rect">
            <a:avLst/>
          </a:prstGeom>
          <a:solidFill>
            <a:srgbClr val="FFFFFF"/>
          </a:solidFill>
          <a:ln w="6350">
            <a:solidFill>
              <a:srgbClr val="777777"/>
            </a:solidFill>
            <a:prstDash val="solid"/>
          </a:ln>
        </p:spPr>
      </p:sp>
      <p:sp>
        <p:nvSpPr>
          <p:cNvPr id="81" name="Text 70"/>
          <p:cNvSpPr txBox="1"/>
          <p:nvPr/>
        </p:nvSpPr>
        <p:spPr>
          <a:xfrm>
            <a:off x="359359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Wawancara, sketsa</a:t>
            </a:r>
            <a:endParaRPr lang="en-US" sz="650" dirty="0"/>
          </a:p>
        </p:txBody>
      </p:sp>
      <p:sp>
        <p:nvSpPr>
          <p:cNvPr id="82" name="Shape 71"/>
          <p:cNvSpPr/>
          <p:nvPr/>
        </p:nvSpPr>
        <p:spPr>
          <a:xfrm>
            <a:off x="1554480" y="3242698"/>
            <a:ext cx="1005840" cy="182880"/>
          </a:xfrm>
          <a:prstGeom prst="rect">
            <a:avLst/>
          </a:prstGeom>
          <a:solidFill>
            <a:srgbClr val="FFFFFF"/>
          </a:solidFill>
          <a:ln w="6350">
            <a:solidFill>
              <a:srgbClr val="777777"/>
            </a:solidFill>
            <a:prstDash val="solid"/>
          </a:ln>
        </p:spPr>
      </p:sp>
      <p:sp>
        <p:nvSpPr>
          <p:cNvPr id="83" name="Text 72"/>
          <p:cNvSpPr txBox="1"/>
          <p:nvPr/>
        </p:nvSpPr>
        <p:spPr>
          <a:xfrm>
            <a:off x="158191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Kode</a:t>
            </a:r>
            <a:endParaRPr lang="en-US" sz="650" dirty="0"/>
          </a:p>
        </p:txBody>
      </p:sp>
      <p:sp>
        <p:nvSpPr>
          <p:cNvPr id="84" name="Shape 73"/>
          <p:cNvSpPr/>
          <p:nvPr/>
        </p:nvSpPr>
        <p:spPr>
          <a:xfrm>
            <a:off x="2560320" y="3242698"/>
            <a:ext cx="1005840" cy="182880"/>
          </a:xfrm>
          <a:prstGeom prst="rect">
            <a:avLst/>
          </a:prstGeom>
          <a:solidFill>
            <a:srgbClr val="FFFFFF"/>
          </a:solidFill>
          <a:ln w="6350">
            <a:solidFill>
              <a:srgbClr val="777777"/>
            </a:solidFill>
            <a:prstDash val="solid"/>
          </a:ln>
        </p:spPr>
      </p:sp>
      <p:sp>
        <p:nvSpPr>
          <p:cNvPr id="85" name="Text 74"/>
          <p:cNvSpPr txBox="1"/>
          <p:nvPr/>
        </p:nvSpPr>
        <p:spPr>
          <a:xfrm>
            <a:off x="258775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Kerangka, cekTotal</a:t>
            </a:r>
            <a:endParaRPr lang="en-US" sz="650" dirty="0"/>
          </a:p>
        </p:txBody>
      </p:sp>
      <p:sp>
        <p:nvSpPr>
          <p:cNvPr id="86" name="Shape 75"/>
          <p:cNvSpPr/>
          <p:nvPr/>
        </p:nvSpPr>
        <p:spPr>
          <a:xfrm>
            <a:off x="3566160" y="3242698"/>
            <a:ext cx="1005840" cy="182880"/>
          </a:xfrm>
          <a:prstGeom prst="rect">
            <a:avLst/>
          </a:prstGeom>
          <a:solidFill>
            <a:srgbClr val="FFFFFF"/>
          </a:solidFill>
          <a:ln w="6350">
            <a:solidFill>
              <a:srgbClr val="777777"/>
            </a:solidFill>
            <a:prstDash val="solid"/>
          </a:ln>
        </p:spPr>
      </p:sp>
      <p:sp>
        <p:nvSpPr>
          <p:cNvPr id="87" name="Text 76"/>
          <p:cNvSpPr txBox="1"/>
          <p:nvPr/>
        </p:nvSpPr>
        <p:spPr>
          <a:xfrm>
            <a:off x="359359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Modifikasi, test case</a:t>
            </a:r>
            <a:endParaRPr lang="en-US" sz="650" dirty="0"/>
          </a:p>
        </p:txBody>
      </p:sp>
      <p:sp>
        <p:nvSpPr>
          <p:cNvPr id="88" name="Shape 77"/>
          <p:cNvSpPr/>
          <p:nvPr/>
        </p:nvSpPr>
        <p:spPr>
          <a:xfrm>
            <a:off x="1554480" y="3425578"/>
            <a:ext cx="1005840" cy="182880"/>
          </a:xfrm>
          <a:prstGeom prst="rect">
            <a:avLst/>
          </a:prstGeom>
          <a:solidFill>
            <a:srgbClr val="FFFFFF"/>
          </a:solidFill>
          <a:ln w="6350">
            <a:solidFill>
              <a:srgbClr val="777777"/>
            </a:solidFill>
            <a:prstDash val="solid"/>
          </a:ln>
        </p:spPr>
      </p:sp>
      <p:sp>
        <p:nvSpPr>
          <p:cNvPr id="89" name="Text 78"/>
          <p:cNvSpPr txBox="1"/>
          <p:nvPr/>
        </p:nvSpPr>
        <p:spPr>
          <a:xfrm>
            <a:off x="158191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Debug</a:t>
            </a:r>
            <a:endParaRPr lang="en-US" sz="650" dirty="0"/>
          </a:p>
        </p:txBody>
      </p:sp>
      <p:sp>
        <p:nvSpPr>
          <p:cNvPr id="90" name="Shape 79"/>
          <p:cNvSpPr/>
          <p:nvPr/>
        </p:nvSpPr>
        <p:spPr>
          <a:xfrm>
            <a:off x="2560320" y="3425578"/>
            <a:ext cx="1005840" cy="182880"/>
          </a:xfrm>
          <a:prstGeom prst="rect">
            <a:avLst/>
          </a:prstGeom>
          <a:solidFill>
            <a:srgbClr val="FFFFFF"/>
          </a:solidFill>
          <a:ln w="6350">
            <a:solidFill>
              <a:srgbClr val="777777"/>
            </a:solidFill>
            <a:prstDash val="solid"/>
          </a:ln>
        </p:spPr>
      </p:sp>
      <p:sp>
        <p:nvSpPr>
          <p:cNvPr id="91" name="Text 80"/>
          <p:cNvSpPr txBox="1"/>
          <p:nvPr/>
        </p:nvSpPr>
        <p:spPr>
          <a:xfrm>
            <a:off x="258775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Penjelasan error</a:t>
            </a:r>
            <a:endParaRPr lang="en-US" sz="650" dirty="0"/>
          </a:p>
        </p:txBody>
      </p:sp>
      <p:sp>
        <p:nvSpPr>
          <p:cNvPr id="92" name="Shape 81"/>
          <p:cNvSpPr/>
          <p:nvPr/>
        </p:nvSpPr>
        <p:spPr>
          <a:xfrm>
            <a:off x="3566160" y="3425578"/>
            <a:ext cx="1005840" cy="182880"/>
          </a:xfrm>
          <a:prstGeom prst="rect">
            <a:avLst/>
          </a:prstGeom>
          <a:solidFill>
            <a:srgbClr val="FFFFFF"/>
          </a:solidFill>
          <a:ln w="6350">
            <a:solidFill>
              <a:srgbClr val="777777"/>
            </a:solidFill>
            <a:prstDash val="solid"/>
          </a:ln>
        </p:spPr>
      </p:sp>
      <p:sp>
        <p:nvSpPr>
          <p:cNvPr id="93" name="Text 82"/>
          <p:cNvSpPr txBox="1"/>
          <p:nvPr/>
        </p:nvSpPr>
        <p:spPr>
          <a:xfrm>
            <a:off x="3593592" y="342557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Perbaikan</a:t>
            </a:r>
            <a:endParaRPr lang="en-US" sz="650" dirty="0"/>
          </a:p>
        </p:txBody>
      </p:sp>
      <p:sp>
        <p:nvSpPr>
          <p:cNvPr id="94" name="Shape 83"/>
          <p:cNvSpPr/>
          <p:nvPr/>
        </p:nvSpPr>
        <p:spPr>
          <a:xfrm>
            <a:off x="1554480" y="3608458"/>
            <a:ext cx="1005840" cy="182880"/>
          </a:xfrm>
          <a:prstGeom prst="rect">
            <a:avLst/>
          </a:prstGeom>
          <a:solidFill>
            <a:srgbClr val="FFFFFF"/>
          </a:solidFill>
          <a:ln w="6350">
            <a:solidFill>
              <a:srgbClr val="777777"/>
            </a:solidFill>
            <a:prstDash val="solid"/>
          </a:ln>
        </p:spPr>
      </p:sp>
      <p:sp>
        <p:nvSpPr>
          <p:cNvPr id="95" name="Text 84"/>
          <p:cNvSpPr txBox="1"/>
          <p:nvPr/>
        </p:nvSpPr>
        <p:spPr>
          <a:xfrm>
            <a:off x="1581912" y="360845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Kesalahan AI</a:t>
            </a:r>
            <a:endParaRPr lang="en-US" sz="650" dirty="0"/>
          </a:p>
        </p:txBody>
      </p:sp>
      <p:sp>
        <p:nvSpPr>
          <p:cNvPr id="96" name="Shape 85"/>
          <p:cNvSpPr/>
          <p:nvPr/>
        </p:nvSpPr>
        <p:spPr>
          <a:xfrm>
            <a:off x="2560320" y="3608458"/>
            <a:ext cx="1005840" cy="182880"/>
          </a:xfrm>
          <a:prstGeom prst="rect">
            <a:avLst/>
          </a:prstGeom>
          <a:solidFill>
            <a:srgbClr val="FFFFFF"/>
          </a:solidFill>
          <a:ln w="6350">
            <a:solidFill>
              <a:srgbClr val="777777"/>
            </a:solidFill>
            <a:prstDash val="solid"/>
          </a:ln>
        </p:spPr>
      </p:sp>
      <p:sp>
        <p:nvSpPr>
          <p:cNvPr id="97" name="Text 86"/>
          <p:cNvSpPr txBox="1"/>
          <p:nvPr/>
        </p:nvSpPr>
        <p:spPr>
          <a:xfrm>
            <a:off x="2587752" y="360845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Lupa kode kosong</a:t>
            </a:r>
            <a:endParaRPr lang="en-US" sz="650" dirty="0"/>
          </a:p>
        </p:txBody>
      </p:sp>
      <p:sp>
        <p:nvSpPr>
          <p:cNvPr id="98" name="Shape 87"/>
          <p:cNvSpPr/>
          <p:nvPr/>
        </p:nvSpPr>
        <p:spPr>
          <a:xfrm>
            <a:off x="3566160" y="3608458"/>
            <a:ext cx="1005840" cy="182880"/>
          </a:xfrm>
          <a:prstGeom prst="rect">
            <a:avLst/>
          </a:prstGeom>
          <a:solidFill>
            <a:srgbClr val="FFFFFF"/>
          </a:solidFill>
          <a:ln w="6350">
            <a:solidFill>
              <a:srgbClr val="777777"/>
            </a:solidFill>
            <a:prstDash val="solid"/>
          </a:ln>
        </p:spPr>
      </p:sp>
      <p:sp>
        <p:nvSpPr>
          <p:cNvPr id="99" name="Text 88"/>
          <p:cNvSpPr txBox="1"/>
          <p:nvPr/>
        </p:nvSpPr>
        <p:spPr>
          <a:xfrm>
            <a:off x="3593592" y="360845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Ditemukan test case</a:t>
            </a:r>
            <a:endParaRPr lang="en-US" sz="650" dirty="0"/>
          </a:p>
        </p:txBody>
      </p:sp>
      <p:sp>
        <p:nvSpPr>
          <p:cNvPr id="100" name="Shape 89"/>
          <p:cNvSpPr/>
          <p:nvPr/>
        </p:nvSpPr>
        <p:spPr>
          <a:xfrm>
            <a:off x="1527048" y="2849506"/>
            <a:ext cx="3072384" cy="969264"/>
          </a:xfrm>
          <a:prstGeom prst="roundRect">
            <a:avLst>
              <a:gd name="adj" fmla="val 4717"/>
            </a:avLst>
          </a:prstGeom>
          <a:solidFill>
            <a:srgbClr val="FFFFFF">
              <a:alpha val="0"/>
            </a:srgbClr>
          </a:solidFill>
          <a:ln w="31750">
            <a:solidFill>
              <a:srgbClr val="E53935"/>
            </a:solidFill>
            <a:prstDash val="solid"/>
          </a:ln>
        </p:spPr>
      </p:sp>
      <p:sp>
        <p:nvSpPr>
          <p:cNvPr id="101" name="Shape 90"/>
          <p:cNvSpPr/>
          <p:nvPr/>
        </p:nvSpPr>
        <p:spPr>
          <a:xfrm>
            <a:off x="4462272" y="2712346"/>
            <a:ext cx="274320" cy="274320"/>
          </a:xfrm>
          <a:prstGeom prst="ellipse">
            <a:avLst/>
          </a:prstGeom>
          <a:solidFill>
            <a:srgbClr val="E53935"/>
          </a:solidFill>
          <a:ln w="12700">
            <a:solidFill>
              <a:srgbClr val="FFFFFF"/>
            </a:solidFill>
            <a:prstDash val="solid"/>
          </a:ln>
        </p:spPr>
      </p:sp>
      <p:sp>
        <p:nvSpPr>
          <p:cNvPr id="102" name="Text 91"/>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103" name="Image 9" descr="preencoded.png">    </p:cNvPr>
          <p:cNvPicPr>
            <a:picLocks noChangeAspect="1"/>
          </p:cNvPicPr>
          <p:nvPr/>
        </p:nvPicPr>
        <p:blipFill>
          <a:blip r:embed="rId10"/>
          <a:stretch>
            <a:fillRect/>
          </a:stretch>
        </p:blipFill>
        <p:spPr>
          <a:xfrm>
            <a:off x="3214116" y="3379858"/>
            <a:ext cx="237744" cy="237744"/>
          </a:xfrm>
          <a:prstGeom prst="rect">
            <a:avLst/>
          </a:prstGeom>
        </p:spPr>
      </p:pic>
      <p:sp>
        <p:nvSpPr>
          <p:cNvPr id="104" name="Text 9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105" name="Text 9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Tulis bagian Peran AI dengan jujur</a:t>
            </a:r>
            <a:endParaRPr lang="en-US" sz="1800" dirty="0"/>
          </a:p>
        </p:txBody>
      </p:sp>
      <p:sp>
        <p:nvSpPr>
          <p:cNvPr id="106" name="Text 9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Tabel: Tahap | Bantuan AI | Dikerjakan/diubah sendiri. Sertakan contoh prompt terbaik dan satu kesalahan AI yang ditemukan.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Laporan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12: Proyek Akhir Kelas IX · Pertemuan 34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Laporan_Proyek_Akhir_Kel3 -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Laporan_Proyek_Akhir_Kel3</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Lampiran</a:t>
            </a:r>
            <a:endParaRPr lang="en-US" sz="1100" dirty="0"/>
          </a:p>
        </p:txBody>
      </p:sp>
      <p:sp>
        <p:nvSpPr>
          <p:cNvPr id="70" name="Text 59"/>
          <p:cNvSpPr txBox="1"/>
          <p:nvPr/>
        </p:nvSpPr>
        <p:spPr>
          <a:xfrm>
            <a:off x="1645920" y="2876938"/>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Aplikasi: santri-wu-kel3.github.io/setoran-harian</a:t>
            </a:r>
            <a:endParaRPr lang="en-US" sz="750" dirty="0"/>
          </a:p>
        </p:txBody>
      </p:sp>
      <p:sp>
        <p:nvSpPr>
          <p:cNvPr id="71" name="Text 60"/>
          <p:cNvSpPr txBox="1"/>
          <p:nvPr/>
        </p:nvSpPr>
        <p:spPr>
          <a:xfrm>
            <a:off x="1645920" y="3024195"/>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Repository dan rilis v1.1.0: github.com/santri-wu-kel3/...</a:t>
            </a:r>
            <a:endParaRPr lang="en-US" sz="750" dirty="0"/>
          </a:p>
        </p:txBody>
      </p:sp>
      <p:sp>
        <p:nvSpPr>
          <p:cNvPr id="72" name="Text 61"/>
          <p:cNvSpPr txBox="1"/>
          <p:nvPr/>
        </p:nvSpPr>
        <p:spPr>
          <a:xfrm>
            <a:off x="1645920" y="3171451"/>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Poster QR, hasil uji, tangkapan layar sebelum–sesudah</a:t>
            </a:r>
            <a:endParaRPr lang="en-US" sz="750" dirty="0"/>
          </a:p>
        </p:txBody>
      </p:sp>
      <p:sp>
        <p:nvSpPr>
          <p:cNvPr id="73" name="Shape 62"/>
          <p:cNvSpPr/>
          <p:nvPr/>
        </p:nvSpPr>
        <p:spPr>
          <a:xfrm>
            <a:off x="1527048" y="2849506"/>
            <a:ext cx="3072384" cy="487490"/>
          </a:xfrm>
          <a:prstGeom prst="roundRect">
            <a:avLst>
              <a:gd name="adj" fmla="val 9379"/>
            </a:avLst>
          </a:prstGeom>
          <a:solidFill>
            <a:srgbClr val="FFFFFF">
              <a:alpha val="0"/>
            </a:srgbClr>
          </a:solidFill>
          <a:ln w="31750">
            <a:solidFill>
              <a:srgbClr val="E53935"/>
            </a:solidFill>
            <a:prstDash val="solid"/>
          </a:ln>
        </p:spPr>
      </p:sp>
      <p:sp>
        <p:nvSpPr>
          <p:cNvPr id="74" name="Shape 63"/>
          <p:cNvSpPr/>
          <p:nvPr/>
        </p:nvSpPr>
        <p:spPr>
          <a:xfrm>
            <a:off x="4462272" y="2712346"/>
            <a:ext cx="274320" cy="274320"/>
          </a:xfrm>
          <a:prstGeom prst="ellipse">
            <a:avLst/>
          </a:prstGeom>
          <a:solidFill>
            <a:srgbClr val="E53935"/>
          </a:solidFill>
          <a:ln w="12700">
            <a:solidFill>
              <a:srgbClr val="FFFFFF"/>
            </a:solidFill>
            <a:prstDash val="solid"/>
          </a:ln>
        </p:spPr>
      </p:sp>
      <p:sp>
        <p:nvSpPr>
          <p:cNvPr id="75" name="Text 64"/>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76" name="Image 9" descr="preencoded.png">    </p:cNvPr>
          <p:cNvPicPr>
            <a:picLocks noChangeAspect="1"/>
          </p:cNvPicPr>
          <p:nvPr/>
        </p:nvPicPr>
        <p:blipFill>
          <a:blip r:embed="rId10"/>
          <a:stretch>
            <a:fillRect/>
          </a:stretch>
        </p:blipFill>
        <p:spPr>
          <a:xfrm>
            <a:off x="3214116" y="3114882"/>
            <a:ext cx="237744" cy="237744"/>
          </a:xfrm>
          <a:prstGeom prst="rect">
            <a:avLst/>
          </a:prstGeom>
        </p:spPr>
      </p:pic>
      <p:sp>
        <p:nvSpPr>
          <p:cNvPr id="77" name="Text 6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78" name="Text 6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Lampirkan tautan dan periksa laporan</a:t>
            </a:r>
            <a:endParaRPr lang="en-US" sz="1800" dirty="0"/>
          </a:p>
        </p:txBody>
      </p:sp>
      <p:sp>
        <p:nvSpPr>
          <p:cNvPr id="79" name="Text 6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Lampiran: tautan aplikasi, repository, rilis, poster QR. Periksa ejaan, gaya judul, dan daftar isi otomatis.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34</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12: Proyek Akhir Kelas IX · Pertemuan 34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Kelompok mengumpulkan:</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Tabel rencana vs hasil dan evaluasi ukuran berhasil.</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Satu kekurangan terpenting dituntaskan dan dirilis (versi baru).</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Laporan proyek 8 bagian dengan daftar isi dan lampiran.</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Bagian Peran AI yang jujur dan rinci.</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12: Proyek Akhir Kelas IX · Pertemuan 34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Tabel rencana vs hasil terisi</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Ukuran berhasil dievaluasi</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Laporan proyek 8 bagian</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Peran AI ditulis jujur</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yang tercapai melebihi rencana?</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yang belum tercapai dan mengapa?</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Muhasabah: menghitung diri sebelum dihitung. Evaluasi jujur adalah awal perbaikan.</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Persiapan presentasi dan portofolio tiga tahun.</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35</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Presentasi &amp; Portofolio Wustha</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Menyiapkan pitch, demo, dan portofolio tiga tahun</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12: Proyek Akhir Kelas IX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12: Proyek Akhir Kelas IX · Pertemuan 35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Jika kalian hanya punya 5 menit di depan pimpinan pondok, apa yang akan kalian tunjukkan?</a:t>
            </a:r>
            <a:endParaRPr lang="en-US" sz="2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12: Proyek Akhir Kelas IX · Pertemuan 35</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Menyusun slide presentasi proyek akhir yang ringkas</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Menyiapkan demo langsung dan video demo cadangan</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Merapikan portofolio digital Kelas VII–IX</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Struktur Presentasi (5 Menit, Maks 8 Slide)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12: Proyek Akhir Kelas IX · Pertemuan 35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25908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1. Masalah (40 dtk)</a:t>
            </a:r>
            <a:endParaRPr lang="en-US" sz="1600" dirty="0"/>
          </a:p>
        </p:txBody>
      </p:sp>
      <p:sp>
        <p:nvSpPr>
          <p:cNvPr id="13" name="Text 8"/>
          <p:cNvSpPr txBox="1"/>
          <p:nvPr/>
        </p:nvSpPr>
        <p:spPr>
          <a:xfrm>
            <a:off x="6400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Cerita pengguna, bukti dari wawancara.</a:t>
            </a:r>
            <a:endParaRPr lang="en-US" sz="1250" dirty="0"/>
          </a:p>
        </p:txBody>
      </p:sp>
      <p:sp>
        <p:nvSpPr>
          <p:cNvPr id="14" name="Shape 9"/>
          <p:cNvSpPr/>
          <p:nvPr/>
        </p:nvSpPr>
        <p:spPr>
          <a:xfrm>
            <a:off x="3276600" y="1097280"/>
            <a:ext cx="25908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34594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3596640" y="1417320"/>
            <a:ext cx="274320" cy="274320"/>
          </a:xfrm>
          <a:prstGeom prst="rect">
            <a:avLst/>
          </a:prstGeom>
        </p:spPr>
      </p:pic>
      <p:sp>
        <p:nvSpPr>
          <p:cNvPr id="17" name="Text 11"/>
          <p:cNvSpPr txBox="1"/>
          <p:nvPr/>
        </p:nvSpPr>
        <p:spPr>
          <a:xfrm>
            <a:off x="41452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2. Solusi (40 dtk)</a:t>
            </a:r>
            <a:endParaRPr lang="en-US" sz="1600" dirty="0"/>
          </a:p>
        </p:txBody>
      </p:sp>
      <p:sp>
        <p:nvSpPr>
          <p:cNvPr id="18" name="Text 12"/>
          <p:cNvSpPr txBox="1"/>
          <p:nvPr/>
        </p:nvSpPr>
        <p:spPr>
          <a:xfrm>
            <a:off x="34594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Nama aplikasi, 3 fitur utama, alur sistem.</a:t>
            </a:r>
            <a:endParaRPr lang="en-US" sz="1250" dirty="0"/>
          </a:p>
        </p:txBody>
      </p:sp>
      <p:sp>
        <p:nvSpPr>
          <p:cNvPr id="19" name="Shape 13"/>
          <p:cNvSpPr/>
          <p:nvPr/>
        </p:nvSpPr>
        <p:spPr>
          <a:xfrm>
            <a:off x="6096000" y="1097280"/>
            <a:ext cx="25908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278880" y="128016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6416040" y="1417320"/>
            <a:ext cx="274320" cy="274320"/>
          </a:xfrm>
          <a:prstGeom prst="rect">
            <a:avLst/>
          </a:prstGeom>
        </p:spPr>
      </p:pic>
      <p:sp>
        <p:nvSpPr>
          <p:cNvPr id="22" name="Text 15"/>
          <p:cNvSpPr txBox="1"/>
          <p:nvPr/>
        </p:nvSpPr>
        <p:spPr>
          <a:xfrm>
            <a:off x="69646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3. Demo (90 dtk)</a:t>
            </a:r>
            <a:endParaRPr lang="en-US" sz="1600" dirty="0"/>
          </a:p>
        </p:txBody>
      </p:sp>
      <p:sp>
        <p:nvSpPr>
          <p:cNvPr id="23" name="Text 16"/>
          <p:cNvSpPr txBox="1"/>
          <p:nvPr/>
        </p:nvSpPr>
        <p:spPr>
          <a:xfrm>
            <a:off x="62788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Pindai QR, pakai langsung; video cadangan.</a:t>
            </a:r>
            <a:endParaRPr lang="en-US" sz="1250" dirty="0"/>
          </a:p>
        </p:txBody>
      </p:sp>
      <p:sp>
        <p:nvSpPr>
          <p:cNvPr id="24" name="Shape 17"/>
          <p:cNvSpPr/>
          <p:nvPr/>
        </p:nvSpPr>
        <p:spPr>
          <a:xfrm>
            <a:off x="457200" y="2948940"/>
            <a:ext cx="25908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6400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777240" y="3268980"/>
            <a:ext cx="274320" cy="274320"/>
          </a:xfrm>
          <a:prstGeom prst="rect">
            <a:avLst/>
          </a:prstGeom>
        </p:spPr>
      </p:pic>
      <p:sp>
        <p:nvSpPr>
          <p:cNvPr id="27" name="Text 19"/>
          <p:cNvSpPr txBox="1"/>
          <p:nvPr/>
        </p:nvSpPr>
        <p:spPr>
          <a:xfrm>
            <a:off x="13258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4. Bukti (60 dtk)</a:t>
            </a:r>
            <a:endParaRPr lang="en-US" sz="1600" dirty="0"/>
          </a:p>
        </p:txBody>
      </p:sp>
      <p:sp>
        <p:nvSpPr>
          <p:cNvPr id="28" name="Text 20"/>
          <p:cNvSpPr txBox="1"/>
          <p:nvPr/>
        </p:nvSpPr>
        <p:spPr>
          <a:xfrm>
            <a:off x="6400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Test case, uji kegunaan, ukuran berhasil.</a:t>
            </a:r>
            <a:endParaRPr lang="en-US" sz="1250" dirty="0"/>
          </a:p>
        </p:txBody>
      </p:sp>
      <p:sp>
        <p:nvSpPr>
          <p:cNvPr id="29" name="Shape 21"/>
          <p:cNvSpPr/>
          <p:nvPr/>
        </p:nvSpPr>
        <p:spPr>
          <a:xfrm>
            <a:off x="3276600" y="2948940"/>
            <a:ext cx="2590800" cy="1668780"/>
          </a:xfrm>
          <a:prstGeom prst="roundRect">
            <a:avLst>
              <a:gd name="adj" fmla="val 6575"/>
            </a:avLst>
          </a:prstGeom>
          <a:solidFill>
            <a:srgbClr val="E6F2EC"/>
          </a:solidFill>
          <a:ln w="12700">
            <a:solidFill>
              <a:srgbClr val="E6F2EC"/>
            </a:solidFill>
            <a:prstDash val="solid"/>
          </a:ln>
        </p:spPr>
      </p:sp>
      <p:sp>
        <p:nvSpPr>
          <p:cNvPr id="30" name="Shape 22"/>
          <p:cNvSpPr/>
          <p:nvPr/>
        </p:nvSpPr>
        <p:spPr>
          <a:xfrm>
            <a:off x="3459480" y="3131820"/>
            <a:ext cx="548640" cy="548640"/>
          </a:xfrm>
          <a:prstGeom prst="ellipse">
            <a:avLst/>
          </a:prstGeom>
          <a:solidFill>
            <a:srgbClr val="0F4C3A"/>
          </a:solidFill>
          <a:ln/>
        </p:spPr>
      </p:sp>
      <p:pic>
        <p:nvPicPr>
          <p:cNvPr id="31" name="Image 6" descr="preencoded.png">    </p:cNvPr>
          <p:cNvPicPr>
            <a:picLocks noChangeAspect="1"/>
          </p:cNvPicPr>
          <p:nvPr/>
        </p:nvPicPr>
        <p:blipFill>
          <a:blip r:embed="rId7"/>
          <a:stretch>
            <a:fillRect/>
          </a:stretch>
        </p:blipFill>
        <p:spPr>
          <a:xfrm>
            <a:off x="3596640" y="3268980"/>
            <a:ext cx="274320" cy="274320"/>
          </a:xfrm>
          <a:prstGeom prst="rect">
            <a:avLst/>
          </a:prstGeom>
        </p:spPr>
      </p:pic>
      <p:sp>
        <p:nvSpPr>
          <p:cNvPr id="32" name="Text 23"/>
          <p:cNvSpPr txBox="1"/>
          <p:nvPr/>
        </p:nvSpPr>
        <p:spPr>
          <a:xfrm>
            <a:off x="41452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5. AI &amp; Pelajaran (50 dtk)</a:t>
            </a:r>
            <a:endParaRPr lang="en-US" sz="1600" dirty="0"/>
          </a:p>
        </p:txBody>
      </p:sp>
      <p:sp>
        <p:nvSpPr>
          <p:cNvPr id="33" name="Text 24"/>
          <p:cNvSpPr txBox="1"/>
          <p:nvPr/>
        </p:nvSpPr>
        <p:spPr>
          <a:xfrm>
            <a:off x="34594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Peran AI, kesulitan, rencana pengembangan.</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Portofolio Digital Wustha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12: Proyek Akhir Kelas IX · Pertemuan 35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2606040" cy="685800"/>
          </a:xfrm>
          <a:prstGeom prst="roundRect">
            <a:avLst>
              <a:gd name="adj" fmla="val 10667"/>
            </a:avLst>
          </a:prstGeom>
          <a:solidFill>
            <a:srgbClr val="0078D4"/>
          </a:solidFill>
          <a:ln w="12700">
            <a:solidFill>
              <a:srgbClr val="0078D4"/>
            </a:solidFill>
            <a:prstDash val="solid"/>
          </a:ln>
        </p:spPr>
      </p:sp>
      <p:sp>
        <p:nvSpPr>
          <p:cNvPr id="10" name="Text 6"/>
          <p:cNvSpPr txBox="1"/>
          <p:nvPr/>
        </p:nvSpPr>
        <p:spPr>
          <a:xfrm>
            <a:off x="457200" y="1115568"/>
            <a:ext cx="2606040" cy="365760"/>
          </a:xfrm>
          <a:prstGeom prst="rect">
            <a:avLst/>
          </a:prstGeom>
          <a:noFill/>
          <a:ln/>
        </p:spPr>
        <p:txBody>
          <a:bodyPr wrap="square" lIns="0" tIns="0" rIns="0" bIns="0"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Kelas VII</a:t>
            </a:r>
            <a:endParaRPr lang="en-US" sz="1500" dirty="0"/>
          </a:p>
        </p:txBody>
      </p:sp>
      <p:sp>
        <p:nvSpPr>
          <p:cNvPr id="11" name="Text 7"/>
          <p:cNvSpPr txBox="1"/>
          <p:nvPr/>
        </p:nvSpPr>
        <p:spPr>
          <a:xfrm>
            <a:off x="457200" y="1444752"/>
            <a:ext cx="2606040" cy="292608"/>
          </a:xfrm>
          <a:prstGeom prst="rect">
            <a:avLst/>
          </a:prstGeom>
          <a:noFill/>
          <a:ln/>
        </p:spPr>
        <p:txBody>
          <a:bodyPr wrap="square" lIns="0" tIns="0" rIns="0" bIns="0" rtlCol="0" anchor="t"/>
          <a:lstStyle/>
          <a:p>
            <a:pPr algn="ctr" indent="0" marL="0">
              <a:buNone/>
            </a:pPr>
            <a:r>
              <a:rPr lang="en-US" sz="1100" i="1" dirty="0">
                <a:solidFill>
                  <a:srgbClr val="FFFFFF"/>
                </a:solidFill>
                <a:latin typeface="Calibri" pitchFamily="34" charset="0"/>
                <a:ea typeface="Calibri" pitchFamily="34" charset="-122"/>
                <a:cs typeface="Calibri" pitchFamily="34" charset="-120"/>
              </a:rPr>
              <a:t>Digital User</a:t>
            </a:r>
            <a:endParaRPr lang="en-US" sz="1100" dirty="0"/>
          </a:p>
        </p:txBody>
      </p:sp>
      <p:sp>
        <p:nvSpPr>
          <p:cNvPr id="12" name="Shape 8"/>
          <p:cNvSpPr/>
          <p:nvPr/>
        </p:nvSpPr>
        <p:spPr>
          <a:xfrm>
            <a:off x="457200" y="1920240"/>
            <a:ext cx="2606040" cy="457200"/>
          </a:xfrm>
          <a:prstGeom prst="roundRect">
            <a:avLst>
              <a:gd name="adj" fmla="val 12000"/>
            </a:avLst>
          </a:prstGeom>
          <a:solidFill>
            <a:srgbClr val="E6F2EC"/>
          </a:solidFill>
          <a:ln w="12700">
            <a:solidFill>
              <a:srgbClr val="E6F2EC"/>
            </a:solidFill>
            <a:prstDash val="solid"/>
          </a:ln>
        </p:spPr>
      </p:sp>
      <p:pic>
        <p:nvPicPr>
          <p:cNvPr id="13" name="Image 2" descr="preencoded.png">    </p:cNvPr>
          <p:cNvPicPr>
            <a:picLocks noChangeAspect="1"/>
          </p:cNvPicPr>
          <p:nvPr/>
        </p:nvPicPr>
        <p:blipFill>
          <a:blip r:embed="rId3"/>
          <a:stretch>
            <a:fillRect/>
          </a:stretch>
        </p:blipFill>
        <p:spPr>
          <a:xfrm>
            <a:off x="566928" y="2011680"/>
            <a:ext cx="256032" cy="256032"/>
          </a:xfrm>
          <a:prstGeom prst="rect">
            <a:avLst/>
          </a:prstGeom>
        </p:spPr>
      </p:pic>
      <p:sp>
        <p:nvSpPr>
          <p:cNvPr id="14" name="Text 9"/>
          <p:cNvSpPr txBox="1"/>
          <p:nvPr/>
        </p:nvSpPr>
        <p:spPr>
          <a:xfrm>
            <a:off x="914400" y="1920240"/>
            <a:ext cx="2103120" cy="457200"/>
          </a:xfrm>
          <a:prstGeom prst="rect">
            <a:avLst/>
          </a:prstGeom>
          <a:noFill/>
          <a:ln/>
        </p:spPr>
        <p:txBody>
          <a:bodyPr wrap="square" lIns="0" tIns="0" rIns="0" bIns="0" rtlCol="0" anchor="ctr"/>
          <a:lstStyle/>
          <a:p>
            <a:pPr indent="0" marL="0">
              <a:buNone/>
            </a:pPr>
            <a:r>
              <a:rPr lang="en-US" sz="1200" dirty="0">
                <a:solidFill>
                  <a:srgbClr val="1E2A26"/>
                </a:solidFill>
                <a:latin typeface="Calibri" pitchFamily="34" charset="0"/>
                <a:ea typeface="Calibri" pitchFamily="34" charset="-122"/>
                <a:cs typeface="Calibri" pitchFamily="34" charset="-120"/>
              </a:rPr>
              <a:t>Dokumen &amp; Slide</a:t>
            </a:r>
            <a:endParaRPr lang="en-US" sz="1200" dirty="0"/>
          </a:p>
        </p:txBody>
      </p:sp>
      <p:sp>
        <p:nvSpPr>
          <p:cNvPr id="15" name="Shape 10"/>
          <p:cNvSpPr/>
          <p:nvPr/>
        </p:nvSpPr>
        <p:spPr>
          <a:xfrm>
            <a:off x="457200" y="2468880"/>
            <a:ext cx="2606040" cy="457200"/>
          </a:xfrm>
          <a:prstGeom prst="roundRect">
            <a:avLst>
              <a:gd name="adj" fmla="val 12000"/>
            </a:avLst>
          </a:prstGeom>
          <a:solidFill>
            <a:srgbClr val="E6F2EC"/>
          </a:solidFill>
          <a:ln w="12700">
            <a:solidFill>
              <a:srgbClr val="E6F2EC"/>
            </a:solidFill>
            <a:prstDash val="solid"/>
          </a:ln>
        </p:spPr>
      </p:sp>
      <p:pic>
        <p:nvPicPr>
          <p:cNvPr id="16" name="Image 3" descr="preencoded.png">    </p:cNvPr>
          <p:cNvPicPr>
            <a:picLocks noChangeAspect="1"/>
          </p:cNvPicPr>
          <p:nvPr/>
        </p:nvPicPr>
        <p:blipFill>
          <a:blip r:embed="rId4"/>
          <a:stretch>
            <a:fillRect/>
          </a:stretch>
        </p:blipFill>
        <p:spPr>
          <a:xfrm>
            <a:off x="566928" y="2560320"/>
            <a:ext cx="256032" cy="256032"/>
          </a:xfrm>
          <a:prstGeom prst="rect">
            <a:avLst/>
          </a:prstGeom>
        </p:spPr>
      </p:pic>
      <p:sp>
        <p:nvSpPr>
          <p:cNvPr id="17" name="Text 11"/>
          <p:cNvSpPr txBox="1"/>
          <p:nvPr/>
        </p:nvSpPr>
        <p:spPr>
          <a:xfrm>
            <a:off x="914400" y="2468880"/>
            <a:ext cx="2103120" cy="457200"/>
          </a:xfrm>
          <a:prstGeom prst="rect">
            <a:avLst/>
          </a:prstGeom>
          <a:noFill/>
          <a:ln/>
        </p:spPr>
        <p:txBody>
          <a:bodyPr wrap="square" lIns="0" tIns="0" rIns="0" bIns="0" rtlCol="0" anchor="ctr"/>
          <a:lstStyle/>
          <a:p>
            <a:pPr indent="0" marL="0">
              <a:buNone/>
            </a:pPr>
            <a:r>
              <a:rPr lang="en-US" sz="1200" dirty="0">
                <a:solidFill>
                  <a:srgbClr val="1E2A26"/>
                </a:solidFill>
                <a:latin typeface="Calibri" pitchFamily="34" charset="0"/>
                <a:ea typeface="Calibri" pitchFamily="34" charset="-122"/>
                <a:cs typeface="Calibri" pitchFamily="34" charset="-120"/>
              </a:rPr>
              <a:t>Poster Dakwah (Canva)</a:t>
            </a:r>
            <a:endParaRPr lang="en-US" sz="1200" dirty="0"/>
          </a:p>
        </p:txBody>
      </p:sp>
      <p:sp>
        <p:nvSpPr>
          <p:cNvPr id="18" name="Shape 12"/>
          <p:cNvSpPr/>
          <p:nvPr/>
        </p:nvSpPr>
        <p:spPr>
          <a:xfrm>
            <a:off x="457200" y="3017520"/>
            <a:ext cx="2606040" cy="457200"/>
          </a:xfrm>
          <a:prstGeom prst="roundRect">
            <a:avLst>
              <a:gd name="adj" fmla="val 12000"/>
            </a:avLst>
          </a:prstGeom>
          <a:solidFill>
            <a:srgbClr val="E6F2EC"/>
          </a:solidFill>
          <a:ln w="12700">
            <a:solidFill>
              <a:srgbClr val="E6F2EC"/>
            </a:solidFill>
            <a:prstDash val="solid"/>
          </a:ln>
        </p:spPr>
      </p:sp>
      <p:pic>
        <p:nvPicPr>
          <p:cNvPr id="19" name="Image 4" descr="preencoded.png">    </p:cNvPr>
          <p:cNvPicPr>
            <a:picLocks noChangeAspect="1"/>
          </p:cNvPicPr>
          <p:nvPr/>
        </p:nvPicPr>
        <p:blipFill>
          <a:blip r:embed="rId5"/>
          <a:stretch>
            <a:fillRect/>
          </a:stretch>
        </p:blipFill>
        <p:spPr>
          <a:xfrm>
            <a:off x="566928" y="3108960"/>
            <a:ext cx="256032" cy="256032"/>
          </a:xfrm>
          <a:prstGeom prst="rect">
            <a:avLst/>
          </a:prstGeom>
        </p:spPr>
      </p:pic>
      <p:sp>
        <p:nvSpPr>
          <p:cNvPr id="20" name="Text 13"/>
          <p:cNvSpPr txBox="1"/>
          <p:nvPr/>
        </p:nvSpPr>
        <p:spPr>
          <a:xfrm>
            <a:off x="914400" y="3017520"/>
            <a:ext cx="2103120" cy="457200"/>
          </a:xfrm>
          <a:prstGeom prst="rect">
            <a:avLst/>
          </a:prstGeom>
          <a:noFill/>
          <a:ln/>
        </p:spPr>
        <p:txBody>
          <a:bodyPr wrap="square" lIns="0" tIns="0" rIns="0" bIns="0" rtlCol="0" anchor="ctr"/>
          <a:lstStyle/>
          <a:p>
            <a:pPr indent="0" marL="0">
              <a:buNone/>
            </a:pPr>
            <a:r>
              <a:rPr lang="en-US" sz="1200" dirty="0">
                <a:solidFill>
                  <a:srgbClr val="1E2A26"/>
                </a:solidFill>
                <a:latin typeface="Calibri" pitchFamily="34" charset="0"/>
                <a:ea typeface="Calibri" pitchFamily="34" charset="-122"/>
                <a:cs typeface="Calibri" pitchFamily="34" charset="-120"/>
              </a:rPr>
              <a:t>Video &amp; Podcast</a:t>
            </a:r>
            <a:endParaRPr lang="en-US" sz="1200" dirty="0"/>
          </a:p>
        </p:txBody>
      </p:sp>
      <p:sp>
        <p:nvSpPr>
          <p:cNvPr id="21" name="Shape 14"/>
          <p:cNvSpPr/>
          <p:nvPr/>
        </p:nvSpPr>
        <p:spPr>
          <a:xfrm>
            <a:off x="457200" y="3566160"/>
            <a:ext cx="2606040" cy="457200"/>
          </a:xfrm>
          <a:prstGeom prst="roundRect">
            <a:avLst>
              <a:gd name="adj" fmla="val 12000"/>
            </a:avLst>
          </a:prstGeom>
          <a:solidFill>
            <a:srgbClr val="E6F2EC"/>
          </a:solidFill>
          <a:ln w="12700">
            <a:solidFill>
              <a:srgbClr val="E6F2EC"/>
            </a:solidFill>
            <a:prstDash val="solid"/>
          </a:ln>
        </p:spPr>
      </p:sp>
      <p:pic>
        <p:nvPicPr>
          <p:cNvPr id="22" name="Image 5" descr="preencoded.png">    </p:cNvPr>
          <p:cNvPicPr>
            <a:picLocks noChangeAspect="1"/>
          </p:cNvPicPr>
          <p:nvPr/>
        </p:nvPicPr>
        <p:blipFill>
          <a:blip r:embed="rId6"/>
          <a:stretch>
            <a:fillRect/>
          </a:stretch>
        </p:blipFill>
        <p:spPr>
          <a:xfrm>
            <a:off x="566928" y="3657600"/>
            <a:ext cx="256032" cy="256032"/>
          </a:xfrm>
          <a:prstGeom prst="rect">
            <a:avLst/>
          </a:prstGeom>
        </p:spPr>
      </p:pic>
      <p:sp>
        <p:nvSpPr>
          <p:cNvPr id="23" name="Text 15"/>
          <p:cNvSpPr txBox="1"/>
          <p:nvPr/>
        </p:nvSpPr>
        <p:spPr>
          <a:xfrm>
            <a:off x="914400" y="3566160"/>
            <a:ext cx="2103120" cy="457200"/>
          </a:xfrm>
          <a:prstGeom prst="rect">
            <a:avLst/>
          </a:prstGeom>
          <a:noFill/>
          <a:ln/>
        </p:spPr>
        <p:txBody>
          <a:bodyPr wrap="square" lIns="0" tIns="0" rIns="0" bIns="0" rtlCol="0" anchor="ctr"/>
          <a:lstStyle/>
          <a:p>
            <a:pPr indent="0" marL="0">
              <a:buNone/>
            </a:pPr>
            <a:r>
              <a:rPr lang="en-US" sz="1200" dirty="0">
                <a:solidFill>
                  <a:srgbClr val="1E2A26"/>
                </a:solidFill>
                <a:latin typeface="Calibri" pitchFamily="34" charset="0"/>
                <a:ea typeface="Calibri" pitchFamily="34" charset="-122"/>
                <a:cs typeface="Calibri" pitchFamily="34" charset="-120"/>
              </a:rPr>
              <a:t>AI Study Assistant</a:t>
            </a:r>
            <a:endParaRPr lang="en-US" sz="1200" dirty="0"/>
          </a:p>
        </p:txBody>
      </p:sp>
      <p:sp>
        <p:nvSpPr>
          <p:cNvPr id="24" name="Shape 16"/>
          <p:cNvSpPr/>
          <p:nvPr/>
        </p:nvSpPr>
        <p:spPr>
          <a:xfrm>
            <a:off x="3246120" y="1097280"/>
            <a:ext cx="2606040" cy="685800"/>
          </a:xfrm>
          <a:prstGeom prst="roundRect">
            <a:avLst>
              <a:gd name="adj" fmla="val 10667"/>
            </a:avLst>
          </a:prstGeom>
          <a:solidFill>
            <a:srgbClr val="1F7A5C"/>
          </a:solidFill>
          <a:ln w="12700">
            <a:solidFill>
              <a:srgbClr val="1F7A5C"/>
            </a:solidFill>
            <a:prstDash val="solid"/>
          </a:ln>
        </p:spPr>
      </p:sp>
      <p:sp>
        <p:nvSpPr>
          <p:cNvPr id="25" name="Text 17"/>
          <p:cNvSpPr txBox="1"/>
          <p:nvPr/>
        </p:nvSpPr>
        <p:spPr>
          <a:xfrm>
            <a:off x="3246120" y="1115568"/>
            <a:ext cx="2606040" cy="365760"/>
          </a:xfrm>
          <a:prstGeom prst="rect">
            <a:avLst/>
          </a:prstGeom>
          <a:noFill/>
          <a:ln/>
        </p:spPr>
        <p:txBody>
          <a:bodyPr wrap="square" lIns="0" tIns="0" rIns="0" bIns="0"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Kelas VIII</a:t>
            </a:r>
            <a:endParaRPr lang="en-US" sz="1500" dirty="0"/>
          </a:p>
        </p:txBody>
      </p:sp>
      <p:sp>
        <p:nvSpPr>
          <p:cNvPr id="26" name="Text 18"/>
          <p:cNvSpPr txBox="1"/>
          <p:nvPr/>
        </p:nvSpPr>
        <p:spPr>
          <a:xfrm>
            <a:off x="3246120" y="1444752"/>
            <a:ext cx="2606040" cy="292608"/>
          </a:xfrm>
          <a:prstGeom prst="rect">
            <a:avLst/>
          </a:prstGeom>
          <a:noFill/>
          <a:ln/>
        </p:spPr>
        <p:txBody>
          <a:bodyPr wrap="square" lIns="0" tIns="0" rIns="0" bIns="0" rtlCol="0" anchor="t"/>
          <a:lstStyle/>
          <a:p>
            <a:pPr algn="ctr" indent="0" marL="0">
              <a:buNone/>
            </a:pPr>
            <a:r>
              <a:rPr lang="en-US" sz="1100" i="1" dirty="0">
                <a:solidFill>
                  <a:srgbClr val="FFFFFF"/>
                </a:solidFill>
                <a:latin typeface="Calibri" pitchFamily="34" charset="0"/>
                <a:ea typeface="Calibri" pitchFamily="34" charset="-122"/>
                <a:cs typeface="Calibri" pitchFamily="34" charset="-120"/>
              </a:rPr>
              <a:t>Digital Creator</a:t>
            </a:r>
            <a:endParaRPr lang="en-US" sz="1100" dirty="0"/>
          </a:p>
        </p:txBody>
      </p:sp>
      <p:sp>
        <p:nvSpPr>
          <p:cNvPr id="27" name="Shape 19"/>
          <p:cNvSpPr/>
          <p:nvPr/>
        </p:nvSpPr>
        <p:spPr>
          <a:xfrm>
            <a:off x="3246120" y="1920240"/>
            <a:ext cx="2606040" cy="457200"/>
          </a:xfrm>
          <a:prstGeom prst="roundRect">
            <a:avLst>
              <a:gd name="adj" fmla="val 12000"/>
            </a:avLst>
          </a:prstGeom>
          <a:solidFill>
            <a:srgbClr val="E6F2EC"/>
          </a:solidFill>
          <a:ln w="12700">
            <a:solidFill>
              <a:srgbClr val="E6F2EC"/>
            </a:solidFill>
            <a:prstDash val="solid"/>
          </a:ln>
        </p:spPr>
      </p:sp>
      <p:pic>
        <p:nvPicPr>
          <p:cNvPr id="28" name="Image 6" descr="preencoded.png">    </p:cNvPr>
          <p:cNvPicPr>
            <a:picLocks noChangeAspect="1"/>
          </p:cNvPicPr>
          <p:nvPr/>
        </p:nvPicPr>
        <p:blipFill>
          <a:blip r:embed="rId7"/>
          <a:stretch>
            <a:fillRect/>
          </a:stretch>
        </p:blipFill>
        <p:spPr>
          <a:xfrm>
            <a:off x="3355848" y="2011680"/>
            <a:ext cx="256032" cy="256032"/>
          </a:xfrm>
          <a:prstGeom prst="rect">
            <a:avLst/>
          </a:prstGeom>
        </p:spPr>
      </p:pic>
      <p:sp>
        <p:nvSpPr>
          <p:cNvPr id="29" name="Text 20"/>
          <p:cNvSpPr txBox="1"/>
          <p:nvPr/>
        </p:nvSpPr>
        <p:spPr>
          <a:xfrm>
            <a:off x="3703320" y="1920240"/>
            <a:ext cx="2103120" cy="457200"/>
          </a:xfrm>
          <a:prstGeom prst="rect">
            <a:avLst/>
          </a:prstGeom>
          <a:noFill/>
          <a:ln/>
        </p:spPr>
        <p:txBody>
          <a:bodyPr wrap="square" lIns="0" tIns="0" rIns="0" bIns="0" rtlCol="0" anchor="ctr"/>
          <a:lstStyle/>
          <a:p>
            <a:pPr indent="0" marL="0">
              <a:buNone/>
            </a:pPr>
            <a:r>
              <a:rPr lang="en-US" sz="1200" dirty="0">
                <a:solidFill>
                  <a:srgbClr val="1E2A26"/>
                </a:solidFill>
                <a:latin typeface="Calibri" pitchFamily="34" charset="0"/>
                <a:ea typeface="Calibri" pitchFamily="34" charset="-122"/>
                <a:cs typeface="Calibri" pitchFamily="34" charset="-120"/>
              </a:rPr>
              <a:t>Formulir &amp; Database</a:t>
            </a:r>
            <a:endParaRPr lang="en-US" sz="1200" dirty="0"/>
          </a:p>
        </p:txBody>
      </p:sp>
      <p:sp>
        <p:nvSpPr>
          <p:cNvPr id="30" name="Shape 21"/>
          <p:cNvSpPr/>
          <p:nvPr/>
        </p:nvSpPr>
        <p:spPr>
          <a:xfrm>
            <a:off x="3246120" y="2468880"/>
            <a:ext cx="2606040" cy="457200"/>
          </a:xfrm>
          <a:prstGeom prst="roundRect">
            <a:avLst>
              <a:gd name="adj" fmla="val 12000"/>
            </a:avLst>
          </a:prstGeom>
          <a:solidFill>
            <a:srgbClr val="E6F2EC"/>
          </a:solidFill>
          <a:ln w="12700">
            <a:solidFill>
              <a:srgbClr val="E6F2EC"/>
            </a:solidFill>
            <a:prstDash val="solid"/>
          </a:ln>
        </p:spPr>
      </p:sp>
      <p:pic>
        <p:nvPicPr>
          <p:cNvPr id="31" name="Image 7" descr="preencoded.png">    </p:cNvPr>
          <p:cNvPicPr>
            <a:picLocks noChangeAspect="1"/>
          </p:cNvPicPr>
          <p:nvPr/>
        </p:nvPicPr>
        <p:blipFill>
          <a:blip r:embed="rId8"/>
          <a:stretch>
            <a:fillRect/>
          </a:stretch>
        </p:blipFill>
        <p:spPr>
          <a:xfrm>
            <a:off x="3355848" y="2560320"/>
            <a:ext cx="256032" cy="256032"/>
          </a:xfrm>
          <a:prstGeom prst="rect">
            <a:avLst/>
          </a:prstGeom>
        </p:spPr>
      </p:pic>
      <p:sp>
        <p:nvSpPr>
          <p:cNvPr id="32" name="Text 22"/>
          <p:cNvSpPr txBox="1"/>
          <p:nvPr/>
        </p:nvSpPr>
        <p:spPr>
          <a:xfrm>
            <a:off x="3703320" y="2468880"/>
            <a:ext cx="2103120" cy="457200"/>
          </a:xfrm>
          <a:prstGeom prst="rect">
            <a:avLst/>
          </a:prstGeom>
          <a:noFill/>
          <a:ln/>
        </p:spPr>
        <p:txBody>
          <a:bodyPr wrap="square" lIns="0" tIns="0" rIns="0" bIns="0" rtlCol="0" anchor="ctr"/>
          <a:lstStyle/>
          <a:p>
            <a:pPr indent="0" marL="0">
              <a:buNone/>
            </a:pPr>
            <a:r>
              <a:rPr lang="en-US" sz="1200" dirty="0">
                <a:solidFill>
                  <a:srgbClr val="1E2A26"/>
                </a:solidFill>
                <a:latin typeface="Calibri" pitchFamily="34" charset="0"/>
                <a:ea typeface="Calibri" pitchFamily="34" charset="-122"/>
                <a:cs typeface="Calibri" pitchFamily="34" charset="-120"/>
              </a:rPr>
              <a:t>Dashboard</a:t>
            </a:r>
            <a:endParaRPr lang="en-US" sz="1200" dirty="0"/>
          </a:p>
        </p:txBody>
      </p:sp>
      <p:sp>
        <p:nvSpPr>
          <p:cNvPr id="33" name="Shape 23"/>
          <p:cNvSpPr/>
          <p:nvPr/>
        </p:nvSpPr>
        <p:spPr>
          <a:xfrm>
            <a:off x="3246120" y="3017520"/>
            <a:ext cx="2606040" cy="457200"/>
          </a:xfrm>
          <a:prstGeom prst="roundRect">
            <a:avLst>
              <a:gd name="adj" fmla="val 12000"/>
            </a:avLst>
          </a:prstGeom>
          <a:solidFill>
            <a:srgbClr val="E6F2EC"/>
          </a:solidFill>
          <a:ln w="12700">
            <a:solidFill>
              <a:srgbClr val="E6F2EC"/>
            </a:solidFill>
            <a:prstDash val="solid"/>
          </a:ln>
        </p:spPr>
      </p:sp>
      <p:pic>
        <p:nvPicPr>
          <p:cNvPr id="34" name="Image 8" descr="preencoded.png">    </p:cNvPr>
          <p:cNvPicPr>
            <a:picLocks noChangeAspect="1"/>
          </p:cNvPicPr>
          <p:nvPr/>
        </p:nvPicPr>
        <p:blipFill>
          <a:blip r:embed="rId9"/>
          <a:stretch>
            <a:fillRect/>
          </a:stretch>
        </p:blipFill>
        <p:spPr>
          <a:xfrm>
            <a:off x="3355848" y="3108960"/>
            <a:ext cx="256032" cy="256032"/>
          </a:xfrm>
          <a:prstGeom prst="rect">
            <a:avLst/>
          </a:prstGeom>
        </p:spPr>
      </p:pic>
      <p:sp>
        <p:nvSpPr>
          <p:cNvPr id="35" name="Text 24"/>
          <p:cNvSpPr txBox="1"/>
          <p:nvPr/>
        </p:nvSpPr>
        <p:spPr>
          <a:xfrm>
            <a:off x="3703320" y="3017520"/>
            <a:ext cx="2103120" cy="457200"/>
          </a:xfrm>
          <a:prstGeom prst="rect">
            <a:avLst/>
          </a:prstGeom>
          <a:noFill/>
          <a:ln/>
        </p:spPr>
        <p:txBody>
          <a:bodyPr wrap="square" lIns="0" tIns="0" rIns="0" bIns="0" rtlCol="0" anchor="ctr"/>
          <a:lstStyle/>
          <a:p>
            <a:pPr indent="0" marL="0">
              <a:buNone/>
            </a:pPr>
            <a:r>
              <a:rPr lang="en-US" sz="1200" dirty="0">
                <a:solidFill>
                  <a:srgbClr val="1E2A26"/>
                </a:solidFill>
                <a:latin typeface="Calibri" pitchFamily="34" charset="0"/>
                <a:ea typeface="Calibri" pitchFamily="34" charset="-122"/>
                <a:cs typeface="Calibri" pitchFamily="34" charset="-120"/>
              </a:rPr>
              <a:t>Website (Sites &amp; HTML)</a:t>
            </a:r>
            <a:endParaRPr lang="en-US" sz="1200" dirty="0"/>
          </a:p>
        </p:txBody>
      </p:sp>
      <p:sp>
        <p:nvSpPr>
          <p:cNvPr id="36" name="Shape 25"/>
          <p:cNvSpPr/>
          <p:nvPr/>
        </p:nvSpPr>
        <p:spPr>
          <a:xfrm>
            <a:off x="3246120" y="3566160"/>
            <a:ext cx="2606040" cy="457200"/>
          </a:xfrm>
          <a:prstGeom prst="roundRect">
            <a:avLst>
              <a:gd name="adj" fmla="val 12000"/>
            </a:avLst>
          </a:prstGeom>
          <a:solidFill>
            <a:srgbClr val="E6F2EC"/>
          </a:solidFill>
          <a:ln w="12700">
            <a:solidFill>
              <a:srgbClr val="E6F2EC"/>
            </a:solidFill>
            <a:prstDash val="solid"/>
          </a:ln>
        </p:spPr>
      </p:sp>
      <p:pic>
        <p:nvPicPr>
          <p:cNvPr id="37" name="Image 9" descr="preencoded.png">    </p:cNvPr>
          <p:cNvPicPr>
            <a:picLocks noChangeAspect="1"/>
          </p:cNvPicPr>
          <p:nvPr/>
        </p:nvPicPr>
        <p:blipFill>
          <a:blip r:embed="rId10"/>
          <a:stretch>
            <a:fillRect/>
          </a:stretch>
        </p:blipFill>
        <p:spPr>
          <a:xfrm>
            <a:off x="3355848" y="3657600"/>
            <a:ext cx="256032" cy="256032"/>
          </a:xfrm>
          <a:prstGeom prst="rect">
            <a:avLst/>
          </a:prstGeom>
        </p:spPr>
      </p:pic>
      <p:sp>
        <p:nvSpPr>
          <p:cNvPr id="38" name="Text 26"/>
          <p:cNvSpPr txBox="1"/>
          <p:nvPr/>
        </p:nvSpPr>
        <p:spPr>
          <a:xfrm>
            <a:off x="3703320" y="3566160"/>
            <a:ext cx="2103120" cy="457200"/>
          </a:xfrm>
          <a:prstGeom prst="rect">
            <a:avLst/>
          </a:prstGeom>
          <a:noFill/>
          <a:ln/>
        </p:spPr>
        <p:txBody>
          <a:bodyPr wrap="square" lIns="0" tIns="0" rIns="0" bIns="0" rtlCol="0" anchor="ctr"/>
          <a:lstStyle/>
          <a:p>
            <a:pPr indent="0" marL="0">
              <a:buNone/>
            </a:pPr>
            <a:r>
              <a:rPr lang="en-US" sz="1200" dirty="0">
                <a:solidFill>
                  <a:srgbClr val="1E2A26"/>
                </a:solidFill>
                <a:latin typeface="Calibri" pitchFamily="34" charset="0"/>
                <a:ea typeface="Calibri" pitchFamily="34" charset="-122"/>
                <a:cs typeface="Calibri" pitchFamily="34" charset="-120"/>
              </a:rPr>
              <a:t>Info System + QR</a:t>
            </a:r>
            <a:endParaRPr lang="en-US" sz="1200" dirty="0"/>
          </a:p>
        </p:txBody>
      </p:sp>
      <p:sp>
        <p:nvSpPr>
          <p:cNvPr id="39" name="Shape 27"/>
          <p:cNvSpPr/>
          <p:nvPr/>
        </p:nvSpPr>
        <p:spPr>
          <a:xfrm>
            <a:off x="6035040" y="1097280"/>
            <a:ext cx="2606040" cy="685800"/>
          </a:xfrm>
          <a:prstGeom prst="roundRect">
            <a:avLst>
              <a:gd name="adj" fmla="val 10667"/>
            </a:avLst>
          </a:prstGeom>
          <a:solidFill>
            <a:srgbClr val="0F4C3A"/>
          </a:solidFill>
          <a:ln w="12700">
            <a:solidFill>
              <a:srgbClr val="0F4C3A"/>
            </a:solidFill>
            <a:prstDash val="solid"/>
          </a:ln>
        </p:spPr>
      </p:sp>
      <p:sp>
        <p:nvSpPr>
          <p:cNvPr id="40" name="Text 28"/>
          <p:cNvSpPr txBox="1"/>
          <p:nvPr/>
        </p:nvSpPr>
        <p:spPr>
          <a:xfrm>
            <a:off x="6035040" y="1115568"/>
            <a:ext cx="2606040" cy="365760"/>
          </a:xfrm>
          <a:prstGeom prst="rect">
            <a:avLst/>
          </a:prstGeom>
          <a:noFill/>
          <a:ln/>
        </p:spPr>
        <p:txBody>
          <a:bodyPr wrap="square" lIns="0" tIns="0" rIns="0" bIns="0"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Kelas IX</a:t>
            </a:r>
            <a:endParaRPr lang="en-US" sz="1500" dirty="0"/>
          </a:p>
        </p:txBody>
      </p:sp>
      <p:sp>
        <p:nvSpPr>
          <p:cNvPr id="41" name="Text 29"/>
          <p:cNvSpPr txBox="1"/>
          <p:nvPr/>
        </p:nvSpPr>
        <p:spPr>
          <a:xfrm>
            <a:off x="6035040" y="1444752"/>
            <a:ext cx="2606040" cy="292608"/>
          </a:xfrm>
          <a:prstGeom prst="rect">
            <a:avLst/>
          </a:prstGeom>
          <a:noFill/>
          <a:ln/>
        </p:spPr>
        <p:txBody>
          <a:bodyPr wrap="square" lIns="0" tIns="0" rIns="0" bIns="0" rtlCol="0" anchor="t"/>
          <a:lstStyle/>
          <a:p>
            <a:pPr algn="ctr" indent="0" marL="0">
              <a:buNone/>
            </a:pPr>
            <a:r>
              <a:rPr lang="en-US" sz="1100" i="1" dirty="0">
                <a:solidFill>
                  <a:srgbClr val="FFFFFF"/>
                </a:solidFill>
                <a:latin typeface="Calibri" pitchFamily="34" charset="0"/>
                <a:ea typeface="Calibri" pitchFamily="34" charset="-122"/>
                <a:cs typeface="Calibri" pitchFamily="34" charset="-120"/>
              </a:rPr>
              <a:t>Digital Builder</a:t>
            </a:r>
            <a:endParaRPr lang="en-US" sz="1100" dirty="0"/>
          </a:p>
        </p:txBody>
      </p:sp>
      <p:sp>
        <p:nvSpPr>
          <p:cNvPr id="42" name="Shape 30"/>
          <p:cNvSpPr/>
          <p:nvPr/>
        </p:nvSpPr>
        <p:spPr>
          <a:xfrm>
            <a:off x="6035040" y="1920240"/>
            <a:ext cx="2606040" cy="457200"/>
          </a:xfrm>
          <a:prstGeom prst="roundRect">
            <a:avLst>
              <a:gd name="adj" fmla="val 12000"/>
            </a:avLst>
          </a:prstGeom>
          <a:solidFill>
            <a:srgbClr val="E6F2EC"/>
          </a:solidFill>
          <a:ln w="12700">
            <a:solidFill>
              <a:srgbClr val="E6F2EC"/>
            </a:solidFill>
            <a:prstDash val="solid"/>
          </a:ln>
        </p:spPr>
      </p:sp>
      <p:pic>
        <p:nvPicPr>
          <p:cNvPr id="43" name="Image 10" descr="preencoded.png">    </p:cNvPr>
          <p:cNvPicPr>
            <a:picLocks noChangeAspect="1"/>
          </p:cNvPicPr>
          <p:nvPr/>
        </p:nvPicPr>
        <p:blipFill>
          <a:blip r:embed="rId11"/>
          <a:stretch>
            <a:fillRect/>
          </a:stretch>
        </p:blipFill>
        <p:spPr>
          <a:xfrm>
            <a:off x="6144768" y="2011680"/>
            <a:ext cx="256032" cy="256032"/>
          </a:xfrm>
          <a:prstGeom prst="rect">
            <a:avLst/>
          </a:prstGeom>
        </p:spPr>
      </p:pic>
      <p:sp>
        <p:nvSpPr>
          <p:cNvPr id="44" name="Text 31"/>
          <p:cNvSpPr txBox="1"/>
          <p:nvPr/>
        </p:nvSpPr>
        <p:spPr>
          <a:xfrm>
            <a:off x="6492240" y="1920240"/>
            <a:ext cx="2103120" cy="457200"/>
          </a:xfrm>
          <a:prstGeom prst="rect">
            <a:avLst/>
          </a:prstGeom>
          <a:noFill/>
          <a:ln/>
        </p:spPr>
        <p:txBody>
          <a:bodyPr wrap="square" lIns="0" tIns="0" rIns="0" bIns="0" rtlCol="0" anchor="ctr"/>
          <a:lstStyle/>
          <a:p>
            <a:pPr indent="0" marL="0">
              <a:buNone/>
            </a:pPr>
            <a:r>
              <a:rPr lang="en-US" sz="1200" dirty="0">
                <a:solidFill>
                  <a:srgbClr val="1E2A26"/>
                </a:solidFill>
                <a:latin typeface="Calibri" pitchFamily="34" charset="0"/>
                <a:ea typeface="Calibri" pitchFamily="34" charset="-122"/>
                <a:cs typeface="Calibri" pitchFamily="34" charset="-120"/>
              </a:rPr>
              <a:t>Flowchart &amp; Proposal</a:t>
            </a:r>
            <a:endParaRPr lang="en-US" sz="1200" dirty="0"/>
          </a:p>
        </p:txBody>
      </p:sp>
      <p:sp>
        <p:nvSpPr>
          <p:cNvPr id="45" name="Shape 32"/>
          <p:cNvSpPr/>
          <p:nvPr/>
        </p:nvSpPr>
        <p:spPr>
          <a:xfrm>
            <a:off x="6035040" y="2468880"/>
            <a:ext cx="2606040" cy="457200"/>
          </a:xfrm>
          <a:prstGeom prst="roundRect">
            <a:avLst>
              <a:gd name="adj" fmla="val 12000"/>
            </a:avLst>
          </a:prstGeom>
          <a:solidFill>
            <a:srgbClr val="E6F2EC"/>
          </a:solidFill>
          <a:ln w="12700">
            <a:solidFill>
              <a:srgbClr val="E6F2EC"/>
            </a:solidFill>
            <a:prstDash val="solid"/>
          </a:ln>
        </p:spPr>
      </p:sp>
      <p:pic>
        <p:nvPicPr>
          <p:cNvPr id="46" name="Image 11" descr="preencoded.png">    </p:cNvPr>
          <p:cNvPicPr>
            <a:picLocks noChangeAspect="1"/>
          </p:cNvPicPr>
          <p:nvPr/>
        </p:nvPicPr>
        <p:blipFill>
          <a:blip r:embed="rId12"/>
          <a:stretch>
            <a:fillRect/>
          </a:stretch>
        </p:blipFill>
        <p:spPr>
          <a:xfrm>
            <a:off x="6144768" y="2560320"/>
            <a:ext cx="256032" cy="256032"/>
          </a:xfrm>
          <a:prstGeom prst="rect">
            <a:avLst/>
          </a:prstGeom>
        </p:spPr>
      </p:pic>
      <p:sp>
        <p:nvSpPr>
          <p:cNvPr id="47" name="Text 33"/>
          <p:cNvSpPr txBox="1"/>
          <p:nvPr/>
        </p:nvSpPr>
        <p:spPr>
          <a:xfrm>
            <a:off x="6492240" y="2468880"/>
            <a:ext cx="2103120" cy="457200"/>
          </a:xfrm>
          <a:prstGeom prst="rect">
            <a:avLst/>
          </a:prstGeom>
          <a:noFill/>
          <a:ln/>
        </p:spPr>
        <p:txBody>
          <a:bodyPr wrap="square" lIns="0" tIns="0" rIns="0" bIns="0" rtlCol="0" anchor="ctr"/>
          <a:lstStyle/>
          <a:p>
            <a:pPr indent="0" marL="0">
              <a:buNone/>
            </a:pPr>
            <a:r>
              <a:rPr lang="en-US" sz="1200" dirty="0">
                <a:solidFill>
                  <a:srgbClr val="1E2A26"/>
                </a:solidFill>
                <a:latin typeface="Calibri" pitchFamily="34" charset="0"/>
                <a:ea typeface="Calibri" pitchFamily="34" charset="-122"/>
                <a:cs typeface="Calibri" pitchFamily="34" charset="-120"/>
              </a:rPr>
              <a:t>Prompt Library</a:t>
            </a:r>
            <a:endParaRPr lang="en-US" sz="1200" dirty="0"/>
          </a:p>
        </p:txBody>
      </p:sp>
      <p:sp>
        <p:nvSpPr>
          <p:cNvPr id="48" name="Shape 34"/>
          <p:cNvSpPr/>
          <p:nvPr/>
        </p:nvSpPr>
        <p:spPr>
          <a:xfrm>
            <a:off x="6035040" y="3017520"/>
            <a:ext cx="2606040" cy="457200"/>
          </a:xfrm>
          <a:prstGeom prst="roundRect">
            <a:avLst>
              <a:gd name="adj" fmla="val 12000"/>
            </a:avLst>
          </a:prstGeom>
          <a:solidFill>
            <a:srgbClr val="E6F2EC"/>
          </a:solidFill>
          <a:ln w="12700">
            <a:solidFill>
              <a:srgbClr val="E6F2EC"/>
            </a:solidFill>
            <a:prstDash val="solid"/>
          </a:ln>
        </p:spPr>
      </p:sp>
      <p:pic>
        <p:nvPicPr>
          <p:cNvPr id="49" name="Image 12" descr="preencoded.png">    </p:cNvPr>
          <p:cNvPicPr>
            <a:picLocks noChangeAspect="1"/>
          </p:cNvPicPr>
          <p:nvPr/>
        </p:nvPicPr>
        <p:blipFill>
          <a:blip r:embed="rId13"/>
          <a:stretch>
            <a:fillRect/>
          </a:stretch>
        </p:blipFill>
        <p:spPr>
          <a:xfrm>
            <a:off x="6144768" y="3108960"/>
            <a:ext cx="256032" cy="256032"/>
          </a:xfrm>
          <a:prstGeom prst="rect">
            <a:avLst/>
          </a:prstGeom>
        </p:spPr>
      </p:pic>
      <p:sp>
        <p:nvSpPr>
          <p:cNvPr id="50" name="Text 35"/>
          <p:cNvSpPr txBox="1"/>
          <p:nvPr/>
        </p:nvSpPr>
        <p:spPr>
          <a:xfrm>
            <a:off x="6492240" y="3017520"/>
            <a:ext cx="2103120" cy="457200"/>
          </a:xfrm>
          <a:prstGeom prst="rect">
            <a:avLst/>
          </a:prstGeom>
          <a:noFill/>
          <a:ln/>
        </p:spPr>
        <p:txBody>
          <a:bodyPr wrap="square" lIns="0" tIns="0" rIns="0" bIns="0" rtlCol="0" anchor="ctr"/>
          <a:lstStyle/>
          <a:p>
            <a:pPr indent="0" marL="0">
              <a:buNone/>
            </a:pPr>
            <a:r>
              <a:rPr lang="en-US" sz="1200" dirty="0">
                <a:solidFill>
                  <a:srgbClr val="1E2A26"/>
                </a:solidFill>
                <a:latin typeface="Calibri" pitchFamily="34" charset="0"/>
                <a:ea typeface="Calibri" pitchFamily="34" charset="-122"/>
                <a:cs typeface="Calibri" pitchFamily="34" charset="-120"/>
              </a:rPr>
              <a:t>Aplikasi Web + Backend</a:t>
            </a:r>
            <a:endParaRPr lang="en-US" sz="1200" dirty="0"/>
          </a:p>
        </p:txBody>
      </p:sp>
      <p:sp>
        <p:nvSpPr>
          <p:cNvPr id="51" name="Shape 36"/>
          <p:cNvSpPr/>
          <p:nvPr/>
        </p:nvSpPr>
        <p:spPr>
          <a:xfrm>
            <a:off x="6035040" y="3566160"/>
            <a:ext cx="2606040" cy="457200"/>
          </a:xfrm>
          <a:prstGeom prst="roundRect">
            <a:avLst>
              <a:gd name="adj" fmla="val 12000"/>
            </a:avLst>
          </a:prstGeom>
          <a:solidFill>
            <a:srgbClr val="E6F2EC"/>
          </a:solidFill>
          <a:ln w="12700">
            <a:solidFill>
              <a:srgbClr val="E6F2EC"/>
            </a:solidFill>
            <a:prstDash val="solid"/>
          </a:ln>
        </p:spPr>
      </p:sp>
      <p:pic>
        <p:nvPicPr>
          <p:cNvPr id="52" name="Image 13" descr="preencoded.png">    </p:cNvPr>
          <p:cNvPicPr>
            <a:picLocks noChangeAspect="1"/>
          </p:cNvPicPr>
          <p:nvPr/>
        </p:nvPicPr>
        <p:blipFill>
          <a:blip r:embed="rId14"/>
          <a:stretch>
            <a:fillRect/>
          </a:stretch>
        </p:blipFill>
        <p:spPr>
          <a:xfrm>
            <a:off x="6144768" y="3657600"/>
            <a:ext cx="256032" cy="256032"/>
          </a:xfrm>
          <a:prstGeom prst="rect">
            <a:avLst/>
          </a:prstGeom>
        </p:spPr>
      </p:pic>
      <p:sp>
        <p:nvSpPr>
          <p:cNvPr id="53" name="Text 37"/>
          <p:cNvSpPr txBox="1"/>
          <p:nvPr/>
        </p:nvSpPr>
        <p:spPr>
          <a:xfrm>
            <a:off x="6492240" y="3566160"/>
            <a:ext cx="2103120" cy="457200"/>
          </a:xfrm>
          <a:prstGeom prst="rect">
            <a:avLst/>
          </a:prstGeom>
          <a:noFill/>
          <a:ln/>
        </p:spPr>
        <p:txBody>
          <a:bodyPr wrap="square" lIns="0" tIns="0" rIns="0" bIns="0" rtlCol="0" anchor="ctr"/>
          <a:lstStyle/>
          <a:p>
            <a:pPr indent="0" marL="0">
              <a:buNone/>
            </a:pPr>
            <a:r>
              <a:rPr lang="en-US" sz="1200" dirty="0">
                <a:solidFill>
                  <a:srgbClr val="1E2A26"/>
                </a:solidFill>
                <a:latin typeface="Calibri" pitchFamily="34" charset="0"/>
                <a:ea typeface="Calibri" pitchFamily="34" charset="-122"/>
                <a:cs typeface="Calibri" pitchFamily="34" charset="-120"/>
              </a:rPr>
              <a:t>Digital Solution Project</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Menyiapkan Presentasi dan Portofolio</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Kerja kelompok dan individu</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1–3</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Slide dan demo</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4–5</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Portofolio tiga tahun</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Latihan presentasi</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Slide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12: Proyek Akhir Kelas IX · Pertemuan 35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Presentasi_Proyek_Akhir_Kel3 - Google Slides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docs.google.com/presentation/...</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Presentasi_Proyek_Akhir_Kel3</a:t>
            </a:r>
            <a:endParaRPr lang="en-US" sz="900" dirty="0"/>
          </a:p>
        </p:txBody>
      </p:sp>
      <p:sp>
        <p:nvSpPr>
          <p:cNvPr id="30" name="Text 22"/>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Slide</a:t>
            </a:r>
            <a:endParaRPr lang="en-US" sz="700" dirty="0"/>
          </a:p>
        </p:txBody>
      </p:sp>
      <p:sp>
        <p:nvSpPr>
          <p:cNvPr id="36" name="Text 28"/>
          <p:cNvSpPr txBox="1"/>
          <p:nvPr/>
        </p:nvSpPr>
        <p:spPr>
          <a:xfrm>
            <a:off x="327611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Arrange</a:t>
            </a:r>
            <a:endParaRPr lang="en-US" sz="700" dirty="0"/>
          </a:p>
        </p:txBody>
      </p:sp>
      <p:sp>
        <p:nvSpPr>
          <p:cNvPr id="37" name="Text 29"/>
          <p:cNvSpPr txBox="1"/>
          <p:nvPr/>
        </p:nvSpPr>
        <p:spPr>
          <a:xfrm>
            <a:off x="366016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8" name="Shape 30"/>
          <p:cNvSpPr/>
          <p:nvPr/>
        </p:nvSpPr>
        <p:spPr>
          <a:xfrm>
            <a:off x="4121384" y="1714253"/>
            <a:ext cx="685800" cy="237744"/>
          </a:xfrm>
          <a:prstGeom prst="roundRect">
            <a:avLst>
              <a:gd name="adj" fmla="val 50000"/>
            </a:avLst>
          </a:prstGeom>
          <a:solidFill>
            <a:srgbClr val="FFFFFF"/>
          </a:solidFill>
          <a:ln w="9525">
            <a:solidFill>
              <a:srgbClr val="888888"/>
            </a:solidFill>
            <a:prstDash val="solid"/>
          </a:ln>
        </p:spPr>
      </p:sp>
      <p:sp>
        <p:nvSpPr>
          <p:cNvPr id="39" name="Text 31"/>
          <p:cNvSpPr txBox="1"/>
          <p:nvPr/>
        </p:nvSpPr>
        <p:spPr>
          <a:xfrm>
            <a:off x="4121384" y="1714253"/>
            <a:ext cx="685800" cy="237744"/>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 Slideshow</a:t>
            </a:r>
            <a:endParaRPr lang="en-US" sz="750" dirty="0"/>
          </a:p>
        </p:txBody>
      </p:sp>
      <p:sp>
        <p:nvSpPr>
          <p:cNvPr id="40" name="Shape 32"/>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41" name="Text 33"/>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2" name="Shape 34"/>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3" name="Text 35"/>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1100" b="1" dirty="0">
                <a:solidFill>
                  <a:srgbClr val="1E2A26"/>
                </a:solidFill>
                <a:latin typeface="Calibri" pitchFamily="34" charset="0"/>
                <a:ea typeface="Calibri" pitchFamily="34" charset="-122"/>
                <a:cs typeface="Calibri" pitchFamily="34" charset="-120"/>
              </a:rPr>
              <a:t>+</a:t>
            </a:r>
            <a:endParaRPr lang="en-US" sz="1100" dirty="0"/>
          </a:p>
        </p:txBody>
      </p:sp>
      <p:sp>
        <p:nvSpPr>
          <p:cNvPr id="44" name="Text 36"/>
          <p:cNvSpPr txBox="1"/>
          <p:nvPr/>
        </p:nvSpPr>
        <p:spPr>
          <a:xfrm>
            <a:off x="953536" y="2098301"/>
            <a:ext cx="128016"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5" name="Text 37"/>
          <p:cNvSpPr txBox="1"/>
          <p:nvPr/>
        </p:nvSpPr>
        <p:spPr>
          <a:xfrm>
            <a:off x="1127272" y="2098301"/>
            <a:ext cx="1828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46" name="Text 38"/>
          <p:cNvSpPr txBox="1"/>
          <p:nvPr/>
        </p:nvSpPr>
        <p:spPr>
          <a:xfrm>
            <a:off x="1355872"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7" name="Text 39"/>
          <p:cNvSpPr txBox="1"/>
          <p:nvPr/>
        </p:nvSpPr>
        <p:spPr>
          <a:xfrm>
            <a:off x="1621048" y="2098301"/>
            <a:ext cx="219456" cy="182880"/>
          </a:xfrm>
          <a:prstGeom prst="rect">
            <a:avLst/>
          </a:prstGeom>
          <a:noFill/>
          <a:ln/>
        </p:spPr>
        <p:txBody>
          <a:bodyPr wrap="square" lIns="0" tIns="0" rIns="0" bIns="0" rtlCol="0" anchor="ctr"/>
          <a:lstStyle/>
          <a:p>
            <a:pPr algn="ctr" indent="0" marL="0">
              <a:buNone/>
            </a:pPr>
            <a:endParaRPr lang="en-US" sz="700" dirty="0"/>
          </a:p>
        </p:txBody>
      </p:sp>
      <p:sp>
        <p:nvSpPr>
          <p:cNvPr id="48" name="Text 40"/>
          <p:cNvSpPr txBox="1"/>
          <p:nvPr/>
        </p:nvSpPr>
        <p:spPr>
          <a:xfrm>
            <a:off x="1886224" y="2098301"/>
            <a:ext cx="621792"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Background</a:t>
            </a:r>
            <a:endParaRPr lang="en-US" sz="700" dirty="0"/>
          </a:p>
        </p:txBody>
      </p:sp>
      <p:sp>
        <p:nvSpPr>
          <p:cNvPr id="49" name="Text 41"/>
          <p:cNvSpPr txBox="1"/>
          <p:nvPr/>
        </p:nvSpPr>
        <p:spPr>
          <a:xfrm>
            <a:off x="2553736" y="2098301"/>
            <a:ext cx="50292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Layout ▾</a:t>
            </a:r>
            <a:endParaRPr lang="en-US" sz="700" dirty="0"/>
          </a:p>
        </p:txBody>
      </p:sp>
      <p:sp>
        <p:nvSpPr>
          <p:cNvPr id="50" name="Text 42"/>
          <p:cNvSpPr txBox="1"/>
          <p:nvPr/>
        </p:nvSpPr>
        <p:spPr>
          <a:xfrm>
            <a:off x="3102376" y="2098301"/>
            <a:ext cx="41148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Theme</a:t>
            </a:r>
            <a:endParaRPr lang="en-US" sz="700" dirty="0"/>
          </a:p>
        </p:txBody>
      </p:sp>
      <p:sp>
        <p:nvSpPr>
          <p:cNvPr id="51" name="Text 43"/>
          <p:cNvSpPr txBox="1"/>
          <p:nvPr/>
        </p:nvSpPr>
        <p:spPr>
          <a:xfrm>
            <a:off x="3559576" y="2098301"/>
            <a:ext cx="548640" cy="182880"/>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Transition</a:t>
            </a:r>
            <a:endParaRPr lang="en-US" sz="700" dirty="0"/>
          </a:p>
        </p:txBody>
      </p:sp>
      <p:pic>
        <p:nvPicPr>
          <p:cNvPr id="52" name="Image 6" descr="preencoded.png">    </p:cNvPr>
          <p:cNvPicPr>
            <a:picLocks noChangeAspect="1"/>
          </p:cNvPicPr>
          <p:nvPr/>
        </p:nvPicPr>
        <p:blipFill>
          <a:blip r:embed="rId7"/>
          <a:stretch>
            <a:fillRect/>
          </a:stretch>
        </p:blipFill>
        <p:spPr>
          <a:xfrm>
            <a:off x="1401592" y="2125733"/>
            <a:ext cx="128016" cy="128016"/>
          </a:xfrm>
          <a:prstGeom prst="rect">
            <a:avLst/>
          </a:prstGeom>
        </p:spPr>
      </p:pic>
      <p:pic>
        <p:nvPicPr>
          <p:cNvPr id="53" name="Image 7" descr="preencoded.png">    </p:cNvPr>
          <p:cNvPicPr>
            <a:picLocks noChangeAspect="1"/>
          </p:cNvPicPr>
          <p:nvPr/>
        </p:nvPicPr>
        <p:blipFill>
          <a:blip r:embed="rId8"/>
          <a:stretch>
            <a:fillRect/>
          </a:stretch>
        </p:blipFill>
        <p:spPr>
          <a:xfrm>
            <a:off x="1666768" y="2125733"/>
            <a:ext cx="128016" cy="128016"/>
          </a:xfrm>
          <a:prstGeom prst="rect">
            <a:avLst/>
          </a:prstGeom>
        </p:spPr>
      </p:pic>
      <p:sp>
        <p:nvSpPr>
          <p:cNvPr id="54" name="Shape 44"/>
          <p:cNvSpPr/>
          <p:nvPr/>
        </p:nvSpPr>
        <p:spPr>
          <a:xfrm>
            <a:off x="587776" y="2354333"/>
            <a:ext cx="4950927" cy="1641051"/>
          </a:xfrm>
          <a:prstGeom prst="rect">
            <a:avLst/>
          </a:prstGeom>
          <a:solidFill>
            <a:srgbClr val="F8F9FA"/>
          </a:solidFill>
          <a:ln w="12700">
            <a:solidFill>
              <a:srgbClr val="F8F9FA"/>
            </a:solidFill>
            <a:prstDash val="solid"/>
          </a:ln>
        </p:spPr>
      </p:sp>
      <p:sp>
        <p:nvSpPr>
          <p:cNvPr id="55" name="Text 45"/>
          <p:cNvSpPr txBox="1"/>
          <p:nvPr/>
        </p:nvSpPr>
        <p:spPr>
          <a:xfrm>
            <a:off x="633496" y="2464061"/>
            <a:ext cx="137160" cy="137160"/>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1</a:t>
            </a:r>
            <a:endParaRPr lang="en-US" sz="600" dirty="0"/>
          </a:p>
        </p:txBody>
      </p:sp>
      <p:sp>
        <p:nvSpPr>
          <p:cNvPr id="56" name="Shape 46"/>
          <p:cNvSpPr/>
          <p:nvPr/>
        </p:nvSpPr>
        <p:spPr>
          <a:xfrm>
            <a:off x="788944" y="2464061"/>
            <a:ext cx="566928" cy="318897"/>
          </a:xfrm>
          <a:prstGeom prst="rect">
            <a:avLst/>
          </a:prstGeom>
          <a:solidFill>
            <a:srgbClr val="FFFFFF"/>
          </a:solidFill>
          <a:ln w="19050">
            <a:solidFill>
              <a:srgbClr val="F4B400"/>
            </a:solidFill>
            <a:prstDash val="solid"/>
          </a:ln>
        </p:spPr>
      </p:sp>
      <p:sp>
        <p:nvSpPr>
          <p:cNvPr id="57" name="Shape 47"/>
          <p:cNvSpPr/>
          <p:nvPr/>
        </p:nvSpPr>
        <p:spPr>
          <a:xfrm>
            <a:off x="2196348" y="2464061"/>
            <a:ext cx="2511024" cy="1412451"/>
          </a:xfrm>
          <a:prstGeom prst="rect">
            <a:avLst/>
          </a:prstGeom>
          <a:solidFill>
            <a:srgbClr val="FFFFFF"/>
          </a:solidFill>
          <a:ln w="6350">
            <a:solidFill>
              <a:srgbClr val="DDDDDD"/>
            </a:solidFill>
            <a:prstDash val="solid"/>
          </a:ln>
        </p:spPr>
      </p:sp>
      <p:sp>
        <p:nvSpPr>
          <p:cNvPr id="58" name="Text 48"/>
          <p:cNvSpPr txBox="1"/>
          <p:nvPr/>
        </p:nvSpPr>
        <p:spPr>
          <a:xfrm>
            <a:off x="2360940" y="2573789"/>
            <a:ext cx="2181840" cy="292608"/>
          </a:xfrm>
          <a:prstGeom prst="rect">
            <a:avLst/>
          </a:prstGeom>
          <a:noFill/>
          <a:ln/>
        </p:spPr>
        <p:txBody>
          <a:bodyPr wrap="square" lIns="0" tIns="0" rIns="0" bIns="0" rtlCol="0" anchor="ctr"/>
          <a:lstStyle/>
          <a:p>
            <a:pPr indent="0" marL="0">
              <a:buNone/>
            </a:pPr>
            <a:r>
              <a:rPr lang="en-US" sz="1100" dirty="0">
                <a:solidFill>
                  <a:srgbClr val="888888"/>
                </a:solidFill>
                <a:latin typeface="Arial" pitchFamily="34" charset="0"/>
                <a:ea typeface="Arial" pitchFamily="34" charset="-122"/>
                <a:cs typeface="Arial" pitchFamily="34" charset="-120"/>
              </a:rPr>
              <a:t>Click to add title</a:t>
            </a:r>
            <a:endParaRPr lang="en-US" sz="1100" dirty="0"/>
          </a:p>
        </p:txBody>
      </p:sp>
      <p:sp>
        <p:nvSpPr>
          <p:cNvPr id="59" name="Text 49"/>
          <p:cNvSpPr txBox="1"/>
          <p:nvPr/>
        </p:nvSpPr>
        <p:spPr>
          <a:xfrm>
            <a:off x="2360940" y="2921261"/>
            <a:ext cx="2181840" cy="274320"/>
          </a:xfrm>
          <a:prstGeom prst="rect">
            <a:avLst/>
          </a:prstGeom>
          <a:noFill/>
          <a:ln/>
        </p:spPr>
        <p:txBody>
          <a:bodyPr wrap="square" lIns="0" tIns="0" rIns="0" bIns="0" rtlCol="0" anchor="t"/>
          <a:lstStyle/>
          <a:p>
            <a:pPr indent="0" marL="0">
              <a:buNone/>
            </a:pPr>
            <a:r>
              <a:rPr lang="en-US" sz="900" dirty="0">
                <a:solidFill>
                  <a:srgbClr val="888888"/>
                </a:solidFill>
                <a:latin typeface="Calibri" pitchFamily="34" charset="0"/>
                <a:ea typeface="Calibri" pitchFamily="34" charset="-122"/>
                <a:cs typeface="Calibri" pitchFamily="34" charset="-120"/>
              </a:rPr>
              <a:t>Click to add text</a:t>
            </a:r>
            <a:endParaRPr lang="en-US" sz="900" dirty="0"/>
          </a:p>
        </p:txBody>
      </p:sp>
      <p:sp>
        <p:nvSpPr>
          <p:cNvPr id="60" name="Shape 50"/>
          <p:cNvSpPr/>
          <p:nvPr/>
        </p:nvSpPr>
        <p:spPr>
          <a:xfrm>
            <a:off x="615208" y="2025149"/>
            <a:ext cx="4896063" cy="1933659"/>
          </a:xfrm>
          <a:prstGeom prst="roundRect">
            <a:avLst>
              <a:gd name="adj" fmla="val 2364"/>
            </a:avLst>
          </a:prstGeom>
          <a:solidFill>
            <a:srgbClr val="FFFFFF">
              <a:alpha val="0"/>
            </a:srgbClr>
          </a:solidFill>
          <a:ln w="31750">
            <a:solidFill>
              <a:srgbClr val="E53935"/>
            </a:solidFill>
            <a:prstDash val="solid"/>
          </a:ln>
        </p:spPr>
      </p:sp>
      <p:sp>
        <p:nvSpPr>
          <p:cNvPr id="61" name="Shape 51"/>
          <p:cNvSpPr/>
          <p:nvPr/>
        </p:nvSpPr>
        <p:spPr>
          <a:xfrm>
            <a:off x="5374112" y="1887989"/>
            <a:ext cx="274320" cy="274320"/>
          </a:xfrm>
          <a:prstGeom prst="ellipse">
            <a:avLst/>
          </a:prstGeom>
          <a:solidFill>
            <a:srgbClr val="E53935"/>
          </a:solidFill>
          <a:ln w="12700">
            <a:solidFill>
              <a:srgbClr val="FFFFFF"/>
            </a:solidFill>
            <a:prstDash val="solid"/>
          </a:ln>
        </p:spPr>
      </p:sp>
      <p:sp>
        <p:nvSpPr>
          <p:cNvPr id="62" name="Text 52"/>
          <p:cNvSpPr txBox="1"/>
          <p:nvPr/>
        </p:nvSpPr>
        <p:spPr>
          <a:xfrm>
            <a:off x="5374112" y="188798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63" name="Text 5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64" name="Text 5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Buat slide presentasi (maks 8)</a:t>
            </a:r>
            <a:endParaRPr lang="en-US" sz="1800" dirty="0"/>
          </a:p>
        </p:txBody>
      </p:sp>
      <p:sp>
        <p:nvSpPr>
          <p:cNvPr id="65" name="Text 5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Google Slides atau Canva. Pakai template pondok dari Kelas VII. Satu ide per slide, sedikit teks, banyak gambar/tangkapan layar.</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Demo</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12: Proyek Akhir Kelas IX · Pertemuan 35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Skenario_Demo_Kel3 -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Skenario_Demo_Kel3</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Skenario Demo (90 detik)</a:t>
            </a:r>
            <a:endParaRPr lang="en-US" sz="1100" dirty="0"/>
          </a:p>
        </p:txBody>
      </p:sp>
      <p:sp>
        <p:nvSpPr>
          <p:cNvPr id="70" name="Text 59"/>
          <p:cNvSpPr txBox="1"/>
          <p:nvPr/>
        </p:nvSpPr>
        <p:spPr>
          <a:xfrm>
            <a:off x="1645920" y="2876938"/>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1. Pindai QR di poster (10 dtk)</a:t>
            </a:r>
            <a:endParaRPr lang="en-US" sz="750" dirty="0"/>
          </a:p>
        </p:txBody>
      </p:sp>
      <p:sp>
        <p:nvSpPr>
          <p:cNvPr id="71" name="Text 60"/>
          <p:cNvSpPr txBox="1"/>
          <p:nvPr/>
        </p:nvSpPr>
        <p:spPr>
          <a:xfrm>
            <a:off x="1645920" y="3024195"/>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2. Simpan setoran S004, Yasin, 12 ayat (25 dtk)</a:t>
            </a:r>
            <a:endParaRPr lang="en-US" sz="750" dirty="0"/>
          </a:p>
        </p:txBody>
      </p:sp>
      <p:sp>
        <p:nvSpPr>
          <p:cNvPr id="72" name="Text 61"/>
          <p:cNvSpPr txBox="1"/>
          <p:nvPr/>
        </p:nvSpPr>
        <p:spPr>
          <a:xfrm>
            <a:off x="1645920" y="3171451"/>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3. Tunjukkan baris baru di Sheets (proyektor) (15 dtk)</a:t>
            </a:r>
            <a:endParaRPr lang="en-US" sz="750" dirty="0"/>
          </a:p>
        </p:txBody>
      </p:sp>
      <p:sp>
        <p:nvSpPr>
          <p:cNvPr id="73" name="Text 62"/>
          <p:cNvSpPr txBox="1"/>
          <p:nvPr/>
        </p:nvSpPr>
        <p:spPr>
          <a:xfrm>
            <a:off x="1645920" y="3318708"/>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4. Cek total S004 + grafik capaian (25 dtk)</a:t>
            </a:r>
            <a:endParaRPr lang="en-US" sz="750" dirty="0"/>
          </a:p>
        </p:txBody>
      </p:sp>
      <p:sp>
        <p:nvSpPr>
          <p:cNvPr id="74" name="Text 63"/>
          <p:cNvSpPr txBox="1"/>
          <p:nvPr/>
        </p:nvSpPr>
        <p:spPr>
          <a:xfrm>
            <a:off x="1645920" y="3465964"/>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5. Tunjukkan Laporkan Masalah &amp; versi (15 dtk)</a:t>
            </a:r>
            <a:endParaRPr lang="en-US" sz="750" dirty="0"/>
          </a:p>
        </p:txBody>
      </p:sp>
      <p:sp>
        <p:nvSpPr>
          <p:cNvPr id="75" name="Shape 64"/>
          <p:cNvSpPr/>
          <p:nvPr/>
        </p:nvSpPr>
        <p:spPr>
          <a:xfrm>
            <a:off x="1527048" y="2849506"/>
            <a:ext cx="3072384" cy="782003"/>
          </a:xfrm>
          <a:prstGeom prst="roundRect">
            <a:avLst>
              <a:gd name="adj" fmla="val 5847"/>
            </a:avLst>
          </a:prstGeom>
          <a:solidFill>
            <a:srgbClr val="FFFFFF">
              <a:alpha val="0"/>
            </a:srgbClr>
          </a:solidFill>
          <a:ln w="31750">
            <a:solidFill>
              <a:srgbClr val="E53935"/>
            </a:solidFill>
            <a:prstDash val="solid"/>
          </a:ln>
        </p:spPr>
      </p:sp>
      <p:sp>
        <p:nvSpPr>
          <p:cNvPr id="76" name="Shape 65"/>
          <p:cNvSpPr/>
          <p:nvPr/>
        </p:nvSpPr>
        <p:spPr>
          <a:xfrm>
            <a:off x="4462272" y="2712346"/>
            <a:ext cx="274320" cy="274320"/>
          </a:xfrm>
          <a:prstGeom prst="ellipse">
            <a:avLst/>
          </a:prstGeom>
          <a:solidFill>
            <a:srgbClr val="E53935"/>
          </a:solidFill>
          <a:ln w="12700">
            <a:solidFill>
              <a:srgbClr val="FFFFFF"/>
            </a:solidFill>
            <a:prstDash val="solid"/>
          </a:ln>
        </p:spPr>
      </p:sp>
      <p:sp>
        <p:nvSpPr>
          <p:cNvPr id="77" name="Text 66"/>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78" name="Image 9" descr="preencoded.png">    </p:cNvPr>
          <p:cNvPicPr>
            <a:picLocks noChangeAspect="1"/>
          </p:cNvPicPr>
          <p:nvPr/>
        </p:nvPicPr>
        <p:blipFill>
          <a:blip r:embed="rId10"/>
          <a:stretch>
            <a:fillRect/>
          </a:stretch>
        </p:blipFill>
        <p:spPr>
          <a:xfrm>
            <a:off x="3214116" y="3276864"/>
            <a:ext cx="237744" cy="237744"/>
          </a:xfrm>
          <a:prstGeom prst="rect">
            <a:avLst/>
          </a:prstGeom>
        </p:spPr>
      </p:pic>
      <p:sp>
        <p:nvSpPr>
          <p:cNvPr id="79" name="Text 6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80" name="Text 6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Rancang skenario demo 90 detik</a:t>
            </a:r>
            <a:endParaRPr lang="en-US" sz="1800" dirty="0"/>
          </a:p>
        </p:txBody>
      </p:sp>
      <p:sp>
        <p:nvSpPr>
          <p:cNvPr id="81" name="Text 6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Tulis langkah demo: pindai QR → simpan setoran → cek total → tunjukkan data masuk Sheets. Siapkan data latihan.</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Demo</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12: Proyek Akhir Kelas IX · Pertemuan 35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781888"/>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2B2B33"/>
          </a:solidFill>
          <a:ln w="12700">
            <a:solidFill>
              <a:srgbClr val="2B2B33"/>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Clipchamp - Video editor</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562432"/>
          </a:xfrm>
          <a:prstGeom prst="rect">
            <a:avLst/>
          </a:prstGeom>
          <a:solidFill>
            <a:srgbClr val="1F1F26"/>
          </a:solidFill>
          <a:ln w="12700">
            <a:solidFill>
              <a:srgbClr val="1F1F26"/>
            </a:solidFill>
            <a:prstDash val="solid"/>
          </a:ln>
        </p:spPr>
      </p:sp>
      <p:sp>
        <p:nvSpPr>
          <p:cNvPr id="23" name="Text 19"/>
          <p:cNvSpPr txBox="1"/>
          <p:nvPr/>
        </p:nvSpPr>
        <p:spPr>
          <a:xfrm>
            <a:off x="679216" y="1421645"/>
            <a:ext cx="1828800" cy="201168"/>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Demo_Setoran_Harian_Kel3</a:t>
            </a:r>
            <a:endParaRPr lang="en-US" sz="750" dirty="0"/>
          </a:p>
        </p:txBody>
      </p:sp>
      <p:sp>
        <p:nvSpPr>
          <p:cNvPr id="24" name="Shape 20"/>
          <p:cNvSpPr/>
          <p:nvPr/>
        </p:nvSpPr>
        <p:spPr>
          <a:xfrm>
            <a:off x="4852904" y="1430789"/>
            <a:ext cx="594360" cy="201168"/>
          </a:xfrm>
          <a:prstGeom prst="roundRect">
            <a:avLst>
              <a:gd name="adj" fmla="val 22727"/>
            </a:avLst>
          </a:prstGeom>
          <a:solidFill>
            <a:srgbClr val="7B5CFA"/>
          </a:solidFill>
          <a:ln w="12700">
            <a:solidFill>
              <a:srgbClr val="7B5CFA"/>
            </a:solidFill>
            <a:prstDash val="solid"/>
          </a:ln>
        </p:spPr>
      </p:sp>
      <p:sp>
        <p:nvSpPr>
          <p:cNvPr id="25" name="Text 21"/>
          <p:cNvSpPr txBox="1"/>
          <p:nvPr/>
        </p:nvSpPr>
        <p:spPr>
          <a:xfrm>
            <a:off x="4852904" y="1430789"/>
            <a:ext cx="59436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Export</a:t>
            </a:r>
            <a:endParaRPr lang="en-US" sz="750" dirty="0"/>
          </a:p>
        </p:txBody>
      </p:sp>
      <p:pic>
        <p:nvPicPr>
          <p:cNvPr id="26" name="Image 2" descr="preencoded.png">    </p:cNvPr>
          <p:cNvPicPr>
            <a:picLocks noChangeAspect="1"/>
          </p:cNvPicPr>
          <p:nvPr/>
        </p:nvPicPr>
        <p:blipFill>
          <a:blip r:embed="rId3"/>
          <a:stretch>
            <a:fillRect/>
          </a:stretch>
        </p:blipFill>
        <p:spPr>
          <a:xfrm>
            <a:off x="761512" y="1705109"/>
            <a:ext cx="146304" cy="146304"/>
          </a:xfrm>
          <a:prstGeom prst="rect">
            <a:avLst/>
          </a:prstGeom>
        </p:spPr>
      </p:pic>
      <p:sp>
        <p:nvSpPr>
          <p:cNvPr id="27" name="Text 22"/>
          <p:cNvSpPr txBox="1"/>
          <p:nvPr/>
        </p:nvSpPr>
        <p:spPr>
          <a:xfrm>
            <a:off x="596920" y="1869701"/>
            <a:ext cx="475488" cy="137160"/>
          </a:xfrm>
          <a:prstGeom prst="rect">
            <a:avLst/>
          </a:prstGeom>
          <a:noFill/>
          <a:ln/>
        </p:spPr>
        <p:txBody>
          <a:bodyPr wrap="square" lIns="0" tIns="0" rIns="0" bIns="0" rtlCol="0" anchor="t"/>
          <a:lstStyle/>
          <a:p>
            <a:pPr algn="ctr" indent="0" marL="0">
              <a:buNone/>
            </a:pPr>
            <a:r>
              <a:rPr lang="en-US" sz="500" dirty="0">
                <a:solidFill>
                  <a:srgbClr val="FFFFFF"/>
                </a:solidFill>
                <a:latin typeface="Calibri" pitchFamily="34" charset="0"/>
                <a:ea typeface="Calibri" pitchFamily="34" charset="-122"/>
                <a:cs typeface="Calibri" pitchFamily="34" charset="-120"/>
              </a:rPr>
              <a:t>Media</a:t>
            </a:r>
            <a:endParaRPr lang="en-US" sz="500" dirty="0"/>
          </a:p>
        </p:txBody>
      </p:sp>
      <p:pic>
        <p:nvPicPr>
          <p:cNvPr id="28" name="Image 3" descr="preencoded.png">    </p:cNvPr>
          <p:cNvPicPr>
            <a:picLocks noChangeAspect="1"/>
          </p:cNvPicPr>
          <p:nvPr/>
        </p:nvPicPr>
        <p:blipFill>
          <a:blip r:embed="rId4"/>
          <a:stretch>
            <a:fillRect/>
          </a:stretch>
        </p:blipFill>
        <p:spPr>
          <a:xfrm>
            <a:off x="761512" y="2089157"/>
            <a:ext cx="146304" cy="146304"/>
          </a:xfrm>
          <a:prstGeom prst="rect">
            <a:avLst/>
          </a:prstGeom>
        </p:spPr>
      </p:pic>
      <p:sp>
        <p:nvSpPr>
          <p:cNvPr id="29" name="Text 23"/>
          <p:cNvSpPr txBox="1"/>
          <p:nvPr/>
        </p:nvSpPr>
        <p:spPr>
          <a:xfrm>
            <a:off x="596920" y="2253749"/>
            <a:ext cx="475488" cy="137160"/>
          </a:xfrm>
          <a:prstGeom prst="rect">
            <a:avLst/>
          </a:prstGeom>
          <a:noFill/>
          <a:ln/>
        </p:spPr>
        <p:txBody>
          <a:bodyPr wrap="square" lIns="0" tIns="0" rIns="0" bIns="0" rtlCol="0" anchor="t"/>
          <a:lstStyle/>
          <a:p>
            <a:pPr algn="ctr" indent="0" marL="0">
              <a:buNone/>
            </a:pPr>
            <a:r>
              <a:rPr lang="en-US" sz="500" dirty="0">
                <a:solidFill>
                  <a:srgbClr val="FFFFFF"/>
                </a:solidFill>
                <a:latin typeface="Calibri" pitchFamily="34" charset="0"/>
                <a:ea typeface="Calibri" pitchFamily="34" charset="-122"/>
                <a:cs typeface="Calibri" pitchFamily="34" charset="-120"/>
              </a:rPr>
              <a:t>Text</a:t>
            </a:r>
            <a:endParaRPr lang="en-US" sz="500" dirty="0"/>
          </a:p>
        </p:txBody>
      </p:sp>
      <p:pic>
        <p:nvPicPr>
          <p:cNvPr id="30" name="Image 4" descr="preencoded.png">    </p:cNvPr>
          <p:cNvPicPr>
            <a:picLocks noChangeAspect="1"/>
          </p:cNvPicPr>
          <p:nvPr/>
        </p:nvPicPr>
        <p:blipFill>
          <a:blip r:embed="rId5"/>
          <a:stretch>
            <a:fillRect/>
          </a:stretch>
        </p:blipFill>
        <p:spPr>
          <a:xfrm>
            <a:off x="761512" y="2473205"/>
            <a:ext cx="146304" cy="146304"/>
          </a:xfrm>
          <a:prstGeom prst="rect">
            <a:avLst/>
          </a:prstGeom>
        </p:spPr>
      </p:pic>
      <p:sp>
        <p:nvSpPr>
          <p:cNvPr id="31" name="Text 24"/>
          <p:cNvSpPr txBox="1"/>
          <p:nvPr/>
        </p:nvSpPr>
        <p:spPr>
          <a:xfrm>
            <a:off x="596920" y="2637797"/>
            <a:ext cx="475488" cy="137160"/>
          </a:xfrm>
          <a:prstGeom prst="rect">
            <a:avLst/>
          </a:prstGeom>
          <a:noFill/>
          <a:ln/>
        </p:spPr>
        <p:txBody>
          <a:bodyPr wrap="square" lIns="0" tIns="0" rIns="0" bIns="0" rtlCol="0" anchor="t"/>
          <a:lstStyle/>
          <a:p>
            <a:pPr algn="ctr" indent="0" marL="0">
              <a:buNone/>
            </a:pPr>
            <a:r>
              <a:rPr lang="en-US" sz="500" dirty="0">
                <a:solidFill>
                  <a:srgbClr val="FFFFFF"/>
                </a:solidFill>
                <a:latin typeface="Calibri" pitchFamily="34" charset="0"/>
                <a:ea typeface="Calibri" pitchFamily="34" charset="-122"/>
                <a:cs typeface="Calibri" pitchFamily="34" charset="-120"/>
              </a:rPr>
              <a:t>Audio</a:t>
            </a:r>
            <a:endParaRPr lang="en-US" sz="500" dirty="0"/>
          </a:p>
        </p:txBody>
      </p:sp>
      <p:pic>
        <p:nvPicPr>
          <p:cNvPr id="32" name="Image 5" descr="preencoded.png">    </p:cNvPr>
          <p:cNvPicPr>
            <a:picLocks noChangeAspect="1"/>
          </p:cNvPicPr>
          <p:nvPr/>
        </p:nvPicPr>
        <p:blipFill>
          <a:blip r:embed="rId6"/>
          <a:stretch>
            <a:fillRect/>
          </a:stretch>
        </p:blipFill>
        <p:spPr>
          <a:xfrm>
            <a:off x="761512" y="2857253"/>
            <a:ext cx="146304" cy="146304"/>
          </a:xfrm>
          <a:prstGeom prst="rect">
            <a:avLst/>
          </a:prstGeom>
        </p:spPr>
      </p:pic>
      <p:sp>
        <p:nvSpPr>
          <p:cNvPr id="33" name="Text 25"/>
          <p:cNvSpPr txBox="1"/>
          <p:nvPr/>
        </p:nvSpPr>
        <p:spPr>
          <a:xfrm>
            <a:off x="596920" y="3021845"/>
            <a:ext cx="475488" cy="137160"/>
          </a:xfrm>
          <a:prstGeom prst="rect">
            <a:avLst/>
          </a:prstGeom>
          <a:noFill/>
          <a:ln/>
        </p:spPr>
        <p:txBody>
          <a:bodyPr wrap="square" lIns="0" tIns="0" rIns="0" bIns="0" rtlCol="0" anchor="t"/>
          <a:lstStyle/>
          <a:p>
            <a:pPr algn="ctr" indent="0" marL="0">
              <a:buNone/>
            </a:pPr>
            <a:r>
              <a:rPr lang="en-US" sz="500" dirty="0">
                <a:solidFill>
                  <a:srgbClr val="FFFFFF"/>
                </a:solidFill>
                <a:latin typeface="Calibri" pitchFamily="34" charset="0"/>
                <a:ea typeface="Calibri" pitchFamily="34" charset="-122"/>
                <a:cs typeface="Calibri" pitchFamily="34" charset="-120"/>
              </a:rPr>
              <a:t>Transitions</a:t>
            </a:r>
            <a:endParaRPr lang="en-US" sz="500" dirty="0"/>
          </a:p>
        </p:txBody>
      </p:sp>
      <p:sp>
        <p:nvSpPr>
          <p:cNvPr id="34" name="Shape 26"/>
          <p:cNvSpPr/>
          <p:nvPr/>
        </p:nvSpPr>
        <p:spPr>
          <a:xfrm>
            <a:off x="1090696" y="1677677"/>
            <a:ext cx="1234440" cy="1282272"/>
          </a:xfrm>
          <a:prstGeom prst="roundRect">
            <a:avLst>
              <a:gd name="adj" fmla="val 2963"/>
            </a:avLst>
          </a:prstGeom>
          <a:solidFill>
            <a:srgbClr val="2A2A33"/>
          </a:solidFill>
          <a:ln w="12700">
            <a:solidFill>
              <a:srgbClr val="2A2A33"/>
            </a:solidFill>
            <a:prstDash val="solid"/>
          </a:ln>
        </p:spPr>
      </p:sp>
      <p:sp>
        <p:nvSpPr>
          <p:cNvPr id="35" name="Shape 27"/>
          <p:cNvSpPr/>
          <p:nvPr/>
        </p:nvSpPr>
        <p:spPr>
          <a:xfrm>
            <a:off x="1163848" y="1750829"/>
            <a:ext cx="1088136" cy="219456"/>
          </a:xfrm>
          <a:prstGeom prst="roundRect">
            <a:avLst>
              <a:gd name="adj" fmla="val 20833"/>
            </a:avLst>
          </a:prstGeom>
          <a:solidFill>
            <a:srgbClr val="7B5CFA"/>
          </a:solidFill>
          <a:ln w="12700">
            <a:solidFill>
              <a:srgbClr val="7B5CFA"/>
            </a:solidFill>
            <a:prstDash val="solid"/>
          </a:ln>
        </p:spPr>
      </p:sp>
      <p:sp>
        <p:nvSpPr>
          <p:cNvPr id="36" name="Text 28"/>
          <p:cNvSpPr txBox="1"/>
          <p:nvPr/>
        </p:nvSpPr>
        <p:spPr>
          <a:xfrm>
            <a:off x="1163848" y="1750829"/>
            <a:ext cx="1088136" cy="21945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Import media</a:t>
            </a:r>
            <a:endParaRPr lang="en-US" sz="700" dirty="0"/>
          </a:p>
        </p:txBody>
      </p:sp>
      <p:sp>
        <p:nvSpPr>
          <p:cNvPr id="37" name="Shape 29"/>
          <p:cNvSpPr/>
          <p:nvPr/>
        </p:nvSpPr>
        <p:spPr>
          <a:xfrm>
            <a:off x="2832762" y="1677677"/>
            <a:ext cx="2198315" cy="1236552"/>
          </a:xfrm>
          <a:prstGeom prst="rect">
            <a:avLst/>
          </a:prstGeom>
          <a:solidFill>
            <a:srgbClr val="6B8E9E"/>
          </a:solidFill>
          <a:ln w="12700">
            <a:solidFill>
              <a:srgbClr val="6B8E9E"/>
            </a:solidFill>
            <a:prstDash val="solid"/>
          </a:ln>
        </p:spPr>
      </p:sp>
      <p:sp>
        <p:nvSpPr>
          <p:cNvPr id="38" name="Shape 30"/>
          <p:cNvSpPr/>
          <p:nvPr/>
        </p:nvSpPr>
        <p:spPr>
          <a:xfrm>
            <a:off x="587776" y="3005669"/>
            <a:ext cx="4950927" cy="960120"/>
          </a:xfrm>
          <a:prstGeom prst="rect">
            <a:avLst/>
          </a:prstGeom>
          <a:solidFill>
            <a:srgbClr val="16161C"/>
          </a:solidFill>
          <a:ln w="12700">
            <a:solidFill>
              <a:srgbClr val="16161C"/>
            </a:solidFill>
            <a:prstDash val="solid"/>
          </a:ln>
        </p:spPr>
      </p:sp>
      <p:sp>
        <p:nvSpPr>
          <p:cNvPr id="39" name="Text 31"/>
          <p:cNvSpPr txBox="1"/>
          <p:nvPr/>
        </p:nvSpPr>
        <p:spPr>
          <a:xfrm>
            <a:off x="1136416" y="3005669"/>
            <a:ext cx="4310847" cy="118872"/>
          </a:xfrm>
          <a:prstGeom prst="rect">
            <a:avLst/>
          </a:prstGeom>
          <a:noFill/>
          <a:ln/>
        </p:spPr>
        <p:txBody>
          <a:bodyPr wrap="square" lIns="0" tIns="0" rIns="0" bIns="0" rtlCol="0" anchor="t"/>
          <a:lstStyle/>
          <a:p>
            <a:pPr indent="0" marL="0">
              <a:buNone/>
            </a:pPr>
            <a:r>
              <a:rPr lang="en-US" sz="500" dirty="0">
                <a:solidFill>
                  <a:srgbClr val="999999"/>
                </a:solidFill>
                <a:latin typeface="Calibri" pitchFamily="34" charset="0"/>
                <a:ea typeface="Calibri" pitchFamily="34" charset="-122"/>
                <a:cs typeface="Calibri" pitchFamily="34" charset="-120"/>
              </a:rPr>
              <a:t>0:00        0:15        0:30        0:45        1:00</a:t>
            </a:r>
            <a:endParaRPr lang="en-US" sz="500" dirty="0"/>
          </a:p>
        </p:txBody>
      </p:sp>
      <p:sp>
        <p:nvSpPr>
          <p:cNvPr id="40" name="Shape 32"/>
          <p:cNvSpPr/>
          <p:nvPr/>
        </p:nvSpPr>
        <p:spPr>
          <a:xfrm>
            <a:off x="1136416" y="3417149"/>
            <a:ext cx="1247534" cy="292608"/>
          </a:xfrm>
          <a:prstGeom prst="roundRect">
            <a:avLst>
              <a:gd name="adj" fmla="val 9375"/>
            </a:avLst>
          </a:prstGeom>
          <a:solidFill>
            <a:srgbClr val="6B8E9E"/>
          </a:solidFill>
          <a:ln w="6350">
            <a:solidFill>
              <a:srgbClr val="16161C"/>
            </a:solidFill>
            <a:prstDash val="solid"/>
          </a:ln>
        </p:spPr>
      </p:sp>
      <p:sp>
        <p:nvSpPr>
          <p:cNvPr id="41" name="Text 33"/>
          <p:cNvSpPr txBox="1"/>
          <p:nvPr/>
        </p:nvSpPr>
        <p:spPr>
          <a:xfrm>
            <a:off x="1172992" y="3417149"/>
            <a:ext cx="1247534" cy="292608"/>
          </a:xfrm>
          <a:prstGeom prst="rect">
            <a:avLst/>
          </a:prstGeom>
          <a:noFill/>
          <a:ln/>
        </p:spPr>
        <p:txBody>
          <a:bodyPr wrap="square" lIns="0" tIns="0" rIns="0" bIns="0" rtlCol="0" anchor="ctr"/>
          <a:lstStyle/>
          <a:p>
            <a:pPr indent="0" marL="0">
              <a:buNone/>
            </a:pPr>
            <a:r>
              <a:rPr lang="en-US" sz="600" dirty="0">
                <a:solidFill>
                  <a:srgbClr val="FFFFFF"/>
                </a:solidFill>
                <a:latin typeface="Calibri" pitchFamily="34" charset="0"/>
                <a:ea typeface="Calibri" pitchFamily="34" charset="-122"/>
                <a:cs typeface="Calibri" pitchFamily="34" charset="-120"/>
              </a:rPr>
              <a:t>Adegan 1</a:t>
            </a:r>
            <a:endParaRPr lang="en-US" sz="600" dirty="0"/>
          </a:p>
        </p:txBody>
      </p:sp>
      <p:sp>
        <p:nvSpPr>
          <p:cNvPr id="42" name="Shape 34"/>
          <p:cNvSpPr/>
          <p:nvPr/>
        </p:nvSpPr>
        <p:spPr>
          <a:xfrm>
            <a:off x="2402239" y="3417149"/>
            <a:ext cx="1458505" cy="292608"/>
          </a:xfrm>
          <a:prstGeom prst="roundRect">
            <a:avLst>
              <a:gd name="adj" fmla="val 9375"/>
            </a:avLst>
          </a:prstGeom>
          <a:solidFill>
            <a:srgbClr val="8E7B6B"/>
          </a:solidFill>
          <a:ln w="6350">
            <a:solidFill>
              <a:srgbClr val="16161C"/>
            </a:solidFill>
            <a:prstDash val="solid"/>
          </a:ln>
        </p:spPr>
      </p:sp>
      <p:sp>
        <p:nvSpPr>
          <p:cNvPr id="43" name="Text 35"/>
          <p:cNvSpPr txBox="1"/>
          <p:nvPr/>
        </p:nvSpPr>
        <p:spPr>
          <a:xfrm>
            <a:off x="2438815" y="3417149"/>
            <a:ext cx="1458505" cy="292608"/>
          </a:xfrm>
          <a:prstGeom prst="rect">
            <a:avLst/>
          </a:prstGeom>
          <a:noFill/>
          <a:ln/>
        </p:spPr>
        <p:txBody>
          <a:bodyPr wrap="square" lIns="0" tIns="0" rIns="0" bIns="0" rtlCol="0" anchor="ctr"/>
          <a:lstStyle/>
          <a:p>
            <a:pPr indent="0" marL="0">
              <a:buNone/>
            </a:pPr>
            <a:r>
              <a:rPr lang="en-US" sz="600" dirty="0">
                <a:solidFill>
                  <a:srgbClr val="FFFFFF"/>
                </a:solidFill>
                <a:latin typeface="Calibri" pitchFamily="34" charset="0"/>
                <a:ea typeface="Calibri" pitchFamily="34" charset="-122"/>
                <a:cs typeface="Calibri" pitchFamily="34" charset="-120"/>
              </a:rPr>
              <a:t>Adegan 2</a:t>
            </a:r>
            <a:endParaRPr lang="en-US" sz="600" dirty="0"/>
          </a:p>
        </p:txBody>
      </p:sp>
      <p:sp>
        <p:nvSpPr>
          <p:cNvPr id="44" name="Shape 36"/>
          <p:cNvSpPr/>
          <p:nvPr/>
        </p:nvSpPr>
        <p:spPr>
          <a:xfrm>
            <a:off x="3879031" y="3417149"/>
            <a:ext cx="1036564" cy="292608"/>
          </a:xfrm>
          <a:prstGeom prst="roundRect">
            <a:avLst>
              <a:gd name="adj" fmla="val 9375"/>
            </a:avLst>
          </a:prstGeom>
          <a:solidFill>
            <a:srgbClr val="6B9E7B"/>
          </a:solidFill>
          <a:ln w="6350">
            <a:solidFill>
              <a:srgbClr val="16161C"/>
            </a:solidFill>
            <a:prstDash val="solid"/>
          </a:ln>
        </p:spPr>
      </p:sp>
      <p:sp>
        <p:nvSpPr>
          <p:cNvPr id="45" name="Text 37"/>
          <p:cNvSpPr txBox="1"/>
          <p:nvPr/>
        </p:nvSpPr>
        <p:spPr>
          <a:xfrm>
            <a:off x="3915607" y="3417149"/>
            <a:ext cx="1036564" cy="292608"/>
          </a:xfrm>
          <a:prstGeom prst="rect">
            <a:avLst/>
          </a:prstGeom>
          <a:noFill/>
          <a:ln/>
        </p:spPr>
        <p:txBody>
          <a:bodyPr wrap="square" lIns="0" tIns="0" rIns="0" bIns="0" rtlCol="0" anchor="ctr"/>
          <a:lstStyle/>
          <a:p>
            <a:pPr indent="0" marL="0">
              <a:buNone/>
            </a:pPr>
            <a:r>
              <a:rPr lang="en-US" sz="600" dirty="0">
                <a:solidFill>
                  <a:srgbClr val="FFFFFF"/>
                </a:solidFill>
                <a:latin typeface="Calibri" pitchFamily="34" charset="0"/>
                <a:ea typeface="Calibri" pitchFamily="34" charset="-122"/>
                <a:cs typeface="Calibri" pitchFamily="34" charset="-120"/>
              </a:rPr>
              <a:t>Adegan 3</a:t>
            </a:r>
            <a:endParaRPr lang="en-US" sz="600" dirty="0"/>
          </a:p>
        </p:txBody>
      </p:sp>
      <p:sp>
        <p:nvSpPr>
          <p:cNvPr id="46" name="Shape 38"/>
          <p:cNvSpPr/>
          <p:nvPr/>
        </p:nvSpPr>
        <p:spPr>
          <a:xfrm>
            <a:off x="4825472" y="1403357"/>
            <a:ext cx="649224" cy="256032"/>
          </a:xfrm>
          <a:prstGeom prst="roundRect">
            <a:avLst>
              <a:gd name="adj" fmla="val 17857"/>
            </a:avLst>
          </a:prstGeom>
          <a:solidFill>
            <a:srgbClr val="FFFFFF">
              <a:alpha val="0"/>
            </a:srgbClr>
          </a:solidFill>
          <a:ln w="31750">
            <a:solidFill>
              <a:srgbClr val="E53935"/>
            </a:solidFill>
            <a:prstDash val="solid"/>
          </a:ln>
        </p:spPr>
      </p:sp>
      <p:sp>
        <p:nvSpPr>
          <p:cNvPr id="47" name="Shape 39"/>
          <p:cNvSpPr/>
          <p:nvPr/>
        </p:nvSpPr>
        <p:spPr>
          <a:xfrm>
            <a:off x="5337536" y="1266197"/>
            <a:ext cx="274320" cy="274320"/>
          </a:xfrm>
          <a:prstGeom prst="ellipse">
            <a:avLst/>
          </a:prstGeom>
          <a:solidFill>
            <a:srgbClr val="E53935"/>
          </a:solidFill>
          <a:ln w="12700">
            <a:solidFill>
              <a:srgbClr val="FFFFFF"/>
            </a:solidFill>
            <a:prstDash val="solid"/>
          </a:ln>
        </p:spPr>
      </p:sp>
      <p:sp>
        <p:nvSpPr>
          <p:cNvPr id="48" name="Text 40"/>
          <p:cNvSpPr txBox="1"/>
          <p:nvPr/>
        </p:nvSpPr>
        <p:spPr>
          <a:xfrm>
            <a:off x="5337536" y="126619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49" name="Image 6" descr="preencoded.png">    </p:cNvPr>
          <p:cNvPicPr>
            <a:picLocks noChangeAspect="1"/>
          </p:cNvPicPr>
          <p:nvPr/>
        </p:nvPicPr>
        <p:blipFill>
          <a:blip r:embed="rId7"/>
          <a:stretch>
            <a:fillRect/>
          </a:stretch>
        </p:blipFill>
        <p:spPr>
          <a:xfrm>
            <a:off x="5179802" y="1541432"/>
            <a:ext cx="237744" cy="237744"/>
          </a:xfrm>
          <a:prstGeom prst="rect">
            <a:avLst/>
          </a:prstGeom>
        </p:spPr>
      </p:pic>
      <p:sp>
        <p:nvSpPr>
          <p:cNvPr id="50" name="Text 4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51" name="Text 4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Rekam video demo cadangan (1 menit)</a:t>
            </a:r>
            <a:endParaRPr lang="en-US" sz="1800" dirty="0"/>
          </a:p>
        </p:txBody>
      </p:sp>
      <p:sp>
        <p:nvSpPr>
          <p:cNvPr id="52" name="Text 4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Rekam layar HP saat menjalankan skenario. Sunting singkat dengan Clipchamp (Kelas VII). Simpan di folder proyek.</a:t>
            </a:r>
            <a:endParaRPr lang="en-US" sz="1300" dirty="0"/>
          </a:p>
        </p:txBody>
      </p:sp>
      <p:sp>
        <p:nvSpPr>
          <p:cNvPr id="53" name="Shape 44"/>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54" name="Image 7" descr="preencoded.png">    </p:cNvPr>
          <p:cNvPicPr>
            <a:picLocks noChangeAspect="1"/>
          </p:cNvPicPr>
          <p:nvPr/>
        </p:nvPicPr>
        <p:blipFill>
          <a:blip r:embed="rId8"/>
          <a:stretch>
            <a:fillRect/>
          </a:stretch>
        </p:blipFill>
        <p:spPr>
          <a:xfrm>
            <a:off x="6108192" y="3721608"/>
            <a:ext cx="201168" cy="201168"/>
          </a:xfrm>
          <a:prstGeom prst="rect">
            <a:avLst/>
          </a:prstGeom>
        </p:spPr>
      </p:pic>
      <p:sp>
        <p:nvSpPr>
          <p:cNvPr id="55" name="Text 45"/>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Jika internet bermasalah saat pameran, putar video ini.</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Portofolio</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12: Proyek Akhir Kelas IX · Pertemuan 35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794065" y="1272685"/>
            <a:ext cx="4538350" cy="2367564"/>
          </a:xfrm>
          <a:prstGeom prst="rect">
            <a:avLst/>
          </a:prstGeom>
          <a:solidFill>
            <a:srgbClr val="FFFFFF"/>
          </a:solidFill>
          <a:ln w="9525">
            <a:solidFill>
              <a:srgbClr val="999999"/>
            </a:solidFill>
            <a:prstDash val="solid"/>
          </a:ln>
        </p:spPr>
      </p:sp>
      <p:sp>
        <p:nvSpPr>
          <p:cNvPr id="17" name="Shape 13"/>
          <p:cNvSpPr/>
          <p:nvPr/>
        </p:nvSpPr>
        <p:spPr>
          <a:xfrm>
            <a:off x="794065" y="1272685"/>
            <a:ext cx="4538350" cy="219456"/>
          </a:xfrm>
          <a:prstGeom prst="rect">
            <a:avLst/>
          </a:prstGeom>
          <a:solidFill>
            <a:srgbClr val="F0F0F0"/>
          </a:solidFill>
          <a:ln w="12700">
            <a:solidFill>
              <a:srgbClr val="F0F0F0"/>
            </a:solidFill>
            <a:prstDash val="solid"/>
          </a:ln>
        </p:spPr>
      </p:sp>
      <p:sp>
        <p:nvSpPr>
          <p:cNvPr id="18" name="Text 14"/>
          <p:cNvSpPr txBox="1"/>
          <p:nvPr/>
        </p:nvSpPr>
        <p:spPr>
          <a:xfrm>
            <a:off x="885505" y="1272685"/>
            <a:ext cx="3623950"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Explorer</a:t>
            </a:r>
            <a:endParaRPr lang="en-US" sz="750" dirty="0"/>
          </a:p>
        </p:txBody>
      </p:sp>
      <p:sp>
        <p:nvSpPr>
          <p:cNvPr id="19" name="Text 15"/>
          <p:cNvSpPr txBox="1"/>
          <p:nvPr/>
        </p:nvSpPr>
        <p:spPr>
          <a:xfrm>
            <a:off x="450945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78377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058095" y="1272685"/>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885505" y="1547005"/>
            <a:ext cx="4355470" cy="182880"/>
          </a:xfrm>
          <a:prstGeom prst="rect">
            <a:avLst/>
          </a:prstGeom>
          <a:solidFill>
            <a:srgbClr val="FFFFFF"/>
          </a:solidFill>
          <a:ln w="9525">
            <a:solidFill>
              <a:srgbClr val="CCCCCC"/>
            </a:solidFill>
            <a:prstDash val="solid"/>
          </a:ln>
        </p:spPr>
      </p:sp>
      <p:sp>
        <p:nvSpPr>
          <p:cNvPr id="23" name="Text 19"/>
          <p:cNvSpPr txBox="1"/>
          <p:nvPr/>
        </p:nvSpPr>
        <p:spPr>
          <a:xfrm>
            <a:off x="958657" y="1547005"/>
            <a:ext cx="435547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  ›  Portofolio_Ahmad</a:t>
            </a:r>
            <a:endParaRPr lang="en-US" sz="750" dirty="0"/>
          </a:p>
        </p:txBody>
      </p:sp>
      <p:sp>
        <p:nvSpPr>
          <p:cNvPr id="24" name="Shape 20"/>
          <p:cNvSpPr/>
          <p:nvPr/>
        </p:nvSpPr>
        <p:spPr>
          <a:xfrm>
            <a:off x="794065" y="1803037"/>
            <a:ext cx="960120" cy="1837212"/>
          </a:xfrm>
          <a:prstGeom prst="rect">
            <a:avLst/>
          </a:prstGeom>
          <a:solidFill>
            <a:srgbClr val="F7F7F7"/>
          </a:solidFill>
          <a:ln w="12700">
            <a:solidFill>
              <a:srgbClr val="F7F7F7"/>
            </a:solidFill>
            <a:prstDash val="solid"/>
          </a:ln>
        </p:spPr>
      </p:sp>
      <p:pic>
        <p:nvPicPr>
          <p:cNvPr id="25" name="Image 2" descr="preencoded.png">    </p:cNvPr>
          <p:cNvPicPr>
            <a:picLocks noChangeAspect="1"/>
          </p:cNvPicPr>
          <p:nvPr/>
        </p:nvPicPr>
        <p:blipFill>
          <a:blip r:embed="rId3"/>
          <a:stretch>
            <a:fillRect/>
          </a:stretch>
        </p:blipFill>
        <p:spPr>
          <a:xfrm>
            <a:off x="903793" y="1876189"/>
            <a:ext cx="128016" cy="128016"/>
          </a:xfrm>
          <a:prstGeom prst="rect">
            <a:avLst/>
          </a:prstGeom>
        </p:spPr>
      </p:pic>
      <p:sp>
        <p:nvSpPr>
          <p:cNvPr id="26" name="Text 21"/>
          <p:cNvSpPr txBox="1"/>
          <p:nvPr/>
        </p:nvSpPr>
        <p:spPr>
          <a:xfrm>
            <a:off x="1068385" y="1839613"/>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Home</a:t>
            </a:r>
            <a:endParaRPr lang="en-US" sz="750" dirty="0"/>
          </a:p>
        </p:txBody>
      </p:sp>
      <p:pic>
        <p:nvPicPr>
          <p:cNvPr id="27" name="Image 3" descr="preencoded.png">    </p:cNvPr>
          <p:cNvPicPr>
            <a:picLocks noChangeAspect="1"/>
          </p:cNvPicPr>
          <p:nvPr/>
        </p:nvPicPr>
        <p:blipFill>
          <a:blip r:embed="rId4"/>
          <a:stretch>
            <a:fillRect/>
          </a:stretch>
        </p:blipFill>
        <p:spPr>
          <a:xfrm>
            <a:off x="903793" y="2095645"/>
            <a:ext cx="128016" cy="128016"/>
          </a:xfrm>
          <a:prstGeom prst="rect">
            <a:avLst/>
          </a:prstGeom>
        </p:spPr>
      </p:pic>
      <p:sp>
        <p:nvSpPr>
          <p:cNvPr id="28" name="Text 22"/>
          <p:cNvSpPr txBox="1"/>
          <p:nvPr/>
        </p:nvSpPr>
        <p:spPr>
          <a:xfrm>
            <a:off x="1068385" y="2059069"/>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Desktop</a:t>
            </a:r>
            <a:endParaRPr lang="en-US" sz="750" dirty="0"/>
          </a:p>
        </p:txBody>
      </p:sp>
      <p:sp>
        <p:nvSpPr>
          <p:cNvPr id="29" name="Shape 23"/>
          <p:cNvSpPr/>
          <p:nvPr/>
        </p:nvSpPr>
        <p:spPr>
          <a:xfrm>
            <a:off x="867217" y="2278525"/>
            <a:ext cx="822960" cy="201168"/>
          </a:xfrm>
          <a:prstGeom prst="roundRect">
            <a:avLst>
              <a:gd name="adj" fmla="val 13636"/>
            </a:avLst>
          </a:prstGeom>
          <a:solidFill>
            <a:srgbClr val="CCE4F7"/>
          </a:solidFill>
          <a:ln w="12700">
            <a:solidFill>
              <a:srgbClr val="CCE4F7"/>
            </a:solidFill>
            <a:prstDash val="solid"/>
          </a:ln>
        </p:spPr>
      </p:sp>
      <p:pic>
        <p:nvPicPr>
          <p:cNvPr id="30" name="Image 4" descr="preencoded.png">    </p:cNvPr>
          <p:cNvPicPr>
            <a:picLocks noChangeAspect="1"/>
          </p:cNvPicPr>
          <p:nvPr/>
        </p:nvPicPr>
        <p:blipFill>
          <a:blip r:embed="rId5"/>
          <a:stretch>
            <a:fillRect/>
          </a:stretch>
        </p:blipFill>
        <p:spPr>
          <a:xfrm>
            <a:off x="903793" y="2315101"/>
            <a:ext cx="128016" cy="128016"/>
          </a:xfrm>
          <a:prstGeom prst="rect">
            <a:avLst/>
          </a:prstGeom>
        </p:spPr>
      </p:pic>
      <p:sp>
        <p:nvSpPr>
          <p:cNvPr id="31" name="Text 24"/>
          <p:cNvSpPr txBox="1"/>
          <p:nvPr/>
        </p:nvSpPr>
        <p:spPr>
          <a:xfrm>
            <a:off x="1068385" y="2278525"/>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a:t>
            </a:r>
            <a:endParaRPr lang="en-US" sz="750" dirty="0"/>
          </a:p>
        </p:txBody>
      </p:sp>
      <p:pic>
        <p:nvPicPr>
          <p:cNvPr id="32" name="Image 5" descr="preencoded.png">    </p:cNvPr>
          <p:cNvPicPr>
            <a:picLocks noChangeAspect="1"/>
          </p:cNvPicPr>
          <p:nvPr/>
        </p:nvPicPr>
        <p:blipFill>
          <a:blip r:embed="rId6"/>
          <a:stretch>
            <a:fillRect/>
          </a:stretch>
        </p:blipFill>
        <p:spPr>
          <a:xfrm>
            <a:off x="903793" y="2534557"/>
            <a:ext cx="128016" cy="128016"/>
          </a:xfrm>
          <a:prstGeom prst="rect">
            <a:avLst/>
          </a:prstGeom>
        </p:spPr>
      </p:pic>
      <p:sp>
        <p:nvSpPr>
          <p:cNvPr id="33" name="Text 25"/>
          <p:cNvSpPr txBox="1"/>
          <p:nvPr/>
        </p:nvSpPr>
        <p:spPr>
          <a:xfrm>
            <a:off x="1068385" y="2497981"/>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Downloads</a:t>
            </a:r>
            <a:endParaRPr lang="en-US" sz="750" dirty="0"/>
          </a:p>
        </p:txBody>
      </p:sp>
      <p:pic>
        <p:nvPicPr>
          <p:cNvPr id="34" name="Image 6" descr="preencoded.png">    </p:cNvPr>
          <p:cNvPicPr>
            <a:picLocks noChangeAspect="1"/>
          </p:cNvPicPr>
          <p:nvPr/>
        </p:nvPicPr>
        <p:blipFill>
          <a:blip r:embed="rId7"/>
          <a:stretch>
            <a:fillRect/>
          </a:stretch>
        </p:blipFill>
        <p:spPr>
          <a:xfrm>
            <a:off x="903793" y="2754013"/>
            <a:ext cx="128016" cy="128016"/>
          </a:xfrm>
          <a:prstGeom prst="rect">
            <a:avLst/>
          </a:prstGeom>
        </p:spPr>
      </p:pic>
      <p:sp>
        <p:nvSpPr>
          <p:cNvPr id="35" name="Text 26"/>
          <p:cNvSpPr txBox="1"/>
          <p:nvPr/>
        </p:nvSpPr>
        <p:spPr>
          <a:xfrm>
            <a:off x="1068385" y="2717437"/>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Pictures</a:t>
            </a:r>
            <a:endParaRPr lang="en-US" sz="750" dirty="0"/>
          </a:p>
        </p:txBody>
      </p:sp>
      <p:pic>
        <p:nvPicPr>
          <p:cNvPr id="36" name="Image 7" descr="preencoded.png">    </p:cNvPr>
          <p:cNvPicPr>
            <a:picLocks noChangeAspect="1"/>
          </p:cNvPicPr>
          <p:nvPr/>
        </p:nvPicPr>
        <p:blipFill>
          <a:blip r:embed="rId8"/>
          <a:stretch>
            <a:fillRect/>
          </a:stretch>
        </p:blipFill>
        <p:spPr>
          <a:xfrm>
            <a:off x="2138233" y="1876189"/>
            <a:ext cx="292608" cy="292608"/>
          </a:xfrm>
          <a:prstGeom prst="rect">
            <a:avLst/>
          </a:prstGeom>
        </p:spPr>
      </p:pic>
      <p:sp>
        <p:nvSpPr>
          <p:cNvPr id="37" name="Text 27"/>
          <p:cNvSpPr txBox="1"/>
          <p:nvPr/>
        </p:nvSpPr>
        <p:spPr>
          <a:xfrm>
            <a:off x="187305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Kelas7</a:t>
            </a:r>
            <a:endParaRPr lang="en-US" sz="700" dirty="0"/>
          </a:p>
        </p:txBody>
      </p:sp>
      <p:pic>
        <p:nvPicPr>
          <p:cNvPr id="38" name="Image 8" descr="preencoded.png">    </p:cNvPr>
          <p:cNvPicPr>
            <a:picLocks noChangeAspect="1"/>
          </p:cNvPicPr>
          <p:nvPr/>
        </p:nvPicPr>
        <p:blipFill>
          <a:blip r:embed="rId9"/>
          <a:stretch>
            <a:fillRect/>
          </a:stretch>
        </p:blipFill>
        <p:spPr>
          <a:xfrm>
            <a:off x="3006913" y="1876189"/>
            <a:ext cx="292608" cy="292608"/>
          </a:xfrm>
          <a:prstGeom prst="rect">
            <a:avLst/>
          </a:prstGeom>
        </p:spPr>
      </p:pic>
      <p:sp>
        <p:nvSpPr>
          <p:cNvPr id="39" name="Text 28"/>
          <p:cNvSpPr txBox="1"/>
          <p:nvPr/>
        </p:nvSpPr>
        <p:spPr>
          <a:xfrm>
            <a:off x="274173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Kelas8</a:t>
            </a:r>
            <a:endParaRPr lang="en-US" sz="700" dirty="0"/>
          </a:p>
        </p:txBody>
      </p:sp>
      <p:pic>
        <p:nvPicPr>
          <p:cNvPr id="40" name="Image 9" descr="preencoded.png">    </p:cNvPr>
          <p:cNvPicPr>
            <a:picLocks noChangeAspect="1"/>
          </p:cNvPicPr>
          <p:nvPr/>
        </p:nvPicPr>
        <p:blipFill>
          <a:blip r:embed="rId10"/>
          <a:stretch>
            <a:fillRect/>
          </a:stretch>
        </p:blipFill>
        <p:spPr>
          <a:xfrm>
            <a:off x="3875593" y="1876189"/>
            <a:ext cx="292608" cy="292608"/>
          </a:xfrm>
          <a:prstGeom prst="rect">
            <a:avLst/>
          </a:prstGeom>
        </p:spPr>
      </p:pic>
      <p:sp>
        <p:nvSpPr>
          <p:cNvPr id="41" name="Text 29"/>
          <p:cNvSpPr txBox="1"/>
          <p:nvPr/>
        </p:nvSpPr>
        <p:spPr>
          <a:xfrm>
            <a:off x="361041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Kelas9</a:t>
            </a:r>
            <a:endParaRPr lang="en-US" sz="700" dirty="0"/>
          </a:p>
        </p:txBody>
      </p:sp>
      <p:pic>
        <p:nvPicPr>
          <p:cNvPr id="42" name="Image 10" descr="preencoded.png">    </p:cNvPr>
          <p:cNvPicPr>
            <a:picLocks noChangeAspect="1"/>
          </p:cNvPicPr>
          <p:nvPr/>
        </p:nvPicPr>
        <p:blipFill>
          <a:blip r:embed="rId11"/>
          <a:stretch>
            <a:fillRect/>
          </a:stretch>
        </p:blipFill>
        <p:spPr>
          <a:xfrm>
            <a:off x="4744273" y="1876189"/>
            <a:ext cx="292608" cy="292608"/>
          </a:xfrm>
          <a:prstGeom prst="rect">
            <a:avLst/>
          </a:prstGeom>
        </p:spPr>
      </p:pic>
      <p:sp>
        <p:nvSpPr>
          <p:cNvPr id="43" name="Text 30"/>
          <p:cNvSpPr txBox="1"/>
          <p:nvPr/>
        </p:nvSpPr>
        <p:spPr>
          <a:xfrm>
            <a:off x="447909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Daftar_Karya_Ahmad</a:t>
            </a:r>
            <a:endParaRPr lang="en-US" sz="700" dirty="0"/>
          </a:p>
        </p:txBody>
      </p:sp>
      <p:sp>
        <p:nvSpPr>
          <p:cNvPr id="44" name="Shape 31"/>
          <p:cNvSpPr/>
          <p:nvPr/>
        </p:nvSpPr>
        <p:spPr>
          <a:xfrm>
            <a:off x="1854769" y="1803037"/>
            <a:ext cx="3465576" cy="676656"/>
          </a:xfrm>
          <a:prstGeom prst="roundRect">
            <a:avLst>
              <a:gd name="adj" fmla="val 6757"/>
            </a:avLst>
          </a:prstGeom>
          <a:solidFill>
            <a:srgbClr val="FFFFFF">
              <a:alpha val="0"/>
            </a:srgbClr>
          </a:solidFill>
          <a:ln w="31750">
            <a:solidFill>
              <a:srgbClr val="E53935"/>
            </a:solidFill>
            <a:prstDash val="solid"/>
          </a:ln>
        </p:spPr>
      </p:sp>
      <p:sp>
        <p:nvSpPr>
          <p:cNvPr id="45" name="Shape 32"/>
          <p:cNvSpPr/>
          <p:nvPr/>
        </p:nvSpPr>
        <p:spPr>
          <a:xfrm>
            <a:off x="5183185" y="1665877"/>
            <a:ext cx="274320" cy="274320"/>
          </a:xfrm>
          <a:prstGeom prst="ellipse">
            <a:avLst/>
          </a:prstGeom>
          <a:solidFill>
            <a:srgbClr val="E53935"/>
          </a:solidFill>
          <a:ln w="12700">
            <a:solidFill>
              <a:srgbClr val="FFFFFF"/>
            </a:solidFill>
            <a:prstDash val="solid"/>
          </a:ln>
        </p:spPr>
      </p:sp>
      <p:sp>
        <p:nvSpPr>
          <p:cNvPr id="46" name="Text 33"/>
          <p:cNvSpPr txBox="1"/>
          <p:nvPr/>
        </p:nvSpPr>
        <p:spPr>
          <a:xfrm>
            <a:off x="5183185" y="166587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47" name="Image 11" descr="preencoded.png">    </p:cNvPr>
          <p:cNvPicPr>
            <a:picLocks noChangeAspect="1"/>
          </p:cNvPicPr>
          <p:nvPr/>
        </p:nvPicPr>
        <p:blipFill>
          <a:blip r:embed="rId12"/>
          <a:stretch>
            <a:fillRect/>
          </a:stretch>
        </p:blipFill>
        <p:spPr>
          <a:xfrm>
            <a:off x="3757178" y="2171540"/>
            <a:ext cx="237744" cy="237744"/>
          </a:xfrm>
          <a:prstGeom prst="rect">
            <a:avLst/>
          </a:prstGeom>
        </p:spPr>
      </p:pic>
      <p:sp>
        <p:nvSpPr>
          <p:cNvPr id="48" name="Text 3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49" name="Text 3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Rapikan folder portofolio 3 tahun</a:t>
            </a:r>
            <a:endParaRPr lang="en-US" sz="1800" dirty="0"/>
          </a:p>
        </p:txBody>
      </p:sp>
      <p:sp>
        <p:nvSpPr>
          <p:cNvPr id="50" name="Text 3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Portofolio_NamaKamu › Kelas7, Kelas8, Kelas9. Pilih 3–4 karya terbaik per kelas. Nama file jelas.</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Portofolio</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12: Proyek Akhir Kelas IX · Pertemuan 35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Portofolio Ahmad</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https://santri-wu-ahmad.github.io/portofolio/</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606064" y="1695965"/>
            <a:ext cx="4914351" cy="2281131"/>
          </a:xfrm>
          <a:prstGeom prst="rect">
            <a:avLst/>
          </a:prstGeom>
          <a:solidFill>
            <a:srgbClr val="F3F8F5"/>
          </a:solidFill>
          <a:ln w="12700">
            <a:solidFill>
              <a:srgbClr val="F3F8F5"/>
            </a:solidFill>
            <a:prstDash val="solid"/>
          </a:ln>
        </p:spPr>
      </p:sp>
      <p:sp>
        <p:nvSpPr>
          <p:cNvPr id="30" name="Shape 23"/>
          <p:cNvSpPr/>
          <p:nvPr/>
        </p:nvSpPr>
        <p:spPr>
          <a:xfrm>
            <a:off x="606064" y="1695965"/>
            <a:ext cx="4914351" cy="411480"/>
          </a:xfrm>
          <a:prstGeom prst="rect">
            <a:avLst/>
          </a:prstGeom>
          <a:solidFill>
            <a:srgbClr val="0F4C3A"/>
          </a:solidFill>
          <a:ln w="12700">
            <a:solidFill>
              <a:srgbClr val="0F4C3A"/>
            </a:solidFill>
            <a:prstDash val="solid"/>
          </a:ln>
        </p:spPr>
      </p:sp>
      <p:sp>
        <p:nvSpPr>
          <p:cNvPr id="31" name="Text 24"/>
          <p:cNvSpPr txBox="1"/>
          <p:nvPr/>
        </p:nvSpPr>
        <p:spPr>
          <a:xfrm>
            <a:off x="606064" y="1695965"/>
            <a:ext cx="4914351" cy="41148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Portofolio Digital Ahmad · Wustha 2024–2027</a:t>
            </a:r>
            <a:endParaRPr lang="en-US" sz="1000" dirty="0"/>
          </a:p>
        </p:txBody>
      </p:sp>
      <p:sp>
        <p:nvSpPr>
          <p:cNvPr id="32" name="Shape 25"/>
          <p:cNvSpPr/>
          <p:nvPr/>
        </p:nvSpPr>
        <p:spPr>
          <a:xfrm>
            <a:off x="697504" y="2198885"/>
            <a:ext cx="1516197" cy="1686771"/>
          </a:xfrm>
          <a:prstGeom prst="roundRect">
            <a:avLst>
              <a:gd name="adj" fmla="val 3619"/>
            </a:avLst>
          </a:prstGeom>
          <a:solidFill>
            <a:srgbClr val="FFFFFF"/>
          </a:solidFill>
          <a:ln w="6350">
            <a:solidFill>
              <a:srgbClr val="DDDDDD"/>
            </a:solidFill>
            <a:prstDash val="solid"/>
          </a:ln>
        </p:spPr>
      </p:sp>
      <p:sp>
        <p:nvSpPr>
          <p:cNvPr id="33" name="Text 26"/>
          <p:cNvSpPr txBox="1"/>
          <p:nvPr/>
        </p:nvSpPr>
        <p:spPr>
          <a:xfrm>
            <a:off x="770656" y="2226317"/>
            <a:ext cx="1516197" cy="201168"/>
          </a:xfrm>
          <a:prstGeom prst="rect">
            <a:avLst/>
          </a:prstGeom>
          <a:noFill/>
          <a:ln/>
        </p:spPr>
        <p:txBody>
          <a:bodyPr wrap="square" lIns="0" tIns="0" rIns="0" bIns="0" rtlCol="0" anchor="t"/>
          <a:lstStyle/>
          <a:p>
            <a:pPr indent="0" marL="0">
              <a:buNone/>
            </a:pPr>
            <a:r>
              <a:rPr lang="en-US" sz="800" b="1" dirty="0">
                <a:solidFill>
                  <a:srgbClr val="1F7A5C"/>
                </a:solidFill>
                <a:latin typeface="Arial" pitchFamily="34" charset="0"/>
                <a:ea typeface="Arial" pitchFamily="34" charset="-122"/>
                <a:cs typeface="Arial" pitchFamily="34" charset="-120"/>
              </a:rPr>
              <a:t>Kelas VII</a:t>
            </a:r>
            <a:endParaRPr lang="en-US" sz="800" dirty="0"/>
          </a:p>
        </p:txBody>
      </p:sp>
      <p:sp>
        <p:nvSpPr>
          <p:cNvPr id="34" name="Shape 27"/>
          <p:cNvSpPr/>
          <p:nvPr/>
        </p:nvSpPr>
        <p:spPr>
          <a:xfrm>
            <a:off x="770656" y="2473205"/>
            <a:ext cx="1369893" cy="274320"/>
          </a:xfrm>
          <a:prstGeom prst="rect">
            <a:avLst/>
          </a:prstGeom>
          <a:solidFill>
            <a:srgbClr val="A7CBEE"/>
          </a:solidFill>
          <a:ln w="12700">
            <a:solidFill>
              <a:srgbClr val="A7CBEE"/>
            </a:solidFill>
            <a:prstDash val="solid"/>
          </a:ln>
        </p:spPr>
      </p:sp>
      <p:sp>
        <p:nvSpPr>
          <p:cNvPr id="35" name="Shape 28"/>
          <p:cNvSpPr/>
          <p:nvPr/>
        </p:nvSpPr>
        <p:spPr>
          <a:xfrm>
            <a:off x="770656" y="2820677"/>
            <a:ext cx="1369893" cy="274320"/>
          </a:xfrm>
          <a:prstGeom prst="rect">
            <a:avLst/>
          </a:prstGeom>
          <a:solidFill>
            <a:srgbClr val="D9EAD3"/>
          </a:solidFill>
          <a:ln w="12700">
            <a:solidFill>
              <a:srgbClr val="D9EAD3"/>
            </a:solidFill>
            <a:prstDash val="solid"/>
          </a:ln>
        </p:spPr>
      </p:sp>
      <p:sp>
        <p:nvSpPr>
          <p:cNvPr id="36" name="Shape 29"/>
          <p:cNvSpPr/>
          <p:nvPr/>
        </p:nvSpPr>
        <p:spPr>
          <a:xfrm>
            <a:off x="770656" y="3168149"/>
            <a:ext cx="1369893" cy="274320"/>
          </a:xfrm>
          <a:prstGeom prst="rect">
            <a:avLst/>
          </a:prstGeom>
          <a:solidFill>
            <a:srgbClr val="FBF1D3"/>
          </a:solidFill>
          <a:ln w="12700">
            <a:solidFill>
              <a:srgbClr val="FBF1D3"/>
            </a:solidFill>
            <a:prstDash val="solid"/>
          </a:ln>
        </p:spPr>
      </p:sp>
      <p:sp>
        <p:nvSpPr>
          <p:cNvPr id="37" name="Shape 30"/>
          <p:cNvSpPr/>
          <p:nvPr/>
        </p:nvSpPr>
        <p:spPr>
          <a:xfrm>
            <a:off x="2305141" y="2198885"/>
            <a:ext cx="1516197" cy="1686771"/>
          </a:xfrm>
          <a:prstGeom prst="roundRect">
            <a:avLst>
              <a:gd name="adj" fmla="val 3619"/>
            </a:avLst>
          </a:prstGeom>
          <a:solidFill>
            <a:srgbClr val="FFFFFF"/>
          </a:solidFill>
          <a:ln w="6350">
            <a:solidFill>
              <a:srgbClr val="DDDDDD"/>
            </a:solidFill>
            <a:prstDash val="solid"/>
          </a:ln>
        </p:spPr>
      </p:sp>
      <p:sp>
        <p:nvSpPr>
          <p:cNvPr id="38" name="Text 31"/>
          <p:cNvSpPr txBox="1"/>
          <p:nvPr/>
        </p:nvSpPr>
        <p:spPr>
          <a:xfrm>
            <a:off x="2378293" y="2226317"/>
            <a:ext cx="1516197" cy="201168"/>
          </a:xfrm>
          <a:prstGeom prst="rect">
            <a:avLst/>
          </a:prstGeom>
          <a:noFill/>
          <a:ln/>
        </p:spPr>
        <p:txBody>
          <a:bodyPr wrap="square" lIns="0" tIns="0" rIns="0" bIns="0" rtlCol="0" anchor="t"/>
          <a:lstStyle/>
          <a:p>
            <a:pPr indent="0" marL="0">
              <a:buNone/>
            </a:pPr>
            <a:r>
              <a:rPr lang="en-US" sz="800" b="1" dirty="0">
                <a:solidFill>
                  <a:srgbClr val="1F7A5C"/>
                </a:solidFill>
                <a:latin typeface="Arial" pitchFamily="34" charset="0"/>
                <a:ea typeface="Arial" pitchFamily="34" charset="-122"/>
                <a:cs typeface="Arial" pitchFamily="34" charset="-120"/>
              </a:rPr>
              <a:t>Kelas VIII</a:t>
            </a:r>
            <a:endParaRPr lang="en-US" sz="800" dirty="0"/>
          </a:p>
        </p:txBody>
      </p:sp>
      <p:sp>
        <p:nvSpPr>
          <p:cNvPr id="39" name="Shape 32"/>
          <p:cNvSpPr/>
          <p:nvPr/>
        </p:nvSpPr>
        <p:spPr>
          <a:xfrm>
            <a:off x="2378293" y="2473205"/>
            <a:ext cx="1369893" cy="274320"/>
          </a:xfrm>
          <a:prstGeom prst="rect">
            <a:avLst/>
          </a:prstGeom>
          <a:solidFill>
            <a:srgbClr val="A7CBEE"/>
          </a:solidFill>
          <a:ln w="12700">
            <a:solidFill>
              <a:srgbClr val="A7CBEE"/>
            </a:solidFill>
            <a:prstDash val="solid"/>
          </a:ln>
        </p:spPr>
      </p:sp>
      <p:sp>
        <p:nvSpPr>
          <p:cNvPr id="40" name="Shape 33"/>
          <p:cNvSpPr/>
          <p:nvPr/>
        </p:nvSpPr>
        <p:spPr>
          <a:xfrm>
            <a:off x="2378293" y="2820677"/>
            <a:ext cx="1369893" cy="274320"/>
          </a:xfrm>
          <a:prstGeom prst="rect">
            <a:avLst/>
          </a:prstGeom>
          <a:solidFill>
            <a:srgbClr val="D9EAD3"/>
          </a:solidFill>
          <a:ln w="12700">
            <a:solidFill>
              <a:srgbClr val="D9EAD3"/>
            </a:solidFill>
            <a:prstDash val="solid"/>
          </a:ln>
        </p:spPr>
      </p:sp>
      <p:sp>
        <p:nvSpPr>
          <p:cNvPr id="41" name="Shape 34"/>
          <p:cNvSpPr/>
          <p:nvPr/>
        </p:nvSpPr>
        <p:spPr>
          <a:xfrm>
            <a:off x="2378293" y="3168149"/>
            <a:ext cx="1369893" cy="274320"/>
          </a:xfrm>
          <a:prstGeom prst="rect">
            <a:avLst/>
          </a:prstGeom>
          <a:solidFill>
            <a:srgbClr val="FBF1D3"/>
          </a:solidFill>
          <a:ln w="12700">
            <a:solidFill>
              <a:srgbClr val="FBF1D3"/>
            </a:solidFill>
            <a:prstDash val="solid"/>
          </a:ln>
        </p:spPr>
      </p:sp>
      <p:sp>
        <p:nvSpPr>
          <p:cNvPr id="42" name="Shape 35"/>
          <p:cNvSpPr/>
          <p:nvPr/>
        </p:nvSpPr>
        <p:spPr>
          <a:xfrm>
            <a:off x="3912779" y="2198885"/>
            <a:ext cx="1516197" cy="1686771"/>
          </a:xfrm>
          <a:prstGeom prst="roundRect">
            <a:avLst>
              <a:gd name="adj" fmla="val 3619"/>
            </a:avLst>
          </a:prstGeom>
          <a:solidFill>
            <a:srgbClr val="FFFFFF"/>
          </a:solidFill>
          <a:ln w="6350">
            <a:solidFill>
              <a:srgbClr val="DDDDDD"/>
            </a:solidFill>
            <a:prstDash val="solid"/>
          </a:ln>
        </p:spPr>
      </p:sp>
      <p:sp>
        <p:nvSpPr>
          <p:cNvPr id="43" name="Text 36"/>
          <p:cNvSpPr txBox="1"/>
          <p:nvPr/>
        </p:nvSpPr>
        <p:spPr>
          <a:xfrm>
            <a:off x="3985931" y="2226317"/>
            <a:ext cx="1516197" cy="201168"/>
          </a:xfrm>
          <a:prstGeom prst="rect">
            <a:avLst/>
          </a:prstGeom>
          <a:noFill/>
          <a:ln/>
        </p:spPr>
        <p:txBody>
          <a:bodyPr wrap="square" lIns="0" tIns="0" rIns="0" bIns="0" rtlCol="0" anchor="t"/>
          <a:lstStyle/>
          <a:p>
            <a:pPr indent="0" marL="0">
              <a:buNone/>
            </a:pPr>
            <a:r>
              <a:rPr lang="en-US" sz="800" b="1" dirty="0">
                <a:solidFill>
                  <a:srgbClr val="1F7A5C"/>
                </a:solidFill>
                <a:latin typeface="Arial" pitchFamily="34" charset="0"/>
                <a:ea typeface="Arial" pitchFamily="34" charset="-122"/>
                <a:cs typeface="Arial" pitchFamily="34" charset="-120"/>
              </a:rPr>
              <a:t>Kelas IX</a:t>
            </a:r>
            <a:endParaRPr lang="en-US" sz="800" dirty="0"/>
          </a:p>
        </p:txBody>
      </p:sp>
      <p:sp>
        <p:nvSpPr>
          <p:cNvPr id="44" name="Shape 37"/>
          <p:cNvSpPr/>
          <p:nvPr/>
        </p:nvSpPr>
        <p:spPr>
          <a:xfrm>
            <a:off x="3985931" y="2473205"/>
            <a:ext cx="1369893" cy="274320"/>
          </a:xfrm>
          <a:prstGeom prst="rect">
            <a:avLst/>
          </a:prstGeom>
          <a:solidFill>
            <a:srgbClr val="A7CBEE"/>
          </a:solidFill>
          <a:ln w="12700">
            <a:solidFill>
              <a:srgbClr val="A7CBEE"/>
            </a:solidFill>
            <a:prstDash val="solid"/>
          </a:ln>
        </p:spPr>
      </p:sp>
      <p:sp>
        <p:nvSpPr>
          <p:cNvPr id="45" name="Shape 38"/>
          <p:cNvSpPr/>
          <p:nvPr/>
        </p:nvSpPr>
        <p:spPr>
          <a:xfrm>
            <a:off x="3985931" y="2820677"/>
            <a:ext cx="1369893" cy="274320"/>
          </a:xfrm>
          <a:prstGeom prst="rect">
            <a:avLst/>
          </a:prstGeom>
          <a:solidFill>
            <a:srgbClr val="D9EAD3"/>
          </a:solidFill>
          <a:ln w="12700">
            <a:solidFill>
              <a:srgbClr val="D9EAD3"/>
            </a:solidFill>
            <a:prstDash val="solid"/>
          </a:ln>
        </p:spPr>
      </p:sp>
      <p:sp>
        <p:nvSpPr>
          <p:cNvPr id="46" name="Shape 39"/>
          <p:cNvSpPr/>
          <p:nvPr/>
        </p:nvSpPr>
        <p:spPr>
          <a:xfrm>
            <a:off x="3985931" y="3168149"/>
            <a:ext cx="1369893" cy="274320"/>
          </a:xfrm>
          <a:prstGeom prst="rect">
            <a:avLst/>
          </a:prstGeom>
          <a:solidFill>
            <a:srgbClr val="FBF1D3"/>
          </a:solidFill>
          <a:ln w="12700">
            <a:solidFill>
              <a:srgbClr val="FBF1D3"/>
            </a:solidFill>
            <a:prstDash val="solid"/>
          </a:ln>
        </p:spPr>
      </p:sp>
      <p:sp>
        <p:nvSpPr>
          <p:cNvPr id="47" name="Shape 40"/>
          <p:cNvSpPr/>
          <p:nvPr/>
        </p:nvSpPr>
        <p:spPr>
          <a:xfrm>
            <a:off x="633496" y="1695965"/>
            <a:ext cx="4859487" cy="2281131"/>
          </a:xfrm>
          <a:prstGeom prst="roundRect">
            <a:avLst>
              <a:gd name="adj" fmla="val 2004"/>
            </a:avLst>
          </a:prstGeom>
          <a:solidFill>
            <a:srgbClr val="FFFFFF">
              <a:alpha val="0"/>
            </a:srgbClr>
          </a:solidFill>
          <a:ln w="31750">
            <a:solidFill>
              <a:srgbClr val="E53935"/>
            </a:solidFill>
            <a:prstDash val="solid"/>
          </a:ln>
        </p:spPr>
      </p:sp>
      <p:sp>
        <p:nvSpPr>
          <p:cNvPr id="48" name="Shape 41"/>
          <p:cNvSpPr/>
          <p:nvPr/>
        </p:nvSpPr>
        <p:spPr>
          <a:xfrm>
            <a:off x="5355824" y="1558805"/>
            <a:ext cx="274320" cy="274320"/>
          </a:xfrm>
          <a:prstGeom prst="ellipse">
            <a:avLst/>
          </a:prstGeom>
          <a:solidFill>
            <a:srgbClr val="E53935"/>
          </a:solidFill>
          <a:ln w="12700">
            <a:solidFill>
              <a:srgbClr val="FFFFFF"/>
            </a:solidFill>
            <a:prstDash val="solid"/>
          </a:ln>
        </p:spPr>
      </p:sp>
      <p:sp>
        <p:nvSpPr>
          <p:cNvPr id="49" name="Text 42"/>
          <p:cNvSpPr txBox="1"/>
          <p:nvPr/>
        </p:nvSpPr>
        <p:spPr>
          <a:xfrm>
            <a:off x="5355824" y="155880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50" name="Text 4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51" name="Text 4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Halaman portofolio digital</a:t>
            </a:r>
            <a:endParaRPr lang="en-US" sz="1800" dirty="0"/>
          </a:p>
        </p:txBody>
      </p:sp>
      <p:sp>
        <p:nvSpPr>
          <p:cNvPr id="52" name="Text 4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Buat satu halaman (Google Docs atau HTML di GitHub Pages): foto karya/tangkapan layar, judul, tahun, satu kalimat pelajaran.</a:t>
            </a:r>
            <a:endParaRPr lang="en-US" sz="1300" dirty="0"/>
          </a:p>
        </p:txBody>
      </p:sp>
      <p:sp>
        <p:nvSpPr>
          <p:cNvPr id="53" name="Shape 46"/>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54" name="Image 5" descr="preencoded.png">    </p:cNvPr>
          <p:cNvPicPr>
            <a:picLocks noChangeAspect="1"/>
          </p:cNvPicPr>
          <p:nvPr/>
        </p:nvPicPr>
        <p:blipFill>
          <a:blip r:embed="rId6"/>
          <a:stretch>
            <a:fillRect/>
          </a:stretch>
        </p:blipFill>
        <p:spPr>
          <a:xfrm>
            <a:off x="6108192" y="3721608"/>
            <a:ext cx="201168" cy="201168"/>
          </a:xfrm>
          <a:prstGeom prst="rect">
            <a:avLst/>
          </a:prstGeom>
        </p:spPr>
      </p:pic>
      <p:sp>
        <p:nvSpPr>
          <p:cNvPr id="55" name="Text 47"/>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Hanya nama panggilan. Tanpa data pribadi.</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Latihan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12: Proyek Akhir Kelas IX · Pertemuan 35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611880"/>
          </a:xfrm>
          <a:prstGeom prst="roundRect">
            <a:avLst>
              <a:gd name="adj" fmla="val 2532"/>
            </a:avLst>
          </a:prstGeom>
          <a:solidFill>
            <a:srgbClr val="F5F5F5"/>
          </a:solidFill>
          <a:ln w="12700">
            <a:solidFill>
              <a:srgbClr val="F5F5F5"/>
            </a:solidFill>
            <a:prstDash val="solid"/>
          </a:ln>
        </p:spPr>
      </p:sp>
      <p:sp>
        <p:nvSpPr>
          <p:cNvPr id="10" name="Shape 6"/>
          <p:cNvSpPr/>
          <p:nvPr/>
        </p:nvSpPr>
        <p:spPr>
          <a:xfrm>
            <a:off x="685800" y="1234440"/>
            <a:ext cx="2377440" cy="1463040"/>
          </a:xfrm>
          <a:prstGeom prst="rect">
            <a:avLst/>
          </a:prstGeom>
          <a:solidFill>
            <a:srgbClr val="FFFFFF"/>
          </a:solidFill>
          <a:ln w="12700">
            <a:solidFill>
              <a:srgbClr val="999999"/>
            </a:solidFill>
            <a:prstDash val="solid"/>
          </a:ln>
        </p:spPr>
      </p:sp>
      <p:sp>
        <p:nvSpPr>
          <p:cNvPr id="11" name="Shape 7"/>
          <p:cNvSpPr/>
          <p:nvPr/>
        </p:nvSpPr>
        <p:spPr>
          <a:xfrm>
            <a:off x="685800" y="1234440"/>
            <a:ext cx="2377440" cy="320040"/>
          </a:xfrm>
          <a:prstGeom prst="rect">
            <a:avLst/>
          </a:prstGeom>
          <a:solidFill>
            <a:srgbClr val="0F4C3A"/>
          </a:solidFill>
          <a:ln w="12700">
            <a:solidFill>
              <a:srgbClr val="0F4C3A"/>
            </a:solidFill>
            <a:prstDash val="solid"/>
          </a:ln>
        </p:spPr>
      </p:sp>
      <p:sp>
        <p:nvSpPr>
          <p:cNvPr id="12" name="Text 8"/>
          <p:cNvSpPr txBox="1"/>
          <p:nvPr/>
        </p:nvSpPr>
        <p:spPr>
          <a:xfrm>
            <a:off x="685800" y="1234440"/>
            <a:ext cx="237744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Setoran Harian</a:t>
            </a:r>
            <a:endParaRPr lang="en-US" sz="1000" dirty="0"/>
          </a:p>
        </p:txBody>
      </p:sp>
      <p:sp>
        <p:nvSpPr>
          <p:cNvPr id="13" name="Shape 9"/>
          <p:cNvSpPr/>
          <p:nvPr/>
        </p:nvSpPr>
        <p:spPr>
          <a:xfrm>
            <a:off x="3429000" y="2148840"/>
            <a:ext cx="411480" cy="411480"/>
          </a:xfrm>
          <a:prstGeom prst="ellipse">
            <a:avLst/>
          </a:prstGeom>
          <a:solidFill>
            <a:srgbClr val="E8C39E"/>
          </a:solidFill>
          <a:ln/>
        </p:spPr>
      </p:sp>
      <p:sp>
        <p:nvSpPr>
          <p:cNvPr id="14" name="Shape 10"/>
          <p:cNvSpPr/>
          <p:nvPr/>
        </p:nvSpPr>
        <p:spPr>
          <a:xfrm>
            <a:off x="3337560" y="2606040"/>
            <a:ext cx="594360" cy="777240"/>
          </a:xfrm>
          <a:prstGeom prst="roundRect">
            <a:avLst>
              <a:gd name="adj" fmla="val 23077"/>
            </a:avLst>
          </a:prstGeom>
          <a:solidFill>
            <a:srgbClr val="1F7A5C"/>
          </a:solidFill>
          <a:ln w="12700">
            <a:solidFill>
              <a:srgbClr val="1F7A5C"/>
            </a:solidFill>
            <a:prstDash val="solid"/>
          </a:ln>
        </p:spPr>
      </p:sp>
      <p:sp>
        <p:nvSpPr>
          <p:cNvPr id="15" name="Shape 11"/>
          <p:cNvSpPr/>
          <p:nvPr/>
        </p:nvSpPr>
        <p:spPr>
          <a:xfrm>
            <a:off x="4160520" y="2148840"/>
            <a:ext cx="411480" cy="411480"/>
          </a:xfrm>
          <a:prstGeom prst="ellipse">
            <a:avLst/>
          </a:prstGeom>
          <a:solidFill>
            <a:srgbClr val="E8C39E"/>
          </a:solidFill>
          <a:ln/>
        </p:spPr>
      </p:sp>
      <p:sp>
        <p:nvSpPr>
          <p:cNvPr id="16" name="Shape 12"/>
          <p:cNvSpPr/>
          <p:nvPr/>
        </p:nvSpPr>
        <p:spPr>
          <a:xfrm>
            <a:off x="4069080" y="2606040"/>
            <a:ext cx="594360" cy="777240"/>
          </a:xfrm>
          <a:prstGeom prst="roundRect">
            <a:avLst>
              <a:gd name="adj" fmla="val 23077"/>
            </a:avLst>
          </a:prstGeom>
          <a:solidFill>
            <a:srgbClr val="D4A017"/>
          </a:solidFill>
          <a:ln w="12700">
            <a:solidFill>
              <a:srgbClr val="D4A017"/>
            </a:solidFill>
            <a:prstDash val="solid"/>
          </a:ln>
        </p:spPr>
      </p:sp>
      <p:sp>
        <p:nvSpPr>
          <p:cNvPr id="17" name="Shape 13"/>
          <p:cNvSpPr/>
          <p:nvPr/>
        </p:nvSpPr>
        <p:spPr>
          <a:xfrm>
            <a:off x="4892040" y="2148840"/>
            <a:ext cx="411480" cy="411480"/>
          </a:xfrm>
          <a:prstGeom prst="ellipse">
            <a:avLst/>
          </a:prstGeom>
          <a:solidFill>
            <a:srgbClr val="E8C39E"/>
          </a:solidFill>
          <a:ln/>
        </p:spPr>
      </p:sp>
      <p:sp>
        <p:nvSpPr>
          <p:cNvPr id="18" name="Shape 14"/>
          <p:cNvSpPr/>
          <p:nvPr/>
        </p:nvSpPr>
        <p:spPr>
          <a:xfrm>
            <a:off x="4800600" y="2606040"/>
            <a:ext cx="594360" cy="777240"/>
          </a:xfrm>
          <a:prstGeom prst="roundRect">
            <a:avLst>
              <a:gd name="adj" fmla="val 23077"/>
            </a:avLst>
          </a:prstGeom>
          <a:solidFill>
            <a:srgbClr val="0078D4"/>
          </a:solidFill>
          <a:ln w="12700">
            <a:solidFill>
              <a:srgbClr val="0078D4"/>
            </a:solidFill>
            <a:prstDash val="solid"/>
          </a:ln>
        </p:spPr>
      </p:sp>
      <p:pic>
        <p:nvPicPr>
          <p:cNvPr id="19" name="Image 2" descr="preencoded.png">    </p:cNvPr>
          <p:cNvPicPr>
            <a:picLocks noChangeAspect="1"/>
          </p:cNvPicPr>
          <p:nvPr/>
        </p:nvPicPr>
        <p:blipFill>
          <a:blip r:embed="rId3"/>
          <a:stretch>
            <a:fillRect/>
          </a:stretch>
        </p:blipFill>
        <p:spPr>
          <a:xfrm>
            <a:off x="4251960" y="1280160"/>
            <a:ext cx="365760" cy="365760"/>
          </a:xfrm>
          <a:prstGeom prst="rect">
            <a:avLst/>
          </a:prstGeom>
        </p:spPr>
      </p:pic>
      <p:sp>
        <p:nvSpPr>
          <p:cNvPr id="20" name="Text 15"/>
          <p:cNvSpPr txBox="1"/>
          <p:nvPr/>
        </p:nvSpPr>
        <p:spPr>
          <a:xfrm>
            <a:off x="4069080" y="1691640"/>
            <a:ext cx="914400" cy="320040"/>
          </a:xfrm>
          <a:prstGeom prst="rect">
            <a:avLst/>
          </a:prstGeom>
          <a:noFill/>
          <a:ln/>
        </p:spPr>
        <p:txBody>
          <a:bodyPr wrap="square" lIns="0" tIns="0" rIns="0" bIns="0" rtlCol="0" anchor="t"/>
          <a:lstStyle/>
          <a:p>
            <a:pPr algn="ctr" indent="0" marL="0">
              <a:buNone/>
            </a:pPr>
            <a:r>
              <a:rPr lang="en-US" sz="1500" b="1" dirty="0">
                <a:solidFill>
                  <a:srgbClr val="1E2A26"/>
                </a:solidFill>
                <a:latin typeface="Courier New" pitchFamily="34" charset="0"/>
                <a:ea typeface="Courier New" pitchFamily="34" charset="-122"/>
                <a:cs typeface="Courier New" pitchFamily="34" charset="-120"/>
              </a:rPr>
              <a:t>04:52</a:t>
            </a:r>
            <a:endParaRPr lang="en-US" sz="1500" dirty="0"/>
          </a:p>
        </p:txBody>
      </p:sp>
      <p:sp>
        <p:nvSpPr>
          <p:cNvPr id="21" name="Text 1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22" name="Text 1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Latihan presentasi dengan waktu</a:t>
            </a:r>
            <a:endParaRPr lang="en-US" sz="1800" dirty="0"/>
          </a:p>
        </p:txBody>
      </p:sp>
      <p:sp>
        <p:nvSpPr>
          <p:cNvPr id="23" name="Text 1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Latihan penuh 5 menit dengan stopwatch, di depan kelompok lain. Terima 1 pujian dan 1 saran. Perbaiki.</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35</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12: Proyek Akhir Kelas IX · Pertemuan 35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Kumpulkan:</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Slide presentasi kelompok (maks 8) dan skenario demo.</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Video demo cadangan ±1 menit.</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Portofolio pribadi Kelas VII–IX dan halaman portofolio digital.</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Catatan masukan dari latihan presentasi.</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12: Proyek Akhir Kelas IX · Pertemuan 35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Slide maksimal 8</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Demo diuji dan ada cadangan</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Portofolio 3 tahun rapi</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Latihan presentasi dengan waktu</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Karya mana dalam portofoliomu yang paling kamu banggakan?</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Bagaimana kemampuanmu berubah dari Kelas VII ke IX?</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Menceritakan nikmat Allah dengan syukur, bukan dengan sombong.</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Presentasi dan Pameran Digital Solution.</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36</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Pameran Digital Solution</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Presentasi akhir, penilaian, dan penutup Wustha</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12: Proyek Akhir Kelas IX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12: Proyek Akhir Kelas IX · Pertemuan 36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Apa yang ingin kalian tinggalkan untuk adik-adik kelas di pondok ini?</a:t>
            </a:r>
            <a:endParaRPr lang="en-US" sz="2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12: Proyek Akhir Kelas IX · Pertemuan 36</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Mempresentasikan Digital Solution Project di hadapan penilai</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Memperagakan aplikasi dan menjawab pertanyaan dengan jujur</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Merefleksikan perjalanan TIK di jenjang Wustha</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Susunan Pameran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12: Proyek Akhir Kelas IX · Pertemuan 36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25908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1. Pembukaan</a:t>
            </a:r>
            <a:endParaRPr lang="en-US" sz="1600" dirty="0"/>
          </a:p>
        </p:txBody>
      </p:sp>
      <p:sp>
        <p:nvSpPr>
          <p:cNvPr id="13" name="Text 8"/>
          <p:cNvSpPr txBox="1"/>
          <p:nvPr/>
        </p:nvSpPr>
        <p:spPr>
          <a:xfrm>
            <a:off x="6400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Salam, doa, sambutan pimpinan/guru.</a:t>
            </a:r>
            <a:endParaRPr lang="en-US" sz="1250" dirty="0"/>
          </a:p>
        </p:txBody>
      </p:sp>
      <p:sp>
        <p:nvSpPr>
          <p:cNvPr id="14" name="Shape 9"/>
          <p:cNvSpPr/>
          <p:nvPr/>
        </p:nvSpPr>
        <p:spPr>
          <a:xfrm>
            <a:off x="3276600" y="1097280"/>
            <a:ext cx="25908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34594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3596640" y="1417320"/>
            <a:ext cx="274320" cy="274320"/>
          </a:xfrm>
          <a:prstGeom prst="rect">
            <a:avLst/>
          </a:prstGeom>
        </p:spPr>
      </p:pic>
      <p:sp>
        <p:nvSpPr>
          <p:cNvPr id="17" name="Text 11"/>
          <p:cNvSpPr txBox="1"/>
          <p:nvPr/>
        </p:nvSpPr>
        <p:spPr>
          <a:xfrm>
            <a:off x="41452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2. Presentasi Kelompok</a:t>
            </a:r>
            <a:endParaRPr lang="en-US" sz="1600" dirty="0"/>
          </a:p>
        </p:txBody>
      </p:sp>
      <p:sp>
        <p:nvSpPr>
          <p:cNvPr id="18" name="Text 12"/>
          <p:cNvSpPr txBox="1"/>
          <p:nvPr/>
        </p:nvSpPr>
        <p:spPr>
          <a:xfrm>
            <a:off x="34594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5 menit presentasi + 2 menit tanya jawab per kelompok.</a:t>
            </a:r>
            <a:endParaRPr lang="en-US" sz="1250" dirty="0"/>
          </a:p>
        </p:txBody>
      </p:sp>
      <p:sp>
        <p:nvSpPr>
          <p:cNvPr id="19" name="Shape 13"/>
          <p:cNvSpPr/>
          <p:nvPr/>
        </p:nvSpPr>
        <p:spPr>
          <a:xfrm>
            <a:off x="6096000" y="1097280"/>
            <a:ext cx="25908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278880" y="128016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6416040" y="1417320"/>
            <a:ext cx="274320" cy="274320"/>
          </a:xfrm>
          <a:prstGeom prst="rect">
            <a:avLst/>
          </a:prstGeom>
        </p:spPr>
      </p:pic>
      <p:sp>
        <p:nvSpPr>
          <p:cNvPr id="22" name="Text 15"/>
          <p:cNvSpPr txBox="1"/>
          <p:nvPr/>
        </p:nvSpPr>
        <p:spPr>
          <a:xfrm>
            <a:off x="69646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3. Stan Coba Aplikasi</a:t>
            </a:r>
            <a:endParaRPr lang="en-US" sz="1600" dirty="0"/>
          </a:p>
        </p:txBody>
      </p:sp>
      <p:sp>
        <p:nvSpPr>
          <p:cNvPr id="23" name="Text 16"/>
          <p:cNvSpPr txBox="1"/>
          <p:nvPr/>
        </p:nvSpPr>
        <p:spPr>
          <a:xfrm>
            <a:off x="62788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Pengunjung memindai QR dan mencoba aplikasi di setiap meja.</a:t>
            </a:r>
            <a:endParaRPr lang="en-US" sz="1250" dirty="0"/>
          </a:p>
        </p:txBody>
      </p:sp>
      <p:sp>
        <p:nvSpPr>
          <p:cNvPr id="24" name="Shape 17"/>
          <p:cNvSpPr/>
          <p:nvPr/>
        </p:nvSpPr>
        <p:spPr>
          <a:xfrm>
            <a:off x="457200" y="2948940"/>
            <a:ext cx="25908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6400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777240" y="3268980"/>
            <a:ext cx="274320" cy="274320"/>
          </a:xfrm>
          <a:prstGeom prst="rect">
            <a:avLst/>
          </a:prstGeom>
        </p:spPr>
      </p:pic>
      <p:sp>
        <p:nvSpPr>
          <p:cNvPr id="27" name="Text 19"/>
          <p:cNvSpPr txBox="1"/>
          <p:nvPr/>
        </p:nvSpPr>
        <p:spPr>
          <a:xfrm>
            <a:off x="13258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4. Penilaian &amp; Apresiasi</a:t>
            </a:r>
            <a:endParaRPr lang="en-US" sz="1600" dirty="0"/>
          </a:p>
        </p:txBody>
      </p:sp>
      <p:sp>
        <p:nvSpPr>
          <p:cNvPr id="28" name="Text 20"/>
          <p:cNvSpPr txBox="1"/>
          <p:nvPr/>
        </p:nvSpPr>
        <p:spPr>
          <a:xfrm>
            <a:off x="6400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Rubrik proyek; apresiasi kategori: terbaik, paling bermanfaat, desain terbaik.</a:t>
            </a:r>
            <a:endParaRPr lang="en-US" sz="1250" dirty="0"/>
          </a:p>
        </p:txBody>
      </p:sp>
      <p:sp>
        <p:nvSpPr>
          <p:cNvPr id="29" name="Shape 21"/>
          <p:cNvSpPr/>
          <p:nvPr/>
        </p:nvSpPr>
        <p:spPr>
          <a:xfrm>
            <a:off x="3276600" y="2948940"/>
            <a:ext cx="2590800" cy="1668780"/>
          </a:xfrm>
          <a:prstGeom prst="roundRect">
            <a:avLst>
              <a:gd name="adj" fmla="val 6575"/>
            </a:avLst>
          </a:prstGeom>
          <a:solidFill>
            <a:srgbClr val="E6F2EC"/>
          </a:solidFill>
          <a:ln w="12700">
            <a:solidFill>
              <a:srgbClr val="E6F2EC"/>
            </a:solidFill>
            <a:prstDash val="solid"/>
          </a:ln>
        </p:spPr>
      </p:sp>
      <p:sp>
        <p:nvSpPr>
          <p:cNvPr id="30" name="Shape 22"/>
          <p:cNvSpPr/>
          <p:nvPr/>
        </p:nvSpPr>
        <p:spPr>
          <a:xfrm>
            <a:off x="3459480" y="3131820"/>
            <a:ext cx="548640" cy="548640"/>
          </a:xfrm>
          <a:prstGeom prst="ellipse">
            <a:avLst/>
          </a:prstGeom>
          <a:solidFill>
            <a:srgbClr val="0F4C3A"/>
          </a:solidFill>
          <a:ln/>
        </p:spPr>
      </p:sp>
      <p:pic>
        <p:nvPicPr>
          <p:cNvPr id="31" name="Image 6" descr="preencoded.png">    </p:cNvPr>
          <p:cNvPicPr>
            <a:picLocks noChangeAspect="1"/>
          </p:cNvPicPr>
          <p:nvPr/>
        </p:nvPicPr>
        <p:blipFill>
          <a:blip r:embed="rId7"/>
          <a:stretch>
            <a:fillRect/>
          </a:stretch>
        </p:blipFill>
        <p:spPr>
          <a:xfrm>
            <a:off x="3596640" y="3268980"/>
            <a:ext cx="274320" cy="274320"/>
          </a:xfrm>
          <a:prstGeom prst="rect">
            <a:avLst/>
          </a:prstGeom>
        </p:spPr>
      </p:pic>
      <p:sp>
        <p:nvSpPr>
          <p:cNvPr id="32" name="Text 23"/>
          <p:cNvSpPr txBox="1"/>
          <p:nvPr/>
        </p:nvSpPr>
        <p:spPr>
          <a:xfrm>
            <a:off x="41452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5. Refleksi &amp; Penutup</a:t>
            </a:r>
            <a:endParaRPr lang="en-US" sz="1600" dirty="0"/>
          </a:p>
        </p:txBody>
      </p:sp>
      <p:sp>
        <p:nvSpPr>
          <p:cNvPr id="33" name="Text 24"/>
          <p:cNvSpPr txBox="1"/>
          <p:nvPr/>
        </p:nvSpPr>
        <p:spPr>
          <a:xfrm>
            <a:off x="34594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Refleksi Wustha, pesan untuk adik kelas, doa.</a:t>
            </a:r>
            <a:endParaRPr lang="en-US" sz="12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Menjawab Pertanyaan Penilai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12: Proyek Akhir Kelas IX · Pertemuan 36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23360" cy="3520440"/>
          </a:xfrm>
          <a:prstGeom prst="roundRect">
            <a:avLst>
              <a:gd name="adj" fmla="val 3117"/>
            </a:avLst>
          </a:prstGeom>
          <a:solidFill>
            <a:srgbClr val="E6F2EC"/>
          </a:solidFill>
          <a:ln w="12700">
            <a:solidFill>
              <a:srgbClr val="E6F2EC"/>
            </a:solidFill>
            <a:prstDash val="solid"/>
          </a:ln>
        </p:spPr>
      </p:sp>
      <p:sp>
        <p:nvSpPr>
          <p:cNvPr id="10" name="Shape 6"/>
          <p:cNvSpPr/>
          <p:nvPr/>
        </p:nvSpPr>
        <p:spPr>
          <a:xfrm>
            <a:off x="640080" y="1234440"/>
            <a:ext cx="457200" cy="457200"/>
          </a:xfrm>
          <a:prstGeom prst="ellipse">
            <a:avLst/>
          </a:prstGeom>
          <a:solidFill>
            <a:srgbClr val="1F7A5C"/>
          </a:solidFill>
          <a:ln/>
        </p:spPr>
      </p:sp>
      <p:pic>
        <p:nvPicPr>
          <p:cNvPr id="11" name="Image 2" descr="preencoded.png">    </p:cNvPr>
          <p:cNvPicPr>
            <a:picLocks noChangeAspect="1"/>
          </p:cNvPicPr>
          <p:nvPr/>
        </p:nvPicPr>
        <p:blipFill>
          <a:blip r:embed="rId3"/>
          <a:stretch>
            <a:fillRect/>
          </a:stretch>
        </p:blipFill>
        <p:spPr>
          <a:xfrm>
            <a:off x="758952" y="1353312"/>
            <a:ext cx="219456" cy="219456"/>
          </a:xfrm>
          <a:prstGeom prst="rect">
            <a:avLst/>
          </a:prstGeom>
        </p:spPr>
      </p:pic>
      <p:sp>
        <p:nvSpPr>
          <p:cNvPr id="12" name="Text 7"/>
          <p:cNvSpPr txBox="1"/>
          <p:nvPr/>
        </p:nvSpPr>
        <p:spPr>
          <a:xfrm>
            <a:off x="1234440" y="1234440"/>
            <a:ext cx="3108960" cy="457200"/>
          </a:xfrm>
          <a:prstGeom prst="rect">
            <a:avLst/>
          </a:prstGeom>
          <a:noFill/>
          <a:ln/>
        </p:spPr>
        <p:txBody>
          <a:bodyPr wrap="square" lIns="0" tIns="0" rIns="0" bIns="0" rtlCol="0" anchor="ctr"/>
          <a:lstStyle/>
          <a:p>
            <a:pPr indent="0" marL="0">
              <a:buNone/>
            </a:pPr>
            <a:r>
              <a:rPr lang="en-US" sz="1700" b="1" dirty="0">
                <a:solidFill>
                  <a:srgbClr val="1F7A5C"/>
                </a:solidFill>
                <a:latin typeface="Cambria" pitchFamily="34" charset="0"/>
                <a:ea typeface="Cambria" pitchFamily="34" charset="-122"/>
                <a:cs typeface="Cambria" pitchFamily="34" charset="-120"/>
              </a:rPr>
              <a:t>Sikap yang Baik</a:t>
            </a:r>
            <a:endParaRPr lang="en-US" sz="1700" dirty="0"/>
          </a:p>
        </p:txBody>
      </p:sp>
      <p:sp>
        <p:nvSpPr>
          <p:cNvPr id="13" name="Text 8"/>
          <p:cNvSpPr txBox="1"/>
          <p:nvPr/>
        </p:nvSpPr>
        <p:spPr>
          <a:xfrm>
            <a:off x="73152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Dengarkan sampai selesai, lalu jawab singkat</a:t>
            </a:r>
            <a:endParaRPr lang="en-US" sz="1450" dirty="0"/>
          </a:p>
        </p:txBody>
      </p:sp>
      <p:sp>
        <p:nvSpPr>
          <p:cNvPr id="14" name="Text 9"/>
          <p:cNvSpPr txBox="1"/>
          <p:nvPr/>
        </p:nvSpPr>
        <p:spPr>
          <a:xfrm>
            <a:off x="73152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Jujur jika belum tahu: "Akan kami pelajari"</a:t>
            </a:r>
            <a:endParaRPr lang="en-US" sz="1450" dirty="0"/>
          </a:p>
        </p:txBody>
      </p:sp>
      <p:sp>
        <p:nvSpPr>
          <p:cNvPr id="15" name="Text 10"/>
          <p:cNvSpPr txBox="1"/>
          <p:nvPr/>
        </p:nvSpPr>
        <p:spPr>
          <a:xfrm>
            <a:off x="73152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Tunjukkan bukti: test case, data uji, commit</a:t>
            </a:r>
            <a:endParaRPr lang="en-US" sz="1450" dirty="0"/>
          </a:p>
        </p:txBody>
      </p:sp>
      <p:sp>
        <p:nvSpPr>
          <p:cNvPr id="16" name="Shape 11"/>
          <p:cNvSpPr/>
          <p:nvPr/>
        </p:nvSpPr>
        <p:spPr>
          <a:xfrm>
            <a:off x="4663440" y="1097280"/>
            <a:ext cx="4023360" cy="3520440"/>
          </a:xfrm>
          <a:prstGeom prst="roundRect">
            <a:avLst>
              <a:gd name="adj" fmla="val 3117"/>
            </a:avLst>
          </a:prstGeom>
          <a:solidFill>
            <a:srgbClr val="FDECEA"/>
          </a:solidFill>
          <a:ln w="12700">
            <a:solidFill>
              <a:srgbClr val="FDECEA"/>
            </a:solidFill>
            <a:prstDash val="solid"/>
          </a:ln>
        </p:spPr>
      </p:sp>
      <p:sp>
        <p:nvSpPr>
          <p:cNvPr id="17" name="Shape 12"/>
          <p:cNvSpPr/>
          <p:nvPr/>
        </p:nvSpPr>
        <p:spPr>
          <a:xfrm>
            <a:off x="4846320" y="1234440"/>
            <a:ext cx="457200" cy="457200"/>
          </a:xfrm>
          <a:prstGeom prst="ellipse">
            <a:avLst/>
          </a:prstGeom>
          <a:solidFill>
            <a:srgbClr val="E53935"/>
          </a:solidFill>
          <a:ln/>
        </p:spPr>
      </p:sp>
      <p:pic>
        <p:nvPicPr>
          <p:cNvPr id="18" name="Image 3" descr="preencoded.png">    </p:cNvPr>
          <p:cNvPicPr>
            <a:picLocks noChangeAspect="1"/>
          </p:cNvPicPr>
          <p:nvPr/>
        </p:nvPicPr>
        <p:blipFill>
          <a:blip r:embed="rId4"/>
          <a:stretch>
            <a:fillRect/>
          </a:stretch>
        </p:blipFill>
        <p:spPr>
          <a:xfrm>
            <a:off x="4965192" y="1353312"/>
            <a:ext cx="219456" cy="219456"/>
          </a:xfrm>
          <a:prstGeom prst="rect">
            <a:avLst/>
          </a:prstGeom>
        </p:spPr>
      </p:pic>
      <p:sp>
        <p:nvSpPr>
          <p:cNvPr id="19" name="Text 13"/>
          <p:cNvSpPr txBox="1"/>
          <p:nvPr/>
        </p:nvSpPr>
        <p:spPr>
          <a:xfrm>
            <a:off x="5440680" y="1234440"/>
            <a:ext cx="3108960" cy="457200"/>
          </a:xfrm>
          <a:prstGeom prst="rect">
            <a:avLst/>
          </a:prstGeom>
          <a:noFill/>
          <a:ln/>
        </p:spPr>
        <p:txBody>
          <a:bodyPr wrap="square" lIns="0" tIns="0" rIns="0" bIns="0" rtlCol="0" anchor="ctr"/>
          <a:lstStyle/>
          <a:p>
            <a:pPr indent="0" marL="0">
              <a:buNone/>
            </a:pPr>
            <a:r>
              <a:rPr lang="en-US" sz="1700" b="1" dirty="0">
                <a:solidFill>
                  <a:srgbClr val="E53935"/>
                </a:solidFill>
                <a:latin typeface="Cambria" pitchFamily="34" charset="0"/>
                <a:ea typeface="Cambria" pitchFamily="34" charset="-122"/>
                <a:cs typeface="Cambria" pitchFamily="34" charset="-120"/>
              </a:rPr>
              <a:t>Hindari</a:t>
            </a:r>
            <a:endParaRPr lang="en-US" sz="1700" dirty="0"/>
          </a:p>
        </p:txBody>
      </p:sp>
      <p:sp>
        <p:nvSpPr>
          <p:cNvPr id="20" name="Text 14"/>
          <p:cNvSpPr txBox="1"/>
          <p:nvPr/>
        </p:nvSpPr>
        <p:spPr>
          <a:xfrm>
            <a:off x="493776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Memotong pertanyaan</a:t>
            </a:r>
            <a:endParaRPr lang="en-US" sz="1450" dirty="0"/>
          </a:p>
        </p:txBody>
      </p:sp>
      <p:sp>
        <p:nvSpPr>
          <p:cNvPr id="21" name="Text 15"/>
          <p:cNvSpPr txBox="1"/>
          <p:nvPr/>
        </p:nvSpPr>
        <p:spPr>
          <a:xfrm>
            <a:off x="493776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Mengarang jawaban atau melebih-lebihkan</a:t>
            </a:r>
            <a:endParaRPr lang="en-US" sz="1450" dirty="0"/>
          </a:p>
        </p:txBody>
      </p:sp>
      <p:sp>
        <p:nvSpPr>
          <p:cNvPr id="22" name="Text 16"/>
          <p:cNvSpPr txBox="1"/>
          <p:nvPr/>
        </p:nvSpPr>
        <p:spPr>
          <a:xfrm>
            <a:off x="493776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Menyalahkan anggota lain atau AI</a:t>
            </a:r>
            <a:endParaRPr lang="en-US" sz="14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Pameran Digital Solution</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Proyek akhir Kelas IX · seluruh kelas</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Persiapan stan dan perangkat</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3–4</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Presentasi dan stan coba</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5–6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Penilaian, refleksi, penutup</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Persiapan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12: Proyek Akhir Kelas IX · Pertemuan 36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611880"/>
          </a:xfrm>
          <a:prstGeom prst="rect">
            <a:avLst/>
          </a:prstGeom>
          <a:solidFill>
            <a:srgbClr val="E8DCC4"/>
          </a:solidFill>
          <a:ln w="12700">
            <a:solidFill>
              <a:srgbClr val="E8DCC4"/>
            </a:solidFill>
            <a:prstDash val="solid"/>
          </a:ln>
        </p:spPr>
      </p:sp>
      <p:sp>
        <p:nvSpPr>
          <p:cNvPr id="10" name="Shape 6"/>
          <p:cNvSpPr/>
          <p:nvPr/>
        </p:nvSpPr>
        <p:spPr>
          <a:xfrm>
            <a:off x="685800" y="3063240"/>
            <a:ext cx="4754880" cy="137160"/>
          </a:xfrm>
          <a:prstGeom prst="rect">
            <a:avLst/>
          </a:prstGeom>
          <a:solidFill>
            <a:srgbClr val="8D6E63"/>
          </a:solidFill>
          <a:ln w="12700">
            <a:solidFill>
              <a:srgbClr val="8D6E63"/>
            </a:solidFill>
            <a:prstDash val="solid"/>
          </a:ln>
        </p:spPr>
      </p:sp>
      <p:sp>
        <p:nvSpPr>
          <p:cNvPr id="11" name="Shape 7"/>
          <p:cNvSpPr/>
          <p:nvPr/>
        </p:nvSpPr>
        <p:spPr>
          <a:xfrm>
            <a:off x="960120" y="1325880"/>
            <a:ext cx="1371600" cy="1737360"/>
          </a:xfrm>
          <a:prstGeom prst="rect">
            <a:avLst/>
          </a:prstGeom>
          <a:solidFill>
            <a:srgbClr val="FFFFFF"/>
          </a:solidFill>
          <a:ln w="12700">
            <a:solidFill>
              <a:srgbClr val="999999"/>
            </a:solidFill>
            <a:prstDash val="solid"/>
          </a:ln>
        </p:spPr>
      </p:sp>
      <p:sp>
        <p:nvSpPr>
          <p:cNvPr id="12" name="Shape 8"/>
          <p:cNvSpPr/>
          <p:nvPr/>
        </p:nvSpPr>
        <p:spPr>
          <a:xfrm>
            <a:off x="960120" y="1325880"/>
            <a:ext cx="1371600" cy="320040"/>
          </a:xfrm>
          <a:prstGeom prst="rect">
            <a:avLst/>
          </a:prstGeom>
          <a:solidFill>
            <a:srgbClr val="0F4C3A"/>
          </a:solidFill>
          <a:ln w="12700">
            <a:solidFill>
              <a:srgbClr val="0F4C3A"/>
            </a:solidFill>
            <a:prstDash val="solid"/>
          </a:ln>
        </p:spPr>
      </p:sp>
      <p:sp>
        <p:nvSpPr>
          <p:cNvPr id="13" name="Text 9"/>
          <p:cNvSpPr txBox="1"/>
          <p:nvPr/>
        </p:nvSpPr>
        <p:spPr>
          <a:xfrm>
            <a:off x="960120" y="1325880"/>
            <a:ext cx="137160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Setoran Harian</a:t>
            </a:r>
            <a:endParaRPr lang="en-US" sz="900" dirty="0"/>
          </a:p>
        </p:txBody>
      </p:sp>
      <p:sp>
        <p:nvSpPr>
          <p:cNvPr id="14" name="Shape 10"/>
          <p:cNvSpPr/>
          <p:nvPr/>
        </p:nvSpPr>
        <p:spPr>
          <a:xfrm>
            <a:off x="1280160" y="1783080"/>
            <a:ext cx="731520" cy="731520"/>
          </a:xfrm>
          <a:prstGeom prst="rect">
            <a:avLst/>
          </a:prstGeom>
          <a:solidFill>
            <a:srgbClr val="FFFFFF"/>
          </a:solidFill>
          <a:ln w="12700">
            <a:solidFill>
              <a:srgbClr val="FFFFFF"/>
            </a:solidFill>
            <a:prstDash val="solid"/>
          </a:ln>
        </p:spPr>
      </p:sp>
      <p:sp>
        <p:nvSpPr>
          <p:cNvPr id="15" name="Shape 11"/>
          <p:cNvSpPr/>
          <p:nvPr/>
        </p:nvSpPr>
        <p:spPr>
          <a:xfrm>
            <a:off x="1280160" y="1783080"/>
            <a:ext cx="104503" cy="104503"/>
          </a:xfrm>
          <a:prstGeom prst="rect">
            <a:avLst/>
          </a:prstGeom>
          <a:solidFill>
            <a:srgbClr val="111111"/>
          </a:solidFill>
          <a:ln w="12700">
            <a:solidFill>
              <a:srgbClr val="111111"/>
            </a:solidFill>
            <a:prstDash val="solid"/>
          </a:ln>
        </p:spPr>
      </p:sp>
      <p:sp>
        <p:nvSpPr>
          <p:cNvPr id="16" name="Shape 12"/>
          <p:cNvSpPr/>
          <p:nvPr/>
        </p:nvSpPr>
        <p:spPr>
          <a:xfrm>
            <a:off x="1384663" y="1783080"/>
            <a:ext cx="104503" cy="104503"/>
          </a:xfrm>
          <a:prstGeom prst="rect">
            <a:avLst/>
          </a:prstGeom>
          <a:solidFill>
            <a:srgbClr val="111111"/>
          </a:solidFill>
          <a:ln w="12700">
            <a:solidFill>
              <a:srgbClr val="111111"/>
            </a:solidFill>
            <a:prstDash val="solid"/>
          </a:ln>
        </p:spPr>
      </p:sp>
      <p:sp>
        <p:nvSpPr>
          <p:cNvPr id="17" name="Shape 13"/>
          <p:cNvSpPr/>
          <p:nvPr/>
        </p:nvSpPr>
        <p:spPr>
          <a:xfrm>
            <a:off x="1489166" y="1783080"/>
            <a:ext cx="104503" cy="104503"/>
          </a:xfrm>
          <a:prstGeom prst="rect">
            <a:avLst/>
          </a:prstGeom>
          <a:solidFill>
            <a:srgbClr val="111111"/>
          </a:solidFill>
          <a:ln w="12700">
            <a:solidFill>
              <a:srgbClr val="111111"/>
            </a:solidFill>
            <a:prstDash val="solid"/>
          </a:ln>
        </p:spPr>
      </p:sp>
      <p:sp>
        <p:nvSpPr>
          <p:cNvPr id="18" name="Shape 14"/>
          <p:cNvSpPr/>
          <p:nvPr/>
        </p:nvSpPr>
        <p:spPr>
          <a:xfrm>
            <a:off x="1698171" y="1783080"/>
            <a:ext cx="104503" cy="104503"/>
          </a:xfrm>
          <a:prstGeom prst="rect">
            <a:avLst/>
          </a:prstGeom>
          <a:solidFill>
            <a:srgbClr val="111111"/>
          </a:solidFill>
          <a:ln w="12700">
            <a:solidFill>
              <a:srgbClr val="111111"/>
            </a:solidFill>
            <a:prstDash val="solid"/>
          </a:ln>
        </p:spPr>
      </p:sp>
      <p:sp>
        <p:nvSpPr>
          <p:cNvPr id="19" name="Shape 15"/>
          <p:cNvSpPr/>
          <p:nvPr/>
        </p:nvSpPr>
        <p:spPr>
          <a:xfrm>
            <a:off x="1802674" y="1783080"/>
            <a:ext cx="104503" cy="104503"/>
          </a:xfrm>
          <a:prstGeom prst="rect">
            <a:avLst/>
          </a:prstGeom>
          <a:solidFill>
            <a:srgbClr val="111111"/>
          </a:solidFill>
          <a:ln w="12700">
            <a:solidFill>
              <a:srgbClr val="111111"/>
            </a:solidFill>
            <a:prstDash val="solid"/>
          </a:ln>
        </p:spPr>
      </p:sp>
      <p:sp>
        <p:nvSpPr>
          <p:cNvPr id="20" name="Shape 16"/>
          <p:cNvSpPr/>
          <p:nvPr/>
        </p:nvSpPr>
        <p:spPr>
          <a:xfrm>
            <a:off x="1907177" y="1783080"/>
            <a:ext cx="104503" cy="104503"/>
          </a:xfrm>
          <a:prstGeom prst="rect">
            <a:avLst/>
          </a:prstGeom>
          <a:solidFill>
            <a:srgbClr val="111111"/>
          </a:solidFill>
          <a:ln w="12700">
            <a:solidFill>
              <a:srgbClr val="111111"/>
            </a:solidFill>
            <a:prstDash val="solid"/>
          </a:ln>
        </p:spPr>
      </p:sp>
      <p:sp>
        <p:nvSpPr>
          <p:cNvPr id="21" name="Shape 17"/>
          <p:cNvSpPr/>
          <p:nvPr/>
        </p:nvSpPr>
        <p:spPr>
          <a:xfrm>
            <a:off x="1280160" y="1887583"/>
            <a:ext cx="104503" cy="104503"/>
          </a:xfrm>
          <a:prstGeom prst="rect">
            <a:avLst/>
          </a:prstGeom>
          <a:solidFill>
            <a:srgbClr val="111111"/>
          </a:solidFill>
          <a:ln w="12700">
            <a:solidFill>
              <a:srgbClr val="111111"/>
            </a:solidFill>
            <a:prstDash val="solid"/>
          </a:ln>
        </p:spPr>
      </p:sp>
      <p:sp>
        <p:nvSpPr>
          <p:cNvPr id="22" name="Shape 18"/>
          <p:cNvSpPr/>
          <p:nvPr/>
        </p:nvSpPr>
        <p:spPr>
          <a:xfrm>
            <a:off x="1489166" y="1887583"/>
            <a:ext cx="104503" cy="104503"/>
          </a:xfrm>
          <a:prstGeom prst="rect">
            <a:avLst/>
          </a:prstGeom>
          <a:solidFill>
            <a:srgbClr val="111111"/>
          </a:solidFill>
          <a:ln w="12700">
            <a:solidFill>
              <a:srgbClr val="111111"/>
            </a:solidFill>
            <a:prstDash val="solid"/>
          </a:ln>
        </p:spPr>
      </p:sp>
      <p:sp>
        <p:nvSpPr>
          <p:cNvPr id="23" name="Shape 19"/>
          <p:cNvSpPr/>
          <p:nvPr/>
        </p:nvSpPr>
        <p:spPr>
          <a:xfrm>
            <a:off x="1698171" y="1887583"/>
            <a:ext cx="104503" cy="104503"/>
          </a:xfrm>
          <a:prstGeom prst="rect">
            <a:avLst/>
          </a:prstGeom>
          <a:solidFill>
            <a:srgbClr val="111111"/>
          </a:solidFill>
          <a:ln w="12700">
            <a:solidFill>
              <a:srgbClr val="111111"/>
            </a:solidFill>
            <a:prstDash val="solid"/>
          </a:ln>
        </p:spPr>
      </p:sp>
      <p:sp>
        <p:nvSpPr>
          <p:cNvPr id="24" name="Shape 20"/>
          <p:cNvSpPr/>
          <p:nvPr/>
        </p:nvSpPr>
        <p:spPr>
          <a:xfrm>
            <a:off x="1907177" y="1887583"/>
            <a:ext cx="104503" cy="104503"/>
          </a:xfrm>
          <a:prstGeom prst="rect">
            <a:avLst/>
          </a:prstGeom>
          <a:solidFill>
            <a:srgbClr val="111111"/>
          </a:solidFill>
          <a:ln w="12700">
            <a:solidFill>
              <a:srgbClr val="111111"/>
            </a:solidFill>
            <a:prstDash val="solid"/>
          </a:ln>
        </p:spPr>
      </p:sp>
      <p:sp>
        <p:nvSpPr>
          <p:cNvPr id="25" name="Shape 21"/>
          <p:cNvSpPr/>
          <p:nvPr/>
        </p:nvSpPr>
        <p:spPr>
          <a:xfrm>
            <a:off x="1280160" y="1992086"/>
            <a:ext cx="104503" cy="104503"/>
          </a:xfrm>
          <a:prstGeom prst="rect">
            <a:avLst/>
          </a:prstGeom>
          <a:solidFill>
            <a:srgbClr val="111111"/>
          </a:solidFill>
          <a:ln w="12700">
            <a:solidFill>
              <a:srgbClr val="111111"/>
            </a:solidFill>
            <a:prstDash val="solid"/>
          </a:ln>
        </p:spPr>
      </p:sp>
      <p:sp>
        <p:nvSpPr>
          <p:cNvPr id="26" name="Shape 22"/>
          <p:cNvSpPr/>
          <p:nvPr/>
        </p:nvSpPr>
        <p:spPr>
          <a:xfrm>
            <a:off x="1384663" y="1992086"/>
            <a:ext cx="104503" cy="104503"/>
          </a:xfrm>
          <a:prstGeom prst="rect">
            <a:avLst/>
          </a:prstGeom>
          <a:solidFill>
            <a:srgbClr val="111111"/>
          </a:solidFill>
          <a:ln w="12700">
            <a:solidFill>
              <a:srgbClr val="111111"/>
            </a:solidFill>
            <a:prstDash val="solid"/>
          </a:ln>
        </p:spPr>
      </p:sp>
      <p:sp>
        <p:nvSpPr>
          <p:cNvPr id="27" name="Shape 23"/>
          <p:cNvSpPr/>
          <p:nvPr/>
        </p:nvSpPr>
        <p:spPr>
          <a:xfrm>
            <a:off x="1489166" y="1992086"/>
            <a:ext cx="104503" cy="104503"/>
          </a:xfrm>
          <a:prstGeom prst="rect">
            <a:avLst/>
          </a:prstGeom>
          <a:solidFill>
            <a:srgbClr val="111111"/>
          </a:solidFill>
          <a:ln w="12700">
            <a:solidFill>
              <a:srgbClr val="111111"/>
            </a:solidFill>
            <a:prstDash val="solid"/>
          </a:ln>
        </p:spPr>
      </p:sp>
      <p:sp>
        <p:nvSpPr>
          <p:cNvPr id="28" name="Shape 24"/>
          <p:cNvSpPr/>
          <p:nvPr/>
        </p:nvSpPr>
        <p:spPr>
          <a:xfrm>
            <a:off x="1698171" y="1992086"/>
            <a:ext cx="104503" cy="104503"/>
          </a:xfrm>
          <a:prstGeom prst="rect">
            <a:avLst/>
          </a:prstGeom>
          <a:solidFill>
            <a:srgbClr val="111111"/>
          </a:solidFill>
          <a:ln w="12700">
            <a:solidFill>
              <a:srgbClr val="111111"/>
            </a:solidFill>
            <a:prstDash val="solid"/>
          </a:ln>
        </p:spPr>
      </p:sp>
      <p:sp>
        <p:nvSpPr>
          <p:cNvPr id="29" name="Shape 25"/>
          <p:cNvSpPr/>
          <p:nvPr/>
        </p:nvSpPr>
        <p:spPr>
          <a:xfrm>
            <a:off x="1802674" y="1992086"/>
            <a:ext cx="104503" cy="104503"/>
          </a:xfrm>
          <a:prstGeom prst="rect">
            <a:avLst/>
          </a:prstGeom>
          <a:solidFill>
            <a:srgbClr val="111111"/>
          </a:solidFill>
          <a:ln w="12700">
            <a:solidFill>
              <a:srgbClr val="111111"/>
            </a:solidFill>
            <a:prstDash val="solid"/>
          </a:ln>
        </p:spPr>
      </p:sp>
      <p:sp>
        <p:nvSpPr>
          <p:cNvPr id="30" name="Shape 26"/>
          <p:cNvSpPr/>
          <p:nvPr/>
        </p:nvSpPr>
        <p:spPr>
          <a:xfrm>
            <a:off x="1907177" y="1992086"/>
            <a:ext cx="104503" cy="104503"/>
          </a:xfrm>
          <a:prstGeom prst="rect">
            <a:avLst/>
          </a:prstGeom>
          <a:solidFill>
            <a:srgbClr val="111111"/>
          </a:solidFill>
          <a:ln w="12700">
            <a:solidFill>
              <a:srgbClr val="111111"/>
            </a:solidFill>
            <a:prstDash val="solid"/>
          </a:ln>
        </p:spPr>
      </p:sp>
      <p:sp>
        <p:nvSpPr>
          <p:cNvPr id="31" name="Shape 27"/>
          <p:cNvSpPr/>
          <p:nvPr/>
        </p:nvSpPr>
        <p:spPr>
          <a:xfrm>
            <a:off x="1593669" y="2096589"/>
            <a:ext cx="104503" cy="104503"/>
          </a:xfrm>
          <a:prstGeom prst="rect">
            <a:avLst/>
          </a:prstGeom>
          <a:solidFill>
            <a:srgbClr val="111111"/>
          </a:solidFill>
          <a:ln w="12700">
            <a:solidFill>
              <a:srgbClr val="111111"/>
            </a:solidFill>
            <a:prstDash val="solid"/>
          </a:ln>
        </p:spPr>
      </p:sp>
      <p:sp>
        <p:nvSpPr>
          <p:cNvPr id="32" name="Shape 28"/>
          <p:cNvSpPr/>
          <p:nvPr/>
        </p:nvSpPr>
        <p:spPr>
          <a:xfrm>
            <a:off x="1280160" y="2201091"/>
            <a:ext cx="104503" cy="104503"/>
          </a:xfrm>
          <a:prstGeom prst="rect">
            <a:avLst/>
          </a:prstGeom>
          <a:solidFill>
            <a:srgbClr val="111111"/>
          </a:solidFill>
          <a:ln w="12700">
            <a:solidFill>
              <a:srgbClr val="111111"/>
            </a:solidFill>
            <a:prstDash val="solid"/>
          </a:ln>
        </p:spPr>
      </p:sp>
      <p:sp>
        <p:nvSpPr>
          <p:cNvPr id="33" name="Shape 29"/>
          <p:cNvSpPr/>
          <p:nvPr/>
        </p:nvSpPr>
        <p:spPr>
          <a:xfrm>
            <a:off x="1489166" y="2201091"/>
            <a:ext cx="104503" cy="104503"/>
          </a:xfrm>
          <a:prstGeom prst="rect">
            <a:avLst/>
          </a:prstGeom>
          <a:solidFill>
            <a:srgbClr val="111111"/>
          </a:solidFill>
          <a:ln w="12700">
            <a:solidFill>
              <a:srgbClr val="111111"/>
            </a:solidFill>
            <a:prstDash val="solid"/>
          </a:ln>
        </p:spPr>
      </p:sp>
      <p:sp>
        <p:nvSpPr>
          <p:cNvPr id="34" name="Shape 30"/>
          <p:cNvSpPr/>
          <p:nvPr/>
        </p:nvSpPr>
        <p:spPr>
          <a:xfrm>
            <a:off x="1593669" y="2201091"/>
            <a:ext cx="104503" cy="104503"/>
          </a:xfrm>
          <a:prstGeom prst="rect">
            <a:avLst/>
          </a:prstGeom>
          <a:solidFill>
            <a:srgbClr val="111111"/>
          </a:solidFill>
          <a:ln w="12700">
            <a:solidFill>
              <a:srgbClr val="111111"/>
            </a:solidFill>
            <a:prstDash val="solid"/>
          </a:ln>
        </p:spPr>
      </p:sp>
      <p:sp>
        <p:nvSpPr>
          <p:cNvPr id="35" name="Shape 31"/>
          <p:cNvSpPr/>
          <p:nvPr/>
        </p:nvSpPr>
        <p:spPr>
          <a:xfrm>
            <a:off x="1802674" y="2201091"/>
            <a:ext cx="104503" cy="104503"/>
          </a:xfrm>
          <a:prstGeom prst="rect">
            <a:avLst/>
          </a:prstGeom>
          <a:solidFill>
            <a:srgbClr val="111111"/>
          </a:solidFill>
          <a:ln w="12700">
            <a:solidFill>
              <a:srgbClr val="111111"/>
            </a:solidFill>
            <a:prstDash val="solid"/>
          </a:ln>
        </p:spPr>
      </p:sp>
      <p:sp>
        <p:nvSpPr>
          <p:cNvPr id="36" name="Shape 32"/>
          <p:cNvSpPr/>
          <p:nvPr/>
        </p:nvSpPr>
        <p:spPr>
          <a:xfrm>
            <a:off x="1907177" y="2201091"/>
            <a:ext cx="104503" cy="104503"/>
          </a:xfrm>
          <a:prstGeom prst="rect">
            <a:avLst/>
          </a:prstGeom>
          <a:solidFill>
            <a:srgbClr val="111111"/>
          </a:solidFill>
          <a:ln w="12700">
            <a:solidFill>
              <a:srgbClr val="111111"/>
            </a:solidFill>
            <a:prstDash val="solid"/>
          </a:ln>
        </p:spPr>
      </p:sp>
      <p:sp>
        <p:nvSpPr>
          <p:cNvPr id="37" name="Shape 33"/>
          <p:cNvSpPr/>
          <p:nvPr/>
        </p:nvSpPr>
        <p:spPr>
          <a:xfrm>
            <a:off x="1384663" y="2305594"/>
            <a:ext cx="104503" cy="104503"/>
          </a:xfrm>
          <a:prstGeom prst="rect">
            <a:avLst/>
          </a:prstGeom>
          <a:solidFill>
            <a:srgbClr val="111111"/>
          </a:solidFill>
          <a:ln w="12700">
            <a:solidFill>
              <a:srgbClr val="111111"/>
            </a:solidFill>
            <a:prstDash val="solid"/>
          </a:ln>
        </p:spPr>
      </p:sp>
      <p:sp>
        <p:nvSpPr>
          <p:cNvPr id="38" name="Shape 34"/>
          <p:cNvSpPr/>
          <p:nvPr/>
        </p:nvSpPr>
        <p:spPr>
          <a:xfrm>
            <a:off x="1698171" y="2305594"/>
            <a:ext cx="104503" cy="104503"/>
          </a:xfrm>
          <a:prstGeom prst="rect">
            <a:avLst/>
          </a:prstGeom>
          <a:solidFill>
            <a:srgbClr val="111111"/>
          </a:solidFill>
          <a:ln w="12700">
            <a:solidFill>
              <a:srgbClr val="111111"/>
            </a:solidFill>
            <a:prstDash val="solid"/>
          </a:ln>
        </p:spPr>
      </p:sp>
      <p:sp>
        <p:nvSpPr>
          <p:cNvPr id="39" name="Shape 35"/>
          <p:cNvSpPr/>
          <p:nvPr/>
        </p:nvSpPr>
        <p:spPr>
          <a:xfrm>
            <a:off x="1802674" y="2305594"/>
            <a:ext cx="104503" cy="104503"/>
          </a:xfrm>
          <a:prstGeom prst="rect">
            <a:avLst/>
          </a:prstGeom>
          <a:solidFill>
            <a:srgbClr val="111111"/>
          </a:solidFill>
          <a:ln w="12700">
            <a:solidFill>
              <a:srgbClr val="111111"/>
            </a:solidFill>
            <a:prstDash val="solid"/>
          </a:ln>
        </p:spPr>
      </p:sp>
      <p:sp>
        <p:nvSpPr>
          <p:cNvPr id="40" name="Shape 36"/>
          <p:cNvSpPr/>
          <p:nvPr/>
        </p:nvSpPr>
        <p:spPr>
          <a:xfrm>
            <a:off x="1280160" y="2410097"/>
            <a:ext cx="104503" cy="104503"/>
          </a:xfrm>
          <a:prstGeom prst="rect">
            <a:avLst/>
          </a:prstGeom>
          <a:solidFill>
            <a:srgbClr val="111111"/>
          </a:solidFill>
          <a:ln w="12700">
            <a:solidFill>
              <a:srgbClr val="111111"/>
            </a:solidFill>
            <a:prstDash val="solid"/>
          </a:ln>
        </p:spPr>
      </p:sp>
      <p:sp>
        <p:nvSpPr>
          <p:cNvPr id="41" name="Shape 37"/>
          <p:cNvSpPr/>
          <p:nvPr/>
        </p:nvSpPr>
        <p:spPr>
          <a:xfrm>
            <a:off x="1384663" y="2410097"/>
            <a:ext cx="104503" cy="104503"/>
          </a:xfrm>
          <a:prstGeom prst="rect">
            <a:avLst/>
          </a:prstGeom>
          <a:solidFill>
            <a:srgbClr val="111111"/>
          </a:solidFill>
          <a:ln w="12700">
            <a:solidFill>
              <a:srgbClr val="111111"/>
            </a:solidFill>
            <a:prstDash val="solid"/>
          </a:ln>
        </p:spPr>
      </p:sp>
      <p:sp>
        <p:nvSpPr>
          <p:cNvPr id="42" name="Shape 38"/>
          <p:cNvSpPr/>
          <p:nvPr/>
        </p:nvSpPr>
        <p:spPr>
          <a:xfrm>
            <a:off x="1489166" y="2410097"/>
            <a:ext cx="104503" cy="104503"/>
          </a:xfrm>
          <a:prstGeom prst="rect">
            <a:avLst/>
          </a:prstGeom>
          <a:solidFill>
            <a:srgbClr val="111111"/>
          </a:solidFill>
          <a:ln w="12700">
            <a:solidFill>
              <a:srgbClr val="111111"/>
            </a:solidFill>
            <a:prstDash val="solid"/>
          </a:ln>
        </p:spPr>
      </p:sp>
      <p:sp>
        <p:nvSpPr>
          <p:cNvPr id="43" name="Shape 39"/>
          <p:cNvSpPr/>
          <p:nvPr/>
        </p:nvSpPr>
        <p:spPr>
          <a:xfrm>
            <a:off x="1698171" y="2410097"/>
            <a:ext cx="104503" cy="104503"/>
          </a:xfrm>
          <a:prstGeom prst="rect">
            <a:avLst/>
          </a:prstGeom>
          <a:solidFill>
            <a:srgbClr val="111111"/>
          </a:solidFill>
          <a:ln w="12700">
            <a:solidFill>
              <a:srgbClr val="111111"/>
            </a:solidFill>
            <a:prstDash val="solid"/>
          </a:ln>
        </p:spPr>
      </p:sp>
      <p:sp>
        <p:nvSpPr>
          <p:cNvPr id="44" name="Shape 40"/>
          <p:cNvSpPr/>
          <p:nvPr/>
        </p:nvSpPr>
        <p:spPr>
          <a:xfrm>
            <a:off x="1907177" y="2410097"/>
            <a:ext cx="104503" cy="104503"/>
          </a:xfrm>
          <a:prstGeom prst="rect">
            <a:avLst/>
          </a:prstGeom>
          <a:solidFill>
            <a:srgbClr val="111111"/>
          </a:solidFill>
          <a:ln w="12700">
            <a:solidFill>
              <a:srgbClr val="111111"/>
            </a:solidFill>
            <a:prstDash val="solid"/>
          </a:ln>
        </p:spPr>
      </p:sp>
      <p:sp>
        <p:nvSpPr>
          <p:cNvPr id="45" name="Shape 41"/>
          <p:cNvSpPr/>
          <p:nvPr/>
        </p:nvSpPr>
        <p:spPr>
          <a:xfrm>
            <a:off x="2697480" y="2240280"/>
            <a:ext cx="1463040" cy="822960"/>
          </a:xfrm>
          <a:prstGeom prst="roundRect">
            <a:avLst>
              <a:gd name="adj" fmla="val 4444"/>
            </a:avLst>
          </a:prstGeom>
          <a:solidFill>
            <a:srgbClr val="333333"/>
          </a:solidFill>
          <a:ln w="12700">
            <a:solidFill>
              <a:srgbClr val="333333"/>
            </a:solidFill>
            <a:prstDash val="solid"/>
          </a:ln>
        </p:spPr>
      </p:sp>
      <p:sp>
        <p:nvSpPr>
          <p:cNvPr id="46" name="Shape 42"/>
          <p:cNvSpPr/>
          <p:nvPr/>
        </p:nvSpPr>
        <p:spPr>
          <a:xfrm>
            <a:off x="2770632" y="2295144"/>
            <a:ext cx="1316736" cy="658368"/>
          </a:xfrm>
          <a:prstGeom prst="rect">
            <a:avLst/>
          </a:prstGeom>
          <a:solidFill>
            <a:srgbClr val="F3F8F5"/>
          </a:solidFill>
          <a:ln w="12700">
            <a:solidFill>
              <a:srgbClr val="F3F8F5"/>
            </a:solidFill>
            <a:prstDash val="solid"/>
          </a:ln>
        </p:spPr>
      </p:sp>
      <p:sp>
        <p:nvSpPr>
          <p:cNvPr id="47" name="Shape 43"/>
          <p:cNvSpPr/>
          <p:nvPr/>
        </p:nvSpPr>
        <p:spPr>
          <a:xfrm>
            <a:off x="4480560" y="1965960"/>
            <a:ext cx="548640" cy="1097280"/>
          </a:xfrm>
          <a:prstGeom prst="roundRect">
            <a:avLst>
              <a:gd name="adj" fmla="val 30000"/>
            </a:avLst>
          </a:prstGeom>
          <a:solidFill>
            <a:srgbClr val="1A1A1A"/>
          </a:solidFill>
          <a:ln w="12700">
            <a:solidFill>
              <a:srgbClr val="1A1A1A"/>
            </a:solidFill>
            <a:prstDash val="solid"/>
          </a:ln>
        </p:spPr>
      </p:sp>
      <p:sp>
        <p:nvSpPr>
          <p:cNvPr id="48" name="Shape 44"/>
          <p:cNvSpPr/>
          <p:nvPr/>
        </p:nvSpPr>
        <p:spPr>
          <a:xfrm>
            <a:off x="4572000" y="2057400"/>
            <a:ext cx="365760" cy="914400"/>
          </a:xfrm>
          <a:prstGeom prst="roundRect">
            <a:avLst>
              <a:gd name="adj" fmla="val 30000"/>
            </a:avLst>
          </a:prstGeom>
          <a:solidFill>
            <a:srgbClr val="FFFFFF"/>
          </a:solidFill>
          <a:ln w="12700">
            <a:solidFill>
              <a:srgbClr val="FFFFFF"/>
            </a:solidFill>
            <a:prstDash val="solid"/>
          </a:ln>
        </p:spPr>
      </p:sp>
      <p:sp>
        <p:nvSpPr>
          <p:cNvPr id="49" name="Text 45"/>
          <p:cNvSpPr txBox="1"/>
          <p:nvPr/>
        </p:nvSpPr>
        <p:spPr>
          <a:xfrm>
            <a:off x="685800" y="3337560"/>
            <a:ext cx="4754880" cy="365760"/>
          </a:xfrm>
          <a:prstGeom prst="rect">
            <a:avLst/>
          </a:prstGeom>
          <a:noFill/>
          <a:ln/>
        </p:spPr>
        <p:txBody>
          <a:bodyPr wrap="square" lIns="0" tIns="0" rIns="0" bIns="0" rtlCol="0" anchor="t"/>
          <a:lstStyle/>
          <a:p>
            <a:pPr algn="ctr" indent="0" marL="0">
              <a:buNone/>
            </a:pPr>
            <a:r>
              <a:rPr lang="en-US" sz="1200" b="1" dirty="0">
                <a:solidFill>
                  <a:srgbClr val="0F4C3A"/>
                </a:solidFill>
                <a:latin typeface="Calibri" pitchFamily="34" charset="0"/>
                <a:ea typeface="Calibri" pitchFamily="34" charset="-122"/>
                <a:cs typeface="Calibri" pitchFamily="34" charset="-120"/>
              </a:rPr>
              <a:t>Poster QR · Laptop + Sheets · HP demo</a:t>
            </a:r>
            <a:endParaRPr lang="en-US" sz="1200" dirty="0"/>
          </a:p>
        </p:txBody>
      </p:sp>
      <p:sp>
        <p:nvSpPr>
          <p:cNvPr id="50" name="Text 4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51" name="Text 4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Siapkan stan: poster QR, HP, laptop</a:t>
            </a:r>
            <a:endParaRPr lang="en-US" sz="1800" dirty="0"/>
          </a:p>
        </p:txBody>
      </p:sp>
      <p:sp>
        <p:nvSpPr>
          <p:cNvPr id="52" name="Text 4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Setiap kelompok: poster QR, 1 HP demo, laptop dengan Sheets terbuka, laporan proyek (cetak/digital), video cadangan.</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Persiapan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12: Proyek Akhir Kelas IX · Pertemuan 36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Setoran Harian v1.1</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https://santri-wu-kel3.github.io/setoran-harian/</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606064" y="1695965"/>
            <a:ext cx="4914351" cy="2281131"/>
          </a:xfrm>
          <a:prstGeom prst="rect">
            <a:avLst/>
          </a:prstGeom>
          <a:solidFill>
            <a:srgbClr val="F3F8F5"/>
          </a:solidFill>
          <a:ln w="12700">
            <a:solidFill>
              <a:srgbClr val="F3F8F5"/>
            </a:solidFill>
            <a:prstDash val="solid"/>
          </a:ln>
        </p:spPr>
      </p:sp>
      <p:sp>
        <p:nvSpPr>
          <p:cNvPr id="30" name="Shape 23"/>
          <p:cNvSpPr/>
          <p:nvPr/>
        </p:nvSpPr>
        <p:spPr>
          <a:xfrm>
            <a:off x="606064" y="1695965"/>
            <a:ext cx="4914351" cy="411480"/>
          </a:xfrm>
          <a:prstGeom prst="rect">
            <a:avLst/>
          </a:prstGeom>
          <a:solidFill>
            <a:srgbClr val="0F4C3A"/>
          </a:solidFill>
          <a:ln w="12700">
            <a:solidFill>
              <a:srgbClr val="0F4C3A"/>
            </a:solidFill>
            <a:prstDash val="solid"/>
          </a:ln>
        </p:spPr>
      </p:sp>
      <p:pic>
        <p:nvPicPr>
          <p:cNvPr id="31" name="Image 5" descr="/home/claude/logo.png">    </p:cNvPr>
          <p:cNvPicPr>
            <a:picLocks noChangeAspect="1"/>
          </p:cNvPicPr>
          <p:nvPr/>
        </p:nvPicPr>
        <p:blipFill>
          <a:blip r:embed="rId6"/>
          <a:stretch>
            <a:fillRect/>
          </a:stretch>
        </p:blipFill>
        <p:spPr>
          <a:xfrm>
            <a:off x="660928" y="1741685"/>
            <a:ext cx="320040" cy="320040"/>
          </a:xfrm>
          <a:prstGeom prst="rect">
            <a:avLst/>
          </a:prstGeom>
        </p:spPr>
      </p:pic>
      <p:sp>
        <p:nvSpPr>
          <p:cNvPr id="32" name="Text 24"/>
          <p:cNvSpPr txBox="1"/>
          <p:nvPr/>
        </p:nvSpPr>
        <p:spPr>
          <a:xfrm>
            <a:off x="606064" y="1695965"/>
            <a:ext cx="4914351"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Setoran Harian v1.1</a:t>
            </a:r>
            <a:endParaRPr lang="en-US" sz="1100" dirty="0"/>
          </a:p>
        </p:txBody>
      </p:sp>
      <p:sp>
        <p:nvSpPr>
          <p:cNvPr id="33" name="Shape 25"/>
          <p:cNvSpPr/>
          <p:nvPr/>
        </p:nvSpPr>
        <p:spPr>
          <a:xfrm>
            <a:off x="697504" y="2198885"/>
            <a:ext cx="2320016" cy="1412451"/>
          </a:xfrm>
          <a:prstGeom prst="roundRect">
            <a:avLst>
              <a:gd name="adj" fmla="val 3884"/>
            </a:avLst>
          </a:prstGeom>
          <a:solidFill>
            <a:srgbClr val="FFFFFF"/>
          </a:solidFill>
          <a:ln w="6350">
            <a:solidFill>
              <a:srgbClr val="DDDDDD"/>
            </a:solidFill>
            <a:prstDash val="solid"/>
          </a:ln>
        </p:spPr>
      </p:sp>
      <p:sp>
        <p:nvSpPr>
          <p:cNvPr id="34" name="Text 26"/>
          <p:cNvSpPr txBox="1"/>
          <p:nvPr/>
        </p:nvSpPr>
        <p:spPr>
          <a:xfrm>
            <a:off x="770656" y="2226317"/>
            <a:ext cx="2320016" cy="201168"/>
          </a:xfrm>
          <a:prstGeom prst="rect">
            <a:avLst/>
          </a:prstGeom>
          <a:noFill/>
          <a:ln/>
        </p:spPr>
        <p:txBody>
          <a:bodyPr wrap="square" lIns="0" tIns="0" rIns="0" bIns="0" rtlCol="0" anchor="t"/>
          <a:lstStyle/>
          <a:p>
            <a:pPr indent="0" marL="0">
              <a:buNone/>
            </a:pPr>
            <a:r>
              <a:rPr lang="en-US" sz="800" b="1" dirty="0">
                <a:solidFill>
                  <a:srgbClr val="1F7A5C"/>
                </a:solidFill>
                <a:latin typeface="Arial" pitchFamily="34" charset="0"/>
                <a:ea typeface="Arial" pitchFamily="34" charset="-122"/>
                <a:cs typeface="Arial" pitchFamily="34" charset="-120"/>
              </a:rPr>
              <a:t>Simpan Setoran</a:t>
            </a:r>
            <a:endParaRPr lang="en-US" sz="800" dirty="0"/>
          </a:p>
        </p:txBody>
      </p:sp>
      <p:sp>
        <p:nvSpPr>
          <p:cNvPr id="35" name="Shape 27"/>
          <p:cNvSpPr/>
          <p:nvPr/>
        </p:nvSpPr>
        <p:spPr>
          <a:xfrm>
            <a:off x="3108960" y="2198885"/>
            <a:ext cx="2320016" cy="1412451"/>
          </a:xfrm>
          <a:prstGeom prst="roundRect">
            <a:avLst>
              <a:gd name="adj" fmla="val 3884"/>
            </a:avLst>
          </a:prstGeom>
          <a:solidFill>
            <a:srgbClr val="FFFFFF"/>
          </a:solidFill>
          <a:ln w="6350">
            <a:solidFill>
              <a:srgbClr val="DDDDDD"/>
            </a:solidFill>
            <a:prstDash val="solid"/>
          </a:ln>
        </p:spPr>
      </p:sp>
      <p:sp>
        <p:nvSpPr>
          <p:cNvPr id="36" name="Text 28"/>
          <p:cNvSpPr txBox="1"/>
          <p:nvPr/>
        </p:nvSpPr>
        <p:spPr>
          <a:xfrm>
            <a:off x="3182112" y="2226317"/>
            <a:ext cx="2320016" cy="201168"/>
          </a:xfrm>
          <a:prstGeom prst="rect">
            <a:avLst/>
          </a:prstGeom>
          <a:noFill/>
          <a:ln/>
        </p:spPr>
        <p:txBody>
          <a:bodyPr wrap="square" lIns="0" tIns="0" rIns="0" bIns="0" rtlCol="0" anchor="t"/>
          <a:lstStyle/>
          <a:p>
            <a:pPr indent="0" marL="0">
              <a:buNone/>
            </a:pPr>
            <a:r>
              <a:rPr lang="en-US" sz="800" b="1" dirty="0">
                <a:solidFill>
                  <a:srgbClr val="1F7A5C"/>
                </a:solidFill>
                <a:latin typeface="Arial" pitchFamily="34" charset="0"/>
                <a:ea typeface="Arial" pitchFamily="34" charset="-122"/>
                <a:cs typeface="Arial" pitchFamily="34" charset="-120"/>
              </a:rPr>
              <a:t>Capaian Pekan Ini</a:t>
            </a:r>
            <a:endParaRPr lang="en-US" sz="800" dirty="0"/>
          </a:p>
        </p:txBody>
      </p:sp>
      <p:sp>
        <p:nvSpPr>
          <p:cNvPr id="37" name="Shape 29"/>
          <p:cNvSpPr/>
          <p:nvPr/>
        </p:nvSpPr>
        <p:spPr>
          <a:xfrm>
            <a:off x="3108960" y="2473205"/>
            <a:ext cx="2228576" cy="1092411"/>
          </a:xfrm>
          <a:prstGeom prst="roundRect">
            <a:avLst>
              <a:gd name="adj" fmla="val 2511"/>
            </a:avLst>
          </a:prstGeom>
          <a:solidFill>
            <a:srgbClr val="FFFFFF"/>
          </a:solidFill>
          <a:ln w="9525">
            <a:solidFill>
              <a:srgbClr val="DDDDDD"/>
            </a:solidFill>
            <a:prstDash val="solid"/>
          </a:ln>
        </p:spPr>
      </p:sp>
      <p:sp>
        <p:nvSpPr>
          <p:cNvPr id="38" name="Text 30"/>
          <p:cNvSpPr txBox="1"/>
          <p:nvPr/>
        </p:nvSpPr>
        <p:spPr>
          <a:xfrm>
            <a:off x="3108960" y="2491493"/>
            <a:ext cx="2228576" cy="146304"/>
          </a:xfrm>
          <a:prstGeom prst="rect">
            <a:avLst/>
          </a:prstGeom>
          <a:noFill/>
          <a:ln/>
        </p:spPr>
        <p:txBody>
          <a:bodyPr wrap="square" lIns="0" tIns="0" rIns="0" bIns="0" rtlCol="0" anchor="t"/>
          <a:lstStyle/>
          <a:p>
            <a:pPr algn="ctr" indent="0" marL="0">
              <a:buNone/>
            </a:pPr>
            <a:endParaRPr lang="en-US" sz="650" dirty="0"/>
          </a:p>
        </p:txBody>
      </p:sp>
      <p:sp>
        <p:nvSpPr>
          <p:cNvPr id="39" name="Shape 31"/>
          <p:cNvSpPr/>
          <p:nvPr/>
        </p:nvSpPr>
        <p:spPr>
          <a:xfrm>
            <a:off x="3346119" y="3136304"/>
            <a:ext cx="466661" cy="246432"/>
          </a:xfrm>
          <a:prstGeom prst="rect">
            <a:avLst/>
          </a:prstGeom>
          <a:solidFill>
            <a:srgbClr val="1F7A5C"/>
          </a:solidFill>
          <a:ln w="12700">
            <a:solidFill>
              <a:srgbClr val="1F7A5C"/>
            </a:solidFill>
            <a:prstDash val="solid"/>
          </a:ln>
        </p:spPr>
      </p:sp>
      <p:sp>
        <p:nvSpPr>
          <p:cNvPr id="40" name="Text 32"/>
          <p:cNvSpPr txBox="1"/>
          <p:nvPr/>
        </p:nvSpPr>
        <p:spPr>
          <a:xfrm>
            <a:off x="3200400" y="3391880"/>
            <a:ext cx="758099"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S001</a:t>
            </a:r>
            <a:endParaRPr lang="en-US" sz="500" dirty="0"/>
          </a:p>
        </p:txBody>
      </p:sp>
      <p:sp>
        <p:nvSpPr>
          <p:cNvPr id="41" name="Shape 33"/>
          <p:cNvSpPr/>
          <p:nvPr/>
        </p:nvSpPr>
        <p:spPr>
          <a:xfrm>
            <a:off x="4012777" y="2701805"/>
            <a:ext cx="466661" cy="680931"/>
          </a:xfrm>
          <a:prstGeom prst="rect">
            <a:avLst/>
          </a:prstGeom>
          <a:solidFill>
            <a:srgbClr val="D4A017"/>
          </a:solidFill>
          <a:ln w="12700">
            <a:solidFill>
              <a:srgbClr val="D4A017"/>
            </a:solidFill>
            <a:prstDash val="solid"/>
          </a:ln>
        </p:spPr>
      </p:sp>
      <p:sp>
        <p:nvSpPr>
          <p:cNvPr id="42" name="Text 34"/>
          <p:cNvSpPr txBox="1"/>
          <p:nvPr/>
        </p:nvSpPr>
        <p:spPr>
          <a:xfrm>
            <a:off x="3867059" y="3391880"/>
            <a:ext cx="758099"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S003</a:t>
            </a:r>
            <a:endParaRPr lang="en-US" sz="500" dirty="0"/>
          </a:p>
        </p:txBody>
      </p:sp>
      <p:sp>
        <p:nvSpPr>
          <p:cNvPr id="43" name="Shape 35"/>
          <p:cNvSpPr/>
          <p:nvPr/>
        </p:nvSpPr>
        <p:spPr>
          <a:xfrm>
            <a:off x="4679436" y="2967692"/>
            <a:ext cx="466661" cy="415044"/>
          </a:xfrm>
          <a:prstGeom prst="rect">
            <a:avLst/>
          </a:prstGeom>
          <a:solidFill>
            <a:srgbClr val="1F7A5C"/>
          </a:solidFill>
          <a:ln w="12700">
            <a:solidFill>
              <a:srgbClr val="1F7A5C"/>
            </a:solidFill>
            <a:prstDash val="solid"/>
          </a:ln>
        </p:spPr>
      </p:sp>
      <p:sp>
        <p:nvSpPr>
          <p:cNvPr id="44" name="Text 36"/>
          <p:cNvSpPr txBox="1"/>
          <p:nvPr/>
        </p:nvSpPr>
        <p:spPr>
          <a:xfrm>
            <a:off x="4533717" y="3391880"/>
            <a:ext cx="758099"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S004</a:t>
            </a:r>
            <a:endParaRPr lang="en-US" sz="500" dirty="0"/>
          </a:p>
        </p:txBody>
      </p:sp>
      <p:sp>
        <p:nvSpPr>
          <p:cNvPr id="45" name="Shape 37"/>
          <p:cNvSpPr/>
          <p:nvPr/>
        </p:nvSpPr>
        <p:spPr>
          <a:xfrm>
            <a:off x="3218688" y="3382736"/>
            <a:ext cx="2045696" cy="0"/>
          </a:xfrm>
          <a:prstGeom prst="line">
            <a:avLst/>
          </a:prstGeom>
          <a:noFill/>
          <a:ln w="6350">
            <a:solidFill>
              <a:srgbClr val="888888"/>
            </a:solidFill>
            <a:prstDash val="solid"/>
          </a:ln>
        </p:spPr>
      </p:sp>
      <p:sp>
        <p:nvSpPr>
          <p:cNvPr id="46" name="Shape 38"/>
          <p:cNvSpPr/>
          <p:nvPr/>
        </p:nvSpPr>
        <p:spPr>
          <a:xfrm>
            <a:off x="770656" y="2518925"/>
            <a:ext cx="2173712" cy="182880"/>
          </a:xfrm>
          <a:prstGeom prst="rect">
            <a:avLst/>
          </a:prstGeom>
          <a:solidFill>
            <a:srgbClr val="FFFFFF"/>
          </a:solidFill>
          <a:ln w="6350">
            <a:solidFill>
              <a:srgbClr val="999999"/>
            </a:solidFill>
            <a:prstDash val="solid"/>
          </a:ln>
        </p:spPr>
      </p:sp>
      <p:sp>
        <p:nvSpPr>
          <p:cNvPr id="47" name="Shape 39"/>
          <p:cNvSpPr/>
          <p:nvPr/>
        </p:nvSpPr>
        <p:spPr>
          <a:xfrm>
            <a:off x="770656" y="2774957"/>
            <a:ext cx="2173712" cy="182880"/>
          </a:xfrm>
          <a:prstGeom prst="rect">
            <a:avLst/>
          </a:prstGeom>
          <a:solidFill>
            <a:srgbClr val="FFFFFF"/>
          </a:solidFill>
          <a:ln w="6350">
            <a:solidFill>
              <a:srgbClr val="999999"/>
            </a:solidFill>
            <a:prstDash val="solid"/>
          </a:ln>
        </p:spPr>
      </p:sp>
      <p:sp>
        <p:nvSpPr>
          <p:cNvPr id="48" name="Shape 40"/>
          <p:cNvSpPr/>
          <p:nvPr/>
        </p:nvSpPr>
        <p:spPr>
          <a:xfrm>
            <a:off x="770656" y="3067565"/>
            <a:ext cx="2173712" cy="237744"/>
          </a:xfrm>
          <a:prstGeom prst="roundRect">
            <a:avLst>
              <a:gd name="adj" fmla="val 50000"/>
            </a:avLst>
          </a:prstGeom>
          <a:solidFill>
            <a:srgbClr val="D4A017"/>
          </a:solidFill>
          <a:ln w="12700">
            <a:solidFill>
              <a:srgbClr val="D4A017"/>
            </a:solidFill>
            <a:prstDash val="solid"/>
          </a:ln>
        </p:spPr>
      </p:sp>
      <p:sp>
        <p:nvSpPr>
          <p:cNvPr id="49" name="Text 41"/>
          <p:cNvSpPr txBox="1"/>
          <p:nvPr/>
        </p:nvSpPr>
        <p:spPr>
          <a:xfrm>
            <a:off x="606064" y="3702776"/>
            <a:ext cx="4914351" cy="228600"/>
          </a:xfrm>
          <a:prstGeom prst="rect">
            <a:avLst/>
          </a:prstGeom>
          <a:noFill/>
          <a:ln/>
        </p:spPr>
        <p:txBody>
          <a:bodyPr wrap="square" lIns="0" tIns="0" rIns="0" bIns="0" rtlCol="0" anchor="t"/>
          <a:lstStyle/>
          <a:p>
            <a:pPr algn="ctr" indent="0" marL="0">
              <a:buNone/>
            </a:pPr>
            <a:r>
              <a:rPr lang="en-US" sz="650" u="sng" dirty="0">
                <a:solidFill>
                  <a:srgbClr val="0969DA"/>
                </a:solidFill>
                <a:latin typeface="Arial" pitchFamily="34" charset="0"/>
                <a:ea typeface="Arial" pitchFamily="34" charset="-122"/>
                <a:cs typeface="Arial" pitchFamily="34" charset="-120"/>
              </a:rPr>
              <a:t>Cara Pakai · Laporkan Masalah · v1.1.0</a:t>
            </a:r>
            <a:endParaRPr lang="en-US" sz="650" dirty="0"/>
          </a:p>
        </p:txBody>
      </p:sp>
      <p:sp>
        <p:nvSpPr>
          <p:cNvPr id="50" name="Shape 42"/>
          <p:cNvSpPr/>
          <p:nvPr/>
        </p:nvSpPr>
        <p:spPr>
          <a:xfrm>
            <a:off x="1301008" y="1421645"/>
            <a:ext cx="4073103" cy="237744"/>
          </a:xfrm>
          <a:prstGeom prst="roundRect">
            <a:avLst>
              <a:gd name="adj" fmla="val 19231"/>
            </a:avLst>
          </a:prstGeom>
          <a:solidFill>
            <a:srgbClr val="FFFFFF">
              <a:alpha val="0"/>
            </a:srgbClr>
          </a:solidFill>
          <a:ln w="31750">
            <a:solidFill>
              <a:srgbClr val="E53935"/>
            </a:solidFill>
            <a:prstDash val="solid"/>
          </a:ln>
        </p:spPr>
      </p:sp>
      <p:sp>
        <p:nvSpPr>
          <p:cNvPr id="51" name="Shape 43"/>
          <p:cNvSpPr/>
          <p:nvPr/>
        </p:nvSpPr>
        <p:spPr>
          <a:xfrm>
            <a:off x="5236952" y="1284485"/>
            <a:ext cx="274320" cy="274320"/>
          </a:xfrm>
          <a:prstGeom prst="ellipse">
            <a:avLst/>
          </a:prstGeom>
          <a:solidFill>
            <a:srgbClr val="E53935"/>
          </a:solidFill>
          <a:ln w="12700">
            <a:solidFill>
              <a:srgbClr val="FFFFFF"/>
            </a:solidFill>
            <a:prstDash val="solid"/>
          </a:ln>
        </p:spPr>
      </p:sp>
      <p:sp>
        <p:nvSpPr>
          <p:cNvPr id="52" name="Text 44"/>
          <p:cNvSpPr txBox="1"/>
          <p:nvPr/>
        </p:nvSpPr>
        <p:spPr>
          <a:xfrm>
            <a:off x="5236952" y="128448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53" name="Image 6" descr="preencoded.png">    </p:cNvPr>
          <p:cNvPicPr>
            <a:picLocks noChangeAspect="1"/>
          </p:cNvPicPr>
          <p:nvPr/>
        </p:nvPicPr>
        <p:blipFill>
          <a:blip r:embed="rId7"/>
          <a:stretch>
            <a:fillRect/>
          </a:stretch>
        </p:blipFill>
        <p:spPr>
          <a:xfrm>
            <a:off x="3539386" y="1550576"/>
            <a:ext cx="237744" cy="237744"/>
          </a:xfrm>
          <a:prstGeom prst="rect">
            <a:avLst/>
          </a:prstGeom>
        </p:spPr>
      </p:pic>
      <p:sp>
        <p:nvSpPr>
          <p:cNvPr id="54" name="Text 4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55" name="Text 4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Uji koneksi dan data demo</a:t>
            </a:r>
            <a:endParaRPr lang="en-US" sz="1800" dirty="0"/>
          </a:p>
        </p:txBody>
      </p:sp>
      <p:sp>
        <p:nvSpPr>
          <p:cNvPr id="56" name="Text 4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Sebelum tamu datang: buka aplikasi di HP demo, lakukan satu simpan uji, pastikan masuk Sheets. Siapkan video cadangan.</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Presentasi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12: Proyek Akhir Kelas IX · Pertemuan 36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611880"/>
          </a:xfrm>
          <a:prstGeom prst="roundRect">
            <a:avLst>
              <a:gd name="adj" fmla="val 2532"/>
            </a:avLst>
          </a:prstGeom>
          <a:solidFill>
            <a:srgbClr val="F5F5F5"/>
          </a:solidFill>
          <a:ln w="12700">
            <a:solidFill>
              <a:srgbClr val="F5F5F5"/>
            </a:solidFill>
            <a:prstDash val="solid"/>
          </a:ln>
        </p:spPr>
      </p:sp>
      <p:sp>
        <p:nvSpPr>
          <p:cNvPr id="10" name="Shape 6"/>
          <p:cNvSpPr/>
          <p:nvPr/>
        </p:nvSpPr>
        <p:spPr>
          <a:xfrm>
            <a:off x="777240" y="1188720"/>
            <a:ext cx="2743200" cy="1645920"/>
          </a:xfrm>
          <a:prstGeom prst="rect">
            <a:avLst/>
          </a:prstGeom>
          <a:solidFill>
            <a:srgbClr val="FFFFFF"/>
          </a:solidFill>
          <a:ln w="12700">
            <a:solidFill>
              <a:srgbClr val="999999"/>
            </a:solidFill>
            <a:prstDash val="solid"/>
          </a:ln>
        </p:spPr>
      </p:sp>
      <p:sp>
        <p:nvSpPr>
          <p:cNvPr id="11" name="Shape 7"/>
          <p:cNvSpPr/>
          <p:nvPr/>
        </p:nvSpPr>
        <p:spPr>
          <a:xfrm>
            <a:off x="822960" y="1234440"/>
            <a:ext cx="2651760" cy="1554480"/>
          </a:xfrm>
          <a:prstGeom prst="rect">
            <a:avLst/>
          </a:prstGeom>
          <a:solidFill>
            <a:srgbClr val="F3F8F5"/>
          </a:solidFill>
          <a:ln w="12700">
            <a:solidFill>
              <a:srgbClr val="F3F8F5"/>
            </a:solidFill>
            <a:prstDash val="solid"/>
          </a:ln>
        </p:spPr>
      </p:sp>
      <p:sp>
        <p:nvSpPr>
          <p:cNvPr id="12" name="Shape 8"/>
          <p:cNvSpPr/>
          <p:nvPr/>
        </p:nvSpPr>
        <p:spPr>
          <a:xfrm>
            <a:off x="822960" y="1234440"/>
            <a:ext cx="2651760" cy="411480"/>
          </a:xfrm>
          <a:prstGeom prst="rect">
            <a:avLst/>
          </a:prstGeom>
          <a:solidFill>
            <a:srgbClr val="0F4C3A"/>
          </a:solidFill>
          <a:ln w="12700">
            <a:solidFill>
              <a:srgbClr val="0F4C3A"/>
            </a:solidFill>
            <a:prstDash val="solid"/>
          </a:ln>
        </p:spPr>
      </p:sp>
      <p:pic>
        <p:nvPicPr>
          <p:cNvPr id="13" name="Image 2" descr="/home/claude/logo.png">    </p:cNvPr>
          <p:cNvPicPr>
            <a:picLocks noChangeAspect="1"/>
          </p:cNvPicPr>
          <p:nvPr/>
        </p:nvPicPr>
        <p:blipFill>
          <a:blip r:embed="rId3"/>
          <a:stretch>
            <a:fillRect/>
          </a:stretch>
        </p:blipFill>
        <p:spPr>
          <a:xfrm>
            <a:off x="877824" y="1280160"/>
            <a:ext cx="320040" cy="320040"/>
          </a:xfrm>
          <a:prstGeom prst="rect">
            <a:avLst/>
          </a:prstGeom>
        </p:spPr>
      </p:pic>
      <p:sp>
        <p:nvSpPr>
          <p:cNvPr id="14" name="Text 9"/>
          <p:cNvSpPr txBox="1"/>
          <p:nvPr/>
        </p:nvSpPr>
        <p:spPr>
          <a:xfrm>
            <a:off x="822960" y="1234440"/>
            <a:ext cx="265176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Setoran Harian v1.1</a:t>
            </a:r>
            <a:endParaRPr lang="en-US" sz="1100" dirty="0"/>
          </a:p>
        </p:txBody>
      </p:sp>
      <p:sp>
        <p:nvSpPr>
          <p:cNvPr id="15" name="Shape 10"/>
          <p:cNvSpPr/>
          <p:nvPr/>
        </p:nvSpPr>
        <p:spPr>
          <a:xfrm>
            <a:off x="914400" y="1737360"/>
            <a:ext cx="1188720" cy="685800"/>
          </a:xfrm>
          <a:prstGeom prst="roundRect">
            <a:avLst>
              <a:gd name="adj" fmla="val 8000"/>
            </a:avLst>
          </a:prstGeom>
          <a:solidFill>
            <a:srgbClr val="FFFFFF"/>
          </a:solidFill>
          <a:ln w="6350">
            <a:solidFill>
              <a:srgbClr val="DDDDDD"/>
            </a:solidFill>
            <a:prstDash val="solid"/>
          </a:ln>
        </p:spPr>
      </p:sp>
      <p:sp>
        <p:nvSpPr>
          <p:cNvPr id="16" name="Text 11"/>
          <p:cNvSpPr txBox="1"/>
          <p:nvPr/>
        </p:nvSpPr>
        <p:spPr>
          <a:xfrm>
            <a:off x="987552" y="1764792"/>
            <a:ext cx="1188720" cy="201168"/>
          </a:xfrm>
          <a:prstGeom prst="rect">
            <a:avLst/>
          </a:prstGeom>
          <a:noFill/>
          <a:ln/>
        </p:spPr>
        <p:txBody>
          <a:bodyPr wrap="square" lIns="0" tIns="0" rIns="0" bIns="0" rtlCol="0" anchor="t"/>
          <a:lstStyle/>
          <a:p>
            <a:pPr indent="0" marL="0">
              <a:buNone/>
            </a:pPr>
            <a:r>
              <a:rPr lang="en-US" sz="800" b="1" dirty="0">
                <a:solidFill>
                  <a:srgbClr val="1F7A5C"/>
                </a:solidFill>
                <a:latin typeface="Arial" pitchFamily="34" charset="0"/>
                <a:ea typeface="Arial" pitchFamily="34" charset="-122"/>
                <a:cs typeface="Arial" pitchFamily="34" charset="-120"/>
              </a:rPr>
              <a:t>Simpan Setoran</a:t>
            </a:r>
            <a:endParaRPr lang="en-US" sz="800" dirty="0"/>
          </a:p>
        </p:txBody>
      </p:sp>
      <p:sp>
        <p:nvSpPr>
          <p:cNvPr id="17" name="Shape 12"/>
          <p:cNvSpPr/>
          <p:nvPr/>
        </p:nvSpPr>
        <p:spPr>
          <a:xfrm>
            <a:off x="2194560" y="1737360"/>
            <a:ext cx="1188720" cy="685800"/>
          </a:xfrm>
          <a:prstGeom prst="roundRect">
            <a:avLst>
              <a:gd name="adj" fmla="val 8000"/>
            </a:avLst>
          </a:prstGeom>
          <a:solidFill>
            <a:srgbClr val="FFFFFF"/>
          </a:solidFill>
          <a:ln w="6350">
            <a:solidFill>
              <a:srgbClr val="DDDDDD"/>
            </a:solidFill>
            <a:prstDash val="solid"/>
          </a:ln>
        </p:spPr>
      </p:sp>
      <p:sp>
        <p:nvSpPr>
          <p:cNvPr id="18" name="Text 13"/>
          <p:cNvSpPr txBox="1"/>
          <p:nvPr/>
        </p:nvSpPr>
        <p:spPr>
          <a:xfrm>
            <a:off x="2267712" y="1764792"/>
            <a:ext cx="1188720" cy="201168"/>
          </a:xfrm>
          <a:prstGeom prst="rect">
            <a:avLst/>
          </a:prstGeom>
          <a:noFill/>
          <a:ln/>
        </p:spPr>
        <p:txBody>
          <a:bodyPr wrap="square" lIns="0" tIns="0" rIns="0" bIns="0" rtlCol="0" anchor="t"/>
          <a:lstStyle/>
          <a:p>
            <a:pPr indent="0" marL="0">
              <a:buNone/>
            </a:pPr>
            <a:r>
              <a:rPr lang="en-US" sz="800" b="1" dirty="0">
                <a:solidFill>
                  <a:srgbClr val="1F7A5C"/>
                </a:solidFill>
                <a:latin typeface="Arial" pitchFamily="34" charset="0"/>
                <a:ea typeface="Arial" pitchFamily="34" charset="-122"/>
                <a:cs typeface="Arial" pitchFamily="34" charset="-120"/>
              </a:rPr>
              <a:t>Capaian Pekan Ini</a:t>
            </a:r>
            <a:endParaRPr lang="en-US" sz="800" dirty="0"/>
          </a:p>
        </p:txBody>
      </p:sp>
      <p:sp>
        <p:nvSpPr>
          <p:cNvPr id="19" name="Shape 14"/>
          <p:cNvSpPr/>
          <p:nvPr/>
        </p:nvSpPr>
        <p:spPr>
          <a:xfrm>
            <a:off x="2194560" y="2011680"/>
            <a:ext cx="1097280" cy="365760"/>
          </a:xfrm>
          <a:prstGeom prst="roundRect">
            <a:avLst>
              <a:gd name="adj" fmla="val 7500"/>
            </a:avLst>
          </a:prstGeom>
          <a:solidFill>
            <a:srgbClr val="FFFFFF"/>
          </a:solidFill>
          <a:ln w="9525">
            <a:solidFill>
              <a:srgbClr val="DDDDDD"/>
            </a:solidFill>
            <a:prstDash val="solid"/>
          </a:ln>
        </p:spPr>
      </p:sp>
      <p:sp>
        <p:nvSpPr>
          <p:cNvPr id="20" name="Text 15"/>
          <p:cNvSpPr txBox="1"/>
          <p:nvPr/>
        </p:nvSpPr>
        <p:spPr>
          <a:xfrm>
            <a:off x="2194560" y="2029968"/>
            <a:ext cx="1097280" cy="146304"/>
          </a:xfrm>
          <a:prstGeom prst="rect">
            <a:avLst/>
          </a:prstGeom>
          <a:noFill/>
          <a:ln/>
        </p:spPr>
        <p:txBody>
          <a:bodyPr wrap="square" lIns="0" tIns="0" rIns="0" bIns="0" rtlCol="0" anchor="t"/>
          <a:lstStyle/>
          <a:p>
            <a:pPr algn="ctr" indent="0" marL="0">
              <a:buNone/>
            </a:pPr>
            <a:endParaRPr lang="en-US" sz="650" dirty="0"/>
          </a:p>
        </p:txBody>
      </p:sp>
      <p:sp>
        <p:nvSpPr>
          <p:cNvPr id="21" name="Shape 16"/>
          <p:cNvSpPr/>
          <p:nvPr/>
        </p:nvSpPr>
        <p:spPr>
          <a:xfrm>
            <a:off x="2375154" y="2211106"/>
            <a:ext cx="202692" cy="-16546"/>
          </a:xfrm>
          <a:prstGeom prst="rect">
            <a:avLst/>
          </a:prstGeom>
          <a:solidFill>
            <a:srgbClr val="1F7A5C"/>
          </a:solidFill>
          <a:ln w="12700">
            <a:solidFill>
              <a:srgbClr val="1F7A5C"/>
            </a:solidFill>
            <a:prstDash val="solid"/>
          </a:ln>
        </p:spPr>
      </p:sp>
      <p:sp>
        <p:nvSpPr>
          <p:cNvPr id="22" name="Text 17"/>
          <p:cNvSpPr txBox="1"/>
          <p:nvPr/>
        </p:nvSpPr>
        <p:spPr>
          <a:xfrm>
            <a:off x="2286000" y="2203704"/>
            <a:ext cx="381000"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S001</a:t>
            </a:r>
            <a:endParaRPr lang="en-US" sz="500" dirty="0"/>
          </a:p>
        </p:txBody>
      </p:sp>
      <p:sp>
        <p:nvSpPr>
          <p:cNvPr id="23" name="Shape 18"/>
          <p:cNvSpPr/>
          <p:nvPr/>
        </p:nvSpPr>
        <p:spPr>
          <a:xfrm>
            <a:off x="2664714" y="2240280"/>
            <a:ext cx="202692" cy="-45720"/>
          </a:xfrm>
          <a:prstGeom prst="rect">
            <a:avLst/>
          </a:prstGeom>
          <a:solidFill>
            <a:srgbClr val="D4A017"/>
          </a:solidFill>
          <a:ln w="12700">
            <a:solidFill>
              <a:srgbClr val="D4A017"/>
            </a:solidFill>
            <a:prstDash val="solid"/>
          </a:ln>
        </p:spPr>
      </p:sp>
      <p:sp>
        <p:nvSpPr>
          <p:cNvPr id="24" name="Text 19"/>
          <p:cNvSpPr txBox="1"/>
          <p:nvPr/>
        </p:nvSpPr>
        <p:spPr>
          <a:xfrm>
            <a:off x="2575560" y="2203704"/>
            <a:ext cx="381000"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S003</a:t>
            </a:r>
            <a:endParaRPr lang="en-US" sz="500" dirty="0"/>
          </a:p>
        </p:txBody>
      </p:sp>
      <p:sp>
        <p:nvSpPr>
          <p:cNvPr id="25" name="Shape 20"/>
          <p:cNvSpPr/>
          <p:nvPr/>
        </p:nvSpPr>
        <p:spPr>
          <a:xfrm>
            <a:off x="2954274" y="2222427"/>
            <a:ext cx="202692" cy="-27867"/>
          </a:xfrm>
          <a:prstGeom prst="rect">
            <a:avLst/>
          </a:prstGeom>
          <a:solidFill>
            <a:srgbClr val="1F7A5C"/>
          </a:solidFill>
          <a:ln w="12700">
            <a:solidFill>
              <a:srgbClr val="1F7A5C"/>
            </a:solidFill>
            <a:prstDash val="solid"/>
          </a:ln>
        </p:spPr>
      </p:sp>
      <p:sp>
        <p:nvSpPr>
          <p:cNvPr id="26" name="Text 21"/>
          <p:cNvSpPr txBox="1"/>
          <p:nvPr/>
        </p:nvSpPr>
        <p:spPr>
          <a:xfrm>
            <a:off x="2865120" y="2203704"/>
            <a:ext cx="381000"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S004</a:t>
            </a:r>
            <a:endParaRPr lang="en-US" sz="500" dirty="0"/>
          </a:p>
        </p:txBody>
      </p:sp>
      <p:sp>
        <p:nvSpPr>
          <p:cNvPr id="27" name="Shape 22"/>
          <p:cNvSpPr/>
          <p:nvPr/>
        </p:nvSpPr>
        <p:spPr>
          <a:xfrm>
            <a:off x="2304288" y="2194560"/>
            <a:ext cx="914400" cy="0"/>
          </a:xfrm>
          <a:prstGeom prst="line">
            <a:avLst/>
          </a:prstGeom>
          <a:noFill/>
          <a:ln w="6350">
            <a:solidFill>
              <a:srgbClr val="888888"/>
            </a:solidFill>
            <a:prstDash val="solid"/>
          </a:ln>
        </p:spPr>
      </p:sp>
      <p:sp>
        <p:nvSpPr>
          <p:cNvPr id="28" name="Shape 23"/>
          <p:cNvSpPr/>
          <p:nvPr/>
        </p:nvSpPr>
        <p:spPr>
          <a:xfrm>
            <a:off x="987552" y="2057400"/>
            <a:ext cx="1042416" cy="182880"/>
          </a:xfrm>
          <a:prstGeom prst="rect">
            <a:avLst/>
          </a:prstGeom>
          <a:solidFill>
            <a:srgbClr val="FFFFFF"/>
          </a:solidFill>
          <a:ln w="6350">
            <a:solidFill>
              <a:srgbClr val="999999"/>
            </a:solidFill>
            <a:prstDash val="solid"/>
          </a:ln>
        </p:spPr>
      </p:sp>
      <p:sp>
        <p:nvSpPr>
          <p:cNvPr id="29" name="Shape 24"/>
          <p:cNvSpPr/>
          <p:nvPr/>
        </p:nvSpPr>
        <p:spPr>
          <a:xfrm>
            <a:off x="987552" y="2313432"/>
            <a:ext cx="1042416" cy="182880"/>
          </a:xfrm>
          <a:prstGeom prst="rect">
            <a:avLst/>
          </a:prstGeom>
          <a:solidFill>
            <a:srgbClr val="FFFFFF"/>
          </a:solidFill>
          <a:ln w="6350">
            <a:solidFill>
              <a:srgbClr val="999999"/>
            </a:solidFill>
            <a:prstDash val="solid"/>
          </a:ln>
        </p:spPr>
      </p:sp>
      <p:sp>
        <p:nvSpPr>
          <p:cNvPr id="30" name="Shape 25"/>
          <p:cNvSpPr/>
          <p:nvPr/>
        </p:nvSpPr>
        <p:spPr>
          <a:xfrm>
            <a:off x="987552" y="2606040"/>
            <a:ext cx="1042416" cy="237744"/>
          </a:xfrm>
          <a:prstGeom prst="roundRect">
            <a:avLst>
              <a:gd name="adj" fmla="val 50000"/>
            </a:avLst>
          </a:prstGeom>
          <a:solidFill>
            <a:srgbClr val="D4A017"/>
          </a:solidFill>
          <a:ln w="12700">
            <a:solidFill>
              <a:srgbClr val="D4A017"/>
            </a:solidFill>
            <a:prstDash val="solid"/>
          </a:ln>
        </p:spPr>
      </p:sp>
      <p:sp>
        <p:nvSpPr>
          <p:cNvPr id="31" name="Text 26"/>
          <p:cNvSpPr txBox="1"/>
          <p:nvPr/>
        </p:nvSpPr>
        <p:spPr>
          <a:xfrm>
            <a:off x="822960" y="2514600"/>
            <a:ext cx="2651760" cy="228600"/>
          </a:xfrm>
          <a:prstGeom prst="rect">
            <a:avLst/>
          </a:prstGeom>
          <a:noFill/>
          <a:ln/>
        </p:spPr>
        <p:txBody>
          <a:bodyPr wrap="square" lIns="0" tIns="0" rIns="0" bIns="0" rtlCol="0" anchor="t"/>
          <a:lstStyle/>
          <a:p>
            <a:pPr algn="ctr" indent="0" marL="0">
              <a:buNone/>
            </a:pPr>
            <a:r>
              <a:rPr lang="en-US" sz="650" u="sng" dirty="0">
                <a:solidFill>
                  <a:srgbClr val="0969DA"/>
                </a:solidFill>
                <a:latin typeface="Arial" pitchFamily="34" charset="0"/>
                <a:ea typeface="Arial" pitchFamily="34" charset="-122"/>
                <a:cs typeface="Arial" pitchFamily="34" charset="-120"/>
              </a:rPr>
              <a:t>Cara Pakai · Laporkan Masalah · v1.1.0</a:t>
            </a:r>
            <a:endParaRPr lang="en-US" sz="650" dirty="0"/>
          </a:p>
        </p:txBody>
      </p:sp>
      <p:sp>
        <p:nvSpPr>
          <p:cNvPr id="32" name="Shape 27"/>
          <p:cNvSpPr/>
          <p:nvPr/>
        </p:nvSpPr>
        <p:spPr>
          <a:xfrm>
            <a:off x="960120" y="3017520"/>
            <a:ext cx="365760" cy="365760"/>
          </a:xfrm>
          <a:prstGeom prst="ellipse">
            <a:avLst/>
          </a:prstGeom>
          <a:solidFill>
            <a:srgbClr val="E8C39E"/>
          </a:solidFill>
          <a:ln/>
        </p:spPr>
      </p:sp>
      <p:sp>
        <p:nvSpPr>
          <p:cNvPr id="33" name="Shape 28"/>
          <p:cNvSpPr/>
          <p:nvPr/>
        </p:nvSpPr>
        <p:spPr>
          <a:xfrm>
            <a:off x="886968" y="3410712"/>
            <a:ext cx="512064" cy="548640"/>
          </a:xfrm>
          <a:prstGeom prst="roundRect">
            <a:avLst>
              <a:gd name="adj" fmla="val 21429"/>
            </a:avLst>
          </a:prstGeom>
          <a:solidFill>
            <a:srgbClr val="1F7A5C"/>
          </a:solidFill>
          <a:ln w="12700">
            <a:solidFill>
              <a:srgbClr val="1F7A5C"/>
            </a:solidFill>
            <a:prstDash val="solid"/>
          </a:ln>
        </p:spPr>
      </p:sp>
      <p:sp>
        <p:nvSpPr>
          <p:cNvPr id="34" name="Shape 29"/>
          <p:cNvSpPr/>
          <p:nvPr/>
        </p:nvSpPr>
        <p:spPr>
          <a:xfrm>
            <a:off x="1600200" y="3017520"/>
            <a:ext cx="365760" cy="365760"/>
          </a:xfrm>
          <a:prstGeom prst="ellipse">
            <a:avLst/>
          </a:prstGeom>
          <a:solidFill>
            <a:srgbClr val="E8C39E"/>
          </a:solidFill>
          <a:ln/>
        </p:spPr>
      </p:sp>
      <p:sp>
        <p:nvSpPr>
          <p:cNvPr id="35" name="Shape 30"/>
          <p:cNvSpPr/>
          <p:nvPr/>
        </p:nvSpPr>
        <p:spPr>
          <a:xfrm>
            <a:off x="1527048" y="3410712"/>
            <a:ext cx="512064" cy="548640"/>
          </a:xfrm>
          <a:prstGeom prst="roundRect">
            <a:avLst>
              <a:gd name="adj" fmla="val 21429"/>
            </a:avLst>
          </a:prstGeom>
          <a:solidFill>
            <a:srgbClr val="D4A017"/>
          </a:solidFill>
          <a:ln w="12700">
            <a:solidFill>
              <a:srgbClr val="D4A017"/>
            </a:solidFill>
            <a:prstDash val="solid"/>
          </a:ln>
        </p:spPr>
      </p:sp>
      <p:sp>
        <p:nvSpPr>
          <p:cNvPr id="36" name="Shape 31"/>
          <p:cNvSpPr/>
          <p:nvPr/>
        </p:nvSpPr>
        <p:spPr>
          <a:xfrm>
            <a:off x="2240280" y="3017520"/>
            <a:ext cx="365760" cy="365760"/>
          </a:xfrm>
          <a:prstGeom prst="ellipse">
            <a:avLst/>
          </a:prstGeom>
          <a:solidFill>
            <a:srgbClr val="E8C39E"/>
          </a:solidFill>
          <a:ln/>
        </p:spPr>
      </p:sp>
      <p:sp>
        <p:nvSpPr>
          <p:cNvPr id="37" name="Shape 32"/>
          <p:cNvSpPr/>
          <p:nvPr/>
        </p:nvSpPr>
        <p:spPr>
          <a:xfrm>
            <a:off x="2167128" y="3410712"/>
            <a:ext cx="512064" cy="548640"/>
          </a:xfrm>
          <a:prstGeom prst="roundRect">
            <a:avLst>
              <a:gd name="adj" fmla="val 21429"/>
            </a:avLst>
          </a:prstGeom>
          <a:solidFill>
            <a:srgbClr val="0078D4"/>
          </a:solidFill>
          <a:ln w="12700">
            <a:solidFill>
              <a:srgbClr val="0078D4"/>
            </a:solidFill>
            <a:prstDash val="solid"/>
          </a:ln>
        </p:spPr>
      </p:sp>
      <p:sp>
        <p:nvSpPr>
          <p:cNvPr id="38" name="Text 33"/>
          <p:cNvSpPr txBox="1"/>
          <p:nvPr/>
        </p:nvSpPr>
        <p:spPr>
          <a:xfrm>
            <a:off x="3977640" y="1417320"/>
            <a:ext cx="1463040" cy="274320"/>
          </a:xfrm>
          <a:prstGeom prst="rect">
            <a:avLst/>
          </a:prstGeom>
          <a:noFill/>
          <a:ln/>
        </p:spPr>
        <p:txBody>
          <a:bodyPr wrap="square" lIns="0" tIns="0" rIns="0" bIns="0" rtlCol="0" anchor="t"/>
          <a:lstStyle/>
          <a:p>
            <a:pPr algn="ctr" indent="0" marL="0">
              <a:buNone/>
            </a:pPr>
            <a:r>
              <a:rPr lang="en-US" sz="1200" b="1" dirty="0">
                <a:solidFill>
                  <a:srgbClr val="1E2A26"/>
                </a:solidFill>
                <a:latin typeface="Calibri" pitchFamily="34" charset="0"/>
                <a:ea typeface="Calibri" pitchFamily="34" charset="-122"/>
                <a:cs typeface="Calibri" pitchFamily="34" charset="-120"/>
              </a:rPr>
              <a:t>Penilai</a:t>
            </a:r>
            <a:endParaRPr lang="en-US" sz="1200" dirty="0"/>
          </a:p>
        </p:txBody>
      </p:sp>
      <p:sp>
        <p:nvSpPr>
          <p:cNvPr id="39" name="Shape 34"/>
          <p:cNvSpPr/>
          <p:nvPr/>
        </p:nvSpPr>
        <p:spPr>
          <a:xfrm>
            <a:off x="4160520" y="1783080"/>
            <a:ext cx="365760" cy="365760"/>
          </a:xfrm>
          <a:prstGeom prst="ellipse">
            <a:avLst/>
          </a:prstGeom>
          <a:solidFill>
            <a:srgbClr val="D7CCC8"/>
          </a:solidFill>
          <a:ln/>
        </p:spPr>
      </p:sp>
      <p:sp>
        <p:nvSpPr>
          <p:cNvPr id="40" name="Shape 35"/>
          <p:cNvSpPr/>
          <p:nvPr/>
        </p:nvSpPr>
        <p:spPr>
          <a:xfrm>
            <a:off x="4087368" y="2176272"/>
            <a:ext cx="512064" cy="548640"/>
          </a:xfrm>
          <a:prstGeom prst="roundRect">
            <a:avLst>
              <a:gd name="adj" fmla="val 21429"/>
            </a:avLst>
          </a:prstGeom>
          <a:solidFill>
            <a:srgbClr val="5F6F68"/>
          </a:solidFill>
          <a:ln w="12700">
            <a:solidFill>
              <a:srgbClr val="5F6F68"/>
            </a:solidFill>
            <a:prstDash val="solid"/>
          </a:ln>
        </p:spPr>
      </p:sp>
      <p:sp>
        <p:nvSpPr>
          <p:cNvPr id="41" name="Shape 36"/>
          <p:cNvSpPr/>
          <p:nvPr/>
        </p:nvSpPr>
        <p:spPr>
          <a:xfrm>
            <a:off x="4800600" y="1783080"/>
            <a:ext cx="365760" cy="365760"/>
          </a:xfrm>
          <a:prstGeom prst="ellipse">
            <a:avLst/>
          </a:prstGeom>
          <a:solidFill>
            <a:srgbClr val="D7CCC8"/>
          </a:solidFill>
          <a:ln/>
        </p:spPr>
      </p:sp>
      <p:sp>
        <p:nvSpPr>
          <p:cNvPr id="42" name="Shape 37"/>
          <p:cNvSpPr/>
          <p:nvPr/>
        </p:nvSpPr>
        <p:spPr>
          <a:xfrm>
            <a:off x="4727448" y="2176272"/>
            <a:ext cx="512064" cy="548640"/>
          </a:xfrm>
          <a:prstGeom prst="roundRect">
            <a:avLst>
              <a:gd name="adj" fmla="val 21429"/>
            </a:avLst>
          </a:prstGeom>
          <a:solidFill>
            <a:srgbClr val="5F6F68"/>
          </a:solidFill>
          <a:ln w="12700">
            <a:solidFill>
              <a:srgbClr val="5F6F68"/>
            </a:solidFill>
            <a:prstDash val="solid"/>
          </a:ln>
        </p:spPr>
      </p:sp>
      <p:sp>
        <p:nvSpPr>
          <p:cNvPr id="43" name="Text 3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44" name="Text 3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Presentasi kelompok (5 + 2 menit)</a:t>
            </a:r>
            <a:endParaRPr lang="en-US" sz="1800" dirty="0"/>
          </a:p>
        </p:txBody>
      </p:sp>
      <p:sp>
        <p:nvSpPr>
          <p:cNvPr id="45" name="Text 4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Masalah → Solusi → Demo → Bukti → AI &amp; Pelajaran. Setiap anggota berbicara. Jawab pertanyaan dengan jujur.</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Presentasi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12: Proyek Akhir Kelas IX · Pertemuan 36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2160270" y="1051560"/>
            <a:ext cx="1805940" cy="3611880"/>
          </a:xfrm>
          <a:prstGeom prst="roundRect">
            <a:avLst>
              <a:gd name="adj" fmla="val 9114"/>
            </a:avLst>
          </a:prstGeom>
          <a:solidFill>
            <a:srgbClr val="1A1A1A"/>
          </a:solidFill>
          <a:ln w="12700">
            <a:solidFill>
              <a:srgbClr val="1A1A1A"/>
            </a:solidFill>
            <a:prstDash val="solid"/>
          </a:ln>
        </p:spPr>
      </p:sp>
      <p:sp>
        <p:nvSpPr>
          <p:cNvPr id="10" name="Shape 6"/>
          <p:cNvSpPr/>
          <p:nvPr/>
        </p:nvSpPr>
        <p:spPr>
          <a:xfrm>
            <a:off x="2251710" y="1143000"/>
            <a:ext cx="1623060" cy="3429000"/>
          </a:xfrm>
          <a:prstGeom prst="roundRect">
            <a:avLst>
              <a:gd name="adj" fmla="val 6761"/>
            </a:avLst>
          </a:prstGeom>
          <a:solidFill>
            <a:srgbClr val="FFFFFF"/>
          </a:solidFill>
          <a:ln w="12700">
            <a:solidFill>
              <a:srgbClr val="FFFFFF"/>
            </a:solidFill>
            <a:prstDash val="solid"/>
          </a:ln>
        </p:spPr>
      </p:sp>
      <p:sp>
        <p:nvSpPr>
          <p:cNvPr id="11" name="Shape 7"/>
          <p:cNvSpPr/>
          <p:nvPr/>
        </p:nvSpPr>
        <p:spPr>
          <a:xfrm>
            <a:off x="2251710" y="1143000"/>
            <a:ext cx="1623060" cy="3429000"/>
          </a:xfrm>
          <a:prstGeom prst="rect">
            <a:avLst/>
          </a:prstGeom>
          <a:solidFill>
            <a:srgbClr val="F3F8F5"/>
          </a:solidFill>
          <a:ln w="12700">
            <a:solidFill>
              <a:srgbClr val="F3F8F5"/>
            </a:solidFill>
            <a:prstDash val="solid"/>
          </a:ln>
        </p:spPr>
      </p:sp>
      <p:sp>
        <p:nvSpPr>
          <p:cNvPr id="12" name="Shape 8"/>
          <p:cNvSpPr/>
          <p:nvPr/>
        </p:nvSpPr>
        <p:spPr>
          <a:xfrm>
            <a:off x="2251710" y="1143000"/>
            <a:ext cx="1623060" cy="411480"/>
          </a:xfrm>
          <a:prstGeom prst="rect">
            <a:avLst/>
          </a:prstGeom>
          <a:solidFill>
            <a:srgbClr val="0F4C3A"/>
          </a:solidFill>
          <a:ln w="12700">
            <a:solidFill>
              <a:srgbClr val="0F4C3A"/>
            </a:solidFill>
            <a:prstDash val="solid"/>
          </a:ln>
        </p:spPr>
      </p:sp>
      <p:pic>
        <p:nvPicPr>
          <p:cNvPr id="13" name="Image 2" descr="/home/claude/logo.png">    </p:cNvPr>
          <p:cNvPicPr>
            <a:picLocks noChangeAspect="1"/>
          </p:cNvPicPr>
          <p:nvPr/>
        </p:nvPicPr>
        <p:blipFill>
          <a:blip r:embed="rId3"/>
          <a:stretch>
            <a:fillRect/>
          </a:stretch>
        </p:blipFill>
        <p:spPr>
          <a:xfrm>
            <a:off x="2306574" y="1188720"/>
            <a:ext cx="320040" cy="320040"/>
          </a:xfrm>
          <a:prstGeom prst="rect">
            <a:avLst/>
          </a:prstGeom>
        </p:spPr>
      </p:pic>
      <p:sp>
        <p:nvSpPr>
          <p:cNvPr id="14" name="Text 9"/>
          <p:cNvSpPr txBox="1"/>
          <p:nvPr/>
        </p:nvSpPr>
        <p:spPr>
          <a:xfrm>
            <a:off x="2251710" y="1143000"/>
            <a:ext cx="162306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Setoran Harian v1.1</a:t>
            </a:r>
            <a:endParaRPr lang="en-US" sz="1100" dirty="0"/>
          </a:p>
        </p:txBody>
      </p:sp>
      <p:sp>
        <p:nvSpPr>
          <p:cNvPr id="15" name="Shape 10"/>
          <p:cNvSpPr/>
          <p:nvPr/>
        </p:nvSpPr>
        <p:spPr>
          <a:xfrm>
            <a:off x="2343150" y="1645920"/>
            <a:ext cx="674370" cy="2560320"/>
          </a:xfrm>
          <a:prstGeom prst="roundRect">
            <a:avLst>
              <a:gd name="adj" fmla="val 8136"/>
            </a:avLst>
          </a:prstGeom>
          <a:solidFill>
            <a:srgbClr val="FFFFFF"/>
          </a:solidFill>
          <a:ln w="6350">
            <a:solidFill>
              <a:srgbClr val="DDDDDD"/>
            </a:solidFill>
            <a:prstDash val="solid"/>
          </a:ln>
        </p:spPr>
      </p:sp>
      <p:sp>
        <p:nvSpPr>
          <p:cNvPr id="16" name="Text 11"/>
          <p:cNvSpPr txBox="1"/>
          <p:nvPr/>
        </p:nvSpPr>
        <p:spPr>
          <a:xfrm>
            <a:off x="2416302" y="1673352"/>
            <a:ext cx="674370" cy="201168"/>
          </a:xfrm>
          <a:prstGeom prst="rect">
            <a:avLst/>
          </a:prstGeom>
          <a:noFill/>
          <a:ln/>
        </p:spPr>
        <p:txBody>
          <a:bodyPr wrap="square" lIns="0" tIns="0" rIns="0" bIns="0" rtlCol="0" anchor="t"/>
          <a:lstStyle/>
          <a:p>
            <a:pPr indent="0" marL="0">
              <a:buNone/>
            </a:pPr>
            <a:r>
              <a:rPr lang="en-US" sz="800" b="1" dirty="0">
                <a:solidFill>
                  <a:srgbClr val="1F7A5C"/>
                </a:solidFill>
                <a:latin typeface="Arial" pitchFamily="34" charset="0"/>
                <a:ea typeface="Arial" pitchFamily="34" charset="-122"/>
                <a:cs typeface="Arial" pitchFamily="34" charset="-120"/>
              </a:rPr>
              <a:t>Simpan Setoran</a:t>
            </a:r>
            <a:endParaRPr lang="en-US" sz="800" dirty="0"/>
          </a:p>
        </p:txBody>
      </p:sp>
      <p:sp>
        <p:nvSpPr>
          <p:cNvPr id="17" name="Shape 12"/>
          <p:cNvSpPr/>
          <p:nvPr/>
        </p:nvSpPr>
        <p:spPr>
          <a:xfrm>
            <a:off x="3108960" y="1645920"/>
            <a:ext cx="674370" cy="2560320"/>
          </a:xfrm>
          <a:prstGeom prst="roundRect">
            <a:avLst>
              <a:gd name="adj" fmla="val 8136"/>
            </a:avLst>
          </a:prstGeom>
          <a:solidFill>
            <a:srgbClr val="FFFFFF"/>
          </a:solidFill>
          <a:ln w="6350">
            <a:solidFill>
              <a:srgbClr val="DDDDDD"/>
            </a:solidFill>
            <a:prstDash val="solid"/>
          </a:ln>
        </p:spPr>
      </p:sp>
      <p:sp>
        <p:nvSpPr>
          <p:cNvPr id="18" name="Text 13"/>
          <p:cNvSpPr txBox="1"/>
          <p:nvPr/>
        </p:nvSpPr>
        <p:spPr>
          <a:xfrm>
            <a:off x="3182112" y="1673352"/>
            <a:ext cx="674370" cy="201168"/>
          </a:xfrm>
          <a:prstGeom prst="rect">
            <a:avLst/>
          </a:prstGeom>
          <a:noFill/>
          <a:ln/>
        </p:spPr>
        <p:txBody>
          <a:bodyPr wrap="square" lIns="0" tIns="0" rIns="0" bIns="0" rtlCol="0" anchor="t"/>
          <a:lstStyle/>
          <a:p>
            <a:pPr indent="0" marL="0">
              <a:buNone/>
            </a:pPr>
            <a:r>
              <a:rPr lang="en-US" sz="800" b="1" dirty="0">
                <a:solidFill>
                  <a:srgbClr val="1F7A5C"/>
                </a:solidFill>
                <a:latin typeface="Arial" pitchFamily="34" charset="0"/>
                <a:ea typeface="Arial" pitchFamily="34" charset="-122"/>
                <a:cs typeface="Arial" pitchFamily="34" charset="-120"/>
              </a:rPr>
              <a:t>Capaian Pekan Ini</a:t>
            </a:r>
            <a:endParaRPr lang="en-US" sz="800" dirty="0"/>
          </a:p>
        </p:txBody>
      </p:sp>
      <p:sp>
        <p:nvSpPr>
          <p:cNvPr id="19" name="Shape 14"/>
          <p:cNvSpPr/>
          <p:nvPr/>
        </p:nvSpPr>
        <p:spPr>
          <a:xfrm>
            <a:off x="3108960" y="1920240"/>
            <a:ext cx="582930" cy="2240280"/>
          </a:xfrm>
          <a:prstGeom prst="roundRect">
            <a:avLst>
              <a:gd name="adj" fmla="val 4706"/>
            </a:avLst>
          </a:prstGeom>
          <a:solidFill>
            <a:srgbClr val="FFFFFF"/>
          </a:solidFill>
          <a:ln w="9525">
            <a:solidFill>
              <a:srgbClr val="DDDDDD"/>
            </a:solidFill>
            <a:prstDash val="solid"/>
          </a:ln>
        </p:spPr>
      </p:sp>
      <p:sp>
        <p:nvSpPr>
          <p:cNvPr id="20" name="Text 15"/>
          <p:cNvSpPr txBox="1"/>
          <p:nvPr/>
        </p:nvSpPr>
        <p:spPr>
          <a:xfrm>
            <a:off x="3108960" y="1938528"/>
            <a:ext cx="582930" cy="146304"/>
          </a:xfrm>
          <a:prstGeom prst="rect">
            <a:avLst/>
          </a:prstGeom>
          <a:noFill/>
          <a:ln/>
        </p:spPr>
        <p:txBody>
          <a:bodyPr wrap="square" lIns="0" tIns="0" rIns="0" bIns="0" rtlCol="0" anchor="t"/>
          <a:lstStyle/>
          <a:p>
            <a:pPr algn="ctr" indent="0" marL="0">
              <a:buNone/>
            </a:pPr>
            <a:endParaRPr lang="en-US" sz="650" dirty="0"/>
          </a:p>
        </p:txBody>
      </p:sp>
      <p:sp>
        <p:nvSpPr>
          <p:cNvPr id="21" name="Shape 16"/>
          <p:cNvSpPr/>
          <p:nvPr/>
        </p:nvSpPr>
        <p:spPr>
          <a:xfrm>
            <a:off x="3263837" y="3315789"/>
            <a:ext cx="82677" cy="661851"/>
          </a:xfrm>
          <a:prstGeom prst="rect">
            <a:avLst/>
          </a:prstGeom>
          <a:solidFill>
            <a:srgbClr val="1F7A5C"/>
          </a:solidFill>
          <a:ln w="12700">
            <a:solidFill>
              <a:srgbClr val="1F7A5C"/>
            </a:solidFill>
            <a:prstDash val="solid"/>
          </a:ln>
        </p:spPr>
      </p:sp>
      <p:sp>
        <p:nvSpPr>
          <p:cNvPr id="22" name="Text 17"/>
          <p:cNvSpPr txBox="1"/>
          <p:nvPr/>
        </p:nvSpPr>
        <p:spPr>
          <a:xfrm>
            <a:off x="3200400" y="3986784"/>
            <a:ext cx="209550"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S001</a:t>
            </a:r>
            <a:endParaRPr lang="en-US" sz="500" dirty="0"/>
          </a:p>
        </p:txBody>
      </p:sp>
      <p:sp>
        <p:nvSpPr>
          <p:cNvPr id="23" name="Shape 18"/>
          <p:cNvSpPr/>
          <p:nvPr/>
        </p:nvSpPr>
        <p:spPr>
          <a:xfrm>
            <a:off x="3381947" y="2148840"/>
            <a:ext cx="82677" cy="1828800"/>
          </a:xfrm>
          <a:prstGeom prst="rect">
            <a:avLst/>
          </a:prstGeom>
          <a:solidFill>
            <a:srgbClr val="D4A017"/>
          </a:solidFill>
          <a:ln w="12700">
            <a:solidFill>
              <a:srgbClr val="D4A017"/>
            </a:solidFill>
            <a:prstDash val="solid"/>
          </a:ln>
        </p:spPr>
      </p:sp>
      <p:sp>
        <p:nvSpPr>
          <p:cNvPr id="24" name="Text 19"/>
          <p:cNvSpPr txBox="1"/>
          <p:nvPr/>
        </p:nvSpPr>
        <p:spPr>
          <a:xfrm>
            <a:off x="3318510" y="3986784"/>
            <a:ext cx="209550"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S003</a:t>
            </a:r>
            <a:endParaRPr lang="en-US" sz="500" dirty="0"/>
          </a:p>
        </p:txBody>
      </p:sp>
      <p:sp>
        <p:nvSpPr>
          <p:cNvPr id="25" name="Shape 20"/>
          <p:cNvSpPr/>
          <p:nvPr/>
        </p:nvSpPr>
        <p:spPr>
          <a:xfrm>
            <a:off x="3500057" y="2862943"/>
            <a:ext cx="82677" cy="1114697"/>
          </a:xfrm>
          <a:prstGeom prst="rect">
            <a:avLst/>
          </a:prstGeom>
          <a:solidFill>
            <a:srgbClr val="1F7A5C"/>
          </a:solidFill>
          <a:ln w="12700">
            <a:solidFill>
              <a:srgbClr val="1F7A5C"/>
            </a:solidFill>
            <a:prstDash val="solid"/>
          </a:ln>
        </p:spPr>
      </p:sp>
      <p:sp>
        <p:nvSpPr>
          <p:cNvPr id="26" name="Text 21"/>
          <p:cNvSpPr txBox="1"/>
          <p:nvPr/>
        </p:nvSpPr>
        <p:spPr>
          <a:xfrm>
            <a:off x="3436620" y="3986784"/>
            <a:ext cx="209550"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S004</a:t>
            </a:r>
            <a:endParaRPr lang="en-US" sz="500" dirty="0"/>
          </a:p>
        </p:txBody>
      </p:sp>
      <p:sp>
        <p:nvSpPr>
          <p:cNvPr id="27" name="Shape 22"/>
          <p:cNvSpPr/>
          <p:nvPr/>
        </p:nvSpPr>
        <p:spPr>
          <a:xfrm>
            <a:off x="3218688" y="3977640"/>
            <a:ext cx="400050" cy="0"/>
          </a:xfrm>
          <a:prstGeom prst="line">
            <a:avLst/>
          </a:prstGeom>
          <a:noFill/>
          <a:ln w="6350">
            <a:solidFill>
              <a:srgbClr val="888888"/>
            </a:solidFill>
            <a:prstDash val="solid"/>
          </a:ln>
        </p:spPr>
      </p:sp>
      <p:sp>
        <p:nvSpPr>
          <p:cNvPr id="28" name="Shape 23"/>
          <p:cNvSpPr/>
          <p:nvPr/>
        </p:nvSpPr>
        <p:spPr>
          <a:xfrm>
            <a:off x="2416302" y="1965960"/>
            <a:ext cx="528066" cy="182880"/>
          </a:xfrm>
          <a:prstGeom prst="rect">
            <a:avLst/>
          </a:prstGeom>
          <a:solidFill>
            <a:srgbClr val="FFFFFF"/>
          </a:solidFill>
          <a:ln w="6350">
            <a:solidFill>
              <a:srgbClr val="999999"/>
            </a:solidFill>
            <a:prstDash val="solid"/>
          </a:ln>
        </p:spPr>
      </p:sp>
      <p:sp>
        <p:nvSpPr>
          <p:cNvPr id="29" name="Shape 24"/>
          <p:cNvSpPr/>
          <p:nvPr/>
        </p:nvSpPr>
        <p:spPr>
          <a:xfrm>
            <a:off x="2416302" y="2221992"/>
            <a:ext cx="528066" cy="182880"/>
          </a:xfrm>
          <a:prstGeom prst="rect">
            <a:avLst/>
          </a:prstGeom>
          <a:solidFill>
            <a:srgbClr val="FFFFFF"/>
          </a:solidFill>
          <a:ln w="6350">
            <a:solidFill>
              <a:srgbClr val="999999"/>
            </a:solidFill>
            <a:prstDash val="solid"/>
          </a:ln>
        </p:spPr>
      </p:sp>
      <p:sp>
        <p:nvSpPr>
          <p:cNvPr id="30" name="Shape 25"/>
          <p:cNvSpPr/>
          <p:nvPr/>
        </p:nvSpPr>
        <p:spPr>
          <a:xfrm>
            <a:off x="2416302" y="2514600"/>
            <a:ext cx="528066" cy="237744"/>
          </a:xfrm>
          <a:prstGeom prst="roundRect">
            <a:avLst>
              <a:gd name="adj" fmla="val 50000"/>
            </a:avLst>
          </a:prstGeom>
          <a:solidFill>
            <a:srgbClr val="D4A017"/>
          </a:solidFill>
          <a:ln w="12700">
            <a:solidFill>
              <a:srgbClr val="D4A017"/>
            </a:solidFill>
            <a:prstDash val="solid"/>
          </a:ln>
        </p:spPr>
      </p:sp>
      <p:sp>
        <p:nvSpPr>
          <p:cNvPr id="31" name="Text 26"/>
          <p:cNvSpPr txBox="1"/>
          <p:nvPr/>
        </p:nvSpPr>
        <p:spPr>
          <a:xfrm>
            <a:off x="2251710" y="4297680"/>
            <a:ext cx="1623060" cy="228600"/>
          </a:xfrm>
          <a:prstGeom prst="rect">
            <a:avLst/>
          </a:prstGeom>
          <a:noFill/>
          <a:ln/>
        </p:spPr>
        <p:txBody>
          <a:bodyPr wrap="square" lIns="0" tIns="0" rIns="0" bIns="0" rtlCol="0" anchor="t"/>
          <a:lstStyle/>
          <a:p>
            <a:pPr algn="ctr" indent="0" marL="0">
              <a:buNone/>
            </a:pPr>
            <a:r>
              <a:rPr lang="en-US" sz="650" u="sng" dirty="0">
                <a:solidFill>
                  <a:srgbClr val="0969DA"/>
                </a:solidFill>
                <a:latin typeface="Arial" pitchFamily="34" charset="0"/>
                <a:ea typeface="Arial" pitchFamily="34" charset="-122"/>
                <a:cs typeface="Arial" pitchFamily="34" charset="-120"/>
              </a:rPr>
              <a:t>Cara Pakai · Laporkan Masalah · v1.1.0</a:t>
            </a:r>
            <a:endParaRPr lang="en-US" sz="650" dirty="0"/>
          </a:p>
        </p:txBody>
      </p:sp>
      <p:sp>
        <p:nvSpPr>
          <p:cNvPr id="32" name="Shape 27"/>
          <p:cNvSpPr/>
          <p:nvPr/>
        </p:nvSpPr>
        <p:spPr>
          <a:xfrm>
            <a:off x="2233422" y="1124712"/>
            <a:ext cx="1659636" cy="3465576"/>
          </a:xfrm>
          <a:prstGeom prst="roundRect">
            <a:avLst>
              <a:gd name="adj" fmla="val 2755"/>
            </a:avLst>
          </a:prstGeom>
          <a:solidFill>
            <a:srgbClr val="FFFFFF">
              <a:alpha val="0"/>
            </a:srgbClr>
          </a:solidFill>
          <a:ln w="31750">
            <a:solidFill>
              <a:srgbClr val="E53935"/>
            </a:solidFill>
            <a:prstDash val="solid"/>
          </a:ln>
        </p:spPr>
      </p:sp>
      <p:sp>
        <p:nvSpPr>
          <p:cNvPr id="33" name="Shape 28"/>
          <p:cNvSpPr/>
          <p:nvPr/>
        </p:nvSpPr>
        <p:spPr>
          <a:xfrm>
            <a:off x="3755898" y="987552"/>
            <a:ext cx="274320" cy="274320"/>
          </a:xfrm>
          <a:prstGeom prst="ellipse">
            <a:avLst/>
          </a:prstGeom>
          <a:solidFill>
            <a:srgbClr val="E53935"/>
          </a:solidFill>
          <a:ln w="12700">
            <a:solidFill>
              <a:srgbClr val="FFFFFF"/>
            </a:solidFill>
            <a:prstDash val="solid"/>
          </a:ln>
        </p:spPr>
      </p:sp>
      <p:sp>
        <p:nvSpPr>
          <p:cNvPr id="34" name="Text 29"/>
          <p:cNvSpPr txBox="1"/>
          <p:nvPr/>
        </p:nvSpPr>
        <p:spPr>
          <a:xfrm>
            <a:off x="3755898" y="98755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5" name="Text 3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36" name="Text 3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Stan coba aplikasi</a:t>
            </a:r>
            <a:endParaRPr lang="en-US" sz="1800" dirty="0"/>
          </a:p>
        </p:txBody>
      </p:sp>
      <p:sp>
        <p:nvSpPr>
          <p:cNvPr id="37" name="Text 3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Pengunjung memindai QR dan mencoba. Anggota kelompok membantu dengan ramah, mencatat masukan di formulir/kertas.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12: Proyek Akhir Kelas IX · Pertemuan 36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Refleksi_Wustha_Ahmad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Refleksi_Wustha_Ahmad</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Refleksi Tiga Tahun TIK</a:t>
            </a:r>
            <a:endParaRPr lang="en-US" sz="1100" dirty="0"/>
          </a:p>
        </p:txBody>
      </p:sp>
      <p:sp>
        <p:nvSpPr>
          <p:cNvPr id="70" name="Text 59"/>
          <p:cNvSpPr txBox="1"/>
          <p:nvPr/>
        </p:nvSpPr>
        <p:spPr>
          <a:xfrm>
            <a:off x="1554480" y="287693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Karya paling dibanggakan: aplikasi Setoran Harian.</a:t>
            </a:r>
            <a:endParaRPr lang="en-US" sz="800" dirty="0"/>
          </a:p>
        </p:txBody>
      </p:sp>
      <p:sp>
        <p:nvSpPr>
          <p:cNvPr id="71" name="Text 60"/>
          <p:cNvSpPr txBox="1"/>
          <p:nvPr/>
        </p:nvSpPr>
        <p:spPr>
          <a:xfrm>
            <a:off x="1554480" y="306997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Pelajaran terbesar: memahami kode, bukan menyalin.</a:t>
            </a:r>
            <a:endParaRPr lang="en-US" sz="800" dirty="0"/>
          </a:p>
        </p:txBody>
      </p:sp>
      <p:sp>
        <p:nvSpPr>
          <p:cNvPr id="72" name="Text 61"/>
          <p:cNvSpPr txBox="1"/>
          <p:nvPr/>
        </p:nvSpPr>
        <p:spPr>
          <a:xfrm>
            <a:off x="1554480" y="326301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Ingin dikembangkan: membuat aplikasi untuk pondok.</a:t>
            </a:r>
            <a:endParaRPr lang="en-US" sz="800" dirty="0"/>
          </a:p>
        </p:txBody>
      </p:sp>
      <p:sp>
        <p:nvSpPr>
          <p:cNvPr id="73" name="Text 62"/>
          <p:cNvSpPr txBox="1"/>
          <p:nvPr/>
        </p:nvSpPr>
        <p:spPr>
          <a:xfrm>
            <a:off x="1554480" y="3456058"/>
            <a:ext cx="3017520" cy="147320"/>
          </a:xfrm>
          <a:prstGeom prst="rect">
            <a:avLst/>
          </a:prstGeom>
          <a:noFill/>
          <a:ln/>
        </p:spPr>
        <p:txBody>
          <a:bodyPr wrap="square" lIns="0" tIns="0" rIns="0" bIns="0" rtlCol="0" anchor="ctr"/>
          <a:lstStyle/>
          <a:p>
            <a:pPr algn="l" indent="0" marL="0">
              <a:buNone/>
            </a:pPr>
            <a:r>
              <a:rPr lang="en-US" sz="800" b="1" dirty="0">
                <a:solidFill>
                  <a:srgbClr val="1E2A26"/>
                </a:solidFill>
                <a:latin typeface="Arial" pitchFamily="34" charset="0"/>
                <a:ea typeface="Arial" pitchFamily="34" charset="-122"/>
                <a:cs typeface="Arial" pitchFamily="34" charset="-120"/>
              </a:rPr>
              <a:t>Pesan untuk adik kelas: jangan takut error!</a:t>
            </a:r>
            <a:endParaRPr lang="en-US" sz="800" dirty="0"/>
          </a:p>
        </p:txBody>
      </p:sp>
      <p:sp>
        <p:nvSpPr>
          <p:cNvPr id="74" name="Shape 63"/>
          <p:cNvSpPr/>
          <p:nvPr/>
        </p:nvSpPr>
        <p:spPr>
          <a:xfrm>
            <a:off x="1527048" y="2849506"/>
            <a:ext cx="3072384" cy="781304"/>
          </a:xfrm>
          <a:prstGeom prst="roundRect">
            <a:avLst>
              <a:gd name="adj" fmla="val 5852"/>
            </a:avLst>
          </a:prstGeom>
          <a:solidFill>
            <a:srgbClr val="FFFFFF">
              <a:alpha val="0"/>
            </a:srgbClr>
          </a:solidFill>
          <a:ln w="31750">
            <a:solidFill>
              <a:srgbClr val="E53935"/>
            </a:solidFill>
            <a:prstDash val="solid"/>
          </a:ln>
        </p:spPr>
      </p:sp>
      <p:sp>
        <p:nvSpPr>
          <p:cNvPr id="75" name="Shape 64"/>
          <p:cNvSpPr/>
          <p:nvPr/>
        </p:nvSpPr>
        <p:spPr>
          <a:xfrm>
            <a:off x="4462272" y="2712346"/>
            <a:ext cx="274320" cy="274320"/>
          </a:xfrm>
          <a:prstGeom prst="ellipse">
            <a:avLst/>
          </a:prstGeom>
          <a:solidFill>
            <a:srgbClr val="E53935"/>
          </a:solidFill>
          <a:ln w="12700">
            <a:solidFill>
              <a:srgbClr val="FFFFFF"/>
            </a:solidFill>
            <a:prstDash val="solid"/>
          </a:ln>
        </p:spPr>
      </p:sp>
      <p:sp>
        <p:nvSpPr>
          <p:cNvPr id="76" name="Text 65"/>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77" name="Image 9" descr="preencoded.png">    </p:cNvPr>
          <p:cNvPicPr>
            <a:picLocks noChangeAspect="1"/>
          </p:cNvPicPr>
          <p:nvPr/>
        </p:nvPicPr>
        <p:blipFill>
          <a:blip r:embed="rId10"/>
          <a:stretch>
            <a:fillRect/>
          </a:stretch>
        </p:blipFill>
        <p:spPr>
          <a:xfrm>
            <a:off x="3214116" y="3276480"/>
            <a:ext cx="237744" cy="237744"/>
          </a:xfrm>
          <a:prstGeom prst="rect">
            <a:avLst/>
          </a:prstGeom>
        </p:spPr>
      </p:pic>
      <p:sp>
        <p:nvSpPr>
          <p:cNvPr id="78" name="Text 6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79" name="Text 6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Tulis refleksi Wustha</a:t>
            </a:r>
            <a:endParaRPr lang="en-US" sz="1800" dirty="0"/>
          </a:p>
        </p:txBody>
      </p:sp>
      <p:sp>
        <p:nvSpPr>
          <p:cNvPr id="80" name="Text 6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Setiap santri menulis: karya paling dibanggakan, pelajaran terbesar, kemampuan yang ingin dikembangkan di Ulya, pesan untuk adik kelas.</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12: Proyek Akhir Kelas IX · Pertemuan 36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611880"/>
          </a:xfrm>
          <a:prstGeom prst="roundRect">
            <a:avLst>
              <a:gd name="adj" fmla="val 3797"/>
            </a:avLst>
          </a:prstGeom>
          <a:solidFill>
            <a:srgbClr val="0F4C3A"/>
          </a:solidFill>
          <a:ln w="12700">
            <a:solidFill>
              <a:srgbClr val="0F4C3A"/>
            </a:solidFill>
            <a:prstDash val="solid"/>
          </a:ln>
        </p:spPr>
      </p:sp>
      <p:pic>
        <p:nvPicPr>
          <p:cNvPr id="10" name="Image 2" descr="/home/claude/logo.png">    </p:cNvPr>
          <p:cNvPicPr>
            <a:picLocks noChangeAspect="1"/>
          </p:cNvPicPr>
          <p:nvPr/>
        </p:nvPicPr>
        <p:blipFill>
          <a:blip r:embed="rId3"/>
          <a:stretch>
            <a:fillRect/>
          </a:stretch>
        </p:blipFill>
        <p:spPr>
          <a:xfrm>
            <a:off x="2560320" y="1234440"/>
            <a:ext cx="1005840" cy="1005840"/>
          </a:xfrm>
          <a:prstGeom prst="rect">
            <a:avLst/>
          </a:prstGeom>
        </p:spPr>
      </p:pic>
      <p:sp>
        <p:nvSpPr>
          <p:cNvPr id="11" name="Text 6"/>
          <p:cNvSpPr txBox="1"/>
          <p:nvPr/>
        </p:nvSpPr>
        <p:spPr>
          <a:xfrm>
            <a:off x="411480" y="2331720"/>
            <a:ext cx="5303520" cy="502920"/>
          </a:xfrm>
          <a:prstGeom prst="rect">
            <a:avLst/>
          </a:prstGeom>
          <a:noFill/>
          <a:ln/>
        </p:spPr>
        <p:txBody>
          <a:bodyPr wrap="square" lIns="0" tIns="0" rIns="0" bIns="0" rtlCol="0" anchor="t"/>
          <a:lstStyle/>
          <a:p>
            <a:pPr algn="ctr" indent="0" marL="0">
              <a:buNone/>
            </a:pPr>
            <a:r>
              <a:rPr lang="en-US" sz="2400" b="1" dirty="0">
                <a:solidFill>
                  <a:srgbClr val="FFFFFF"/>
                </a:solidFill>
                <a:latin typeface="Cambria" pitchFamily="34" charset="0"/>
                <a:ea typeface="Cambria" pitchFamily="34" charset="-122"/>
                <a:cs typeface="Cambria" pitchFamily="34" charset="-120"/>
              </a:rPr>
              <a:t>Barakallahu fiikum</a:t>
            </a:r>
            <a:endParaRPr lang="en-US" sz="2400" dirty="0"/>
          </a:p>
        </p:txBody>
      </p:sp>
      <p:sp>
        <p:nvSpPr>
          <p:cNvPr id="12" name="Text 7"/>
          <p:cNvSpPr txBox="1"/>
          <p:nvPr/>
        </p:nvSpPr>
        <p:spPr>
          <a:xfrm>
            <a:off x="411480" y="2880360"/>
            <a:ext cx="5303520" cy="365760"/>
          </a:xfrm>
          <a:prstGeom prst="rect">
            <a:avLst/>
          </a:prstGeom>
          <a:noFill/>
          <a:ln/>
        </p:spPr>
        <p:txBody>
          <a:bodyPr wrap="square" lIns="0" tIns="0" rIns="0" bIns="0" rtlCol="0" anchor="t"/>
          <a:lstStyle/>
          <a:p>
            <a:pPr algn="ctr" indent="0" marL="0">
              <a:buNone/>
            </a:pPr>
            <a:r>
              <a:rPr lang="en-US" sz="1300" b="1" dirty="0">
                <a:solidFill>
                  <a:srgbClr val="D4A017"/>
                </a:solidFill>
                <a:latin typeface="Calibri" pitchFamily="34" charset="0"/>
                <a:ea typeface="Calibri" pitchFamily="34" charset="-122"/>
                <a:cs typeface="Calibri" pitchFamily="34" charset="-120"/>
              </a:rPr>
              <a:t>Lulusan TIK Wustha · Digital User → Creator → Builder</a:t>
            </a:r>
            <a:endParaRPr lang="en-US" sz="1300" dirty="0"/>
          </a:p>
        </p:txBody>
      </p:sp>
      <p:sp>
        <p:nvSpPr>
          <p:cNvPr id="13" name="Text 8"/>
          <p:cNvSpPr txBox="1"/>
          <p:nvPr/>
        </p:nvSpPr>
        <p:spPr>
          <a:xfrm>
            <a:off x="411480" y="3337560"/>
            <a:ext cx="5303520" cy="365760"/>
          </a:xfrm>
          <a:prstGeom prst="rect">
            <a:avLst/>
          </a:prstGeom>
          <a:noFill/>
          <a:ln/>
        </p:spPr>
        <p:txBody>
          <a:bodyPr wrap="square" lIns="0" tIns="0" rIns="0" bIns="0" rtlCol="0" anchor="t"/>
          <a:lstStyle/>
          <a:p>
            <a:pPr algn="ctr" indent="0" marL="0">
              <a:buNone/>
            </a:pPr>
            <a:r>
              <a:rPr lang="en-US" sz="1200" i="1" dirty="0">
                <a:solidFill>
                  <a:srgbClr val="FFFFFF"/>
                </a:solidFill>
                <a:latin typeface="Calibri" pitchFamily="34" charset="0"/>
                <a:ea typeface="Calibri" pitchFamily="34" charset="-122"/>
                <a:cs typeface="Calibri" pitchFamily="34" charset="-120"/>
              </a:rPr>
              <a:t>PP Wihdatul Ummah Poso</a:t>
            </a:r>
            <a:endParaRPr lang="en-US" sz="1200" dirty="0"/>
          </a:p>
        </p:txBody>
      </p:sp>
      <p:sp>
        <p:nvSpPr>
          <p:cNvPr id="14" name="Text 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15" name="Text 1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Apresiasi, serah terima, dan doa</a:t>
            </a:r>
            <a:endParaRPr lang="en-US" sz="1800" dirty="0"/>
          </a:p>
        </p:txBody>
      </p:sp>
      <p:sp>
        <p:nvSpPr>
          <p:cNvPr id="16" name="Text 1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Pengumuman apresiasi. Repository dan laporan diserahkan kepada guru sebagai warisan untuk adik kelas. Doa penutup.</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Proyek Akhir: Digital Solution Project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Proyek</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12: Proyek Akhir Kelas IX · Pertemuan 36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Proyek akhir jenjang Wustha dinyatakan selesai jika:</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Aplikasi online (rilis terbaru) menyelesaikan masalah nyata pesantren dengan data latihan, aman, dan teruji.</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Laporan proyek 8 bagian, termasuk peran AI yang jujur, dengan lampiran tautan.</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Presentasi 5 menit dengan demo dan tanya jawab; stan coba aplikasi.</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Portofolio Kelas VII–IX dan refleksi Wustha setiap santri.</a:t>
            </a:r>
            <a:endParaRPr lang="en-US" sz="15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12: Proyek Akhir Kelas IX · Pertemuan 36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Presentasi 5 menit tepat waktu</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Demo berjalan (langsung atau video)</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Menjawab pertanyaan</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Refleksi Wustha ditulis</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pelajaran terbesar dari tiga tahun belajar TIK?</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Bagaimana kamu akan memakai kemampuan ini untuk kebaikan?</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Ilmu adalah amanah; amalkan dan ajarkan untuk kemaslahatan umat.</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Jenjang Ulya. Barakallahu fiikum!</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Kelas 3 Modul 12 - Proyek Akhir Kelas IX</dc:title>
  <dc:subject>PptxGenJS Presentation</dc:subject>
  <dc:creator>PptxGenJS</dc:creator>
  <cp:lastModifiedBy>PptxGenJS</cp:lastModifiedBy>
  <cp:revision>1</cp:revision>
  <dcterms:created xsi:type="dcterms:W3CDTF">2026-10-02T14:52:55Z</dcterms:created>
  <dcterms:modified xsi:type="dcterms:W3CDTF">2026-10-02T14:52:55Z</dcterms:modified>
</cp:coreProperties>
</file>