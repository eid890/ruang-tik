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5: Debugging — Proyek: Fix The Broken Website
Terdiri dari 3 pertemuan (Pertemuan 13–15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Pertemuan 15 memakai bahan guru: Bahan_Guru_Kelas9_Modul5_Website_Rusak.zip. Ekstrak, lalu salin HANYA folder website_rusak ke komputer setiap kelompok. File KUNCI_JAWABAN_GURU.txt disimpan guru dan TIDAK dibagikan.
- Website rusak berisi 6 bug (HTML, gambar, CSS, JavaScript). Bug 6 baru muncul setelah Bug 5 diperbaiki.
- AI tetap dipakai bergiliran dengan akun pondok dan diawasi guru. Tegaskan: minta AI menjelaskan PENYEBAB, bukan memberi kode jadi.
- Guru tidak perlu menemukan sendiri semua bug sebelum kelas; cukup ikuti kunci jawaban.
CATATAN
Console dibuka dengan F12 › tab Console. Pesan error berwarna merah. Dua error JavaScript yang paling sering: ReferenceError (nama tidak dikenal, biasanya salah ketik) dan TypeError ... null (elemen dengan id tersebut tidak ditemukan).
console.log(...) menulis catatan ke Console untuk memeriksa nilai saat program berjalan.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ke-13, dengan judul "Mengenal Bug &amp; Console". Kita belajar menjadi detektif kode: menemukan kesalahan dan memperbaikinya.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tombol aplikasi kalian mulai bekerja. Siapa yang mengalami tombolnya tidak bekerja di percobaan pertama?
(Tunggu jawaban. Biasanya banyak yang angkat tangan.)
Itu wajar! Programmer terbaik pun selalu menemui kesalahan.
Sekarang pertanyaan hari ini. Coba pikirkan sejenak:
"Saat tombol tidak bekerja, dari mana kita tahu apa yang salah?"
(Beri waktu 1 menit. Minta 2–3 santri menjawab. Hargai semua jawaban.)
Browser sebenarnya memberi tahu kita, lewat tempat yang tersembunyi bernama CONSOLE. Hari ini kita belajar membaca pesan dari browser, dan menjadi detektif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artinya serangga. Dalam dunia komputer, bug adalah kesalahan dalam program yang membuatnya tidak bekerja sesuai harapan. Istilah ini sudah lama dipakai para insinyur untuk menyebut kesalahan teknis.
DEBUGGING adalah proses menemukan penyebab kesalahan, lalu memperbaikinya.
Ingat baik-baik: semua programmer, sehebat apa pun, pasti menemui bug. Yang membedakan programmer hebat bukanlah tidak pernah salah, tetapi kemampuannya menemukan dan memperbaiki kesalahan dengan tenang.
Di Kelas IX, kemampuan debugging lebih penting daripada menghafal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tiga jenis bug yang akan kita temui.
BUG HTML: tag tidak ditutup, atau nama file gambar salah. Gejalanya tampilan berantakan atau gambar tidak muncul.
BUG CSS: titik koma hilang, atau properti salah ketik, misalnya colr tanpa o. Gejalanya gaya tidak berlaku. Penting: bug CSS TIDAK menimbulkan pesan error. Kita harus teliti mengamati.
BUG JAVASCRIPT: nama fungsi salah ketik, atau id tidak cocok. Gejalanya tombol tidak bekerja. Kabar baiknya, bug JavaScript menimbulkan pesan merah di Console yang memberi petunjuk.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belajar membaca pesan error. Perhatikan contoh di layar: Uncaught ReferenceError, hitung is not defined, index.html titik dua 28.
Bagian pertama, berwarna merah: ReferenceError, artinya jenis error karena ada NAMA yang tidak dikenal.
Bagian kedua, berwarna biru: hitung is not defined, artinya nama hitung belum dibuat. Biasanya karena salah ketik, misalnya fungsinya ditulis hitng tanpa u.
Bagian ketiga, berwarna hijau: index.html titik dua 28, artinya letak kesalahannya di file index.html, baris ke-28.
Pesan error bukan musuh. Ia adalah petunjuk: APA salahnya dan DI MANA letaknya. Seperti guru yang menandai kesalahan di buku tulis.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berlatih dengan proyek kelompok sendiri. Sebelum mulai, salin dulu file index.html menjadi index_latihan.html, agar file proyek asli 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folder proyek kelompok, salin file index.html dengan Ctrl C dan Ctrl V, lalu ganti nama salinannya menjadi index_latihan.html.
Hari ini kita sengaja merusak salinan ini untuk belajar. File asli tetap aman. Kebiasaan membuat salinan sebelum bereksperimen adalah kebiasaan programmer yang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Buka index_latihan.html di browser. Tekan F12, lalu klik tab Console, yang ditandai kotak merah.
Jika Console kosong, berarti belum ada error JavaScript. Biarkan Console tetap terbuka selama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Sekarang kita sengaja membuat bug. Di Notepad, ubah nama fungsi dari sudahSetor menjadi sudahSetr, hapus huruf o. Biarkan onclick di tombol tetap sudahSetor.
Simpan, muat ulang browser, lalu klik tombol.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Tidak terjadi apa-apa di halaman, tetapi Console menampilkan pesan merah: Uncaught ReferenceError, sudahSetor is not defined, beserta nomor baris.
Artinya: tombol memanggil sudahSetor, tetapi browser tidak menemukan fungsi bernama itu, karena kita menulis sudahSetr.
Kembalikan nama fungsi menjadi sudahSetor, simpan, muat ulang, dan klik lagi. Pesan error hilang dan tombol bekerja kembali. Selamat, kalian baru saja melakukan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Sekarang bug HTML. Hapus tag penutup h1, simpan, dan muat ulang.
Amati: Console tetap kosong, tidak ada pesan error. Tetapi tampilan berantakan: semua tulisan di bawah judul ikut menjadi besar dan tebal.
Pelajarannya: bug HTML dan CSS tidak memunculkan pesan error. Kita harus mengamati tampilan dengan teliti dan membandingkan dengan yang diharapkan. Kembalikan tag penutup 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Terakhir, bug CSS. Hapus titik koma setelah salah satu aturan, misalnya setelah warna latar tombol. Simpan, muat ulang, dan amati gaya mana yang hilang. Lalu kembalikan.
Catat ketiga bug latihan di Google Docs kelompok dalam tabel: jenis bug, gejala, pesan Console, dan perbaikan. Tabel seperti ini akan kita pakai di proyek pertemuan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tabel tiga bug latihan, arti ReferenceError dengan kata-kata sendiri, jawaban mengapa bug CSS lebih sulit ditemukan, dan pastikan file index.html asli tetap utuh.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membuka Console?
- bisa membaca 1 pesan error?
- membedakan jenis bug?
- satu bug diperbaiki?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bagaimana perasaanmu saat menemukan bug?
Pertanyaan kedua: mengapa pesan error itu sebenarnya membantu?
(Minta 2–3 santri menjawab secara bergantian.)
Pesan adab kita hari ini: kesalahan bukan aib, tetapi kesempatan belajar. Setiap anak Adam pernah bersalah, dan sebaik-baik yang bersalah adalah yang mau memperbaiki diri. Begitu pula dalam kode: yang tercela adalah tidak mau memperbaiki.
Pekan depan: strategi debugging dan console.log.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ke-14, dengan judul "Strategi Debugging". Kita belajar cara berpikir detektif untuk menemukan bug yang tersembunyi.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membaca pesan error. Siapa yang ingat, apa arti ReferenceError?
(Tunggu jawaban: ada nama yang tidak dikenal, biasanya salah ketik.)
Sekarang pertanyaan hari ini. Coba pikirkan sejenak:
"Jika tidak ada pesan error tetapi hasilnya salah, bagaimana mencarinya?"
(Beri waktu 1 menit. Minta 2–3 santri menjawab. Hargai semua jawaban.)
Kita butuh STRATEGI, seperti detektif yang mengumpulkan petunjuk satu per satu. Hari ini kita belajar langkah debugging yang teratur, alat bernama console.log, dan cara bertanya kepada AI yang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Debugging yang baik mengikuti lima langkah.
Satu, AMATI: apa persisnya gejalanya?
Dua, ULANGI: bisakah kesalahan itu dimunculkan lagi dengan cara yang sama? Bug yang bisa diulang lebih mudah dicari.
Tiga, PERSEMPIT: cari letaknya. Apakah di HTML, CSS, atau JavaScript? Di baris mana? Gunakan console.log untuk memeriksa.
Empat, PERBAIKI: ubah satu hal saja, lalu uji lagi.
Lima, CATAT: tulis penyebab dan perbaikannya, agar tidak terulang.
Contoh di bawah: total setoran selalu salah. Diulang dengan angka 1, 1, 1, hasilnya 111, bukan 3. Dengan console.log ketahuan bahwa nilainya berupa teks, bukan angka. Perbaikannya, pakai Number. Ingat kasus "satu" di database Kelas VIII? Mirip!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console.log adalah alat detektif. Perintah ini menulis isi sebuah variabel ke Console, sehingga kita bisa mengintip apa yang terjadi di dalam program.
Perhatikan kode di layar. Baris kuning adalah console.log. Baris kedua menulis isi variabel senin dan jenisnya. Baris keempat menulis isi total.
Di Console terlihat: senin sama dengan 1, string. String artinya TEKS. Dan total sama dengan 111.
Temuannya: nilai dari kolom isian selalu berupa teks. Teks "1" ditambah "1" ditambah "1" digabung menjadi "111", bukan dijumlahkan. Perbaikannya: ubah menjadi angka dengan Number.
Setelah bug ditemukan, baris console.log boleh dihapus.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sangat membantu saat debugging, jika dipakai dengan benar.
Prompt debugging yang BAIK, seperti di Prompt Library: sertakan kode yang bermasalah, sebutkan gejalanya dan pesan error di Console, lalu minta: jelaskan penyebab dan langkah perbaikan satu per satu, jangan ganti semua kode.
Yang DIHINDARI: berkata kode saya error, perbaiki, tanpa menyertakan kode. Langsung menyalin seluruh kode baru dari AI, padahal bisa jadi AI mengubah bagian lain yang sudah benar. Dan bertanya kepada AI sebelum mencoba mencari sendiri.
Urutan yang baik: cari sendiri dengan lima langkah, tanya teman, lalu tanya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berlatih dengan contoh kalkulator setoran sederhana. Ketik kode dari slide ke file baru latihan_debug.html.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Buat file baru latihan_debug.html. Ketik kode dari layar: tiga kolom isian Senin, Selasa, Rabu, tombol Hitung, dan paragraf hasil. Fungsinya menjumlahkan nilai ketiga kolom.
Kode ini sengaja mengandung bug. Ketik persis seperti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Amati dan ulangi. Isi 1, 1, 1, lalu klik Hitung. Hasilnya 111, padahal seharusnya 3! Dan Console tidak menampilkan error.
Ulangi dengan 2, 3, 4. Hasilnya 234. Bug bisa diulang, dan polanya terlihat: angka-angka digabung, bukan dijumlahkan.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Persempit dengan console.log. Di dalam fungsi, setelah baris let senin, tambahkan: console.log, kurung buka, senin, koma, typeof senin, kurung tutup, titik koma. Lakukan juga untuk selasa dan rabu.
Simpan, muat ulang, isi 1, 1, 1, dan klik Hitung. Console menampilkan: 1 string. Ketemu! Nilainya berupa teks.
Perbaiki: bungkus setiap pengambilan nilai dengan Number, misalnya Number, kurung buka, document getElementById senin titik value, kurung tutup. Uji lagi: hasilnya 3. Alhamdulillah.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bug kedua. Ubah paragraf hasil menjadi id sama dengan "hasill", dengan dua huruf L. Simpan dan uji.
Console menampilkan pesan merah: Uncaught TypeError, cannot set properties of null, setting textContent.
Coba cari sendiri selama tiga menit dengan lima langkah debugging. Jika belum ketemu, lanjut ke langkah berikutnya: bertanya kepada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Pada giliran di komputer ber-AI, tempel kode dan pesan error, lalu minta: jelaskan arti error ini dan penyebabnya, beri langkah perbaikan, jangan ganti semua kode.
(Bacakan jawaban AI.)
AI menjelaskan: null artinya kosong, karena getElementById tidak menemukan elemen dengan id "hasil". Penyebabnya, di HTML tertulis "hasill". Perbaikannya: samakan id.
Perhatikan, AI menjelaskan PENYEBAB, dan kita yang memperbaiki. Perbaiki, lalu uji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Catat kedua bug di tabel debugging kelompok: gejala, cara menemukannya, penyebab, dan perbaikan.
Kebiasaan mencatat ini membuat kalian semakin cepat menemukan bug serupa di masa depan. Pekan depan, kemampuan kalian diuji dengan website yang sengaja dirusak.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file latihan yang sudah benar, tabel debugging, prompt debugging dan ringkasan jawaban AI, serta lima langkah debugging dengan kata-kata sendiri.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mengikuti 5 langkah debugging?
- memakai console.log?
- prompt debugging meminta penjelasan?
- bug terselesaikan dan tercatat?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strategi mana yang paling membantumu?
Pertanyaan kedua: apa bedanya meminta penjelasan dan meminta jawaban jadi?
(Minta 2–3 santri menjawab secara bergantian.)
Pesan adab kita hari ini: sabar dan teliti adalah kunci debugging. Rasulullah bersabda, maknanya: ketenangan itu dari Allah, dan tergesa-gesa itu dari setan. Hadits ini diriwayatkan oleh At-Tirmidzi. Programmer yang tenang lebih cepat menemukan bug daripada yang panik.
Pekan depan: proyek Fix The Broken Website.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ke-15, dengan judul "Fix The Broken Website". Hari ini setiap kelompok menjadi tim detektif yang memperbaiki sebuah website rusak.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strategi debugging. Siapa yang ingat, alat apa untuk mengintip isi variabel?
(Tunggu jawaban: console.log.)
Sekarang pertanyaan hari ini. Coba pikirkan sejenak:
"Siapkah kalian menjadi tim detektif kode yang memperbaiki sebuah website rusak?"
(Beri waktu 1 menit. Minta 2–3 santri menjawab. Hargai semua jawaban.)
Hari ini setiap kelompok mendapat website Kalkulator Setoran Pekanan yang sengaja dirusak. Ada beberapa bug tersembunyi: di HTML, CSS, dan JavaScript. Tugas kalian: temukan, perbaiki, dan catat semuanya. Kelompok yang paling lengkap dan rapi catatannya akan mendapat apresiasi.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aturan misi detektif hari ini.
IKUTI LIMA LANGKAH: amati, ulangi, persempit, perbaiki satu per satu, lalu catat.
UJI SETIAP PERBAIKAN: hati-hati, ada bug yang baru muncul setelah bug lain diperbaiki.
AI MAKSIMAL DUA KALI per kelompok, hanya untuk meminta penjelasan penyebab, bergiliran dan diawasi guru. Tujuannya agar kalian berlatih berpikir sendiri.
CATAT SEMUA dalam tabel: bug, gejala, penyebab, perbaikan, dan cara menemukannya.
Petunjuk: ada lebih dari empat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(Salin folder website_rusak ke komputer setiap kelompok. Simpan kunci jawaban di komputer guru.)
Mulai! Waktu berburu bug: 30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file index.html di folder website_rusak. Baca juga file PETUNJUK_SANTRI.
Amati tampilannya dan bandingkan dengan yang seharusnya: kalkulator dengan header berlogo, kartu putih bergaris tepi, dan tombol emas dengan huruf putih. Catat semua yang terlihat aneh.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Coba fungsinya: isi tiga angka, lalu klik Hitung Total. Tidak terjadi apa-apa.
Tekan F12 dan buka Console. Ada pesan merah. Catat pesannya. Ingat pekan lalu: apa arti ReferenceError?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Buka kode dengan Notepad. Buru bug HTML: cari tag yang tidak ditutup, dan periksa apakah nama file gambar di src persis sama dengan nama file di folder gambar, termasuk huruf besar-kecil.
Ingat pelajaran Kelas VIII Modul 10 tentang huruf besar-kecil.
(Jangan memberi tahu letak bug. Biarkan santri menemukan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Buru bug CSS. Periksa setiap aturan: apakah setiap baris diakhiri titik koma? Apakah ejaan setiap properti benar?
Bug CSS tidak memunculkan pesan error, jadi baca dengan teliti satu per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Buru bug JavaScript dengan bantuan pesan Console.
Penting: setelah memperbaiki satu bug, uji lagi! Bisa jadi muncul pesan error baru yang sebelumnya tersembunyi. Seperti di layar: setelah satu bug diperbaiki, muncul TypeError, cannot set properties of null. Ingat latihan pekan lalu?
Jika buntu, kelompok boleh memakai jatah tanya AI, maksimal dua 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Uji akhir. Isi 5, 7, dan 10, lalu klik Hitung Total. Hasilnya harus: Total setoran 22 ayat.
Periksa juga: logo tampil, kartu bergaris tepi, tombol berhuruf putih, dan Console bersih tanpa pesan merah.
Jika semua sudah benar, alhamdulillah, misi berhasil!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Setiap kelompok menampilkan tabel debugging dan menceritakan bug tersulit: apa gejalanya, bagaimana menemukannya, dan bagaimana memperbaikinya.
(Setelah semua presentasi, bahas kunci jawaban: 6 bug. Beri apresiasi kepada kelompok yang menemukan paling banyak dengan catatan paling rapi.)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minimal lima dari enam bug ditemukan dan diperbaiki, uji akhir benar dan Console bersih, tabel debugging lengkap, serta AI dipakai sesuai aturan dan hasilnya dipresentasikan.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minimal 5 dari 6 bug ditemukan?
- website bekerja benar?
- tabel debugging lengkap?
- dipresentasikan?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bug mana yang paling sulit ditemukan?
Pertanyaan kedua: apa pelajaran terbesar dari proyek ini?
(Minta 2–3 santri menjawab secara bergantian.)
Pesan adab kita hari ini: bekerja sama dengan saling menghargai. Yang menemukan bug tidak sombong, dan yang belum menemukan tidak berkecil hati. Semua sedang belajar, dan setiap anggota punya peran.
Pekan depan: kita masuk Modul 6: JavaScript Dasar. Alhamdulillah, Modul 5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1.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2.png"/><Relationship Id="rId7" Type="http://schemas.openxmlformats.org/officeDocument/2006/relationships/image" Target="../media/image-44-7.pn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1  ·  MODUL 5</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Debugging</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Fix The Broken Website</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berlatih menemukan dan memperbaiki kesalahan program: membaca pesan error di Console, memakai strategi debugging, bertanya kepada AI untuk penjelasan, lalu memperbaiki website yang sengaja dirusak.</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13</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Bug &amp; Console</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14</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Strategi Debugging</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15</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Fix The Broken Website</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Browser Chrome/Edge (DevTools/Console), Notepad, layanan AI (akun pondok, bergiliran, diawasi guru), file bahan guru "Website Rusak"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Bug &amp; Console</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Membaca pesan error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Debugging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Saat tombol tidak bekerja, dari mana kita tahu apa yang salah?</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bug dan debugging</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Membuka Console dan membaca pesan error</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Mengenali jenis bug HTML, CSS, dan JavaScript</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Bug dan Debugging?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Debugging</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Bug adalah kesalahan dalam program. Debugging adalah proses menemukan penyebab kesalahan itu dan memperbaikinya.</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Istilah bug sudah dipakai insinyur sejak lama untuk menyebut kesalahan teknis</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Semua programmer, sehebat apa pun, menemui bug</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Kemampuan debugging lebih penting daripada menghafal kode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Jenis Bug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Bug HTML</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Tag tidak ditutup, nama file salah. Gejala: tampilan berantakan, gambar tidak muncul.</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Bug CSS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Titik koma hilang, properti salah ketik. Gejala: gaya tidak berlaku. TIDAK ada pesan error.</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Bug JavaScript</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Nama salah ketik, id tidak cocok. Gejala: tombol tidak bekerja. Ada pesan merah di Console.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Membaca Pesan Error di Console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8229600" cy="914400"/>
          </a:xfrm>
          <a:prstGeom prst="roundRect">
            <a:avLst>
              <a:gd name="adj" fmla="val 6000"/>
            </a:avLst>
          </a:prstGeom>
          <a:solidFill>
            <a:srgbClr val="FCE8E6"/>
          </a:solidFill>
          <a:ln w="12700">
            <a:solidFill>
              <a:srgbClr val="C5221F"/>
            </a:solidFill>
            <a:prstDash val="solid"/>
          </a:ln>
        </p:spPr>
      </p:sp>
      <p:sp>
        <p:nvSpPr>
          <p:cNvPr id="10" name="Text 6"/>
          <p:cNvSpPr txBox="1"/>
          <p:nvPr/>
        </p:nvSpPr>
        <p:spPr>
          <a:xfrm>
            <a:off x="640080" y="1097280"/>
            <a:ext cx="7863840" cy="914400"/>
          </a:xfrm>
          <a:prstGeom prst="rect">
            <a:avLst/>
          </a:prstGeom>
          <a:noFill/>
          <a:ln/>
        </p:spPr>
        <p:txBody>
          <a:bodyPr wrap="square" lIns="0" tIns="0" rIns="0" bIns="0" rtlCol="0" anchor="ctr"/>
          <a:lstStyle/>
          <a:p>
            <a:pPr indent="0" marL="0">
              <a:buNone/>
            </a:pPr>
            <a:r>
              <a:rPr lang="en-US" sz="1500" b="1" dirty="0">
                <a:solidFill>
                  <a:srgbClr val="C5221F"/>
                </a:solidFill>
                <a:latin typeface="Courier New" pitchFamily="34" charset="0"/>
                <a:ea typeface="Courier New" pitchFamily="34" charset="-122"/>
                <a:cs typeface="Courier New" pitchFamily="34" charset="-120"/>
              </a:rPr>
              <a:t>✖ Uncaught ReferenceError: </a:t>
            </a:r>
            <a:pPr indent="0" marL="0">
              <a:buNone/>
            </a:pPr>
            <a:r>
              <a:rPr lang="en-US" sz="1500" b="1" u="sng" dirty="0">
                <a:solidFill>
                  <a:srgbClr val="C5221F"/>
                </a:solidFill>
                <a:latin typeface="Courier New" pitchFamily="34" charset="0"/>
                <a:ea typeface="Courier New" pitchFamily="34" charset="-122"/>
                <a:cs typeface="Courier New" pitchFamily="34" charset="-120"/>
              </a:rPr>
              <a:t>hitung</a:t>
            </a:r>
            <a:pPr indent="0" marL="0">
              <a:buNone/>
            </a:pPr>
            <a:r>
              <a:rPr lang="en-US" sz="1500" dirty="0">
                <a:solidFill>
                  <a:srgbClr val="C5221F"/>
                </a:solidFill>
                <a:latin typeface="Courier New" pitchFamily="34" charset="0"/>
                <a:ea typeface="Courier New" pitchFamily="34" charset="-122"/>
                <a:cs typeface="Courier New" pitchFamily="34" charset="-120"/>
              </a:rPr>
              <a:t> is not defined</a:t>
            </a:r>
            <a:pPr indent="0" marL="0">
              <a:buNone/>
            </a:pPr>
            <a:r>
              <a:rPr lang="en-US" sz="1500" u="sng" dirty="0">
                <a:solidFill>
                  <a:srgbClr val="1A73E8"/>
                </a:solidFill>
                <a:latin typeface="Courier New" pitchFamily="34" charset="0"/>
                <a:ea typeface="Courier New" pitchFamily="34" charset="-122"/>
                <a:cs typeface="Courier New" pitchFamily="34" charset="-120"/>
              </a:rPr>
              <a:t>          index.html:28</a:t>
            </a:r>
            <a:endParaRPr lang="en-US" sz="1500" dirty="0"/>
          </a:p>
        </p:txBody>
      </p:sp>
      <p:sp>
        <p:nvSpPr>
          <p:cNvPr id="11" name="Shape 7"/>
          <p:cNvSpPr/>
          <p:nvPr/>
        </p:nvSpPr>
        <p:spPr>
          <a:xfrm>
            <a:off x="457200" y="2240280"/>
            <a:ext cx="2606040" cy="1371600"/>
          </a:xfrm>
          <a:prstGeom prst="roundRect">
            <a:avLst>
              <a:gd name="adj" fmla="val 6667"/>
            </a:avLst>
          </a:prstGeom>
          <a:solidFill>
            <a:srgbClr val="E6F2EC"/>
          </a:solidFill>
          <a:ln w="12700">
            <a:solidFill>
              <a:srgbClr val="E6F2EC"/>
            </a:solidFill>
            <a:prstDash val="solid"/>
          </a:ln>
        </p:spPr>
      </p:sp>
      <p:sp>
        <p:nvSpPr>
          <p:cNvPr id="12" name="Text 8"/>
          <p:cNvSpPr txBox="1"/>
          <p:nvPr/>
        </p:nvSpPr>
        <p:spPr>
          <a:xfrm>
            <a:off x="594360" y="2331720"/>
            <a:ext cx="2377440" cy="411480"/>
          </a:xfrm>
          <a:prstGeom prst="rect">
            <a:avLst/>
          </a:prstGeom>
          <a:noFill/>
          <a:ln/>
        </p:spPr>
        <p:txBody>
          <a:bodyPr wrap="square" lIns="0" tIns="0" rIns="0" bIns="0" rtlCol="0" anchor="t"/>
          <a:lstStyle/>
          <a:p>
            <a:pPr indent="0" marL="0">
              <a:buNone/>
            </a:pPr>
            <a:r>
              <a:rPr lang="en-US" sz="1300" b="1" dirty="0">
                <a:solidFill>
                  <a:srgbClr val="E53935"/>
                </a:solidFill>
                <a:latin typeface="Courier New" pitchFamily="34" charset="0"/>
                <a:ea typeface="Courier New" pitchFamily="34" charset="-122"/>
                <a:cs typeface="Courier New" pitchFamily="34" charset="-120"/>
              </a:rPr>
              <a:t>ReferenceError</a:t>
            </a:r>
            <a:endParaRPr lang="en-US" sz="1300" dirty="0"/>
          </a:p>
        </p:txBody>
      </p:sp>
      <p:sp>
        <p:nvSpPr>
          <p:cNvPr id="13" name="Text 9"/>
          <p:cNvSpPr txBox="1"/>
          <p:nvPr/>
        </p:nvSpPr>
        <p:spPr>
          <a:xfrm>
            <a:off x="594360" y="2743200"/>
            <a:ext cx="2377440" cy="77724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Jenis error: ada NAMA yang tidak dikenal</a:t>
            </a:r>
            <a:endParaRPr lang="en-US" sz="1250" dirty="0"/>
          </a:p>
        </p:txBody>
      </p:sp>
      <p:sp>
        <p:nvSpPr>
          <p:cNvPr id="14" name="Shape 10"/>
          <p:cNvSpPr/>
          <p:nvPr/>
        </p:nvSpPr>
        <p:spPr>
          <a:xfrm>
            <a:off x="3246120" y="2240280"/>
            <a:ext cx="2606040" cy="1371600"/>
          </a:xfrm>
          <a:prstGeom prst="roundRect">
            <a:avLst>
              <a:gd name="adj" fmla="val 6667"/>
            </a:avLst>
          </a:prstGeom>
          <a:solidFill>
            <a:srgbClr val="E6F2EC"/>
          </a:solidFill>
          <a:ln w="12700">
            <a:solidFill>
              <a:srgbClr val="E6F2EC"/>
            </a:solidFill>
            <a:prstDash val="solid"/>
          </a:ln>
        </p:spPr>
      </p:sp>
      <p:sp>
        <p:nvSpPr>
          <p:cNvPr id="15" name="Text 11"/>
          <p:cNvSpPr txBox="1"/>
          <p:nvPr/>
        </p:nvSpPr>
        <p:spPr>
          <a:xfrm>
            <a:off x="3383280" y="2331720"/>
            <a:ext cx="2377440" cy="411480"/>
          </a:xfrm>
          <a:prstGeom prst="rect">
            <a:avLst/>
          </a:prstGeom>
          <a:noFill/>
          <a:ln/>
        </p:spPr>
        <p:txBody>
          <a:bodyPr wrap="square" lIns="0" tIns="0" rIns="0" bIns="0" rtlCol="0" anchor="t"/>
          <a:lstStyle/>
          <a:p>
            <a:pPr indent="0" marL="0">
              <a:buNone/>
            </a:pPr>
            <a:r>
              <a:rPr lang="en-US" sz="1300" b="1" dirty="0">
                <a:solidFill>
                  <a:srgbClr val="0078D4"/>
                </a:solidFill>
                <a:latin typeface="Courier New" pitchFamily="34" charset="0"/>
                <a:ea typeface="Courier New" pitchFamily="34" charset="-122"/>
                <a:cs typeface="Courier New" pitchFamily="34" charset="-120"/>
              </a:rPr>
              <a:t>hitung is not defined</a:t>
            </a:r>
            <a:endParaRPr lang="en-US" sz="1300" dirty="0"/>
          </a:p>
        </p:txBody>
      </p:sp>
      <p:sp>
        <p:nvSpPr>
          <p:cNvPr id="16" name="Text 12"/>
          <p:cNvSpPr txBox="1"/>
          <p:nvPr/>
        </p:nvSpPr>
        <p:spPr>
          <a:xfrm>
            <a:off x="3383280" y="2743200"/>
            <a:ext cx="2377440" cy="77724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Nama hitung belum dibuat/didefinisikan (cek salah ketik)</a:t>
            </a:r>
            <a:endParaRPr lang="en-US" sz="1250" dirty="0"/>
          </a:p>
        </p:txBody>
      </p:sp>
      <p:sp>
        <p:nvSpPr>
          <p:cNvPr id="17" name="Shape 13"/>
          <p:cNvSpPr/>
          <p:nvPr/>
        </p:nvSpPr>
        <p:spPr>
          <a:xfrm>
            <a:off x="6035040" y="2240280"/>
            <a:ext cx="2606040" cy="1371600"/>
          </a:xfrm>
          <a:prstGeom prst="roundRect">
            <a:avLst>
              <a:gd name="adj" fmla="val 6667"/>
            </a:avLst>
          </a:prstGeom>
          <a:solidFill>
            <a:srgbClr val="E6F2EC"/>
          </a:solidFill>
          <a:ln w="12700">
            <a:solidFill>
              <a:srgbClr val="E6F2EC"/>
            </a:solidFill>
            <a:prstDash val="solid"/>
          </a:ln>
        </p:spPr>
      </p:sp>
      <p:sp>
        <p:nvSpPr>
          <p:cNvPr id="18" name="Text 14"/>
          <p:cNvSpPr txBox="1"/>
          <p:nvPr/>
        </p:nvSpPr>
        <p:spPr>
          <a:xfrm>
            <a:off x="6172200" y="2331720"/>
            <a:ext cx="2377440" cy="411480"/>
          </a:xfrm>
          <a:prstGeom prst="rect">
            <a:avLst/>
          </a:prstGeom>
          <a:noFill/>
          <a:ln/>
        </p:spPr>
        <p:txBody>
          <a:bodyPr wrap="square" lIns="0" tIns="0" rIns="0" bIns="0" rtlCol="0" anchor="t"/>
          <a:lstStyle/>
          <a:p>
            <a:pPr indent="0" marL="0">
              <a:buNone/>
            </a:pPr>
            <a:r>
              <a:rPr lang="en-US" sz="1300" b="1" dirty="0">
                <a:solidFill>
                  <a:srgbClr val="1F7A5C"/>
                </a:solidFill>
                <a:latin typeface="Courier New" pitchFamily="34" charset="0"/>
                <a:ea typeface="Courier New" pitchFamily="34" charset="-122"/>
                <a:cs typeface="Courier New" pitchFamily="34" charset="-120"/>
              </a:rPr>
              <a:t>index.html:28</a:t>
            </a:r>
            <a:endParaRPr lang="en-US" sz="1300" dirty="0"/>
          </a:p>
        </p:txBody>
      </p:sp>
      <p:sp>
        <p:nvSpPr>
          <p:cNvPr id="19" name="Text 15"/>
          <p:cNvSpPr txBox="1"/>
          <p:nvPr/>
        </p:nvSpPr>
        <p:spPr>
          <a:xfrm>
            <a:off x="6172200" y="2743200"/>
            <a:ext cx="2377440" cy="77724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Letak: file index.html, baris 28</a:t>
            </a:r>
            <a:endParaRPr lang="en-US" sz="1250" dirty="0"/>
          </a:p>
        </p:txBody>
      </p:sp>
      <p:sp>
        <p:nvSpPr>
          <p:cNvPr id="20" name="Shape 16"/>
          <p:cNvSpPr/>
          <p:nvPr/>
        </p:nvSpPr>
        <p:spPr>
          <a:xfrm>
            <a:off x="457200" y="3794760"/>
            <a:ext cx="8229600" cy="731520"/>
          </a:xfrm>
          <a:prstGeom prst="roundRect">
            <a:avLst>
              <a:gd name="adj" fmla="val 12500"/>
            </a:avLst>
          </a:prstGeom>
          <a:solidFill>
            <a:srgbClr val="FBF1D3"/>
          </a:solidFill>
          <a:ln w="12700">
            <a:solidFill>
              <a:srgbClr val="FBF1D3"/>
            </a:solidFill>
            <a:prstDash val="solid"/>
          </a:ln>
        </p:spPr>
      </p:sp>
      <p:sp>
        <p:nvSpPr>
          <p:cNvPr id="21" name="Text 17"/>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Pesan error bukan musuh, tetapi petunjuk: APA salahnya dan DI MANA letaknya.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Berburu Bug Pertama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Console</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Sengaja membuat bug JavaScript</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Bug HTML dan CSS</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Console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  ›  Proyek  ›  Kelas9  ›  Proyek_Kel3</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index.html</a:t>
            </a:r>
            <a:endParaRPr lang="en-US" sz="700" dirty="0"/>
          </a:p>
        </p:txBody>
      </p:sp>
      <p:sp>
        <p:nvSpPr>
          <p:cNvPr id="38" name="Shape 28"/>
          <p:cNvSpPr/>
          <p:nvPr/>
        </p:nvSpPr>
        <p:spPr>
          <a:xfrm>
            <a:off x="2760025" y="1839613"/>
            <a:ext cx="786384" cy="603504"/>
          </a:xfrm>
          <a:prstGeom prst="roundRect">
            <a:avLst>
              <a:gd name="adj" fmla="val 6061"/>
            </a:avLst>
          </a:prstGeom>
          <a:solidFill>
            <a:srgbClr val="CCE4F7"/>
          </a:solidFill>
          <a:ln w="12700">
            <a:solidFill>
              <a:srgbClr val="CCE4F7"/>
            </a:solidFill>
            <a:prstDash val="solid"/>
          </a:ln>
        </p:spPr>
      </p:sp>
      <p:pic>
        <p:nvPicPr>
          <p:cNvPr id="39"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index_latihan.html</a:t>
            </a:r>
            <a:endParaRPr lang="en-US" sz="700" dirty="0"/>
          </a:p>
        </p:txBody>
      </p:sp>
      <p:sp>
        <p:nvSpPr>
          <p:cNvPr id="41" name="Shape 30"/>
          <p:cNvSpPr/>
          <p:nvPr/>
        </p:nvSpPr>
        <p:spPr>
          <a:xfrm>
            <a:off x="272344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2" name="Shape 31"/>
          <p:cNvSpPr/>
          <p:nvPr/>
        </p:nvSpPr>
        <p:spPr>
          <a:xfrm>
            <a:off x="3445825" y="1665877"/>
            <a:ext cx="274320" cy="274320"/>
          </a:xfrm>
          <a:prstGeom prst="ellipse">
            <a:avLst/>
          </a:prstGeom>
          <a:solidFill>
            <a:srgbClr val="E53935"/>
          </a:solidFill>
          <a:ln w="12700">
            <a:solidFill>
              <a:srgbClr val="FFFFFF"/>
            </a:solidFill>
            <a:prstDash val="solid"/>
          </a:ln>
        </p:spPr>
      </p:sp>
      <p:sp>
        <p:nvSpPr>
          <p:cNvPr id="43" name="Text 32"/>
          <p:cNvSpPr txBox="1"/>
          <p:nvPr/>
        </p:nvSpPr>
        <p:spPr>
          <a:xfrm>
            <a:off x="344582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4" name="Image 9" descr="preencoded.png">    </p:cNvPr>
          <p:cNvPicPr>
            <a:picLocks noChangeAspect="1"/>
          </p:cNvPicPr>
          <p:nvPr/>
        </p:nvPicPr>
        <p:blipFill>
          <a:blip r:embed="rId10"/>
          <a:stretch>
            <a:fillRect/>
          </a:stretch>
        </p:blipFill>
        <p:spPr>
          <a:xfrm>
            <a:off x="3192536" y="2171540"/>
            <a:ext cx="237744" cy="237744"/>
          </a:xfrm>
          <a:prstGeom prst="rect">
            <a:avLst/>
          </a:prstGeom>
        </p:spPr>
      </p:pic>
      <p:sp>
        <p:nvSpPr>
          <p:cNvPr id="45"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6"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Salin file proyek untuk latihan</a:t>
            </a:r>
            <a:endParaRPr lang="en-US" sz="1800" dirty="0"/>
          </a:p>
        </p:txBody>
      </p:sp>
      <p:sp>
        <p:nvSpPr>
          <p:cNvPr id="47"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folder proyek, salin index.html (Ctrl+C, Ctrl+V), ganti nama menjadi index_latihan.html. Kita merusak salinan, bukan aslinya.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Console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file:///C:/.../Proyek_Kel3/index_latihan.html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 Ini</a:t>
            </a:r>
            <a:endParaRPr lang="en-US" sz="1100" dirty="0"/>
          </a:p>
        </p:txBody>
      </p:sp>
      <p:sp>
        <p:nvSpPr>
          <p:cNvPr id="32" name="Shape 25"/>
          <p:cNvSpPr/>
          <p:nvPr/>
        </p:nvSpPr>
        <p:spPr>
          <a:xfrm>
            <a:off x="3554675" y="1695965"/>
            <a:ext cx="1965741" cy="2281131"/>
          </a:xfrm>
          <a:prstGeom prst="rect">
            <a:avLst/>
          </a:prstGeom>
          <a:solidFill>
            <a:srgbClr val="FFFFFF"/>
          </a:solidFill>
          <a:ln w="6350">
            <a:solidFill>
              <a:srgbClr val="CCCCCC"/>
            </a:solidFill>
            <a:prstDash val="solid"/>
          </a:ln>
        </p:spPr>
      </p:sp>
      <p:sp>
        <p:nvSpPr>
          <p:cNvPr id="33" name="Shape 26"/>
          <p:cNvSpPr/>
          <p:nvPr/>
        </p:nvSpPr>
        <p:spPr>
          <a:xfrm>
            <a:off x="3554675" y="1695965"/>
            <a:ext cx="1965741" cy="182880"/>
          </a:xfrm>
          <a:prstGeom prst="rect">
            <a:avLst/>
          </a:prstGeom>
          <a:solidFill>
            <a:srgbClr val="F1F3F4"/>
          </a:solidFill>
          <a:ln w="12700">
            <a:solidFill>
              <a:srgbClr val="F1F3F4"/>
            </a:solidFill>
            <a:prstDash val="solid"/>
          </a:ln>
        </p:spPr>
      </p:sp>
      <p:sp>
        <p:nvSpPr>
          <p:cNvPr id="34" name="Text 27"/>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35" name="Shape 28"/>
          <p:cNvSpPr/>
          <p:nvPr/>
        </p:nvSpPr>
        <p:spPr>
          <a:xfrm>
            <a:off x="4121603" y="1851413"/>
            <a:ext cx="365760" cy="22860"/>
          </a:xfrm>
          <a:prstGeom prst="rect">
            <a:avLst/>
          </a:prstGeom>
          <a:solidFill>
            <a:srgbClr val="1A73E8"/>
          </a:solidFill>
          <a:ln w="12700">
            <a:solidFill>
              <a:srgbClr val="1A73E8"/>
            </a:solidFill>
            <a:prstDash val="solid"/>
          </a:ln>
        </p:spPr>
      </p:sp>
      <p:sp>
        <p:nvSpPr>
          <p:cNvPr id="36" name="Text 29"/>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(kosong, tidak ada error)</a:t>
            </a:r>
            <a:endParaRPr lang="en-US" sz="600" dirty="0"/>
          </a:p>
        </p:txBody>
      </p:sp>
      <p:sp>
        <p:nvSpPr>
          <p:cNvPr id="37" name="Shape 30"/>
          <p:cNvSpPr/>
          <p:nvPr/>
        </p:nvSpPr>
        <p:spPr>
          <a:xfrm>
            <a:off x="4030163" y="1668533"/>
            <a:ext cx="512064" cy="237744"/>
          </a:xfrm>
          <a:prstGeom prst="roundRect">
            <a:avLst>
              <a:gd name="adj" fmla="val 19231"/>
            </a:avLst>
          </a:prstGeom>
          <a:solidFill>
            <a:srgbClr val="FFFFFF">
              <a:alpha val="0"/>
            </a:srgbClr>
          </a:solidFill>
          <a:ln w="31750">
            <a:solidFill>
              <a:srgbClr val="E53935"/>
            </a:solidFill>
            <a:prstDash val="solid"/>
          </a:ln>
        </p:spPr>
      </p:sp>
      <p:sp>
        <p:nvSpPr>
          <p:cNvPr id="38" name="Shape 31"/>
          <p:cNvSpPr/>
          <p:nvPr/>
        </p:nvSpPr>
        <p:spPr>
          <a:xfrm>
            <a:off x="4405067" y="1531373"/>
            <a:ext cx="274320" cy="274320"/>
          </a:xfrm>
          <a:prstGeom prst="ellipse">
            <a:avLst/>
          </a:prstGeom>
          <a:solidFill>
            <a:srgbClr val="E53935"/>
          </a:solidFill>
          <a:ln w="12700">
            <a:solidFill>
              <a:srgbClr val="FFFFFF"/>
            </a:solidFill>
            <a:prstDash val="solid"/>
          </a:ln>
        </p:spPr>
      </p:sp>
      <p:sp>
        <p:nvSpPr>
          <p:cNvPr id="39" name="Text 32"/>
          <p:cNvSpPr txBox="1"/>
          <p:nvPr/>
        </p:nvSpPr>
        <p:spPr>
          <a:xfrm>
            <a:off x="4405067" y="15313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0" name="Image 5" descr="preencoded.png">    </p:cNvPr>
          <p:cNvPicPr>
            <a:picLocks noChangeAspect="1"/>
          </p:cNvPicPr>
          <p:nvPr/>
        </p:nvPicPr>
        <p:blipFill>
          <a:blip r:embed="rId6"/>
          <a:stretch>
            <a:fillRect/>
          </a:stretch>
        </p:blipFill>
        <p:spPr>
          <a:xfrm>
            <a:off x="4309055" y="1796549"/>
            <a:ext cx="237744" cy="237744"/>
          </a:xfrm>
          <a:prstGeom prst="rect">
            <a:avLst/>
          </a:prstGeom>
        </p:spPr>
      </p:pic>
      <p:sp>
        <p:nvSpPr>
          <p:cNvPr id="41"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2"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di browser, tekan F12 › Console</a:t>
            </a:r>
            <a:endParaRPr lang="en-US" sz="1800" dirty="0"/>
          </a:p>
        </p:txBody>
      </p:sp>
      <p:sp>
        <p:nvSpPr>
          <p:cNvPr id="43"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index_latihan.html. Tekan F12. Klik tab Console. Jika kosong, berarti belum ada error JavaScript.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JavaScript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index_latihan.html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&lt;button onclick="sudahSetor()"&gt;</a:t>
            </a:r>
            <a:pPr indent="0" marL="0">
              <a:buNone/>
            </a:pPr>
            <a:r>
              <a:rPr lang="en-US" sz="900" dirty="0">
                <a:solidFill>
                  <a:srgbClr val="222222"/>
                </a:solidFill>
                <a:latin typeface="Courier New" pitchFamily="34" charset="0"/>
                <a:ea typeface="Courier New" pitchFamily="34" charset="-122"/>
                <a:cs typeface="Courier New" pitchFamily="34" charset="-120"/>
              </a:rPr>
              <a:t>Sudah Setor</a:t>
            </a:r>
            <a:pPr indent="0" marL="0">
              <a:buNone/>
            </a:pPr>
            <a:r>
              <a:rPr lang="en-US" sz="900" dirty="0">
                <a:solidFill>
                  <a:srgbClr val="1A5FB4"/>
                </a:solidFill>
                <a:latin typeface="Courier New" pitchFamily="34" charset="0"/>
                <a:ea typeface="Courier New" pitchFamily="34" charset="-122"/>
                <a:cs typeface="Courier New" pitchFamily="34" charset="-120"/>
              </a:rPr>
              <a:t>&lt;/button&gt;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&lt;script&gt;</a:t>
            </a:r>
            <a:endParaRPr lang="en-US" sz="900" dirty="0"/>
          </a:p>
        </p:txBody>
      </p:sp>
      <p:sp>
        <p:nvSpPr>
          <p:cNvPr id="29" name="Shape 25"/>
          <p:cNvSpPr/>
          <p:nvPr/>
        </p:nvSpPr>
        <p:spPr>
          <a:xfrm>
            <a:off x="913668" y="2009024"/>
            <a:ext cx="4555175" cy="173736"/>
          </a:xfrm>
          <a:prstGeom prst="rect">
            <a:avLst/>
          </a:prstGeom>
          <a:solidFill>
            <a:srgbClr val="FDECEA"/>
          </a:solidFill>
          <a:ln w="12700">
            <a:solidFill>
              <a:srgbClr val="FDECEA"/>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function sudahSetr() {</a:t>
            </a:r>
            <a:endParaRPr lang="en-US" sz="900" dirty="0"/>
          </a:p>
        </p:txBody>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document.getElementById("pesan")</a:t>
            </a:r>
            <a:endParaRPr lang="en-US" sz="900" dirty="0"/>
          </a:p>
        </p:txBody>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.textContent = "Alhamdulillah!";</a:t>
            </a:r>
            <a:endParaRPr lang="en-US" sz="900" dirty="0"/>
          </a:p>
        </p:txBody>
      </p:sp>
      <p:sp>
        <p:nvSpPr>
          <p:cNvPr id="36" name="Text 32"/>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7" name="Text 33"/>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38" name="Text 34"/>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9" name="Text 35"/>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&lt;/script&gt;</a:t>
            </a:r>
            <a:endParaRPr lang="en-US" sz="900" dirty="0"/>
          </a:p>
        </p:txBody>
      </p:sp>
      <p:sp>
        <p:nvSpPr>
          <p:cNvPr id="40" name="Shape 36"/>
          <p:cNvSpPr/>
          <p:nvPr/>
        </p:nvSpPr>
        <p:spPr>
          <a:xfrm>
            <a:off x="913668" y="1990736"/>
            <a:ext cx="4555175" cy="210312"/>
          </a:xfrm>
          <a:prstGeom prst="roundRect">
            <a:avLst>
              <a:gd name="adj" fmla="val 21739"/>
            </a:avLst>
          </a:prstGeom>
          <a:solidFill>
            <a:srgbClr val="FFFFFF">
              <a:alpha val="0"/>
            </a:srgbClr>
          </a:solidFill>
          <a:ln w="31750">
            <a:solidFill>
              <a:srgbClr val="E53935"/>
            </a:solidFill>
            <a:prstDash val="solid"/>
          </a:ln>
        </p:spPr>
      </p:sp>
      <p:sp>
        <p:nvSpPr>
          <p:cNvPr id="41" name="Shape 37"/>
          <p:cNvSpPr/>
          <p:nvPr/>
        </p:nvSpPr>
        <p:spPr>
          <a:xfrm>
            <a:off x="5331684" y="1853576"/>
            <a:ext cx="274320" cy="274320"/>
          </a:xfrm>
          <a:prstGeom prst="ellipse">
            <a:avLst/>
          </a:prstGeom>
          <a:solidFill>
            <a:srgbClr val="E53935"/>
          </a:solidFill>
          <a:ln w="12700">
            <a:solidFill>
              <a:srgbClr val="FFFFFF"/>
            </a:solidFill>
            <a:prstDash val="solid"/>
          </a:ln>
        </p:spPr>
      </p:sp>
      <p:sp>
        <p:nvSpPr>
          <p:cNvPr id="42" name="Text 38"/>
          <p:cNvSpPr txBox="1"/>
          <p:nvPr/>
        </p:nvSpPr>
        <p:spPr>
          <a:xfrm>
            <a:off x="5331684" y="1853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2" descr="preencoded.png">    </p:cNvPr>
          <p:cNvPicPr>
            <a:picLocks noChangeAspect="1"/>
          </p:cNvPicPr>
          <p:nvPr/>
        </p:nvPicPr>
        <p:blipFill>
          <a:blip r:embed="rId3"/>
          <a:stretch>
            <a:fillRect/>
          </a:stretch>
        </p:blipFill>
        <p:spPr>
          <a:xfrm>
            <a:off x="3417186" y="2104578"/>
            <a:ext cx="237744" cy="237744"/>
          </a:xfrm>
          <a:prstGeom prst="rect">
            <a:avLst/>
          </a:prstGeom>
        </p:spPr>
      </p:pic>
      <p:sp>
        <p:nvSpPr>
          <p:cNvPr id="44"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Sengaja salah ketik nama fungsi</a:t>
            </a:r>
            <a:endParaRPr lang="en-US" sz="1800" dirty="0"/>
          </a:p>
        </p:txBody>
      </p:sp>
      <p:sp>
        <p:nvSpPr>
          <p:cNvPr id="46"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Notepad, ubah function sudahSetor() menjadi function sudahSetr(). Simpan, refresh, klik tombol.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JavaScript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file:///C:/.../Proyek_Kel3/index_latihan.html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 Ini</a:t>
            </a:r>
            <a:endParaRPr lang="en-US" sz="1100" dirty="0"/>
          </a:p>
        </p:txBody>
      </p:sp>
      <p:sp>
        <p:nvSpPr>
          <p:cNvPr id="32" name="Shape 25"/>
          <p:cNvSpPr/>
          <p:nvPr/>
        </p:nvSpPr>
        <p:spPr>
          <a:xfrm>
            <a:off x="3554675" y="1695965"/>
            <a:ext cx="1965741" cy="2281131"/>
          </a:xfrm>
          <a:prstGeom prst="rect">
            <a:avLst/>
          </a:prstGeom>
          <a:solidFill>
            <a:srgbClr val="FFFFFF"/>
          </a:solidFill>
          <a:ln w="6350">
            <a:solidFill>
              <a:srgbClr val="CCCCCC"/>
            </a:solidFill>
            <a:prstDash val="solid"/>
          </a:ln>
        </p:spPr>
      </p:sp>
      <p:sp>
        <p:nvSpPr>
          <p:cNvPr id="33" name="Shape 26"/>
          <p:cNvSpPr/>
          <p:nvPr/>
        </p:nvSpPr>
        <p:spPr>
          <a:xfrm>
            <a:off x="3554675" y="1695965"/>
            <a:ext cx="1965741" cy="182880"/>
          </a:xfrm>
          <a:prstGeom prst="rect">
            <a:avLst/>
          </a:prstGeom>
          <a:solidFill>
            <a:srgbClr val="F1F3F4"/>
          </a:solidFill>
          <a:ln w="12700">
            <a:solidFill>
              <a:srgbClr val="F1F3F4"/>
            </a:solidFill>
            <a:prstDash val="solid"/>
          </a:ln>
        </p:spPr>
      </p:sp>
      <p:sp>
        <p:nvSpPr>
          <p:cNvPr id="34" name="Text 27"/>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35" name="Shape 28"/>
          <p:cNvSpPr/>
          <p:nvPr/>
        </p:nvSpPr>
        <p:spPr>
          <a:xfrm>
            <a:off x="4121603" y="1851413"/>
            <a:ext cx="365760" cy="22860"/>
          </a:xfrm>
          <a:prstGeom prst="rect">
            <a:avLst/>
          </a:prstGeom>
          <a:solidFill>
            <a:srgbClr val="1A73E8"/>
          </a:solidFill>
          <a:ln w="12700">
            <a:solidFill>
              <a:srgbClr val="1A73E8"/>
            </a:solidFill>
            <a:prstDash val="solid"/>
          </a:ln>
        </p:spPr>
      </p:sp>
      <p:sp>
        <p:nvSpPr>
          <p:cNvPr id="36" name="Shape 29"/>
          <p:cNvSpPr/>
          <p:nvPr/>
        </p:nvSpPr>
        <p:spPr>
          <a:xfrm>
            <a:off x="3554675" y="1924565"/>
            <a:ext cx="1965741" cy="201168"/>
          </a:xfrm>
          <a:prstGeom prst="rect">
            <a:avLst/>
          </a:prstGeom>
          <a:solidFill>
            <a:srgbClr val="FCE8E6"/>
          </a:solidFill>
          <a:ln w="12700">
            <a:solidFill>
              <a:srgbClr val="FCE8E6"/>
            </a:solidFill>
            <a:prstDash val="solid"/>
          </a:ln>
        </p:spPr>
      </p:sp>
      <p:sp>
        <p:nvSpPr>
          <p:cNvPr id="37" name="Text 30"/>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Uncaught ReferenceError:</a:t>
            </a:r>
            <a:endParaRPr lang="en-US" sz="600" dirty="0"/>
          </a:p>
        </p:txBody>
      </p:sp>
      <p:sp>
        <p:nvSpPr>
          <p:cNvPr id="38" name="Shape 31"/>
          <p:cNvSpPr/>
          <p:nvPr/>
        </p:nvSpPr>
        <p:spPr>
          <a:xfrm>
            <a:off x="3554675" y="2144021"/>
            <a:ext cx="1965741" cy="201168"/>
          </a:xfrm>
          <a:prstGeom prst="rect">
            <a:avLst/>
          </a:prstGeom>
          <a:solidFill>
            <a:srgbClr val="FCE8E6"/>
          </a:solidFill>
          <a:ln w="12700">
            <a:solidFill>
              <a:srgbClr val="FCE8E6"/>
            </a:solidFill>
            <a:prstDash val="solid"/>
          </a:ln>
        </p:spPr>
      </p:sp>
      <p:sp>
        <p:nvSpPr>
          <p:cNvPr id="39" name="Text 32"/>
          <p:cNvSpPr txBox="1"/>
          <p:nvPr/>
        </p:nvSpPr>
        <p:spPr>
          <a:xfrm>
            <a:off x="3600395" y="2144021"/>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sudahSetor is not defined</a:t>
            </a:r>
            <a:endParaRPr lang="en-US" sz="600" dirty="0"/>
          </a:p>
        </p:txBody>
      </p:sp>
      <p:sp>
        <p:nvSpPr>
          <p:cNvPr id="40" name="Text 33"/>
          <p:cNvSpPr txBox="1"/>
          <p:nvPr/>
        </p:nvSpPr>
        <p:spPr>
          <a:xfrm>
            <a:off x="3600395" y="2363477"/>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   index_latihan.html:24</a:t>
            </a:r>
            <a:endParaRPr lang="en-US" sz="600" dirty="0"/>
          </a:p>
        </p:txBody>
      </p:sp>
      <p:sp>
        <p:nvSpPr>
          <p:cNvPr id="41" name="Shape 34"/>
          <p:cNvSpPr/>
          <p:nvPr/>
        </p:nvSpPr>
        <p:spPr>
          <a:xfrm>
            <a:off x="3536387" y="1906277"/>
            <a:ext cx="2002317" cy="676656"/>
          </a:xfrm>
          <a:prstGeom prst="roundRect">
            <a:avLst>
              <a:gd name="adj" fmla="val 6757"/>
            </a:avLst>
          </a:prstGeom>
          <a:solidFill>
            <a:srgbClr val="FFFFFF">
              <a:alpha val="0"/>
            </a:srgbClr>
          </a:solidFill>
          <a:ln w="31750">
            <a:solidFill>
              <a:srgbClr val="E53935"/>
            </a:solidFill>
            <a:prstDash val="solid"/>
          </a:ln>
        </p:spPr>
      </p:sp>
      <p:sp>
        <p:nvSpPr>
          <p:cNvPr id="42" name="Shape 35"/>
          <p:cNvSpPr/>
          <p:nvPr/>
        </p:nvSpPr>
        <p:spPr>
          <a:xfrm>
            <a:off x="5401544" y="1769117"/>
            <a:ext cx="274320" cy="274320"/>
          </a:xfrm>
          <a:prstGeom prst="ellipse">
            <a:avLst/>
          </a:prstGeom>
          <a:solidFill>
            <a:srgbClr val="E53935"/>
          </a:solidFill>
          <a:ln w="12700">
            <a:solidFill>
              <a:srgbClr val="FFFFFF"/>
            </a:solidFill>
            <a:prstDash val="solid"/>
          </a:ln>
        </p:spPr>
      </p:sp>
      <p:sp>
        <p:nvSpPr>
          <p:cNvPr id="43" name="Text 36"/>
          <p:cNvSpPr txBox="1"/>
          <p:nvPr/>
        </p:nvSpPr>
        <p:spPr>
          <a:xfrm>
            <a:off x="5401544" y="1769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4" name="Image 5" descr="preencoded.png">    </p:cNvPr>
          <p:cNvPicPr>
            <a:picLocks noChangeAspect="1"/>
          </p:cNvPicPr>
          <p:nvPr/>
        </p:nvPicPr>
        <p:blipFill>
          <a:blip r:embed="rId6"/>
          <a:stretch>
            <a:fillRect/>
          </a:stretch>
        </p:blipFill>
        <p:spPr>
          <a:xfrm>
            <a:off x="4635832" y="2276609"/>
            <a:ext cx="237744" cy="237744"/>
          </a:xfrm>
          <a:prstGeom prst="rect">
            <a:avLst/>
          </a:prstGeom>
        </p:spPr>
      </p:pic>
      <p:sp>
        <p:nvSpPr>
          <p:cNvPr id="45"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6"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error di Console, perbaiki</a:t>
            </a:r>
            <a:endParaRPr lang="en-US" sz="1800" dirty="0"/>
          </a:p>
        </p:txBody>
      </p:sp>
      <p:sp>
        <p:nvSpPr>
          <p:cNvPr id="47"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Console menampilkan ReferenceError: sudahSetor is not defined. Klik nama file di kanan untuk melihat barisnya. Kembalikan nama fungsi, uji lagi.</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HTML &amp; CSS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file:///C:/.../Proyek_Kel3/index_latihan.html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 Ini</a:t>
            </a:r>
            <a:endParaRPr lang="en-US" sz="1100" dirty="0"/>
          </a:p>
        </p:txBody>
      </p:sp>
      <p:sp>
        <p:nvSpPr>
          <p:cNvPr id="32" name="Text 25"/>
          <p:cNvSpPr txBox="1"/>
          <p:nvPr/>
        </p:nvSpPr>
        <p:spPr>
          <a:xfrm>
            <a:off x="743224" y="2244605"/>
            <a:ext cx="2457176" cy="731520"/>
          </a:xfrm>
          <a:prstGeom prst="rect">
            <a:avLst/>
          </a:prstGeom>
          <a:noFill/>
          <a:ln/>
        </p:spPr>
        <p:txBody>
          <a:bodyPr wrap="square" lIns="0" tIns="0" rIns="0" bIns="0" rtlCol="0" anchor="t"/>
          <a:lstStyle/>
          <a:p>
            <a:pPr indent="0" marL="0">
              <a:buNone/>
            </a:pPr>
            <a:r>
              <a:rPr lang="en-US" sz="1500" b="1" dirty="0">
                <a:solidFill>
                  <a:srgbClr val="1E2A26"/>
                </a:solidFill>
                <a:latin typeface="Arial" pitchFamily="34" charset="0"/>
                <a:ea typeface="Arial" pitchFamily="34" charset="-122"/>
                <a:cs typeface="Arial" pitchFamily="34" charset="-120"/>
              </a:rPr>
              <a:t>Target: An-Naba ayat 1–20</a:t>
            </a:r>
            <a:endParaRPr lang="en-US" sz="1500" dirty="0"/>
          </a:p>
          <a:p>
            <a:pPr indent="0" marL="0">
              <a:buNone/>
            </a:pPr>
            <a:r>
              <a:rPr lang="en-US" sz="1500" b="1" dirty="0">
                <a:solidFill>
                  <a:srgbClr val="1E2A26"/>
                </a:solidFill>
                <a:latin typeface="Arial" pitchFamily="34" charset="0"/>
                <a:ea typeface="Arial" pitchFamily="34" charset="-122"/>
                <a:cs typeface="Arial" pitchFamily="34" charset="-120"/>
              </a:rPr>
              <a:t>Belum setor hari ini.</a:t>
            </a:r>
            <a:endParaRPr lang="en-US" sz="1500" dirty="0"/>
          </a:p>
        </p:txBody>
      </p:sp>
      <p:sp>
        <p:nvSpPr>
          <p:cNvPr id="33" name="Shape 26"/>
          <p:cNvSpPr/>
          <p:nvPr/>
        </p:nvSpPr>
        <p:spPr>
          <a:xfrm>
            <a:off x="3554675" y="1695965"/>
            <a:ext cx="1965741" cy="2281131"/>
          </a:xfrm>
          <a:prstGeom prst="rect">
            <a:avLst/>
          </a:prstGeom>
          <a:solidFill>
            <a:srgbClr val="FFFFFF"/>
          </a:solidFill>
          <a:ln w="6350">
            <a:solidFill>
              <a:srgbClr val="CCCCCC"/>
            </a:solidFill>
            <a:prstDash val="solid"/>
          </a:ln>
        </p:spPr>
      </p:sp>
      <p:sp>
        <p:nvSpPr>
          <p:cNvPr id="34" name="Shape 27"/>
          <p:cNvSpPr/>
          <p:nvPr/>
        </p:nvSpPr>
        <p:spPr>
          <a:xfrm>
            <a:off x="3554675" y="1695965"/>
            <a:ext cx="1965741" cy="182880"/>
          </a:xfrm>
          <a:prstGeom prst="rect">
            <a:avLst/>
          </a:prstGeom>
          <a:solidFill>
            <a:srgbClr val="F1F3F4"/>
          </a:solidFill>
          <a:ln w="12700">
            <a:solidFill>
              <a:srgbClr val="F1F3F4"/>
            </a:solidFill>
            <a:prstDash val="solid"/>
          </a:ln>
        </p:spPr>
      </p:sp>
      <p:sp>
        <p:nvSpPr>
          <p:cNvPr id="35" name="Text 28"/>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36" name="Shape 29"/>
          <p:cNvSpPr/>
          <p:nvPr/>
        </p:nvSpPr>
        <p:spPr>
          <a:xfrm>
            <a:off x="4121603" y="1851413"/>
            <a:ext cx="365760" cy="22860"/>
          </a:xfrm>
          <a:prstGeom prst="rect">
            <a:avLst/>
          </a:prstGeom>
          <a:solidFill>
            <a:srgbClr val="1A73E8"/>
          </a:solidFill>
          <a:ln w="12700">
            <a:solidFill>
              <a:srgbClr val="1A73E8"/>
            </a:solidFill>
            <a:prstDash val="solid"/>
          </a:ln>
        </p:spPr>
      </p:sp>
      <p:sp>
        <p:nvSpPr>
          <p:cNvPr id="37" name="Text 30"/>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(kosong)</a:t>
            </a:r>
            <a:endParaRPr lang="en-US" sz="600" dirty="0"/>
          </a:p>
        </p:txBody>
      </p:sp>
      <p:sp>
        <p:nvSpPr>
          <p:cNvPr id="38" name="Shape 31"/>
          <p:cNvSpPr/>
          <p:nvPr/>
        </p:nvSpPr>
        <p:spPr>
          <a:xfrm>
            <a:off x="679216" y="2180597"/>
            <a:ext cx="2493752" cy="859536"/>
          </a:xfrm>
          <a:prstGeom prst="roundRect">
            <a:avLst>
              <a:gd name="adj" fmla="val 5319"/>
            </a:avLst>
          </a:prstGeom>
          <a:solidFill>
            <a:srgbClr val="FFFFFF">
              <a:alpha val="0"/>
            </a:srgbClr>
          </a:solidFill>
          <a:ln w="31750">
            <a:solidFill>
              <a:srgbClr val="E53935"/>
            </a:solidFill>
            <a:prstDash val="solid"/>
          </a:ln>
        </p:spPr>
      </p:sp>
      <p:sp>
        <p:nvSpPr>
          <p:cNvPr id="39" name="Shape 32"/>
          <p:cNvSpPr/>
          <p:nvPr/>
        </p:nvSpPr>
        <p:spPr>
          <a:xfrm>
            <a:off x="3035808" y="2043437"/>
            <a:ext cx="274320" cy="274320"/>
          </a:xfrm>
          <a:prstGeom prst="ellipse">
            <a:avLst/>
          </a:prstGeom>
          <a:solidFill>
            <a:srgbClr val="E53935"/>
          </a:solidFill>
          <a:ln w="12700">
            <a:solidFill>
              <a:srgbClr val="FFFFFF"/>
            </a:solidFill>
            <a:prstDash val="solid"/>
          </a:ln>
        </p:spPr>
      </p:sp>
      <p:sp>
        <p:nvSpPr>
          <p:cNvPr id="40" name="Text 33"/>
          <p:cNvSpPr txBox="1"/>
          <p:nvPr/>
        </p:nvSpPr>
        <p:spPr>
          <a:xfrm>
            <a:off x="3035808" y="20434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1" name="Image 5" descr="preencoded.png">    </p:cNvPr>
          <p:cNvPicPr>
            <a:picLocks noChangeAspect="1"/>
          </p:cNvPicPr>
          <p:nvPr/>
        </p:nvPicPr>
        <p:blipFill>
          <a:blip r:embed="rId6"/>
          <a:stretch>
            <a:fillRect/>
          </a:stretch>
        </p:blipFill>
        <p:spPr>
          <a:xfrm>
            <a:off x="2048951" y="2651513"/>
            <a:ext cx="237744" cy="237744"/>
          </a:xfrm>
          <a:prstGeom prst="rect">
            <a:avLst/>
          </a:prstGeom>
        </p:spPr>
      </p:pic>
      <p:sp>
        <p:nvSpPr>
          <p:cNvPr id="42"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3"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Bug HTML: hapus satu tag penutup</a:t>
            </a:r>
            <a:endParaRPr lang="en-US" sz="1800" dirty="0"/>
          </a:p>
        </p:txBody>
      </p:sp>
      <p:sp>
        <p:nvSpPr>
          <p:cNvPr id="44"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Hapus &lt;/h1&gt;. Simpan, refresh. Amati: tidak ada pesan di Console, tetapi tampilan berantakan. Kembalikan.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HTML &amp; CSS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Catatan_Debugging_Kel3 -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Catatan_Debugging_Kel3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Catatan Bug Latihan</a:t>
            </a:r>
            <a:endParaRPr lang="en-US" sz="1100" dirty="0"/>
          </a:p>
        </p:txBody>
      </p:sp>
      <p:sp>
        <p:nvSpPr>
          <p:cNvPr id="70" name="Shape 59"/>
          <p:cNvSpPr/>
          <p:nvPr/>
        </p:nvSpPr>
        <p:spPr>
          <a:xfrm>
            <a:off x="1554480" y="2876938"/>
            <a:ext cx="75438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Jenis</a:t>
            </a:r>
            <a:endParaRPr lang="en-US" sz="650" dirty="0"/>
          </a:p>
        </p:txBody>
      </p:sp>
      <p:sp>
        <p:nvSpPr>
          <p:cNvPr id="72" name="Shape 61"/>
          <p:cNvSpPr/>
          <p:nvPr/>
        </p:nvSpPr>
        <p:spPr>
          <a:xfrm>
            <a:off x="2308860" y="2876938"/>
            <a:ext cx="754380" cy="182880"/>
          </a:xfrm>
          <a:prstGeom prst="rect">
            <a:avLst/>
          </a:prstGeom>
          <a:solidFill>
            <a:srgbClr val="D9EAD3"/>
          </a:solidFill>
          <a:ln w="6350">
            <a:solidFill>
              <a:srgbClr val="777777"/>
            </a:solidFill>
            <a:prstDash val="solid"/>
          </a:ln>
        </p:spPr>
      </p:sp>
      <p:sp>
        <p:nvSpPr>
          <p:cNvPr id="73" name="Text 62"/>
          <p:cNvSpPr txBox="1"/>
          <p:nvPr/>
        </p:nvSpPr>
        <p:spPr>
          <a:xfrm>
            <a:off x="233629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Gejala</a:t>
            </a:r>
            <a:endParaRPr lang="en-US" sz="650" dirty="0"/>
          </a:p>
        </p:txBody>
      </p:sp>
      <p:sp>
        <p:nvSpPr>
          <p:cNvPr id="74" name="Shape 63"/>
          <p:cNvSpPr/>
          <p:nvPr/>
        </p:nvSpPr>
        <p:spPr>
          <a:xfrm>
            <a:off x="3063240" y="2876938"/>
            <a:ext cx="754380" cy="182880"/>
          </a:xfrm>
          <a:prstGeom prst="rect">
            <a:avLst/>
          </a:prstGeom>
          <a:solidFill>
            <a:srgbClr val="D9EAD3"/>
          </a:solidFill>
          <a:ln w="6350">
            <a:solidFill>
              <a:srgbClr val="777777"/>
            </a:solidFill>
            <a:prstDash val="solid"/>
          </a:ln>
        </p:spPr>
      </p:sp>
      <p:sp>
        <p:nvSpPr>
          <p:cNvPr id="75" name="Text 64"/>
          <p:cNvSpPr txBox="1"/>
          <p:nvPr/>
        </p:nvSpPr>
        <p:spPr>
          <a:xfrm>
            <a:off x="309067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Pesan Console</a:t>
            </a:r>
            <a:endParaRPr lang="en-US" sz="650" dirty="0"/>
          </a:p>
        </p:txBody>
      </p:sp>
      <p:sp>
        <p:nvSpPr>
          <p:cNvPr id="76" name="Shape 65"/>
          <p:cNvSpPr/>
          <p:nvPr/>
        </p:nvSpPr>
        <p:spPr>
          <a:xfrm>
            <a:off x="3817620" y="2876938"/>
            <a:ext cx="754380" cy="182880"/>
          </a:xfrm>
          <a:prstGeom prst="rect">
            <a:avLst/>
          </a:prstGeom>
          <a:solidFill>
            <a:srgbClr val="D9EAD3"/>
          </a:solidFill>
          <a:ln w="6350">
            <a:solidFill>
              <a:srgbClr val="777777"/>
            </a:solidFill>
            <a:prstDash val="solid"/>
          </a:ln>
        </p:spPr>
      </p:sp>
      <p:sp>
        <p:nvSpPr>
          <p:cNvPr id="77" name="Text 66"/>
          <p:cNvSpPr txBox="1"/>
          <p:nvPr/>
        </p:nvSpPr>
        <p:spPr>
          <a:xfrm>
            <a:off x="384505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Perbaikan</a:t>
            </a:r>
            <a:endParaRPr lang="en-US" sz="650" dirty="0"/>
          </a:p>
        </p:txBody>
      </p:sp>
      <p:sp>
        <p:nvSpPr>
          <p:cNvPr id="78" name="Shape 67"/>
          <p:cNvSpPr/>
          <p:nvPr/>
        </p:nvSpPr>
        <p:spPr>
          <a:xfrm>
            <a:off x="1554480" y="3059818"/>
            <a:ext cx="754380" cy="182880"/>
          </a:xfrm>
          <a:prstGeom prst="rect">
            <a:avLst/>
          </a:prstGeom>
          <a:solidFill>
            <a:srgbClr val="FFFFFF"/>
          </a:solidFill>
          <a:ln w="6350">
            <a:solidFill>
              <a:srgbClr val="777777"/>
            </a:solidFill>
            <a:prstDash val="solid"/>
          </a:ln>
        </p:spPr>
      </p:sp>
      <p:sp>
        <p:nvSpPr>
          <p:cNvPr id="79" name="Text 68"/>
          <p:cNvSpPr txBox="1"/>
          <p:nvPr/>
        </p:nvSpPr>
        <p:spPr>
          <a:xfrm>
            <a:off x="158191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JS</a:t>
            </a:r>
            <a:endParaRPr lang="en-US" sz="650" dirty="0"/>
          </a:p>
        </p:txBody>
      </p:sp>
      <p:sp>
        <p:nvSpPr>
          <p:cNvPr id="80" name="Shape 69"/>
          <p:cNvSpPr/>
          <p:nvPr/>
        </p:nvSpPr>
        <p:spPr>
          <a:xfrm>
            <a:off x="2308860" y="3059818"/>
            <a:ext cx="754380" cy="182880"/>
          </a:xfrm>
          <a:prstGeom prst="rect">
            <a:avLst/>
          </a:prstGeom>
          <a:solidFill>
            <a:srgbClr val="FFFFFF"/>
          </a:solidFill>
          <a:ln w="6350">
            <a:solidFill>
              <a:srgbClr val="777777"/>
            </a:solidFill>
            <a:prstDash val="solid"/>
          </a:ln>
        </p:spPr>
      </p:sp>
      <p:sp>
        <p:nvSpPr>
          <p:cNvPr id="81" name="Text 70"/>
          <p:cNvSpPr txBox="1"/>
          <p:nvPr/>
        </p:nvSpPr>
        <p:spPr>
          <a:xfrm>
            <a:off x="233629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Tombol diam</a:t>
            </a:r>
            <a:endParaRPr lang="en-US" sz="650" dirty="0"/>
          </a:p>
        </p:txBody>
      </p:sp>
      <p:sp>
        <p:nvSpPr>
          <p:cNvPr id="82" name="Shape 71"/>
          <p:cNvSpPr/>
          <p:nvPr/>
        </p:nvSpPr>
        <p:spPr>
          <a:xfrm>
            <a:off x="3063240" y="3059818"/>
            <a:ext cx="754380" cy="182880"/>
          </a:xfrm>
          <a:prstGeom prst="rect">
            <a:avLst/>
          </a:prstGeom>
          <a:solidFill>
            <a:srgbClr val="FFFFFF"/>
          </a:solidFill>
          <a:ln w="6350">
            <a:solidFill>
              <a:srgbClr val="777777"/>
            </a:solidFill>
            <a:prstDash val="solid"/>
          </a:ln>
        </p:spPr>
      </p:sp>
      <p:sp>
        <p:nvSpPr>
          <p:cNvPr id="83" name="Text 72"/>
          <p:cNvSpPr txBox="1"/>
          <p:nvPr/>
        </p:nvSpPr>
        <p:spPr>
          <a:xfrm>
            <a:off x="309067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ReferenceError</a:t>
            </a:r>
            <a:endParaRPr lang="en-US" sz="650" dirty="0"/>
          </a:p>
        </p:txBody>
      </p:sp>
      <p:sp>
        <p:nvSpPr>
          <p:cNvPr id="84" name="Shape 73"/>
          <p:cNvSpPr/>
          <p:nvPr/>
        </p:nvSpPr>
        <p:spPr>
          <a:xfrm>
            <a:off x="3817620" y="3059818"/>
            <a:ext cx="754380" cy="182880"/>
          </a:xfrm>
          <a:prstGeom prst="rect">
            <a:avLst/>
          </a:prstGeom>
          <a:solidFill>
            <a:srgbClr val="FFFFFF"/>
          </a:solidFill>
          <a:ln w="6350">
            <a:solidFill>
              <a:srgbClr val="777777"/>
            </a:solidFill>
            <a:prstDash val="solid"/>
          </a:ln>
        </p:spPr>
      </p:sp>
      <p:sp>
        <p:nvSpPr>
          <p:cNvPr id="85" name="Text 74"/>
          <p:cNvSpPr txBox="1"/>
          <p:nvPr/>
        </p:nvSpPr>
        <p:spPr>
          <a:xfrm>
            <a:off x="384505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Nama fungsi</a:t>
            </a:r>
            <a:endParaRPr lang="en-US" sz="650" dirty="0"/>
          </a:p>
        </p:txBody>
      </p:sp>
      <p:sp>
        <p:nvSpPr>
          <p:cNvPr id="86" name="Shape 75"/>
          <p:cNvSpPr/>
          <p:nvPr/>
        </p:nvSpPr>
        <p:spPr>
          <a:xfrm>
            <a:off x="1554480" y="3242698"/>
            <a:ext cx="754380" cy="182880"/>
          </a:xfrm>
          <a:prstGeom prst="rect">
            <a:avLst/>
          </a:prstGeom>
          <a:solidFill>
            <a:srgbClr val="FFFFFF"/>
          </a:solidFill>
          <a:ln w="6350">
            <a:solidFill>
              <a:srgbClr val="777777"/>
            </a:solidFill>
            <a:prstDash val="solid"/>
          </a:ln>
        </p:spPr>
      </p:sp>
      <p:sp>
        <p:nvSpPr>
          <p:cNvPr id="87" name="Text 76"/>
          <p:cNvSpPr txBox="1"/>
          <p:nvPr/>
        </p:nvSpPr>
        <p:spPr>
          <a:xfrm>
            <a:off x="158191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HTML</a:t>
            </a:r>
            <a:endParaRPr lang="en-US" sz="650" dirty="0"/>
          </a:p>
        </p:txBody>
      </p:sp>
      <p:sp>
        <p:nvSpPr>
          <p:cNvPr id="88" name="Shape 77"/>
          <p:cNvSpPr/>
          <p:nvPr/>
        </p:nvSpPr>
        <p:spPr>
          <a:xfrm>
            <a:off x="2308860" y="3242698"/>
            <a:ext cx="754380" cy="182880"/>
          </a:xfrm>
          <a:prstGeom prst="rect">
            <a:avLst/>
          </a:prstGeom>
          <a:solidFill>
            <a:srgbClr val="FFFFFF"/>
          </a:solidFill>
          <a:ln w="6350">
            <a:solidFill>
              <a:srgbClr val="777777"/>
            </a:solidFill>
            <a:prstDash val="solid"/>
          </a:ln>
        </p:spPr>
      </p:sp>
      <p:sp>
        <p:nvSpPr>
          <p:cNvPr id="89" name="Text 78"/>
          <p:cNvSpPr txBox="1"/>
          <p:nvPr/>
        </p:nvSpPr>
        <p:spPr>
          <a:xfrm>
            <a:off x="233629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Teks besar</a:t>
            </a:r>
            <a:endParaRPr lang="en-US" sz="650" dirty="0"/>
          </a:p>
        </p:txBody>
      </p:sp>
      <p:sp>
        <p:nvSpPr>
          <p:cNvPr id="90" name="Shape 79"/>
          <p:cNvSpPr/>
          <p:nvPr/>
        </p:nvSpPr>
        <p:spPr>
          <a:xfrm>
            <a:off x="3063240" y="3242698"/>
            <a:ext cx="754380" cy="182880"/>
          </a:xfrm>
          <a:prstGeom prst="rect">
            <a:avLst/>
          </a:prstGeom>
          <a:solidFill>
            <a:srgbClr val="FFFFFF"/>
          </a:solidFill>
          <a:ln w="6350">
            <a:solidFill>
              <a:srgbClr val="777777"/>
            </a:solidFill>
            <a:prstDash val="solid"/>
          </a:ln>
        </p:spPr>
      </p:sp>
      <p:sp>
        <p:nvSpPr>
          <p:cNvPr id="91" name="Text 80"/>
          <p:cNvSpPr txBox="1"/>
          <p:nvPr/>
        </p:nvSpPr>
        <p:spPr>
          <a:xfrm>
            <a:off x="309067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Tidak ada</a:t>
            </a:r>
            <a:endParaRPr lang="en-US" sz="650" dirty="0"/>
          </a:p>
        </p:txBody>
      </p:sp>
      <p:sp>
        <p:nvSpPr>
          <p:cNvPr id="92" name="Shape 81"/>
          <p:cNvSpPr/>
          <p:nvPr/>
        </p:nvSpPr>
        <p:spPr>
          <a:xfrm>
            <a:off x="3817620" y="3242698"/>
            <a:ext cx="754380" cy="182880"/>
          </a:xfrm>
          <a:prstGeom prst="rect">
            <a:avLst/>
          </a:prstGeom>
          <a:solidFill>
            <a:srgbClr val="FFFFFF"/>
          </a:solidFill>
          <a:ln w="6350">
            <a:solidFill>
              <a:srgbClr val="777777"/>
            </a:solidFill>
            <a:prstDash val="solid"/>
          </a:ln>
        </p:spPr>
      </p:sp>
      <p:sp>
        <p:nvSpPr>
          <p:cNvPr id="93" name="Text 82"/>
          <p:cNvSpPr txBox="1"/>
          <p:nvPr/>
        </p:nvSpPr>
        <p:spPr>
          <a:xfrm>
            <a:off x="384505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Tutup &lt;/h1&gt;</a:t>
            </a:r>
            <a:endParaRPr lang="en-US" sz="650" dirty="0"/>
          </a:p>
        </p:txBody>
      </p:sp>
      <p:sp>
        <p:nvSpPr>
          <p:cNvPr id="94" name="Shape 83"/>
          <p:cNvSpPr/>
          <p:nvPr/>
        </p:nvSpPr>
        <p:spPr>
          <a:xfrm>
            <a:off x="1554480" y="3425578"/>
            <a:ext cx="754380" cy="182880"/>
          </a:xfrm>
          <a:prstGeom prst="rect">
            <a:avLst/>
          </a:prstGeom>
          <a:solidFill>
            <a:srgbClr val="FFFFFF"/>
          </a:solidFill>
          <a:ln w="6350">
            <a:solidFill>
              <a:srgbClr val="777777"/>
            </a:solidFill>
            <a:prstDash val="solid"/>
          </a:ln>
        </p:spPr>
      </p:sp>
      <p:sp>
        <p:nvSpPr>
          <p:cNvPr id="95" name="Text 84"/>
          <p:cNvSpPr txBox="1"/>
          <p:nvPr/>
        </p:nvSpPr>
        <p:spPr>
          <a:xfrm>
            <a:off x="158191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CSS</a:t>
            </a:r>
            <a:endParaRPr lang="en-US" sz="650" dirty="0"/>
          </a:p>
        </p:txBody>
      </p:sp>
      <p:sp>
        <p:nvSpPr>
          <p:cNvPr id="96" name="Shape 85"/>
          <p:cNvSpPr/>
          <p:nvPr/>
        </p:nvSpPr>
        <p:spPr>
          <a:xfrm>
            <a:off x="2308860" y="3425578"/>
            <a:ext cx="754380" cy="182880"/>
          </a:xfrm>
          <a:prstGeom prst="rect">
            <a:avLst/>
          </a:prstGeom>
          <a:solidFill>
            <a:srgbClr val="FFFFFF"/>
          </a:solidFill>
          <a:ln w="6350">
            <a:solidFill>
              <a:srgbClr val="777777"/>
            </a:solidFill>
            <a:prstDash val="solid"/>
          </a:ln>
        </p:spPr>
      </p:sp>
      <p:sp>
        <p:nvSpPr>
          <p:cNvPr id="97" name="Text 86"/>
          <p:cNvSpPr txBox="1"/>
          <p:nvPr/>
        </p:nvSpPr>
        <p:spPr>
          <a:xfrm>
            <a:off x="233629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Warna hilang</a:t>
            </a:r>
            <a:endParaRPr lang="en-US" sz="650" dirty="0"/>
          </a:p>
        </p:txBody>
      </p:sp>
      <p:sp>
        <p:nvSpPr>
          <p:cNvPr id="98" name="Shape 87"/>
          <p:cNvSpPr/>
          <p:nvPr/>
        </p:nvSpPr>
        <p:spPr>
          <a:xfrm>
            <a:off x="3063240" y="3425578"/>
            <a:ext cx="754380" cy="182880"/>
          </a:xfrm>
          <a:prstGeom prst="rect">
            <a:avLst/>
          </a:prstGeom>
          <a:solidFill>
            <a:srgbClr val="FFFFFF"/>
          </a:solidFill>
          <a:ln w="6350">
            <a:solidFill>
              <a:srgbClr val="777777"/>
            </a:solidFill>
            <a:prstDash val="solid"/>
          </a:ln>
        </p:spPr>
      </p:sp>
      <p:sp>
        <p:nvSpPr>
          <p:cNvPr id="99" name="Text 88"/>
          <p:cNvSpPr txBox="1"/>
          <p:nvPr/>
        </p:nvSpPr>
        <p:spPr>
          <a:xfrm>
            <a:off x="309067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Tidak ada</a:t>
            </a:r>
            <a:endParaRPr lang="en-US" sz="650" dirty="0"/>
          </a:p>
        </p:txBody>
      </p:sp>
      <p:sp>
        <p:nvSpPr>
          <p:cNvPr id="100" name="Shape 89"/>
          <p:cNvSpPr/>
          <p:nvPr/>
        </p:nvSpPr>
        <p:spPr>
          <a:xfrm>
            <a:off x="3817620" y="3425578"/>
            <a:ext cx="754380" cy="182880"/>
          </a:xfrm>
          <a:prstGeom prst="rect">
            <a:avLst/>
          </a:prstGeom>
          <a:solidFill>
            <a:srgbClr val="FFFFFF"/>
          </a:solidFill>
          <a:ln w="6350">
            <a:solidFill>
              <a:srgbClr val="777777"/>
            </a:solidFill>
            <a:prstDash val="solid"/>
          </a:ln>
        </p:spPr>
      </p:sp>
      <p:sp>
        <p:nvSpPr>
          <p:cNvPr id="101" name="Text 90"/>
          <p:cNvSpPr txBox="1"/>
          <p:nvPr/>
        </p:nvSpPr>
        <p:spPr>
          <a:xfrm>
            <a:off x="384505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Tambah ;</a:t>
            </a:r>
            <a:endParaRPr lang="en-US" sz="650" dirty="0"/>
          </a:p>
        </p:txBody>
      </p:sp>
      <p:sp>
        <p:nvSpPr>
          <p:cNvPr id="102" name="Shape 91"/>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103" name="Shape 92"/>
          <p:cNvSpPr/>
          <p:nvPr/>
        </p:nvSpPr>
        <p:spPr>
          <a:xfrm>
            <a:off x="4462272" y="2712346"/>
            <a:ext cx="274320" cy="274320"/>
          </a:xfrm>
          <a:prstGeom prst="ellipse">
            <a:avLst/>
          </a:prstGeom>
          <a:solidFill>
            <a:srgbClr val="E53935"/>
          </a:solidFill>
          <a:ln w="12700">
            <a:solidFill>
              <a:srgbClr val="FFFFFF"/>
            </a:solidFill>
            <a:prstDash val="solid"/>
          </a:ln>
        </p:spPr>
      </p:sp>
      <p:sp>
        <p:nvSpPr>
          <p:cNvPr id="104" name="Text 93"/>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05"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106" name="Text 9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07" name="Text 9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Bug CSS: hapus satu titik koma</a:t>
            </a:r>
            <a:endParaRPr lang="en-US" sz="1800" dirty="0"/>
          </a:p>
        </p:txBody>
      </p:sp>
      <p:sp>
        <p:nvSpPr>
          <p:cNvPr id="108" name="Text 9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CSS, hapus titik koma setelah satu aturan. Amati gaya mana yang hilang. Kembalikan. Catat ketiga bug di tabel.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13</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3 bug latihan: jenis, gejala, pesan Console, perbaikan.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arti ReferenceError dengan kata-katamu.</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Mengapa bug CSS lebih sulit ditemukan daripada bug JavaScript?</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File index.html asli tetap utuh dan berfungsi.</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membuka Console</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membaca 1 pesan error</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Membedakan jenis bug</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bug diperbaiki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perasaanmu saat menemukan bug?</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pesan error itu sebenarnya membantu?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Kesalahan bukan aib, tetapi kesempatan belajar. Yang tercela adalah tidak mau memperbaiki.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Strategi debugging dan console.log.</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Strategi Debugging</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Isolasi, console.log, dan bertanya kepada AI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Debugging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tidak ada pesan error tetapi hasilnya salah, bagaimana mencarinya?</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Menerapkan langkah debugging yang sistematis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Memakai console.log untuk memeriksa nilai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Bertanya kepada AI untuk penjelasan penyebab bug</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Lima Langkah Debugging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1–2. Amati &amp; Ulangi</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Apa gejalanya? Bisakah kesalahan diulang dengan cara yang sama?</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3. Persempit</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Cari letaknya: HTML, CSS, atau JS? Baris mana? Pakai console.log.</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4–5. Perbaiki &amp; Uji</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Ubah satu hal, uji lagi. Catat penyebab dan perbaikannya.</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Gejala: total selalu salah → ulangi dengan angka 1,1,1 → hasil "111" bukan 3 → console.log(senin) → ternyata teks, bukan angka → pakai Number().</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console.log: Mengintip Isi Program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937760" cy="1828800"/>
          </a:xfrm>
          <a:prstGeom prst="roundRect">
            <a:avLst>
              <a:gd name="adj" fmla="val 3000"/>
            </a:avLst>
          </a:prstGeom>
          <a:solidFill>
            <a:srgbClr val="FFFFFF"/>
          </a:solidFill>
          <a:ln w="12700">
            <a:solidFill>
              <a:srgbClr val="BBBBBB"/>
            </a:solidFill>
            <a:prstDash val="solid"/>
          </a:ln>
        </p:spPr>
      </p:sp>
      <p:sp>
        <p:nvSpPr>
          <p:cNvPr id="10" name="Text 6"/>
          <p:cNvSpPr txBox="1"/>
          <p:nvPr/>
        </p:nvSpPr>
        <p:spPr>
          <a:xfrm>
            <a:off x="594360" y="1207008"/>
            <a:ext cx="4754880" cy="36576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let senin = document.getElementById("senin").value;</a:t>
            </a:r>
            <a:endParaRPr lang="en-US" sz="1050" dirty="0"/>
          </a:p>
        </p:txBody>
      </p:sp>
      <p:sp>
        <p:nvSpPr>
          <p:cNvPr id="11" name="Shape 7"/>
          <p:cNvSpPr/>
          <p:nvPr/>
        </p:nvSpPr>
        <p:spPr>
          <a:xfrm>
            <a:off x="530352" y="1618488"/>
            <a:ext cx="4791456" cy="365760"/>
          </a:xfrm>
          <a:prstGeom prst="rect">
            <a:avLst/>
          </a:prstGeom>
          <a:solidFill>
            <a:srgbClr val="FFF59D"/>
          </a:solidFill>
          <a:ln w="12700">
            <a:solidFill>
              <a:srgbClr val="FFF59D"/>
            </a:solidFill>
            <a:prstDash val="solid"/>
          </a:ln>
        </p:spPr>
      </p:sp>
      <p:sp>
        <p:nvSpPr>
          <p:cNvPr id="12" name="Text 8"/>
          <p:cNvSpPr txBox="1"/>
          <p:nvPr/>
        </p:nvSpPr>
        <p:spPr>
          <a:xfrm>
            <a:off x="594360" y="1618488"/>
            <a:ext cx="4754880" cy="36576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console.log("senin =", senin, typeof senin);</a:t>
            </a:r>
            <a:endParaRPr lang="en-US" sz="1050" dirty="0"/>
          </a:p>
        </p:txBody>
      </p:sp>
      <p:sp>
        <p:nvSpPr>
          <p:cNvPr id="13" name="Text 9"/>
          <p:cNvSpPr txBox="1"/>
          <p:nvPr/>
        </p:nvSpPr>
        <p:spPr>
          <a:xfrm>
            <a:off x="594360" y="2029968"/>
            <a:ext cx="4754880" cy="36576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let total = senin + selasa + rabu;</a:t>
            </a:r>
            <a:endParaRPr lang="en-US" sz="1050" dirty="0"/>
          </a:p>
        </p:txBody>
      </p:sp>
      <p:sp>
        <p:nvSpPr>
          <p:cNvPr id="14" name="Shape 10"/>
          <p:cNvSpPr/>
          <p:nvPr/>
        </p:nvSpPr>
        <p:spPr>
          <a:xfrm>
            <a:off x="530352" y="2441448"/>
            <a:ext cx="4791456" cy="365760"/>
          </a:xfrm>
          <a:prstGeom prst="rect">
            <a:avLst/>
          </a:prstGeom>
          <a:solidFill>
            <a:srgbClr val="FFF59D"/>
          </a:solidFill>
          <a:ln w="12700">
            <a:solidFill>
              <a:srgbClr val="FFF59D"/>
            </a:solidFill>
            <a:prstDash val="solid"/>
          </a:ln>
        </p:spPr>
      </p:sp>
      <p:sp>
        <p:nvSpPr>
          <p:cNvPr id="15" name="Text 11"/>
          <p:cNvSpPr txBox="1"/>
          <p:nvPr/>
        </p:nvSpPr>
        <p:spPr>
          <a:xfrm>
            <a:off x="594360" y="2441448"/>
            <a:ext cx="4754880" cy="36576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console.log("total =", total);</a:t>
            </a:r>
            <a:endParaRPr lang="en-US" sz="1050" dirty="0"/>
          </a:p>
        </p:txBody>
      </p:sp>
      <p:sp>
        <p:nvSpPr>
          <p:cNvPr id="16" name="Shape 12"/>
          <p:cNvSpPr/>
          <p:nvPr/>
        </p:nvSpPr>
        <p:spPr>
          <a:xfrm>
            <a:off x="5577840" y="1097280"/>
            <a:ext cx="3108960" cy="1828800"/>
          </a:xfrm>
          <a:prstGeom prst="rect">
            <a:avLst/>
          </a:prstGeom>
          <a:solidFill>
            <a:srgbClr val="FFFFFF"/>
          </a:solidFill>
          <a:ln w="6350">
            <a:solidFill>
              <a:srgbClr val="CCCCCC"/>
            </a:solidFill>
            <a:prstDash val="solid"/>
          </a:ln>
        </p:spPr>
      </p:sp>
      <p:sp>
        <p:nvSpPr>
          <p:cNvPr id="17" name="Shape 13"/>
          <p:cNvSpPr/>
          <p:nvPr/>
        </p:nvSpPr>
        <p:spPr>
          <a:xfrm>
            <a:off x="5577840" y="1097280"/>
            <a:ext cx="3108960" cy="182880"/>
          </a:xfrm>
          <a:prstGeom prst="rect">
            <a:avLst/>
          </a:prstGeom>
          <a:solidFill>
            <a:srgbClr val="F1F3F4"/>
          </a:solidFill>
          <a:ln w="12700">
            <a:solidFill>
              <a:srgbClr val="F1F3F4"/>
            </a:solidFill>
            <a:prstDash val="solid"/>
          </a:ln>
        </p:spPr>
      </p:sp>
      <p:sp>
        <p:nvSpPr>
          <p:cNvPr id="18" name="Text 14"/>
          <p:cNvSpPr txBox="1"/>
          <p:nvPr/>
        </p:nvSpPr>
        <p:spPr>
          <a:xfrm>
            <a:off x="5623560" y="1097280"/>
            <a:ext cx="3108960"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19" name="Shape 15"/>
          <p:cNvSpPr/>
          <p:nvPr/>
        </p:nvSpPr>
        <p:spPr>
          <a:xfrm>
            <a:off x="6144768" y="1252728"/>
            <a:ext cx="365760" cy="22860"/>
          </a:xfrm>
          <a:prstGeom prst="rect">
            <a:avLst/>
          </a:prstGeom>
          <a:solidFill>
            <a:srgbClr val="1A73E8"/>
          </a:solidFill>
          <a:ln w="12700">
            <a:solidFill>
              <a:srgbClr val="1A73E8"/>
            </a:solidFill>
            <a:prstDash val="solid"/>
          </a:ln>
        </p:spPr>
      </p:sp>
      <p:sp>
        <p:nvSpPr>
          <p:cNvPr id="20" name="Text 16"/>
          <p:cNvSpPr txBox="1"/>
          <p:nvPr/>
        </p:nvSpPr>
        <p:spPr>
          <a:xfrm>
            <a:off x="5623560" y="1325880"/>
            <a:ext cx="3035808"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senin = 1 string</a:t>
            </a:r>
            <a:endParaRPr lang="en-US" sz="600" dirty="0"/>
          </a:p>
        </p:txBody>
      </p:sp>
      <p:sp>
        <p:nvSpPr>
          <p:cNvPr id="21" name="Text 17"/>
          <p:cNvSpPr txBox="1"/>
          <p:nvPr/>
        </p:nvSpPr>
        <p:spPr>
          <a:xfrm>
            <a:off x="5623560" y="1545336"/>
            <a:ext cx="3035808"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total = 111</a:t>
            </a:r>
            <a:endParaRPr lang="en-US" sz="600" dirty="0"/>
          </a:p>
        </p:txBody>
      </p:sp>
      <p:sp>
        <p:nvSpPr>
          <p:cNvPr id="22" name="Shape 18"/>
          <p:cNvSpPr/>
          <p:nvPr/>
        </p:nvSpPr>
        <p:spPr>
          <a:xfrm>
            <a:off x="457200" y="3108960"/>
            <a:ext cx="8229600" cy="1417320"/>
          </a:xfrm>
          <a:prstGeom prst="roundRect">
            <a:avLst>
              <a:gd name="adj" fmla="val 6452"/>
            </a:avLst>
          </a:prstGeom>
          <a:solidFill>
            <a:srgbClr val="E6F2EC"/>
          </a:solidFill>
          <a:ln w="12700">
            <a:solidFill>
              <a:srgbClr val="E6F2EC"/>
            </a:solidFill>
            <a:prstDash val="solid"/>
          </a:ln>
        </p:spPr>
      </p:sp>
      <p:sp>
        <p:nvSpPr>
          <p:cNvPr id="23" name="Text 19"/>
          <p:cNvSpPr txBox="1"/>
          <p:nvPr/>
        </p:nvSpPr>
        <p:spPr>
          <a:xfrm>
            <a:off x="640080" y="3154680"/>
            <a:ext cx="7863840" cy="1325880"/>
          </a:xfrm>
          <a:prstGeom prst="rect">
            <a:avLst/>
          </a:prstGeom>
          <a:noFill/>
          <a:ln/>
        </p:spPr>
        <p:txBody>
          <a:bodyPr wrap="square" lIns="0" tIns="0" rIns="0" bIns="0" rtlCol="0" anchor="ctr"/>
          <a:lstStyle/>
          <a:p>
            <a:pPr indent="0" marL="0">
              <a:buNone/>
            </a:pPr>
            <a:r>
              <a:rPr lang="en-US" sz="1300" b="1" dirty="0">
                <a:solidFill>
                  <a:srgbClr val="E53935"/>
                </a:solidFill>
                <a:latin typeface="Calibri" pitchFamily="34" charset="0"/>
                <a:ea typeface="Calibri" pitchFamily="34" charset="-122"/>
                <a:cs typeface="Calibri" pitchFamily="34" charset="-120"/>
              </a:rPr>
              <a:t>Temuan: </a:t>
            </a:r>
            <a:pPr indent="0" marL="0">
              <a:buNone/>
            </a:pPr>
            <a:r>
              <a:rPr lang="en-US" sz="1300" dirty="0">
                <a:solidFill>
                  <a:srgbClr val="1E2A26"/>
                </a:solidFill>
                <a:latin typeface="Calibri" pitchFamily="34" charset="0"/>
                <a:ea typeface="Calibri" pitchFamily="34" charset="-122"/>
                <a:cs typeface="Calibri" pitchFamily="34" charset="-120"/>
              </a:rPr>
              <a:t>senin berisi teks (string) "1", bukan angka. Teks "1"+"1"+"1" digabung menjadi "111".
</a:t>
            </a:r>
            <a:pPr indent="0" marL="0">
              <a:buNone/>
            </a:pPr>
            <a:r>
              <a:rPr lang="en-US" sz="1300" b="1" dirty="0">
                <a:solidFill>
                  <a:srgbClr val="1F7A5C"/>
                </a:solidFill>
                <a:latin typeface="Calibri" pitchFamily="34" charset="0"/>
                <a:ea typeface="Calibri" pitchFamily="34" charset="-122"/>
                <a:cs typeface="Calibri" pitchFamily="34" charset="-120"/>
              </a:rPr>
              <a:t>Perbaikan: </a:t>
            </a:r>
            <a:pPr indent="0" marL="0">
              <a:buNone/>
            </a:pPr>
            <a:r>
              <a:rPr lang="en-US" sz="1300" dirty="0">
                <a:solidFill>
                  <a:srgbClr val="1E2A26"/>
                </a:solidFill>
                <a:latin typeface="Calibri" pitchFamily="34" charset="0"/>
                <a:ea typeface="Calibri" pitchFamily="34" charset="-122"/>
                <a:cs typeface="Calibri" pitchFamily="34" charset="-120"/>
              </a:rPr>
              <a:t>Number(document.getElementById("senin").value)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Bertanya kepada AI saat Debugging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Prompt Debugging yang Baik</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Sertakan kode yang bermasalah</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Sebutkan gejala dan pesan error</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"Jelaskan penyebab dan langkah perbaikan, jangan ganti semua kode"</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Hindari</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"Kode saya error, perbaiki" tanpa kode</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Langsung menyalin seluruh kode baru</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Bertanya sebelum mencoba mencari sendiri</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Berlatih Strategi Debugging</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Bug angka yang digabung</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Bertanya kepada AI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Mencatat</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Angka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latihan_debug.html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a:t>
            </a:r>
            <a:endParaRPr lang="en-US" sz="736" dirty="0"/>
          </a:p>
        </p:txBody>
      </p:sp>
      <p:sp>
        <p:nvSpPr>
          <p:cNvPr id="26" name="Text 22"/>
          <p:cNvSpPr txBox="1"/>
          <p:nvPr/>
        </p:nvSpPr>
        <p:spPr>
          <a:xfrm>
            <a:off x="986820" y="1661552"/>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&lt;input id="senin" type="number"&gt;</a:t>
            </a:r>
            <a:endParaRPr lang="en-US" sz="836" dirty="0"/>
          </a:p>
        </p:txBody>
      </p:sp>
      <p:sp>
        <p:nvSpPr>
          <p:cNvPr id="27" name="Text 23"/>
          <p:cNvSpPr txBox="1"/>
          <p:nvPr/>
        </p:nvSpPr>
        <p:spPr>
          <a:xfrm>
            <a:off x="639348" y="1820760"/>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2</a:t>
            </a:r>
            <a:endParaRPr lang="en-US" sz="736" dirty="0"/>
          </a:p>
        </p:txBody>
      </p:sp>
      <p:sp>
        <p:nvSpPr>
          <p:cNvPr id="28" name="Text 24"/>
          <p:cNvSpPr txBox="1"/>
          <p:nvPr/>
        </p:nvSpPr>
        <p:spPr>
          <a:xfrm>
            <a:off x="986820" y="1820760"/>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&lt;input id="selasa" type="number"&gt;</a:t>
            </a:r>
            <a:endParaRPr lang="en-US" sz="836" dirty="0"/>
          </a:p>
        </p:txBody>
      </p:sp>
      <p:sp>
        <p:nvSpPr>
          <p:cNvPr id="29" name="Text 25"/>
          <p:cNvSpPr txBox="1"/>
          <p:nvPr/>
        </p:nvSpPr>
        <p:spPr>
          <a:xfrm>
            <a:off x="639348" y="1979969"/>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3</a:t>
            </a:r>
            <a:endParaRPr lang="en-US" sz="736" dirty="0"/>
          </a:p>
        </p:txBody>
      </p:sp>
      <p:sp>
        <p:nvSpPr>
          <p:cNvPr id="30" name="Text 26"/>
          <p:cNvSpPr txBox="1"/>
          <p:nvPr/>
        </p:nvSpPr>
        <p:spPr>
          <a:xfrm>
            <a:off x="986820" y="1979969"/>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&lt;input id="rabu" type="number"&gt;</a:t>
            </a:r>
            <a:endParaRPr lang="en-US" sz="836" dirty="0"/>
          </a:p>
        </p:txBody>
      </p:sp>
      <p:sp>
        <p:nvSpPr>
          <p:cNvPr id="31" name="Text 27"/>
          <p:cNvSpPr txBox="1"/>
          <p:nvPr/>
        </p:nvSpPr>
        <p:spPr>
          <a:xfrm>
            <a:off x="639348" y="2139178"/>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4</a:t>
            </a:r>
            <a:endParaRPr lang="en-US" sz="736" dirty="0"/>
          </a:p>
        </p:txBody>
      </p:sp>
      <p:sp>
        <p:nvSpPr>
          <p:cNvPr id="32" name="Text 28"/>
          <p:cNvSpPr txBox="1"/>
          <p:nvPr/>
        </p:nvSpPr>
        <p:spPr>
          <a:xfrm>
            <a:off x="986820" y="2139178"/>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&lt;button onclick="hitung()"&gt;</a:t>
            </a:r>
            <a:pPr indent="0" marL="0">
              <a:buNone/>
            </a:pPr>
            <a:r>
              <a:rPr lang="en-US" sz="836" dirty="0">
                <a:solidFill>
                  <a:srgbClr val="222222"/>
                </a:solidFill>
                <a:latin typeface="Courier New" pitchFamily="34" charset="0"/>
                <a:ea typeface="Courier New" pitchFamily="34" charset="-122"/>
                <a:cs typeface="Courier New" pitchFamily="34" charset="-120"/>
              </a:rPr>
              <a:t>Hitung</a:t>
            </a:r>
            <a:pPr indent="0" marL="0">
              <a:buNone/>
            </a:pPr>
            <a:r>
              <a:rPr lang="en-US" sz="836" dirty="0">
                <a:solidFill>
                  <a:srgbClr val="1A5FB4"/>
                </a:solidFill>
                <a:latin typeface="Courier New" pitchFamily="34" charset="0"/>
                <a:ea typeface="Courier New" pitchFamily="34" charset="-122"/>
                <a:cs typeface="Courier New" pitchFamily="34" charset="-120"/>
              </a:rPr>
              <a:t>&lt;/button&gt;</a:t>
            </a:r>
            <a:endParaRPr lang="en-US" sz="836" dirty="0"/>
          </a:p>
        </p:txBody>
      </p:sp>
      <p:sp>
        <p:nvSpPr>
          <p:cNvPr id="33" name="Text 29"/>
          <p:cNvSpPr txBox="1"/>
          <p:nvPr/>
        </p:nvSpPr>
        <p:spPr>
          <a:xfrm>
            <a:off x="639348" y="2298387"/>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5</a:t>
            </a:r>
            <a:endParaRPr lang="en-US" sz="736" dirty="0"/>
          </a:p>
        </p:txBody>
      </p:sp>
      <p:sp>
        <p:nvSpPr>
          <p:cNvPr id="34" name="Text 30"/>
          <p:cNvSpPr txBox="1"/>
          <p:nvPr/>
        </p:nvSpPr>
        <p:spPr>
          <a:xfrm>
            <a:off x="986820" y="2298387"/>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&lt;p id="hasil"&gt;</a:t>
            </a:r>
            <a:pPr indent="0" marL="0">
              <a:buNone/>
            </a:pPr>
            <a:r>
              <a:rPr lang="en-US" sz="836" dirty="0">
                <a:solidFill>
                  <a:srgbClr val="1A5FB4"/>
                </a:solidFill>
                <a:latin typeface="Courier New" pitchFamily="34" charset="0"/>
                <a:ea typeface="Courier New" pitchFamily="34" charset="-122"/>
                <a:cs typeface="Courier New" pitchFamily="34" charset="-120"/>
              </a:rPr>
              <a:t>&lt;/p&gt;</a:t>
            </a:r>
            <a:endParaRPr lang="en-US" sz="836" dirty="0"/>
          </a:p>
        </p:txBody>
      </p:sp>
      <p:sp>
        <p:nvSpPr>
          <p:cNvPr id="35" name="Text 31"/>
          <p:cNvSpPr txBox="1"/>
          <p:nvPr/>
        </p:nvSpPr>
        <p:spPr>
          <a:xfrm>
            <a:off x="639348" y="2457596"/>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6</a:t>
            </a:r>
            <a:endParaRPr lang="en-US" sz="736" dirty="0"/>
          </a:p>
        </p:txBody>
      </p:sp>
      <p:sp>
        <p:nvSpPr>
          <p:cNvPr id="36" name="Text 32"/>
          <p:cNvSpPr txBox="1"/>
          <p:nvPr/>
        </p:nvSpPr>
        <p:spPr>
          <a:xfrm>
            <a:off x="986820" y="2457596"/>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&lt;script&gt;</a:t>
            </a:r>
            <a:endParaRPr lang="en-US" sz="836" dirty="0"/>
          </a:p>
        </p:txBody>
      </p:sp>
      <p:sp>
        <p:nvSpPr>
          <p:cNvPr id="37" name="Text 33"/>
          <p:cNvSpPr txBox="1"/>
          <p:nvPr/>
        </p:nvSpPr>
        <p:spPr>
          <a:xfrm>
            <a:off x="639348" y="2616804"/>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7</a:t>
            </a:r>
            <a:endParaRPr lang="en-US" sz="736" dirty="0"/>
          </a:p>
        </p:txBody>
      </p:sp>
      <p:sp>
        <p:nvSpPr>
          <p:cNvPr id="38" name="Text 34"/>
          <p:cNvSpPr txBox="1"/>
          <p:nvPr/>
        </p:nvSpPr>
        <p:spPr>
          <a:xfrm>
            <a:off x="986820" y="2616804"/>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function hitung() {</a:t>
            </a:r>
            <a:endParaRPr lang="en-US" sz="836" dirty="0"/>
          </a:p>
        </p:txBody>
      </p:sp>
      <p:sp>
        <p:nvSpPr>
          <p:cNvPr id="39" name="Text 35"/>
          <p:cNvSpPr txBox="1"/>
          <p:nvPr/>
        </p:nvSpPr>
        <p:spPr>
          <a:xfrm>
            <a:off x="639348" y="2776013"/>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8</a:t>
            </a:r>
            <a:endParaRPr lang="en-US" sz="736" dirty="0"/>
          </a:p>
        </p:txBody>
      </p:sp>
      <p:sp>
        <p:nvSpPr>
          <p:cNvPr id="40" name="Text 36"/>
          <p:cNvSpPr txBox="1"/>
          <p:nvPr/>
        </p:nvSpPr>
        <p:spPr>
          <a:xfrm>
            <a:off x="986820" y="2776013"/>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let senin = document.getElementById("senin").value;</a:t>
            </a:r>
            <a:endParaRPr lang="en-US" sz="836" dirty="0"/>
          </a:p>
        </p:txBody>
      </p:sp>
      <p:sp>
        <p:nvSpPr>
          <p:cNvPr id="41" name="Text 37"/>
          <p:cNvSpPr txBox="1"/>
          <p:nvPr/>
        </p:nvSpPr>
        <p:spPr>
          <a:xfrm>
            <a:off x="639348" y="2935222"/>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9</a:t>
            </a:r>
            <a:endParaRPr lang="en-US" sz="736" dirty="0"/>
          </a:p>
        </p:txBody>
      </p:sp>
      <p:sp>
        <p:nvSpPr>
          <p:cNvPr id="42" name="Text 38"/>
          <p:cNvSpPr txBox="1"/>
          <p:nvPr/>
        </p:nvSpPr>
        <p:spPr>
          <a:xfrm>
            <a:off x="986820" y="2935222"/>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let selasa = document.getElementById("selasa").value;</a:t>
            </a:r>
            <a:endParaRPr lang="en-US" sz="836" dirty="0"/>
          </a:p>
        </p:txBody>
      </p:sp>
      <p:sp>
        <p:nvSpPr>
          <p:cNvPr id="43" name="Text 39"/>
          <p:cNvSpPr txBox="1"/>
          <p:nvPr/>
        </p:nvSpPr>
        <p:spPr>
          <a:xfrm>
            <a:off x="639348" y="3094431"/>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10</a:t>
            </a:r>
            <a:endParaRPr lang="en-US" sz="736" dirty="0"/>
          </a:p>
        </p:txBody>
      </p:sp>
      <p:sp>
        <p:nvSpPr>
          <p:cNvPr id="44" name="Text 40"/>
          <p:cNvSpPr txBox="1"/>
          <p:nvPr/>
        </p:nvSpPr>
        <p:spPr>
          <a:xfrm>
            <a:off x="986820" y="3094431"/>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let rabu = document.getElementById("rabu").value;</a:t>
            </a:r>
            <a:endParaRPr lang="en-US" sz="836" dirty="0"/>
          </a:p>
        </p:txBody>
      </p:sp>
      <p:sp>
        <p:nvSpPr>
          <p:cNvPr id="45" name="Shape 41"/>
          <p:cNvSpPr/>
          <p:nvPr/>
        </p:nvSpPr>
        <p:spPr>
          <a:xfrm>
            <a:off x="913668" y="3253640"/>
            <a:ext cx="4555175" cy="159209"/>
          </a:xfrm>
          <a:prstGeom prst="rect">
            <a:avLst/>
          </a:prstGeom>
          <a:solidFill>
            <a:srgbClr val="FDECEA"/>
          </a:solidFill>
          <a:ln w="12700">
            <a:solidFill>
              <a:srgbClr val="FDECEA"/>
            </a:solidFill>
            <a:prstDash val="solid"/>
          </a:ln>
        </p:spPr>
      </p:sp>
      <p:sp>
        <p:nvSpPr>
          <p:cNvPr id="46" name="Text 42"/>
          <p:cNvSpPr txBox="1"/>
          <p:nvPr/>
        </p:nvSpPr>
        <p:spPr>
          <a:xfrm>
            <a:off x="639348" y="3253640"/>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11</a:t>
            </a:r>
            <a:endParaRPr lang="en-US" sz="736" dirty="0"/>
          </a:p>
        </p:txBody>
      </p:sp>
      <p:sp>
        <p:nvSpPr>
          <p:cNvPr id="47" name="Text 43"/>
          <p:cNvSpPr txBox="1"/>
          <p:nvPr/>
        </p:nvSpPr>
        <p:spPr>
          <a:xfrm>
            <a:off x="986820" y="3253640"/>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let total = senin + selasa + rabu;</a:t>
            </a:r>
            <a:endParaRPr lang="en-US" sz="836" dirty="0"/>
          </a:p>
        </p:txBody>
      </p:sp>
      <p:sp>
        <p:nvSpPr>
          <p:cNvPr id="48" name="Text 44"/>
          <p:cNvSpPr txBox="1"/>
          <p:nvPr/>
        </p:nvSpPr>
        <p:spPr>
          <a:xfrm>
            <a:off x="639348" y="3412848"/>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12</a:t>
            </a:r>
            <a:endParaRPr lang="en-US" sz="736" dirty="0"/>
          </a:p>
        </p:txBody>
      </p:sp>
      <p:sp>
        <p:nvSpPr>
          <p:cNvPr id="49" name="Text 45"/>
          <p:cNvSpPr txBox="1"/>
          <p:nvPr/>
        </p:nvSpPr>
        <p:spPr>
          <a:xfrm>
            <a:off x="986820" y="3412848"/>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document.getElementById("hasil").textContent = total;</a:t>
            </a:r>
            <a:endParaRPr lang="en-US" sz="836" dirty="0"/>
          </a:p>
        </p:txBody>
      </p:sp>
      <p:sp>
        <p:nvSpPr>
          <p:cNvPr id="50" name="Text 46"/>
          <p:cNvSpPr txBox="1"/>
          <p:nvPr/>
        </p:nvSpPr>
        <p:spPr>
          <a:xfrm>
            <a:off x="639348" y="3572057"/>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13</a:t>
            </a:r>
            <a:endParaRPr lang="en-US" sz="736" dirty="0"/>
          </a:p>
        </p:txBody>
      </p:sp>
      <p:sp>
        <p:nvSpPr>
          <p:cNvPr id="51" name="Text 47"/>
          <p:cNvSpPr txBox="1"/>
          <p:nvPr/>
        </p:nvSpPr>
        <p:spPr>
          <a:xfrm>
            <a:off x="986820" y="3572057"/>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endParaRPr lang="en-US" sz="836" dirty="0"/>
          </a:p>
        </p:txBody>
      </p:sp>
      <p:sp>
        <p:nvSpPr>
          <p:cNvPr id="52" name="Text 48"/>
          <p:cNvSpPr txBox="1"/>
          <p:nvPr/>
        </p:nvSpPr>
        <p:spPr>
          <a:xfrm>
            <a:off x="639348" y="3731266"/>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14</a:t>
            </a:r>
            <a:endParaRPr lang="en-US" sz="736" dirty="0"/>
          </a:p>
        </p:txBody>
      </p:sp>
      <p:sp>
        <p:nvSpPr>
          <p:cNvPr id="53" name="Text 49"/>
          <p:cNvSpPr txBox="1"/>
          <p:nvPr/>
        </p:nvSpPr>
        <p:spPr>
          <a:xfrm>
            <a:off x="986820" y="3731266"/>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&lt;/script&gt;</a:t>
            </a:r>
            <a:endParaRPr lang="en-US" sz="836" dirty="0"/>
          </a:p>
        </p:txBody>
      </p:sp>
      <p:sp>
        <p:nvSpPr>
          <p:cNvPr id="54" name="Shape 50"/>
          <p:cNvSpPr/>
          <p:nvPr/>
        </p:nvSpPr>
        <p:spPr>
          <a:xfrm>
            <a:off x="913668" y="2598516"/>
            <a:ext cx="4555175" cy="1151038"/>
          </a:xfrm>
          <a:prstGeom prst="roundRect">
            <a:avLst>
              <a:gd name="adj" fmla="val 3972"/>
            </a:avLst>
          </a:prstGeom>
          <a:solidFill>
            <a:srgbClr val="FFFFFF">
              <a:alpha val="0"/>
            </a:srgbClr>
          </a:solidFill>
          <a:ln w="31750">
            <a:solidFill>
              <a:srgbClr val="E53935"/>
            </a:solidFill>
            <a:prstDash val="solid"/>
          </a:ln>
        </p:spPr>
      </p:sp>
      <p:sp>
        <p:nvSpPr>
          <p:cNvPr id="55" name="Shape 51"/>
          <p:cNvSpPr/>
          <p:nvPr/>
        </p:nvSpPr>
        <p:spPr>
          <a:xfrm>
            <a:off x="5331684" y="2461356"/>
            <a:ext cx="274320" cy="274320"/>
          </a:xfrm>
          <a:prstGeom prst="ellipse">
            <a:avLst/>
          </a:prstGeom>
          <a:solidFill>
            <a:srgbClr val="E53935"/>
          </a:solidFill>
          <a:ln w="12700">
            <a:solidFill>
              <a:srgbClr val="FFFFFF"/>
            </a:solidFill>
            <a:prstDash val="solid"/>
          </a:ln>
        </p:spPr>
      </p:sp>
      <p:sp>
        <p:nvSpPr>
          <p:cNvPr id="56" name="Text 52"/>
          <p:cNvSpPr txBox="1"/>
          <p:nvPr/>
        </p:nvSpPr>
        <p:spPr>
          <a:xfrm>
            <a:off x="5331684" y="24613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7" name="Image 2" descr="preencoded.png">    </p:cNvPr>
          <p:cNvPicPr>
            <a:picLocks noChangeAspect="1"/>
          </p:cNvPicPr>
          <p:nvPr/>
        </p:nvPicPr>
        <p:blipFill>
          <a:blip r:embed="rId3"/>
          <a:stretch>
            <a:fillRect/>
          </a:stretch>
        </p:blipFill>
        <p:spPr>
          <a:xfrm>
            <a:off x="3417186" y="3229758"/>
            <a:ext cx="237744" cy="237744"/>
          </a:xfrm>
          <a:prstGeom prst="rect">
            <a:avLst/>
          </a:prstGeom>
        </p:spPr>
      </p:pic>
      <p:sp>
        <p:nvSpPr>
          <p:cNvPr id="58" name="Text 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9" name="Text 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kalkulator sederhana (ada bug)</a:t>
            </a:r>
            <a:endParaRPr lang="en-US" sz="1800" dirty="0"/>
          </a:p>
        </p:txBody>
      </p:sp>
      <p:sp>
        <p:nvSpPr>
          <p:cNvPr id="60" name="Text 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latihan_debug.html berisi 3 kolom input dan tombol Hitung. Fungsi menjumlahkan .value tanpa Number().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Angka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Latihan Debug</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file:///C:/.../latihan_debug.html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Kalkulator Setoran Pekanan</a:t>
            </a:r>
            <a:endParaRPr lang="en-US" sz="1100" dirty="0"/>
          </a:p>
        </p:txBody>
      </p:sp>
      <p:sp>
        <p:nvSpPr>
          <p:cNvPr id="32" name="Shape 25"/>
          <p:cNvSpPr/>
          <p:nvPr/>
        </p:nvSpPr>
        <p:spPr>
          <a:xfrm>
            <a:off x="933946" y="2244605"/>
            <a:ext cx="2194560" cy="1280160"/>
          </a:xfrm>
          <a:prstGeom prst="roundRect">
            <a:avLst>
              <a:gd name="adj" fmla="val 5714"/>
            </a:avLst>
          </a:prstGeom>
          <a:solidFill>
            <a:srgbClr val="FFFFFF"/>
          </a:solidFill>
          <a:ln w="9525">
            <a:solidFill>
              <a:srgbClr val="DDDDDD"/>
            </a:solidFill>
            <a:prstDash val="solid"/>
          </a:ln>
        </p:spPr>
      </p:sp>
      <p:sp>
        <p:nvSpPr>
          <p:cNvPr id="33" name="Text 26"/>
          <p:cNvSpPr txBox="1"/>
          <p:nvPr/>
        </p:nvSpPr>
        <p:spPr>
          <a:xfrm>
            <a:off x="1025386" y="2262893"/>
            <a:ext cx="2011680" cy="228600"/>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Berapa ayat yang kamu setor pekan ini?</a:t>
            </a:r>
            <a:endParaRPr lang="en-US" sz="800" dirty="0"/>
          </a:p>
        </p:txBody>
      </p:sp>
      <p:sp>
        <p:nvSpPr>
          <p:cNvPr id="34" name="Shape 27"/>
          <p:cNvSpPr/>
          <p:nvPr/>
        </p:nvSpPr>
        <p:spPr>
          <a:xfrm>
            <a:off x="1025386" y="2683517"/>
            <a:ext cx="640080" cy="182880"/>
          </a:xfrm>
          <a:prstGeom prst="rect">
            <a:avLst/>
          </a:prstGeom>
          <a:solidFill>
            <a:srgbClr val="FFFFFF"/>
          </a:solidFill>
          <a:ln w="6350">
            <a:solidFill>
              <a:srgbClr val="999999"/>
            </a:solidFill>
            <a:prstDash val="solid"/>
          </a:ln>
        </p:spPr>
      </p:sp>
      <p:sp>
        <p:nvSpPr>
          <p:cNvPr id="35" name="Text 28"/>
          <p:cNvSpPr txBox="1"/>
          <p:nvPr/>
        </p:nvSpPr>
        <p:spPr>
          <a:xfrm>
            <a:off x="105281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36" name="Shape 29"/>
          <p:cNvSpPr/>
          <p:nvPr/>
        </p:nvSpPr>
        <p:spPr>
          <a:xfrm>
            <a:off x="1695946" y="2683517"/>
            <a:ext cx="640080" cy="182880"/>
          </a:xfrm>
          <a:prstGeom prst="rect">
            <a:avLst/>
          </a:prstGeom>
          <a:solidFill>
            <a:srgbClr val="FFFFFF"/>
          </a:solidFill>
          <a:ln w="6350">
            <a:solidFill>
              <a:srgbClr val="999999"/>
            </a:solidFill>
            <a:prstDash val="solid"/>
          </a:ln>
        </p:spPr>
      </p:sp>
      <p:sp>
        <p:nvSpPr>
          <p:cNvPr id="37" name="Text 30"/>
          <p:cNvSpPr txBox="1"/>
          <p:nvPr/>
        </p:nvSpPr>
        <p:spPr>
          <a:xfrm>
            <a:off x="172337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38" name="Shape 31"/>
          <p:cNvSpPr/>
          <p:nvPr/>
        </p:nvSpPr>
        <p:spPr>
          <a:xfrm>
            <a:off x="2366506" y="2683517"/>
            <a:ext cx="640080" cy="182880"/>
          </a:xfrm>
          <a:prstGeom prst="rect">
            <a:avLst/>
          </a:prstGeom>
          <a:solidFill>
            <a:srgbClr val="FFFFFF"/>
          </a:solidFill>
          <a:ln w="6350">
            <a:solidFill>
              <a:srgbClr val="999999"/>
            </a:solidFill>
            <a:prstDash val="solid"/>
          </a:ln>
        </p:spPr>
      </p:sp>
      <p:sp>
        <p:nvSpPr>
          <p:cNvPr id="39" name="Text 32"/>
          <p:cNvSpPr txBox="1"/>
          <p:nvPr/>
        </p:nvSpPr>
        <p:spPr>
          <a:xfrm>
            <a:off x="239393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40" name="Shape 33"/>
          <p:cNvSpPr/>
          <p:nvPr/>
        </p:nvSpPr>
        <p:spPr>
          <a:xfrm>
            <a:off x="1528306" y="2939549"/>
            <a:ext cx="1005840"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1528306" y="2939549"/>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 Total</a:t>
            </a:r>
            <a:endParaRPr lang="en-US" sz="750" dirty="0"/>
          </a:p>
        </p:txBody>
      </p:sp>
      <p:sp>
        <p:nvSpPr>
          <p:cNvPr id="42" name="Text 35"/>
          <p:cNvSpPr txBox="1"/>
          <p:nvPr/>
        </p:nvSpPr>
        <p:spPr>
          <a:xfrm>
            <a:off x="1025386" y="3232157"/>
            <a:ext cx="2011680" cy="228600"/>
          </a:xfrm>
          <a:prstGeom prst="rect">
            <a:avLst/>
          </a:prstGeom>
          <a:noFill/>
          <a:ln/>
        </p:spPr>
        <p:txBody>
          <a:bodyPr wrap="square" lIns="0" tIns="0" rIns="0" bIns="0" rtlCol="0" anchor="t"/>
          <a:lstStyle/>
          <a:p>
            <a:pPr algn="ctr" indent="0" marL="0">
              <a:buNone/>
            </a:pPr>
            <a:r>
              <a:rPr lang="en-US" sz="850" b="1" dirty="0">
                <a:solidFill>
                  <a:srgbClr val="1F7A5C"/>
                </a:solidFill>
                <a:latin typeface="Arial" pitchFamily="34" charset="0"/>
                <a:ea typeface="Arial" pitchFamily="34" charset="-122"/>
                <a:cs typeface="Arial" pitchFamily="34" charset="-120"/>
              </a:rPr>
              <a:t>111</a:t>
            </a:r>
            <a:endParaRPr lang="en-US" sz="850" dirty="0"/>
          </a:p>
        </p:txBody>
      </p:sp>
      <p:sp>
        <p:nvSpPr>
          <p:cNvPr id="43" name="Shape 36"/>
          <p:cNvSpPr/>
          <p:nvPr/>
        </p:nvSpPr>
        <p:spPr>
          <a:xfrm>
            <a:off x="3554675" y="1695965"/>
            <a:ext cx="1965741" cy="2281131"/>
          </a:xfrm>
          <a:prstGeom prst="rect">
            <a:avLst/>
          </a:prstGeom>
          <a:solidFill>
            <a:srgbClr val="FFFFFF"/>
          </a:solidFill>
          <a:ln w="6350">
            <a:solidFill>
              <a:srgbClr val="CCCCCC"/>
            </a:solidFill>
            <a:prstDash val="solid"/>
          </a:ln>
        </p:spPr>
      </p:sp>
      <p:sp>
        <p:nvSpPr>
          <p:cNvPr id="44" name="Shape 37"/>
          <p:cNvSpPr/>
          <p:nvPr/>
        </p:nvSpPr>
        <p:spPr>
          <a:xfrm>
            <a:off x="3554675" y="1695965"/>
            <a:ext cx="1965741" cy="182880"/>
          </a:xfrm>
          <a:prstGeom prst="rect">
            <a:avLst/>
          </a:prstGeom>
          <a:solidFill>
            <a:srgbClr val="F1F3F4"/>
          </a:solidFill>
          <a:ln w="12700">
            <a:solidFill>
              <a:srgbClr val="F1F3F4"/>
            </a:solidFill>
            <a:prstDash val="solid"/>
          </a:ln>
        </p:spPr>
      </p:sp>
      <p:sp>
        <p:nvSpPr>
          <p:cNvPr id="45" name="Text 38"/>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46" name="Shape 39"/>
          <p:cNvSpPr/>
          <p:nvPr/>
        </p:nvSpPr>
        <p:spPr>
          <a:xfrm>
            <a:off x="4121603" y="1851413"/>
            <a:ext cx="365760" cy="22860"/>
          </a:xfrm>
          <a:prstGeom prst="rect">
            <a:avLst/>
          </a:prstGeom>
          <a:solidFill>
            <a:srgbClr val="1A73E8"/>
          </a:solidFill>
          <a:ln w="12700">
            <a:solidFill>
              <a:srgbClr val="1A73E8"/>
            </a:solidFill>
            <a:prstDash val="solid"/>
          </a:ln>
        </p:spPr>
      </p:sp>
      <p:sp>
        <p:nvSpPr>
          <p:cNvPr id="47" name="Text 40"/>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(tidak ada error)</a:t>
            </a:r>
            <a:endParaRPr lang="en-US" sz="600" dirty="0"/>
          </a:p>
        </p:txBody>
      </p:sp>
      <p:sp>
        <p:nvSpPr>
          <p:cNvPr id="48" name="Shape 41"/>
          <p:cNvSpPr/>
          <p:nvPr/>
        </p:nvSpPr>
        <p:spPr>
          <a:xfrm>
            <a:off x="770656" y="3159005"/>
            <a:ext cx="2493752" cy="356616"/>
          </a:xfrm>
          <a:prstGeom prst="roundRect">
            <a:avLst>
              <a:gd name="adj" fmla="val 12821"/>
            </a:avLst>
          </a:prstGeom>
          <a:solidFill>
            <a:srgbClr val="FFFFFF">
              <a:alpha val="0"/>
            </a:srgbClr>
          </a:solidFill>
          <a:ln w="31750">
            <a:solidFill>
              <a:srgbClr val="E53935"/>
            </a:solidFill>
            <a:prstDash val="solid"/>
          </a:ln>
        </p:spPr>
      </p:sp>
      <p:sp>
        <p:nvSpPr>
          <p:cNvPr id="49" name="Shape 42"/>
          <p:cNvSpPr/>
          <p:nvPr/>
        </p:nvSpPr>
        <p:spPr>
          <a:xfrm>
            <a:off x="3127248" y="3021845"/>
            <a:ext cx="274320" cy="274320"/>
          </a:xfrm>
          <a:prstGeom prst="ellipse">
            <a:avLst/>
          </a:prstGeom>
          <a:solidFill>
            <a:srgbClr val="E53935"/>
          </a:solidFill>
          <a:ln w="12700">
            <a:solidFill>
              <a:srgbClr val="FFFFFF"/>
            </a:solidFill>
            <a:prstDash val="solid"/>
          </a:ln>
        </p:spPr>
      </p:sp>
      <p:sp>
        <p:nvSpPr>
          <p:cNvPr id="50" name="Text 43"/>
          <p:cNvSpPr txBox="1"/>
          <p:nvPr/>
        </p:nvSpPr>
        <p:spPr>
          <a:xfrm>
            <a:off x="3127248" y="30218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1" name="Image 5" descr="preencoded.png">    </p:cNvPr>
          <p:cNvPicPr>
            <a:picLocks noChangeAspect="1"/>
          </p:cNvPicPr>
          <p:nvPr/>
        </p:nvPicPr>
        <p:blipFill>
          <a:blip r:embed="rId6"/>
          <a:stretch>
            <a:fillRect/>
          </a:stretch>
        </p:blipFill>
        <p:spPr>
          <a:xfrm>
            <a:off x="2140391" y="3353315"/>
            <a:ext cx="237744" cy="237744"/>
          </a:xfrm>
          <a:prstGeom prst="rect">
            <a:avLst/>
          </a:prstGeom>
        </p:spPr>
      </p:pic>
      <p:sp>
        <p:nvSpPr>
          <p:cNvPr id="52"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3"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Amati dan ulangi: 1, 1, 1</a:t>
            </a:r>
            <a:endParaRPr lang="en-US" sz="1800" dirty="0"/>
          </a:p>
        </p:txBody>
      </p:sp>
      <p:sp>
        <p:nvSpPr>
          <p:cNvPr id="54"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1, 1, 1 lalu Hitung. Hasilnya 111! Console tidak menampilkan error. Ulangi dengan 2, 3, 4: hasilnya 234.</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Angka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Latihan Debug</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file:///C:/.../latihan_debug.html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Kalkulator Setoran Pekanan</a:t>
            </a:r>
            <a:endParaRPr lang="en-US" sz="1100" dirty="0"/>
          </a:p>
        </p:txBody>
      </p:sp>
      <p:sp>
        <p:nvSpPr>
          <p:cNvPr id="32" name="Shape 25"/>
          <p:cNvSpPr/>
          <p:nvPr/>
        </p:nvSpPr>
        <p:spPr>
          <a:xfrm>
            <a:off x="933946" y="2244605"/>
            <a:ext cx="2194560" cy="1280160"/>
          </a:xfrm>
          <a:prstGeom prst="roundRect">
            <a:avLst>
              <a:gd name="adj" fmla="val 5714"/>
            </a:avLst>
          </a:prstGeom>
          <a:solidFill>
            <a:srgbClr val="FFFFFF"/>
          </a:solidFill>
          <a:ln w="9525">
            <a:solidFill>
              <a:srgbClr val="DDDDDD"/>
            </a:solidFill>
            <a:prstDash val="solid"/>
          </a:ln>
        </p:spPr>
      </p:sp>
      <p:sp>
        <p:nvSpPr>
          <p:cNvPr id="33" name="Text 26"/>
          <p:cNvSpPr txBox="1"/>
          <p:nvPr/>
        </p:nvSpPr>
        <p:spPr>
          <a:xfrm>
            <a:off x="1025386" y="2262893"/>
            <a:ext cx="2011680" cy="228600"/>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Berapa ayat yang kamu setor pekan ini?</a:t>
            </a:r>
            <a:endParaRPr lang="en-US" sz="800" dirty="0"/>
          </a:p>
        </p:txBody>
      </p:sp>
      <p:sp>
        <p:nvSpPr>
          <p:cNvPr id="34" name="Shape 27"/>
          <p:cNvSpPr/>
          <p:nvPr/>
        </p:nvSpPr>
        <p:spPr>
          <a:xfrm>
            <a:off x="1025386" y="2683517"/>
            <a:ext cx="640080" cy="182880"/>
          </a:xfrm>
          <a:prstGeom prst="rect">
            <a:avLst/>
          </a:prstGeom>
          <a:solidFill>
            <a:srgbClr val="FFFFFF"/>
          </a:solidFill>
          <a:ln w="6350">
            <a:solidFill>
              <a:srgbClr val="999999"/>
            </a:solidFill>
            <a:prstDash val="solid"/>
          </a:ln>
        </p:spPr>
      </p:sp>
      <p:sp>
        <p:nvSpPr>
          <p:cNvPr id="35" name="Text 28"/>
          <p:cNvSpPr txBox="1"/>
          <p:nvPr/>
        </p:nvSpPr>
        <p:spPr>
          <a:xfrm>
            <a:off x="105281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36" name="Shape 29"/>
          <p:cNvSpPr/>
          <p:nvPr/>
        </p:nvSpPr>
        <p:spPr>
          <a:xfrm>
            <a:off x="1695946" y="2683517"/>
            <a:ext cx="640080" cy="182880"/>
          </a:xfrm>
          <a:prstGeom prst="rect">
            <a:avLst/>
          </a:prstGeom>
          <a:solidFill>
            <a:srgbClr val="FFFFFF"/>
          </a:solidFill>
          <a:ln w="6350">
            <a:solidFill>
              <a:srgbClr val="999999"/>
            </a:solidFill>
            <a:prstDash val="solid"/>
          </a:ln>
        </p:spPr>
      </p:sp>
      <p:sp>
        <p:nvSpPr>
          <p:cNvPr id="37" name="Text 30"/>
          <p:cNvSpPr txBox="1"/>
          <p:nvPr/>
        </p:nvSpPr>
        <p:spPr>
          <a:xfrm>
            <a:off x="172337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38" name="Shape 31"/>
          <p:cNvSpPr/>
          <p:nvPr/>
        </p:nvSpPr>
        <p:spPr>
          <a:xfrm>
            <a:off x="2366506" y="2683517"/>
            <a:ext cx="640080" cy="182880"/>
          </a:xfrm>
          <a:prstGeom prst="rect">
            <a:avLst/>
          </a:prstGeom>
          <a:solidFill>
            <a:srgbClr val="FFFFFF"/>
          </a:solidFill>
          <a:ln w="6350">
            <a:solidFill>
              <a:srgbClr val="999999"/>
            </a:solidFill>
            <a:prstDash val="solid"/>
          </a:ln>
        </p:spPr>
      </p:sp>
      <p:sp>
        <p:nvSpPr>
          <p:cNvPr id="39" name="Text 32"/>
          <p:cNvSpPr txBox="1"/>
          <p:nvPr/>
        </p:nvSpPr>
        <p:spPr>
          <a:xfrm>
            <a:off x="239393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40" name="Shape 33"/>
          <p:cNvSpPr/>
          <p:nvPr/>
        </p:nvSpPr>
        <p:spPr>
          <a:xfrm>
            <a:off x="1528306" y="2939549"/>
            <a:ext cx="1005840"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1528306" y="2939549"/>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 Total</a:t>
            </a:r>
            <a:endParaRPr lang="en-US" sz="750" dirty="0"/>
          </a:p>
        </p:txBody>
      </p:sp>
      <p:sp>
        <p:nvSpPr>
          <p:cNvPr id="42" name="Text 35"/>
          <p:cNvSpPr txBox="1"/>
          <p:nvPr/>
        </p:nvSpPr>
        <p:spPr>
          <a:xfrm>
            <a:off x="1025386" y="3232157"/>
            <a:ext cx="2011680" cy="228600"/>
          </a:xfrm>
          <a:prstGeom prst="rect">
            <a:avLst/>
          </a:prstGeom>
          <a:noFill/>
          <a:ln/>
        </p:spPr>
        <p:txBody>
          <a:bodyPr wrap="square" lIns="0" tIns="0" rIns="0" bIns="0" rtlCol="0" anchor="t"/>
          <a:lstStyle/>
          <a:p>
            <a:pPr algn="ctr" indent="0" marL="0">
              <a:buNone/>
            </a:pPr>
            <a:r>
              <a:rPr lang="en-US" sz="850" b="1" dirty="0">
                <a:solidFill>
                  <a:srgbClr val="1F7A5C"/>
                </a:solidFill>
                <a:latin typeface="Arial" pitchFamily="34" charset="0"/>
                <a:ea typeface="Arial" pitchFamily="34" charset="-122"/>
                <a:cs typeface="Arial" pitchFamily="34" charset="-120"/>
              </a:rPr>
              <a:t>111</a:t>
            </a:r>
            <a:endParaRPr lang="en-US" sz="850" dirty="0"/>
          </a:p>
        </p:txBody>
      </p:sp>
      <p:sp>
        <p:nvSpPr>
          <p:cNvPr id="43" name="Shape 36"/>
          <p:cNvSpPr/>
          <p:nvPr/>
        </p:nvSpPr>
        <p:spPr>
          <a:xfrm>
            <a:off x="3554675" y="1695965"/>
            <a:ext cx="1965741" cy="2281131"/>
          </a:xfrm>
          <a:prstGeom prst="rect">
            <a:avLst/>
          </a:prstGeom>
          <a:solidFill>
            <a:srgbClr val="FFFFFF"/>
          </a:solidFill>
          <a:ln w="6350">
            <a:solidFill>
              <a:srgbClr val="CCCCCC"/>
            </a:solidFill>
            <a:prstDash val="solid"/>
          </a:ln>
        </p:spPr>
      </p:sp>
      <p:sp>
        <p:nvSpPr>
          <p:cNvPr id="44" name="Shape 37"/>
          <p:cNvSpPr/>
          <p:nvPr/>
        </p:nvSpPr>
        <p:spPr>
          <a:xfrm>
            <a:off x="3554675" y="1695965"/>
            <a:ext cx="1965741" cy="182880"/>
          </a:xfrm>
          <a:prstGeom prst="rect">
            <a:avLst/>
          </a:prstGeom>
          <a:solidFill>
            <a:srgbClr val="F1F3F4"/>
          </a:solidFill>
          <a:ln w="12700">
            <a:solidFill>
              <a:srgbClr val="F1F3F4"/>
            </a:solidFill>
            <a:prstDash val="solid"/>
          </a:ln>
        </p:spPr>
      </p:sp>
      <p:sp>
        <p:nvSpPr>
          <p:cNvPr id="45" name="Text 38"/>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46" name="Shape 39"/>
          <p:cNvSpPr/>
          <p:nvPr/>
        </p:nvSpPr>
        <p:spPr>
          <a:xfrm>
            <a:off x="4121603" y="1851413"/>
            <a:ext cx="365760" cy="22860"/>
          </a:xfrm>
          <a:prstGeom prst="rect">
            <a:avLst/>
          </a:prstGeom>
          <a:solidFill>
            <a:srgbClr val="1A73E8"/>
          </a:solidFill>
          <a:ln w="12700">
            <a:solidFill>
              <a:srgbClr val="1A73E8"/>
            </a:solidFill>
            <a:prstDash val="solid"/>
          </a:ln>
        </p:spPr>
      </p:sp>
      <p:sp>
        <p:nvSpPr>
          <p:cNvPr id="47" name="Text 40"/>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1 string</a:t>
            </a:r>
            <a:endParaRPr lang="en-US" sz="600" dirty="0"/>
          </a:p>
        </p:txBody>
      </p:sp>
      <p:sp>
        <p:nvSpPr>
          <p:cNvPr id="48" name="Text 41"/>
          <p:cNvSpPr txBox="1"/>
          <p:nvPr/>
        </p:nvSpPr>
        <p:spPr>
          <a:xfrm>
            <a:off x="3600395" y="2144021"/>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1 string</a:t>
            </a:r>
            <a:endParaRPr lang="en-US" sz="600" dirty="0"/>
          </a:p>
        </p:txBody>
      </p:sp>
      <p:sp>
        <p:nvSpPr>
          <p:cNvPr id="49" name="Text 42"/>
          <p:cNvSpPr txBox="1"/>
          <p:nvPr/>
        </p:nvSpPr>
        <p:spPr>
          <a:xfrm>
            <a:off x="3600395" y="2363477"/>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1 string</a:t>
            </a:r>
            <a:endParaRPr lang="en-US" sz="600" dirty="0"/>
          </a:p>
        </p:txBody>
      </p:sp>
      <p:sp>
        <p:nvSpPr>
          <p:cNvPr id="50" name="Shape 43"/>
          <p:cNvSpPr/>
          <p:nvPr/>
        </p:nvSpPr>
        <p:spPr>
          <a:xfrm>
            <a:off x="3536387" y="1906277"/>
            <a:ext cx="2002317" cy="676656"/>
          </a:xfrm>
          <a:prstGeom prst="roundRect">
            <a:avLst>
              <a:gd name="adj" fmla="val 6757"/>
            </a:avLst>
          </a:prstGeom>
          <a:solidFill>
            <a:srgbClr val="FFFFFF">
              <a:alpha val="0"/>
            </a:srgbClr>
          </a:solidFill>
          <a:ln w="31750">
            <a:solidFill>
              <a:srgbClr val="E53935"/>
            </a:solidFill>
            <a:prstDash val="solid"/>
          </a:ln>
        </p:spPr>
      </p:sp>
      <p:sp>
        <p:nvSpPr>
          <p:cNvPr id="51" name="Shape 44"/>
          <p:cNvSpPr/>
          <p:nvPr/>
        </p:nvSpPr>
        <p:spPr>
          <a:xfrm>
            <a:off x="5401544" y="1769117"/>
            <a:ext cx="274320" cy="274320"/>
          </a:xfrm>
          <a:prstGeom prst="ellipse">
            <a:avLst/>
          </a:prstGeom>
          <a:solidFill>
            <a:srgbClr val="E53935"/>
          </a:solidFill>
          <a:ln w="12700">
            <a:solidFill>
              <a:srgbClr val="FFFFFF"/>
            </a:solidFill>
            <a:prstDash val="solid"/>
          </a:ln>
        </p:spPr>
      </p:sp>
      <p:sp>
        <p:nvSpPr>
          <p:cNvPr id="52" name="Text 45"/>
          <p:cNvSpPr txBox="1"/>
          <p:nvPr/>
        </p:nvSpPr>
        <p:spPr>
          <a:xfrm>
            <a:off x="5401544" y="1769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3" name="Image 5" descr="preencoded.png">    </p:cNvPr>
          <p:cNvPicPr>
            <a:picLocks noChangeAspect="1"/>
          </p:cNvPicPr>
          <p:nvPr/>
        </p:nvPicPr>
        <p:blipFill>
          <a:blip r:embed="rId6"/>
          <a:stretch>
            <a:fillRect/>
          </a:stretch>
        </p:blipFill>
        <p:spPr>
          <a:xfrm>
            <a:off x="4635832" y="2276609"/>
            <a:ext cx="237744" cy="237744"/>
          </a:xfrm>
          <a:prstGeom prst="rect">
            <a:avLst/>
          </a:prstGeom>
        </p:spPr>
      </p:pic>
      <p:sp>
        <p:nvSpPr>
          <p:cNvPr id="54"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5"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Persempit dengan console.log</a:t>
            </a:r>
            <a:endParaRPr lang="en-US" sz="1800" dirty="0"/>
          </a:p>
        </p:txBody>
      </p:sp>
      <p:sp>
        <p:nvSpPr>
          <p:cNvPr id="56"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console.log(senin, typeof senin); di dalam fungsi. Uji lagi. Console: 1 string. Perbaiki dengan Number().</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Tanya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Latihan Debug</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file:///C:/.../latihan_debug.html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Kalkulator Setoran Pekanan</a:t>
            </a:r>
            <a:endParaRPr lang="en-US" sz="1100" dirty="0"/>
          </a:p>
        </p:txBody>
      </p:sp>
      <p:sp>
        <p:nvSpPr>
          <p:cNvPr id="32" name="Shape 25"/>
          <p:cNvSpPr/>
          <p:nvPr/>
        </p:nvSpPr>
        <p:spPr>
          <a:xfrm>
            <a:off x="933946" y="2244605"/>
            <a:ext cx="2194560" cy="1280160"/>
          </a:xfrm>
          <a:prstGeom prst="roundRect">
            <a:avLst>
              <a:gd name="adj" fmla="val 5714"/>
            </a:avLst>
          </a:prstGeom>
          <a:solidFill>
            <a:srgbClr val="FFFFFF"/>
          </a:solidFill>
          <a:ln w="9525">
            <a:solidFill>
              <a:srgbClr val="DDDDDD"/>
            </a:solidFill>
            <a:prstDash val="solid"/>
          </a:ln>
        </p:spPr>
      </p:sp>
      <p:sp>
        <p:nvSpPr>
          <p:cNvPr id="33" name="Text 26"/>
          <p:cNvSpPr txBox="1"/>
          <p:nvPr/>
        </p:nvSpPr>
        <p:spPr>
          <a:xfrm>
            <a:off x="1025386" y="2262893"/>
            <a:ext cx="2011680" cy="228600"/>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Berapa ayat yang kamu setor pekan ini?</a:t>
            </a:r>
            <a:endParaRPr lang="en-US" sz="800" dirty="0"/>
          </a:p>
        </p:txBody>
      </p:sp>
      <p:sp>
        <p:nvSpPr>
          <p:cNvPr id="34" name="Shape 27"/>
          <p:cNvSpPr/>
          <p:nvPr/>
        </p:nvSpPr>
        <p:spPr>
          <a:xfrm>
            <a:off x="1025386" y="2683517"/>
            <a:ext cx="640080" cy="182880"/>
          </a:xfrm>
          <a:prstGeom prst="rect">
            <a:avLst/>
          </a:prstGeom>
          <a:solidFill>
            <a:srgbClr val="FFFFFF"/>
          </a:solidFill>
          <a:ln w="6350">
            <a:solidFill>
              <a:srgbClr val="999999"/>
            </a:solidFill>
            <a:prstDash val="solid"/>
          </a:ln>
        </p:spPr>
      </p:sp>
      <p:sp>
        <p:nvSpPr>
          <p:cNvPr id="35" name="Text 28"/>
          <p:cNvSpPr txBox="1"/>
          <p:nvPr/>
        </p:nvSpPr>
        <p:spPr>
          <a:xfrm>
            <a:off x="105281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36" name="Shape 29"/>
          <p:cNvSpPr/>
          <p:nvPr/>
        </p:nvSpPr>
        <p:spPr>
          <a:xfrm>
            <a:off x="1695946" y="2683517"/>
            <a:ext cx="640080" cy="182880"/>
          </a:xfrm>
          <a:prstGeom prst="rect">
            <a:avLst/>
          </a:prstGeom>
          <a:solidFill>
            <a:srgbClr val="FFFFFF"/>
          </a:solidFill>
          <a:ln w="6350">
            <a:solidFill>
              <a:srgbClr val="999999"/>
            </a:solidFill>
            <a:prstDash val="solid"/>
          </a:ln>
        </p:spPr>
      </p:sp>
      <p:sp>
        <p:nvSpPr>
          <p:cNvPr id="37" name="Text 30"/>
          <p:cNvSpPr txBox="1"/>
          <p:nvPr/>
        </p:nvSpPr>
        <p:spPr>
          <a:xfrm>
            <a:off x="172337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38" name="Shape 31"/>
          <p:cNvSpPr/>
          <p:nvPr/>
        </p:nvSpPr>
        <p:spPr>
          <a:xfrm>
            <a:off x="2366506" y="2683517"/>
            <a:ext cx="640080" cy="182880"/>
          </a:xfrm>
          <a:prstGeom prst="rect">
            <a:avLst/>
          </a:prstGeom>
          <a:solidFill>
            <a:srgbClr val="FFFFFF"/>
          </a:solidFill>
          <a:ln w="6350">
            <a:solidFill>
              <a:srgbClr val="999999"/>
            </a:solidFill>
            <a:prstDash val="solid"/>
          </a:ln>
        </p:spPr>
      </p:sp>
      <p:sp>
        <p:nvSpPr>
          <p:cNvPr id="39" name="Text 32"/>
          <p:cNvSpPr txBox="1"/>
          <p:nvPr/>
        </p:nvSpPr>
        <p:spPr>
          <a:xfrm>
            <a:off x="239393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a:t>
            </a:r>
            <a:endParaRPr lang="en-US" sz="650" dirty="0"/>
          </a:p>
        </p:txBody>
      </p:sp>
      <p:sp>
        <p:nvSpPr>
          <p:cNvPr id="40" name="Shape 33"/>
          <p:cNvSpPr/>
          <p:nvPr/>
        </p:nvSpPr>
        <p:spPr>
          <a:xfrm>
            <a:off x="1528306" y="2939549"/>
            <a:ext cx="1005840"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1528306" y="2939549"/>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 Total</a:t>
            </a:r>
            <a:endParaRPr lang="en-US" sz="750" dirty="0"/>
          </a:p>
        </p:txBody>
      </p:sp>
      <p:sp>
        <p:nvSpPr>
          <p:cNvPr id="42" name="Shape 35"/>
          <p:cNvSpPr/>
          <p:nvPr/>
        </p:nvSpPr>
        <p:spPr>
          <a:xfrm>
            <a:off x="3554675" y="1695965"/>
            <a:ext cx="1965741" cy="2281131"/>
          </a:xfrm>
          <a:prstGeom prst="rect">
            <a:avLst/>
          </a:prstGeom>
          <a:solidFill>
            <a:srgbClr val="FFFFFF"/>
          </a:solidFill>
          <a:ln w="6350">
            <a:solidFill>
              <a:srgbClr val="CCCCCC"/>
            </a:solidFill>
            <a:prstDash val="solid"/>
          </a:ln>
        </p:spPr>
      </p:sp>
      <p:sp>
        <p:nvSpPr>
          <p:cNvPr id="43" name="Shape 36"/>
          <p:cNvSpPr/>
          <p:nvPr/>
        </p:nvSpPr>
        <p:spPr>
          <a:xfrm>
            <a:off x="3554675" y="1695965"/>
            <a:ext cx="1965741" cy="182880"/>
          </a:xfrm>
          <a:prstGeom prst="rect">
            <a:avLst/>
          </a:prstGeom>
          <a:solidFill>
            <a:srgbClr val="F1F3F4"/>
          </a:solidFill>
          <a:ln w="12700">
            <a:solidFill>
              <a:srgbClr val="F1F3F4"/>
            </a:solidFill>
            <a:prstDash val="solid"/>
          </a:ln>
        </p:spPr>
      </p:sp>
      <p:sp>
        <p:nvSpPr>
          <p:cNvPr id="44" name="Text 37"/>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45" name="Shape 38"/>
          <p:cNvSpPr/>
          <p:nvPr/>
        </p:nvSpPr>
        <p:spPr>
          <a:xfrm>
            <a:off x="4121603" y="1851413"/>
            <a:ext cx="365760" cy="22860"/>
          </a:xfrm>
          <a:prstGeom prst="rect">
            <a:avLst/>
          </a:prstGeom>
          <a:solidFill>
            <a:srgbClr val="1A73E8"/>
          </a:solidFill>
          <a:ln w="12700">
            <a:solidFill>
              <a:srgbClr val="1A73E8"/>
            </a:solidFill>
            <a:prstDash val="solid"/>
          </a:ln>
        </p:spPr>
      </p:sp>
      <p:sp>
        <p:nvSpPr>
          <p:cNvPr id="46" name="Shape 39"/>
          <p:cNvSpPr/>
          <p:nvPr/>
        </p:nvSpPr>
        <p:spPr>
          <a:xfrm>
            <a:off x="3554675" y="1924565"/>
            <a:ext cx="1965741" cy="201168"/>
          </a:xfrm>
          <a:prstGeom prst="rect">
            <a:avLst/>
          </a:prstGeom>
          <a:solidFill>
            <a:srgbClr val="FCE8E6"/>
          </a:solidFill>
          <a:ln w="12700">
            <a:solidFill>
              <a:srgbClr val="FCE8E6"/>
            </a:solidFill>
            <a:prstDash val="solid"/>
          </a:ln>
        </p:spPr>
      </p:sp>
      <p:sp>
        <p:nvSpPr>
          <p:cNvPr id="47" name="Text 40"/>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Uncaught TypeError: Cannot</a:t>
            </a:r>
            <a:endParaRPr lang="en-US" sz="600" dirty="0"/>
          </a:p>
        </p:txBody>
      </p:sp>
      <p:sp>
        <p:nvSpPr>
          <p:cNvPr id="48" name="Shape 41"/>
          <p:cNvSpPr/>
          <p:nvPr/>
        </p:nvSpPr>
        <p:spPr>
          <a:xfrm>
            <a:off x="3554675" y="2144021"/>
            <a:ext cx="1965741" cy="201168"/>
          </a:xfrm>
          <a:prstGeom prst="rect">
            <a:avLst/>
          </a:prstGeom>
          <a:solidFill>
            <a:srgbClr val="FCE8E6"/>
          </a:solidFill>
          <a:ln w="12700">
            <a:solidFill>
              <a:srgbClr val="FCE8E6"/>
            </a:solidFill>
            <a:prstDash val="solid"/>
          </a:ln>
        </p:spPr>
      </p:sp>
      <p:sp>
        <p:nvSpPr>
          <p:cNvPr id="49" name="Text 42"/>
          <p:cNvSpPr txBox="1"/>
          <p:nvPr/>
        </p:nvSpPr>
        <p:spPr>
          <a:xfrm>
            <a:off x="3600395" y="2144021"/>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set properties of null</a:t>
            </a:r>
            <a:endParaRPr lang="en-US" sz="600" dirty="0"/>
          </a:p>
        </p:txBody>
      </p:sp>
      <p:sp>
        <p:nvSpPr>
          <p:cNvPr id="50" name="Shape 43"/>
          <p:cNvSpPr/>
          <p:nvPr/>
        </p:nvSpPr>
        <p:spPr>
          <a:xfrm>
            <a:off x="3554675" y="2363477"/>
            <a:ext cx="1965741" cy="201168"/>
          </a:xfrm>
          <a:prstGeom prst="rect">
            <a:avLst/>
          </a:prstGeom>
          <a:solidFill>
            <a:srgbClr val="FCE8E6"/>
          </a:solidFill>
          <a:ln w="12700">
            <a:solidFill>
              <a:srgbClr val="FCE8E6"/>
            </a:solidFill>
            <a:prstDash val="solid"/>
          </a:ln>
        </p:spPr>
      </p:sp>
      <p:sp>
        <p:nvSpPr>
          <p:cNvPr id="51" name="Text 44"/>
          <p:cNvSpPr txBox="1"/>
          <p:nvPr/>
        </p:nvSpPr>
        <p:spPr>
          <a:xfrm>
            <a:off x="3600395" y="2363477"/>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(setting 'textContent')</a:t>
            </a:r>
            <a:endParaRPr lang="en-US" sz="600" dirty="0"/>
          </a:p>
        </p:txBody>
      </p:sp>
      <p:sp>
        <p:nvSpPr>
          <p:cNvPr id="52" name="Text 45"/>
          <p:cNvSpPr txBox="1"/>
          <p:nvPr/>
        </p:nvSpPr>
        <p:spPr>
          <a:xfrm>
            <a:off x="3600395" y="2582933"/>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   latihan_debug.html:15</a:t>
            </a:r>
            <a:endParaRPr lang="en-US" sz="600" dirty="0"/>
          </a:p>
        </p:txBody>
      </p:sp>
      <p:sp>
        <p:nvSpPr>
          <p:cNvPr id="53" name="Shape 46"/>
          <p:cNvSpPr/>
          <p:nvPr/>
        </p:nvSpPr>
        <p:spPr>
          <a:xfrm>
            <a:off x="3536387" y="1906277"/>
            <a:ext cx="2002317" cy="896112"/>
          </a:xfrm>
          <a:prstGeom prst="roundRect">
            <a:avLst>
              <a:gd name="adj" fmla="val 5102"/>
            </a:avLst>
          </a:prstGeom>
          <a:solidFill>
            <a:srgbClr val="FFFFFF">
              <a:alpha val="0"/>
            </a:srgbClr>
          </a:solidFill>
          <a:ln w="31750">
            <a:solidFill>
              <a:srgbClr val="E53935"/>
            </a:solidFill>
            <a:prstDash val="solid"/>
          </a:ln>
        </p:spPr>
      </p:sp>
      <p:sp>
        <p:nvSpPr>
          <p:cNvPr id="54" name="Shape 47"/>
          <p:cNvSpPr/>
          <p:nvPr/>
        </p:nvSpPr>
        <p:spPr>
          <a:xfrm>
            <a:off x="5401544" y="1769117"/>
            <a:ext cx="274320" cy="274320"/>
          </a:xfrm>
          <a:prstGeom prst="ellipse">
            <a:avLst/>
          </a:prstGeom>
          <a:solidFill>
            <a:srgbClr val="E53935"/>
          </a:solidFill>
          <a:ln w="12700">
            <a:solidFill>
              <a:srgbClr val="FFFFFF"/>
            </a:solidFill>
            <a:prstDash val="solid"/>
          </a:ln>
        </p:spPr>
      </p:sp>
      <p:sp>
        <p:nvSpPr>
          <p:cNvPr id="55" name="Text 48"/>
          <p:cNvSpPr txBox="1"/>
          <p:nvPr/>
        </p:nvSpPr>
        <p:spPr>
          <a:xfrm>
            <a:off x="5401544" y="1769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6" name="Image 5" descr="preencoded.png">    </p:cNvPr>
          <p:cNvPicPr>
            <a:picLocks noChangeAspect="1"/>
          </p:cNvPicPr>
          <p:nvPr/>
        </p:nvPicPr>
        <p:blipFill>
          <a:blip r:embed="rId6"/>
          <a:stretch>
            <a:fillRect/>
          </a:stretch>
        </p:blipFill>
        <p:spPr>
          <a:xfrm>
            <a:off x="4635832" y="2397310"/>
            <a:ext cx="237744" cy="237744"/>
          </a:xfrm>
          <a:prstGeom prst="rect">
            <a:avLst/>
          </a:prstGeom>
        </p:spPr>
      </p:pic>
      <p:sp>
        <p:nvSpPr>
          <p:cNvPr id="57"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8"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Bug kedua: guru mengubah id</a:t>
            </a:r>
            <a:endParaRPr lang="en-US" sz="1800" dirty="0"/>
          </a:p>
        </p:txBody>
      </p:sp>
      <p:sp>
        <p:nvSpPr>
          <p:cNvPr id="59"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meminta ubah &lt;p id="hasil"&gt; menjadi id="hasill". Uji: Console menampilkan TypeError ... null. Coba cari sendiri 3 menit.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Tanya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557784"/>
          </a:xfrm>
          <a:prstGeom prst="roundRect">
            <a:avLst>
              <a:gd name="adj" fmla="val 16393"/>
            </a:avLst>
          </a:prstGeom>
          <a:solidFill>
            <a:srgbClr val="E3E9F5"/>
          </a:solidFill>
          <a:ln w="12700">
            <a:solidFill>
              <a:srgbClr val="E3E9F5"/>
            </a:solidFill>
            <a:prstDash val="solid"/>
          </a:ln>
        </p:spPr>
      </p:sp>
      <p:sp>
        <p:nvSpPr>
          <p:cNvPr id="32" name="Text 25"/>
          <p:cNvSpPr txBox="1"/>
          <p:nvPr/>
        </p:nvSpPr>
        <p:spPr>
          <a:xfrm>
            <a:off x="2648468" y="1805693"/>
            <a:ext cx="2707356" cy="55778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Kode saya: [kode]. Error: Uncaught TypeError: Cannot set properties of null (setting 'textContent'). Jelaskan arti error dan penyebabnya. Beri langkah perbaikan, jangan ganti semua kode.</a:t>
            </a:r>
            <a:endParaRPr lang="en-US" sz="750" dirty="0"/>
          </a:p>
        </p:txBody>
      </p:sp>
      <p:pic>
        <p:nvPicPr>
          <p:cNvPr id="33" name="Image 5" descr="preencoded.png">    </p:cNvPr>
          <p:cNvPicPr>
            <a:picLocks noChangeAspect="1"/>
          </p:cNvPicPr>
          <p:nvPr/>
        </p:nvPicPr>
        <p:blipFill>
          <a:blip r:embed="rId6"/>
          <a:stretch>
            <a:fillRect/>
          </a:stretch>
        </p:blipFill>
        <p:spPr>
          <a:xfrm>
            <a:off x="1593616" y="2454917"/>
            <a:ext cx="182880" cy="182880"/>
          </a:xfrm>
          <a:prstGeom prst="rect">
            <a:avLst/>
          </a:prstGeom>
        </p:spPr>
      </p:pic>
      <p:sp>
        <p:nvSpPr>
          <p:cNvPr id="34" name="Text 26"/>
          <p:cNvSpPr txBox="1"/>
          <p:nvPr/>
        </p:nvSpPr>
        <p:spPr>
          <a:xfrm>
            <a:off x="1849648" y="2454917"/>
            <a:ext cx="3533607" cy="91440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Artinya: getElementById("hasil") tidak menemukan elemen, sehingga hasilnya null (kosong), lalu kode mencoba mengisi textContent pada sesuatu yang kosong.</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Penyebab: id di HTML adalah "hasill" (dua L), sedangkan JavaScript mencari "hasil".</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Perbaikan: samakan id keduanya.</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427485"/>
            <a:ext cx="3588471" cy="969264"/>
          </a:xfrm>
          <a:prstGeom prst="roundRect">
            <a:avLst>
              <a:gd name="adj" fmla="val 4717"/>
            </a:avLst>
          </a:prstGeom>
          <a:solidFill>
            <a:srgbClr val="FFFFFF">
              <a:alpha val="0"/>
            </a:srgbClr>
          </a:solidFill>
          <a:ln w="31750">
            <a:solidFill>
              <a:srgbClr val="E53935"/>
            </a:solidFill>
            <a:prstDash val="solid"/>
          </a:ln>
        </p:spPr>
      </p:sp>
      <p:sp>
        <p:nvSpPr>
          <p:cNvPr id="41" name="Shape 32"/>
          <p:cNvSpPr/>
          <p:nvPr/>
        </p:nvSpPr>
        <p:spPr>
          <a:xfrm>
            <a:off x="5273528" y="229032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3" name="Image 7" descr="preencoded.png">    </p:cNvPr>
          <p:cNvPicPr>
            <a:picLocks noChangeAspect="1"/>
          </p:cNvPicPr>
          <p:nvPr/>
        </p:nvPicPr>
        <p:blipFill>
          <a:blip r:embed="rId8"/>
          <a:stretch>
            <a:fillRect/>
          </a:stretch>
        </p:blipFill>
        <p:spPr>
          <a:xfrm>
            <a:off x="3793132" y="2957837"/>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Prompt debugging: minta penjelasan</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komputer ber-AI: tempel kode + pesan error. "Jelaskan arti error ini dan penyebabnya. Beri langkah perbaikan, jangan ganti semua kode."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Mencatat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Catatan_Debugging_Kel3 -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Catatan_Debugging_Kel3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Catatan Debugging</a:t>
            </a:r>
            <a:endParaRPr lang="en-US" sz="1100" dirty="0"/>
          </a:p>
        </p:txBody>
      </p:sp>
      <p:sp>
        <p:nvSpPr>
          <p:cNvPr id="70" name="Shape 59"/>
          <p:cNvSpPr/>
          <p:nvPr/>
        </p:nvSpPr>
        <p:spPr>
          <a:xfrm>
            <a:off x="1554480" y="2876938"/>
            <a:ext cx="75438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Gejala</a:t>
            </a:r>
            <a:endParaRPr lang="en-US" sz="650" dirty="0"/>
          </a:p>
        </p:txBody>
      </p:sp>
      <p:sp>
        <p:nvSpPr>
          <p:cNvPr id="72" name="Shape 61"/>
          <p:cNvSpPr/>
          <p:nvPr/>
        </p:nvSpPr>
        <p:spPr>
          <a:xfrm>
            <a:off x="2308860" y="2876938"/>
            <a:ext cx="754380" cy="182880"/>
          </a:xfrm>
          <a:prstGeom prst="rect">
            <a:avLst/>
          </a:prstGeom>
          <a:solidFill>
            <a:srgbClr val="D9EAD3"/>
          </a:solidFill>
          <a:ln w="6350">
            <a:solidFill>
              <a:srgbClr val="777777"/>
            </a:solidFill>
            <a:prstDash val="solid"/>
          </a:ln>
        </p:spPr>
      </p:sp>
      <p:sp>
        <p:nvSpPr>
          <p:cNvPr id="73" name="Text 62"/>
          <p:cNvSpPr txBox="1"/>
          <p:nvPr/>
        </p:nvSpPr>
        <p:spPr>
          <a:xfrm>
            <a:off x="233629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Cara ketemu</a:t>
            </a:r>
            <a:endParaRPr lang="en-US" sz="650" dirty="0"/>
          </a:p>
        </p:txBody>
      </p:sp>
      <p:sp>
        <p:nvSpPr>
          <p:cNvPr id="74" name="Shape 63"/>
          <p:cNvSpPr/>
          <p:nvPr/>
        </p:nvSpPr>
        <p:spPr>
          <a:xfrm>
            <a:off x="3063240" y="2876938"/>
            <a:ext cx="754380" cy="182880"/>
          </a:xfrm>
          <a:prstGeom prst="rect">
            <a:avLst/>
          </a:prstGeom>
          <a:solidFill>
            <a:srgbClr val="D9EAD3"/>
          </a:solidFill>
          <a:ln w="6350">
            <a:solidFill>
              <a:srgbClr val="777777"/>
            </a:solidFill>
            <a:prstDash val="solid"/>
          </a:ln>
        </p:spPr>
      </p:sp>
      <p:sp>
        <p:nvSpPr>
          <p:cNvPr id="75" name="Text 64"/>
          <p:cNvSpPr txBox="1"/>
          <p:nvPr/>
        </p:nvSpPr>
        <p:spPr>
          <a:xfrm>
            <a:off x="309067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Penyebab</a:t>
            </a:r>
            <a:endParaRPr lang="en-US" sz="650" dirty="0"/>
          </a:p>
        </p:txBody>
      </p:sp>
      <p:sp>
        <p:nvSpPr>
          <p:cNvPr id="76" name="Shape 65"/>
          <p:cNvSpPr/>
          <p:nvPr/>
        </p:nvSpPr>
        <p:spPr>
          <a:xfrm>
            <a:off x="3817620" y="2876938"/>
            <a:ext cx="754380" cy="182880"/>
          </a:xfrm>
          <a:prstGeom prst="rect">
            <a:avLst/>
          </a:prstGeom>
          <a:solidFill>
            <a:srgbClr val="D9EAD3"/>
          </a:solidFill>
          <a:ln w="6350">
            <a:solidFill>
              <a:srgbClr val="777777"/>
            </a:solidFill>
            <a:prstDash val="solid"/>
          </a:ln>
        </p:spPr>
      </p:sp>
      <p:sp>
        <p:nvSpPr>
          <p:cNvPr id="77" name="Text 66"/>
          <p:cNvSpPr txBox="1"/>
          <p:nvPr/>
        </p:nvSpPr>
        <p:spPr>
          <a:xfrm>
            <a:off x="384505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Perbaikan</a:t>
            </a:r>
            <a:endParaRPr lang="en-US" sz="650" dirty="0"/>
          </a:p>
        </p:txBody>
      </p:sp>
      <p:sp>
        <p:nvSpPr>
          <p:cNvPr id="78" name="Shape 67"/>
          <p:cNvSpPr/>
          <p:nvPr/>
        </p:nvSpPr>
        <p:spPr>
          <a:xfrm>
            <a:off x="1554480" y="3059818"/>
            <a:ext cx="754380" cy="182880"/>
          </a:xfrm>
          <a:prstGeom prst="rect">
            <a:avLst/>
          </a:prstGeom>
          <a:solidFill>
            <a:srgbClr val="FFFFFF"/>
          </a:solidFill>
          <a:ln w="6350">
            <a:solidFill>
              <a:srgbClr val="777777"/>
            </a:solidFill>
            <a:prstDash val="solid"/>
          </a:ln>
        </p:spPr>
      </p:sp>
      <p:sp>
        <p:nvSpPr>
          <p:cNvPr id="79" name="Text 68"/>
          <p:cNvSpPr txBox="1"/>
          <p:nvPr/>
        </p:nvSpPr>
        <p:spPr>
          <a:xfrm>
            <a:off x="158191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1+1+1 = 111</a:t>
            </a:r>
            <a:endParaRPr lang="en-US" sz="650" dirty="0"/>
          </a:p>
        </p:txBody>
      </p:sp>
      <p:sp>
        <p:nvSpPr>
          <p:cNvPr id="80" name="Shape 69"/>
          <p:cNvSpPr/>
          <p:nvPr/>
        </p:nvSpPr>
        <p:spPr>
          <a:xfrm>
            <a:off x="2308860" y="3059818"/>
            <a:ext cx="754380" cy="182880"/>
          </a:xfrm>
          <a:prstGeom prst="rect">
            <a:avLst/>
          </a:prstGeom>
          <a:solidFill>
            <a:srgbClr val="FFFFFF"/>
          </a:solidFill>
          <a:ln w="6350">
            <a:solidFill>
              <a:srgbClr val="777777"/>
            </a:solidFill>
            <a:prstDash val="solid"/>
          </a:ln>
        </p:spPr>
      </p:sp>
      <p:sp>
        <p:nvSpPr>
          <p:cNvPr id="81" name="Text 70"/>
          <p:cNvSpPr txBox="1"/>
          <p:nvPr/>
        </p:nvSpPr>
        <p:spPr>
          <a:xfrm>
            <a:off x="233629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console.log</a:t>
            </a:r>
            <a:endParaRPr lang="en-US" sz="650" dirty="0"/>
          </a:p>
        </p:txBody>
      </p:sp>
      <p:sp>
        <p:nvSpPr>
          <p:cNvPr id="82" name="Shape 71"/>
          <p:cNvSpPr/>
          <p:nvPr/>
        </p:nvSpPr>
        <p:spPr>
          <a:xfrm>
            <a:off x="3063240" y="3059818"/>
            <a:ext cx="754380" cy="182880"/>
          </a:xfrm>
          <a:prstGeom prst="rect">
            <a:avLst/>
          </a:prstGeom>
          <a:solidFill>
            <a:srgbClr val="FFFFFF"/>
          </a:solidFill>
          <a:ln w="6350">
            <a:solidFill>
              <a:srgbClr val="777777"/>
            </a:solidFill>
            <a:prstDash val="solid"/>
          </a:ln>
        </p:spPr>
      </p:sp>
      <p:sp>
        <p:nvSpPr>
          <p:cNvPr id="83" name="Text 72"/>
          <p:cNvSpPr txBox="1"/>
          <p:nvPr/>
        </p:nvSpPr>
        <p:spPr>
          <a:xfrm>
            <a:off x="309067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Nilai berupa teks</a:t>
            </a:r>
            <a:endParaRPr lang="en-US" sz="650" dirty="0"/>
          </a:p>
        </p:txBody>
      </p:sp>
      <p:sp>
        <p:nvSpPr>
          <p:cNvPr id="84" name="Shape 73"/>
          <p:cNvSpPr/>
          <p:nvPr/>
        </p:nvSpPr>
        <p:spPr>
          <a:xfrm>
            <a:off x="3817620" y="3059818"/>
            <a:ext cx="754380" cy="182880"/>
          </a:xfrm>
          <a:prstGeom prst="rect">
            <a:avLst/>
          </a:prstGeom>
          <a:solidFill>
            <a:srgbClr val="FFFFFF"/>
          </a:solidFill>
          <a:ln w="6350">
            <a:solidFill>
              <a:srgbClr val="777777"/>
            </a:solidFill>
            <a:prstDash val="solid"/>
          </a:ln>
        </p:spPr>
      </p:sp>
      <p:sp>
        <p:nvSpPr>
          <p:cNvPr id="85" name="Text 74"/>
          <p:cNvSpPr txBox="1"/>
          <p:nvPr/>
        </p:nvSpPr>
        <p:spPr>
          <a:xfrm>
            <a:off x="384505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Number()</a:t>
            </a:r>
            <a:endParaRPr lang="en-US" sz="650" dirty="0"/>
          </a:p>
        </p:txBody>
      </p:sp>
      <p:sp>
        <p:nvSpPr>
          <p:cNvPr id="86" name="Shape 75"/>
          <p:cNvSpPr/>
          <p:nvPr/>
        </p:nvSpPr>
        <p:spPr>
          <a:xfrm>
            <a:off x="1554480" y="3242698"/>
            <a:ext cx="754380" cy="182880"/>
          </a:xfrm>
          <a:prstGeom prst="rect">
            <a:avLst/>
          </a:prstGeom>
          <a:solidFill>
            <a:srgbClr val="FFFFFF"/>
          </a:solidFill>
          <a:ln w="6350">
            <a:solidFill>
              <a:srgbClr val="777777"/>
            </a:solidFill>
            <a:prstDash val="solid"/>
          </a:ln>
        </p:spPr>
      </p:sp>
      <p:sp>
        <p:nvSpPr>
          <p:cNvPr id="87" name="Text 76"/>
          <p:cNvSpPr txBox="1"/>
          <p:nvPr/>
        </p:nvSpPr>
        <p:spPr>
          <a:xfrm>
            <a:off x="158191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TypeError null</a:t>
            </a:r>
            <a:endParaRPr lang="en-US" sz="650" dirty="0"/>
          </a:p>
        </p:txBody>
      </p:sp>
      <p:sp>
        <p:nvSpPr>
          <p:cNvPr id="88" name="Shape 77"/>
          <p:cNvSpPr/>
          <p:nvPr/>
        </p:nvSpPr>
        <p:spPr>
          <a:xfrm>
            <a:off x="2308860" y="3242698"/>
            <a:ext cx="754380" cy="182880"/>
          </a:xfrm>
          <a:prstGeom prst="rect">
            <a:avLst/>
          </a:prstGeom>
          <a:solidFill>
            <a:srgbClr val="FFFFFF"/>
          </a:solidFill>
          <a:ln w="6350">
            <a:solidFill>
              <a:srgbClr val="777777"/>
            </a:solidFill>
            <a:prstDash val="solid"/>
          </a:ln>
        </p:spPr>
      </p:sp>
      <p:sp>
        <p:nvSpPr>
          <p:cNvPr id="89" name="Text 78"/>
          <p:cNvSpPr txBox="1"/>
          <p:nvPr/>
        </p:nvSpPr>
        <p:spPr>
          <a:xfrm>
            <a:off x="233629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Console + AI</a:t>
            </a:r>
            <a:endParaRPr lang="en-US" sz="650" dirty="0"/>
          </a:p>
        </p:txBody>
      </p:sp>
      <p:sp>
        <p:nvSpPr>
          <p:cNvPr id="90" name="Shape 79"/>
          <p:cNvSpPr/>
          <p:nvPr/>
        </p:nvSpPr>
        <p:spPr>
          <a:xfrm>
            <a:off x="3063240" y="3242698"/>
            <a:ext cx="754380" cy="182880"/>
          </a:xfrm>
          <a:prstGeom prst="rect">
            <a:avLst/>
          </a:prstGeom>
          <a:solidFill>
            <a:srgbClr val="FFFFFF"/>
          </a:solidFill>
          <a:ln w="6350">
            <a:solidFill>
              <a:srgbClr val="777777"/>
            </a:solidFill>
            <a:prstDash val="solid"/>
          </a:ln>
        </p:spPr>
      </p:sp>
      <p:sp>
        <p:nvSpPr>
          <p:cNvPr id="91" name="Text 80"/>
          <p:cNvSpPr txBox="1"/>
          <p:nvPr/>
        </p:nvSpPr>
        <p:spPr>
          <a:xfrm>
            <a:off x="309067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id "hasill"</a:t>
            </a:r>
            <a:endParaRPr lang="en-US" sz="650" dirty="0"/>
          </a:p>
        </p:txBody>
      </p:sp>
      <p:sp>
        <p:nvSpPr>
          <p:cNvPr id="92" name="Shape 81"/>
          <p:cNvSpPr/>
          <p:nvPr/>
        </p:nvSpPr>
        <p:spPr>
          <a:xfrm>
            <a:off x="3817620" y="3242698"/>
            <a:ext cx="754380" cy="182880"/>
          </a:xfrm>
          <a:prstGeom prst="rect">
            <a:avLst/>
          </a:prstGeom>
          <a:solidFill>
            <a:srgbClr val="FFFFFF"/>
          </a:solidFill>
          <a:ln w="6350">
            <a:solidFill>
              <a:srgbClr val="777777"/>
            </a:solidFill>
            <a:prstDash val="solid"/>
          </a:ln>
        </p:spPr>
      </p:sp>
      <p:sp>
        <p:nvSpPr>
          <p:cNvPr id="93" name="Text 82"/>
          <p:cNvSpPr txBox="1"/>
          <p:nvPr/>
        </p:nvSpPr>
        <p:spPr>
          <a:xfrm>
            <a:off x="384505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Samakan id</a:t>
            </a:r>
            <a:endParaRPr lang="en-US" sz="650" dirty="0"/>
          </a:p>
        </p:txBody>
      </p:sp>
      <p:sp>
        <p:nvSpPr>
          <p:cNvPr id="94" name="Shape 83"/>
          <p:cNvSpPr/>
          <p:nvPr/>
        </p:nvSpPr>
        <p:spPr>
          <a:xfrm>
            <a:off x="1527048" y="2849506"/>
            <a:ext cx="3072384" cy="603504"/>
          </a:xfrm>
          <a:prstGeom prst="roundRect">
            <a:avLst>
              <a:gd name="adj" fmla="val 7576"/>
            </a:avLst>
          </a:prstGeom>
          <a:solidFill>
            <a:srgbClr val="FFFFFF">
              <a:alpha val="0"/>
            </a:srgbClr>
          </a:solidFill>
          <a:ln w="31750">
            <a:solidFill>
              <a:srgbClr val="E53935"/>
            </a:solidFill>
            <a:prstDash val="solid"/>
          </a:ln>
        </p:spPr>
      </p:sp>
      <p:sp>
        <p:nvSpPr>
          <p:cNvPr id="95" name="Shape 84"/>
          <p:cNvSpPr/>
          <p:nvPr/>
        </p:nvSpPr>
        <p:spPr>
          <a:xfrm>
            <a:off x="4462272" y="2712346"/>
            <a:ext cx="274320" cy="274320"/>
          </a:xfrm>
          <a:prstGeom prst="ellipse">
            <a:avLst/>
          </a:prstGeom>
          <a:solidFill>
            <a:srgbClr val="E53935"/>
          </a:solidFill>
          <a:ln w="12700">
            <a:solidFill>
              <a:srgbClr val="FFFFFF"/>
            </a:solidFill>
            <a:prstDash val="solid"/>
          </a:ln>
        </p:spPr>
      </p:sp>
      <p:sp>
        <p:nvSpPr>
          <p:cNvPr id="96" name="Text 8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97" name="Image 9" descr="preencoded.png">    </p:cNvPr>
          <p:cNvPicPr>
            <a:picLocks noChangeAspect="1"/>
          </p:cNvPicPr>
          <p:nvPr/>
        </p:nvPicPr>
        <p:blipFill>
          <a:blip r:embed="rId10"/>
          <a:stretch>
            <a:fillRect/>
          </a:stretch>
        </p:blipFill>
        <p:spPr>
          <a:xfrm>
            <a:off x="3214116" y="3178690"/>
            <a:ext cx="237744" cy="237744"/>
          </a:xfrm>
          <a:prstGeom prst="rect">
            <a:avLst/>
          </a:prstGeom>
        </p:spPr>
      </p:pic>
      <p:sp>
        <p:nvSpPr>
          <p:cNvPr id="98"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99"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Catat di tabel debugging</a:t>
            </a:r>
            <a:endParaRPr lang="en-US" sz="1800" dirty="0"/>
          </a:p>
        </p:txBody>
      </p:sp>
      <p:sp>
        <p:nvSpPr>
          <p:cNvPr id="100"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kedua bug ke tabel: gejala, cara menemukan (console.log / Console / AI), penyebab, perbaikan.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latihan_debug.html yang sudah benar (1+1+1 = 3).</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debugging berisi 2 bug baru.</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Prompt debugging yang dipakai dan ringkasan jawaban AI.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5 langkah debugging dengan kata-katamu.</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Mengikuti 5 langkah debugging</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Memakai console.log</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Prompt debugging meminta penjelasan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Bug terselesaikan dan tercatat</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Strategi mana yang paling membantumu?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bedanya meminta penjelasan dan meminta jawaban jadi?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Sabar dan teliti adalah kunci. Tergesa-gesa adalah dari setan, sedangkan ketenangan dari Allah.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Fix The Broken Website.</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Fix The Broken Website</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memperbaiki website yang rusak</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Debugging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Siapkah kalian menjadi tim detektif kode yang memperbaiki sebuah website rusak?</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Menemukan bug HTML, CSS, dan JavaScript pada website orang lain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Memperbaiki bug secara bertahap dan menguji ulang</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Mendokumentasikan dan mempresentasikan proses debugging</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Aturan Misi Detektif</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Ikuti 5 Langkah</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Amati, ulangi, persempit, perbaiki satu per satu, catat.</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Uji Setiap Perbaikan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Ada bug yang baru muncul setelah bug lain diperbaiki.</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AI Maksimal 2 Kali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Hanya untuk penjelasan penyebab, bergiliran, diawasi guru.</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Catat Semua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Tabel: bug, gejala, penyebab, perbaikan, cara menemukan.</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Misi: Fix The Broken Website</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5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Mengamati website rusak</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Memburu bug</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akhir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Mengamati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Kalkulator Setoran Pekanan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file:///C:/.../website_rusak/index.html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Kalkulator Setoran Pekanan</a:t>
            </a:r>
            <a:endParaRPr lang="en-US" sz="1100" dirty="0"/>
          </a:p>
        </p:txBody>
      </p:sp>
      <p:sp>
        <p:nvSpPr>
          <p:cNvPr id="32" name="Shape 25"/>
          <p:cNvSpPr/>
          <p:nvPr/>
        </p:nvSpPr>
        <p:spPr>
          <a:xfrm>
            <a:off x="1965960" y="2244605"/>
            <a:ext cx="2194560" cy="1280160"/>
          </a:xfrm>
          <a:prstGeom prst="roundRect">
            <a:avLst>
              <a:gd name="adj" fmla="val 5714"/>
            </a:avLst>
          </a:prstGeom>
          <a:solidFill>
            <a:srgbClr val="FFFFFF"/>
          </a:solidFill>
          <a:ln w="9525">
            <a:solidFill>
              <a:srgbClr val="FFFFFF"/>
            </a:solidFill>
            <a:prstDash val="solid"/>
          </a:ln>
        </p:spPr>
      </p:sp>
      <p:sp>
        <p:nvSpPr>
          <p:cNvPr id="33" name="Text 26"/>
          <p:cNvSpPr txBox="1"/>
          <p:nvPr/>
        </p:nvSpPr>
        <p:spPr>
          <a:xfrm>
            <a:off x="2057400" y="2262893"/>
            <a:ext cx="2011680" cy="365760"/>
          </a:xfrm>
          <a:prstGeom prst="rect">
            <a:avLst/>
          </a:prstGeom>
          <a:noFill/>
          <a:ln/>
        </p:spPr>
        <p:txBody>
          <a:bodyPr wrap="square" lIns="0" tIns="0" rIns="0" bIns="0" rtlCol="0" anchor="t"/>
          <a:lstStyle/>
          <a:p>
            <a:pPr indent="0" marL="0">
              <a:buNone/>
            </a:pPr>
            <a:r>
              <a:rPr lang="en-US" sz="1000" b="1" dirty="0">
                <a:solidFill>
                  <a:srgbClr val="1E2A26"/>
                </a:solidFill>
                <a:latin typeface="Arial" pitchFamily="34" charset="0"/>
                <a:ea typeface="Arial" pitchFamily="34" charset="-122"/>
                <a:cs typeface="Arial" pitchFamily="34" charset="-120"/>
              </a:rPr>
              <a:t>Berapa ayat yang kamu setor pekan ini?</a:t>
            </a:r>
            <a:endParaRPr lang="en-US" sz="1000" dirty="0"/>
          </a:p>
        </p:txBody>
      </p:sp>
      <p:sp>
        <p:nvSpPr>
          <p:cNvPr id="34" name="Shape 27"/>
          <p:cNvSpPr/>
          <p:nvPr/>
        </p:nvSpPr>
        <p:spPr>
          <a:xfrm>
            <a:off x="2057400" y="2683517"/>
            <a:ext cx="640080" cy="182880"/>
          </a:xfrm>
          <a:prstGeom prst="rect">
            <a:avLst/>
          </a:prstGeom>
          <a:solidFill>
            <a:srgbClr val="FFFFFF"/>
          </a:solidFill>
          <a:ln w="6350">
            <a:solidFill>
              <a:srgbClr val="999999"/>
            </a:solidFill>
            <a:prstDash val="solid"/>
          </a:ln>
        </p:spPr>
      </p:sp>
      <p:sp>
        <p:nvSpPr>
          <p:cNvPr id="35" name="Text 28"/>
          <p:cNvSpPr txBox="1"/>
          <p:nvPr/>
        </p:nvSpPr>
        <p:spPr>
          <a:xfrm>
            <a:off x="2084832" y="2683517"/>
            <a:ext cx="640080" cy="182880"/>
          </a:xfrm>
          <a:prstGeom prst="rect">
            <a:avLst/>
          </a:prstGeom>
          <a:noFill/>
          <a:ln/>
        </p:spPr>
        <p:txBody>
          <a:bodyPr wrap="square" lIns="0" tIns="0" rIns="0" bIns="0" rtlCol="0" anchor="ctr"/>
          <a:lstStyle/>
          <a:p>
            <a:pPr indent="0" marL="0">
              <a:buNone/>
            </a:pPr>
            <a:r>
              <a:rPr lang="en-US" sz="650" dirty="0">
                <a:solidFill>
                  <a:srgbClr val="999999"/>
                </a:solidFill>
                <a:latin typeface="Arial" pitchFamily="34" charset="0"/>
                <a:ea typeface="Arial" pitchFamily="34" charset="-122"/>
                <a:cs typeface="Arial" pitchFamily="34" charset="-120"/>
              </a:rPr>
              <a:t>Senin</a:t>
            </a:r>
            <a:endParaRPr lang="en-US" sz="650" dirty="0"/>
          </a:p>
        </p:txBody>
      </p:sp>
      <p:sp>
        <p:nvSpPr>
          <p:cNvPr id="36" name="Shape 29"/>
          <p:cNvSpPr/>
          <p:nvPr/>
        </p:nvSpPr>
        <p:spPr>
          <a:xfrm>
            <a:off x="2727960" y="2683517"/>
            <a:ext cx="640080" cy="182880"/>
          </a:xfrm>
          <a:prstGeom prst="rect">
            <a:avLst/>
          </a:prstGeom>
          <a:solidFill>
            <a:srgbClr val="FFFFFF"/>
          </a:solidFill>
          <a:ln w="6350">
            <a:solidFill>
              <a:srgbClr val="999999"/>
            </a:solidFill>
            <a:prstDash val="solid"/>
          </a:ln>
        </p:spPr>
      </p:sp>
      <p:sp>
        <p:nvSpPr>
          <p:cNvPr id="37" name="Text 30"/>
          <p:cNvSpPr txBox="1"/>
          <p:nvPr/>
        </p:nvSpPr>
        <p:spPr>
          <a:xfrm>
            <a:off x="2755392" y="2683517"/>
            <a:ext cx="640080" cy="182880"/>
          </a:xfrm>
          <a:prstGeom prst="rect">
            <a:avLst/>
          </a:prstGeom>
          <a:noFill/>
          <a:ln/>
        </p:spPr>
        <p:txBody>
          <a:bodyPr wrap="square" lIns="0" tIns="0" rIns="0" bIns="0" rtlCol="0" anchor="ctr"/>
          <a:lstStyle/>
          <a:p>
            <a:pPr indent="0" marL="0">
              <a:buNone/>
            </a:pPr>
            <a:r>
              <a:rPr lang="en-US" sz="650" dirty="0">
                <a:solidFill>
                  <a:srgbClr val="999999"/>
                </a:solidFill>
                <a:latin typeface="Arial" pitchFamily="34" charset="0"/>
                <a:ea typeface="Arial" pitchFamily="34" charset="-122"/>
                <a:cs typeface="Arial" pitchFamily="34" charset="-120"/>
              </a:rPr>
              <a:t>Selasa</a:t>
            </a:r>
            <a:endParaRPr lang="en-US" sz="650" dirty="0"/>
          </a:p>
        </p:txBody>
      </p:sp>
      <p:sp>
        <p:nvSpPr>
          <p:cNvPr id="38" name="Shape 31"/>
          <p:cNvSpPr/>
          <p:nvPr/>
        </p:nvSpPr>
        <p:spPr>
          <a:xfrm>
            <a:off x="3398520" y="2683517"/>
            <a:ext cx="640080" cy="182880"/>
          </a:xfrm>
          <a:prstGeom prst="rect">
            <a:avLst/>
          </a:prstGeom>
          <a:solidFill>
            <a:srgbClr val="FFFFFF"/>
          </a:solidFill>
          <a:ln w="6350">
            <a:solidFill>
              <a:srgbClr val="999999"/>
            </a:solidFill>
            <a:prstDash val="solid"/>
          </a:ln>
        </p:spPr>
      </p:sp>
      <p:sp>
        <p:nvSpPr>
          <p:cNvPr id="39" name="Text 32"/>
          <p:cNvSpPr txBox="1"/>
          <p:nvPr/>
        </p:nvSpPr>
        <p:spPr>
          <a:xfrm>
            <a:off x="3425952" y="2683517"/>
            <a:ext cx="640080" cy="182880"/>
          </a:xfrm>
          <a:prstGeom prst="rect">
            <a:avLst/>
          </a:prstGeom>
          <a:noFill/>
          <a:ln/>
        </p:spPr>
        <p:txBody>
          <a:bodyPr wrap="square" lIns="0" tIns="0" rIns="0" bIns="0" rtlCol="0" anchor="ctr"/>
          <a:lstStyle/>
          <a:p>
            <a:pPr indent="0" marL="0">
              <a:buNone/>
            </a:pPr>
            <a:r>
              <a:rPr lang="en-US" sz="650" dirty="0">
                <a:solidFill>
                  <a:srgbClr val="999999"/>
                </a:solidFill>
                <a:latin typeface="Arial" pitchFamily="34" charset="0"/>
                <a:ea typeface="Arial" pitchFamily="34" charset="-122"/>
                <a:cs typeface="Arial" pitchFamily="34" charset="-120"/>
              </a:rPr>
              <a:t>Rabu</a:t>
            </a:r>
            <a:endParaRPr lang="en-US" sz="650" dirty="0"/>
          </a:p>
        </p:txBody>
      </p:sp>
      <p:sp>
        <p:nvSpPr>
          <p:cNvPr id="40" name="Shape 33"/>
          <p:cNvSpPr/>
          <p:nvPr/>
        </p:nvSpPr>
        <p:spPr>
          <a:xfrm>
            <a:off x="2560320" y="2939549"/>
            <a:ext cx="1005840"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2560320" y="2939549"/>
            <a:ext cx="1005840" cy="219456"/>
          </a:xfrm>
          <a:prstGeom prst="rect">
            <a:avLst/>
          </a:prstGeom>
          <a:noFill/>
          <a:ln/>
        </p:spPr>
        <p:txBody>
          <a:bodyPr wrap="square" lIns="0" tIns="0" rIns="0" bIns="0" rtlCol="0" anchor="ctr"/>
          <a:lstStyle/>
          <a:p>
            <a:pPr algn="ctr" indent="0" marL="0">
              <a:buNone/>
            </a:pPr>
            <a:r>
              <a:rPr lang="en-US" sz="750" b="1" dirty="0">
                <a:solidFill>
                  <a:srgbClr val="111111"/>
                </a:solidFill>
                <a:latin typeface="Arial" pitchFamily="34" charset="0"/>
                <a:ea typeface="Arial" pitchFamily="34" charset="-122"/>
                <a:cs typeface="Arial" pitchFamily="34" charset="-120"/>
              </a:rPr>
              <a:t>Hitung Total</a:t>
            </a:r>
            <a:endParaRPr lang="en-US" sz="750" dirty="0"/>
          </a:p>
        </p:txBody>
      </p:sp>
      <p:sp>
        <p:nvSpPr>
          <p:cNvPr id="42" name="Shape 35"/>
          <p:cNvSpPr/>
          <p:nvPr/>
        </p:nvSpPr>
        <p:spPr>
          <a:xfrm>
            <a:off x="633496" y="1695965"/>
            <a:ext cx="4859487" cy="1911096"/>
          </a:xfrm>
          <a:prstGeom prst="roundRect">
            <a:avLst>
              <a:gd name="adj" fmla="val 2392"/>
            </a:avLst>
          </a:prstGeom>
          <a:solidFill>
            <a:srgbClr val="FFFFFF">
              <a:alpha val="0"/>
            </a:srgbClr>
          </a:solidFill>
          <a:ln w="31750">
            <a:solidFill>
              <a:srgbClr val="E53935"/>
            </a:solidFill>
            <a:prstDash val="solid"/>
          </a:ln>
        </p:spPr>
      </p:sp>
      <p:sp>
        <p:nvSpPr>
          <p:cNvPr id="43" name="Shape 36"/>
          <p:cNvSpPr/>
          <p:nvPr/>
        </p:nvSpPr>
        <p:spPr>
          <a:xfrm>
            <a:off x="5355824" y="1558805"/>
            <a:ext cx="274320" cy="274320"/>
          </a:xfrm>
          <a:prstGeom prst="ellipse">
            <a:avLst/>
          </a:prstGeom>
          <a:solidFill>
            <a:srgbClr val="E53935"/>
          </a:solidFill>
          <a:ln w="12700">
            <a:solidFill>
              <a:srgbClr val="FFFFFF"/>
            </a:solidFill>
            <a:prstDash val="solid"/>
          </a:ln>
        </p:spPr>
      </p:sp>
      <p:sp>
        <p:nvSpPr>
          <p:cNvPr id="44" name="Text 37"/>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5" name="Image 5" descr="preencoded.png">    </p:cNvPr>
          <p:cNvPicPr>
            <a:picLocks noChangeAspect="1"/>
          </p:cNvPicPr>
          <p:nvPr/>
        </p:nvPicPr>
        <p:blipFill>
          <a:blip r:embed="rId6"/>
          <a:stretch>
            <a:fillRect/>
          </a:stretch>
        </p:blipFill>
        <p:spPr>
          <a:xfrm>
            <a:off x="3304386" y="2745239"/>
            <a:ext cx="237744" cy="237744"/>
          </a:xfrm>
          <a:prstGeom prst="rect">
            <a:avLst/>
          </a:prstGeom>
        </p:spPr>
      </p:pic>
      <p:sp>
        <p:nvSpPr>
          <p:cNvPr id="46"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7"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website rusak, catat yang aneh</a:t>
            </a:r>
            <a:endParaRPr lang="en-US" sz="1800" dirty="0"/>
          </a:p>
        </p:txBody>
      </p:sp>
      <p:sp>
        <p:nvSpPr>
          <p:cNvPr id="48"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website_rusak/index.html. Bandingkan dengan yang seharusnya: kalkulator dengan header berlogo, kartu bergaris, tombol emas berhuruf putih.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Mengamati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Kalkulator Setoran Pekanan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file:///C:/.../website_rusak/index.html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Kalkulator Setoran Pekanan</a:t>
            </a:r>
            <a:endParaRPr lang="en-US" sz="1100" dirty="0"/>
          </a:p>
        </p:txBody>
      </p:sp>
      <p:sp>
        <p:nvSpPr>
          <p:cNvPr id="32" name="Shape 25"/>
          <p:cNvSpPr/>
          <p:nvPr/>
        </p:nvSpPr>
        <p:spPr>
          <a:xfrm>
            <a:off x="933946" y="2244605"/>
            <a:ext cx="2194560" cy="1280160"/>
          </a:xfrm>
          <a:prstGeom prst="roundRect">
            <a:avLst>
              <a:gd name="adj" fmla="val 5714"/>
            </a:avLst>
          </a:prstGeom>
          <a:solidFill>
            <a:srgbClr val="FFFFFF"/>
          </a:solidFill>
          <a:ln w="9525">
            <a:solidFill>
              <a:srgbClr val="FFFFFF"/>
            </a:solidFill>
            <a:prstDash val="solid"/>
          </a:ln>
        </p:spPr>
      </p:sp>
      <p:sp>
        <p:nvSpPr>
          <p:cNvPr id="33" name="Text 26"/>
          <p:cNvSpPr txBox="1"/>
          <p:nvPr/>
        </p:nvSpPr>
        <p:spPr>
          <a:xfrm>
            <a:off x="1025386" y="2262893"/>
            <a:ext cx="2011680" cy="365760"/>
          </a:xfrm>
          <a:prstGeom prst="rect">
            <a:avLst/>
          </a:prstGeom>
          <a:noFill/>
          <a:ln/>
        </p:spPr>
        <p:txBody>
          <a:bodyPr wrap="square" lIns="0" tIns="0" rIns="0" bIns="0" rtlCol="0" anchor="t"/>
          <a:lstStyle/>
          <a:p>
            <a:pPr indent="0" marL="0">
              <a:buNone/>
            </a:pPr>
            <a:r>
              <a:rPr lang="en-US" sz="1000" b="1" dirty="0">
                <a:solidFill>
                  <a:srgbClr val="1E2A26"/>
                </a:solidFill>
                <a:latin typeface="Arial" pitchFamily="34" charset="0"/>
                <a:ea typeface="Arial" pitchFamily="34" charset="-122"/>
                <a:cs typeface="Arial" pitchFamily="34" charset="-120"/>
              </a:rPr>
              <a:t>Berapa ayat yang kamu setor pekan ini?</a:t>
            </a:r>
            <a:endParaRPr lang="en-US" sz="1000" dirty="0"/>
          </a:p>
        </p:txBody>
      </p:sp>
      <p:sp>
        <p:nvSpPr>
          <p:cNvPr id="34" name="Shape 27"/>
          <p:cNvSpPr/>
          <p:nvPr/>
        </p:nvSpPr>
        <p:spPr>
          <a:xfrm>
            <a:off x="1025386" y="2683517"/>
            <a:ext cx="640080" cy="182880"/>
          </a:xfrm>
          <a:prstGeom prst="rect">
            <a:avLst/>
          </a:prstGeom>
          <a:solidFill>
            <a:srgbClr val="FFFFFF"/>
          </a:solidFill>
          <a:ln w="6350">
            <a:solidFill>
              <a:srgbClr val="999999"/>
            </a:solidFill>
            <a:prstDash val="solid"/>
          </a:ln>
        </p:spPr>
      </p:sp>
      <p:sp>
        <p:nvSpPr>
          <p:cNvPr id="35" name="Text 28"/>
          <p:cNvSpPr txBox="1"/>
          <p:nvPr/>
        </p:nvSpPr>
        <p:spPr>
          <a:xfrm>
            <a:off x="105281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5</a:t>
            </a:r>
            <a:endParaRPr lang="en-US" sz="650" dirty="0"/>
          </a:p>
        </p:txBody>
      </p:sp>
      <p:sp>
        <p:nvSpPr>
          <p:cNvPr id="36" name="Shape 29"/>
          <p:cNvSpPr/>
          <p:nvPr/>
        </p:nvSpPr>
        <p:spPr>
          <a:xfrm>
            <a:off x="1695946" y="2683517"/>
            <a:ext cx="640080" cy="182880"/>
          </a:xfrm>
          <a:prstGeom prst="rect">
            <a:avLst/>
          </a:prstGeom>
          <a:solidFill>
            <a:srgbClr val="FFFFFF"/>
          </a:solidFill>
          <a:ln w="6350">
            <a:solidFill>
              <a:srgbClr val="999999"/>
            </a:solidFill>
            <a:prstDash val="solid"/>
          </a:ln>
        </p:spPr>
      </p:sp>
      <p:sp>
        <p:nvSpPr>
          <p:cNvPr id="37" name="Text 30"/>
          <p:cNvSpPr txBox="1"/>
          <p:nvPr/>
        </p:nvSpPr>
        <p:spPr>
          <a:xfrm>
            <a:off x="172337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7</a:t>
            </a:r>
            <a:endParaRPr lang="en-US" sz="650" dirty="0"/>
          </a:p>
        </p:txBody>
      </p:sp>
      <p:sp>
        <p:nvSpPr>
          <p:cNvPr id="38" name="Shape 31"/>
          <p:cNvSpPr/>
          <p:nvPr/>
        </p:nvSpPr>
        <p:spPr>
          <a:xfrm>
            <a:off x="2366506" y="2683517"/>
            <a:ext cx="640080" cy="182880"/>
          </a:xfrm>
          <a:prstGeom prst="rect">
            <a:avLst/>
          </a:prstGeom>
          <a:solidFill>
            <a:srgbClr val="FFFFFF"/>
          </a:solidFill>
          <a:ln w="6350">
            <a:solidFill>
              <a:srgbClr val="999999"/>
            </a:solidFill>
            <a:prstDash val="solid"/>
          </a:ln>
        </p:spPr>
      </p:sp>
      <p:sp>
        <p:nvSpPr>
          <p:cNvPr id="39" name="Text 32"/>
          <p:cNvSpPr txBox="1"/>
          <p:nvPr/>
        </p:nvSpPr>
        <p:spPr>
          <a:xfrm>
            <a:off x="239393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10</a:t>
            </a:r>
            <a:endParaRPr lang="en-US" sz="650" dirty="0"/>
          </a:p>
        </p:txBody>
      </p:sp>
      <p:sp>
        <p:nvSpPr>
          <p:cNvPr id="40" name="Shape 33"/>
          <p:cNvSpPr/>
          <p:nvPr/>
        </p:nvSpPr>
        <p:spPr>
          <a:xfrm>
            <a:off x="1528306" y="2939549"/>
            <a:ext cx="1005840"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1528306" y="2939549"/>
            <a:ext cx="1005840" cy="219456"/>
          </a:xfrm>
          <a:prstGeom prst="rect">
            <a:avLst/>
          </a:prstGeom>
          <a:noFill/>
          <a:ln/>
        </p:spPr>
        <p:txBody>
          <a:bodyPr wrap="square" lIns="0" tIns="0" rIns="0" bIns="0" rtlCol="0" anchor="ctr"/>
          <a:lstStyle/>
          <a:p>
            <a:pPr algn="ctr" indent="0" marL="0">
              <a:buNone/>
            </a:pPr>
            <a:r>
              <a:rPr lang="en-US" sz="750" b="1" dirty="0">
                <a:solidFill>
                  <a:srgbClr val="111111"/>
                </a:solidFill>
                <a:latin typeface="Arial" pitchFamily="34" charset="0"/>
                <a:ea typeface="Arial" pitchFamily="34" charset="-122"/>
                <a:cs typeface="Arial" pitchFamily="34" charset="-120"/>
              </a:rPr>
              <a:t>Hitung Total</a:t>
            </a:r>
            <a:endParaRPr lang="en-US" sz="750" dirty="0"/>
          </a:p>
        </p:txBody>
      </p:sp>
      <p:sp>
        <p:nvSpPr>
          <p:cNvPr id="42" name="Shape 35"/>
          <p:cNvSpPr/>
          <p:nvPr/>
        </p:nvSpPr>
        <p:spPr>
          <a:xfrm>
            <a:off x="3554675" y="1695965"/>
            <a:ext cx="1965741" cy="2281131"/>
          </a:xfrm>
          <a:prstGeom prst="rect">
            <a:avLst/>
          </a:prstGeom>
          <a:solidFill>
            <a:srgbClr val="FFFFFF"/>
          </a:solidFill>
          <a:ln w="6350">
            <a:solidFill>
              <a:srgbClr val="CCCCCC"/>
            </a:solidFill>
            <a:prstDash val="solid"/>
          </a:ln>
        </p:spPr>
      </p:sp>
      <p:sp>
        <p:nvSpPr>
          <p:cNvPr id="43" name="Shape 36"/>
          <p:cNvSpPr/>
          <p:nvPr/>
        </p:nvSpPr>
        <p:spPr>
          <a:xfrm>
            <a:off x="3554675" y="1695965"/>
            <a:ext cx="1965741" cy="182880"/>
          </a:xfrm>
          <a:prstGeom prst="rect">
            <a:avLst/>
          </a:prstGeom>
          <a:solidFill>
            <a:srgbClr val="F1F3F4"/>
          </a:solidFill>
          <a:ln w="12700">
            <a:solidFill>
              <a:srgbClr val="F1F3F4"/>
            </a:solidFill>
            <a:prstDash val="solid"/>
          </a:ln>
        </p:spPr>
      </p:sp>
      <p:sp>
        <p:nvSpPr>
          <p:cNvPr id="44" name="Text 37"/>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45" name="Shape 38"/>
          <p:cNvSpPr/>
          <p:nvPr/>
        </p:nvSpPr>
        <p:spPr>
          <a:xfrm>
            <a:off x="4121603" y="1851413"/>
            <a:ext cx="365760" cy="22860"/>
          </a:xfrm>
          <a:prstGeom prst="rect">
            <a:avLst/>
          </a:prstGeom>
          <a:solidFill>
            <a:srgbClr val="1A73E8"/>
          </a:solidFill>
          <a:ln w="12700">
            <a:solidFill>
              <a:srgbClr val="1A73E8"/>
            </a:solidFill>
            <a:prstDash val="solid"/>
          </a:ln>
        </p:spPr>
      </p:sp>
      <p:sp>
        <p:nvSpPr>
          <p:cNvPr id="46" name="Shape 39"/>
          <p:cNvSpPr/>
          <p:nvPr/>
        </p:nvSpPr>
        <p:spPr>
          <a:xfrm>
            <a:off x="3554675" y="1924565"/>
            <a:ext cx="1965741" cy="201168"/>
          </a:xfrm>
          <a:prstGeom prst="rect">
            <a:avLst/>
          </a:prstGeom>
          <a:solidFill>
            <a:srgbClr val="FCE8E6"/>
          </a:solidFill>
          <a:ln w="12700">
            <a:solidFill>
              <a:srgbClr val="FCE8E6"/>
            </a:solidFill>
            <a:prstDash val="solid"/>
          </a:ln>
        </p:spPr>
      </p:sp>
      <p:sp>
        <p:nvSpPr>
          <p:cNvPr id="47" name="Text 40"/>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Uncaught ReferenceError:</a:t>
            </a:r>
            <a:endParaRPr lang="en-US" sz="600" dirty="0"/>
          </a:p>
        </p:txBody>
      </p:sp>
      <p:sp>
        <p:nvSpPr>
          <p:cNvPr id="48" name="Shape 41"/>
          <p:cNvSpPr/>
          <p:nvPr/>
        </p:nvSpPr>
        <p:spPr>
          <a:xfrm>
            <a:off x="3554675" y="2144021"/>
            <a:ext cx="1965741" cy="201168"/>
          </a:xfrm>
          <a:prstGeom prst="rect">
            <a:avLst/>
          </a:prstGeom>
          <a:solidFill>
            <a:srgbClr val="FCE8E6"/>
          </a:solidFill>
          <a:ln w="12700">
            <a:solidFill>
              <a:srgbClr val="FCE8E6"/>
            </a:solidFill>
            <a:prstDash val="solid"/>
          </a:ln>
        </p:spPr>
      </p:sp>
      <p:sp>
        <p:nvSpPr>
          <p:cNvPr id="49" name="Text 42"/>
          <p:cNvSpPr txBox="1"/>
          <p:nvPr/>
        </p:nvSpPr>
        <p:spPr>
          <a:xfrm>
            <a:off x="3600395" y="2144021"/>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hitung is not defined</a:t>
            </a:r>
            <a:endParaRPr lang="en-US" sz="600" dirty="0"/>
          </a:p>
        </p:txBody>
      </p:sp>
      <p:sp>
        <p:nvSpPr>
          <p:cNvPr id="50" name="Text 43"/>
          <p:cNvSpPr txBox="1"/>
          <p:nvPr/>
        </p:nvSpPr>
        <p:spPr>
          <a:xfrm>
            <a:off x="3600395" y="2363477"/>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   index.html:33</a:t>
            </a:r>
            <a:endParaRPr lang="en-US" sz="600" dirty="0"/>
          </a:p>
        </p:txBody>
      </p:sp>
      <p:sp>
        <p:nvSpPr>
          <p:cNvPr id="51" name="Shape 44"/>
          <p:cNvSpPr/>
          <p:nvPr/>
        </p:nvSpPr>
        <p:spPr>
          <a:xfrm>
            <a:off x="3536387" y="1906277"/>
            <a:ext cx="2002317" cy="676656"/>
          </a:xfrm>
          <a:prstGeom prst="roundRect">
            <a:avLst>
              <a:gd name="adj" fmla="val 6757"/>
            </a:avLst>
          </a:prstGeom>
          <a:solidFill>
            <a:srgbClr val="FFFFFF">
              <a:alpha val="0"/>
            </a:srgbClr>
          </a:solidFill>
          <a:ln w="31750">
            <a:solidFill>
              <a:srgbClr val="E53935"/>
            </a:solidFill>
            <a:prstDash val="solid"/>
          </a:ln>
        </p:spPr>
      </p:sp>
      <p:sp>
        <p:nvSpPr>
          <p:cNvPr id="52" name="Shape 45"/>
          <p:cNvSpPr/>
          <p:nvPr/>
        </p:nvSpPr>
        <p:spPr>
          <a:xfrm>
            <a:off x="5401544" y="1769117"/>
            <a:ext cx="274320" cy="274320"/>
          </a:xfrm>
          <a:prstGeom prst="ellipse">
            <a:avLst/>
          </a:prstGeom>
          <a:solidFill>
            <a:srgbClr val="E53935"/>
          </a:solidFill>
          <a:ln w="12700">
            <a:solidFill>
              <a:srgbClr val="FFFFFF"/>
            </a:solidFill>
            <a:prstDash val="solid"/>
          </a:ln>
        </p:spPr>
      </p:sp>
      <p:sp>
        <p:nvSpPr>
          <p:cNvPr id="53" name="Text 46"/>
          <p:cNvSpPr txBox="1"/>
          <p:nvPr/>
        </p:nvSpPr>
        <p:spPr>
          <a:xfrm>
            <a:off x="5401544" y="1769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4" name="Image 5" descr="preencoded.png">    </p:cNvPr>
          <p:cNvPicPr>
            <a:picLocks noChangeAspect="1"/>
          </p:cNvPicPr>
          <p:nvPr/>
        </p:nvPicPr>
        <p:blipFill>
          <a:blip r:embed="rId6"/>
          <a:stretch>
            <a:fillRect/>
          </a:stretch>
        </p:blipFill>
        <p:spPr>
          <a:xfrm>
            <a:off x="4635832" y="2276609"/>
            <a:ext cx="237744" cy="237744"/>
          </a:xfrm>
          <a:prstGeom prst="rect">
            <a:avLst/>
          </a:prstGeom>
        </p:spPr>
      </p:pic>
      <p:sp>
        <p:nvSpPr>
          <p:cNvPr id="55"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6"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Coba fungsinya, buka Console</a:t>
            </a:r>
            <a:endParaRPr lang="en-US" sz="1800" dirty="0"/>
          </a:p>
        </p:txBody>
      </p:sp>
      <p:sp>
        <p:nvSpPr>
          <p:cNvPr id="57"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3 angka, klik Hitung Total. Tekan F12 › Console. Catat pesan error.</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&lt;header&gt;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&lt;img src="gambar/Logo.png" alt="Logo pondok" width="60"&gt;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Kalkulator Setoran Pekanan</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&lt;/header&gt;</a:t>
            </a:r>
            <a:endParaRPr lang="en-US" sz="900" dirty="0"/>
          </a:p>
        </p:txBody>
      </p:sp>
      <p:sp>
        <p:nvSpPr>
          <p:cNvPr id="33" name="Text 29"/>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4" name="Text 30"/>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 class="kartu"&gt;</a:t>
            </a:r>
            <a:endParaRPr lang="en-US" sz="900" dirty="0"/>
          </a:p>
        </p:txBody>
      </p:sp>
      <p:sp>
        <p:nvSpPr>
          <p:cNvPr id="35" name="Text 31"/>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6" name="Text 32"/>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Berapa ayat yang kamu setor pekan ini?</a:t>
            </a:r>
            <a:endParaRPr lang="en-US" sz="900" dirty="0"/>
          </a:p>
        </p:txBody>
      </p:sp>
      <p:sp>
        <p:nvSpPr>
          <p:cNvPr id="37" name="Text 33"/>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8" name="Text 34"/>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Masukkan jumlah ayat setiap hari (data latihan).</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39" name="Shape 35"/>
          <p:cNvSpPr/>
          <p:nvPr/>
        </p:nvSpPr>
        <p:spPr>
          <a:xfrm>
            <a:off x="913668" y="1643264"/>
            <a:ext cx="4555175" cy="1252728"/>
          </a:xfrm>
          <a:prstGeom prst="roundRect">
            <a:avLst>
              <a:gd name="adj" fmla="val 3650"/>
            </a:avLst>
          </a:prstGeom>
          <a:solidFill>
            <a:srgbClr val="FFFFFF">
              <a:alpha val="0"/>
            </a:srgbClr>
          </a:solidFill>
          <a:ln w="31750">
            <a:solidFill>
              <a:srgbClr val="E53935"/>
            </a:solidFill>
            <a:prstDash val="solid"/>
          </a:ln>
        </p:spPr>
      </p:sp>
      <p:sp>
        <p:nvSpPr>
          <p:cNvPr id="40" name="Shape 36"/>
          <p:cNvSpPr/>
          <p:nvPr/>
        </p:nvSpPr>
        <p:spPr>
          <a:xfrm>
            <a:off x="5331684" y="1506104"/>
            <a:ext cx="274320" cy="274320"/>
          </a:xfrm>
          <a:prstGeom prst="ellipse">
            <a:avLst/>
          </a:prstGeom>
          <a:solidFill>
            <a:srgbClr val="E53935"/>
          </a:solidFill>
          <a:ln w="12700">
            <a:solidFill>
              <a:srgbClr val="FFFFFF"/>
            </a:solidFill>
            <a:prstDash val="solid"/>
          </a:ln>
        </p:spPr>
      </p:sp>
      <p:sp>
        <p:nvSpPr>
          <p:cNvPr id="41" name="Text 37"/>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3"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kode di Notepad, buru bug HTML</a:t>
            </a:r>
            <a:endParaRPr lang="en-US" sz="1800" dirty="0"/>
          </a:p>
        </p:txBody>
      </p:sp>
      <p:sp>
        <p:nvSpPr>
          <p:cNvPr id="44"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kanan index.html › Open with › Notepad. Cari tag yang tidak ditutup dan nama file gambar yang tidak cocok.</a:t>
            </a:r>
            <a:endParaRPr lang="en-US" sz="1300" dirty="0"/>
          </a:p>
        </p:txBody>
      </p:sp>
      <p:sp>
        <p:nvSpPr>
          <p:cNvPr id="45" name="Shape 4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6" name="Image 2" descr="preencoded.png">    </p:cNvPr>
          <p:cNvPicPr>
            <a:picLocks noChangeAspect="1"/>
          </p:cNvPicPr>
          <p:nvPr/>
        </p:nvPicPr>
        <p:blipFill>
          <a:blip r:embed="rId3"/>
          <a:stretch>
            <a:fillRect/>
          </a:stretch>
        </p:blipFill>
        <p:spPr>
          <a:xfrm>
            <a:off x="6108192" y="3721608"/>
            <a:ext cx="201168" cy="201168"/>
          </a:xfrm>
          <a:prstGeom prst="rect">
            <a:avLst/>
          </a:prstGeom>
        </p:spPr>
      </p:pic>
      <p:sp>
        <p:nvSpPr>
          <p:cNvPr id="47" name="Text 4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Bandingkan src gambar dengan nama file di folder gambar.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.kartu {</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background-color: white;</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max-width: 400px;</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margin: 16px auto;</a:t>
            </a:r>
            <a:endParaRPr lang="en-US" sz="900" dirty="0"/>
          </a:p>
        </p:txBody>
      </p:sp>
      <p:sp>
        <p:nvSpPr>
          <p:cNvPr id="33" name="Text 29"/>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4" name="Text 30"/>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padding: 16px;</a:t>
            </a:r>
            <a:endParaRPr lang="en-US" sz="900" dirty="0"/>
          </a:p>
        </p:txBody>
      </p:sp>
      <p:sp>
        <p:nvSpPr>
          <p:cNvPr id="35" name="Text 31"/>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6" name="Text 32"/>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border-radius: 12px</a:t>
            </a:r>
            <a:endParaRPr lang="en-US" sz="900" dirty="0"/>
          </a:p>
        </p:txBody>
      </p:sp>
      <p:sp>
        <p:nvSpPr>
          <p:cNvPr id="37" name="Text 33"/>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8" name="Text 34"/>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border: 1px solid #dddddd;</a:t>
            </a:r>
            <a:endParaRPr lang="en-US" sz="900" dirty="0"/>
          </a:p>
        </p:txBody>
      </p:sp>
      <p:sp>
        <p:nvSpPr>
          <p:cNvPr id="39" name="Text 35"/>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0" name="Text 36"/>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1" name="Text 37"/>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2" name="Text 38"/>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.tombol { background-color: #D4A017; colr: white; ... }</a:t>
            </a:r>
            <a:endParaRPr lang="en-US" sz="900" dirty="0"/>
          </a:p>
        </p:txBody>
      </p:sp>
      <p:sp>
        <p:nvSpPr>
          <p:cNvPr id="43" name="Shape 39"/>
          <p:cNvSpPr/>
          <p:nvPr/>
        </p:nvSpPr>
        <p:spPr>
          <a:xfrm>
            <a:off x="913668" y="1643264"/>
            <a:ext cx="4555175" cy="1600200"/>
          </a:xfrm>
          <a:prstGeom prst="roundRect">
            <a:avLst>
              <a:gd name="adj" fmla="val 2857"/>
            </a:avLst>
          </a:prstGeom>
          <a:solidFill>
            <a:srgbClr val="FFFFFF">
              <a:alpha val="0"/>
            </a:srgbClr>
          </a:solidFill>
          <a:ln w="31750">
            <a:solidFill>
              <a:srgbClr val="E53935"/>
            </a:solidFill>
            <a:prstDash val="solid"/>
          </a:ln>
        </p:spPr>
      </p:sp>
      <p:sp>
        <p:nvSpPr>
          <p:cNvPr id="44" name="Shape 40"/>
          <p:cNvSpPr/>
          <p:nvPr/>
        </p:nvSpPr>
        <p:spPr>
          <a:xfrm>
            <a:off x="5331684" y="1506104"/>
            <a:ext cx="274320" cy="274320"/>
          </a:xfrm>
          <a:prstGeom prst="ellipse">
            <a:avLst/>
          </a:prstGeom>
          <a:solidFill>
            <a:srgbClr val="E53935"/>
          </a:solidFill>
          <a:ln w="12700">
            <a:solidFill>
              <a:srgbClr val="FFFFFF"/>
            </a:solidFill>
            <a:prstDash val="solid"/>
          </a:ln>
        </p:spPr>
      </p:sp>
      <p:sp>
        <p:nvSpPr>
          <p:cNvPr id="45" name="Text 41"/>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6"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7"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Buru bug CSS</a:t>
            </a:r>
            <a:endParaRPr lang="en-US" sz="1800" dirty="0"/>
          </a:p>
        </p:txBody>
      </p:sp>
      <p:sp>
        <p:nvSpPr>
          <p:cNvPr id="48"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Periksa setiap aturan CSS: titik koma di akhir setiap baris dan ejaan setiap properti.</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Kalkulator Setoran Pekanan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file:///C:/.../website_rusak/index.html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Kalkulator Setoran Pekanan</a:t>
            </a:r>
            <a:endParaRPr lang="en-US" sz="1100" dirty="0"/>
          </a:p>
        </p:txBody>
      </p:sp>
      <p:sp>
        <p:nvSpPr>
          <p:cNvPr id="32" name="Shape 25"/>
          <p:cNvSpPr/>
          <p:nvPr/>
        </p:nvSpPr>
        <p:spPr>
          <a:xfrm>
            <a:off x="933946" y="2244605"/>
            <a:ext cx="2194560" cy="1280160"/>
          </a:xfrm>
          <a:prstGeom prst="roundRect">
            <a:avLst>
              <a:gd name="adj" fmla="val 5714"/>
            </a:avLst>
          </a:prstGeom>
          <a:solidFill>
            <a:srgbClr val="FFFFFF"/>
          </a:solidFill>
          <a:ln w="9525">
            <a:solidFill>
              <a:srgbClr val="DDDDDD"/>
            </a:solidFill>
            <a:prstDash val="solid"/>
          </a:ln>
        </p:spPr>
      </p:sp>
      <p:sp>
        <p:nvSpPr>
          <p:cNvPr id="33" name="Text 26"/>
          <p:cNvSpPr txBox="1"/>
          <p:nvPr/>
        </p:nvSpPr>
        <p:spPr>
          <a:xfrm>
            <a:off x="1025386" y="2262893"/>
            <a:ext cx="2011680" cy="228600"/>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Berapa ayat yang kamu setor pekan ini?</a:t>
            </a:r>
            <a:endParaRPr lang="en-US" sz="800" dirty="0"/>
          </a:p>
        </p:txBody>
      </p:sp>
      <p:sp>
        <p:nvSpPr>
          <p:cNvPr id="34" name="Shape 27"/>
          <p:cNvSpPr/>
          <p:nvPr/>
        </p:nvSpPr>
        <p:spPr>
          <a:xfrm>
            <a:off x="1025386" y="2683517"/>
            <a:ext cx="640080" cy="182880"/>
          </a:xfrm>
          <a:prstGeom prst="rect">
            <a:avLst/>
          </a:prstGeom>
          <a:solidFill>
            <a:srgbClr val="FFFFFF"/>
          </a:solidFill>
          <a:ln w="6350">
            <a:solidFill>
              <a:srgbClr val="999999"/>
            </a:solidFill>
            <a:prstDash val="solid"/>
          </a:ln>
        </p:spPr>
      </p:sp>
      <p:sp>
        <p:nvSpPr>
          <p:cNvPr id="35" name="Text 28"/>
          <p:cNvSpPr txBox="1"/>
          <p:nvPr/>
        </p:nvSpPr>
        <p:spPr>
          <a:xfrm>
            <a:off x="105281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5</a:t>
            </a:r>
            <a:endParaRPr lang="en-US" sz="650" dirty="0"/>
          </a:p>
        </p:txBody>
      </p:sp>
      <p:sp>
        <p:nvSpPr>
          <p:cNvPr id="36" name="Shape 29"/>
          <p:cNvSpPr/>
          <p:nvPr/>
        </p:nvSpPr>
        <p:spPr>
          <a:xfrm>
            <a:off x="1695946" y="2683517"/>
            <a:ext cx="640080" cy="182880"/>
          </a:xfrm>
          <a:prstGeom prst="rect">
            <a:avLst/>
          </a:prstGeom>
          <a:solidFill>
            <a:srgbClr val="FFFFFF"/>
          </a:solidFill>
          <a:ln w="6350">
            <a:solidFill>
              <a:srgbClr val="999999"/>
            </a:solidFill>
            <a:prstDash val="solid"/>
          </a:ln>
        </p:spPr>
      </p:sp>
      <p:sp>
        <p:nvSpPr>
          <p:cNvPr id="37" name="Text 30"/>
          <p:cNvSpPr txBox="1"/>
          <p:nvPr/>
        </p:nvSpPr>
        <p:spPr>
          <a:xfrm>
            <a:off x="172337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7</a:t>
            </a:r>
            <a:endParaRPr lang="en-US" sz="650" dirty="0"/>
          </a:p>
        </p:txBody>
      </p:sp>
      <p:sp>
        <p:nvSpPr>
          <p:cNvPr id="38" name="Shape 31"/>
          <p:cNvSpPr/>
          <p:nvPr/>
        </p:nvSpPr>
        <p:spPr>
          <a:xfrm>
            <a:off x="2366506" y="2683517"/>
            <a:ext cx="640080" cy="182880"/>
          </a:xfrm>
          <a:prstGeom prst="rect">
            <a:avLst/>
          </a:prstGeom>
          <a:solidFill>
            <a:srgbClr val="FFFFFF"/>
          </a:solidFill>
          <a:ln w="6350">
            <a:solidFill>
              <a:srgbClr val="999999"/>
            </a:solidFill>
            <a:prstDash val="solid"/>
          </a:ln>
        </p:spPr>
      </p:sp>
      <p:sp>
        <p:nvSpPr>
          <p:cNvPr id="39" name="Text 32"/>
          <p:cNvSpPr txBox="1"/>
          <p:nvPr/>
        </p:nvSpPr>
        <p:spPr>
          <a:xfrm>
            <a:off x="239393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10</a:t>
            </a:r>
            <a:endParaRPr lang="en-US" sz="650" dirty="0"/>
          </a:p>
        </p:txBody>
      </p:sp>
      <p:sp>
        <p:nvSpPr>
          <p:cNvPr id="40" name="Shape 33"/>
          <p:cNvSpPr/>
          <p:nvPr/>
        </p:nvSpPr>
        <p:spPr>
          <a:xfrm>
            <a:off x="1528306" y="2939549"/>
            <a:ext cx="1005840"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1528306" y="2939549"/>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 Total</a:t>
            </a:r>
            <a:endParaRPr lang="en-US" sz="750" dirty="0"/>
          </a:p>
        </p:txBody>
      </p:sp>
      <p:sp>
        <p:nvSpPr>
          <p:cNvPr id="42" name="Shape 35"/>
          <p:cNvSpPr/>
          <p:nvPr/>
        </p:nvSpPr>
        <p:spPr>
          <a:xfrm>
            <a:off x="3554675" y="1695965"/>
            <a:ext cx="1965741" cy="2281131"/>
          </a:xfrm>
          <a:prstGeom prst="rect">
            <a:avLst/>
          </a:prstGeom>
          <a:solidFill>
            <a:srgbClr val="FFFFFF"/>
          </a:solidFill>
          <a:ln w="6350">
            <a:solidFill>
              <a:srgbClr val="CCCCCC"/>
            </a:solidFill>
            <a:prstDash val="solid"/>
          </a:ln>
        </p:spPr>
      </p:sp>
      <p:sp>
        <p:nvSpPr>
          <p:cNvPr id="43" name="Shape 36"/>
          <p:cNvSpPr/>
          <p:nvPr/>
        </p:nvSpPr>
        <p:spPr>
          <a:xfrm>
            <a:off x="3554675" y="1695965"/>
            <a:ext cx="1965741" cy="182880"/>
          </a:xfrm>
          <a:prstGeom prst="rect">
            <a:avLst/>
          </a:prstGeom>
          <a:solidFill>
            <a:srgbClr val="F1F3F4"/>
          </a:solidFill>
          <a:ln w="12700">
            <a:solidFill>
              <a:srgbClr val="F1F3F4"/>
            </a:solidFill>
            <a:prstDash val="solid"/>
          </a:ln>
        </p:spPr>
      </p:sp>
      <p:sp>
        <p:nvSpPr>
          <p:cNvPr id="44" name="Text 37"/>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45" name="Shape 38"/>
          <p:cNvSpPr/>
          <p:nvPr/>
        </p:nvSpPr>
        <p:spPr>
          <a:xfrm>
            <a:off x="4121603" y="1851413"/>
            <a:ext cx="365760" cy="22860"/>
          </a:xfrm>
          <a:prstGeom prst="rect">
            <a:avLst/>
          </a:prstGeom>
          <a:solidFill>
            <a:srgbClr val="1A73E8"/>
          </a:solidFill>
          <a:ln w="12700">
            <a:solidFill>
              <a:srgbClr val="1A73E8"/>
            </a:solidFill>
            <a:prstDash val="solid"/>
          </a:ln>
        </p:spPr>
      </p:sp>
      <p:sp>
        <p:nvSpPr>
          <p:cNvPr id="46" name="Shape 39"/>
          <p:cNvSpPr/>
          <p:nvPr/>
        </p:nvSpPr>
        <p:spPr>
          <a:xfrm>
            <a:off x="3554675" y="1924565"/>
            <a:ext cx="1965741" cy="201168"/>
          </a:xfrm>
          <a:prstGeom prst="rect">
            <a:avLst/>
          </a:prstGeom>
          <a:solidFill>
            <a:srgbClr val="FCE8E6"/>
          </a:solidFill>
          <a:ln w="12700">
            <a:solidFill>
              <a:srgbClr val="FCE8E6"/>
            </a:solidFill>
            <a:prstDash val="solid"/>
          </a:ln>
        </p:spPr>
      </p:sp>
      <p:sp>
        <p:nvSpPr>
          <p:cNvPr id="47" name="Text 40"/>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Uncaught TypeError: Cannot</a:t>
            </a:r>
            <a:endParaRPr lang="en-US" sz="600" dirty="0"/>
          </a:p>
        </p:txBody>
      </p:sp>
      <p:sp>
        <p:nvSpPr>
          <p:cNvPr id="48" name="Shape 41"/>
          <p:cNvSpPr/>
          <p:nvPr/>
        </p:nvSpPr>
        <p:spPr>
          <a:xfrm>
            <a:off x="3554675" y="2144021"/>
            <a:ext cx="1965741" cy="201168"/>
          </a:xfrm>
          <a:prstGeom prst="rect">
            <a:avLst/>
          </a:prstGeom>
          <a:solidFill>
            <a:srgbClr val="FCE8E6"/>
          </a:solidFill>
          <a:ln w="12700">
            <a:solidFill>
              <a:srgbClr val="FCE8E6"/>
            </a:solidFill>
            <a:prstDash val="solid"/>
          </a:ln>
        </p:spPr>
      </p:sp>
      <p:sp>
        <p:nvSpPr>
          <p:cNvPr id="49" name="Text 42"/>
          <p:cNvSpPr txBox="1"/>
          <p:nvPr/>
        </p:nvSpPr>
        <p:spPr>
          <a:xfrm>
            <a:off x="3600395" y="2144021"/>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set properties of null</a:t>
            </a:r>
            <a:endParaRPr lang="en-US" sz="600" dirty="0"/>
          </a:p>
        </p:txBody>
      </p:sp>
      <p:sp>
        <p:nvSpPr>
          <p:cNvPr id="50" name="Text 43"/>
          <p:cNvSpPr txBox="1"/>
          <p:nvPr/>
        </p:nvSpPr>
        <p:spPr>
          <a:xfrm>
            <a:off x="3600395" y="2363477"/>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   index.html:41</a:t>
            </a:r>
            <a:endParaRPr lang="en-US" sz="600" dirty="0"/>
          </a:p>
        </p:txBody>
      </p:sp>
      <p:sp>
        <p:nvSpPr>
          <p:cNvPr id="51" name="Shape 44"/>
          <p:cNvSpPr/>
          <p:nvPr/>
        </p:nvSpPr>
        <p:spPr>
          <a:xfrm>
            <a:off x="3536387" y="1906277"/>
            <a:ext cx="2002317" cy="676656"/>
          </a:xfrm>
          <a:prstGeom prst="roundRect">
            <a:avLst>
              <a:gd name="adj" fmla="val 6757"/>
            </a:avLst>
          </a:prstGeom>
          <a:solidFill>
            <a:srgbClr val="FFFFFF">
              <a:alpha val="0"/>
            </a:srgbClr>
          </a:solidFill>
          <a:ln w="31750">
            <a:solidFill>
              <a:srgbClr val="E53935"/>
            </a:solidFill>
            <a:prstDash val="solid"/>
          </a:ln>
        </p:spPr>
      </p:sp>
      <p:sp>
        <p:nvSpPr>
          <p:cNvPr id="52" name="Shape 45"/>
          <p:cNvSpPr/>
          <p:nvPr/>
        </p:nvSpPr>
        <p:spPr>
          <a:xfrm>
            <a:off x="5401544" y="1769117"/>
            <a:ext cx="274320" cy="274320"/>
          </a:xfrm>
          <a:prstGeom prst="ellipse">
            <a:avLst/>
          </a:prstGeom>
          <a:solidFill>
            <a:srgbClr val="E53935"/>
          </a:solidFill>
          <a:ln w="12700">
            <a:solidFill>
              <a:srgbClr val="FFFFFF"/>
            </a:solidFill>
            <a:prstDash val="solid"/>
          </a:ln>
        </p:spPr>
      </p:sp>
      <p:sp>
        <p:nvSpPr>
          <p:cNvPr id="53" name="Text 46"/>
          <p:cNvSpPr txBox="1"/>
          <p:nvPr/>
        </p:nvSpPr>
        <p:spPr>
          <a:xfrm>
            <a:off x="5401544" y="1769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4" name="Image 5" descr="preencoded.png">    </p:cNvPr>
          <p:cNvPicPr>
            <a:picLocks noChangeAspect="1"/>
          </p:cNvPicPr>
          <p:nvPr/>
        </p:nvPicPr>
        <p:blipFill>
          <a:blip r:embed="rId6"/>
          <a:stretch>
            <a:fillRect/>
          </a:stretch>
        </p:blipFill>
        <p:spPr>
          <a:xfrm>
            <a:off x="4635832" y="2276609"/>
            <a:ext cx="237744" cy="237744"/>
          </a:xfrm>
          <a:prstGeom prst="rect">
            <a:avLst/>
          </a:prstGeom>
        </p:spPr>
      </p:pic>
      <p:sp>
        <p:nvSpPr>
          <p:cNvPr id="55"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6"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Buru bug JavaScript, uji setelah tiap perbaikan</a:t>
            </a:r>
            <a:endParaRPr lang="en-US" sz="1800" dirty="0"/>
          </a:p>
        </p:txBody>
      </p:sp>
      <p:sp>
        <p:nvSpPr>
          <p:cNvPr id="57"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Gunakan pesan Console. Setelah memperbaiki satu bug, uji lagi: apakah muncul error baru?</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Akhir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Kalkulator Setoran Pekanan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file:///C:/.../website_rusak/index.html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Kalkulator Setoran Pekanan</a:t>
            </a:r>
            <a:endParaRPr lang="en-US" sz="1100" dirty="0"/>
          </a:p>
        </p:txBody>
      </p:sp>
      <p:sp>
        <p:nvSpPr>
          <p:cNvPr id="32" name="Shape 25"/>
          <p:cNvSpPr/>
          <p:nvPr/>
        </p:nvSpPr>
        <p:spPr>
          <a:xfrm>
            <a:off x="933946" y="2244605"/>
            <a:ext cx="2194560" cy="1280160"/>
          </a:xfrm>
          <a:prstGeom prst="roundRect">
            <a:avLst>
              <a:gd name="adj" fmla="val 5714"/>
            </a:avLst>
          </a:prstGeom>
          <a:solidFill>
            <a:srgbClr val="FFFFFF"/>
          </a:solidFill>
          <a:ln w="9525">
            <a:solidFill>
              <a:srgbClr val="DDDDDD"/>
            </a:solidFill>
            <a:prstDash val="solid"/>
          </a:ln>
        </p:spPr>
      </p:sp>
      <p:sp>
        <p:nvSpPr>
          <p:cNvPr id="33" name="Text 26"/>
          <p:cNvSpPr txBox="1"/>
          <p:nvPr/>
        </p:nvSpPr>
        <p:spPr>
          <a:xfrm>
            <a:off x="1025386" y="2262893"/>
            <a:ext cx="2011680" cy="228600"/>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Berapa ayat yang kamu setor pekan ini?</a:t>
            </a:r>
            <a:endParaRPr lang="en-US" sz="800" dirty="0"/>
          </a:p>
        </p:txBody>
      </p:sp>
      <p:sp>
        <p:nvSpPr>
          <p:cNvPr id="34" name="Shape 27"/>
          <p:cNvSpPr/>
          <p:nvPr/>
        </p:nvSpPr>
        <p:spPr>
          <a:xfrm>
            <a:off x="1025386" y="2683517"/>
            <a:ext cx="640080" cy="182880"/>
          </a:xfrm>
          <a:prstGeom prst="rect">
            <a:avLst/>
          </a:prstGeom>
          <a:solidFill>
            <a:srgbClr val="FFFFFF"/>
          </a:solidFill>
          <a:ln w="6350">
            <a:solidFill>
              <a:srgbClr val="999999"/>
            </a:solidFill>
            <a:prstDash val="solid"/>
          </a:ln>
        </p:spPr>
      </p:sp>
      <p:sp>
        <p:nvSpPr>
          <p:cNvPr id="35" name="Text 28"/>
          <p:cNvSpPr txBox="1"/>
          <p:nvPr/>
        </p:nvSpPr>
        <p:spPr>
          <a:xfrm>
            <a:off x="105281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5</a:t>
            </a:r>
            <a:endParaRPr lang="en-US" sz="650" dirty="0"/>
          </a:p>
        </p:txBody>
      </p:sp>
      <p:sp>
        <p:nvSpPr>
          <p:cNvPr id="36" name="Shape 29"/>
          <p:cNvSpPr/>
          <p:nvPr/>
        </p:nvSpPr>
        <p:spPr>
          <a:xfrm>
            <a:off x="1695946" y="2683517"/>
            <a:ext cx="640080" cy="182880"/>
          </a:xfrm>
          <a:prstGeom prst="rect">
            <a:avLst/>
          </a:prstGeom>
          <a:solidFill>
            <a:srgbClr val="FFFFFF"/>
          </a:solidFill>
          <a:ln w="6350">
            <a:solidFill>
              <a:srgbClr val="999999"/>
            </a:solidFill>
            <a:prstDash val="solid"/>
          </a:ln>
        </p:spPr>
      </p:sp>
      <p:sp>
        <p:nvSpPr>
          <p:cNvPr id="37" name="Text 30"/>
          <p:cNvSpPr txBox="1"/>
          <p:nvPr/>
        </p:nvSpPr>
        <p:spPr>
          <a:xfrm>
            <a:off x="172337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7</a:t>
            </a:r>
            <a:endParaRPr lang="en-US" sz="650" dirty="0"/>
          </a:p>
        </p:txBody>
      </p:sp>
      <p:sp>
        <p:nvSpPr>
          <p:cNvPr id="38" name="Shape 31"/>
          <p:cNvSpPr/>
          <p:nvPr/>
        </p:nvSpPr>
        <p:spPr>
          <a:xfrm>
            <a:off x="2366506" y="2683517"/>
            <a:ext cx="640080" cy="182880"/>
          </a:xfrm>
          <a:prstGeom prst="rect">
            <a:avLst/>
          </a:prstGeom>
          <a:solidFill>
            <a:srgbClr val="FFFFFF"/>
          </a:solidFill>
          <a:ln w="6350">
            <a:solidFill>
              <a:srgbClr val="999999"/>
            </a:solidFill>
            <a:prstDash val="solid"/>
          </a:ln>
        </p:spPr>
      </p:sp>
      <p:sp>
        <p:nvSpPr>
          <p:cNvPr id="39" name="Text 32"/>
          <p:cNvSpPr txBox="1"/>
          <p:nvPr/>
        </p:nvSpPr>
        <p:spPr>
          <a:xfrm>
            <a:off x="2393938" y="2683517"/>
            <a:ext cx="640080" cy="182880"/>
          </a:xfrm>
          <a:prstGeom prst="rect">
            <a:avLst/>
          </a:prstGeom>
          <a:noFill/>
          <a:ln/>
        </p:spPr>
        <p:txBody>
          <a:bodyPr wrap="square" lIns="0" tIns="0" rIns="0" bIns="0" rtlCol="0" anchor="ctr"/>
          <a:lstStyle/>
          <a:p>
            <a:pPr indent="0" marL="0">
              <a:buNone/>
            </a:pPr>
            <a:r>
              <a:rPr lang="en-US" sz="650" dirty="0">
                <a:solidFill>
                  <a:srgbClr val="111111"/>
                </a:solidFill>
                <a:latin typeface="Arial" pitchFamily="34" charset="0"/>
                <a:ea typeface="Arial" pitchFamily="34" charset="-122"/>
                <a:cs typeface="Arial" pitchFamily="34" charset="-120"/>
              </a:rPr>
              <a:t>10</a:t>
            </a:r>
            <a:endParaRPr lang="en-US" sz="650" dirty="0"/>
          </a:p>
        </p:txBody>
      </p:sp>
      <p:sp>
        <p:nvSpPr>
          <p:cNvPr id="40" name="Shape 33"/>
          <p:cNvSpPr/>
          <p:nvPr/>
        </p:nvSpPr>
        <p:spPr>
          <a:xfrm>
            <a:off x="1528306" y="2939549"/>
            <a:ext cx="1005840"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1528306" y="2939549"/>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 Total</a:t>
            </a:r>
            <a:endParaRPr lang="en-US" sz="750" dirty="0"/>
          </a:p>
        </p:txBody>
      </p:sp>
      <p:sp>
        <p:nvSpPr>
          <p:cNvPr id="42" name="Text 35"/>
          <p:cNvSpPr txBox="1"/>
          <p:nvPr/>
        </p:nvSpPr>
        <p:spPr>
          <a:xfrm>
            <a:off x="1025386" y="3232157"/>
            <a:ext cx="2011680" cy="228600"/>
          </a:xfrm>
          <a:prstGeom prst="rect">
            <a:avLst/>
          </a:prstGeom>
          <a:noFill/>
          <a:ln/>
        </p:spPr>
        <p:txBody>
          <a:bodyPr wrap="square" lIns="0" tIns="0" rIns="0" bIns="0" rtlCol="0" anchor="t"/>
          <a:lstStyle/>
          <a:p>
            <a:pPr algn="ctr" indent="0" marL="0">
              <a:buNone/>
            </a:pPr>
            <a:r>
              <a:rPr lang="en-US" sz="850" b="1" dirty="0">
                <a:solidFill>
                  <a:srgbClr val="1F7A5C"/>
                </a:solidFill>
                <a:latin typeface="Arial" pitchFamily="34" charset="0"/>
                <a:ea typeface="Arial" pitchFamily="34" charset="-122"/>
                <a:cs typeface="Arial" pitchFamily="34" charset="-120"/>
              </a:rPr>
              <a:t>Total setoran: 22 ayat</a:t>
            </a:r>
            <a:endParaRPr lang="en-US" sz="850" dirty="0"/>
          </a:p>
        </p:txBody>
      </p:sp>
      <p:pic>
        <p:nvPicPr>
          <p:cNvPr id="43" name="Image 5" descr="/home/claude/logo.png">    </p:cNvPr>
          <p:cNvPicPr>
            <a:picLocks noChangeAspect="1"/>
          </p:cNvPicPr>
          <p:nvPr/>
        </p:nvPicPr>
        <p:blipFill>
          <a:blip r:embed="rId6"/>
          <a:stretch>
            <a:fillRect/>
          </a:stretch>
        </p:blipFill>
        <p:spPr>
          <a:xfrm>
            <a:off x="679216" y="1750829"/>
            <a:ext cx="347472" cy="347472"/>
          </a:xfrm>
          <a:prstGeom prst="rect">
            <a:avLst/>
          </a:prstGeom>
        </p:spPr>
      </p:pic>
      <p:sp>
        <p:nvSpPr>
          <p:cNvPr id="44" name="Shape 36"/>
          <p:cNvSpPr/>
          <p:nvPr/>
        </p:nvSpPr>
        <p:spPr>
          <a:xfrm>
            <a:off x="3554675" y="1695965"/>
            <a:ext cx="1965741" cy="2281131"/>
          </a:xfrm>
          <a:prstGeom prst="rect">
            <a:avLst/>
          </a:prstGeom>
          <a:solidFill>
            <a:srgbClr val="FFFFFF"/>
          </a:solidFill>
          <a:ln w="6350">
            <a:solidFill>
              <a:srgbClr val="CCCCCC"/>
            </a:solidFill>
            <a:prstDash val="solid"/>
          </a:ln>
        </p:spPr>
      </p:sp>
      <p:sp>
        <p:nvSpPr>
          <p:cNvPr id="45" name="Shape 37"/>
          <p:cNvSpPr/>
          <p:nvPr/>
        </p:nvSpPr>
        <p:spPr>
          <a:xfrm>
            <a:off x="3554675" y="1695965"/>
            <a:ext cx="1965741" cy="182880"/>
          </a:xfrm>
          <a:prstGeom prst="rect">
            <a:avLst/>
          </a:prstGeom>
          <a:solidFill>
            <a:srgbClr val="F1F3F4"/>
          </a:solidFill>
          <a:ln w="12700">
            <a:solidFill>
              <a:srgbClr val="F1F3F4"/>
            </a:solidFill>
            <a:prstDash val="solid"/>
          </a:ln>
        </p:spPr>
      </p:sp>
      <p:sp>
        <p:nvSpPr>
          <p:cNvPr id="46" name="Text 38"/>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47" name="Shape 39"/>
          <p:cNvSpPr/>
          <p:nvPr/>
        </p:nvSpPr>
        <p:spPr>
          <a:xfrm>
            <a:off x="4121603" y="1851413"/>
            <a:ext cx="365760" cy="22860"/>
          </a:xfrm>
          <a:prstGeom prst="rect">
            <a:avLst/>
          </a:prstGeom>
          <a:solidFill>
            <a:srgbClr val="1A73E8"/>
          </a:solidFill>
          <a:ln w="12700">
            <a:solidFill>
              <a:srgbClr val="1A73E8"/>
            </a:solidFill>
            <a:prstDash val="solid"/>
          </a:ln>
        </p:spPr>
      </p:sp>
      <p:sp>
        <p:nvSpPr>
          <p:cNvPr id="48" name="Text 40"/>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(tidak ada error)</a:t>
            </a:r>
            <a:endParaRPr lang="en-US" sz="600" dirty="0"/>
          </a:p>
        </p:txBody>
      </p:sp>
      <p:sp>
        <p:nvSpPr>
          <p:cNvPr id="49" name="Shape 41"/>
          <p:cNvSpPr/>
          <p:nvPr/>
        </p:nvSpPr>
        <p:spPr>
          <a:xfrm>
            <a:off x="633496" y="1695965"/>
            <a:ext cx="2788613" cy="1911096"/>
          </a:xfrm>
          <a:prstGeom prst="roundRect">
            <a:avLst>
              <a:gd name="adj" fmla="val 2392"/>
            </a:avLst>
          </a:prstGeom>
          <a:solidFill>
            <a:srgbClr val="FFFFFF">
              <a:alpha val="0"/>
            </a:srgbClr>
          </a:solidFill>
          <a:ln w="31750">
            <a:solidFill>
              <a:srgbClr val="E53935"/>
            </a:solidFill>
            <a:prstDash val="solid"/>
          </a:ln>
        </p:spPr>
      </p:sp>
      <p:sp>
        <p:nvSpPr>
          <p:cNvPr id="50" name="Shape 42"/>
          <p:cNvSpPr/>
          <p:nvPr/>
        </p:nvSpPr>
        <p:spPr>
          <a:xfrm>
            <a:off x="3284949" y="1558805"/>
            <a:ext cx="274320" cy="274320"/>
          </a:xfrm>
          <a:prstGeom prst="ellipse">
            <a:avLst/>
          </a:prstGeom>
          <a:solidFill>
            <a:srgbClr val="E53935"/>
          </a:solidFill>
          <a:ln w="12700">
            <a:solidFill>
              <a:srgbClr val="FFFFFF"/>
            </a:solidFill>
            <a:prstDash val="solid"/>
          </a:ln>
        </p:spPr>
      </p:sp>
      <p:sp>
        <p:nvSpPr>
          <p:cNvPr id="51" name="Text 43"/>
          <p:cNvSpPr txBox="1"/>
          <p:nvPr/>
        </p:nvSpPr>
        <p:spPr>
          <a:xfrm>
            <a:off x="3284949"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2" name="Image 6" descr="preencoded.png">    </p:cNvPr>
          <p:cNvPicPr>
            <a:picLocks noChangeAspect="1"/>
          </p:cNvPicPr>
          <p:nvPr/>
        </p:nvPicPr>
        <p:blipFill>
          <a:blip r:embed="rId7"/>
          <a:stretch>
            <a:fillRect/>
          </a:stretch>
        </p:blipFill>
        <p:spPr>
          <a:xfrm>
            <a:off x="2165405" y="2745239"/>
            <a:ext cx="237744" cy="237744"/>
          </a:xfrm>
          <a:prstGeom prst="rect">
            <a:avLst/>
          </a:prstGeom>
        </p:spPr>
      </p:pic>
      <p:sp>
        <p:nvSpPr>
          <p:cNvPr id="53"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4"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akhir: 5 + 7 + 10 = 22</a:t>
            </a:r>
            <a:endParaRPr lang="en-US" sz="1800" dirty="0"/>
          </a:p>
        </p:txBody>
      </p:sp>
      <p:sp>
        <p:nvSpPr>
          <p:cNvPr id="55"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5, 7, 10. Hasil harus: Total setoran: 22 ayat. Logo tampil, kartu bergaris, tombol berhuruf putih, Console bersih.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Fix_Broken_Website_Kel3 -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Fix_Broken_Website_Kel3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Laporan Perburuan Bug</a:t>
            </a:r>
            <a:endParaRPr lang="en-US" sz="1100" dirty="0"/>
          </a:p>
        </p:txBody>
      </p:sp>
      <p:sp>
        <p:nvSpPr>
          <p:cNvPr id="70" name="Shape 59"/>
          <p:cNvSpPr/>
          <p:nvPr/>
        </p:nvSpPr>
        <p:spPr>
          <a:xfrm>
            <a:off x="1554480" y="2876938"/>
            <a:ext cx="75438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Bug</a:t>
            </a:r>
            <a:endParaRPr lang="en-US" sz="650" dirty="0"/>
          </a:p>
        </p:txBody>
      </p:sp>
      <p:sp>
        <p:nvSpPr>
          <p:cNvPr id="72" name="Shape 61"/>
          <p:cNvSpPr/>
          <p:nvPr/>
        </p:nvSpPr>
        <p:spPr>
          <a:xfrm>
            <a:off x="2308860" y="2876938"/>
            <a:ext cx="754380" cy="182880"/>
          </a:xfrm>
          <a:prstGeom prst="rect">
            <a:avLst/>
          </a:prstGeom>
          <a:solidFill>
            <a:srgbClr val="D9EAD3"/>
          </a:solidFill>
          <a:ln w="6350">
            <a:solidFill>
              <a:srgbClr val="777777"/>
            </a:solidFill>
            <a:prstDash val="solid"/>
          </a:ln>
        </p:spPr>
      </p:sp>
      <p:sp>
        <p:nvSpPr>
          <p:cNvPr id="73" name="Text 62"/>
          <p:cNvSpPr txBox="1"/>
          <p:nvPr/>
        </p:nvSpPr>
        <p:spPr>
          <a:xfrm>
            <a:off x="233629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Gejala</a:t>
            </a:r>
            <a:endParaRPr lang="en-US" sz="650" dirty="0"/>
          </a:p>
        </p:txBody>
      </p:sp>
      <p:sp>
        <p:nvSpPr>
          <p:cNvPr id="74" name="Shape 63"/>
          <p:cNvSpPr/>
          <p:nvPr/>
        </p:nvSpPr>
        <p:spPr>
          <a:xfrm>
            <a:off x="3063240" y="2876938"/>
            <a:ext cx="754380" cy="182880"/>
          </a:xfrm>
          <a:prstGeom prst="rect">
            <a:avLst/>
          </a:prstGeom>
          <a:solidFill>
            <a:srgbClr val="D9EAD3"/>
          </a:solidFill>
          <a:ln w="6350">
            <a:solidFill>
              <a:srgbClr val="777777"/>
            </a:solidFill>
            <a:prstDash val="solid"/>
          </a:ln>
        </p:spPr>
      </p:sp>
      <p:sp>
        <p:nvSpPr>
          <p:cNvPr id="75" name="Text 64"/>
          <p:cNvSpPr txBox="1"/>
          <p:nvPr/>
        </p:nvSpPr>
        <p:spPr>
          <a:xfrm>
            <a:off x="309067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Penyebab</a:t>
            </a:r>
            <a:endParaRPr lang="en-US" sz="650" dirty="0"/>
          </a:p>
        </p:txBody>
      </p:sp>
      <p:sp>
        <p:nvSpPr>
          <p:cNvPr id="76" name="Shape 65"/>
          <p:cNvSpPr/>
          <p:nvPr/>
        </p:nvSpPr>
        <p:spPr>
          <a:xfrm>
            <a:off x="3817620" y="2876938"/>
            <a:ext cx="754380" cy="182880"/>
          </a:xfrm>
          <a:prstGeom prst="rect">
            <a:avLst/>
          </a:prstGeom>
          <a:solidFill>
            <a:srgbClr val="D9EAD3"/>
          </a:solidFill>
          <a:ln w="6350">
            <a:solidFill>
              <a:srgbClr val="777777"/>
            </a:solidFill>
            <a:prstDash val="solid"/>
          </a:ln>
        </p:spPr>
      </p:sp>
      <p:sp>
        <p:nvSpPr>
          <p:cNvPr id="77" name="Text 66"/>
          <p:cNvSpPr txBox="1"/>
          <p:nvPr/>
        </p:nvSpPr>
        <p:spPr>
          <a:xfrm>
            <a:off x="384505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Cara ketemu</a:t>
            </a:r>
            <a:endParaRPr lang="en-US" sz="650" dirty="0"/>
          </a:p>
        </p:txBody>
      </p:sp>
      <p:sp>
        <p:nvSpPr>
          <p:cNvPr id="78" name="Shape 67"/>
          <p:cNvSpPr/>
          <p:nvPr/>
        </p:nvSpPr>
        <p:spPr>
          <a:xfrm>
            <a:off x="1554480" y="3059818"/>
            <a:ext cx="754380" cy="182880"/>
          </a:xfrm>
          <a:prstGeom prst="rect">
            <a:avLst/>
          </a:prstGeom>
          <a:solidFill>
            <a:srgbClr val="FFFFFF"/>
          </a:solidFill>
          <a:ln w="6350">
            <a:solidFill>
              <a:srgbClr val="777777"/>
            </a:solidFill>
            <a:prstDash val="solid"/>
          </a:ln>
        </p:spPr>
      </p:sp>
      <p:sp>
        <p:nvSpPr>
          <p:cNvPr id="79" name="Text 68"/>
          <p:cNvSpPr txBox="1"/>
          <p:nvPr/>
        </p:nvSpPr>
        <p:spPr>
          <a:xfrm>
            <a:off x="158191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 HTML</a:t>
            </a:r>
            <a:endParaRPr lang="en-US" sz="650" dirty="0"/>
          </a:p>
        </p:txBody>
      </p:sp>
      <p:sp>
        <p:nvSpPr>
          <p:cNvPr id="80" name="Shape 69"/>
          <p:cNvSpPr/>
          <p:nvPr/>
        </p:nvSpPr>
        <p:spPr>
          <a:xfrm>
            <a:off x="2308860" y="3059818"/>
            <a:ext cx="754380" cy="182880"/>
          </a:xfrm>
          <a:prstGeom prst="rect">
            <a:avLst/>
          </a:prstGeom>
          <a:solidFill>
            <a:srgbClr val="FFFFFF"/>
          </a:solidFill>
          <a:ln w="6350">
            <a:solidFill>
              <a:srgbClr val="777777"/>
            </a:solidFill>
            <a:prstDash val="solid"/>
          </a:ln>
        </p:spPr>
      </p:sp>
      <p:sp>
        <p:nvSpPr>
          <p:cNvPr id="81" name="Text 70"/>
          <p:cNvSpPr txBox="1"/>
          <p:nvPr/>
        </p:nvSpPr>
        <p:spPr>
          <a:xfrm>
            <a:off x="233629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Teks besar</a:t>
            </a:r>
            <a:endParaRPr lang="en-US" sz="650" dirty="0"/>
          </a:p>
        </p:txBody>
      </p:sp>
      <p:sp>
        <p:nvSpPr>
          <p:cNvPr id="82" name="Shape 71"/>
          <p:cNvSpPr/>
          <p:nvPr/>
        </p:nvSpPr>
        <p:spPr>
          <a:xfrm>
            <a:off x="3063240" y="3059818"/>
            <a:ext cx="754380" cy="182880"/>
          </a:xfrm>
          <a:prstGeom prst="rect">
            <a:avLst/>
          </a:prstGeom>
          <a:solidFill>
            <a:srgbClr val="FFFFFF"/>
          </a:solidFill>
          <a:ln w="6350">
            <a:solidFill>
              <a:srgbClr val="777777"/>
            </a:solidFill>
            <a:prstDash val="solid"/>
          </a:ln>
        </p:spPr>
      </p:sp>
      <p:sp>
        <p:nvSpPr>
          <p:cNvPr id="83" name="Text 72"/>
          <p:cNvSpPr txBox="1"/>
          <p:nvPr/>
        </p:nvSpPr>
        <p:spPr>
          <a:xfrm>
            <a:off x="309067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h2 tak ditutup</a:t>
            </a:r>
            <a:endParaRPr lang="en-US" sz="650" dirty="0"/>
          </a:p>
        </p:txBody>
      </p:sp>
      <p:sp>
        <p:nvSpPr>
          <p:cNvPr id="84" name="Shape 73"/>
          <p:cNvSpPr/>
          <p:nvPr/>
        </p:nvSpPr>
        <p:spPr>
          <a:xfrm>
            <a:off x="3817620" y="3059818"/>
            <a:ext cx="754380" cy="182880"/>
          </a:xfrm>
          <a:prstGeom prst="rect">
            <a:avLst/>
          </a:prstGeom>
          <a:solidFill>
            <a:srgbClr val="FFFFFF"/>
          </a:solidFill>
          <a:ln w="6350">
            <a:solidFill>
              <a:srgbClr val="777777"/>
            </a:solidFill>
            <a:prstDash val="solid"/>
          </a:ln>
        </p:spPr>
      </p:sp>
      <p:sp>
        <p:nvSpPr>
          <p:cNvPr id="85" name="Text 74"/>
          <p:cNvSpPr txBox="1"/>
          <p:nvPr/>
        </p:nvSpPr>
        <p:spPr>
          <a:xfrm>
            <a:off x="384505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Amati</a:t>
            </a:r>
            <a:endParaRPr lang="en-US" sz="650" dirty="0"/>
          </a:p>
        </p:txBody>
      </p:sp>
      <p:sp>
        <p:nvSpPr>
          <p:cNvPr id="86" name="Shape 75"/>
          <p:cNvSpPr/>
          <p:nvPr/>
        </p:nvSpPr>
        <p:spPr>
          <a:xfrm>
            <a:off x="1554480" y="3242698"/>
            <a:ext cx="754380" cy="182880"/>
          </a:xfrm>
          <a:prstGeom prst="rect">
            <a:avLst/>
          </a:prstGeom>
          <a:solidFill>
            <a:srgbClr val="FFFFFF"/>
          </a:solidFill>
          <a:ln w="6350">
            <a:solidFill>
              <a:srgbClr val="777777"/>
            </a:solidFill>
            <a:prstDash val="solid"/>
          </a:ln>
        </p:spPr>
      </p:sp>
      <p:sp>
        <p:nvSpPr>
          <p:cNvPr id="87" name="Text 76"/>
          <p:cNvSpPr txBox="1"/>
          <p:nvPr/>
        </p:nvSpPr>
        <p:spPr>
          <a:xfrm>
            <a:off x="158191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 Gambar</a:t>
            </a:r>
            <a:endParaRPr lang="en-US" sz="650" dirty="0"/>
          </a:p>
        </p:txBody>
      </p:sp>
      <p:sp>
        <p:nvSpPr>
          <p:cNvPr id="88" name="Shape 77"/>
          <p:cNvSpPr/>
          <p:nvPr/>
        </p:nvSpPr>
        <p:spPr>
          <a:xfrm>
            <a:off x="2308860" y="3242698"/>
            <a:ext cx="754380" cy="182880"/>
          </a:xfrm>
          <a:prstGeom prst="rect">
            <a:avLst/>
          </a:prstGeom>
          <a:solidFill>
            <a:srgbClr val="FFFFFF"/>
          </a:solidFill>
          <a:ln w="6350">
            <a:solidFill>
              <a:srgbClr val="777777"/>
            </a:solidFill>
            <a:prstDash val="solid"/>
          </a:ln>
        </p:spPr>
      </p:sp>
      <p:sp>
        <p:nvSpPr>
          <p:cNvPr id="89" name="Text 78"/>
          <p:cNvSpPr txBox="1"/>
          <p:nvPr/>
        </p:nvSpPr>
        <p:spPr>
          <a:xfrm>
            <a:off x="233629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Logo hilang</a:t>
            </a:r>
            <a:endParaRPr lang="en-US" sz="650" dirty="0"/>
          </a:p>
        </p:txBody>
      </p:sp>
      <p:sp>
        <p:nvSpPr>
          <p:cNvPr id="90" name="Shape 79"/>
          <p:cNvSpPr/>
          <p:nvPr/>
        </p:nvSpPr>
        <p:spPr>
          <a:xfrm>
            <a:off x="3063240" y="3242698"/>
            <a:ext cx="754380" cy="182880"/>
          </a:xfrm>
          <a:prstGeom prst="rect">
            <a:avLst/>
          </a:prstGeom>
          <a:solidFill>
            <a:srgbClr val="FFFFFF"/>
          </a:solidFill>
          <a:ln w="6350">
            <a:solidFill>
              <a:srgbClr val="777777"/>
            </a:solidFill>
            <a:prstDash val="solid"/>
          </a:ln>
        </p:spPr>
      </p:sp>
      <p:sp>
        <p:nvSpPr>
          <p:cNvPr id="91" name="Text 80"/>
          <p:cNvSpPr txBox="1"/>
          <p:nvPr/>
        </p:nvSpPr>
        <p:spPr>
          <a:xfrm>
            <a:off x="309067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Logo.png</a:t>
            </a:r>
            <a:endParaRPr lang="en-US" sz="650" dirty="0"/>
          </a:p>
        </p:txBody>
      </p:sp>
      <p:sp>
        <p:nvSpPr>
          <p:cNvPr id="92" name="Shape 81"/>
          <p:cNvSpPr/>
          <p:nvPr/>
        </p:nvSpPr>
        <p:spPr>
          <a:xfrm>
            <a:off x="3817620" y="3242698"/>
            <a:ext cx="754380" cy="182880"/>
          </a:xfrm>
          <a:prstGeom prst="rect">
            <a:avLst/>
          </a:prstGeom>
          <a:solidFill>
            <a:srgbClr val="FFFFFF"/>
          </a:solidFill>
          <a:ln w="6350">
            <a:solidFill>
              <a:srgbClr val="777777"/>
            </a:solidFill>
            <a:prstDash val="solid"/>
          </a:ln>
        </p:spPr>
      </p:sp>
      <p:sp>
        <p:nvSpPr>
          <p:cNvPr id="93" name="Text 82"/>
          <p:cNvSpPr txBox="1"/>
          <p:nvPr/>
        </p:nvSpPr>
        <p:spPr>
          <a:xfrm>
            <a:off x="384505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Banding nama</a:t>
            </a:r>
            <a:endParaRPr lang="en-US" sz="650" dirty="0"/>
          </a:p>
        </p:txBody>
      </p:sp>
      <p:sp>
        <p:nvSpPr>
          <p:cNvPr id="94" name="Shape 83"/>
          <p:cNvSpPr/>
          <p:nvPr/>
        </p:nvSpPr>
        <p:spPr>
          <a:xfrm>
            <a:off x="1554480" y="3425578"/>
            <a:ext cx="754380" cy="182880"/>
          </a:xfrm>
          <a:prstGeom prst="rect">
            <a:avLst/>
          </a:prstGeom>
          <a:solidFill>
            <a:srgbClr val="FFFFFF"/>
          </a:solidFill>
          <a:ln w="6350">
            <a:solidFill>
              <a:srgbClr val="777777"/>
            </a:solidFill>
            <a:prstDash val="solid"/>
          </a:ln>
        </p:spPr>
      </p:sp>
      <p:sp>
        <p:nvSpPr>
          <p:cNvPr id="95" name="Text 84"/>
          <p:cNvSpPr txBox="1"/>
          <p:nvPr/>
        </p:nvSpPr>
        <p:spPr>
          <a:xfrm>
            <a:off x="158191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5 JS</a:t>
            </a:r>
            <a:endParaRPr lang="en-US" sz="650" dirty="0"/>
          </a:p>
        </p:txBody>
      </p:sp>
      <p:sp>
        <p:nvSpPr>
          <p:cNvPr id="96" name="Shape 85"/>
          <p:cNvSpPr/>
          <p:nvPr/>
        </p:nvSpPr>
        <p:spPr>
          <a:xfrm>
            <a:off x="2308860" y="3425578"/>
            <a:ext cx="754380" cy="182880"/>
          </a:xfrm>
          <a:prstGeom prst="rect">
            <a:avLst/>
          </a:prstGeom>
          <a:solidFill>
            <a:srgbClr val="FFFFFF"/>
          </a:solidFill>
          <a:ln w="6350">
            <a:solidFill>
              <a:srgbClr val="777777"/>
            </a:solidFill>
            <a:prstDash val="solid"/>
          </a:ln>
        </p:spPr>
      </p:sp>
      <p:sp>
        <p:nvSpPr>
          <p:cNvPr id="97" name="Text 86"/>
          <p:cNvSpPr txBox="1"/>
          <p:nvPr/>
        </p:nvSpPr>
        <p:spPr>
          <a:xfrm>
            <a:off x="233629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Tombol diam</a:t>
            </a:r>
            <a:endParaRPr lang="en-US" sz="650" dirty="0"/>
          </a:p>
        </p:txBody>
      </p:sp>
      <p:sp>
        <p:nvSpPr>
          <p:cNvPr id="98" name="Shape 87"/>
          <p:cNvSpPr/>
          <p:nvPr/>
        </p:nvSpPr>
        <p:spPr>
          <a:xfrm>
            <a:off x="3063240" y="3425578"/>
            <a:ext cx="754380" cy="182880"/>
          </a:xfrm>
          <a:prstGeom prst="rect">
            <a:avLst/>
          </a:prstGeom>
          <a:solidFill>
            <a:srgbClr val="FFFFFF"/>
          </a:solidFill>
          <a:ln w="6350">
            <a:solidFill>
              <a:srgbClr val="777777"/>
            </a:solidFill>
            <a:prstDash val="solid"/>
          </a:ln>
        </p:spPr>
      </p:sp>
      <p:sp>
        <p:nvSpPr>
          <p:cNvPr id="99" name="Text 88"/>
          <p:cNvSpPr txBox="1"/>
          <p:nvPr/>
        </p:nvSpPr>
        <p:spPr>
          <a:xfrm>
            <a:off x="309067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hitng</a:t>
            </a:r>
            <a:endParaRPr lang="en-US" sz="650" dirty="0"/>
          </a:p>
        </p:txBody>
      </p:sp>
      <p:sp>
        <p:nvSpPr>
          <p:cNvPr id="100" name="Shape 89"/>
          <p:cNvSpPr/>
          <p:nvPr/>
        </p:nvSpPr>
        <p:spPr>
          <a:xfrm>
            <a:off x="3817620" y="3425578"/>
            <a:ext cx="754380" cy="182880"/>
          </a:xfrm>
          <a:prstGeom prst="rect">
            <a:avLst/>
          </a:prstGeom>
          <a:solidFill>
            <a:srgbClr val="FFFFFF"/>
          </a:solidFill>
          <a:ln w="6350">
            <a:solidFill>
              <a:srgbClr val="777777"/>
            </a:solidFill>
            <a:prstDash val="solid"/>
          </a:ln>
        </p:spPr>
      </p:sp>
      <p:sp>
        <p:nvSpPr>
          <p:cNvPr id="101" name="Text 90"/>
          <p:cNvSpPr txBox="1"/>
          <p:nvPr/>
        </p:nvSpPr>
        <p:spPr>
          <a:xfrm>
            <a:off x="384505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Console</a:t>
            </a:r>
            <a:endParaRPr lang="en-US" sz="650" dirty="0"/>
          </a:p>
        </p:txBody>
      </p:sp>
      <p:sp>
        <p:nvSpPr>
          <p:cNvPr id="102" name="Shape 91"/>
          <p:cNvSpPr/>
          <p:nvPr/>
        </p:nvSpPr>
        <p:spPr>
          <a:xfrm>
            <a:off x="1554480" y="3608458"/>
            <a:ext cx="754380" cy="182880"/>
          </a:xfrm>
          <a:prstGeom prst="rect">
            <a:avLst/>
          </a:prstGeom>
          <a:solidFill>
            <a:srgbClr val="FFFFFF"/>
          </a:solidFill>
          <a:ln w="6350">
            <a:solidFill>
              <a:srgbClr val="777777"/>
            </a:solidFill>
            <a:prstDash val="solid"/>
          </a:ln>
        </p:spPr>
      </p:sp>
      <p:sp>
        <p:nvSpPr>
          <p:cNvPr id="103" name="Text 92"/>
          <p:cNvSpPr txBox="1"/>
          <p:nvPr/>
        </p:nvSpPr>
        <p:spPr>
          <a:xfrm>
            <a:off x="158191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6 JS</a:t>
            </a:r>
            <a:endParaRPr lang="en-US" sz="650" dirty="0"/>
          </a:p>
        </p:txBody>
      </p:sp>
      <p:sp>
        <p:nvSpPr>
          <p:cNvPr id="104" name="Shape 93"/>
          <p:cNvSpPr/>
          <p:nvPr/>
        </p:nvSpPr>
        <p:spPr>
          <a:xfrm>
            <a:off x="2308860" y="3608458"/>
            <a:ext cx="754380" cy="182880"/>
          </a:xfrm>
          <a:prstGeom prst="rect">
            <a:avLst/>
          </a:prstGeom>
          <a:solidFill>
            <a:srgbClr val="FFFFFF"/>
          </a:solidFill>
          <a:ln w="6350">
            <a:solidFill>
              <a:srgbClr val="777777"/>
            </a:solidFill>
            <a:prstDash val="solid"/>
          </a:ln>
        </p:spPr>
      </p:sp>
      <p:sp>
        <p:nvSpPr>
          <p:cNvPr id="105" name="Text 94"/>
          <p:cNvSpPr txBox="1"/>
          <p:nvPr/>
        </p:nvSpPr>
        <p:spPr>
          <a:xfrm>
            <a:off x="233629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TypeError null</a:t>
            </a:r>
            <a:endParaRPr lang="en-US" sz="650" dirty="0"/>
          </a:p>
        </p:txBody>
      </p:sp>
      <p:sp>
        <p:nvSpPr>
          <p:cNvPr id="106" name="Shape 95"/>
          <p:cNvSpPr/>
          <p:nvPr/>
        </p:nvSpPr>
        <p:spPr>
          <a:xfrm>
            <a:off x="3063240" y="3608458"/>
            <a:ext cx="754380" cy="182880"/>
          </a:xfrm>
          <a:prstGeom prst="rect">
            <a:avLst/>
          </a:prstGeom>
          <a:solidFill>
            <a:srgbClr val="FFFFFF"/>
          </a:solidFill>
          <a:ln w="6350">
            <a:solidFill>
              <a:srgbClr val="777777"/>
            </a:solidFill>
            <a:prstDash val="solid"/>
          </a:ln>
        </p:spPr>
      </p:sp>
      <p:sp>
        <p:nvSpPr>
          <p:cNvPr id="107" name="Text 96"/>
          <p:cNvSpPr txBox="1"/>
          <p:nvPr/>
        </p:nvSpPr>
        <p:spPr>
          <a:xfrm>
            <a:off x="309067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id hasill</a:t>
            </a:r>
            <a:endParaRPr lang="en-US" sz="650" dirty="0"/>
          </a:p>
        </p:txBody>
      </p:sp>
      <p:sp>
        <p:nvSpPr>
          <p:cNvPr id="108" name="Shape 97"/>
          <p:cNvSpPr/>
          <p:nvPr/>
        </p:nvSpPr>
        <p:spPr>
          <a:xfrm>
            <a:off x="3817620" y="3608458"/>
            <a:ext cx="754380" cy="182880"/>
          </a:xfrm>
          <a:prstGeom prst="rect">
            <a:avLst/>
          </a:prstGeom>
          <a:solidFill>
            <a:srgbClr val="FFFFFF"/>
          </a:solidFill>
          <a:ln w="6350">
            <a:solidFill>
              <a:srgbClr val="777777"/>
            </a:solidFill>
            <a:prstDash val="solid"/>
          </a:ln>
        </p:spPr>
      </p:sp>
      <p:sp>
        <p:nvSpPr>
          <p:cNvPr id="109" name="Text 98"/>
          <p:cNvSpPr txBox="1"/>
          <p:nvPr/>
        </p:nvSpPr>
        <p:spPr>
          <a:xfrm>
            <a:off x="384505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Console+AI</a:t>
            </a:r>
            <a:endParaRPr lang="en-US" sz="650" dirty="0"/>
          </a:p>
        </p:txBody>
      </p:sp>
      <p:sp>
        <p:nvSpPr>
          <p:cNvPr id="110" name="Shape 9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11" name="Shape 100"/>
          <p:cNvSpPr/>
          <p:nvPr/>
        </p:nvSpPr>
        <p:spPr>
          <a:xfrm>
            <a:off x="4462272" y="2712346"/>
            <a:ext cx="274320" cy="274320"/>
          </a:xfrm>
          <a:prstGeom prst="ellipse">
            <a:avLst/>
          </a:prstGeom>
          <a:solidFill>
            <a:srgbClr val="E53935"/>
          </a:solidFill>
          <a:ln w="12700">
            <a:solidFill>
              <a:srgbClr val="FFFFFF"/>
            </a:solidFill>
            <a:prstDash val="solid"/>
          </a:ln>
        </p:spPr>
      </p:sp>
      <p:sp>
        <p:nvSpPr>
          <p:cNvPr id="112" name="Text 10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11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14" name="Text 10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115" name="Text 10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 ceritakan perburuan bug</a:t>
            </a:r>
            <a:endParaRPr lang="en-US" sz="1800" dirty="0"/>
          </a:p>
        </p:txBody>
      </p:sp>
      <p:sp>
        <p:nvSpPr>
          <p:cNvPr id="116" name="Text 10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Tampilkan tabel debugging. Ceritakan bug tersulit: gejala, cara menemukan, perbaikan.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Fix The Broken Website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5 dari 6 bug ditemukan dan diperbaiki.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Uji akhir benar (5 + 7 + 10 = 22) dan Console bersih.</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debugging lengkap: bug, gejala, penyebab, perbaikan, cara menemukan.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AI dipakai maksimal 2 kali, hanya untuk penjelasan; dipresentasikan.</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5: Debugging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5 dari 6 bug ditemukan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Website bekerja benar</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Tabel debugging lengkap</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Dipresentasikan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Bug mana yang paling sulit ditemukan?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pelajaran terbesar dari proyek ini?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Bekerja sama dengan saling menghargai: yang menemukan bug tidak sombong, yang belum tidak berkecil hati.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6: JavaScript Dasar.</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5 - Debugging</dc:title>
  <dc:subject>PptxGenJS Presentation</dc:subject>
  <dc:creator>PptxGenJS</dc:creator>
  <cp:lastModifiedBy>PptxGenJS</cp:lastModifiedBy>
  <cp:revision>1</cp:revision>
  <dcterms:created xsi:type="dcterms:W3CDTF">2026-10-02T07:53:17Z</dcterms:created>
  <dcterms:modified xsi:type="dcterms:W3CDTF">2026-10-02T07:53:17Z</dcterms:modified>
</cp:coreProperties>
</file>