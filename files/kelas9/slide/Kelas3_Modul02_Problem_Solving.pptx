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2: Problem Solving — Proyek: Proposal Solusi Digital
Terdiri dari 3 pertemuan (Pertemuan 4–6 Kelas IX),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Modul ini menjadi dasar seluruh proyek Kelas IX. Proposal yang dibuat santri akan dikembangkan di modul berikutnya hingga Proyek Akhir (Digital Solution Project).
- Arahkan kelompok memilih masalah yang NYATA, KECIL, dan BISA DIKERJAKAN dengan HTML, CSS, JavaScript, dan Google Sheets dalam beberapa pekan. Contoh: daftar hafalan harian, kalkulator nilai, kuis adab, penanda jadwal piket.
- Pertemuan 4: siapkan izin agar santri dapat mewawancarai 2–3 orang (teman kelas lain, musyrif, pengelola perpustakaan/kantin).
- Hindari proyek yang mengumpulkan data pribadi santri secara nyata.
CATATAN
Alur pemecahan masalah di modul ini mengikuti pedoman: Identify → Understand → Plan → Ask AI → Build → Test → Debug → Present → Reflect. Modul ini mencakup Identify, Understand, dan Plan.
Teknik "5 Mengapa": bertanya "mengapa?" berulang kali untuk menemukan akar masalah.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ke-4, dengan judul "Mengenali Masalah &amp; Pengguna". Kita belajar menemukan masalah yang sebenarnya, sebelum mencari solusinya.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flowchart sistem pesantren. Siapa yang ingat, simbol apa untuk keputusan Ya/Tidak?
(Tunggu jawaban: belah ketupat.)
Sekarang pertanyaan hari ini. Coba pikirkan sejenak:
"Jika banyak santri terlambat ke masjid, apakah solusinya cukup dengan memasang jam besar?"
(Beri waktu 1 menit. Minta 2–3 santri menjawab. Hargai semua jawaban.)
Belum tentu. Mungkin santri terlambat bukan karena tidak tahu waktu, tetapi karena antre kamar mandi, atau karena tidur terlalu malam. Jika kita salah memahami masalahnya, solusinya juga salah. Hari ini kita belajar menemukan masalah yang sebenarnya, atau akar masalah.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alur pemecahan masalah yang akan kita pakai sepanjang Kelas IX, sesuai pedoman kita.
MASALAH: pertama kita mengenali masalah dan memahami siapa yang mengalaminya. Dalam bahasa Inggris disebut Identify dan Understand.
SOLUSI: lalu kita mengumpulkan banyak ide dan memilih yang terbaik. Disebut Plan.
PROTOTYPE: kemudian kita membuat versi sederhana dari solusi, mengujinya, dan memperbaikinya. Disebut Build, Test, dan Debug.
Contoh di bawah: masalahnya santri lupa jadwal setoran. Solusinya, pengingat jadwal. Prototype-nya, halaman web jadwal setoran harian.
Modul ini membahas masalah dan solusi. Prototype-nya kita bangun di modul-modul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Teknik sederhana untuk menemukan akar masalah adalah 5 MENGAPA. Kita bertanya "mengapa?" berulang kali, sekitar lima kali.
Contoh di layar. Masalah: banyak santri terlambat sholat Subuh berjamaah.
Mengapa? Karena lama bersiap di kamar.
Mengapa? Karena antre panjang di kamar mandi.
Mengapa? Karena semua bangun di waktu yang sama.
Mengapa? Karena tidak ada jadwal giliran mandi.
Mengapa? Karena belum ada yang mengatur giliran per kamar.
Itulah akar masalahnya. Solusinya bukan jam besar, tetapi jadwal giliran kamar mandi per kamar. Mungkin bisa dibuat aplikasi sederhana untuk jadwal giliran 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memahami masalah, kita bertanya langsung kepada PENGGUNA, yaitu orang yang benar-benar mengalami masalah itu.
SIAPA PENGGUNANYA? Misalnya santri, musyrif, atau pengelola perpustakaan. Jangan hanya menebak dari pikiran kita sendiri.
PERTANYAAN TERBUKA, seperti di Kelas VIII Modul 12: ceritakan saat kamu, atau apa yang paling menyulitkan.
DENGARKAN: jangan langsung menawarkan solusi saat wawancara. Catat kata-kata mereka apa adanya.
Lalu buat PROFIL PENGGUNA: siapa dia, apa kebutuhannya, apa kesulitannya, dan kapan ia akan memakai solusi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(Bagi kelas menjadi kelompok 3–4 santri. Kelompok ini akan bekerja bersama sampai beberapa modul ke depan.)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Setiap anggota menuliskan masalah-masalah kecil yang dialami di pesantren pada potongan kertas: satu kertas untuk satu masalah. Kumpulkan sampai minimal sepuluh masalah.
Contoh di layar: lupa jadwal setoran, antre kamar mandi, buku perpustakaan sulit dicari, kosakata Arab cepat lupa, bingung menghitung nilai.
Jangan menilai dulu. Tulis sebanyak-banyaknya.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Dari semua masalah, pilih SATU dengan tiga syarat.
Satu, sering dialami banyak orang, sehingga solusinya bermanfaat luas.
Dua, bisa dibantu dengan teknologi sederhana yang akan kita pelajari: halaman web, JavaScript, atau Google Sheets.
Tiga, bisa dikerjakan dalam beberapa pekan.
Contoh di layar: santri sering lupa jadwal dan target setoran hafalan harian. Memenuhi ketiga syarat.
Tulis masalah terpilih dalam satu kalimat.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Buka Google Docs dan buat dokumen Proposal Solusi kelompok. Dokumen ini akan dipakai sampai pertemuan 6.
Tulis masalah terpilih, lalu tanyakan Mengapa? berulang kali, sampai sekitar lima kali, dan tandai akar masalahnya dengan huruf tebal.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Siapkan lima pertanyaan wawancara terbuka, seperti contoh di layar. Hindari pertanyaan yang hanya dijawab ya atau tidak.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Bagi tugas: satu anggota bertanya, satu mencatat. Wawancarai dua orang, misalnya teman dari kelas lain atau musyrif, masing-masing sekitar lima menit.
Mulai dengan salam dan minta izin. Dengarkan dengan sungguh-sungguh. Jangan menawarkan solusi dulu, karena tugas kita hari ini adalah memahami.
(Atur agar wawancara berlangsung tertib, di dalam atau dekat kelas.)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Tulis profil pengguna dalam tabel: nama samaran, siapa dia, kebutuhannya, kesulitannya, dan kapan ia akan memakai solusi. Gunakan nama samaran, bukan nama asli, untuk menjaga privasi.
Kutip kata-kata pengguna dari wawancara, misalnya "sering lupa ayat yang harus disetor". Kata-kata asli pengguna sangat berharga.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Dokumen proposal kelompok berisi: masalah terpilih dan alasannya, 5 Mengapa sampai akar masalah, catatan wawancara dua pengguna dengan nama samaran, dan profil pengguna.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masalah ditulis dalam satu kalimat?
- 5 Mengapa sampai akar masalah?
- ada hasil wawancara 2 pengguna?
- profil pengguna jelas?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kita harus menemukan akar masalah?
Pertanyaan kedua: apa hal mengejutkan dari wawancara pengguna?
(Minta 2–3 santri menjawab secara bergantian.)
Pesan adab kita hari ini: dengarkan orang lain dengan sungguh-sungguh. Rasulullah adalah pendengar yang baik; beliau menghadapkan wajah dan hatinya kepada orang yang berbicara. Mendengar dengan baik adalah tanda menghargai.
Pekan depan: mengumpulkan ide solusi dan membuat sketsa prototype.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ke-5, dengan judul "Ide Solusi &amp; Sketsa Prototype". Kita mengumpulkan ide, memilih yang terbaik, lalu menggambar sketsa aplikasinya.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menemukan akar masalah dan mewawancarai pengguna. Siapa yang ingat, teknik apa untuk menemukan akar masalah?
(Tunggu jawaban: 5 Mengapa.)
Sekarang pertanyaan hari ini. Coba pikirkan sejenak:
"Dari mana datangnya ide yang bagus? Apakah langsung muncul sempurna?"
(Beri waktu 1 menit. Minta 2–3 santri menjawab. Hargai semua jawaban.)
Ide bagus jarang muncul sekaligus sempurna. Biasanya kita mengumpulkan banyak ide dulu, lalu memilih dan memperbaikinya. Hari ini kita mengumpulkan ide solusi, memilih yang terbaik, dan menggambar sketsa aplikasinya di kertas.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Brainstorming sudah kalian kenal sejak Kelas VII. Ingat empat aturannya.
BANYAK DULU: kumpulkan sebanyak mungkin ide. Di tahap ini, jumlah lebih penting daripada mutu.
JANGAN MENCELA: semua ide ditulis, seaneh apa pun. Menilai dilakukan nanti. Mencela membuat teman takut berpendapat.
KEMBANGKAN IDE TEMAN: bagaimana kalau ide itu ditambah sesuatu?
FOKUS PENGGUNA: selalu ingat profil dan kesulitan pengguna dari wawancara.
AI juga boleh dimintai ide tambahan, dioperasikan guru, tetapi ide-ide itu diperlakukan sama: dipilih dan dikembangkan oleh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ide terkumpul, bagaimana memilihnya? Gunakan MATRIKS dua sumbu: MANFAAT, dari bawah ke atas, dan KEMUDAHAN dibuat, dari kiri ke kanan.
Kotak HIJAU, kanan atas: manfaat tinggi dan mudah dibuat. Inilah yang kita PILIH.
Kotak KUNING, kiri atas: manfaat tinggi tetapi sulit dibuat. Disimpan untuk nanti, setelah kemampuan bertambah.
Kotak ORANYE, kanan bawah: mudah tetapi manfaatnya kecil. Bisa menjadi fitur tambahan.
Kotak MERAH, kiri bawah: sulit dan manfaatnya kecil. Dibuang.
Contoh: web jadwal setoran berada di kotak hijau. Aplikasi AI hafalan bermanfaat tetapi sulit, jadi di kotak kuning.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menulis kode, para pembuat aplikasi menggambar PROTOTYPE KERTAS, yaitu sketsa layar aplikasi di atas kertas.
Perhatikan contoh di layar: dua layar aplikasi jadwal setoran. Layar pertama, Setoran Hari Ini, berisi target ayat, murajaah, dan tombol Sudah Setor. Panah menunjukkan perpindahan ke layar kedua, Riwayat Pekan Ini.
Ciri prototype kertas: cepat dan murah, cukup kertas dan pensil. Kotak melambangkan tombol atau kolom isian. Satu kertas untuk satu layar. Dan yang terpenting, mudah diubah sebelum kita menghabiskan waktu menulis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Siapkan kertas, pensil, dan potongan kertas kecil. Buka kembali profil pengguna dari pekan lalu.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Brainstorming selama delapan menit. Setiap anggota menulis ide solusi di potongan kertas, satu kertas satu ide. Ide boleh digital maupun tidak.
Contoh untuk masalah lupa target setoran: web jadwal setoran, kartu target di dinding, pengingat suara, kuis ayat harian, grafik progres, teman setoran, aplikasi AI, atau QR target di kamar.
Target: minimal delapan ide. Ingat, jangan mencela.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Gambar matriks manfaat dan kemudahan di kertas besar. Diskusikan bersama: setiap ide diletakkan di kotak mana?
Lalu pilih SATU ide di kotak hijau yang bisa dibuat dengan halaman web, JavaScript, atau Google Sheets. Contoh: web jadwal setoran. Ide lain yang bagus bisa menjadi fitur tambahan.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Lipat kertas A4 sehingga seukuran layar HP. Gambar layar utama aplikasi: judul di atas, isi di tengah, dan tombol di bawah. Gunakan kotak untuk tombol dan kolom isian. Tidak perlu indah, yang penting jelas.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Gambar satu atau dua layar lain: apa yang muncul setelah tombol ditekan? Misalnya setelah menekan Sudah Setor, muncul layar Alhamdulillah, setoran tercatat, dan jumlah hari setor pekan ini.
Hubungkan layar-layar dengan panah. Rangkaian ini disebut alur pengguna. Bandingkan dengan flowchart dari Modul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Uji sketsa dengan pengguna, bisa teman dari kelompok lain. Tunjukkan layar pertama, lalu minta ia "menekan" tombol dengan jarinya. Ganti kertas dengan layar berikutnya sesuai pilihannya, seperti aplikasi sungguhan.
Amati dan catat: di mana ia bingung? Apa yang ia cari tetapi tidak ada? Contoh di layar: pengguna bertanya, tombol untuk melihat target pekan depan ada di 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Perbaiki sketsa berdasarkan masukan pengguna, misalnya tambahkan tombol Target Pekan Depan.
Foto semua layar sketsa dengan HP, lalu unggah ke folder proyek kelompok di Google Drive. Foto ini akan dimasukkan ke proposal pekan depan.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Tambahkan ke dokumen proposal: daftar ide, foto matriks dan ide terpilih dengan alasannya, foto sketsa layar dan alurnya, serta catatan hasil uji sketsa.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minimal 8 ide terkumpul?
- ide dipilih dengan matriks?
- ada sketsa 2–3 layar?
- sketsa diuji pengguna?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perlu banyak ide sebelum memilih?
Pertanyaan kedua: apa masukan pengguna terhadap sketsamu?
(Minta 2–3 santri menjawab secara bergantian.)
Pesan adab kita hari ini: hargai ide setiap anggota. Allah memuji orang-orang yang urusannya diputuskan dengan musyawarah. Musyawarah melahirkan keputusan yang lebih baik daripada keputusan satu orang.
Pekan depan: proyek Proposal Solusi Digital.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ke-6, dengan judul "Proposal Solusi Digital". Hari ini kita menyelesaikan proyek Modul 2: proposal solusi digital untuk masalah nyata pesantren.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sketsa prototype kertas. Siapa yang ingat, kotak mana di matriks yang kita pilih?
(Tunggu jawaban: manfaat tinggi dan mudah dibuat.)
Sekarang pertanyaan hari ini. Coba pikirkan sejenak:
"Jika ingin meyakinkan pimpinan pondok agar mendukung ide kalian, apa yang harus disiapkan?"
(Beri waktu 1 menit. Minta 2–3 santri menjawab. Hargai semua jawaban.)
Kita perlu PROPOSAL: dokumen yang menjelaskan masalah, solusi, dan rencananya dengan jelas. Lalu kita menyampaikannya dalam presentasi singkat yang meyakinkan, disebut PITCH. Hari ini kita menyusun keduanya.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Proposal solusi digital kita memiliki tujuh bagian. Semua bahannya sudah kalian kumpulkan dalam dua pekan terakhir.
Satu, LATAR BELAKANG DAN MASALAH: masalah, akar masalah dari 5 Mengapa, dan bukti dari wawancara.
Dua, PENGGUNA: profil pengguna dan kebutuhannya.
Tiga, SOLUSI: ide terpilih dan alasannya, berdasarkan matriks.
Empat, FITUR: tiga sampai lima fitur utama, diurutkan dari yang paling penting.
Lima, RANCANGAN: flowchart seperti Modul 1, dan sketsa layar dari pekan lalu.
Enam dan tujuh, RENCANA KERJA DAN UKURAN BERHASIL: jadwal, peran tim, alat gratis yang dipakai, dan bagaimana mengukur keberhasilan.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adalah presentasi singkat untuk meyakinkan pendengar. Pitch kita tiga menit, dengan tiga bagian.
MASALAH, 30 detik: mulai dengan cerita singkat pengguna dan masalahnya. Cerita lebih mudah diingat daripada angka saja.
SOLUSI, 90 detik: jelaskan fitur utama sambil menunjukkan sketsa layar.
RENCANA, 60 detik: jadwal, peran tim, dan ukuran keberhasilan.
Contoh pembuka di bawah: santri A sering lupa ayat yang harus disetor. Di kelas kami, tujuh dari sepuluh santri mengalaminya. Langsung menarik perhatian, bukan?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dokumen Proposal Solusi kelompok. Bagi tugas: setiap anggota melengkapi bagian tertentu.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 awal dokumen, tulis judul proposal dengan gaya Title, misalnya Proposal Web Jadwal Setoran Harian, lalu nama kelompok, kelas, dan tahun.
Buat tujuh judul bagian dengan gaya Heading 1, lalu pindahkan bahan yang sudah ada ke bagian masing-masing.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Tulis tiga sampai lima fitur dalam tabel, urut dari yang terpenting. Tandai prioritasnya: WAJIB untuk versi pertama, atau NANTI untuk pengembangan.
Membatasi fitur sangat penting. Banyak proyek gagal karena ingin membuat semuanya sekaligus.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Di bagian Rancangan, sisipkan gambar flowchart alur aplikasi yang dibuat dengan diagrams.net, dan foto sketsa layar dari pekan lalu, melalui Insert, Image, Drive.
Beri keterangan di bawah setiap gambar.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Tulis rencana kerja per modul, peran tim, dan alat gratis yang akan dipakai: HTML, CSS, JavaScript, GitHub Pages, dan Google Sheets.
Tulis juga ukuran berhasil yang bisa diukur, misalnya: sepuluh santri memakai web selama satu pekan, dan tujuh merasa terbantu.
(Ingatkan bahwa rencana boleh berubah. Proposal adalah pegangan, bukan belenggu.)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Bagi bagian pitch: satu anggota menyampaikan masalah, satu solusi, dan satu rencana. Latihan sekali dengan stopwatch HP. Total tidak lebih dari tiga menit.
Tips: bicara dengan tenang, tatap pendengar, tunjukkan sketsa saat menjelaskan solusi.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Setiap kelompok menyampaikan pitch di depan kelas, sambil menampilkan proposal di proyektor.
Setelah pitch, kelas memberi satu pujian, satu pertanyaan, dan satu saran. Catat semua masukan di akhir proposal.
(Guru menilai dengan rubrik dan memberi persetujuan agar proyek bisa dilanjutkan di modul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Proposal dinyatakan selesai jika memuat tujuh bagian, berdasarkan data nyata, dilengkapi flowchart dan sketsa yang sudah diuji, serta pitch sudah disampaikan dengan masukan dicatat dan disetujui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proposal memuat 7 bagian?
- ada flowchart dan sketsa?
- rencana kerja realistis?
- pitch 3 menit?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bagian proposal mana yang paling sulit ditulis?
Pertanyaan kedua: masukan apa yang paling membantu dari presentasi?
(Minta 2–3 santri menjawab secara bergantian.)
Pesan adab kita hari ini: sampaikan dengan jujur. Jangan melebih-lebihkan kemampuan solusi agar terlihat hebat. Janji yang tidak bisa ditepati akan merusak kepercayaan.
Pekan depan: kita masuk Modul 3: Prompt Engineering. Alhamdulillah, Modul 2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slideLayout" Target="../slideLayouts/slideLayout1.xml"/><Relationship Id="rId1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slideLayout" Target="../slideLayouts/slideLayout1.xml"/><Relationship Id="rId1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10.png"/><Relationship Id="rId11" Type="http://schemas.openxmlformats.org/officeDocument/2006/relationships/slideLayout" Target="../slideLayouts/slideLayout1.xml"/><Relationship Id="rId1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image" Target="../media/image-42-10.png"/><Relationship Id="rId11" Type="http://schemas.openxmlformats.org/officeDocument/2006/relationships/slideLayout" Target="../slideLayouts/slideLayout1.xml"/><Relationship Id="rId1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image" Target="../media/image-43-10.png"/><Relationship Id="rId11" Type="http://schemas.openxmlformats.org/officeDocument/2006/relationships/slideLayout" Target="../slideLayouts/slideLayout1.xml"/><Relationship Id="rId1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image" Target="../media/image-45-9.png"/><Relationship Id="rId10" Type="http://schemas.openxmlformats.org/officeDocument/2006/relationships/slideLayout" Target="../slideLayouts/slideLayout1.xml"/><Relationship Id="rId11"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3 WUSTHA  ·  SEMESTER 1  ·  MODUL 2</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Problem Solving</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Proposal Solusi Digital</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berlatih menyelesaikan masalah nyata secara sistematis: menemukan akar masalah, memahami pengguna, mengumpulkan dan memilih ide, membuat sketsa prototype, lalu menyusun proposal solusi digital.</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04</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Mengenali Masalah &amp; Pengguna</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05</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Ide Solusi &amp; Sketsa Prototype</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06</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Proposal Solusi Digital</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Kertas, spidol, sticky notes (atau potongan kertas), Google Docs, diagrams.net, HP untuk foto sketsa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04</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Mengenali Masalah &amp; Pengguna</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Menemukan akar masalah dan kebutuhan pengguna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2: Problem Solving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banyak santri terlambat ke masjid, apakah solusinya cukup dengan memasang jam besar?</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04</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alur pemecahan masalah dari masalah sampai prototype</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Menemukan akar masalah dengan teknik 5 Mengapa</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Memahami kebutuhan pengguna melalui wawancara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Alur Pemecahan Masalah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Masalah</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Identify &amp; Understand: apa masalahnya, siapa yang mengalami</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Solusi</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Plan: kumpulkan ide, pilih yang terbaik</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Prototype</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Build &amp; Test: buat versi sederhana, uji, perbaiki</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Masalah: santri lupa jadwal setoran → Solusi: pengingat jadwal → Prototype: halaman web jadwal setoran harian.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Teknik 5 Mengapa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8229600" cy="502920"/>
          </a:xfrm>
          <a:prstGeom prst="roundRect">
            <a:avLst>
              <a:gd name="adj" fmla="val 14545"/>
            </a:avLst>
          </a:prstGeom>
          <a:solidFill>
            <a:srgbClr val="E53935"/>
          </a:solidFill>
          <a:ln w="12700">
            <a:solidFill>
              <a:srgbClr val="E53935"/>
            </a:solidFill>
            <a:prstDash val="solid"/>
          </a:ln>
        </p:spPr>
      </p:sp>
      <p:sp>
        <p:nvSpPr>
          <p:cNvPr id="10" name="Text 6"/>
          <p:cNvSpPr txBox="1"/>
          <p:nvPr/>
        </p:nvSpPr>
        <p:spPr>
          <a:xfrm>
            <a:off x="640080" y="1097280"/>
            <a:ext cx="786384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Masalah: Banyak santri terlambat sholat Subuh berjamaah</a:t>
            </a:r>
            <a:endParaRPr lang="en-US" sz="1400" dirty="0"/>
          </a:p>
        </p:txBody>
      </p:sp>
      <p:sp>
        <p:nvSpPr>
          <p:cNvPr id="11" name="Shape 7"/>
          <p:cNvSpPr/>
          <p:nvPr/>
        </p:nvSpPr>
        <p:spPr>
          <a:xfrm>
            <a:off x="457200" y="1737360"/>
            <a:ext cx="7955280" cy="384048"/>
          </a:xfrm>
          <a:prstGeom prst="roundRect">
            <a:avLst>
              <a:gd name="adj" fmla="val 14286"/>
            </a:avLst>
          </a:prstGeom>
          <a:solidFill>
            <a:srgbClr val="E6F2EC"/>
          </a:solidFill>
          <a:ln w="12700">
            <a:solidFill>
              <a:srgbClr val="E6F2EC"/>
            </a:solidFill>
            <a:prstDash val="solid"/>
          </a:ln>
        </p:spPr>
      </p:sp>
      <p:sp>
        <p:nvSpPr>
          <p:cNvPr id="12" name="Text 8"/>
          <p:cNvSpPr txBox="1"/>
          <p:nvPr/>
        </p:nvSpPr>
        <p:spPr>
          <a:xfrm>
            <a:off x="594360" y="1737360"/>
            <a:ext cx="7680960" cy="384048"/>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1. Mengapa? Karena lama bersiap di kamar.</a:t>
            </a:r>
            <a:endParaRPr lang="en-US" sz="1300" dirty="0"/>
          </a:p>
        </p:txBody>
      </p:sp>
      <p:sp>
        <p:nvSpPr>
          <p:cNvPr id="13" name="Shape 9"/>
          <p:cNvSpPr/>
          <p:nvPr/>
        </p:nvSpPr>
        <p:spPr>
          <a:xfrm>
            <a:off x="731520" y="2194560"/>
            <a:ext cx="7680960" cy="384048"/>
          </a:xfrm>
          <a:prstGeom prst="roundRect">
            <a:avLst>
              <a:gd name="adj" fmla="val 14286"/>
            </a:avLst>
          </a:prstGeom>
          <a:solidFill>
            <a:srgbClr val="E6F2EC"/>
          </a:solidFill>
          <a:ln w="12700">
            <a:solidFill>
              <a:srgbClr val="E6F2EC"/>
            </a:solidFill>
            <a:prstDash val="solid"/>
          </a:ln>
        </p:spPr>
      </p:sp>
      <p:sp>
        <p:nvSpPr>
          <p:cNvPr id="14" name="Text 10"/>
          <p:cNvSpPr txBox="1"/>
          <p:nvPr/>
        </p:nvSpPr>
        <p:spPr>
          <a:xfrm>
            <a:off x="868680" y="2194560"/>
            <a:ext cx="7406640" cy="384048"/>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2. Mengapa? Karena antre panjang di kamar mandi.</a:t>
            </a:r>
            <a:endParaRPr lang="en-US" sz="1300" dirty="0"/>
          </a:p>
        </p:txBody>
      </p:sp>
      <p:sp>
        <p:nvSpPr>
          <p:cNvPr id="15" name="Shape 11"/>
          <p:cNvSpPr/>
          <p:nvPr/>
        </p:nvSpPr>
        <p:spPr>
          <a:xfrm>
            <a:off x="1005840" y="2651760"/>
            <a:ext cx="7406640" cy="384048"/>
          </a:xfrm>
          <a:prstGeom prst="roundRect">
            <a:avLst>
              <a:gd name="adj" fmla="val 14286"/>
            </a:avLst>
          </a:prstGeom>
          <a:solidFill>
            <a:srgbClr val="E6F2EC"/>
          </a:solidFill>
          <a:ln w="12700">
            <a:solidFill>
              <a:srgbClr val="E6F2EC"/>
            </a:solidFill>
            <a:prstDash val="solid"/>
          </a:ln>
        </p:spPr>
      </p:sp>
      <p:sp>
        <p:nvSpPr>
          <p:cNvPr id="16" name="Text 12"/>
          <p:cNvSpPr txBox="1"/>
          <p:nvPr/>
        </p:nvSpPr>
        <p:spPr>
          <a:xfrm>
            <a:off x="1143000" y="2651760"/>
            <a:ext cx="7132320" cy="384048"/>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3. Mengapa? Karena semua bangun di waktu yang sama.</a:t>
            </a:r>
            <a:endParaRPr lang="en-US" sz="1300" dirty="0"/>
          </a:p>
        </p:txBody>
      </p:sp>
      <p:sp>
        <p:nvSpPr>
          <p:cNvPr id="17" name="Shape 13"/>
          <p:cNvSpPr/>
          <p:nvPr/>
        </p:nvSpPr>
        <p:spPr>
          <a:xfrm>
            <a:off x="1280160" y="3108960"/>
            <a:ext cx="7132320" cy="384048"/>
          </a:xfrm>
          <a:prstGeom prst="roundRect">
            <a:avLst>
              <a:gd name="adj" fmla="val 14286"/>
            </a:avLst>
          </a:prstGeom>
          <a:solidFill>
            <a:srgbClr val="E6F2EC"/>
          </a:solidFill>
          <a:ln w="12700">
            <a:solidFill>
              <a:srgbClr val="E6F2EC"/>
            </a:solidFill>
            <a:prstDash val="solid"/>
          </a:ln>
        </p:spPr>
      </p:sp>
      <p:sp>
        <p:nvSpPr>
          <p:cNvPr id="18" name="Text 14"/>
          <p:cNvSpPr txBox="1"/>
          <p:nvPr/>
        </p:nvSpPr>
        <p:spPr>
          <a:xfrm>
            <a:off x="1417320" y="3108960"/>
            <a:ext cx="6858000" cy="384048"/>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4. Mengapa? Karena tidak ada jadwal giliran mandi.</a:t>
            </a:r>
            <a:endParaRPr lang="en-US" sz="1300" dirty="0"/>
          </a:p>
        </p:txBody>
      </p:sp>
      <p:sp>
        <p:nvSpPr>
          <p:cNvPr id="19" name="Shape 15"/>
          <p:cNvSpPr/>
          <p:nvPr/>
        </p:nvSpPr>
        <p:spPr>
          <a:xfrm>
            <a:off x="1554480" y="3566160"/>
            <a:ext cx="6858000" cy="384048"/>
          </a:xfrm>
          <a:prstGeom prst="roundRect">
            <a:avLst>
              <a:gd name="adj" fmla="val 14286"/>
            </a:avLst>
          </a:prstGeom>
          <a:solidFill>
            <a:srgbClr val="FBF1D3"/>
          </a:solidFill>
          <a:ln w="12700">
            <a:solidFill>
              <a:srgbClr val="FBF1D3"/>
            </a:solidFill>
            <a:prstDash val="solid"/>
          </a:ln>
        </p:spPr>
      </p:sp>
      <p:sp>
        <p:nvSpPr>
          <p:cNvPr id="20" name="Text 16"/>
          <p:cNvSpPr txBox="1"/>
          <p:nvPr/>
        </p:nvSpPr>
        <p:spPr>
          <a:xfrm>
            <a:off x="1691640" y="3566160"/>
            <a:ext cx="6583680" cy="384048"/>
          </a:xfrm>
          <a:prstGeom prst="rect">
            <a:avLst/>
          </a:prstGeom>
          <a:noFill/>
          <a:ln/>
        </p:spPr>
        <p:txBody>
          <a:bodyPr wrap="square" lIns="0" tIns="0" rIns="0" bIns="0" rtlCol="0" anchor="ctr"/>
          <a:lstStyle/>
          <a:p>
            <a:pPr indent="0" marL="0">
              <a:buNone/>
            </a:pPr>
            <a:r>
              <a:rPr lang="en-US" sz="1300" b="1" dirty="0">
                <a:solidFill>
                  <a:srgbClr val="1E2A26"/>
                </a:solidFill>
                <a:latin typeface="Calibri" pitchFamily="34" charset="0"/>
                <a:ea typeface="Calibri" pitchFamily="34" charset="-122"/>
                <a:cs typeface="Calibri" pitchFamily="34" charset="-120"/>
              </a:rPr>
              <a:t>5. Mengapa? Karena belum ada yang mengatur giliran per kamar.</a:t>
            </a:r>
            <a:endParaRPr lang="en-US" sz="1300" dirty="0"/>
          </a:p>
        </p:txBody>
      </p:sp>
      <p:sp>
        <p:nvSpPr>
          <p:cNvPr id="21" name="Text 17"/>
          <p:cNvSpPr txBox="1"/>
          <p:nvPr/>
        </p:nvSpPr>
        <p:spPr>
          <a:xfrm>
            <a:off x="457200" y="4114800"/>
            <a:ext cx="8229600" cy="411480"/>
          </a:xfrm>
          <a:prstGeom prst="rect">
            <a:avLst/>
          </a:prstGeom>
          <a:noFill/>
          <a:ln/>
        </p:spPr>
        <p:txBody>
          <a:bodyPr wrap="square" lIns="0" tIns="0" rIns="0" bIns="0" rtlCol="0" anchor="t"/>
          <a:lstStyle/>
          <a:p>
            <a:pPr indent="0" marL="0">
              <a:buNone/>
            </a:pPr>
            <a:r>
              <a:rPr lang="en-US" sz="1350" b="1" dirty="0">
                <a:solidFill>
                  <a:srgbClr val="0F4C3A"/>
                </a:solidFill>
                <a:latin typeface="Calibri" pitchFamily="34" charset="0"/>
                <a:ea typeface="Calibri" pitchFamily="34" charset="-122"/>
                <a:cs typeface="Calibri" pitchFamily="34" charset="-120"/>
              </a:rPr>
              <a:t>Akar masalah → solusi: jadwal giliran kamar mandi per kamar</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Wawancara Pengguna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Siapa Penggunanya?</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Orang yang benar-benar mengalami masalah, bukan kita yang menebak.</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Pertanyaan Terbuka</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"Ceritakan saat kamu ..." "Apa yang paling menyulitkan?"</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Dengarkan</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Jangan langsung menawarkan solusi. Catat kata-kata mereka.</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Profil Pengguna</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Siapa dia, apa kebutuhannya, apa kesulitannya, kapan memakai.</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Menemukan Masalah Nyata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kertas dan Google Docs</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Mengumpulkan dan memilih masalah</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5 Mengapa</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Wawancara dan profil pengguna</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Masalah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548640" y="1188720"/>
            <a:ext cx="1188720" cy="822960"/>
          </a:xfrm>
          <a:prstGeom prst="rect">
            <a:avLst/>
          </a:prstGeom>
          <a:solidFill>
            <a:srgbClr val="FFF59D"/>
          </a:solidFill>
          <a:ln w="12700">
            <a:solidFill>
              <a:srgbClr val="FFF59D"/>
            </a:solidFill>
            <a:prstDash val="solid"/>
          </a:ln>
        </p:spPr>
      </p:sp>
      <p:sp>
        <p:nvSpPr>
          <p:cNvPr id="10" name="Text 6"/>
          <p:cNvSpPr txBox="1"/>
          <p:nvPr/>
        </p:nvSpPr>
        <p:spPr>
          <a:xfrm>
            <a:off x="594360" y="1188720"/>
            <a:ext cx="1097280" cy="822960"/>
          </a:xfrm>
          <a:prstGeom prst="rect">
            <a:avLst/>
          </a:prstGeom>
          <a:noFill/>
          <a:ln/>
        </p:spPr>
        <p:txBody>
          <a:bodyPr wrap="square" lIns="0" tIns="0" rIns="0" bIns="0" rtlCol="0" anchor="ctr"/>
          <a:lstStyle/>
          <a:p>
            <a:pPr algn="ctr" indent="0" marL="0">
              <a:buNone/>
            </a:pPr>
            <a:r>
              <a:rPr lang="en-US" sz="1000" dirty="0">
                <a:solidFill>
                  <a:srgbClr val="1E2A26"/>
                </a:solidFill>
                <a:latin typeface="Arial" pitchFamily="34" charset="0"/>
                <a:ea typeface="Arial" pitchFamily="34" charset="-122"/>
                <a:cs typeface="Arial" pitchFamily="34" charset="-120"/>
              </a:rPr>
              <a:t>Lupa jadwal setoran</a:t>
            </a:r>
            <a:endParaRPr lang="en-US" sz="1000" dirty="0"/>
          </a:p>
        </p:txBody>
      </p:sp>
      <p:sp>
        <p:nvSpPr>
          <p:cNvPr id="11" name="Shape 7"/>
          <p:cNvSpPr/>
          <p:nvPr/>
        </p:nvSpPr>
        <p:spPr>
          <a:xfrm>
            <a:off x="1874520" y="1188720"/>
            <a:ext cx="1188720" cy="822960"/>
          </a:xfrm>
          <a:prstGeom prst="rect">
            <a:avLst/>
          </a:prstGeom>
          <a:solidFill>
            <a:srgbClr val="FFE0B2"/>
          </a:solidFill>
          <a:ln w="12700">
            <a:solidFill>
              <a:srgbClr val="FFE0B2"/>
            </a:solidFill>
            <a:prstDash val="solid"/>
          </a:ln>
        </p:spPr>
      </p:sp>
      <p:sp>
        <p:nvSpPr>
          <p:cNvPr id="12" name="Text 8"/>
          <p:cNvSpPr txBox="1"/>
          <p:nvPr/>
        </p:nvSpPr>
        <p:spPr>
          <a:xfrm>
            <a:off x="1920240" y="1188720"/>
            <a:ext cx="1097280" cy="822960"/>
          </a:xfrm>
          <a:prstGeom prst="rect">
            <a:avLst/>
          </a:prstGeom>
          <a:noFill/>
          <a:ln/>
        </p:spPr>
        <p:txBody>
          <a:bodyPr wrap="square" lIns="0" tIns="0" rIns="0" bIns="0" rtlCol="0" anchor="ctr"/>
          <a:lstStyle/>
          <a:p>
            <a:pPr algn="ctr" indent="0" marL="0">
              <a:buNone/>
            </a:pPr>
            <a:r>
              <a:rPr lang="en-US" sz="1000" dirty="0">
                <a:solidFill>
                  <a:srgbClr val="1E2A26"/>
                </a:solidFill>
                <a:latin typeface="Arial" pitchFamily="34" charset="0"/>
                <a:ea typeface="Arial" pitchFamily="34" charset="-122"/>
                <a:cs typeface="Arial" pitchFamily="34" charset="-120"/>
              </a:rPr>
              <a:t>Antre kamar mandi</a:t>
            </a:r>
            <a:endParaRPr lang="en-US" sz="1000" dirty="0"/>
          </a:p>
        </p:txBody>
      </p:sp>
      <p:sp>
        <p:nvSpPr>
          <p:cNvPr id="13" name="Shape 9"/>
          <p:cNvSpPr/>
          <p:nvPr/>
        </p:nvSpPr>
        <p:spPr>
          <a:xfrm>
            <a:off x="3200400" y="1188720"/>
            <a:ext cx="1188720" cy="822960"/>
          </a:xfrm>
          <a:prstGeom prst="rect">
            <a:avLst/>
          </a:prstGeom>
          <a:solidFill>
            <a:srgbClr val="C8E6C9"/>
          </a:solidFill>
          <a:ln w="12700">
            <a:solidFill>
              <a:srgbClr val="C8E6C9"/>
            </a:solidFill>
            <a:prstDash val="solid"/>
          </a:ln>
        </p:spPr>
      </p:sp>
      <p:sp>
        <p:nvSpPr>
          <p:cNvPr id="14" name="Text 10"/>
          <p:cNvSpPr txBox="1"/>
          <p:nvPr/>
        </p:nvSpPr>
        <p:spPr>
          <a:xfrm>
            <a:off x="3246120" y="1188720"/>
            <a:ext cx="1097280" cy="822960"/>
          </a:xfrm>
          <a:prstGeom prst="rect">
            <a:avLst/>
          </a:prstGeom>
          <a:noFill/>
          <a:ln/>
        </p:spPr>
        <p:txBody>
          <a:bodyPr wrap="square" lIns="0" tIns="0" rIns="0" bIns="0" rtlCol="0" anchor="ctr"/>
          <a:lstStyle/>
          <a:p>
            <a:pPr algn="ctr" indent="0" marL="0">
              <a:buNone/>
            </a:pPr>
            <a:r>
              <a:rPr lang="en-US" sz="1000" dirty="0">
                <a:solidFill>
                  <a:srgbClr val="1E2A26"/>
                </a:solidFill>
                <a:latin typeface="Arial" pitchFamily="34" charset="0"/>
                <a:ea typeface="Arial" pitchFamily="34" charset="-122"/>
                <a:cs typeface="Arial" pitchFamily="34" charset="-120"/>
              </a:rPr>
              <a:t>Buku perpus sulit dicari</a:t>
            </a:r>
            <a:endParaRPr lang="en-US" sz="1000" dirty="0"/>
          </a:p>
        </p:txBody>
      </p:sp>
      <p:sp>
        <p:nvSpPr>
          <p:cNvPr id="15" name="Shape 11"/>
          <p:cNvSpPr/>
          <p:nvPr/>
        </p:nvSpPr>
        <p:spPr>
          <a:xfrm>
            <a:off x="4526280" y="1188720"/>
            <a:ext cx="1188720" cy="822960"/>
          </a:xfrm>
          <a:prstGeom prst="rect">
            <a:avLst/>
          </a:prstGeom>
          <a:solidFill>
            <a:srgbClr val="BBDEFB"/>
          </a:solidFill>
          <a:ln w="12700">
            <a:solidFill>
              <a:srgbClr val="BBDEFB"/>
            </a:solidFill>
            <a:prstDash val="solid"/>
          </a:ln>
        </p:spPr>
      </p:sp>
      <p:sp>
        <p:nvSpPr>
          <p:cNvPr id="16" name="Text 12"/>
          <p:cNvSpPr txBox="1"/>
          <p:nvPr/>
        </p:nvSpPr>
        <p:spPr>
          <a:xfrm>
            <a:off x="4572000" y="1188720"/>
            <a:ext cx="1097280" cy="822960"/>
          </a:xfrm>
          <a:prstGeom prst="rect">
            <a:avLst/>
          </a:prstGeom>
          <a:noFill/>
          <a:ln/>
        </p:spPr>
        <p:txBody>
          <a:bodyPr wrap="square" lIns="0" tIns="0" rIns="0" bIns="0" rtlCol="0" anchor="ctr"/>
          <a:lstStyle/>
          <a:p>
            <a:pPr algn="ctr" indent="0" marL="0">
              <a:buNone/>
            </a:pPr>
            <a:r>
              <a:rPr lang="en-US" sz="1000" dirty="0">
                <a:solidFill>
                  <a:srgbClr val="1E2A26"/>
                </a:solidFill>
                <a:latin typeface="Arial" pitchFamily="34" charset="0"/>
                <a:ea typeface="Arial" pitchFamily="34" charset="-122"/>
                <a:cs typeface="Arial" pitchFamily="34" charset="-120"/>
              </a:rPr>
              <a:t>Lupa barang dipinjam teman</a:t>
            </a:r>
            <a:endParaRPr lang="en-US" sz="1000" dirty="0"/>
          </a:p>
        </p:txBody>
      </p:sp>
      <p:sp>
        <p:nvSpPr>
          <p:cNvPr id="17" name="Shape 13"/>
          <p:cNvSpPr/>
          <p:nvPr/>
        </p:nvSpPr>
        <p:spPr>
          <a:xfrm>
            <a:off x="548640" y="2148840"/>
            <a:ext cx="1188720" cy="822960"/>
          </a:xfrm>
          <a:prstGeom prst="rect">
            <a:avLst/>
          </a:prstGeom>
          <a:solidFill>
            <a:srgbClr val="FFF59D"/>
          </a:solidFill>
          <a:ln w="12700">
            <a:solidFill>
              <a:srgbClr val="FFF59D"/>
            </a:solidFill>
            <a:prstDash val="solid"/>
          </a:ln>
        </p:spPr>
      </p:sp>
      <p:sp>
        <p:nvSpPr>
          <p:cNvPr id="18" name="Text 14"/>
          <p:cNvSpPr txBox="1"/>
          <p:nvPr/>
        </p:nvSpPr>
        <p:spPr>
          <a:xfrm>
            <a:off x="594360" y="2148840"/>
            <a:ext cx="1097280" cy="822960"/>
          </a:xfrm>
          <a:prstGeom prst="rect">
            <a:avLst/>
          </a:prstGeom>
          <a:noFill/>
          <a:ln/>
        </p:spPr>
        <p:txBody>
          <a:bodyPr wrap="square" lIns="0" tIns="0" rIns="0" bIns="0" rtlCol="0" anchor="ctr"/>
          <a:lstStyle/>
          <a:p>
            <a:pPr algn="ctr" indent="0" marL="0">
              <a:buNone/>
            </a:pPr>
            <a:r>
              <a:rPr lang="en-US" sz="1000" dirty="0">
                <a:solidFill>
                  <a:srgbClr val="1E2A26"/>
                </a:solidFill>
                <a:latin typeface="Arial" pitchFamily="34" charset="0"/>
                <a:ea typeface="Arial" pitchFamily="34" charset="-122"/>
                <a:cs typeface="Arial" pitchFamily="34" charset="-120"/>
              </a:rPr>
              <a:t>Bingung menghitung nilai</a:t>
            </a:r>
            <a:endParaRPr lang="en-US" sz="1000" dirty="0"/>
          </a:p>
        </p:txBody>
      </p:sp>
      <p:sp>
        <p:nvSpPr>
          <p:cNvPr id="19" name="Shape 15"/>
          <p:cNvSpPr/>
          <p:nvPr/>
        </p:nvSpPr>
        <p:spPr>
          <a:xfrm>
            <a:off x="1874520" y="2148840"/>
            <a:ext cx="1188720" cy="822960"/>
          </a:xfrm>
          <a:prstGeom prst="rect">
            <a:avLst/>
          </a:prstGeom>
          <a:solidFill>
            <a:srgbClr val="FFE0B2"/>
          </a:solidFill>
          <a:ln w="12700">
            <a:solidFill>
              <a:srgbClr val="FFE0B2"/>
            </a:solidFill>
            <a:prstDash val="solid"/>
          </a:ln>
        </p:spPr>
      </p:sp>
      <p:sp>
        <p:nvSpPr>
          <p:cNvPr id="20" name="Text 16"/>
          <p:cNvSpPr txBox="1"/>
          <p:nvPr/>
        </p:nvSpPr>
        <p:spPr>
          <a:xfrm>
            <a:off x="1920240" y="2148840"/>
            <a:ext cx="1097280" cy="822960"/>
          </a:xfrm>
          <a:prstGeom prst="rect">
            <a:avLst/>
          </a:prstGeom>
          <a:noFill/>
          <a:ln/>
        </p:spPr>
        <p:txBody>
          <a:bodyPr wrap="square" lIns="0" tIns="0" rIns="0" bIns="0" rtlCol="0" anchor="ctr"/>
          <a:lstStyle/>
          <a:p>
            <a:pPr algn="ctr" indent="0" marL="0">
              <a:buNone/>
            </a:pPr>
            <a:r>
              <a:rPr lang="en-US" sz="1000" dirty="0">
                <a:solidFill>
                  <a:srgbClr val="1E2A26"/>
                </a:solidFill>
                <a:latin typeface="Arial" pitchFamily="34" charset="0"/>
                <a:ea typeface="Arial" pitchFamily="34" charset="-122"/>
                <a:cs typeface="Arial" pitchFamily="34" charset="-120"/>
              </a:rPr>
              <a:t>Lupa jadwal piket</a:t>
            </a:r>
            <a:endParaRPr lang="en-US" sz="1000" dirty="0"/>
          </a:p>
        </p:txBody>
      </p:sp>
      <p:sp>
        <p:nvSpPr>
          <p:cNvPr id="21" name="Shape 17"/>
          <p:cNvSpPr/>
          <p:nvPr/>
        </p:nvSpPr>
        <p:spPr>
          <a:xfrm>
            <a:off x="3200400" y="2148840"/>
            <a:ext cx="1188720" cy="822960"/>
          </a:xfrm>
          <a:prstGeom prst="rect">
            <a:avLst/>
          </a:prstGeom>
          <a:solidFill>
            <a:srgbClr val="C8E6C9"/>
          </a:solidFill>
          <a:ln w="12700">
            <a:solidFill>
              <a:srgbClr val="C8E6C9"/>
            </a:solidFill>
            <a:prstDash val="solid"/>
          </a:ln>
        </p:spPr>
      </p:sp>
      <p:sp>
        <p:nvSpPr>
          <p:cNvPr id="22" name="Text 18"/>
          <p:cNvSpPr txBox="1"/>
          <p:nvPr/>
        </p:nvSpPr>
        <p:spPr>
          <a:xfrm>
            <a:off x="3246120" y="2148840"/>
            <a:ext cx="1097280" cy="822960"/>
          </a:xfrm>
          <a:prstGeom prst="rect">
            <a:avLst/>
          </a:prstGeom>
          <a:noFill/>
          <a:ln/>
        </p:spPr>
        <p:txBody>
          <a:bodyPr wrap="square" lIns="0" tIns="0" rIns="0" bIns="0" rtlCol="0" anchor="ctr"/>
          <a:lstStyle/>
          <a:p>
            <a:pPr algn="ctr" indent="0" marL="0">
              <a:buNone/>
            </a:pPr>
            <a:r>
              <a:rPr lang="en-US" sz="1000" dirty="0">
                <a:solidFill>
                  <a:srgbClr val="1E2A26"/>
                </a:solidFill>
                <a:latin typeface="Arial" pitchFamily="34" charset="0"/>
                <a:ea typeface="Arial" pitchFamily="34" charset="-122"/>
                <a:cs typeface="Arial" pitchFamily="34" charset="-120"/>
              </a:rPr>
              <a:t>Kosakata Arab cepat lupa</a:t>
            </a:r>
            <a:endParaRPr lang="en-US" sz="1000" dirty="0"/>
          </a:p>
        </p:txBody>
      </p:sp>
      <p:sp>
        <p:nvSpPr>
          <p:cNvPr id="23" name="Shape 19"/>
          <p:cNvSpPr/>
          <p:nvPr/>
        </p:nvSpPr>
        <p:spPr>
          <a:xfrm>
            <a:off x="4526280" y="2148840"/>
            <a:ext cx="1188720" cy="822960"/>
          </a:xfrm>
          <a:prstGeom prst="rect">
            <a:avLst/>
          </a:prstGeom>
          <a:solidFill>
            <a:srgbClr val="BBDEFB"/>
          </a:solidFill>
          <a:ln w="12700">
            <a:solidFill>
              <a:srgbClr val="BBDEFB"/>
            </a:solidFill>
            <a:prstDash val="solid"/>
          </a:ln>
        </p:spPr>
      </p:sp>
      <p:sp>
        <p:nvSpPr>
          <p:cNvPr id="24" name="Text 20"/>
          <p:cNvSpPr txBox="1"/>
          <p:nvPr/>
        </p:nvSpPr>
        <p:spPr>
          <a:xfrm>
            <a:off x="4572000" y="2148840"/>
            <a:ext cx="1097280" cy="822960"/>
          </a:xfrm>
          <a:prstGeom prst="rect">
            <a:avLst/>
          </a:prstGeom>
          <a:noFill/>
          <a:ln/>
        </p:spPr>
        <p:txBody>
          <a:bodyPr wrap="square" lIns="0" tIns="0" rIns="0" bIns="0" rtlCol="0" anchor="ctr"/>
          <a:lstStyle/>
          <a:p>
            <a:pPr algn="ctr" indent="0" marL="0">
              <a:buNone/>
            </a:pPr>
            <a:r>
              <a:rPr lang="en-US" sz="1000" dirty="0">
                <a:solidFill>
                  <a:srgbClr val="1E2A26"/>
                </a:solidFill>
                <a:latin typeface="Arial" pitchFamily="34" charset="0"/>
                <a:ea typeface="Arial" pitchFamily="34" charset="-122"/>
                <a:cs typeface="Arial" pitchFamily="34" charset="-120"/>
              </a:rPr>
              <a:t>Kantin antre lama</a:t>
            </a:r>
            <a:endParaRPr lang="en-US" sz="1000" dirty="0"/>
          </a:p>
        </p:txBody>
      </p:sp>
      <p:sp>
        <p:nvSpPr>
          <p:cNvPr id="25" name="Shape 21"/>
          <p:cNvSpPr/>
          <p:nvPr/>
        </p:nvSpPr>
        <p:spPr>
          <a:xfrm>
            <a:off x="548640" y="3108960"/>
            <a:ext cx="1188720" cy="822960"/>
          </a:xfrm>
          <a:prstGeom prst="rect">
            <a:avLst/>
          </a:prstGeom>
          <a:solidFill>
            <a:srgbClr val="FFF59D"/>
          </a:solidFill>
          <a:ln w="12700">
            <a:solidFill>
              <a:srgbClr val="FFF59D"/>
            </a:solidFill>
            <a:prstDash val="solid"/>
          </a:ln>
        </p:spPr>
      </p:sp>
      <p:sp>
        <p:nvSpPr>
          <p:cNvPr id="26" name="Text 22"/>
          <p:cNvSpPr txBox="1"/>
          <p:nvPr/>
        </p:nvSpPr>
        <p:spPr>
          <a:xfrm>
            <a:off x="594360" y="3108960"/>
            <a:ext cx="1097280" cy="822960"/>
          </a:xfrm>
          <a:prstGeom prst="rect">
            <a:avLst/>
          </a:prstGeom>
          <a:noFill/>
          <a:ln/>
        </p:spPr>
        <p:txBody>
          <a:bodyPr wrap="square" lIns="0" tIns="0" rIns="0" bIns="0" rtlCol="0" anchor="ctr"/>
          <a:lstStyle/>
          <a:p>
            <a:pPr algn="ctr" indent="0" marL="0">
              <a:buNone/>
            </a:pPr>
            <a:r>
              <a:rPr lang="en-US" sz="1000" dirty="0">
                <a:solidFill>
                  <a:srgbClr val="1E2A26"/>
                </a:solidFill>
                <a:latin typeface="Arial" pitchFamily="34" charset="0"/>
                <a:ea typeface="Arial" pitchFamily="34" charset="-122"/>
                <a:cs typeface="Arial" pitchFamily="34" charset="-120"/>
              </a:rPr>
              <a:t>Pengumuman tidak sampai</a:t>
            </a:r>
            <a:endParaRPr lang="en-US" sz="1000" dirty="0"/>
          </a:p>
        </p:txBody>
      </p:sp>
      <p:sp>
        <p:nvSpPr>
          <p:cNvPr id="27" name="Shape 23"/>
          <p:cNvSpPr/>
          <p:nvPr/>
        </p:nvSpPr>
        <p:spPr>
          <a:xfrm>
            <a:off x="1874520" y="3108960"/>
            <a:ext cx="1188720" cy="822960"/>
          </a:xfrm>
          <a:prstGeom prst="rect">
            <a:avLst/>
          </a:prstGeom>
          <a:solidFill>
            <a:srgbClr val="FFE0B2"/>
          </a:solidFill>
          <a:ln w="12700">
            <a:solidFill>
              <a:srgbClr val="FFE0B2"/>
            </a:solidFill>
            <a:prstDash val="solid"/>
          </a:ln>
        </p:spPr>
      </p:sp>
      <p:sp>
        <p:nvSpPr>
          <p:cNvPr id="28" name="Text 24"/>
          <p:cNvSpPr txBox="1"/>
          <p:nvPr/>
        </p:nvSpPr>
        <p:spPr>
          <a:xfrm>
            <a:off x="1920240" y="3108960"/>
            <a:ext cx="1097280" cy="822960"/>
          </a:xfrm>
          <a:prstGeom prst="rect">
            <a:avLst/>
          </a:prstGeom>
          <a:noFill/>
          <a:ln/>
        </p:spPr>
        <p:txBody>
          <a:bodyPr wrap="square" lIns="0" tIns="0" rIns="0" bIns="0" rtlCol="0" anchor="ctr"/>
          <a:lstStyle/>
          <a:p>
            <a:pPr algn="ctr" indent="0" marL="0">
              <a:buNone/>
            </a:pPr>
            <a:r>
              <a:rPr lang="en-US" sz="1000" dirty="0">
                <a:solidFill>
                  <a:srgbClr val="1E2A26"/>
                </a:solidFill>
                <a:latin typeface="Arial" pitchFamily="34" charset="0"/>
                <a:ea typeface="Arial" pitchFamily="34" charset="-122"/>
                <a:cs typeface="Arial" pitchFamily="34" charset="-120"/>
              </a:rPr>
              <a:t>Sulit mengatur waktu belajar</a:t>
            </a:r>
            <a:endParaRPr lang="en-US" sz="1000" dirty="0"/>
          </a:p>
        </p:txBody>
      </p:sp>
      <p:sp>
        <p:nvSpPr>
          <p:cNvPr id="29" name="Shape 25"/>
          <p:cNvSpPr/>
          <p:nvPr/>
        </p:nvSpPr>
        <p:spPr>
          <a:xfrm>
            <a:off x="484632" y="1124712"/>
            <a:ext cx="5157216" cy="2871216"/>
          </a:xfrm>
          <a:prstGeom prst="roundRect">
            <a:avLst>
              <a:gd name="adj" fmla="val 1592"/>
            </a:avLst>
          </a:prstGeom>
          <a:solidFill>
            <a:srgbClr val="FFFFFF">
              <a:alpha val="0"/>
            </a:srgbClr>
          </a:solidFill>
          <a:ln w="31750">
            <a:solidFill>
              <a:srgbClr val="E53935"/>
            </a:solidFill>
            <a:prstDash val="solid"/>
          </a:ln>
        </p:spPr>
      </p:sp>
      <p:sp>
        <p:nvSpPr>
          <p:cNvPr id="30" name="Shape 26"/>
          <p:cNvSpPr/>
          <p:nvPr/>
        </p:nvSpPr>
        <p:spPr>
          <a:xfrm>
            <a:off x="5504688" y="987552"/>
            <a:ext cx="274320" cy="274320"/>
          </a:xfrm>
          <a:prstGeom prst="ellipse">
            <a:avLst/>
          </a:prstGeom>
          <a:solidFill>
            <a:srgbClr val="E53935"/>
          </a:solidFill>
          <a:ln w="12700">
            <a:solidFill>
              <a:srgbClr val="FFFFFF"/>
            </a:solidFill>
            <a:prstDash val="solid"/>
          </a:ln>
        </p:spPr>
      </p:sp>
      <p:sp>
        <p:nvSpPr>
          <p:cNvPr id="31" name="Text 27"/>
          <p:cNvSpPr txBox="1"/>
          <p:nvPr/>
        </p:nvSpPr>
        <p:spPr>
          <a:xfrm>
            <a:off x="5504688" y="9875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2" name="Text 2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33" name="Text 2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10 masalah kecil di pesantren</a:t>
            </a:r>
            <a:endParaRPr lang="en-US" sz="1800" dirty="0"/>
          </a:p>
        </p:txBody>
      </p:sp>
      <p:sp>
        <p:nvSpPr>
          <p:cNvPr id="34" name="Text 3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Setiap anggota menulis masalah di potongan kertas. Satu kertas, satu masalah. Kumpulkan di meja.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Masalah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Text 6"/>
          <p:cNvSpPr txBox="1"/>
          <p:nvPr/>
        </p:nvSpPr>
        <p:spPr>
          <a:xfrm>
            <a:off x="914400" y="1188720"/>
            <a:ext cx="4114800" cy="32004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Masalah terpilih:</a:t>
            </a:r>
            <a:endParaRPr lang="en-US" sz="1300" dirty="0"/>
          </a:p>
        </p:txBody>
      </p:sp>
      <p:sp>
        <p:nvSpPr>
          <p:cNvPr id="11" name="Shape 7"/>
          <p:cNvSpPr/>
          <p:nvPr/>
        </p:nvSpPr>
        <p:spPr>
          <a:xfrm>
            <a:off x="914400" y="1554480"/>
            <a:ext cx="4480560" cy="548640"/>
          </a:xfrm>
          <a:prstGeom prst="rect">
            <a:avLst/>
          </a:prstGeom>
          <a:solidFill>
            <a:srgbClr val="C8E6C9"/>
          </a:solidFill>
          <a:ln w="12700">
            <a:solidFill>
              <a:srgbClr val="C8E6C9"/>
            </a:solidFill>
            <a:prstDash val="solid"/>
          </a:ln>
        </p:spPr>
      </p:sp>
      <p:sp>
        <p:nvSpPr>
          <p:cNvPr id="12" name="Text 8"/>
          <p:cNvSpPr txBox="1"/>
          <p:nvPr/>
        </p:nvSpPr>
        <p:spPr>
          <a:xfrm>
            <a:off x="1005840" y="1554480"/>
            <a:ext cx="4297680" cy="548640"/>
          </a:xfrm>
          <a:prstGeom prst="rect">
            <a:avLst/>
          </a:prstGeom>
          <a:noFill/>
          <a:ln/>
        </p:spPr>
        <p:txBody>
          <a:bodyPr wrap="square" lIns="0" tIns="0" rIns="0" bIns="0" rtlCol="0" anchor="ctr"/>
          <a:lstStyle/>
          <a:p>
            <a:pPr indent="0" marL="0">
              <a:buNone/>
            </a:pPr>
            <a:r>
              <a:rPr lang="en-US" sz="1250" dirty="0">
                <a:solidFill>
                  <a:srgbClr val="1E2A26"/>
                </a:solidFill>
                <a:latin typeface="Arial" pitchFamily="34" charset="0"/>
                <a:ea typeface="Arial" pitchFamily="34" charset="-122"/>
                <a:cs typeface="Arial" pitchFamily="34" charset="-120"/>
              </a:rPr>
              <a:t>Santri sering lupa jadwal dan target setoran hafalan harian.</a:t>
            </a:r>
            <a:endParaRPr lang="en-US" sz="1250" dirty="0"/>
          </a:p>
        </p:txBody>
      </p:sp>
      <p:sp>
        <p:nvSpPr>
          <p:cNvPr id="13" name="Text 9"/>
          <p:cNvSpPr txBox="1"/>
          <p:nvPr/>
        </p:nvSpPr>
        <p:spPr>
          <a:xfrm>
            <a:off x="1051560" y="2331720"/>
            <a:ext cx="3474720" cy="41148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Sering dialami banyak orang</a:t>
            </a:r>
            <a:endParaRPr lang="en-US" sz="1300" dirty="0"/>
          </a:p>
        </p:txBody>
      </p:sp>
      <p:sp>
        <p:nvSpPr>
          <p:cNvPr id="14" name="Text 10"/>
          <p:cNvSpPr txBox="1"/>
          <p:nvPr/>
        </p:nvSpPr>
        <p:spPr>
          <a:xfrm>
            <a:off x="4617720" y="2331720"/>
            <a:ext cx="548640" cy="411480"/>
          </a:xfrm>
          <a:prstGeom prst="rect">
            <a:avLst/>
          </a:prstGeom>
          <a:noFill/>
          <a:ln/>
        </p:spPr>
        <p:txBody>
          <a:bodyPr wrap="square" lIns="0" tIns="0" rIns="0" bIns="0" rtlCol="0" anchor="ctr"/>
          <a:lstStyle/>
          <a:p>
            <a:pPr indent="0" marL="0">
              <a:buNone/>
            </a:pPr>
            <a:r>
              <a:rPr lang="en-US" sz="1800" b="1" dirty="0">
                <a:solidFill>
                  <a:srgbClr val="1F7A5C"/>
                </a:solidFill>
                <a:latin typeface="Calibri" pitchFamily="34" charset="0"/>
                <a:ea typeface="Calibri" pitchFamily="34" charset="-122"/>
                <a:cs typeface="Calibri" pitchFamily="34" charset="-120"/>
              </a:rPr>
              <a:t>✓</a:t>
            </a:r>
            <a:endParaRPr lang="en-US" sz="1800" dirty="0"/>
          </a:p>
        </p:txBody>
      </p:sp>
      <p:sp>
        <p:nvSpPr>
          <p:cNvPr id="15" name="Text 11"/>
          <p:cNvSpPr txBox="1"/>
          <p:nvPr/>
        </p:nvSpPr>
        <p:spPr>
          <a:xfrm>
            <a:off x="1051560" y="2834640"/>
            <a:ext cx="3474720" cy="41148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Bisa dibantu teknologi sederhana</a:t>
            </a:r>
            <a:endParaRPr lang="en-US" sz="1300" dirty="0"/>
          </a:p>
        </p:txBody>
      </p:sp>
      <p:sp>
        <p:nvSpPr>
          <p:cNvPr id="16" name="Text 12"/>
          <p:cNvSpPr txBox="1"/>
          <p:nvPr/>
        </p:nvSpPr>
        <p:spPr>
          <a:xfrm>
            <a:off x="4617720" y="2834640"/>
            <a:ext cx="548640" cy="411480"/>
          </a:xfrm>
          <a:prstGeom prst="rect">
            <a:avLst/>
          </a:prstGeom>
          <a:noFill/>
          <a:ln/>
        </p:spPr>
        <p:txBody>
          <a:bodyPr wrap="square" lIns="0" tIns="0" rIns="0" bIns="0" rtlCol="0" anchor="ctr"/>
          <a:lstStyle/>
          <a:p>
            <a:pPr indent="0" marL="0">
              <a:buNone/>
            </a:pPr>
            <a:r>
              <a:rPr lang="en-US" sz="1800" b="1" dirty="0">
                <a:solidFill>
                  <a:srgbClr val="1F7A5C"/>
                </a:solidFill>
                <a:latin typeface="Calibri" pitchFamily="34" charset="0"/>
                <a:ea typeface="Calibri" pitchFamily="34" charset="-122"/>
                <a:cs typeface="Calibri" pitchFamily="34" charset="-120"/>
              </a:rPr>
              <a:t>✓</a:t>
            </a:r>
            <a:endParaRPr lang="en-US" sz="1800" dirty="0"/>
          </a:p>
        </p:txBody>
      </p:sp>
      <p:sp>
        <p:nvSpPr>
          <p:cNvPr id="17" name="Text 13"/>
          <p:cNvSpPr txBox="1"/>
          <p:nvPr/>
        </p:nvSpPr>
        <p:spPr>
          <a:xfrm>
            <a:off x="1051560" y="3337560"/>
            <a:ext cx="3474720" cy="41148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Bisa dikerjakan beberapa pekan</a:t>
            </a:r>
            <a:endParaRPr lang="en-US" sz="1300" dirty="0"/>
          </a:p>
        </p:txBody>
      </p:sp>
      <p:sp>
        <p:nvSpPr>
          <p:cNvPr id="18" name="Text 14"/>
          <p:cNvSpPr txBox="1"/>
          <p:nvPr/>
        </p:nvSpPr>
        <p:spPr>
          <a:xfrm>
            <a:off x="4617720" y="3337560"/>
            <a:ext cx="548640" cy="411480"/>
          </a:xfrm>
          <a:prstGeom prst="rect">
            <a:avLst/>
          </a:prstGeom>
          <a:noFill/>
          <a:ln/>
        </p:spPr>
        <p:txBody>
          <a:bodyPr wrap="square" lIns="0" tIns="0" rIns="0" bIns="0" rtlCol="0" anchor="ctr"/>
          <a:lstStyle/>
          <a:p>
            <a:pPr indent="0" marL="0">
              <a:buNone/>
            </a:pPr>
            <a:r>
              <a:rPr lang="en-US" sz="1800" b="1" dirty="0">
                <a:solidFill>
                  <a:srgbClr val="1F7A5C"/>
                </a:solidFill>
                <a:latin typeface="Calibri" pitchFamily="34" charset="0"/>
                <a:ea typeface="Calibri" pitchFamily="34" charset="-122"/>
                <a:cs typeface="Calibri" pitchFamily="34" charset="-120"/>
              </a:rPr>
              <a:t>✓</a:t>
            </a:r>
            <a:endParaRPr lang="en-US" sz="1800" dirty="0"/>
          </a:p>
        </p:txBody>
      </p:sp>
      <p:sp>
        <p:nvSpPr>
          <p:cNvPr id="19" name="Shape 15"/>
          <p:cNvSpPr/>
          <p:nvPr/>
        </p:nvSpPr>
        <p:spPr>
          <a:xfrm>
            <a:off x="850392" y="1490472"/>
            <a:ext cx="4608576" cy="676656"/>
          </a:xfrm>
          <a:prstGeom prst="roundRect">
            <a:avLst>
              <a:gd name="adj" fmla="val 6757"/>
            </a:avLst>
          </a:prstGeom>
          <a:solidFill>
            <a:srgbClr val="FFFFFF">
              <a:alpha val="0"/>
            </a:srgbClr>
          </a:solidFill>
          <a:ln w="31750">
            <a:solidFill>
              <a:srgbClr val="E53935"/>
            </a:solidFill>
            <a:prstDash val="solid"/>
          </a:ln>
        </p:spPr>
      </p:sp>
      <p:sp>
        <p:nvSpPr>
          <p:cNvPr id="20" name="Shape 16"/>
          <p:cNvSpPr/>
          <p:nvPr/>
        </p:nvSpPr>
        <p:spPr>
          <a:xfrm>
            <a:off x="5321808" y="1353312"/>
            <a:ext cx="274320" cy="274320"/>
          </a:xfrm>
          <a:prstGeom prst="ellipse">
            <a:avLst/>
          </a:prstGeom>
          <a:solidFill>
            <a:srgbClr val="E53935"/>
          </a:solidFill>
          <a:ln w="12700">
            <a:solidFill>
              <a:srgbClr val="FFFFFF"/>
            </a:solidFill>
            <a:prstDash val="solid"/>
          </a:ln>
        </p:spPr>
      </p:sp>
      <p:sp>
        <p:nvSpPr>
          <p:cNvPr id="21" name="Text 17"/>
          <p:cNvSpPr txBox="1"/>
          <p:nvPr/>
        </p:nvSpPr>
        <p:spPr>
          <a:xfrm>
            <a:off x="5321808" y="1353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22" name="Image 2" descr="preencoded.png">    </p:cNvPr>
          <p:cNvPicPr>
            <a:picLocks noChangeAspect="1"/>
          </p:cNvPicPr>
          <p:nvPr/>
        </p:nvPicPr>
        <p:blipFill>
          <a:blip r:embed="rId3"/>
          <a:stretch>
            <a:fillRect/>
          </a:stretch>
        </p:blipFill>
        <p:spPr>
          <a:xfrm>
            <a:off x="3383280" y="1860804"/>
            <a:ext cx="237744" cy="237744"/>
          </a:xfrm>
          <a:prstGeom prst="rect">
            <a:avLst/>
          </a:prstGeom>
        </p:spPr>
      </p:pic>
      <p:sp>
        <p:nvSpPr>
          <p:cNvPr id="23" name="Text 1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24" name="Text 1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1 masalah dengan 3 syarat</a:t>
            </a:r>
            <a:endParaRPr lang="en-US" sz="1800" dirty="0"/>
          </a:p>
        </p:txBody>
      </p:sp>
      <p:sp>
        <p:nvSpPr>
          <p:cNvPr id="25" name="Text 2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masalah yang: (1) sering dialami banyak orang, (2) bisa dibantu dengan teknologi sederhana, (3) bisa dikerjakan dalam beberapa pekan.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5 Mengapa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Proposal_Solusi_Kel3 -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Proposal_Solusi_Kel3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5 Mengapa</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Masalah: santri lupa target setoran harian.</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1. Karena tidak mencatat target.</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2. Karena target diumumkan lisan saja.</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3. Karena tidak ada catatan yang mudah dilihat.</a:t>
            </a:r>
            <a:endParaRPr lang="en-US" sz="800" dirty="0"/>
          </a:p>
        </p:txBody>
      </p:sp>
      <p:sp>
        <p:nvSpPr>
          <p:cNvPr id="74" name="Text 63"/>
          <p:cNvSpPr txBox="1"/>
          <p:nvPr/>
        </p:nvSpPr>
        <p:spPr>
          <a:xfrm>
            <a:off x="1554480" y="364909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Akar: belum ada catatan target yang bisa dicek kapan saja.</a:t>
            </a:r>
            <a:endParaRPr lang="en-US" sz="800" dirty="0"/>
          </a:p>
        </p:txBody>
      </p:sp>
      <p:sp>
        <p:nvSpPr>
          <p:cNvPr id="75" name="Shape 64"/>
          <p:cNvSpPr/>
          <p:nvPr/>
        </p:nvSpPr>
        <p:spPr>
          <a:xfrm>
            <a:off x="1527048" y="3621666"/>
            <a:ext cx="3072384" cy="202184"/>
          </a:xfrm>
          <a:prstGeom prst="roundRect">
            <a:avLst>
              <a:gd name="adj" fmla="val 22613"/>
            </a:avLst>
          </a:prstGeom>
          <a:solidFill>
            <a:srgbClr val="FFFFFF">
              <a:alpha val="0"/>
            </a:srgbClr>
          </a:solidFill>
          <a:ln w="31750">
            <a:solidFill>
              <a:srgbClr val="E53935"/>
            </a:solidFill>
            <a:prstDash val="solid"/>
          </a:ln>
        </p:spPr>
      </p:sp>
      <p:sp>
        <p:nvSpPr>
          <p:cNvPr id="76" name="Shape 65"/>
          <p:cNvSpPr/>
          <p:nvPr/>
        </p:nvSpPr>
        <p:spPr>
          <a:xfrm>
            <a:off x="4462272" y="348450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348450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8" name="Image 9" descr="preencoded.png">    </p:cNvPr>
          <p:cNvPicPr>
            <a:picLocks noChangeAspect="1"/>
          </p:cNvPicPr>
          <p:nvPr/>
        </p:nvPicPr>
        <p:blipFill>
          <a:blip r:embed="rId10"/>
          <a:stretch>
            <a:fillRect/>
          </a:stretch>
        </p:blipFill>
        <p:spPr>
          <a:xfrm>
            <a:off x="3214116" y="3730124"/>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Gali akar masalah dengan 5 Mengapa</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Google Docs kelompok, tulis masalah, lalu tanyakan Mengapa? sampai 5 kali. Tandai akar masalah.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Pengguna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Proposal_Solusi_Kel3 -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Proposal_Solusi_Kel3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Pertanyaan Wawancara</a:t>
            </a:r>
            <a:endParaRPr lang="en-US" sz="1100" dirty="0"/>
          </a:p>
        </p:txBody>
      </p:sp>
      <p:sp>
        <p:nvSpPr>
          <p:cNvPr id="70" name="Text 59"/>
          <p:cNvSpPr txBox="1"/>
          <p:nvPr/>
        </p:nvSpPr>
        <p:spPr>
          <a:xfrm>
            <a:off x="1645920" y="287693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1. Ceritakan bagaimana kamu menyiapkan setoran.</a:t>
            </a:r>
            <a:endParaRPr lang="en-US" sz="750" dirty="0"/>
          </a:p>
        </p:txBody>
      </p:sp>
      <p:sp>
        <p:nvSpPr>
          <p:cNvPr id="71" name="Text 60"/>
          <p:cNvSpPr txBox="1"/>
          <p:nvPr/>
        </p:nvSpPr>
        <p:spPr>
          <a:xfrm>
            <a:off x="1645920" y="302419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2. Apa yang paling menyulitkan?</a:t>
            </a:r>
            <a:endParaRPr lang="en-US" sz="750" dirty="0"/>
          </a:p>
        </p:txBody>
      </p:sp>
      <p:sp>
        <p:nvSpPr>
          <p:cNvPr id="72" name="Text 61"/>
          <p:cNvSpPr txBox="1"/>
          <p:nvPr/>
        </p:nvSpPr>
        <p:spPr>
          <a:xfrm>
            <a:off x="1645920" y="317145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3. Bagaimana kamu tahu target hari ini?</a:t>
            </a:r>
            <a:endParaRPr lang="en-US" sz="750" dirty="0"/>
          </a:p>
        </p:txBody>
      </p:sp>
      <p:sp>
        <p:nvSpPr>
          <p:cNvPr id="73" name="Text 62"/>
          <p:cNvSpPr txBox="1"/>
          <p:nvPr/>
        </p:nvSpPr>
        <p:spPr>
          <a:xfrm>
            <a:off x="1645920" y="331870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4. Kapan biasanya kamu lupa?</a:t>
            </a:r>
            <a:endParaRPr lang="en-US" sz="750" dirty="0"/>
          </a:p>
        </p:txBody>
      </p:sp>
      <p:sp>
        <p:nvSpPr>
          <p:cNvPr id="74" name="Text 63"/>
          <p:cNvSpPr txBox="1"/>
          <p:nvPr/>
        </p:nvSpPr>
        <p:spPr>
          <a:xfrm>
            <a:off x="1645920" y="3465964"/>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5. Apa yang akan membantumu?</a:t>
            </a:r>
            <a:endParaRPr lang="en-US" sz="750" dirty="0"/>
          </a:p>
        </p:txBody>
      </p:sp>
      <p:sp>
        <p:nvSpPr>
          <p:cNvPr id="75" name="Shape 64"/>
          <p:cNvSpPr/>
          <p:nvPr/>
        </p:nvSpPr>
        <p:spPr>
          <a:xfrm>
            <a:off x="1527048" y="2849506"/>
            <a:ext cx="3072384" cy="782003"/>
          </a:xfrm>
          <a:prstGeom prst="roundRect">
            <a:avLst>
              <a:gd name="adj" fmla="val 5847"/>
            </a:avLst>
          </a:prstGeom>
          <a:solidFill>
            <a:srgbClr val="FFFFFF">
              <a:alpha val="0"/>
            </a:srgbClr>
          </a:solidFill>
          <a:ln w="31750">
            <a:solidFill>
              <a:srgbClr val="E53935"/>
            </a:solidFill>
            <a:prstDash val="solid"/>
          </a:ln>
        </p:spPr>
      </p:sp>
      <p:sp>
        <p:nvSpPr>
          <p:cNvPr id="76" name="Shape 65"/>
          <p:cNvSpPr/>
          <p:nvPr/>
        </p:nvSpPr>
        <p:spPr>
          <a:xfrm>
            <a:off x="4462272" y="271234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78" name="Image 9" descr="preencoded.png">    </p:cNvPr>
          <p:cNvPicPr>
            <a:picLocks noChangeAspect="1"/>
          </p:cNvPicPr>
          <p:nvPr/>
        </p:nvPicPr>
        <p:blipFill>
          <a:blip r:embed="rId10"/>
          <a:stretch>
            <a:fillRect/>
          </a:stretch>
        </p:blipFill>
        <p:spPr>
          <a:xfrm>
            <a:off x="3214116" y="3276864"/>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Siapkan 5 pertanyaan wawancara</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pertanyaan terbuka: Ceritakan..., Apa yang paling menyulitkan..., Bagaimana biasanya..., Apa yang kamu harapkan...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Pengguna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1143000" y="1691640"/>
            <a:ext cx="548640" cy="548640"/>
          </a:xfrm>
          <a:prstGeom prst="ellipse">
            <a:avLst/>
          </a:prstGeom>
          <a:solidFill>
            <a:srgbClr val="E8C39E"/>
          </a:solidFill>
          <a:ln/>
        </p:spPr>
      </p:sp>
      <p:sp>
        <p:nvSpPr>
          <p:cNvPr id="11" name="Shape 7"/>
          <p:cNvSpPr/>
          <p:nvPr/>
        </p:nvSpPr>
        <p:spPr>
          <a:xfrm>
            <a:off x="1033272" y="2286000"/>
            <a:ext cx="777240" cy="1097280"/>
          </a:xfrm>
          <a:prstGeom prst="roundRect">
            <a:avLst>
              <a:gd name="adj" fmla="val 23529"/>
            </a:avLst>
          </a:prstGeom>
          <a:solidFill>
            <a:srgbClr val="1F7A5C"/>
          </a:solidFill>
          <a:ln w="12700">
            <a:solidFill>
              <a:srgbClr val="1F7A5C"/>
            </a:solidFill>
            <a:prstDash val="solid"/>
          </a:ln>
        </p:spPr>
      </p:sp>
      <p:sp>
        <p:nvSpPr>
          <p:cNvPr id="12" name="Shape 8"/>
          <p:cNvSpPr/>
          <p:nvPr/>
        </p:nvSpPr>
        <p:spPr>
          <a:xfrm>
            <a:off x="2606040" y="1691640"/>
            <a:ext cx="548640" cy="548640"/>
          </a:xfrm>
          <a:prstGeom prst="ellipse">
            <a:avLst/>
          </a:prstGeom>
          <a:solidFill>
            <a:srgbClr val="E8C39E"/>
          </a:solidFill>
          <a:ln/>
        </p:spPr>
      </p:sp>
      <p:sp>
        <p:nvSpPr>
          <p:cNvPr id="13" name="Shape 9"/>
          <p:cNvSpPr/>
          <p:nvPr/>
        </p:nvSpPr>
        <p:spPr>
          <a:xfrm>
            <a:off x="2496312" y="2286000"/>
            <a:ext cx="777240" cy="1097280"/>
          </a:xfrm>
          <a:prstGeom prst="roundRect">
            <a:avLst>
              <a:gd name="adj" fmla="val 23529"/>
            </a:avLst>
          </a:prstGeom>
          <a:solidFill>
            <a:srgbClr val="D4A017"/>
          </a:solidFill>
          <a:ln w="12700">
            <a:solidFill>
              <a:srgbClr val="D4A017"/>
            </a:solidFill>
            <a:prstDash val="solid"/>
          </a:ln>
        </p:spPr>
      </p:sp>
      <p:sp>
        <p:nvSpPr>
          <p:cNvPr id="14" name="Shape 10"/>
          <p:cNvSpPr/>
          <p:nvPr/>
        </p:nvSpPr>
        <p:spPr>
          <a:xfrm>
            <a:off x="4160520" y="1691640"/>
            <a:ext cx="548640" cy="548640"/>
          </a:xfrm>
          <a:prstGeom prst="ellipse">
            <a:avLst/>
          </a:prstGeom>
          <a:solidFill>
            <a:srgbClr val="E8C39E"/>
          </a:solidFill>
          <a:ln/>
        </p:spPr>
      </p:sp>
      <p:sp>
        <p:nvSpPr>
          <p:cNvPr id="15" name="Shape 11"/>
          <p:cNvSpPr/>
          <p:nvPr/>
        </p:nvSpPr>
        <p:spPr>
          <a:xfrm>
            <a:off x="4050792" y="2286000"/>
            <a:ext cx="777240" cy="1097280"/>
          </a:xfrm>
          <a:prstGeom prst="roundRect">
            <a:avLst>
              <a:gd name="adj" fmla="val 23529"/>
            </a:avLst>
          </a:prstGeom>
          <a:solidFill>
            <a:srgbClr val="0078D4"/>
          </a:solidFill>
          <a:ln w="12700">
            <a:solidFill>
              <a:srgbClr val="0078D4"/>
            </a:solidFill>
            <a:prstDash val="solid"/>
          </a:ln>
        </p:spPr>
      </p:sp>
      <p:sp>
        <p:nvSpPr>
          <p:cNvPr id="16" name="Shape 12"/>
          <p:cNvSpPr/>
          <p:nvPr/>
        </p:nvSpPr>
        <p:spPr>
          <a:xfrm>
            <a:off x="685800" y="1143000"/>
            <a:ext cx="1828800" cy="457200"/>
          </a:xfrm>
          <a:prstGeom prst="roundRect">
            <a:avLst>
              <a:gd name="adj" fmla="val 24000"/>
            </a:avLst>
          </a:prstGeom>
          <a:solidFill>
            <a:srgbClr val="FFFFFF"/>
          </a:solidFill>
          <a:ln w="12700">
            <a:solidFill>
              <a:srgbClr val="BBBBBB"/>
            </a:solidFill>
            <a:prstDash val="solid"/>
          </a:ln>
        </p:spPr>
      </p:sp>
      <p:sp>
        <p:nvSpPr>
          <p:cNvPr id="17" name="Text 13"/>
          <p:cNvSpPr txBox="1"/>
          <p:nvPr/>
        </p:nvSpPr>
        <p:spPr>
          <a:xfrm>
            <a:off x="731520" y="1143000"/>
            <a:ext cx="1737360" cy="457200"/>
          </a:xfrm>
          <a:prstGeom prst="rect">
            <a:avLst/>
          </a:prstGeom>
          <a:noFill/>
          <a:ln/>
        </p:spPr>
        <p:txBody>
          <a:bodyPr wrap="square" lIns="0" tIns="0" rIns="0" bIns="0" rtlCol="0" anchor="ctr"/>
          <a:lstStyle/>
          <a:p>
            <a:pPr algn="ctr" indent="0" marL="0">
              <a:buNone/>
            </a:pPr>
            <a:r>
              <a:rPr lang="en-US" sz="950" i="1" dirty="0">
                <a:solidFill>
                  <a:srgbClr val="1E2A26"/>
                </a:solidFill>
                <a:latin typeface="Calibri" pitchFamily="34" charset="0"/>
                <a:ea typeface="Calibri" pitchFamily="34" charset="-122"/>
                <a:cs typeface="Calibri" pitchFamily="34" charset="-120"/>
              </a:rPr>
              <a:t>"Apa yang paling menyulitkan?"</a:t>
            </a:r>
            <a:endParaRPr lang="en-US" sz="950" dirty="0"/>
          </a:p>
        </p:txBody>
      </p:sp>
      <p:sp>
        <p:nvSpPr>
          <p:cNvPr id="18" name="Shape 14"/>
          <p:cNvSpPr/>
          <p:nvPr/>
        </p:nvSpPr>
        <p:spPr>
          <a:xfrm>
            <a:off x="3794760" y="2331720"/>
            <a:ext cx="1097280" cy="822960"/>
          </a:xfrm>
          <a:prstGeom prst="rect">
            <a:avLst/>
          </a:prstGeom>
          <a:solidFill>
            <a:srgbClr val="FFFFFF"/>
          </a:solidFill>
          <a:ln w="9525">
            <a:solidFill>
              <a:srgbClr val="999999"/>
            </a:solidFill>
            <a:prstDash val="solid"/>
          </a:ln>
        </p:spPr>
      </p:sp>
      <p:sp>
        <p:nvSpPr>
          <p:cNvPr id="19" name="Shape 15"/>
          <p:cNvSpPr/>
          <p:nvPr/>
        </p:nvSpPr>
        <p:spPr>
          <a:xfrm>
            <a:off x="3886200" y="2423160"/>
            <a:ext cx="914400" cy="45720"/>
          </a:xfrm>
          <a:prstGeom prst="rect">
            <a:avLst/>
          </a:prstGeom>
          <a:solidFill>
            <a:srgbClr val="1155CC"/>
          </a:solidFill>
          <a:ln w="12700">
            <a:solidFill>
              <a:srgbClr val="1155CC"/>
            </a:solidFill>
            <a:prstDash val="solid"/>
          </a:ln>
        </p:spPr>
      </p:sp>
      <p:sp>
        <p:nvSpPr>
          <p:cNvPr id="20" name="Shape 16"/>
          <p:cNvSpPr/>
          <p:nvPr/>
        </p:nvSpPr>
        <p:spPr>
          <a:xfrm>
            <a:off x="3886200" y="2587752"/>
            <a:ext cx="640080" cy="45720"/>
          </a:xfrm>
          <a:prstGeom prst="rect">
            <a:avLst/>
          </a:prstGeom>
          <a:solidFill>
            <a:srgbClr val="1155CC"/>
          </a:solidFill>
          <a:ln w="12700">
            <a:solidFill>
              <a:srgbClr val="1155CC"/>
            </a:solidFill>
            <a:prstDash val="solid"/>
          </a:ln>
        </p:spPr>
      </p:sp>
      <p:sp>
        <p:nvSpPr>
          <p:cNvPr id="21" name="Shape 17"/>
          <p:cNvSpPr/>
          <p:nvPr/>
        </p:nvSpPr>
        <p:spPr>
          <a:xfrm>
            <a:off x="3886200" y="2752344"/>
            <a:ext cx="914400" cy="45720"/>
          </a:xfrm>
          <a:prstGeom prst="rect">
            <a:avLst/>
          </a:prstGeom>
          <a:solidFill>
            <a:srgbClr val="1155CC"/>
          </a:solidFill>
          <a:ln w="12700">
            <a:solidFill>
              <a:srgbClr val="1155CC"/>
            </a:solidFill>
            <a:prstDash val="solid"/>
          </a:ln>
        </p:spPr>
      </p:sp>
      <p:sp>
        <p:nvSpPr>
          <p:cNvPr id="22" name="Shape 18"/>
          <p:cNvSpPr/>
          <p:nvPr/>
        </p:nvSpPr>
        <p:spPr>
          <a:xfrm>
            <a:off x="3886200" y="2916936"/>
            <a:ext cx="640080" cy="45720"/>
          </a:xfrm>
          <a:prstGeom prst="rect">
            <a:avLst/>
          </a:prstGeom>
          <a:solidFill>
            <a:srgbClr val="1155CC"/>
          </a:solidFill>
          <a:ln w="12700">
            <a:solidFill>
              <a:srgbClr val="1155CC"/>
            </a:solidFill>
            <a:prstDash val="solid"/>
          </a:ln>
        </p:spPr>
      </p:sp>
      <p:sp>
        <p:nvSpPr>
          <p:cNvPr id="23" name="Text 19"/>
          <p:cNvSpPr txBox="1"/>
          <p:nvPr/>
        </p:nvSpPr>
        <p:spPr>
          <a:xfrm>
            <a:off x="914400" y="3474720"/>
            <a:ext cx="1005840" cy="274320"/>
          </a:xfrm>
          <a:prstGeom prst="rect">
            <a:avLst/>
          </a:prstGeom>
          <a:noFill/>
          <a:ln/>
        </p:spPr>
        <p:txBody>
          <a:bodyPr wrap="square" lIns="0" tIns="0" rIns="0" bIns="0" rtlCol="0" anchor="t"/>
          <a:lstStyle/>
          <a:p>
            <a:pPr algn="ctr" indent="0" marL="0">
              <a:buNone/>
            </a:pPr>
            <a:r>
              <a:rPr lang="en-US" sz="1100" b="1" dirty="0">
                <a:solidFill>
                  <a:srgbClr val="1E2A26"/>
                </a:solidFill>
                <a:latin typeface="Calibri" pitchFamily="34" charset="0"/>
                <a:ea typeface="Calibri" pitchFamily="34" charset="-122"/>
                <a:cs typeface="Calibri" pitchFamily="34" charset="-120"/>
              </a:rPr>
              <a:t>Penanya</a:t>
            </a:r>
            <a:endParaRPr lang="en-US" sz="1100" dirty="0"/>
          </a:p>
        </p:txBody>
      </p:sp>
      <p:sp>
        <p:nvSpPr>
          <p:cNvPr id="24" name="Text 20"/>
          <p:cNvSpPr txBox="1"/>
          <p:nvPr/>
        </p:nvSpPr>
        <p:spPr>
          <a:xfrm>
            <a:off x="2377440" y="3474720"/>
            <a:ext cx="1005840" cy="274320"/>
          </a:xfrm>
          <a:prstGeom prst="rect">
            <a:avLst/>
          </a:prstGeom>
          <a:noFill/>
          <a:ln/>
        </p:spPr>
        <p:txBody>
          <a:bodyPr wrap="square" lIns="0" tIns="0" rIns="0" bIns="0" rtlCol="0" anchor="t"/>
          <a:lstStyle/>
          <a:p>
            <a:pPr algn="ctr" indent="0" marL="0">
              <a:buNone/>
            </a:pPr>
            <a:r>
              <a:rPr lang="en-US" sz="1100" b="1" dirty="0">
                <a:solidFill>
                  <a:srgbClr val="1E2A26"/>
                </a:solidFill>
                <a:latin typeface="Calibri" pitchFamily="34" charset="0"/>
                <a:ea typeface="Calibri" pitchFamily="34" charset="-122"/>
                <a:cs typeface="Calibri" pitchFamily="34" charset="-120"/>
              </a:rPr>
              <a:t>Pengguna</a:t>
            </a:r>
            <a:endParaRPr lang="en-US" sz="1100" dirty="0"/>
          </a:p>
        </p:txBody>
      </p:sp>
      <p:sp>
        <p:nvSpPr>
          <p:cNvPr id="25" name="Text 21"/>
          <p:cNvSpPr txBox="1"/>
          <p:nvPr/>
        </p:nvSpPr>
        <p:spPr>
          <a:xfrm>
            <a:off x="3931920" y="3474720"/>
            <a:ext cx="1005840" cy="274320"/>
          </a:xfrm>
          <a:prstGeom prst="rect">
            <a:avLst/>
          </a:prstGeom>
          <a:noFill/>
          <a:ln/>
        </p:spPr>
        <p:txBody>
          <a:bodyPr wrap="square" lIns="0" tIns="0" rIns="0" bIns="0" rtlCol="0" anchor="t"/>
          <a:lstStyle/>
          <a:p>
            <a:pPr algn="ctr" indent="0" marL="0">
              <a:buNone/>
            </a:pPr>
            <a:r>
              <a:rPr lang="en-US" sz="1100" b="1" dirty="0">
                <a:solidFill>
                  <a:srgbClr val="1E2A26"/>
                </a:solidFill>
                <a:latin typeface="Calibri" pitchFamily="34" charset="0"/>
                <a:ea typeface="Calibri" pitchFamily="34" charset="-122"/>
                <a:cs typeface="Calibri" pitchFamily="34" charset="-120"/>
              </a:rPr>
              <a:t>Pencatat</a:t>
            </a:r>
            <a:endParaRPr lang="en-US" sz="1100" dirty="0"/>
          </a:p>
        </p:txBody>
      </p:sp>
      <p:sp>
        <p:nvSpPr>
          <p:cNvPr id="26" name="Text 2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27" name="Text 2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Wawancarai 2 pengguna</a:t>
            </a:r>
            <a:endParaRPr lang="en-US" sz="1800" dirty="0"/>
          </a:p>
        </p:txBody>
      </p:sp>
      <p:sp>
        <p:nvSpPr>
          <p:cNvPr id="28" name="Text 2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Bagi tugas: satu bertanya, satu mencatat. Wawancarai 2 orang (teman kelas lain atau musyrif) masing-masing 5 menit.</a:t>
            </a:r>
            <a:endParaRPr lang="en-US" sz="1300" dirty="0"/>
          </a:p>
        </p:txBody>
      </p:sp>
      <p:sp>
        <p:nvSpPr>
          <p:cNvPr id="29" name="Shape 25"/>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30" name="Image 2" descr="preencoded.png">    </p:cNvPr>
          <p:cNvPicPr>
            <a:picLocks noChangeAspect="1"/>
          </p:cNvPicPr>
          <p:nvPr/>
        </p:nvPicPr>
        <p:blipFill>
          <a:blip r:embed="rId3"/>
          <a:stretch>
            <a:fillRect/>
          </a:stretch>
        </p:blipFill>
        <p:spPr>
          <a:xfrm>
            <a:off x="6108192" y="3721608"/>
            <a:ext cx="201168" cy="201168"/>
          </a:xfrm>
          <a:prstGeom prst="rect">
            <a:avLst/>
          </a:prstGeom>
        </p:spPr>
      </p:pic>
      <p:sp>
        <p:nvSpPr>
          <p:cNvPr id="31" name="Text 26"/>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Mulai dengan salam dan minta izin. Jangan menawarkan solusi dulu.</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Pengguna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Proposal_Solusi_Kel3 -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Proposal_Solusi_Kel3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Profil Pengguna</a:t>
            </a:r>
            <a:endParaRPr lang="en-US" sz="1100" dirty="0"/>
          </a:p>
        </p:txBody>
      </p:sp>
      <p:sp>
        <p:nvSpPr>
          <p:cNvPr id="70" name="Shape 59"/>
          <p:cNvSpPr/>
          <p:nvPr/>
        </p:nvSpPr>
        <p:spPr>
          <a:xfrm>
            <a:off x="1554480" y="2876938"/>
            <a:ext cx="150876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146304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Bagian</a:t>
            </a:r>
            <a:endParaRPr lang="en-US" sz="650" dirty="0"/>
          </a:p>
        </p:txBody>
      </p:sp>
      <p:sp>
        <p:nvSpPr>
          <p:cNvPr id="72" name="Shape 61"/>
          <p:cNvSpPr/>
          <p:nvPr/>
        </p:nvSpPr>
        <p:spPr>
          <a:xfrm>
            <a:off x="3063240" y="2876938"/>
            <a:ext cx="1508760" cy="182880"/>
          </a:xfrm>
          <a:prstGeom prst="rect">
            <a:avLst/>
          </a:prstGeom>
          <a:solidFill>
            <a:srgbClr val="D9EAD3"/>
          </a:solidFill>
          <a:ln w="6350">
            <a:solidFill>
              <a:srgbClr val="777777"/>
            </a:solidFill>
            <a:prstDash val="solid"/>
          </a:ln>
        </p:spPr>
      </p:sp>
      <p:sp>
        <p:nvSpPr>
          <p:cNvPr id="73" name="Text 62"/>
          <p:cNvSpPr txBox="1"/>
          <p:nvPr/>
        </p:nvSpPr>
        <p:spPr>
          <a:xfrm>
            <a:off x="3090672" y="2876938"/>
            <a:ext cx="146304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Isi</a:t>
            </a:r>
            <a:endParaRPr lang="en-US" sz="650" dirty="0"/>
          </a:p>
        </p:txBody>
      </p:sp>
      <p:sp>
        <p:nvSpPr>
          <p:cNvPr id="74" name="Shape 63"/>
          <p:cNvSpPr/>
          <p:nvPr/>
        </p:nvSpPr>
        <p:spPr>
          <a:xfrm>
            <a:off x="1554480" y="3059818"/>
            <a:ext cx="1508760" cy="182880"/>
          </a:xfrm>
          <a:prstGeom prst="rect">
            <a:avLst/>
          </a:prstGeom>
          <a:solidFill>
            <a:srgbClr val="FFFFFF"/>
          </a:solidFill>
          <a:ln w="6350">
            <a:solidFill>
              <a:srgbClr val="777777"/>
            </a:solidFill>
            <a:prstDash val="solid"/>
          </a:ln>
        </p:spPr>
      </p:sp>
      <p:sp>
        <p:nvSpPr>
          <p:cNvPr id="75" name="Text 64"/>
          <p:cNvSpPr txBox="1"/>
          <p:nvPr/>
        </p:nvSpPr>
        <p:spPr>
          <a:xfrm>
            <a:off x="1581912" y="305981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Nama samaran</a:t>
            </a:r>
            <a:endParaRPr lang="en-US" sz="650" dirty="0"/>
          </a:p>
        </p:txBody>
      </p:sp>
      <p:sp>
        <p:nvSpPr>
          <p:cNvPr id="76" name="Shape 65"/>
          <p:cNvSpPr/>
          <p:nvPr/>
        </p:nvSpPr>
        <p:spPr>
          <a:xfrm>
            <a:off x="3063240" y="3059818"/>
            <a:ext cx="1508760" cy="182880"/>
          </a:xfrm>
          <a:prstGeom prst="rect">
            <a:avLst/>
          </a:prstGeom>
          <a:solidFill>
            <a:srgbClr val="FFFFFF"/>
          </a:solidFill>
          <a:ln w="6350">
            <a:solidFill>
              <a:srgbClr val="777777"/>
            </a:solidFill>
            <a:prstDash val="solid"/>
          </a:ln>
        </p:spPr>
      </p:sp>
      <p:sp>
        <p:nvSpPr>
          <p:cNvPr id="77" name="Text 66"/>
          <p:cNvSpPr txBox="1"/>
          <p:nvPr/>
        </p:nvSpPr>
        <p:spPr>
          <a:xfrm>
            <a:off x="3090672" y="305981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Santri A, Kelas 7</a:t>
            </a:r>
            <a:endParaRPr lang="en-US" sz="650" dirty="0"/>
          </a:p>
        </p:txBody>
      </p:sp>
      <p:sp>
        <p:nvSpPr>
          <p:cNvPr id="78" name="Shape 67"/>
          <p:cNvSpPr/>
          <p:nvPr/>
        </p:nvSpPr>
        <p:spPr>
          <a:xfrm>
            <a:off x="1554480" y="3242698"/>
            <a:ext cx="1508760" cy="182880"/>
          </a:xfrm>
          <a:prstGeom prst="rect">
            <a:avLst/>
          </a:prstGeom>
          <a:solidFill>
            <a:srgbClr val="FFFFFF"/>
          </a:solidFill>
          <a:ln w="6350">
            <a:solidFill>
              <a:srgbClr val="777777"/>
            </a:solidFill>
            <a:prstDash val="solid"/>
          </a:ln>
        </p:spPr>
      </p:sp>
      <p:sp>
        <p:nvSpPr>
          <p:cNvPr id="79" name="Text 68"/>
          <p:cNvSpPr txBox="1"/>
          <p:nvPr/>
        </p:nvSpPr>
        <p:spPr>
          <a:xfrm>
            <a:off x="1581912" y="324269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Kebutuhan</a:t>
            </a:r>
            <a:endParaRPr lang="en-US" sz="650" dirty="0"/>
          </a:p>
        </p:txBody>
      </p:sp>
      <p:sp>
        <p:nvSpPr>
          <p:cNvPr id="80" name="Shape 69"/>
          <p:cNvSpPr/>
          <p:nvPr/>
        </p:nvSpPr>
        <p:spPr>
          <a:xfrm>
            <a:off x="3063240" y="3242698"/>
            <a:ext cx="1508760" cy="182880"/>
          </a:xfrm>
          <a:prstGeom prst="rect">
            <a:avLst/>
          </a:prstGeom>
          <a:solidFill>
            <a:srgbClr val="FFFFFF"/>
          </a:solidFill>
          <a:ln w="6350">
            <a:solidFill>
              <a:srgbClr val="777777"/>
            </a:solidFill>
            <a:prstDash val="solid"/>
          </a:ln>
        </p:spPr>
      </p:sp>
      <p:sp>
        <p:nvSpPr>
          <p:cNvPr id="81" name="Text 70"/>
          <p:cNvSpPr txBox="1"/>
          <p:nvPr/>
        </p:nvSpPr>
        <p:spPr>
          <a:xfrm>
            <a:off x="3090672" y="324269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Tahu target setoran tiap hari</a:t>
            </a:r>
            <a:endParaRPr lang="en-US" sz="650" dirty="0"/>
          </a:p>
        </p:txBody>
      </p:sp>
      <p:sp>
        <p:nvSpPr>
          <p:cNvPr id="82" name="Shape 71"/>
          <p:cNvSpPr/>
          <p:nvPr/>
        </p:nvSpPr>
        <p:spPr>
          <a:xfrm>
            <a:off x="1554480" y="3425578"/>
            <a:ext cx="1508760" cy="182880"/>
          </a:xfrm>
          <a:prstGeom prst="rect">
            <a:avLst/>
          </a:prstGeom>
          <a:solidFill>
            <a:srgbClr val="FFFFFF"/>
          </a:solidFill>
          <a:ln w="6350">
            <a:solidFill>
              <a:srgbClr val="777777"/>
            </a:solidFill>
            <a:prstDash val="solid"/>
          </a:ln>
        </p:spPr>
      </p:sp>
      <p:sp>
        <p:nvSpPr>
          <p:cNvPr id="83" name="Text 72"/>
          <p:cNvSpPr txBox="1"/>
          <p:nvPr/>
        </p:nvSpPr>
        <p:spPr>
          <a:xfrm>
            <a:off x="1581912" y="342557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Kesulitan</a:t>
            </a:r>
            <a:endParaRPr lang="en-US" sz="650" dirty="0"/>
          </a:p>
        </p:txBody>
      </p:sp>
      <p:sp>
        <p:nvSpPr>
          <p:cNvPr id="84" name="Shape 73"/>
          <p:cNvSpPr/>
          <p:nvPr/>
        </p:nvSpPr>
        <p:spPr>
          <a:xfrm>
            <a:off x="3063240" y="3425578"/>
            <a:ext cx="1508760" cy="182880"/>
          </a:xfrm>
          <a:prstGeom prst="rect">
            <a:avLst/>
          </a:prstGeom>
          <a:solidFill>
            <a:srgbClr val="FFFFFF"/>
          </a:solidFill>
          <a:ln w="6350">
            <a:solidFill>
              <a:srgbClr val="777777"/>
            </a:solidFill>
            <a:prstDash val="solid"/>
          </a:ln>
        </p:spPr>
      </p:sp>
      <p:sp>
        <p:nvSpPr>
          <p:cNvPr id="85" name="Text 74"/>
          <p:cNvSpPr txBox="1"/>
          <p:nvPr/>
        </p:nvSpPr>
        <p:spPr>
          <a:xfrm>
            <a:off x="3090672" y="342557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"Sering lupa ayat yang harus disetor"</a:t>
            </a:r>
            <a:endParaRPr lang="en-US" sz="650" dirty="0"/>
          </a:p>
        </p:txBody>
      </p:sp>
      <p:sp>
        <p:nvSpPr>
          <p:cNvPr id="86" name="Shape 75"/>
          <p:cNvSpPr/>
          <p:nvPr/>
        </p:nvSpPr>
        <p:spPr>
          <a:xfrm>
            <a:off x="1554480" y="3608458"/>
            <a:ext cx="1508760" cy="182880"/>
          </a:xfrm>
          <a:prstGeom prst="rect">
            <a:avLst/>
          </a:prstGeom>
          <a:solidFill>
            <a:srgbClr val="FFFFFF"/>
          </a:solidFill>
          <a:ln w="6350">
            <a:solidFill>
              <a:srgbClr val="777777"/>
            </a:solidFill>
            <a:prstDash val="solid"/>
          </a:ln>
        </p:spPr>
      </p:sp>
      <p:sp>
        <p:nvSpPr>
          <p:cNvPr id="87" name="Text 76"/>
          <p:cNvSpPr txBox="1"/>
          <p:nvPr/>
        </p:nvSpPr>
        <p:spPr>
          <a:xfrm>
            <a:off x="1581912" y="360845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Kapan</a:t>
            </a:r>
            <a:endParaRPr lang="en-US" sz="650" dirty="0"/>
          </a:p>
        </p:txBody>
      </p:sp>
      <p:sp>
        <p:nvSpPr>
          <p:cNvPr id="88" name="Shape 77"/>
          <p:cNvSpPr/>
          <p:nvPr/>
        </p:nvSpPr>
        <p:spPr>
          <a:xfrm>
            <a:off x="3063240" y="3608458"/>
            <a:ext cx="1508760" cy="182880"/>
          </a:xfrm>
          <a:prstGeom prst="rect">
            <a:avLst/>
          </a:prstGeom>
          <a:solidFill>
            <a:srgbClr val="FFFFFF"/>
          </a:solidFill>
          <a:ln w="6350">
            <a:solidFill>
              <a:srgbClr val="777777"/>
            </a:solidFill>
            <a:prstDash val="solid"/>
          </a:ln>
        </p:spPr>
      </p:sp>
      <p:sp>
        <p:nvSpPr>
          <p:cNvPr id="89" name="Text 78"/>
          <p:cNvSpPr txBox="1"/>
          <p:nvPr/>
        </p:nvSpPr>
        <p:spPr>
          <a:xfrm>
            <a:off x="3090672" y="360845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Setelah Ashar, sebelum murajaah</a:t>
            </a:r>
            <a:endParaRPr lang="en-US" sz="650" dirty="0"/>
          </a:p>
        </p:txBody>
      </p:sp>
      <p:sp>
        <p:nvSpPr>
          <p:cNvPr id="90" name="Shape 79"/>
          <p:cNvSpPr/>
          <p:nvPr/>
        </p:nvSpPr>
        <p:spPr>
          <a:xfrm>
            <a:off x="1527048" y="2849506"/>
            <a:ext cx="3072384" cy="969264"/>
          </a:xfrm>
          <a:prstGeom prst="roundRect">
            <a:avLst>
              <a:gd name="adj" fmla="val 4717"/>
            </a:avLst>
          </a:prstGeom>
          <a:solidFill>
            <a:srgbClr val="FFFFFF">
              <a:alpha val="0"/>
            </a:srgbClr>
          </a:solidFill>
          <a:ln w="31750">
            <a:solidFill>
              <a:srgbClr val="E53935"/>
            </a:solidFill>
            <a:prstDash val="solid"/>
          </a:ln>
        </p:spPr>
      </p:sp>
      <p:sp>
        <p:nvSpPr>
          <p:cNvPr id="91" name="Shape 80"/>
          <p:cNvSpPr/>
          <p:nvPr/>
        </p:nvSpPr>
        <p:spPr>
          <a:xfrm>
            <a:off x="4462272" y="2712346"/>
            <a:ext cx="274320" cy="274320"/>
          </a:xfrm>
          <a:prstGeom prst="ellipse">
            <a:avLst/>
          </a:prstGeom>
          <a:solidFill>
            <a:srgbClr val="E53935"/>
          </a:solidFill>
          <a:ln w="12700">
            <a:solidFill>
              <a:srgbClr val="FFFFFF"/>
            </a:solidFill>
            <a:prstDash val="solid"/>
          </a:ln>
        </p:spPr>
      </p:sp>
      <p:sp>
        <p:nvSpPr>
          <p:cNvPr id="92" name="Text 81"/>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93" name="Image 9" descr="preencoded.png">    </p:cNvPr>
          <p:cNvPicPr>
            <a:picLocks noChangeAspect="1"/>
          </p:cNvPicPr>
          <p:nvPr/>
        </p:nvPicPr>
        <p:blipFill>
          <a:blip r:embed="rId10"/>
          <a:stretch>
            <a:fillRect/>
          </a:stretch>
        </p:blipFill>
        <p:spPr>
          <a:xfrm>
            <a:off x="3214116" y="3379858"/>
            <a:ext cx="237744" cy="237744"/>
          </a:xfrm>
          <a:prstGeom prst="rect">
            <a:avLst/>
          </a:prstGeom>
        </p:spPr>
      </p:pic>
      <p:sp>
        <p:nvSpPr>
          <p:cNvPr id="94" name="Text 8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95" name="Text 8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profil pengguna</a:t>
            </a:r>
            <a:endParaRPr lang="en-US" sz="1800" dirty="0"/>
          </a:p>
        </p:txBody>
      </p:sp>
      <p:sp>
        <p:nvSpPr>
          <p:cNvPr id="96" name="Text 8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Docs: Nama samaran, Siapa dia, Kebutuhan, Kesulitan, Kapan memakai solusi. Gunakan kata-kata dari wawancara.</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4</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Dokumen Proposal_Solusi kelompok berisi: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Masalah terpilih dalam 1 kalimat dan alasan memilihnya.</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5 Mengapa sampai akar masalah.</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Catatan wawancara 2 pengguna (nama samaran).</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Profil pengguna dalam tabel.</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Masalah ditulis dalam satu kalimat</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5 Mengapa sampai akar masalah</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hasil wawancara 2 pengguna</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Profil pengguna jelas</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kita harus menemukan akar masalah?</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hal mengejutkan dari wawancara pengguna?</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Dengarkan orang lain dengan sungguh-sungguh. Mendengar dengan baik adalah tanda menghargai.</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Mengumpulkan ide solusi dan membuat sketsa prototype.</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05</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Ide Solusi &amp; Sketsa Prototype</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Brainstorming, memilih ide, dan sketsa layar</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2: Problem Solving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Dari mana datangnya ide yang bagus? Apakah langsung muncul sempurna?</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05</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Mengumpulkan banyak ide solusi dengan brainstorming</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Memilih ide terbaik dengan matriks manfaat dan kemudahan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sketsa layar (prototype kertas) dan mengujinya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Aturan Brainstorming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Banyak Dulu</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Kumpulkan sebanyak mungkin ide. Jumlah lebih penting dari mutu di tahap ini.</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Jangan Mencela</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Semua ide ditulis. Menilai dilakukan nanti.</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Kembangkan Ide Teman</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"Bagaimana kalau ide itu ditambah ..."</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Fokus Pengguna</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Ingat profil dan kesulitan pengguna.</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Matriks Memilih Ide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1097280" y="1188720"/>
            <a:ext cx="0" cy="3200400"/>
          </a:xfrm>
          <a:prstGeom prst="line">
            <a:avLst/>
          </a:prstGeom>
          <a:noFill/>
          <a:ln w="25400">
            <a:solidFill>
              <a:srgbClr val="333333"/>
            </a:solidFill>
            <a:prstDash val="solid"/>
          </a:ln>
        </p:spPr>
      </p:sp>
      <p:sp>
        <p:nvSpPr>
          <p:cNvPr id="10" name="Shape 6"/>
          <p:cNvSpPr/>
          <p:nvPr/>
        </p:nvSpPr>
        <p:spPr>
          <a:xfrm>
            <a:off x="1097280" y="4389120"/>
            <a:ext cx="4754880" cy="0"/>
          </a:xfrm>
          <a:prstGeom prst="line">
            <a:avLst/>
          </a:prstGeom>
          <a:noFill/>
          <a:ln w="25400">
            <a:solidFill>
              <a:srgbClr val="333333"/>
            </a:solidFill>
            <a:prstDash val="solid"/>
          </a:ln>
        </p:spPr>
      </p:sp>
      <p:sp>
        <p:nvSpPr>
          <p:cNvPr id="11" name="Shape 7"/>
          <p:cNvSpPr/>
          <p:nvPr/>
        </p:nvSpPr>
        <p:spPr>
          <a:xfrm>
            <a:off x="3474720" y="1188720"/>
            <a:ext cx="2377440" cy="1600200"/>
          </a:xfrm>
          <a:prstGeom prst="rect">
            <a:avLst/>
          </a:prstGeom>
          <a:solidFill>
            <a:srgbClr val="C8E6C9"/>
          </a:solidFill>
          <a:ln w="12700">
            <a:solidFill>
              <a:srgbClr val="C8E6C9"/>
            </a:solidFill>
            <a:prstDash val="solid"/>
          </a:ln>
        </p:spPr>
      </p:sp>
      <p:sp>
        <p:nvSpPr>
          <p:cNvPr id="12" name="Shape 8"/>
          <p:cNvSpPr/>
          <p:nvPr/>
        </p:nvSpPr>
        <p:spPr>
          <a:xfrm>
            <a:off x="1097280" y="1188720"/>
            <a:ext cx="2377440" cy="1600200"/>
          </a:xfrm>
          <a:prstGeom prst="rect">
            <a:avLst/>
          </a:prstGeom>
          <a:solidFill>
            <a:srgbClr val="FFF59D"/>
          </a:solidFill>
          <a:ln w="12700">
            <a:solidFill>
              <a:srgbClr val="FFF59D"/>
            </a:solidFill>
            <a:prstDash val="solid"/>
          </a:ln>
        </p:spPr>
      </p:sp>
      <p:sp>
        <p:nvSpPr>
          <p:cNvPr id="13" name="Shape 9"/>
          <p:cNvSpPr/>
          <p:nvPr/>
        </p:nvSpPr>
        <p:spPr>
          <a:xfrm>
            <a:off x="3474720" y="2788920"/>
            <a:ext cx="2377440" cy="1600200"/>
          </a:xfrm>
          <a:prstGeom prst="rect">
            <a:avLst/>
          </a:prstGeom>
          <a:solidFill>
            <a:srgbClr val="FFE0B2"/>
          </a:solidFill>
          <a:ln w="12700">
            <a:solidFill>
              <a:srgbClr val="FFE0B2"/>
            </a:solidFill>
            <a:prstDash val="solid"/>
          </a:ln>
        </p:spPr>
      </p:sp>
      <p:sp>
        <p:nvSpPr>
          <p:cNvPr id="14" name="Shape 10"/>
          <p:cNvSpPr/>
          <p:nvPr/>
        </p:nvSpPr>
        <p:spPr>
          <a:xfrm>
            <a:off x="1097280" y="2788920"/>
            <a:ext cx="2377440" cy="1600200"/>
          </a:xfrm>
          <a:prstGeom prst="rect">
            <a:avLst/>
          </a:prstGeom>
          <a:solidFill>
            <a:srgbClr val="FFCDD2"/>
          </a:solidFill>
          <a:ln w="12700">
            <a:solidFill>
              <a:srgbClr val="FFCDD2"/>
            </a:solidFill>
            <a:prstDash val="solid"/>
          </a:ln>
        </p:spPr>
      </p:sp>
      <p:sp>
        <p:nvSpPr>
          <p:cNvPr id="15" name="Text 11"/>
          <p:cNvSpPr txBox="1"/>
          <p:nvPr/>
        </p:nvSpPr>
        <p:spPr>
          <a:xfrm>
            <a:off x="3474720" y="1280160"/>
            <a:ext cx="2377440" cy="822960"/>
          </a:xfrm>
          <a:prstGeom prst="rect">
            <a:avLst/>
          </a:prstGeom>
          <a:noFill/>
          <a:ln/>
        </p:spPr>
        <p:txBody>
          <a:bodyPr wrap="square" lIns="0" tIns="0" rIns="0" bIns="0" rtlCol="0" anchor="t"/>
          <a:lstStyle/>
          <a:p>
            <a:pPr algn="ctr" indent="0" marL="0">
              <a:buNone/>
            </a:pPr>
            <a:r>
              <a:rPr lang="en-US" sz="1200" b="1" dirty="0">
                <a:solidFill>
                  <a:srgbClr val="0F4C3A"/>
                </a:solidFill>
                <a:latin typeface="Calibri" pitchFamily="34" charset="0"/>
                <a:ea typeface="Calibri" pitchFamily="34" charset="-122"/>
                <a:cs typeface="Calibri" pitchFamily="34" charset="-120"/>
              </a:rPr>
              <a:t>Manfaat tinggi</a:t>
            </a:r>
            <a:endParaRPr lang="en-US" sz="1200" dirty="0"/>
          </a:p>
          <a:p>
            <a:pPr algn="ctr" indent="0" marL="0">
              <a:buNone/>
            </a:pPr>
            <a:r>
              <a:rPr lang="en-US" sz="1200" b="1" dirty="0">
                <a:solidFill>
                  <a:srgbClr val="0F4C3A"/>
                </a:solidFill>
                <a:latin typeface="Calibri" pitchFamily="34" charset="0"/>
                <a:ea typeface="Calibri" pitchFamily="34" charset="-122"/>
                <a:cs typeface="Calibri" pitchFamily="34" charset="-120"/>
              </a:rPr>
              <a:t>Mudah dibuat</a:t>
            </a:r>
            <a:endParaRPr lang="en-US" sz="1200" dirty="0"/>
          </a:p>
          <a:p>
            <a:pPr algn="ctr" indent="0" marL="0">
              <a:buNone/>
            </a:pPr>
            <a:r>
              <a:rPr lang="en-US" sz="1200" b="1" dirty="0">
                <a:solidFill>
                  <a:srgbClr val="0F4C3A"/>
                </a:solidFill>
                <a:latin typeface="Calibri" pitchFamily="34" charset="0"/>
                <a:ea typeface="Calibri" pitchFamily="34" charset="-122"/>
                <a:cs typeface="Calibri" pitchFamily="34" charset="-120"/>
              </a:rPr>
              <a:t>→ PILIH!</a:t>
            </a:r>
            <a:endParaRPr lang="en-US" sz="1200" dirty="0"/>
          </a:p>
        </p:txBody>
      </p:sp>
      <p:sp>
        <p:nvSpPr>
          <p:cNvPr id="16" name="Text 12"/>
          <p:cNvSpPr txBox="1"/>
          <p:nvPr/>
        </p:nvSpPr>
        <p:spPr>
          <a:xfrm>
            <a:off x="1097280" y="1280160"/>
            <a:ext cx="2377440" cy="822960"/>
          </a:xfrm>
          <a:prstGeom prst="rect">
            <a:avLst/>
          </a:prstGeom>
          <a:noFill/>
          <a:ln/>
        </p:spPr>
        <p:txBody>
          <a:bodyPr wrap="square" lIns="0" tIns="0" rIns="0" bIns="0" rtlCol="0" anchor="t"/>
          <a:lstStyle/>
          <a:p>
            <a:pPr algn="ctr" indent="0" marL="0">
              <a:buNone/>
            </a:pPr>
            <a:r>
              <a:rPr lang="en-US" sz="1100" dirty="0">
                <a:solidFill>
                  <a:srgbClr val="1E2A26"/>
                </a:solidFill>
                <a:latin typeface="Calibri" pitchFamily="34" charset="0"/>
                <a:ea typeface="Calibri" pitchFamily="34" charset="-122"/>
                <a:cs typeface="Calibri" pitchFamily="34" charset="-120"/>
              </a:rPr>
              <a:t>Manfaat tinggi</a:t>
            </a:r>
            <a:endParaRPr lang="en-US" sz="1100" dirty="0"/>
          </a:p>
          <a:p>
            <a:pPr algn="ctr" indent="0" marL="0">
              <a:buNone/>
            </a:pPr>
            <a:r>
              <a:rPr lang="en-US" sz="1100" dirty="0">
                <a:solidFill>
                  <a:srgbClr val="1E2A26"/>
                </a:solidFill>
                <a:latin typeface="Calibri" pitchFamily="34" charset="0"/>
                <a:ea typeface="Calibri" pitchFamily="34" charset="-122"/>
                <a:cs typeface="Calibri" pitchFamily="34" charset="-120"/>
              </a:rPr>
              <a:t>Sulit dibuat</a:t>
            </a:r>
            <a:endParaRPr lang="en-US" sz="1100" dirty="0"/>
          </a:p>
          <a:p>
            <a:pPr algn="ctr" indent="0" marL="0">
              <a:buNone/>
            </a:pPr>
            <a:r>
              <a:rPr lang="en-US" sz="1100" dirty="0">
                <a:solidFill>
                  <a:srgbClr val="1E2A26"/>
                </a:solidFill>
                <a:latin typeface="Calibri" pitchFamily="34" charset="0"/>
                <a:ea typeface="Calibri" pitchFamily="34" charset="-122"/>
                <a:cs typeface="Calibri" pitchFamily="34" charset="-120"/>
              </a:rPr>
              <a:t>→ nanti</a:t>
            </a:r>
            <a:endParaRPr lang="en-US" sz="1100" dirty="0"/>
          </a:p>
        </p:txBody>
      </p:sp>
      <p:sp>
        <p:nvSpPr>
          <p:cNvPr id="17" name="Text 13"/>
          <p:cNvSpPr txBox="1"/>
          <p:nvPr/>
        </p:nvSpPr>
        <p:spPr>
          <a:xfrm>
            <a:off x="3474720" y="2880360"/>
            <a:ext cx="2377440" cy="822960"/>
          </a:xfrm>
          <a:prstGeom prst="rect">
            <a:avLst/>
          </a:prstGeom>
          <a:noFill/>
          <a:ln/>
        </p:spPr>
        <p:txBody>
          <a:bodyPr wrap="square" lIns="0" tIns="0" rIns="0" bIns="0" rtlCol="0" anchor="t"/>
          <a:lstStyle/>
          <a:p>
            <a:pPr algn="ctr" indent="0" marL="0">
              <a:buNone/>
            </a:pPr>
            <a:r>
              <a:rPr lang="en-US" sz="1100" dirty="0">
                <a:solidFill>
                  <a:srgbClr val="1E2A26"/>
                </a:solidFill>
                <a:latin typeface="Calibri" pitchFamily="34" charset="0"/>
                <a:ea typeface="Calibri" pitchFamily="34" charset="-122"/>
                <a:cs typeface="Calibri" pitchFamily="34" charset="-120"/>
              </a:rPr>
              <a:t>Manfaat rendah</a:t>
            </a:r>
            <a:endParaRPr lang="en-US" sz="1100" dirty="0"/>
          </a:p>
          <a:p>
            <a:pPr algn="ctr" indent="0" marL="0">
              <a:buNone/>
            </a:pPr>
            <a:r>
              <a:rPr lang="en-US" sz="1100" dirty="0">
                <a:solidFill>
                  <a:srgbClr val="1E2A26"/>
                </a:solidFill>
                <a:latin typeface="Calibri" pitchFamily="34" charset="0"/>
                <a:ea typeface="Calibri" pitchFamily="34" charset="-122"/>
                <a:cs typeface="Calibri" pitchFamily="34" charset="-120"/>
              </a:rPr>
              <a:t>Mudah</a:t>
            </a:r>
            <a:endParaRPr lang="en-US" sz="1100" dirty="0"/>
          </a:p>
          <a:p>
            <a:pPr algn="ctr" indent="0" marL="0">
              <a:buNone/>
            </a:pPr>
            <a:r>
              <a:rPr lang="en-US" sz="1100" dirty="0">
                <a:solidFill>
                  <a:srgbClr val="1E2A26"/>
                </a:solidFill>
                <a:latin typeface="Calibri" pitchFamily="34" charset="0"/>
                <a:ea typeface="Calibri" pitchFamily="34" charset="-122"/>
                <a:cs typeface="Calibri" pitchFamily="34" charset="-120"/>
              </a:rPr>
              <a:t>→ tambahan</a:t>
            </a:r>
            <a:endParaRPr lang="en-US" sz="1100" dirty="0"/>
          </a:p>
        </p:txBody>
      </p:sp>
      <p:sp>
        <p:nvSpPr>
          <p:cNvPr id="18" name="Text 14"/>
          <p:cNvSpPr txBox="1"/>
          <p:nvPr/>
        </p:nvSpPr>
        <p:spPr>
          <a:xfrm>
            <a:off x="1097280" y="2880360"/>
            <a:ext cx="2377440" cy="822960"/>
          </a:xfrm>
          <a:prstGeom prst="rect">
            <a:avLst/>
          </a:prstGeom>
          <a:noFill/>
          <a:ln/>
        </p:spPr>
        <p:txBody>
          <a:bodyPr wrap="square" lIns="0" tIns="0" rIns="0" bIns="0" rtlCol="0" anchor="t"/>
          <a:lstStyle/>
          <a:p>
            <a:pPr algn="ctr" indent="0" marL="0">
              <a:buNone/>
            </a:pPr>
            <a:r>
              <a:rPr lang="en-US" sz="1100" dirty="0">
                <a:solidFill>
                  <a:srgbClr val="1E2A26"/>
                </a:solidFill>
                <a:latin typeface="Calibri" pitchFamily="34" charset="0"/>
                <a:ea typeface="Calibri" pitchFamily="34" charset="-122"/>
                <a:cs typeface="Calibri" pitchFamily="34" charset="-120"/>
              </a:rPr>
              <a:t>Manfaat rendah</a:t>
            </a:r>
            <a:endParaRPr lang="en-US" sz="1100" dirty="0"/>
          </a:p>
          <a:p>
            <a:pPr algn="ctr" indent="0" marL="0">
              <a:buNone/>
            </a:pPr>
            <a:r>
              <a:rPr lang="en-US" sz="1100" dirty="0">
                <a:solidFill>
                  <a:srgbClr val="1E2A26"/>
                </a:solidFill>
                <a:latin typeface="Calibri" pitchFamily="34" charset="0"/>
                <a:ea typeface="Calibri" pitchFamily="34" charset="-122"/>
                <a:cs typeface="Calibri" pitchFamily="34" charset="-120"/>
              </a:rPr>
              <a:t>Sulit</a:t>
            </a:r>
            <a:endParaRPr lang="en-US" sz="1100" dirty="0"/>
          </a:p>
          <a:p>
            <a:pPr algn="ctr" indent="0" marL="0">
              <a:buNone/>
            </a:pPr>
            <a:r>
              <a:rPr lang="en-US" sz="1100" dirty="0">
                <a:solidFill>
                  <a:srgbClr val="1E2A26"/>
                </a:solidFill>
                <a:latin typeface="Calibri" pitchFamily="34" charset="0"/>
                <a:ea typeface="Calibri" pitchFamily="34" charset="-122"/>
                <a:cs typeface="Calibri" pitchFamily="34" charset="-120"/>
              </a:rPr>
              <a:t>→ buang</a:t>
            </a:r>
            <a:endParaRPr lang="en-US" sz="1100" dirty="0"/>
          </a:p>
        </p:txBody>
      </p:sp>
      <p:sp>
        <p:nvSpPr>
          <p:cNvPr id="19" name="Text 15"/>
          <p:cNvSpPr txBox="1"/>
          <p:nvPr/>
        </p:nvSpPr>
        <p:spPr>
          <a:xfrm>
            <a:off x="274320" y="2606040"/>
            <a:ext cx="822960" cy="36576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MANFAAT ↑</a:t>
            </a:r>
            <a:endParaRPr lang="en-US" sz="1100" dirty="0"/>
          </a:p>
        </p:txBody>
      </p:sp>
      <p:sp>
        <p:nvSpPr>
          <p:cNvPr id="20" name="Text 16"/>
          <p:cNvSpPr txBox="1"/>
          <p:nvPr/>
        </p:nvSpPr>
        <p:spPr>
          <a:xfrm>
            <a:off x="4389120" y="4434840"/>
            <a:ext cx="1463040" cy="27432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KEMUDAHAN →</a:t>
            </a:r>
            <a:endParaRPr lang="en-US" sz="1100" dirty="0"/>
          </a:p>
        </p:txBody>
      </p:sp>
      <p:sp>
        <p:nvSpPr>
          <p:cNvPr id="21" name="Shape 17"/>
          <p:cNvSpPr/>
          <p:nvPr/>
        </p:nvSpPr>
        <p:spPr>
          <a:xfrm>
            <a:off x="4714646" y="2057400"/>
            <a:ext cx="182880" cy="182880"/>
          </a:xfrm>
          <a:prstGeom prst="ellipse">
            <a:avLst/>
          </a:prstGeom>
          <a:solidFill>
            <a:srgbClr val="E53935"/>
          </a:solidFill>
          <a:ln/>
        </p:spPr>
      </p:sp>
      <p:sp>
        <p:nvSpPr>
          <p:cNvPr id="22" name="Text 18"/>
          <p:cNvSpPr txBox="1"/>
          <p:nvPr/>
        </p:nvSpPr>
        <p:spPr>
          <a:xfrm>
            <a:off x="4915814" y="2011680"/>
            <a:ext cx="1554480" cy="274320"/>
          </a:xfrm>
          <a:prstGeom prst="rect">
            <a:avLst/>
          </a:prstGeom>
          <a:noFill/>
          <a:ln/>
        </p:spPr>
        <p:txBody>
          <a:bodyPr wrap="square" lIns="0" tIns="0" rIns="0" bIns="0" rtlCol="0" anchor="t"/>
          <a:lstStyle/>
          <a:p>
            <a:pPr indent="0" marL="0">
              <a:buNone/>
            </a:pPr>
            <a:r>
              <a:rPr lang="en-US" sz="1000" b="1" dirty="0">
                <a:solidFill>
                  <a:srgbClr val="1E2A26"/>
                </a:solidFill>
                <a:latin typeface="Calibri" pitchFamily="34" charset="0"/>
                <a:ea typeface="Calibri" pitchFamily="34" charset="-122"/>
                <a:cs typeface="Calibri" pitchFamily="34" charset="-120"/>
              </a:rPr>
              <a:t>Web jadwal setoran</a:t>
            </a:r>
            <a:endParaRPr lang="en-US" sz="1000" dirty="0"/>
          </a:p>
        </p:txBody>
      </p:sp>
      <p:sp>
        <p:nvSpPr>
          <p:cNvPr id="23" name="Shape 19"/>
          <p:cNvSpPr/>
          <p:nvPr/>
        </p:nvSpPr>
        <p:spPr>
          <a:xfrm>
            <a:off x="1861718" y="2148840"/>
            <a:ext cx="182880" cy="182880"/>
          </a:xfrm>
          <a:prstGeom prst="ellipse">
            <a:avLst/>
          </a:prstGeom>
          <a:solidFill>
            <a:srgbClr val="E53935"/>
          </a:solidFill>
          <a:ln/>
        </p:spPr>
      </p:sp>
      <p:sp>
        <p:nvSpPr>
          <p:cNvPr id="24" name="Text 20"/>
          <p:cNvSpPr txBox="1"/>
          <p:nvPr/>
        </p:nvSpPr>
        <p:spPr>
          <a:xfrm>
            <a:off x="2062886" y="2103120"/>
            <a:ext cx="1554480" cy="274320"/>
          </a:xfrm>
          <a:prstGeom prst="rect">
            <a:avLst/>
          </a:prstGeom>
          <a:noFill/>
          <a:ln/>
        </p:spPr>
        <p:txBody>
          <a:bodyPr wrap="square" lIns="0" tIns="0" rIns="0" bIns="0" rtlCol="0" anchor="t"/>
          <a:lstStyle/>
          <a:p>
            <a:pPr indent="0" marL="0">
              <a:buNone/>
            </a:pPr>
            <a:r>
              <a:rPr lang="en-US" sz="1000" b="1" dirty="0">
                <a:solidFill>
                  <a:srgbClr val="1E2A26"/>
                </a:solidFill>
                <a:latin typeface="Calibri" pitchFamily="34" charset="0"/>
                <a:ea typeface="Calibri" pitchFamily="34" charset="-122"/>
                <a:cs typeface="Calibri" pitchFamily="34" charset="-120"/>
              </a:rPr>
              <a:t>Aplikasi AI hafalan</a:t>
            </a:r>
            <a:endParaRPr lang="en-US" sz="1000" dirty="0"/>
          </a:p>
        </p:txBody>
      </p:sp>
      <p:sp>
        <p:nvSpPr>
          <p:cNvPr id="25" name="Shape 21"/>
          <p:cNvSpPr/>
          <p:nvPr/>
        </p:nvSpPr>
        <p:spPr>
          <a:xfrm>
            <a:off x="4096512" y="3589020"/>
            <a:ext cx="182880" cy="182880"/>
          </a:xfrm>
          <a:prstGeom prst="ellipse">
            <a:avLst/>
          </a:prstGeom>
          <a:solidFill>
            <a:srgbClr val="E53935"/>
          </a:solidFill>
          <a:ln/>
        </p:spPr>
      </p:sp>
      <p:sp>
        <p:nvSpPr>
          <p:cNvPr id="26" name="Text 22"/>
          <p:cNvSpPr txBox="1"/>
          <p:nvPr/>
        </p:nvSpPr>
        <p:spPr>
          <a:xfrm>
            <a:off x="4297680" y="3543300"/>
            <a:ext cx="1554480" cy="274320"/>
          </a:xfrm>
          <a:prstGeom prst="rect">
            <a:avLst/>
          </a:prstGeom>
          <a:noFill/>
          <a:ln/>
        </p:spPr>
        <p:txBody>
          <a:bodyPr wrap="square" lIns="0" tIns="0" rIns="0" bIns="0" rtlCol="0" anchor="t"/>
          <a:lstStyle/>
          <a:p>
            <a:pPr indent="0" marL="0">
              <a:buNone/>
            </a:pPr>
            <a:r>
              <a:rPr lang="en-US" sz="1000" b="1" dirty="0">
                <a:solidFill>
                  <a:srgbClr val="1E2A26"/>
                </a:solidFill>
                <a:latin typeface="Calibri" pitchFamily="34" charset="0"/>
                <a:ea typeface="Calibri" pitchFamily="34" charset="-122"/>
                <a:cs typeface="Calibri" pitchFamily="34" charset="-120"/>
              </a:rPr>
              <a:t>Pengingat suara</a:t>
            </a:r>
            <a:endParaRPr lang="en-US" sz="1000" dirty="0"/>
          </a:p>
        </p:txBody>
      </p:sp>
      <p:sp>
        <p:nvSpPr>
          <p:cNvPr id="27" name="Text 23"/>
          <p:cNvSpPr txBox="1"/>
          <p:nvPr/>
        </p:nvSpPr>
        <p:spPr>
          <a:xfrm>
            <a:off x="6126480" y="1463040"/>
            <a:ext cx="2560320" cy="182880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Letakkan setiap ide pada kotak yang sesuai. Pilih ide di kotak hijau.</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Prototype Kertas: Sketsa Layar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40080" y="1143000"/>
            <a:ext cx="1737360" cy="3017520"/>
          </a:xfrm>
          <a:prstGeom prst="roundRect">
            <a:avLst>
              <a:gd name="adj" fmla="val 6316"/>
            </a:avLst>
          </a:prstGeom>
          <a:solidFill>
            <a:srgbClr val="FFFFFF"/>
          </a:solidFill>
          <a:ln w="19050">
            <a:solidFill>
              <a:srgbClr val="333333"/>
            </a:solidFill>
            <a:prstDash val="solid"/>
          </a:ln>
        </p:spPr>
      </p:sp>
      <p:sp>
        <p:nvSpPr>
          <p:cNvPr id="10" name="Shape 6"/>
          <p:cNvSpPr/>
          <p:nvPr/>
        </p:nvSpPr>
        <p:spPr>
          <a:xfrm>
            <a:off x="713232" y="1234440"/>
            <a:ext cx="1591056" cy="274320"/>
          </a:xfrm>
          <a:prstGeom prst="rect">
            <a:avLst/>
          </a:prstGeom>
          <a:solidFill>
            <a:srgbClr val="FFFFFF"/>
          </a:solidFill>
          <a:ln w="12700">
            <a:solidFill>
              <a:srgbClr val="333333"/>
            </a:solidFill>
            <a:prstDash val="solid"/>
          </a:ln>
        </p:spPr>
      </p:sp>
      <p:sp>
        <p:nvSpPr>
          <p:cNvPr id="11" name="Text 7"/>
          <p:cNvSpPr txBox="1"/>
          <p:nvPr/>
        </p:nvSpPr>
        <p:spPr>
          <a:xfrm>
            <a:off x="731520" y="1234440"/>
            <a:ext cx="1554480" cy="274320"/>
          </a:xfrm>
          <a:prstGeom prst="rect">
            <a:avLst/>
          </a:prstGeom>
          <a:noFill/>
          <a:ln/>
        </p:spPr>
        <p:txBody>
          <a:bodyPr wrap="square" lIns="0" tIns="0" rIns="0" bIns="0" rtlCol="0" anchor="ctr"/>
          <a:lstStyle/>
          <a:p>
            <a:pPr algn="ctr" indent="0" marL="0">
              <a:buNone/>
            </a:pPr>
            <a:r>
              <a:rPr lang="en-US" sz="900" b="1" dirty="0">
                <a:solidFill>
                  <a:srgbClr val="1E2A26"/>
                </a:solidFill>
                <a:latin typeface="Arial" pitchFamily="34" charset="0"/>
                <a:ea typeface="Arial" pitchFamily="34" charset="-122"/>
                <a:cs typeface="Arial" pitchFamily="34" charset="-120"/>
              </a:rPr>
              <a:t>Setoran Hari Ini</a:t>
            </a:r>
            <a:endParaRPr lang="en-US" sz="900" dirty="0"/>
          </a:p>
        </p:txBody>
      </p:sp>
      <p:sp>
        <p:nvSpPr>
          <p:cNvPr id="12" name="Shape 8"/>
          <p:cNvSpPr/>
          <p:nvPr/>
        </p:nvSpPr>
        <p:spPr>
          <a:xfrm>
            <a:off x="749808" y="1600200"/>
            <a:ext cx="1517904" cy="256032"/>
          </a:xfrm>
          <a:prstGeom prst="rect">
            <a:avLst/>
          </a:prstGeom>
          <a:solidFill>
            <a:srgbClr val="FFFFFF"/>
          </a:solidFill>
          <a:ln w="9525">
            <a:solidFill>
              <a:srgbClr val="777777"/>
            </a:solidFill>
            <a:prstDash val="dash"/>
          </a:ln>
        </p:spPr>
      </p:sp>
      <p:sp>
        <p:nvSpPr>
          <p:cNvPr id="13" name="Text 9"/>
          <p:cNvSpPr txBox="1"/>
          <p:nvPr/>
        </p:nvSpPr>
        <p:spPr>
          <a:xfrm>
            <a:off x="786384" y="1600200"/>
            <a:ext cx="1463040" cy="256032"/>
          </a:xfrm>
          <a:prstGeom prst="rect">
            <a:avLst/>
          </a:prstGeom>
          <a:noFill/>
          <a:ln/>
        </p:spPr>
        <p:txBody>
          <a:bodyPr wrap="square" lIns="0" tIns="0" rIns="0" bIns="0" rtlCol="0" anchor="ctr"/>
          <a:lstStyle/>
          <a:p>
            <a:pPr indent="0" marL="0">
              <a:buNone/>
            </a:pPr>
            <a:r>
              <a:rPr lang="en-US" sz="750" dirty="0">
                <a:solidFill>
                  <a:srgbClr val="1155CC"/>
                </a:solidFill>
                <a:latin typeface="Arial" pitchFamily="34" charset="0"/>
                <a:ea typeface="Arial" pitchFamily="34" charset="-122"/>
                <a:cs typeface="Arial" pitchFamily="34" charset="-120"/>
              </a:rPr>
              <a:t>Juz 30: An-Naba 1–20</a:t>
            </a:r>
            <a:endParaRPr lang="en-US" sz="750" dirty="0"/>
          </a:p>
        </p:txBody>
      </p:sp>
      <p:sp>
        <p:nvSpPr>
          <p:cNvPr id="14" name="Shape 10"/>
          <p:cNvSpPr/>
          <p:nvPr/>
        </p:nvSpPr>
        <p:spPr>
          <a:xfrm>
            <a:off x="749808" y="1920240"/>
            <a:ext cx="1517904" cy="256032"/>
          </a:xfrm>
          <a:prstGeom prst="rect">
            <a:avLst/>
          </a:prstGeom>
          <a:solidFill>
            <a:srgbClr val="FFFFFF"/>
          </a:solidFill>
          <a:ln w="9525">
            <a:solidFill>
              <a:srgbClr val="777777"/>
            </a:solidFill>
            <a:prstDash val="dash"/>
          </a:ln>
        </p:spPr>
      </p:sp>
      <p:sp>
        <p:nvSpPr>
          <p:cNvPr id="15" name="Text 11"/>
          <p:cNvSpPr txBox="1"/>
          <p:nvPr/>
        </p:nvSpPr>
        <p:spPr>
          <a:xfrm>
            <a:off x="786384" y="1920240"/>
            <a:ext cx="1463040" cy="256032"/>
          </a:xfrm>
          <a:prstGeom prst="rect">
            <a:avLst/>
          </a:prstGeom>
          <a:noFill/>
          <a:ln/>
        </p:spPr>
        <p:txBody>
          <a:bodyPr wrap="square" lIns="0" tIns="0" rIns="0" bIns="0" rtlCol="0" anchor="ctr"/>
          <a:lstStyle/>
          <a:p>
            <a:pPr indent="0" marL="0">
              <a:buNone/>
            </a:pPr>
            <a:r>
              <a:rPr lang="en-US" sz="750" dirty="0">
                <a:solidFill>
                  <a:srgbClr val="1155CC"/>
                </a:solidFill>
                <a:latin typeface="Arial" pitchFamily="34" charset="0"/>
                <a:ea typeface="Arial" pitchFamily="34" charset="-122"/>
                <a:cs typeface="Arial" pitchFamily="34" charset="-120"/>
              </a:rPr>
              <a:t>Target: 20 ayat</a:t>
            </a:r>
            <a:endParaRPr lang="en-US" sz="750" dirty="0"/>
          </a:p>
        </p:txBody>
      </p:sp>
      <p:sp>
        <p:nvSpPr>
          <p:cNvPr id="16" name="Shape 12"/>
          <p:cNvSpPr/>
          <p:nvPr/>
        </p:nvSpPr>
        <p:spPr>
          <a:xfrm>
            <a:off x="749808" y="2240280"/>
            <a:ext cx="1517904" cy="256032"/>
          </a:xfrm>
          <a:prstGeom prst="rect">
            <a:avLst/>
          </a:prstGeom>
          <a:solidFill>
            <a:srgbClr val="FFFFFF"/>
          </a:solidFill>
          <a:ln w="9525">
            <a:solidFill>
              <a:srgbClr val="777777"/>
            </a:solidFill>
            <a:prstDash val="dash"/>
          </a:ln>
        </p:spPr>
      </p:sp>
      <p:sp>
        <p:nvSpPr>
          <p:cNvPr id="17" name="Text 13"/>
          <p:cNvSpPr txBox="1"/>
          <p:nvPr/>
        </p:nvSpPr>
        <p:spPr>
          <a:xfrm>
            <a:off x="786384" y="2240280"/>
            <a:ext cx="1463040" cy="256032"/>
          </a:xfrm>
          <a:prstGeom prst="rect">
            <a:avLst/>
          </a:prstGeom>
          <a:noFill/>
          <a:ln/>
        </p:spPr>
        <p:txBody>
          <a:bodyPr wrap="square" lIns="0" tIns="0" rIns="0" bIns="0" rtlCol="0" anchor="ctr"/>
          <a:lstStyle/>
          <a:p>
            <a:pPr indent="0" marL="0">
              <a:buNone/>
            </a:pPr>
            <a:r>
              <a:rPr lang="en-US" sz="750" dirty="0">
                <a:solidFill>
                  <a:srgbClr val="1155CC"/>
                </a:solidFill>
                <a:latin typeface="Arial" pitchFamily="34" charset="0"/>
                <a:ea typeface="Arial" pitchFamily="34" charset="-122"/>
                <a:cs typeface="Arial" pitchFamily="34" charset="-120"/>
              </a:rPr>
              <a:t>Murajaah: Al-Mulk</a:t>
            </a:r>
            <a:endParaRPr lang="en-US" sz="750" dirty="0"/>
          </a:p>
        </p:txBody>
      </p:sp>
      <p:sp>
        <p:nvSpPr>
          <p:cNvPr id="18" name="Shape 14"/>
          <p:cNvSpPr/>
          <p:nvPr/>
        </p:nvSpPr>
        <p:spPr>
          <a:xfrm>
            <a:off x="822960" y="3776472"/>
            <a:ext cx="1371600" cy="256032"/>
          </a:xfrm>
          <a:prstGeom prst="roundRect">
            <a:avLst>
              <a:gd name="adj" fmla="val 50000"/>
            </a:avLst>
          </a:prstGeom>
          <a:solidFill>
            <a:srgbClr val="FFFFFF"/>
          </a:solidFill>
          <a:ln w="15875">
            <a:solidFill>
              <a:srgbClr val="333333"/>
            </a:solidFill>
            <a:prstDash val="solid"/>
          </a:ln>
        </p:spPr>
      </p:sp>
      <p:sp>
        <p:nvSpPr>
          <p:cNvPr id="19" name="Text 15"/>
          <p:cNvSpPr txBox="1"/>
          <p:nvPr/>
        </p:nvSpPr>
        <p:spPr>
          <a:xfrm>
            <a:off x="822960" y="3776472"/>
            <a:ext cx="1371600" cy="256032"/>
          </a:xfrm>
          <a:prstGeom prst="rect">
            <a:avLst/>
          </a:prstGeom>
          <a:noFill/>
          <a:ln/>
        </p:spPr>
        <p:txBody>
          <a:bodyPr wrap="square" lIns="0" tIns="0" rIns="0" bIns="0" rtlCol="0" anchor="ctr"/>
          <a:lstStyle/>
          <a:p>
            <a:pPr algn="ctr" indent="0" marL="0">
              <a:buNone/>
            </a:pPr>
            <a:r>
              <a:rPr lang="en-US" sz="800" b="1" dirty="0">
                <a:solidFill>
                  <a:srgbClr val="1E2A26"/>
                </a:solidFill>
                <a:latin typeface="Arial" pitchFamily="34" charset="0"/>
                <a:ea typeface="Arial" pitchFamily="34" charset="-122"/>
                <a:cs typeface="Arial" pitchFamily="34" charset="-120"/>
              </a:rPr>
              <a:t>Sudah Setor ✓</a:t>
            </a:r>
            <a:endParaRPr lang="en-US" sz="800" dirty="0"/>
          </a:p>
        </p:txBody>
      </p:sp>
      <p:sp>
        <p:nvSpPr>
          <p:cNvPr id="20" name="Text 16"/>
          <p:cNvSpPr txBox="1"/>
          <p:nvPr/>
        </p:nvSpPr>
        <p:spPr>
          <a:xfrm>
            <a:off x="2514600" y="2286000"/>
            <a:ext cx="457200" cy="457200"/>
          </a:xfrm>
          <a:prstGeom prst="rect">
            <a:avLst/>
          </a:prstGeom>
          <a:noFill/>
          <a:ln/>
        </p:spPr>
        <p:txBody>
          <a:bodyPr wrap="square" lIns="0" tIns="0" rIns="0" bIns="0" rtlCol="0" anchor="t"/>
          <a:lstStyle/>
          <a:p>
            <a:pPr algn="ctr" indent="0" marL="0">
              <a:buNone/>
            </a:pPr>
            <a:r>
              <a:rPr lang="en-US" sz="2400" b="1" dirty="0">
                <a:solidFill>
                  <a:srgbClr val="D4A017"/>
                </a:solidFill>
                <a:latin typeface="Calibri" pitchFamily="34" charset="0"/>
                <a:ea typeface="Calibri" pitchFamily="34" charset="-122"/>
                <a:cs typeface="Calibri" pitchFamily="34" charset="-120"/>
              </a:rPr>
              <a:t>→</a:t>
            </a:r>
            <a:endParaRPr lang="en-US" sz="2400" dirty="0"/>
          </a:p>
        </p:txBody>
      </p:sp>
      <p:sp>
        <p:nvSpPr>
          <p:cNvPr id="21" name="Shape 17"/>
          <p:cNvSpPr/>
          <p:nvPr/>
        </p:nvSpPr>
        <p:spPr>
          <a:xfrm>
            <a:off x="3017520" y="1143000"/>
            <a:ext cx="1737360" cy="3017520"/>
          </a:xfrm>
          <a:prstGeom prst="roundRect">
            <a:avLst>
              <a:gd name="adj" fmla="val 6316"/>
            </a:avLst>
          </a:prstGeom>
          <a:solidFill>
            <a:srgbClr val="FFFFFF"/>
          </a:solidFill>
          <a:ln w="19050">
            <a:solidFill>
              <a:srgbClr val="333333"/>
            </a:solidFill>
            <a:prstDash val="solid"/>
          </a:ln>
        </p:spPr>
      </p:sp>
      <p:sp>
        <p:nvSpPr>
          <p:cNvPr id="22" name="Shape 18"/>
          <p:cNvSpPr/>
          <p:nvPr/>
        </p:nvSpPr>
        <p:spPr>
          <a:xfrm>
            <a:off x="3090672" y="1234440"/>
            <a:ext cx="1591056" cy="274320"/>
          </a:xfrm>
          <a:prstGeom prst="rect">
            <a:avLst/>
          </a:prstGeom>
          <a:solidFill>
            <a:srgbClr val="FFFFFF"/>
          </a:solidFill>
          <a:ln w="12700">
            <a:solidFill>
              <a:srgbClr val="333333"/>
            </a:solidFill>
            <a:prstDash val="solid"/>
          </a:ln>
        </p:spPr>
      </p:sp>
      <p:sp>
        <p:nvSpPr>
          <p:cNvPr id="23" name="Text 19"/>
          <p:cNvSpPr txBox="1"/>
          <p:nvPr/>
        </p:nvSpPr>
        <p:spPr>
          <a:xfrm>
            <a:off x="3108960" y="1234440"/>
            <a:ext cx="1554480" cy="274320"/>
          </a:xfrm>
          <a:prstGeom prst="rect">
            <a:avLst/>
          </a:prstGeom>
          <a:noFill/>
          <a:ln/>
        </p:spPr>
        <p:txBody>
          <a:bodyPr wrap="square" lIns="0" tIns="0" rIns="0" bIns="0" rtlCol="0" anchor="ctr"/>
          <a:lstStyle/>
          <a:p>
            <a:pPr algn="ctr" indent="0" marL="0">
              <a:buNone/>
            </a:pPr>
            <a:r>
              <a:rPr lang="en-US" sz="900" b="1" dirty="0">
                <a:solidFill>
                  <a:srgbClr val="1E2A26"/>
                </a:solidFill>
                <a:latin typeface="Arial" pitchFamily="34" charset="0"/>
                <a:ea typeface="Arial" pitchFamily="34" charset="-122"/>
                <a:cs typeface="Arial" pitchFamily="34" charset="-120"/>
              </a:rPr>
              <a:t>Riwayat Pekan Ini</a:t>
            </a:r>
            <a:endParaRPr lang="en-US" sz="900" dirty="0"/>
          </a:p>
        </p:txBody>
      </p:sp>
      <p:sp>
        <p:nvSpPr>
          <p:cNvPr id="24" name="Shape 20"/>
          <p:cNvSpPr/>
          <p:nvPr/>
        </p:nvSpPr>
        <p:spPr>
          <a:xfrm>
            <a:off x="3127248" y="1600200"/>
            <a:ext cx="1517904" cy="256032"/>
          </a:xfrm>
          <a:prstGeom prst="rect">
            <a:avLst/>
          </a:prstGeom>
          <a:solidFill>
            <a:srgbClr val="FFFFFF"/>
          </a:solidFill>
          <a:ln w="9525">
            <a:solidFill>
              <a:srgbClr val="777777"/>
            </a:solidFill>
            <a:prstDash val="dash"/>
          </a:ln>
        </p:spPr>
      </p:sp>
      <p:sp>
        <p:nvSpPr>
          <p:cNvPr id="25" name="Text 21"/>
          <p:cNvSpPr txBox="1"/>
          <p:nvPr/>
        </p:nvSpPr>
        <p:spPr>
          <a:xfrm>
            <a:off x="3163824" y="1600200"/>
            <a:ext cx="1463040" cy="256032"/>
          </a:xfrm>
          <a:prstGeom prst="rect">
            <a:avLst/>
          </a:prstGeom>
          <a:noFill/>
          <a:ln/>
        </p:spPr>
        <p:txBody>
          <a:bodyPr wrap="square" lIns="0" tIns="0" rIns="0" bIns="0" rtlCol="0" anchor="ctr"/>
          <a:lstStyle/>
          <a:p>
            <a:pPr indent="0" marL="0">
              <a:buNone/>
            </a:pPr>
            <a:r>
              <a:rPr lang="en-US" sz="750" dirty="0">
                <a:solidFill>
                  <a:srgbClr val="1155CC"/>
                </a:solidFill>
                <a:latin typeface="Arial" pitchFamily="34" charset="0"/>
                <a:ea typeface="Arial" pitchFamily="34" charset="-122"/>
                <a:cs typeface="Arial" pitchFamily="34" charset="-120"/>
              </a:rPr>
              <a:t>Ahad ✓</a:t>
            </a:r>
            <a:endParaRPr lang="en-US" sz="750" dirty="0"/>
          </a:p>
        </p:txBody>
      </p:sp>
      <p:sp>
        <p:nvSpPr>
          <p:cNvPr id="26" name="Shape 22"/>
          <p:cNvSpPr/>
          <p:nvPr/>
        </p:nvSpPr>
        <p:spPr>
          <a:xfrm>
            <a:off x="3127248" y="1920240"/>
            <a:ext cx="1517904" cy="256032"/>
          </a:xfrm>
          <a:prstGeom prst="rect">
            <a:avLst/>
          </a:prstGeom>
          <a:solidFill>
            <a:srgbClr val="FFFFFF"/>
          </a:solidFill>
          <a:ln w="9525">
            <a:solidFill>
              <a:srgbClr val="777777"/>
            </a:solidFill>
            <a:prstDash val="dash"/>
          </a:ln>
        </p:spPr>
      </p:sp>
      <p:sp>
        <p:nvSpPr>
          <p:cNvPr id="27" name="Text 23"/>
          <p:cNvSpPr txBox="1"/>
          <p:nvPr/>
        </p:nvSpPr>
        <p:spPr>
          <a:xfrm>
            <a:off x="3163824" y="1920240"/>
            <a:ext cx="1463040" cy="256032"/>
          </a:xfrm>
          <a:prstGeom prst="rect">
            <a:avLst/>
          </a:prstGeom>
          <a:noFill/>
          <a:ln/>
        </p:spPr>
        <p:txBody>
          <a:bodyPr wrap="square" lIns="0" tIns="0" rIns="0" bIns="0" rtlCol="0" anchor="ctr"/>
          <a:lstStyle/>
          <a:p>
            <a:pPr indent="0" marL="0">
              <a:buNone/>
            </a:pPr>
            <a:r>
              <a:rPr lang="en-US" sz="750" dirty="0">
                <a:solidFill>
                  <a:srgbClr val="1155CC"/>
                </a:solidFill>
                <a:latin typeface="Arial" pitchFamily="34" charset="0"/>
                <a:ea typeface="Arial" pitchFamily="34" charset="-122"/>
                <a:cs typeface="Arial" pitchFamily="34" charset="-120"/>
              </a:rPr>
              <a:t>Senin ✓</a:t>
            </a:r>
            <a:endParaRPr lang="en-US" sz="750" dirty="0"/>
          </a:p>
        </p:txBody>
      </p:sp>
      <p:sp>
        <p:nvSpPr>
          <p:cNvPr id="28" name="Shape 24"/>
          <p:cNvSpPr/>
          <p:nvPr/>
        </p:nvSpPr>
        <p:spPr>
          <a:xfrm>
            <a:off x="3127248" y="2240280"/>
            <a:ext cx="1517904" cy="256032"/>
          </a:xfrm>
          <a:prstGeom prst="rect">
            <a:avLst/>
          </a:prstGeom>
          <a:solidFill>
            <a:srgbClr val="FFFFFF"/>
          </a:solidFill>
          <a:ln w="9525">
            <a:solidFill>
              <a:srgbClr val="777777"/>
            </a:solidFill>
            <a:prstDash val="dash"/>
          </a:ln>
        </p:spPr>
      </p:sp>
      <p:sp>
        <p:nvSpPr>
          <p:cNvPr id="29" name="Text 25"/>
          <p:cNvSpPr txBox="1"/>
          <p:nvPr/>
        </p:nvSpPr>
        <p:spPr>
          <a:xfrm>
            <a:off x="3163824" y="2240280"/>
            <a:ext cx="1463040" cy="256032"/>
          </a:xfrm>
          <a:prstGeom prst="rect">
            <a:avLst/>
          </a:prstGeom>
          <a:noFill/>
          <a:ln/>
        </p:spPr>
        <p:txBody>
          <a:bodyPr wrap="square" lIns="0" tIns="0" rIns="0" bIns="0" rtlCol="0" anchor="ctr"/>
          <a:lstStyle/>
          <a:p>
            <a:pPr indent="0" marL="0">
              <a:buNone/>
            </a:pPr>
            <a:r>
              <a:rPr lang="en-US" sz="750" dirty="0">
                <a:solidFill>
                  <a:srgbClr val="1155CC"/>
                </a:solidFill>
                <a:latin typeface="Arial" pitchFamily="34" charset="0"/>
                <a:ea typeface="Arial" pitchFamily="34" charset="-122"/>
                <a:cs typeface="Arial" pitchFamily="34" charset="-120"/>
              </a:rPr>
              <a:t>Selasa ✗</a:t>
            </a:r>
            <a:endParaRPr lang="en-US" sz="750" dirty="0"/>
          </a:p>
        </p:txBody>
      </p:sp>
      <p:sp>
        <p:nvSpPr>
          <p:cNvPr id="30" name="Shape 26"/>
          <p:cNvSpPr/>
          <p:nvPr/>
        </p:nvSpPr>
        <p:spPr>
          <a:xfrm>
            <a:off x="3127248" y="2560320"/>
            <a:ext cx="1517904" cy="256032"/>
          </a:xfrm>
          <a:prstGeom prst="rect">
            <a:avLst/>
          </a:prstGeom>
          <a:solidFill>
            <a:srgbClr val="FFFFFF"/>
          </a:solidFill>
          <a:ln w="9525">
            <a:solidFill>
              <a:srgbClr val="777777"/>
            </a:solidFill>
            <a:prstDash val="dash"/>
          </a:ln>
        </p:spPr>
      </p:sp>
      <p:sp>
        <p:nvSpPr>
          <p:cNvPr id="31" name="Text 27"/>
          <p:cNvSpPr txBox="1"/>
          <p:nvPr/>
        </p:nvSpPr>
        <p:spPr>
          <a:xfrm>
            <a:off x="3163824" y="2560320"/>
            <a:ext cx="1463040" cy="256032"/>
          </a:xfrm>
          <a:prstGeom prst="rect">
            <a:avLst/>
          </a:prstGeom>
          <a:noFill/>
          <a:ln/>
        </p:spPr>
        <p:txBody>
          <a:bodyPr wrap="square" lIns="0" tIns="0" rIns="0" bIns="0" rtlCol="0" anchor="ctr"/>
          <a:lstStyle/>
          <a:p>
            <a:pPr indent="0" marL="0">
              <a:buNone/>
            </a:pPr>
            <a:r>
              <a:rPr lang="en-US" sz="750" dirty="0">
                <a:solidFill>
                  <a:srgbClr val="1155CC"/>
                </a:solidFill>
                <a:latin typeface="Arial" pitchFamily="34" charset="0"/>
                <a:ea typeface="Arial" pitchFamily="34" charset="-122"/>
                <a:cs typeface="Arial" pitchFamily="34" charset="-120"/>
              </a:rPr>
              <a:t>Rabu ✓</a:t>
            </a:r>
            <a:endParaRPr lang="en-US" sz="750" dirty="0"/>
          </a:p>
        </p:txBody>
      </p:sp>
      <p:sp>
        <p:nvSpPr>
          <p:cNvPr id="32" name="Shape 28"/>
          <p:cNvSpPr/>
          <p:nvPr/>
        </p:nvSpPr>
        <p:spPr>
          <a:xfrm>
            <a:off x="3200400" y="3776472"/>
            <a:ext cx="1371600" cy="256032"/>
          </a:xfrm>
          <a:prstGeom prst="roundRect">
            <a:avLst>
              <a:gd name="adj" fmla="val 50000"/>
            </a:avLst>
          </a:prstGeom>
          <a:solidFill>
            <a:srgbClr val="FFFFFF"/>
          </a:solidFill>
          <a:ln w="15875">
            <a:solidFill>
              <a:srgbClr val="333333"/>
            </a:solidFill>
            <a:prstDash val="solid"/>
          </a:ln>
        </p:spPr>
      </p:sp>
      <p:sp>
        <p:nvSpPr>
          <p:cNvPr id="33" name="Text 29"/>
          <p:cNvSpPr txBox="1"/>
          <p:nvPr/>
        </p:nvSpPr>
        <p:spPr>
          <a:xfrm>
            <a:off x="3200400" y="3776472"/>
            <a:ext cx="1371600" cy="256032"/>
          </a:xfrm>
          <a:prstGeom prst="rect">
            <a:avLst/>
          </a:prstGeom>
          <a:noFill/>
          <a:ln/>
        </p:spPr>
        <p:txBody>
          <a:bodyPr wrap="square" lIns="0" tIns="0" rIns="0" bIns="0" rtlCol="0" anchor="ctr"/>
          <a:lstStyle/>
          <a:p>
            <a:pPr algn="ctr" indent="0" marL="0">
              <a:buNone/>
            </a:pPr>
            <a:r>
              <a:rPr lang="en-US" sz="800" b="1" dirty="0">
                <a:solidFill>
                  <a:srgbClr val="1E2A26"/>
                </a:solidFill>
                <a:latin typeface="Arial" pitchFamily="34" charset="0"/>
                <a:ea typeface="Arial" pitchFamily="34" charset="-122"/>
                <a:cs typeface="Arial" pitchFamily="34" charset="-120"/>
              </a:rPr>
              <a:t>Kembali</a:t>
            </a:r>
            <a:endParaRPr lang="en-US" sz="800" dirty="0"/>
          </a:p>
        </p:txBody>
      </p:sp>
      <p:sp>
        <p:nvSpPr>
          <p:cNvPr id="34" name="Shape 30"/>
          <p:cNvSpPr/>
          <p:nvPr/>
        </p:nvSpPr>
        <p:spPr>
          <a:xfrm>
            <a:off x="5120640" y="1143000"/>
            <a:ext cx="3566160" cy="3017520"/>
          </a:xfrm>
          <a:prstGeom prst="roundRect">
            <a:avLst>
              <a:gd name="adj" fmla="val 3030"/>
            </a:avLst>
          </a:prstGeom>
          <a:solidFill>
            <a:srgbClr val="E6F2EC"/>
          </a:solidFill>
          <a:ln w="12700">
            <a:solidFill>
              <a:srgbClr val="E6F2EC"/>
            </a:solidFill>
            <a:prstDash val="solid"/>
          </a:ln>
        </p:spPr>
      </p:sp>
      <p:sp>
        <p:nvSpPr>
          <p:cNvPr id="35" name="Text 31"/>
          <p:cNvSpPr txBox="1"/>
          <p:nvPr/>
        </p:nvSpPr>
        <p:spPr>
          <a:xfrm>
            <a:off x="5303520" y="1234440"/>
            <a:ext cx="3200400" cy="365760"/>
          </a:xfrm>
          <a:prstGeom prst="rect">
            <a:avLst/>
          </a:prstGeom>
          <a:noFill/>
          <a:ln/>
        </p:spPr>
        <p:txBody>
          <a:bodyPr wrap="square" lIns="0" tIns="0" rIns="0" bIns="0" rtlCol="0" anchor="t"/>
          <a:lstStyle/>
          <a:p>
            <a:pPr indent="0" marL="0">
              <a:buNone/>
            </a:pPr>
            <a:r>
              <a:rPr lang="en-US" sz="1500" b="1" dirty="0">
                <a:solidFill>
                  <a:srgbClr val="0F4C3A"/>
                </a:solidFill>
                <a:latin typeface="Cambria" pitchFamily="34" charset="0"/>
                <a:ea typeface="Cambria" pitchFamily="34" charset="-122"/>
                <a:cs typeface="Cambria" pitchFamily="34" charset="-120"/>
              </a:rPr>
              <a:t>Ciri prototype kertas</a:t>
            </a:r>
            <a:endParaRPr lang="en-US" sz="1500" dirty="0"/>
          </a:p>
        </p:txBody>
      </p:sp>
      <p:sp>
        <p:nvSpPr>
          <p:cNvPr id="36" name="Shape 32"/>
          <p:cNvSpPr/>
          <p:nvPr/>
        </p:nvSpPr>
        <p:spPr>
          <a:xfrm>
            <a:off x="5349240" y="1783080"/>
            <a:ext cx="146304" cy="146304"/>
          </a:xfrm>
          <a:prstGeom prst="ellipse">
            <a:avLst/>
          </a:prstGeom>
          <a:solidFill>
            <a:srgbClr val="D4A017"/>
          </a:solidFill>
          <a:ln/>
        </p:spPr>
      </p:sp>
      <p:sp>
        <p:nvSpPr>
          <p:cNvPr id="37" name="Text 33"/>
          <p:cNvSpPr txBox="1"/>
          <p:nvPr/>
        </p:nvSpPr>
        <p:spPr>
          <a:xfrm>
            <a:off x="5577840" y="1691640"/>
            <a:ext cx="3017520" cy="41148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Cepat dan murah: kertas dan pensil</a:t>
            </a:r>
            <a:endParaRPr lang="en-US" sz="1250" dirty="0"/>
          </a:p>
        </p:txBody>
      </p:sp>
      <p:sp>
        <p:nvSpPr>
          <p:cNvPr id="38" name="Shape 34"/>
          <p:cNvSpPr/>
          <p:nvPr/>
        </p:nvSpPr>
        <p:spPr>
          <a:xfrm>
            <a:off x="5349240" y="2331720"/>
            <a:ext cx="146304" cy="146304"/>
          </a:xfrm>
          <a:prstGeom prst="ellipse">
            <a:avLst/>
          </a:prstGeom>
          <a:solidFill>
            <a:srgbClr val="D4A017"/>
          </a:solidFill>
          <a:ln/>
        </p:spPr>
      </p:sp>
      <p:sp>
        <p:nvSpPr>
          <p:cNvPr id="39" name="Text 35"/>
          <p:cNvSpPr txBox="1"/>
          <p:nvPr/>
        </p:nvSpPr>
        <p:spPr>
          <a:xfrm>
            <a:off x="5577840" y="2240280"/>
            <a:ext cx="3017520" cy="41148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Kotak = tombol atau kolom isian</a:t>
            </a:r>
            <a:endParaRPr lang="en-US" sz="1250" dirty="0"/>
          </a:p>
        </p:txBody>
      </p:sp>
      <p:sp>
        <p:nvSpPr>
          <p:cNvPr id="40" name="Shape 36"/>
          <p:cNvSpPr/>
          <p:nvPr/>
        </p:nvSpPr>
        <p:spPr>
          <a:xfrm>
            <a:off x="5349240" y="2880360"/>
            <a:ext cx="146304" cy="146304"/>
          </a:xfrm>
          <a:prstGeom prst="ellipse">
            <a:avLst/>
          </a:prstGeom>
          <a:solidFill>
            <a:srgbClr val="D4A017"/>
          </a:solidFill>
          <a:ln/>
        </p:spPr>
      </p:sp>
      <p:sp>
        <p:nvSpPr>
          <p:cNvPr id="41" name="Text 37"/>
          <p:cNvSpPr txBox="1"/>
          <p:nvPr/>
        </p:nvSpPr>
        <p:spPr>
          <a:xfrm>
            <a:off x="5577840" y="2788920"/>
            <a:ext cx="3017520" cy="41148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Satu kertas = satu layar</a:t>
            </a:r>
            <a:endParaRPr lang="en-US" sz="1250" dirty="0"/>
          </a:p>
        </p:txBody>
      </p:sp>
      <p:sp>
        <p:nvSpPr>
          <p:cNvPr id="42" name="Shape 38"/>
          <p:cNvSpPr/>
          <p:nvPr/>
        </p:nvSpPr>
        <p:spPr>
          <a:xfrm>
            <a:off x="5349240" y="3429000"/>
            <a:ext cx="146304" cy="146304"/>
          </a:xfrm>
          <a:prstGeom prst="ellipse">
            <a:avLst/>
          </a:prstGeom>
          <a:solidFill>
            <a:srgbClr val="D4A017"/>
          </a:solidFill>
          <a:ln/>
        </p:spPr>
      </p:sp>
      <p:sp>
        <p:nvSpPr>
          <p:cNvPr id="43" name="Text 39"/>
          <p:cNvSpPr txBox="1"/>
          <p:nvPr/>
        </p:nvSpPr>
        <p:spPr>
          <a:xfrm>
            <a:off x="5577840" y="3337560"/>
            <a:ext cx="3017520" cy="41148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Mudah diubah sebelum ditulis kodenya</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Dari Ide ke Sketsa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kertas dan sticky notes</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Brainstorming dan memilih ide</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Sketsa layar</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Uji sketsa dengan pengguna</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Ide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548640" y="1325880"/>
            <a:ext cx="1188720" cy="1005840"/>
          </a:xfrm>
          <a:prstGeom prst="rect">
            <a:avLst/>
          </a:prstGeom>
          <a:solidFill>
            <a:srgbClr val="FFF59D"/>
          </a:solidFill>
          <a:ln w="12700">
            <a:solidFill>
              <a:srgbClr val="FFF59D"/>
            </a:solidFill>
            <a:prstDash val="solid"/>
          </a:ln>
        </p:spPr>
      </p:sp>
      <p:sp>
        <p:nvSpPr>
          <p:cNvPr id="10" name="Text 6"/>
          <p:cNvSpPr txBox="1"/>
          <p:nvPr/>
        </p:nvSpPr>
        <p:spPr>
          <a:xfrm>
            <a:off x="594360" y="1325880"/>
            <a:ext cx="1097280" cy="1005840"/>
          </a:xfrm>
          <a:prstGeom prst="rect">
            <a:avLst/>
          </a:prstGeom>
          <a:noFill/>
          <a:ln/>
        </p:spPr>
        <p:txBody>
          <a:bodyPr wrap="square" lIns="0" tIns="0" rIns="0" bIns="0" rtlCol="0" anchor="ctr"/>
          <a:lstStyle/>
          <a:p>
            <a:pPr algn="ctr" indent="0" marL="0">
              <a:buNone/>
            </a:pPr>
            <a:r>
              <a:rPr lang="en-US" sz="1100" dirty="0">
                <a:solidFill>
                  <a:srgbClr val="1E2A26"/>
                </a:solidFill>
                <a:latin typeface="Arial" pitchFamily="34" charset="0"/>
                <a:ea typeface="Arial" pitchFamily="34" charset="-122"/>
                <a:cs typeface="Arial" pitchFamily="34" charset="-120"/>
              </a:rPr>
              <a:t>Web jadwal setoran</a:t>
            </a:r>
            <a:endParaRPr lang="en-US" sz="1100" dirty="0"/>
          </a:p>
        </p:txBody>
      </p:sp>
      <p:sp>
        <p:nvSpPr>
          <p:cNvPr id="11" name="Shape 7"/>
          <p:cNvSpPr/>
          <p:nvPr/>
        </p:nvSpPr>
        <p:spPr>
          <a:xfrm>
            <a:off x="1874520" y="1325880"/>
            <a:ext cx="1188720" cy="1005840"/>
          </a:xfrm>
          <a:prstGeom prst="rect">
            <a:avLst/>
          </a:prstGeom>
          <a:solidFill>
            <a:srgbClr val="FFE0B2"/>
          </a:solidFill>
          <a:ln w="12700">
            <a:solidFill>
              <a:srgbClr val="FFE0B2"/>
            </a:solidFill>
            <a:prstDash val="solid"/>
          </a:ln>
        </p:spPr>
      </p:sp>
      <p:sp>
        <p:nvSpPr>
          <p:cNvPr id="12" name="Text 8"/>
          <p:cNvSpPr txBox="1"/>
          <p:nvPr/>
        </p:nvSpPr>
        <p:spPr>
          <a:xfrm>
            <a:off x="1920240" y="1325880"/>
            <a:ext cx="1097280" cy="1005840"/>
          </a:xfrm>
          <a:prstGeom prst="rect">
            <a:avLst/>
          </a:prstGeom>
          <a:noFill/>
          <a:ln/>
        </p:spPr>
        <p:txBody>
          <a:bodyPr wrap="square" lIns="0" tIns="0" rIns="0" bIns="0" rtlCol="0" anchor="ctr"/>
          <a:lstStyle/>
          <a:p>
            <a:pPr algn="ctr" indent="0" marL="0">
              <a:buNone/>
            </a:pPr>
            <a:r>
              <a:rPr lang="en-US" sz="1100" dirty="0">
                <a:solidFill>
                  <a:srgbClr val="1E2A26"/>
                </a:solidFill>
                <a:latin typeface="Arial" pitchFamily="34" charset="0"/>
                <a:ea typeface="Arial" pitchFamily="34" charset="-122"/>
                <a:cs typeface="Arial" pitchFamily="34" charset="-120"/>
              </a:rPr>
              <a:t>Kartu target di dinding</a:t>
            </a:r>
            <a:endParaRPr lang="en-US" sz="1100" dirty="0"/>
          </a:p>
        </p:txBody>
      </p:sp>
      <p:sp>
        <p:nvSpPr>
          <p:cNvPr id="13" name="Shape 9"/>
          <p:cNvSpPr/>
          <p:nvPr/>
        </p:nvSpPr>
        <p:spPr>
          <a:xfrm>
            <a:off x="3200400" y="1325880"/>
            <a:ext cx="1188720" cy="1005840"/>
          </a:xfrm>
          <a:prstGeom prst="rect">
            <a:avLst/>
          </a:prstGeom>
          <a:solidFill>
            <a:srgbClr val="C8E6C9"/>
          </a:solidFill>
          <a:ln w="12700">
            <a:solidFill>
              <a:srgbClr val="C8E6C9"/>
            </a:solidFill>
            <a:prstDash val="solid"/>
          </a:ln>
        </p:spPr>
      </p:sp>
      <p:sp>
        <p:nvSpPr>
          <p:cNvPr id="14" name="Text 10"/>
          <p:cNvSpPr txBox="1"/>
          <p:nvPr/>
        </p:nvSpPr>
        <p:spPr>
          <a:xfrm>
            <a:off x="3246120" y="1325880"/>
            <a:ext cx="1097280" cy="1005840"/>
          </a:xfrm>
          <a:prstGeom prst="rect">
            <a:avLst/>
          </a:prstGeom>
          <a:noFill/>
          <a:ln/>
        </p:spPr>
        <p:txBody>
          <a:bodyPr wrap="square" lIns="0" tIns="0" rIns="0" bIns="0" rtlCol="0" anchor="ctr"/>
          <a:lstStyle/>
          <a:p>
            <a:pPr algn="ctr" indent="0" marL="0">
              <a:buNone/>
            </a:pPr>
            <a:r>
              <a:rPr lang="en-US" sz="1100" dirty="0">
                <a:solidFill>
                  <a:srgbClr val="1E2A26"/>
                </a:solidFill>
                <a:latin typeface="Arial" pitchFamily="34" charset="0"/>
                <a:ea typeface="Arial" pitchFamily="34" charset="-122"/>
                <a:cs typeface="Arial" pitchFamily="34" charset="-120"/>
              </a:rPr>
              <a:t>Pengingat suara HP</a:t>
            </a:r>
            <a:endParaRPr lang="en-US" sz="1100" dirty="0"/>
          </a:p>
        </p:txBody>
      </p:sp>
      <p:sp>
        <p:nvSpPr>
          <p:cNvPr id="15" name="Shape 11"/>
          <p:cNvSpPr/>
          <p:nvPr/>
        </p:nvSpPr>
        <p:spPr>
          <a:xfrm>
            <a:off x="4526280" y="1325880"/>
            <a:ext cx="1188720" cy="1005840"/>
          </a:xfrm>
          <a:prstGeom prst="rect">
            <a:avLst/>
          </a:prstGeom>
          <a:solidFill>
            <a:srgbClr val="BBDEFB"/>
          </a:solidFill>
          <a:ln w="12700">
            <a:solidFill>
              <a:srgbClr val="BBDEFB"/>
            </a:solidFill>
            <a:prstDash val="solid"/>
          </a:ln>
        </p:spPr>
      </p:sp>
      <p:sp>
        <p:nvSpPr>
          <p:cNvPr id="16" name="Text 12"/>
          <p:cNvSpPr txBox="1"/>
          <p:nvPr/>
        </p:nvSpPr>
        <p:spPr>
          <a:xfrm>
            <a:off x="4572000" y="1325880"/>
            <a:ext cx="1097280" cy="1005840"/>
          </a:xfrm>
          <a:prstGeom prst="rect">
            <a:avLst/>
          </a:prstGeom>
          <a:noFill/>
          <a:ln/>
        </p:spPr>
        <p:txBody>
          <a:bodyPr wrap="square" lIns="0" tIns="0" rIns="0" bIns="0" rtlCol="0" anchor="ctr"/>
          <a:lstStyle/>
          <a:p>
            <a:pPr algn="ctr" indent="0" marL="0">
              <a:buNone/>
            </a:pPr>
            <a:r>
              <a:rPr lang="en-US" sz="1100" dirty="0">
                <a:solidFill>
                  <a:srgbClr val="1E2A26"/>
                </a:solidFill>
                <a:latin typeface="Arial" pitchFamily="34" charset="0"/>
                <a:ea typeface="Arial" pitchFamily="34" charset="-122"/>
                <a:cs typeface="Arial" pitchFamily="34" charset="-120"/>
              </a:rPr>
              <a:t>Kuis ayat harian</a:t>
            </a:r>
            <a:endParaRPr lang="en-US" sz="1100" dirty="0"/>
          </a:p>
        </p:txBody>
      </p:sp>
      <p:sp>
        <p:nvSpPr>
          <p:cNvPr id="17" name="Shape 13"/>
          <p:cNvSpPr/>
          <p:nvPr/>
        </p:nvSpPr>
        <p:spPr>
          <a:xfrm>
            <a:off x="548640" y="2514600"/>
            <a:ext cx="1188720" cy="1005840"/>
          </a:xfrm>
          <a:prstGeom prst="rect">
            <a:avLst/>
          </a:prstGeom>
          <a:solidFill>
            <a:srgbClr val="FFF59D"/>
          </a:solidFill>
          <a:ln w="12700">
            <a:solidFill>
              <a:srgbClr val="FFF59D"/>
            </a:solidFill>
            <a:prstDash val="solid"/>
          </a:ln>
        </p:spPr>
      </p:sp>
      <p:sp>
        <p:nvSpPr>
          <p:cNvPr id="18" name="Text 14"/>
          <p:cNvSpPr txBox="1"/>
          <p:nvPr/>
        </p:nvSpPr>
        <p:spPr>
          <a:xfrm>
            <a:off x="594360" y="2514600"/>
            <a:ext cx="1097280" cy="1005840"/>
          </a:xfrm>
          <a:prstGeom prst="rect">
            <a:avLst/>
          </a:prstGeom>
          <a:noFill/>
          <a:ln/>
        </p:spPr>
        <p:txBody>
          <a:bodyPr wrap="square" lIns="0" tIns="0" rIns="0" bIns="0" rtlCol="0" anchor="ctr"/>
          <a:lstStyle/>
          <a:p>
            <a:pPr algn="ctr" indent="0" marL="0">
              <a:buNone/>
            </a:pPr>
            <a:r>
              <a:rPr lang="en-US" sz="1100" dirty="0">
                <a:solidFill>
                  <a:srgbClr val="1E2A26"/>
                </a:solidFill>
                <a:latin typeface="Arial" pitchFamily="34" charset="0"/>
                <a:ea typeface="Arial" pitchFamily="34" charset="-122"/>
                <a:cs typeface="Arial" pitchFamily="34" charset="-120"/>
              </a:rPr>
              <a:t>Grafik progres hafalan</a:t>
            </a:r>
            <a:endParaRPr lang="en-US" sz="1100" dirty="0"/>
          </a:p>
        </p:txBody>
      </p:sp>
      <p:sp>
        <p:nvSpPr>
          <p:cNvPr id="19" name="Shape 15"/>
          <p:cNvSpPr/>
          <p:nvPr/>
        </p:nvSpPr>
        <p:spPr>
          <a:xfrm>
            <a:off x="1874520" y="2514600"/>
            <a:ext cx="1188720" cy="1005840"/>
          </a:xfrm>
          <a:prstGeom prst="rect">
            <a:avLst/>
          </a:prstGeom>
          <a:solidFill>
            <a:srgbClr val="FFE0B2"/>
          </a:solidFill>
          <a:ln w="12700">
            <a:solidFill>
              <a:srgbClr val="FFE0B2"/>
            </a:solidFill>
            <a:prstDash val="solid"/>
          </a:ln>
        </p:spPr>
      </p:sp>
      <p:sp>
        <p:nvSpPr>
          <p:cNvPr id="20" name="Text 16"/>
          <p:cNvSpPr txBox="1"/>
          <p:nvPr/>
        </p:nvSpPr>
        <p:spPr>
          <a:xfrm>
            <a:off x="1920240" y="2514600"/>
            <a:ext cx="1097280" cy="1005840"/>
          </a:xfrm>
          <a:prstGeom prst="rect">
            <a:avLst/>
          </a:prstGeom>
          <a:noFill/>
          <a:ln/>
        </p:spPr>
        <p:txBody>
          <a:bodyPr wrap="square" lIns="0" tIns="0" rIns="0" bIns="0" rtlCol="0" anchor="ctr"/>
          <a:lstStyle/>
          <a:p>
            <a:pPr algn="ctr" indent="0" marL="0">
              <a:buNone/>
            </a:pPr>
            <a:r>
              <a:rPr lang="en-US" sz="1100" dirty="0">
                <a:solidFill>
                  <a:srgbClr val="1E2A26"/>
                </a:solidFill>
                <a:latin typeface="Arial" pitchFamily="34" charset="0"/>
                <a:ea typeface="Arial" pitchFamily="34" charset="-122"/>
                <a:cs typeface="Arial" pitchFamily="34" charset="-120"/>
              </a:rPr>
              <a:t>Teman setoran (buddy)</a:t>
            </a:r>
            <a:endParaRPr lang="en-US" sz="1100" dirty="0"/>
          </a:p>
        </p:txBody>
      </p:sp>
      <p:sp>
        <p:nvSpPr>
          <p:cNvPr id="21" name="Shape 17"/>
          <p:cNvSpPr/>
          <p:nvPr/>
        </p:nvSpPr>
        <p:spPr>
          <a:xfrm>
            <a:off x="3200400" y="2514600"/>
            <a:ext cx="1188720" cy="1005840"/>
          </a:xfrm>
          <a:prstGeom prst="rect">
            <a:avLst/>
          </a:prstGeom>
          <a:solidFill>
            <a:srgbClr val="C8E6C9"/>
          </a:solidFill>
          <a:ln w="12700">
            <a:solidFill>
              <a:srgbClr val="C8E6C9"/>
            </a:solidFill>
            <a:prstDash val="solid"/>
          </a:ln>
        </p:spPr>
      </p:sp>
      <p:sp>
        <p:nvSpPr>
          <p:cNvPr id="22" name="Text 18"/>
          <p:cNvSpPr txBox="1"/>
          <p:nvPr/>
        </p:nvSpPr>
        <p:spPr>
          <a:xfrm>
            <a:off x="3246120" y="2514600"/>
            <a:ext cx="1097280" cy="1005840"/>
          </a:xfrm>
          <a:prstGeom prst="rect">
            <a:avLst/>
          </a:prstGeom>
          <a:noFill/>
          <a:ln/>
        </p:spPr>
        <p:txBody>
          <a:bodyPr wrap="square" lIns="0" tIns="0" rIns="0" bIns="0" rtlCol="0" anchor="ctr"/>
          <a:lstStyle/>
          <a:p>
            <a:pPr algn="ctr" indent="0" marL="0">
              <a:buNone/>
            </a:pPr>
            <a:r>
              <a:rPr lang="en-US" sz="1100" dirty="0">
                <a:solidFill>
                  <a:srgbClr val="1E2A26"/>
                </a:solidFill>
                <a:latin typeface="Arial" pitchFamily="34" charset="0"/>
                <a:ea typeface="Arial" pitchFamily="34" charset="-122"/>
                <a:cs typeface="Arial" pitchFamily="34" charset="-120"/>
              </a:rPr>
              <a:t>Aplikasi AI hafalan</a:t>
            </a:r>
            <a:endParaRPr lang="en-US" sz="1100" dirty="0"/>
          </a:p>
        </p:txBody>
      </p:sp>
      <p:sp>
        <p:nvSpPr>
          <p:cNvPr id="23" name="Shape 19"/>
          <p:cNvSpPr/>
          <p:nvPr/>
        </p:nvSpPr>
        <p:spPr>
          <a:xfrm>
            <a:off x="4526280" y="2514600"/>
            <a:ext cx="1188720" cy="1005840"/>
          </a:xfrm>
          <a:prstGeom prst="rect">
            <a:avLst/>
          </a:prstGeom>
          <a:solidFill>
            <a:srgbClr val="BBDEFB"/>
          </a:solidFill>
          <a:ln w="12700">
            <a:solidFill>
              <a:srgbClr val="BBDEFB"/>
            </a:solidFill>
            <a:prstDash val="solid"/>
          </a:ln>
        </p:spPr>
      </p:sp>
      <p:sp>
        <p:nvSpPr>
          <p:cNvPr id="24" name="Text 20"/>
          <p:cNvSpPr txBox="1"/>
          <p:nvPr/>
        </p:nvSpPr>
        <p:spPr>
          <a:xfrm>
            <a:off x="4572000" y="2514600"/>
            <a:ext cx="1097280" cy="1005840"/>
          </a:xfrm>
          <a:prstGeom prst="rect">
            <a:avLst/>
          </a:prstGeom>
          <a:noFill/>
          <a:ln/>
        </p:spPr>
        <p:txBody>
          <a:bodyPr wrap="square" lIns="0" tIns="0" rIns="0" bIns="0" rtlCol="0" anchor="ctr"/>
          <a:lstStyle/>
          <a:p>
            <a:pPr algn="ctr" indent="0" marL="0">
              <a:buNone/>
            </a:pPr>
            <a:r>
              <a:rPr lang="en-US" sz="1100" dirty="0">
                <a:solidFill>
                  <a:srgbClr val="1E2A26"/>
                </a:solidFill>
                <a:latin typeface="Arial" pitchFamily="34" charset="0"/>
                <a:ea typeface="Arial" pitchFamily="34" charset="-122"/>
                <a:cs typeface="Arial" pitchFamily="34" charset="-120"/>
              </a:rPr>
              <a:t>QR target di kamar</a:t>
            </a:r>
            <a:endParaRPr lang="en-US" sz="1100" dirty="0"/>
          </a:p>
        </p:txBody>
      </p:sp>
      <p:sp>
        <p:nvSpPr>
          <p:cNvPr id="25" name="Shape 21"/>
          <p:cNvSpPr/>
          <p:nvPr/>
        </p:nvSpPr>
        <p:spPr>
          <a:xfrm>
            <a:off x="484632" y="1261872"/>
            <a:ext cx="5157216" cy="2459736"/>
          </a:xfrm>
          <a:prstGeom prst="roundRect">
            <a:avLst>
              <a:gd name="adj" fmla="val 1859"/>
            </a:avLst>
          </a:prstGeom>
          <a:solidFill>
            <a:srgbClr val="FFFFFF">
              <a:alpha val="0"/>
            </a:srgbClr>
          </a:solidFill>
          <a:ln w="31750">
            <a:solidFill>
              <a:srgbClr val="E53935"/>
            </a:solidFill>
            <a:prstDash val="solid"/>
          </a:ln>
        </p:spPr>
      </p:sp>
      <p:sp>
        <p:nvSpPr>
          <p:cNvPr id="26" name="Shape 22"/>
          <p:cNvSpPr/>
          <p:nvPr/>
        </p:nvSpPr>
        <p:spPr>
          <a:xfrm>
            <a:off x="5504688" y="1124712"/>
            <a:ext cx="274320" cy="274320"/>
          </a:xfrm>
          <a:prstGeom prst="ellipse">
            <a:avLst/>
          </a:prstGeom>
          <a:solidFill>
            <a:srgbClr val="E53935"/>
          </a:solidFill>
          <a:ln w="12700">
            <a:solidFill>
              <a:srgbClr val="FFFFFF"/>
            </a:solidFill>
            <a:prstDash val="solid"/>
          </a:ln>
        </p:spPr>
      </p:sp>
      <p:sp>
        <p:nvSpPr>
          <p:cNvPr id="27" name="Text 23"/>
          <p:cNvSpPr txBox="1"/>
          <p:nvPr/>
        </p:nvSpPr>
        <p:spPr>
          <a:xfrm>
            <a:off x="5504688" y="11247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8" name="Text 2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29" name="Text 2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Brainstorming 8 menit: minimal 8 ide</a:t>
            </a:r>
            <a:endParaRPr lang="en-US" sz="1800" dirty="0"/>
          </a:p>
        </p:txBody>
      </p:sp>
      <p:sp>
        <p:nvSpPr>
          <p:cNvPr id="30" name="Text 2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Setiap anggota menulis ide solusi di potongan kertas. Satu kertas, satu ide. Ide boleh digital maupun non-digital.</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Ide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971800" y="1188720"/>
            <a:ext cx="2103120" cy="1325880"/>
          </a:xfrm>
          <a:prstGeom prst="rect">
            <a:avLst/>
          </a:prstGeom>
          <a:solidFill>
            <a:srgbClr val="C8E6C9"/>
          </a:solidFill>
          <a:ln w="12700">
            <a:solidFill>
              <a:srgbClr val="C8E6C9"/>
            </a:solidFill>
            <a:prstDash val="solid"/>
          </a:ln>
        </p:spPr>
      </p:sp>
      <p:sp>
        <p:nvSpPr>
          <p:cNvPr id="10" name="Shape 6"/>
          <p:cNvSpPr/>
          <p:nvPr/>
        </p:nvSpPr>
        <p:spPr>
          <a:xfrm>
            <a:off x="868680" y="1188720"/>
            <a:ext cx="2103120" cy="1325880"/>
          </a:xfrm>
          <a:prstGeom prst="rect">
            <a:avLst/>
          </a:prstGeom>
          <a:solidFill>
            <a:srgbClr val="FFF59D"/>
          </a:solidFill>
          <a:ln w="12700">
            <a:solidFill>
              <a:srgbClr val="FFF59D"/>
            </a:solidFill>
            <a:prstDash val="solid"/>
          </a:ln>
        </p:spPr>
      </p:sp>
      <p:sp>
        <p:nvSpPr>
          <p:cNvPr id="11" name="Shape 7"/>
          <p:cNvSpPr/>
          <p:nvPr/>
        </p:nvSpPr>
        <p:spPr>
          <a:xfrm>
            <a:off x="2971800" y="2514600"/>
            <a:ext cx="2103120" cy="1325880"/>
          </a:xfrm>
          <a:prstGeom prst="rect">
            <a:avLst/>
          </a:prstGeom>
          <a:solidFill>
            <a:srgbClr val="FFE0B2"/>
          </a:solidFill>
          <a:ln w="12700">
            <a:solidFill>
              <a:srgbClr val="FFE0B2"/>
            </a:solidFill>
            <a:prstDash val="solid"/>
          </a:ln>
        </p:spPr>
      </p:sp>
      <p:sp>
        <p:nvSpPr>
          <p:cNvPr id="12" name="Shape 8"/>
          <p:cNvSpPr/>
          <p:nvPr/>
        </p:nvSpPr>
        <p:spPr>
          <a:xfrm>
            <a:off x="868680" y="2514600"/>
            <a:ext cx="2103120" cy="1325880"/>
          </a:xfrm>
          <a:prstGeom prst="rect">
            <a:avLst/>
          </a:prstGeom>
          <a:solidFill>
            <a:srgbClr val="FFCDD2"/>
          </a:solidFill>
          <a:ln w="12700">
            <a:solidFill>
              <a:srgbClr val="FFCDD2"/>
            </a:solidFill>
            <a:prstDash val="solid"/>
          </a:ln>
        </p:spPr>
      </p:sp>
      <p:sp>
        <p:nvSpPr>
          <p:cNvPr id="13" name="Shape 9"/>
          <p:cNvSpPr/>
          <p:nvPr/>
        </p:nvSpPr>
        <p:spPr>
          <a:xfrm>
            <a:off x="3977640" y="1719072"/>
            <a:ext cx="868680" cy="320040"/>
          </a:xfrm>
          <a:prstGeom prst="rect">
            <a:avLst/>
          </a:prstGeom>
          <a:solidFill>
            <a:srgbClr val="FFFFFF"/>
          </a:solidFill>
          <a:ln w="6350">
            <a:solidFill>
              <a:srgbClr val="999999"/>
            </a:solidFill>
            <a:prstDash val="solid"/>
          </a:ln>
        </p:spPr>
      </p:sp>
      <p:sp>
        <p:nvSpPr>
          <p:cNvPr id="14" name="Text 10"/>
          <p:cNvSpPr txBox="1"/>
          <p:nvPr/>
        </p:nvSpPr>
        <p:spPr>
          <a:xfrm>
            <a:off x="3977640" y="1719072"/>
            <a:ext cx="868680" cy="320040"/>
          </a:xfrm>
          <a:prstGeom prst="rect">
            <a:avLst/>
          </a:prstGeom>
          <a:noFill/>
          <a:ln/>
        </p:spPr>
        <p:txBody>
          <a:bodyPr wrap="square" lIns="0" tIns="0" rIns="0" bIns="0" rtlCol="0" anchor="ctr"/>
          <a:lstStyle/>
          <a:p>
            <a:pPr algn="ctr" indent="0" marL="0">
              <a:buNone/>
            </a:pPr>
            <a:r>
              <a:rPr lang="en-US" sz="850" dirty="0">
                <a:solidFill>
                  <a:srgbClr val="1E2A26"/>
                </a:solidFill>
                <a:latin typeface="Arial" pitchFamily="34" charset="0"/>
                <a:ea typeface="Arial" pitchFamily="34" charset="-122"/>
                <a:cs typeface="Arial" pitchFamily="34" charset="-120"/>
              </a:rPr>
              <a:t>Web jadwal</a:t>
            </a:r>
            <a:endParaRPr lang="en-US" sz="850" dirty="0"/>
          </a:p>
        </p:txBody>
      </p:sp>
      <p:sp>
        <p:nvSpPr>
          <p:cNvPr id="15" name="Shape 11"/>
          <p:cNvSpPr/>
          <p:nvPr/>
        </p:nvSpPr>
        <p:spPr>
          <a:xfrm>
            <a:off x="3430829" y="2037283"/>
            <a:ext cx="868680" cy="320040"/>
          </a:xfrm>
          <a:prstGeom prst="rect">
            <a:avLst/>
          </a:prstGeom>
          <a:solidFill>
            <a:srgbClr val="FFFFFF"/>
          </a:solidFill>
          <a:ln w="6350">
            <a:solidFill>
              <a:srgbClr val="999999"/>
            </a:solidFill>
            <a:prstDash val="solid"/>
          </a:ln>
        </p:spPr>
      </p:sp>
      <p:sp>
        <p:nvSpPr>
          <p:cNvPr id="16" name="Text 12"/>
          <p:cNvSpPr txBox="1"/>
          <p:nvPr/>
        </p:nvSpPr>
        <p:spPr>
          <a:xfrm>
            <a:off x="3430829" y="2037283"/>
            <a:ext cx="868680" cy="320040"/>
          </a:xfrm>
          <a:prstGeom prst="rect">
            <a:avLst/>
          </a:prstGeom>
          <a:noFill/>
          <a:ln/>
        </p:spPr>
        <p:txBody>
          <a:bodyPr wrap="square" lIns="0" tIns="0" rIns="0" bIns="0" rtlCol="0" anchor="ctr"/>
          <a:lstStyle/>
          <a:p>
            <a:pPr algn="ctr" indent="0" marL="0">
              <a:buNone/>
            </a:pPr>
            <a:r>
              <a:rPr lang="en-US" sz="850" dirty="0">
                <a:solidFill>
                  <a:srgbClr val="1E2A26"/>
                </a:solidFill>
                <a:latin typeface="Arial" pitchFamily="34" charset="0"/>
                <a:ea typeface="Arial" pitchFamily="34" charset="-122"/>
                <a:cs typeface="Arial" pitchFamily="34" charset="-120"/>
              </a:rPr>
              <a:t>Grafik progres</a:t>
            </a:r>
            <a:endParaRPr lang="en-US" sz="850" dirty="0"/>
          </a:p>
        </p:txBody>
      </p:sp>
      <p:sp>
        <p:nvSpPr>
          <p:cNvPr id="17" name="Shape 13"/>
          <p:cNvSpPr/>
          <p:nvPr/>
        </p:nvSpPr>
        <p:spPr>
          <a:xfrm>
            <a:off x="1453896" y="1719072"/>
            <a:ext cx="868680" cy="320040"/>
          </a:xfrm>
          <a:prstGeom prst="rect">
            <a:avLst/>
          </a:prstGeom>
          <a:solidFill>
            <a:srgbClr val="FFFFFF"/>
          </a:solidFill>
          <a:ln w="6350">
            <a:solidFill>
              <a:srgbClr val="999999"/>
            </a:solidFill>
            <a:prstDash val="solid"/>
          </a:ln>
        </p:spPr>
      </p:sp>
      <p:sp>
        <p:nvSpPr>
          <p:cNvPr id="18" name="Text 14"/>
          <p:cNvSpPr txBox="1"/>
          <p:nvPr/>
        </p:nvSpPr>
        <p:spPr>
          <a:xfrm>
            <a:off x="1453896" y="1719072"/>
            <a:ext cx="868680" cy="320040"/>
          </a:xfrm>
          <a:prstGeom prst="rect">
            <a:avLst/>
          </a:prstGeom>
          <a:noFill/>
          <a:ln/>
        </p:spPr>
        <p:txBody>
          <a:bodyPr wrap="square" lIns="0" tIns="0" rIns="0" bIns="0" rtlCol="0" anchor="ctr"/>
          <a:lstStyle/>
          <a:p>
            <a:pPr algn="ctr" indent="0" marL="0">
              <a:buNone/>
            </a:pPr>
            <a:r>
              <a:rPr lang="en-US" sz="850" dirty="0">
                <a:solidFill>
                  <a:srgbClr val="1E2A26"/>
                </a:solidFill>
                <a:latin typeface="Arial" pitchFamily="34" charset="0"/>
                <a:ea typeface="Arial" pitchFamily="34" charset="-122"/>
                <a:cs typeface="Arial" pitchFamily="34" charset="-120"/>
              </a:rPr>
              <a:t>AI hafalan</a:t>
            </a:r>
            <a:endParaRPr lang="en-US" sz="850" dirty="0"/>
          </a:p>
        </p:txBody>
      </p:sp>
      <p:sp>
        <p:nvSpPr>
          <p:cNvPr id="19" name="Shape 15"/>
          <p:cNvSpPr/>
          <p:nvPr/>
        </p:nvSpPr>
        <p:spPr>
          <a:xfrm>
            <a:off x="4187952" y="2912364"/>
            <a:ext cx="868680" cy="320040"/>
          </a:xfrm>
          <a:prstGeom prst="rect">
            <a:avLst/>
          </a:prstGeom>
          <a:solidFill>
            <a:srgbClr val="FFFFFF"/>
          </a:solidFill>
          <a:ln w="6350">
            <a:solidFill>
              <a:srgbClr val="999999"/>
            </a:solidFill>
            <a:prstDash val="solid"/>
          </a:ln>
        </p:spPr>
      </p:sp>
      <p:sp>
        <p:nvSpPr>
          <p:cNvPr id="20" name="Text 16"/>
          <p:cNvSpPr txBox="1"/>
          <p:nvPr/>
        </p:nvSpPr>
        <p:spPr>
          <a:xfrm>
            <a:off x="4187952" y="2912364"/>
            <a:ext cx="868680" cy="320040"/>
          </a:xfrm>
          <a:prstGeom prst="rect">
            <a:avLst/>
          </a:prstGeom>
          <a:noFill/>
          <a:ln/>
        </p:spPr>
        <p:txBody>
          <a:bodyPr wrap="square" lIns="0" tIns="0" rIns="0" bIns="0" rtlCol="0" anchor="ctr"/>
          <a:lstStyle/>
          <a:p>
            <a:pPr algn="ctr" indent="0" marL="0">
              <a:buNone/>
            </a:pPr>
            <a:r>
              <a:rPr lang="en-US" sz="850" dirty="0">
                <a:solidFill>
                  <a:srgbClr val="1E2A26"/>
                </a:solidFill>
                <a:latin typeface="Arial" pitchFamily="34" charset="0"/>
                <a:ea typeface="Arial" pitchFamily="34" charset="-122"/>
                <a:cs typeface="Arial" pitchFamily="34" charset="-120"/>
              </a:rPr>
              <a:t>Kuis ayat</a:t>
            </a:r>
            <a:endParaRPr lang="en-US" sz="850" dirty="0"/>
          </a:p>
        </p:txBody>
      </p:sp>
      <p:sp>
        <p:nvSpPr>
          <p:cNvPr id="21" name="Shape 17"/>
          <p:cNvSpPr/>
          <p:nvPr/>
        </p:nvSpPr>
        <p:spPr>
          <a:xfrm>
            <a:off x="4608576" y="3442716"/>
            <a:ext cx="868680" cy="320040"/>
          </a:xfrm>
          <a:prstGeom prst="rect">
            <a:avLst/>
          </a:prstGeom>
          <a:solidFill>
            <a:srgbClr val="FFFFFF"/>
          </a:solidFill>
          <a:ln w="6350">
            <a:solidFill>
              <a:srgbClr val="999999"/>
            </a:solidFill>
            <a:prstDash val="solid"/>
          </a:ln>
        </p:spPr>
      </p:sp>
      <p:sp>
        <p:nvSpPr>
          <p:cNvPr id="22" name="Text 18"/>
          <p:cNvSpPr txBox="1"/>
          <p:nvPr/>
        </p:nvSpPr>
        <p:spPr>
          <a:xfrm>
            <a:off x="4608576" y="3442716"/>
            <a:ext cx="868680" cy="320040"/>
          </a:xfrm>
          <a:prstGeom prst="rect">
            <a:avLst/>
          </a:prstGeom>
          <a:noFill/>
          <a:ln/>
        </p:spPr>
        <p:txBody>
          <a:bodyPr wrap="square" lIns="0" tIns="0" rIns="0" bIns="0" rtlCol="0" anchor="ctr"/>
          <a:lstStyle/>
          <a:p>
            <a:pPr algn="ctr" indent="0" marL="0">
              <a:buNone/>
            </a:pPr>
            <a:r>
              <a:rPr lang="en-US" sz="850" dirty="0">
                <a:solidFill>
                  <a:srgbClr val="1E2A26"/>
                </a:solidFill>
                <a:latin typeface="Arial" pitchFamily="34" charset="0"/>
                <a:ea typeface="Arial" pitchFamily="34" charset="-122"/>
                <a:cs typeface="Arial" pitchFamily="34" charset="-120"/>
              </a:rPr>
              <a:t>Kartu dinding</a:t>
            </a:r>
            <a:endParaRPr lang="en-US" sz="850" dirty="0"/>
          </a:p>
        </p:txBody>
      </p:sp>
      <p:sp>
        <p:nvSpPr>
          <p:cNvPr id="23" name="Shape 19"/>
          <p:cNvSpPr/>
          <p:nvPr/>
        </p:nvSpPr>
        <p:spPr>
          <a:xfrm>
            <a:off x="3922776" y="1664208"/>
            <a:ext cx="969264" cy="429768"/>
          </a:xfrm>
          <a:prstGeom prst="roundRect">
            <a:avLst>
              <a:gd name="adj" fmla="val 10638"/>
            </a:avLst>
          </a:prstGeom>
          <a:solidFill>
            <a:srgbClr val="FFFFFF">
              <a:alpha val="0"/>
            </a:srgbClr>
          </a:solidFill>
          <a:ln w="31750">
            <a:solidFill>
              <a:srgbClr val="E53935"/>
            </a:solidFill>
            <a:prstDash val="solid"/>
          </a:ln>
        </p:spPr>
      </p:sp>
      <p:sp>
        <p:nvSpPr>
          <p:cNvPr id="24" name="Shape 20"/>
          <p:cNvSpPr/>
          <p:nvPr/>
        </p:nvSpPr>
        <p:spPr>
          <a:xfrm>
            <a:off x="4754880" y="1527048"/>
            <a:ext cx="274320" cy="274320"/>
          </a:xfrm>
          <a:prstGeom prst="ellipse">
            <a:avLst/>
          </a:prstGeom>
          <a:solidFill>
            <a:srgbClr val="E53935"/>
          </a:solidFill>
          <a:ln w="12700">
            <a:solidFill>
              <a:srgbClr val="FFFFFF"/>
            </a:solidFill>
            <a:prstDash val="solid"/>
          </a:ln>
        </p:spPr>
      </p:sp>
      <p:sp>
        <p:nvSpPr>
          <p:cNvPr id="25" name="Text 21"/>
          <p:cNvSpPr txBox="1"/>
          <p:nvPr/>
        </p:nvSpPr>
        <p:spPr>
          <a:xfrm>
            <a:off x="4754880" y="15270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26" name="Image 2" descr="preencoded.png">    </p:cNvPr>
          <p:cNvPicPr>
            <a:picLocks noChangeAspect="1"/>
          </p:cNvPicPr>
          <p:nvPr/>
        </p:nvPicPr>
        <p:blipFill>
          <a:blip r:embed="rId3"/>
          <a:stretch>
            <a:fillRect/>
          </a:stretch>
        </p:blipFill>
        <p:spPr>
          <a:xfrm>
            <a:off x="4453128" y="1897837"/>
            <a:ext cx="237744" cy="237744"/>
          </a:xfrm>
          <a:prstGeom prst="rect">
            <a:avLst/>
          </a:prstGeom>
        </p:spPr>
      </p:pic>
      <p:sp>
        <p:nvSpPr>
          <p:cNvPr id="27" name="Text 2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28" name="Text 2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Letakkan ide di matriks, pilih 1</a:t>
            </a:r>
            <a:endParaRPr lang="en-US" sz="1800" dirty="0"/>
          </a:p>
        </p:txBody>
      </p:sp>
      <p:sp>
        <p:nvSpPr>
          <p:cNvPr id="29" name="Text 2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Gambar matriks Manfaat × Kemudahan di kertas besar. Diskusikan letak setiap ide. Pilih 1 ide di kotak hijau yang bisa dibuat dengan web.</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Sketsa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240280" y="1097280"/>
            <a:ext cx="1828800" cy="2834640"/>
          </a:xfrm>
          <a:prstGeom prst="roundRect">
            <a:avLst>
              <a:gd name="adj" fmla="val 6000"/>
            </a:avLst>
          </a:prstGeom>
          <a:solidFill>
            <a:srgbClr val="FFFFFF"/>
          </a:solidFill>
          <a:ln w="19050">
            <a:solidFill>
              <a:srgbClr val="333333"/>
            </a:solidFill>
            <a:prstDash val="solid"/>
          </a:ln>
        </p:spPr>
      </p:sp>
      <p:sp>
        <p:nvSpPr>
          <p:cNvPr id="10" name="Shape 6"/>
          <p:cNvSpPr/>
          <p:nvPr/>
        </p:nvSpPr>
        <p:spPr>
          <a:xfrm>
            <a:off x="2313432" y="1188720"/>
            <a:ext cx="1682496" cy="274320"/>
          </a:xfrm>
          <a:prstGeom prst="rect">
            <a:avLst/>
          </a:prstGeom>
          <a:solidFill>
            <a:srgbClr val="FFFFFF"/>
          </a:solidFill>
          <a:ln w="12700">
            <a:solidFill>
              <a:srgbClr val="333333"/>
            </a:solidFill>
            <a:prstDash val="solid"/>
          </a:ln>
        </p:spPr>
      </p:sp>
      <p:sp>
        <p:nvSpPr>
          <p:cNvPr id="11" name="Text 7"/>
          <p:cNvSpPr txBox="1"/>
          <p:nvPr/>
        </p:nvSpPr>
        <p:spPr>
          <a:xfrm>
            <a:off x="2331720" y="1188720"/>
            <a:ext cx="1645920" cy="274320"/>
          </a:xfrm>
          <a:prstGeom prst="rect">
            <a:avLst/>
          </a:prstGeom>
          <a:noFill/>
          <a:ln/>
        </p:spPr>
        <p:txBody>
          <a:bodyPr wrap="square" lIns="0" tIns="0" rIns="0" bIns="0" rtlCol="0" anchor="ctr"/>
          <a:lstStyle/>
          <a:p>
            <a:pPr algn="ctr" indent="0" marL="0">
              <a:buNone/>
            </a:pPr>
            <a:r>
              <a:rPr lang="en-US" sz="900" b="1" dirty="0">
                <a:solidFill>
                  <a:srgbClr val="1E2A26"/>
                </a:solidFill>
                <a:latin typeface="Arial" pitchFamily="34" charset="0"/>
                <a:ea typeface="Arial" pitchFamily="34" charset="-122"/>
                <a:cs typeface="Arial" pitchFamily="34" charset="-120"/>
              </a:rPr>
              <a:t>Setoran Hari Ini</a:t>
            </a:r>
            <a:endParaRPr lang="en-US" sz="900" dirty="0"/>
          </a:p>
        </p:txBody>
      </p:sp>
      <p:sp>
        <p:nvSpPr>
          <p:cNvPr id="12" name="Shape 8"/>
          <p:cNvSpPr/>
          <p:nvPr/>
        </p:nvSpPr>
        <p:spPr>
          <a:xfrm>
            <a:off x="2350008" y="1554480"/>
            <a:ext cx="1609344" cy="256032"/>
          </a:xfrm>
          <a:prstGeom prst="rect">
            <a:avLst/>
          </a:prstGeom>
          <a:solidFill>
            <a:srgbClr val="FFFFFF"/>
          </a:solidFill>
          <a:ln w="9525">
            <a:solidFill>
              <a:srgbClr val="777777"/>
            </a:solidFill>
            <a:prstDash val="dash"/>
          </a:ln>
        </p:spPr>
      </p:sp>
      <p:sp>
        <p:nvSpPr>
          <p:cNvPr id="13" name="Text 9"/>
          <p:cNvSpPr txBox="1"/>
          <p:nvPr/>
        </p:nvSpPr>
        <p:spPr>
          <a:xfrm>
            <a:off x="2386584" y="1554480"/>
            <a:ext cx="1554480" cy="256032"/>
          </a:xfrm>
          <a:prstGeom prst="rect">
            <a:avLst/>
          </a:prstGeom>
          <a:noFill/>
          <a:ln/>
        </p:spPr>
        <p:txBody>
          <a:bodyPr wrap="square" lIns="0" tIns="0" rIns="0" bIns="0" rtlCol="0" anchor="ctr"/>
          <a:lstStyle/>
          <a:p>
            <a:pPr indent="0" marL="0">
              <a:buNone/>
            </a:pPr>
            <a:r>
              <a:rPr lang="en-US" sz="750" dirty="0">
                <a:solidFill>
                  <a:srgbClr val="1155CC"/>
                </a:solidFill>
                <a:latin typeface="Arial" pitchFamily="34" charset="0"/>
                <a:ea typeface="Arial" pitchFamily="34" charset="-122"/>
                <a:cs typeface="Arial" pitchFamily="34" charset="-120"/>
              </a:rPr>
              <a:t>Juz 30: An-Naba 1–20</a:t>
            </a:r>
            <a:endParaRPr lang="en-US" sz="750" dirty="0"/>
          </a:p>
        </p:txBody>
      </p:sp>
      <p:sp>
        <p:nvSpPr>
          <p:cNvPr id="14" name="Shape 10"/>
          <p:cNvSpPr/>
          <p:nvPr/>
        </p:nvSpPr>
        <p:spPr>
          <a:xfrm>
            <a:off x="2350008" y="1874520"/>
            <a:ext cx="1609344" cy="256032"/>
          </a:xfrm>
          <a:prstGeom prst="rect">
            <a:avLst/>
          </a:prstGeom>
          <a:solidFill>
            <a:srgbClr val="FFFFFF"/>
          </a:solidFill>
          <a:ln w="9525">
            <a:solidFill>
              <a:srgbClr val="777777"/>
            </a:solidFill>
            <a:prstDash val="dash"/>
          </a:ln>
        </p:spPr>
      </p:sp>
      <p:sp>
        <p:nvSpPr>
          <p:cNvPr id="15" name="Text 11"/>
          <p:cNvSpPr txBox="1"/>
          <p:nvPr/>
        </p:nvSpPr>
        <p:spPr>
          <a:xfrm>
            <a:off x="2386584" y="1874520"/>
            <a:ext cx="1554480" cy="256032"/>
          </a:xfrm>
          <a:prstGeom prst="rect">
            <a:avLst/>
          </a:prstGeom>
          <a:noFill/>
          <a:ln/>
        </p:spPr>
        <p:txBody>
          <a:bodyPr wrap="square" lIns="0" tIns="0" rIns="0" bIns="0" rtlCol="0" anchor="ctr"/>
          <a:lstStyle/>
          <a:p>
            <a:pPr indent="0" marL="0">
              <a:buNone/>
            </a:pPr>
            <a:r>
              <a:rPr lang="en-US" sz="750" dirty="0">
                <a:solidFill>
                  <a:srgbClr val="1155CC"/>
                </a:solidFill>
                <a:latin typeface="Arial" pitchFamily="34" charset="0"/>
                <a:ea typeface="Arial" pitchFamily="34" charset="-122"/>
                <a:cs typeface="Arial" pitchFamily="34" charset="-120"/>
              </a:rPr>
              <a:t>Target: 20 ayat</a:t>
            </a:r>
            <a:endParaRPr lang="en-US" sz="750" dirty="0"/>
          </a:p>
        </p:txBody>
      </p:sp>
      <p:sp>
        <p:nvSpPr>
          <p:cNvPr id="16" name="Shape 12"/>
          <p:cNvSpPr/>
          <p:nvPr/>
        </p:nvSpPr>
        <p:spPr>
          <a:xfrm>
            <a:off x="2350008" y="2194560"/>
            <a:ext cx="1609344" cy="256032"/>
          </a:xfrm>
          <a:prstGeom prst="rect">
            <a:avLst/>
          </a:prstGeom>
          <a:solidFill>
            <a:srgbClr val="FFFFFF"/>
          </a:solidFill>
          <a:ln w="9525">
            <a:solidFill>
              <a:srgbClr val="777777"/>
            </a:solidFill>
            <a:prstDash val="dash"/>
          </a:ln>
        </p:spPr>
      </p:sp>
      <p:sp>
        <p:nvSpPr>
          <p:cNvPr id="17" name="Text 13"/>
          <p:cNvSpPr txBox="1"/>
          <p:nvPr/>
        </p:nvSpPr>
        <p:spPr>
          <a:xfrm>
            <a:off x="2386584" y="2194560"/>
            <a:ext cx="1554480" cy="256032"/>
          </a:xfrm>
          <a:prstGeom prst="rect">
            <a:avLst/>
          </a:prstGeom>
          <a:noFill/>
          <a:ln/>
        </p:spPr>
        <p:txBody>
          <a:bodyPr wrap="square" lIns="0" tIns="0" rIns="0" bIns="0" rtlCol="0" anchor="ctr"/>
          <a:lstStyle/>
          <a:p>
            <a:pPr indent="0" marL="0">
              <a:buNone/>
            </a:pPr>
            <a:r>
              <a:rPr lang="en-US" sz="750" dirty="0">
                <a:solidFill>
                  <a:srgbClr val="1155CC"/>
                </a:solidFill>
                <a:latin typeface="Arial" pitchFamily="34" charset="0"/>
                <a:ea typeface="Arial" pitchFamily="34" charset="-122"/>
                <a:cs typeface="Arial" pitchFamily="34" charset="-120"/>
              </a:rPr>
              <a:t>Murajaah: Al-Mulk</a:t>
            </a:r>
            <a:endParaRPr lang="en-US" sz="750" dirty="0"/>
          </a:p>
        </p:txBody>
      </p:sp>
      <p:sp>
        <p:nvSpPr>
          <p:cNvPr id="18" name="Shape 14"/>
          <p:cNvSpPr/>
          <p:nvPr/>
        </p:nvSpPr>
        <p:spPr>
          <a:xfrm>
            <a:off x="2423160" y="3547872"/>
            <a:ext cx="1463040" cy="256032"/>
          </a:xfrm>
          <a:prstGeom prst="roundRect">
            <a:avLst>
              <a:gd name="adj" fmla="val 50000"/>
            </a:avLst>
          </a:prstGeom>
          <a:solidFill>
            <a:srgbClr val="FFFFFF"/>
          </a:solidFill>
          <a:ln w="15875">
            <a:solidFill>
              <a:srgbClr val="333333"/>
            </a:solidFill>
            <a:prstDash val="solid"/>
          </a:ln>
        </p:spPr>
      </p:sp>
      <p:sp>
        <p:nvSpPr>
          <p:cNvPr id="19" name="Text 15"/>
          <p:cNvSpPr txBox="1"/>
          <p:nvPr/>
        </p:nvSpPr>
        <p:spPr>
          <a:xfrm>
            <a:off x="2423160" y="3547872"/>
            <a:ext cx="1463040" cy="256032"/>
          </a:xfrm>
          <a:prstGeom prst="rect">
            <a:avLst/>
          </a:prstGeom>
          <a:noFill/>
          <a:ln/>
        </p:spPr>
        <p:txBody>
          <a:bodyPr wrap="square" lIns="0" tIns="0" rIns="0" bIns="0" rtlCol="0" anchor="ctr"/>
          <a:lstStyle/>
          <a:p>
            <a:pPr algn="ctr" indent="0" marL="0">
              <a:buNone/>
            </a:pPr>
            <a:r>
              <a:rPr lang="en-US" sz="800" b="1" dirty="0">
                <a:solidFill>
                  <a:srgbClr val="1E2A26"/>
                </a:solidFill>
                <a:latin typeface="Arial" pitchFamily="34" charset="0"/>
                <a:ea typeface="Arial" pitchFamily="34" charset="-122"/>
                <a:cs typeface="Arial" pitchFamily="34" charset="-120"/>
              </a:rPr>
              <a:t>Sudah Setor ✓</a:t>
            </a:r>
            <a:endParaRPr lang="en-US" sz="800" dirty="0"/>
          </a:p>
        </p:txBody>
      </p:sp>
      <p:sp>
        <p:nvSpPr>
          <p:cNvPr id="20" name="Shape 16"/>
          <p:cNvSpPr/>
          <p:nvPr/>
        </p:nvSpPr>
        <p:spPr>
          <a:xfrm>
            <a:off x="2176272" y="1033272"/>
            <a:ext cx="1956816" cy="2962656"/>
          </a:xfrm>
          <a:prstGeom prst="roundRect">
            <a:avLst>
              <a:gd name="adj" fmla="val 2336"/>
            </a:avLst>
          </a:prstGeom>
          <a:solidFill>
            <a:srgbClr val="FFFFFF">
              <a:alpha val="0"/>
            </a:srgbClr>
          </a:solidFill>
          <a:ln w="31750">
            <a:solidFill>
              <a:srgbClr val="E53935"/>
            </a:solidFill>
            <a:prstDash val="solid"/>
          </a:ln>
        </p:spPr>
      </p:sp>
      <p:sp>
        <p:nvSpPr>
          <p:cNvPr id="21" name="Shape 17"/>
          <p:cNvSpPr/>
          <p:nvPr/>
        </p:nvSpPr>
        <p:spPr>
          <a:xfrm>
            <a:off x="3995928" y="896112"/>
            <a:ext cx="274320" cy="274320"/>
          </a:xfrm>
          <a:prstGeom prst="ellipse">
            <a:avLst/>
          </a:prstGeom>
          <a:solidFill>
            <a:srgbClr val="E53935"/>
          </a:solidFill>
          <a:ln w="12700">
            <a:solidFill>
              <a:srgbClr val="FFFFFF"/>
            </a:solidFill>
            <a:prstDash val="solid"/>
          </a:ln>
        </p:spPr>
      </p:sp>
      <p:sp>
        <p:nvSpPr>
          <p:cNvPr id="22" name="Text 18"/>
          <p:cNvSpPr txBox="1"/>
          <p:nvPr/>
        </p:nvSpPr>
        <p:spPr>
          <a:xfrm>
            <a:off x="3995928" y="8961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3" name="Text 1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24" name="Text 2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Gambar layar utama di kertas</a:t>
            </a:r>
            <a:endParaRPr lang="en-US" sz="1800" dirty="0"/>
          </a:p>
        </p:txBody>
      </p:sp>
      <p:sp>
        <p:nvSpPr>
          <p:cNvPr id="25" name="Text 2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Lipat kertas A4 menjadi seukuran HP. Gambar layar utama: judul, isi, tombol. Gunakan kotak untuk tombol dan kolom isian.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Sketsa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777240" y="1097280"/>
            <a:ext cx="1645920" cy="2743200"/>
          </a:xfrm>
          <a:prstGeom prst="roundRect">
            <a:avLst>
              <a:gd name="adj" fmla="val 6667"/>
            </a:avLst>
          </a:prstGeom>
          <a:solidFill>
            <a:srgbClr val="FFFFFF"/>
          </a:solidFill>
          <a:ln w="19050">
            <a:solidFill>
              <a:srgbClr val="333333"/>
            </a:solidFill>
            <a:prstDash val="solid"/>
          </a:ln>
        </p:spPr>
      </p:sp>
      <p:sp>
        <p:nvSpPr>
          <p:cNvPr id="10" name="Shape 6"/>
          <p:cNvSpPr/>
          <p:nvPr/>
        </p:nvSpPr>
        <p:spPr>
          <a:xfrm>
            <a:off x="850392" y="1188720"/>
            <a:ext cx="1499616" cy="274320"/>
          </a:xfrm>
          <a:prstGeom prst="rect">
            <a:avLst/>
          </a:prstGeom>
          <a:solidFill>
            <a:srgbClr val="FFFFFF"/>
          </a:solidFill>
          <a:ln w="12700">
            <a:solidFill>
              <a:srgbClr val="333333"/>
            </a:solidFill>
            <a:prstDash val="solid"/>
          </a:ln>
        </p:spPr>
      </p:sp>
      <p:sp>
        <p:nvSpPr>
          <p:cNvPr id="11" name="Text 7"/>
          <p:cNvSpPr txBox="1"/>
          <p:nvPr/>
        </p:nvSpPr>
        <p:spPr>
          <a:xfrm>
            <a:off x="868680" y="1188720"/>
            <a:ext cx="1463040" cy="274320"/>
          </a:xfrm>
          <a:prstGeom prst="rect">
            <a:avLst/>
          </a:prstGeom>
          <a:noFill/>
          <a:ln/>
        </p:spPr>
        <p:txBody>
          <a:bodyPr wrap="square" lIns="0" tIns="0" rIns="0" bIns="0" rtlCol="0" anchor="ctr"/>
          <a:lstStyle/>
          <a:p>
            <a:pPr algn="ctr" indent="0" marL="0">
              <a:buNone/>
            </a:pPr>
            <a:r>
              <a:rPr lang="en-US" sz="900" b="1" dirty="0">
                <a:solidFill>
                  <a:srgbClr val="1E2A26"/>
                </a:solidFill>
                <a:latin typeface="Arial" pitchFamily="34" charset="0"/>
                <a:ea typeface="Arial" pitchFamily="34" charset="-122"/>
                <a:cs typeface="Arial" pitchFamily="34" charset="-120"/>
              </a:rPr>
              <a:t>Setoran Hari Ini</a:t>
            </a:r>
            <a:endParaRPr lang="en-US" sz="900" dirty="0"/>
          </a:p>
        </p:txBody>
      </p:sp>
      <p:sp>
        <p:nvSpPr>
          <p:cNvPr id="12" name="Shape 8"/>
          <p:cNvSpPr/>
          <p:nvPr/>
        </p:nvSpPr>
        <p:spPr>
          <a:xfrm>
            <a:off x="886968" y="1554480"/>
            <a:ext cx="1426464" cy="256032"/>
          </a:xfrm>
          <a:prstGeom prst="rect">
            <a:avLst/>
          </a:prstGeom>
          <a:solidFill>
            <a:srgbClr val="FFFFFF"/>
          </a:solidFill>
          <a:ln w="9525">
            <a:solidFill>
              <a:srgbClr val="777777"/>
            </a:solidFill>
            <a:prstDash val="dash"/>
          </a:ln>
        </p:spPr>
      </p:sp>
      <p:sp>
        <p:nvSpPr>
          <p:cNvPr id="13" name="Text 9"/>
          <p:cNvSpPr txBox="1"/>
          <p:nvPr/>
        </p:nvSpPr>
        <p:spPr>
          <a:xfrm>
            <a:off x="923544" y="1554480"/>
            <a:ext cx="1371600" cy="256032"/>
          </a:xfrm>
          <a:prstGeom prst="rect">
            <a:avLst/>
          </a:prstGeom>
          <a:noFill/>
          <a:ln/>
        </p:spPr>
        <p:txBody>
          <a:bodyPr wrap="square" lIns="0" tIns="0" rIns="0" bIns="0" rtlCol="0" anchor="ctr"/>
          <a:lstStyle/>
          <a:p>
            <a:pPr indent="0" marL="0">
              <a:buNone/>
            </a:pPr>
            <a:r>
              <a:rPr lang="en-US" sz="750" dirty="0">
                <a:solidFill>
                  <a:srgbClr val="1155CC"/>
                </a:solidFill>
                <a:latin typeface="Arial" pitchFamily="34" charset="0"/>
                <a:ea typeface="Arial" pitchFamily="34" charset="-122"/>
                <a:cs typeface="Arial" pitchFamily="34" charset="-120"/>
              </a:rPr>
              <a:t>Target: 20 ayat</a:t>
            </a:r>
            <a:endParaRPr lang="en-US" sz="750" dirty="0"/>
          </a:p>
        </p:txBody>
      </p:sp>
      <p:sp>
        <p:nvSpPr>
          <p:cNvPr id="14" name="Shape 10"/>
          <p:cNvSpPr/>
          <p:nvPr/>
        </p:nvSpPr>
        <p:spPr>
          <a:xfrm>
            <a:off x="960120" y="3456432"/>
            <a:ext cx="1280160" cy="256032"/>
          </a:xfrm>
          <a:prstGeom prst="roundRect">
            <a:avLst>
              <a:gd name="adj" fmla="val 50000"/>
            </a:avLst>
          </a:prstGeom>
          <a:solidFill>
            <a:srgbClr val="FFFFFF"/>
          </a:solidFill>
          <a:ln w="15875">
            <a:solidFill>
              <a:srgbClr val="333333"/>
            </a:solidFill>
            <a:prstDash val="solid"/>
          </a:ln>
        </p:spPr>
      </p:sp>
      <p:sp>
        <p:nvSpPr>
          <p:cNvPr id="15" name="Text 11"/>
          <p:cNvSpPr txBox="1"/>
          <p:nvPr/>
        </p:nvSpPr>
        <p:spPr>
          <a:xfrm>
            <a:off x="960120" y="3456432"/>
            <a:ext cx="1280160" cy="256032"/>
          </a:xfrm>
          <a:prstGeom prst="rect">
            <a:avLst/>
          </a:prstGeom>
          <a:noFill/>
          <a:ln/>
        </p:spPr>
        <p:txBody>
          <a:bodyPr wrap="square" lIns="0" tIns="0" rIns="0" bIns="0" rtlCol="0" anchor="ctr"/>
          <a:lstStyle/>
          <a:p>
            <a:pPr algn="ctr" indent="0" marL="0">
              <a:buNone/>
            </a:pPr>
            <a:r>
              <a:rPr lang="en-US" sz="800" b="1" dirty="0">
                <a:solidFill>
                  <a:srgbClr val="1E2A26"/>
                </a:solidFill>
                <a:latin typeface="Arial" pitchFamily="34" charset="0"/>
                <a:ea typeface="Arial" pitchFamily="34" charset="-122"/>
                <a:cs typeface="Arial" pitchFamily="34" charset="-120"/>
              </a:rPr>
              <a:t>Sudah Setor ✓</a:t>
            </a:r>
            <a:endParaRPr lang="en-US" sz="800" dirty="0"/>
          </a:p>
        </p:txBody>
      </p:sp>
      <p:sp>
        <p:nvSpPr>
          <p:cNvPr id="16" name="Text 12"/>
          <p:cNvSpPr txBox="1"/>
          <p:nvPr/>
        </p:nvSpPr>
        <p:spPr>
          <a:xfrm>
            <a:off x="2514600" y="2240280"/>
            <a:ext cx="457200" cy="457200"/>
          </a:xfrm>
          <a:prstGeom prst="rect">
            <a:avLst/>
          </a:prstGeom>
          <a:noFill/>
          <a:ln/>
        </p:spPr>
        <p:txBody>
          <a:bodyPr wrap="square" lIns="0" tIns="0" rIns="0" bIns="0" rtlCol="0" anchor="t"/>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7" name="Shape 13"/>
          <p:cNvSpPr/>
          <p:nvPr/>
        </p:nvSpPr>
        <p:spPr>
          <a:xfrm>
            <a:off x="3063240" y="1097280"/>
            <a:ext cx="1645920" cy="2743200"/>
          </a:xfrm>
          <a:prstGeom prst="roundRect">
            <a:avLst>
              <a:gd name="adj" fmla="val 6667"/>
            </a:avLst>
          </a:prstGeom>
          <a:solidFill>
            <a:srgbClr val="FFFFFF"/>
          </a:solidFill>
          <a:ln w="19050">
            <a:solidFill>
              <a:srgbClr val="333333"/>
            </a:solidFill>
            <a:prstDash val="solid"/>
          </a:ln>
        </p:spPr>
      </p:sp>
      <p:sp>
        <p:nvSpPr>
          <p:cNvPr id="18" name="Shape 14"/>
          <p:cNvSpPr/>
          <p:nvPr/>
        </p:nvSpPr>
        <p:spPr>
          <a:xfrm>
            <a:off x="3136392" y="1188720"/>
            <a:ext cx="1499616" cy="274320"/>
          </a:xfrm>
          <a:prstGeom prst="rect">
            <a:avLst/>
          </a:prstGeom>
          <a:solidFill>
            <a:srgbClr val="FFFFFF"/>
          </a:solidFill>
          <a:ln w="12700">
            <a:solidFill>
              <a:srgbClr val="333333"/>
            </a:solidFill>
            <a:prstDash val="solid"/>
          </a:ln>
        </p:spPr>
      </p:sp>
      <p:sp>
        <p:nvSpPr>
          <p:cNvPr id="19" name="Text 15"/>
          <p:cNvSpPr txBox="1"/>
          <p:nvPr/>
        </p:nvSpPr>
        <p:spPr>
          <a:xfrm>
            <a:off x="3154680" y="1188720"/>
            <a:ext cx="1463040" cy="274320"/>
          </a:xfrm>
          <a:prstGeom prst="rect">
            <a:avLst/>
          </a:prstGeom>
          <a:noFill/>
          <a:ln/>
        </p:spPr>
        <p:txBody>
          <a:bodyPr wrap="square" lIns="0" tIns="0" rIns="0" bIns="0" rtlCol="0" anchor="ctr"/>
          <a:lstStyle/>
          <a:p>
            <a:pPr algn="ctr" indent="0" marL="0">
              <a:buNone/>
            </a:pPr>
            <a:r>
              <a:rPr lang="en-US" sz="900" b="1" dirty="0">
                <a:solidFill>
                  <a:srgbClr val="1E2A26"/>
                </a:solidFill>
                <a:latin typeface="Arial" pitchFamily="34" charset="0"/>
                <a:ea typeface="Arial" pitchFamily="34" charset="-122"/>
                <a:cs typeface="Arial" pitchFamily="34" charset="-120"/>
              </a:rPr>
              <a:t>Alhamdulillah!</a:t>
            </a:r>
            <a:endParaRPr lang="en-US" sz="900" dirty="0"/>
          </a:p>
        </p:txBody>
      </p:sp>
      <p:sp>
        <p:nvSpPr>
          <p:cNvPr id="20" name="Shape 16"/>
          <p:cNvSpPr/>
          <p:nvPr/>
        </p:nvSpPr>
        <p:spPr>
          <a:xfrm>
            <a:off x="3172968" y="1554480"/>
            <a:ext cx="1426464" cy="256032"/>
          </a:xfrm>
          <a:prstGeom prst="rect">
            <a:avLst/>
          </a:prstGeom>
          <a:solidFill>
            <a:srgbClr val="FFFFFF"/>
          </a:solidFill>
          <a:ln w="9525">
            <a:solidFill>
              <a:srgbClr val="777777"/>
            </a:solidFill>
            <a:prstDash val="dash"/>
          </a:ln>
        </p:spPr>
      </p:sp>
      <p:sp>
        <p:nvSpPr>
          <p:cNvPr id="21" name="Text 17"/>
          <p:cNvSpPr txBox="1"/>
          <p:nvPr/>
        </p:nvSpPr>
        <p:spPr>
          <a:xfrm>
            <a:off x="3209544" y="1554480"/>
            <a:ext cx="1371600" cy="256032"/>
          </a:xfrm>
          <a:prstGeom prst="rect">
            <a:avLst/>
          </a:prstGeom>
          <a:noFill/>
          <a:ln/>
        </p:spPr>
        <p:txBody>
          <a:bodyPr wrap="square" lIns="0" tIns="0" rIns="0" bIns="0" rtlCol="0" anchor="ctr"/>
          <a:lstStyle/>
          <a:p>
            <a:pPr indent="0" marL="0">
              <a:buNone/>
            </a:pPr>
            <a:r>
              <a:rPr lang="en-US" sz="750" dirty="0">
                <a:solidFill>
                  <a:srgbClr val="1155CC"/>
                </a:solidFill>
                <a:latin typeface="Arial" pitchFamily="34" charset="0"/>
                <a:ea typeface="Arial" pitchFamily="34" charset="-122"/>
                <a:cs typeface="Arial" pitchFamily="34" charset="-120"/>
              </a:rPr>
              <a:t>Setoran tercatat</a:t>
            </a:r>
            <a:endParaRPr lang="en-US" sz="750" dirty="0"/>
          </a:p>
        </p:txBody>
      </p:sp>
      <p:sp>
        <p:nvSpPr>
          <p:cNvPr id="22" name="Shape 18"/>
          <p:cNvSpPr/>
          <p:nvPr/>
        </p:nvSpPr>
        <p:spPr>
          <a:xfrm>
            <a:off x="3172968" y="1874520"/>
            <a:ext cx="1426464" cy="256032"/>
          </a:xfrm>
          <a:prstGeom prst="rect">
            <a:avLst/>
          </a:prstGeom>
          <a:solidFill>
            <a:srgbClr val="FFFFFF"/>
          </a:solidFill>
          <a:ln w="9525">
            <a:solidFill>
              <a:srgbClr val="777777"/>
            </a:solidFill>
            <a:prstDash val="dash"/>
          </a:ln>
        </p:spPr>
      </p:sp>
      <p:sp>
        <p:nvSpPr>
          <p:cNvPr id="23" name="Text 19"/>
          <p:cNvSpPr txBox="1"/>
          <p:nvPr/>
        </p:nvSpPr>
        <p:spPr>
          <a:xfrm>
            <a:off x="3209544" y="1874520"/>
            <a:ext cx="1371600" cy="256032"/>
          </a:xfrm>
          <a:prstGeom prst="rect">
            <a:avLst/>
          </a:prstGeom>
          <a:noFill/>
          <a:ln/>
        </p:spPr>
        <p:txBody>
          <a:bodyPr wrap="square" lIns="0" tIns="0" rIns="0" bIns="0" rtlCol="0" anchor="ctr"/>
          <a:lstStyle/>
          <a:p>
            <a:pPr indent="0" marL="0">
              <a:buNone/>
            </a:pPr>
            <a:r>
              <a:rPr lang="en-US" sz="750" dirty="0">
                <a:solidFill>
                  <a:srgbClr val="1155CC"/>
                </a:solidFill>
                <a:latin typeface="Arial" pitchFamily="34" charset="0"/>
                <a:ea typeface="Arial" pitchFamily="34" charset="-122"/>
                <a:cs typeface="Arial" pitchFamily="34" charset="-120"/>
              </a:rPr>
              <a:t>Pekan ini: 4/6 hari</a:t>
            </a:r>
            <a:endParaRPr lang="en-US" sz="750" dirty="0"/>
          </a:p>
        </p:txBody>
      </p:sp>
      <p:sp>
        <p:nvSpPr>
          <p:cNvPr id="24" name="Shape 20"/>
          <p:cNvSpPr/>
          <p:nvPr/>
        </p:nvSpPr>
        <p:spPr>
          <a:xfrm>
            <a:off x="3246120" y="3456432"/>
            <a:ext cx="1280160" cy="256032"/>
          </a:xfrm>
          <a:prstGeom prst="roundRect">
            <a:avLst>
              <a:gd name="adj" fmla="val 50000"/>
            </a:avLst>
          </a:prstGeom>
          <a:solidFill>
            <a:srgbClr val="FFFFFF"/>
          </a:solidFill>
          <a:ln w="15875">
            <a:solidFill>
              <a:srgbClr val="333333"/>
            </a:solidFill>
            <a:prstDash val="solid"/>
          </a:ln>
        </p:spPr>
      </p:sp>
      <p:sp>
        <p:nvSpPr>
          <p:cNvPr id="25" name="Text 21"/>
          <p:cNvSpPr txBox="1"/>
          <p:nvPr/>
        </p:nvSpPr>
        <p:spPr>
          <a:xfrm>
            <a:off x="3246120" y="3456432"/>
            <a:ext cx="1280160" cy="256032"/>
          </a:xfrm>
          <a:prstGeom prst="rect">
            <a:avLst/>
          </a:prstGeom>
          <a:noFill/>
          <a:ln/>
        </p:spPr>
        <p:txBody>
          <a:bodyPr wrap="square" lIns="0" tIns="0" rIns="0" bIns="0" rtlCol="0" anchor="ctr"/>
          <a:lstStyle/>
          <a:p>
            <a:pPr algn="ctr" indent="0" marL="0">
              <a:buNone/>
            </a:pPr>
            <a:r>
              <a:rPr lang="en-US" sz="800" b="1" dirty="0">
                <a:solidFill>
                  <a:srgbClr val="1E2A26"/>
                </a:solidFill>
                <a:latin typeface="Arial" pitchFamily="34" charset="0"/>
                <a:ea typeface="Arial" pitchFamily="34" charset="-122"/>
                <a:cs typeface="Arial" pitchFamily="34" charset="-120"/>
              </a:rPr>
              <a:t>Lihat Riwayat</a:t>
            </a:r>
            <a:endParaRPr lang="en-US" sz="800" dirty="0"/>
          </a:p>
        </p:txBody>
      </p:sp>
      <p:sp>
        <p:nvSpPr>
          <p:cNvPr id="26" name="Shape 22"/>
          <p:cNvSpPr/>
          <p:nvPr/>
        </p:nvSpPr>
        <p:spPr>
          <a:xfrm>
            <a:off x="2441448" y="2121408"/>
            <a:ext cx="603504" cy="603504"/>
          </a:xfrm>
          <a:prstGeom prst="roundRect">
            <a:avLst>
              <a:gd name="adj" fmla="val 7576"/>
            </a:avLst>
          </a:prstGeom>
          <a:solidFill>
            <a:srgbClr val="FFFFFF">
              <a:alpha val="0"/>
            </a:srgbClr>
          </a:solidFill>
          <a:ln w="31750">
            <a:solidFill>
              <a:srgbClr val="E53935"/>
            </a:solidFill>
            <a:prstDash val="solid"/>
          </a:ln>
        </p:spPr>
      </p:sp>
      <p:sp>
        <p:nvSpPr>
          <p:cNvPr id="27" name="Shape 23"/>
          <p:cNvSpPr/>
          <p:nvPr/>
        </p:nvSpPr>
        <p:spPr>
          <a:xfrm>
            <a:off x="2907792" y="1984248"/>
            <a:ext cx="274320" cy="274320"/>
          </a:xfrm>
          <a:prstGeom prst="ellipse">
            <a:avLst/>
          </a:prstGeom>
          <a:solidFill>
            <a:srgbClr val="E53935"/>
          </a:solidFill>
          <a:ln w="12700">
            <a:solidFill>
              <a:srgbClr val="FFFFFF"/>
            </a:solidFill>
            <a:prstDash val="solid"/>
          </a:ln>
        </p:spPr>
      </p:sp>
      <p:sp>
        <p:nvSpPr>
          <p:cNvPr id="28" name="Text 24"/>
          <p:cNvSpPr txBox="1"/>
          <p:nvPr/>
        </p:nvSpPr>
        <p:spPr>
          <a:xfrm>
            <a:off x="2907792" y="19842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29" name="Image 2" descr="preencoded.png">    </p:cNvPr>
          <p:cNvPicPr>
            <a:picLocks noChangeAspect="1"/>
          </p:cNvPicPr>
          <p:nvPr/>
        </p:nvPicPr>
        <p:blipFill>
          <a:blip r:embed="rId3"/>
          <a:stretch>
            <a:fillRect/>
          </a:stretch>
        </p:blipFill>
        <p:spPr>
          <a:xfrm>
            <a:off x="2770632" y="2450592"/>
            <a:ext cx="237744" cy="237744"/>
          </a:xfrm>
          <a:prstGeom prst="rect">
            <a:avLst/>
          </a:prstGeom>
        </p:spPr>
      </p:pic>
      <p:sp>
        <p:nvSpPr>
          <p:cNvPr id="30" name="Text 2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31" name="Text 2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Gambar 1–2 layar lain dan alurnya</a:t>
            </a:r>
            <a:endParaRPr lang="en-US" sz="1800" dirty="0"/>
          </a:p>
        </p:txBody>
      </p:sp>
      <p:sp>
        <p:nvSpPr>
          <p:cNvPr id="32" name="Text 2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Gambar layar yang muncul setelah tombol ditekan. Hubungkan dengan panah. Ini adalah alur pengguna.</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 Sketsa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2331720" y="1417320"/>
            <a:ext cx="1463040" cy="2377440"/>
          </a:xfrm>
          <a:prstGeom prst="roundRect">
            <a:avLst>
              <a:gd name="adj" fmla="val 7500"/>
            </a:avLst>
          </a:prstGeom>
          <a:solidFill>
            <a:srgbClr val="FFFFFF"/>
          </a:solidFill>
          <a:ln w="19050">
            <a:solidFill>
              <a:srgbClr val="333333"/>
            </a:solidFill>
            <a:prstDash val="solid"/>
          </a:ln>
        </p:spPr>
      </p:sp>
      <p:sp>
        <p:nvSpPr>
          <p:cNvPr id="11" name="Shape 7"/>
          <p:cNvSpPr/>
          <p:nvPr/>
        </p:nvSpPr>
        <p:spPr>
          <a:xfrm>
            <a:off x="2404872" y="1508760"/>
            <a:ext cx="1316736" cy="274320"/>
          </a:xfrm>
          <a:prstGeom prst="rect">
            <a:avLst/>
          </a:prstGeom>
          <a:solidFill>
            <a:srgbClr val="FFFFFF"/>
          </a:solidFill>
          <a:ln w="12700">
            <a:solidFill>
              <a:srgbClr val="333333"/>
            </a:solidFill>
            <a:prstDash val="solid"/>
          </a:ln>
        </p:spPr>
      </p:sp>
      <p:sp>
        <p:nvSpPr>
          <p:cNvPr id="12" name="Text 8"/>
          <p:cNvSpPr txBox="1"/>
          <p:nvPr/>
        </p:nvSpPr>
        <p:spPr>
          <a:xfrm>
            <a:off x="2423160" y="1508760"/>
            <a:ext cx="1280160" cy="274320"/>
          </a:xfrm>
          <a:prstGeom prst="rect">
            <a:avLst/>
          </a:prstGeom>
          <a:noFill/>
          <a:ln/>
        </p:spPr>
        <p:txBody>
          <a:bodyPr wrap="square" lIns="0" tIns="0" rIns="0" bIns="0" rtlCol="0" anchor="ctr"/>
          <a:lstStyle/>
          <a:p>
            <a:pPr algn="ctr" indent="0" marL="0">
              <a:buNone/>
            </a:pPr>
            <a:r>
              <a:rPr lang="en-US" sz="900" b="1" dirty="0">
                <a:solidFill>
                  <a:srgbClr val="1E2A26"/>
                </a:solidFill>
                <a:latin typeface="Arial" pitchFamily="34" charset="0"/>
                <a:ea typeface="Arial" pitchFamily="34" charset="-122"/>
                <a:cs typeface="Arial" pitchFamily="34" charset="-120"/>
              </a:rPr>
              <a:t>Setoran Hari Ini</a:t>
            </a:r>
            <a:endParaRPr lang="en-US" sz="900" dirty="0"/>
          </a:p>
        </p:txBody>
      </p:sp>
      <p:sp>
        <p:nvSpPr>
          <p:cNvPr id="13" name="Shape 9"/>
          <p:cNvSpPr/>
          <p:nvPr/>
        </p:nvSpPr>
        <p:spPr>
          <a:xfrm>
            <a:off x="2441448" y="1874520"/>
            <a:ext cx="1243584" cy="256032"/>
          </a:xfrm>
          <a:prstGeom prst="rect">
            <a:avLst/>
          </a:prstGeom>
          <a:solidFill>
            <a:srgbClr val="FFFFFF"/>
          </a:solidFill>
          <a:ln w="9525">
            <a:solidFill>
              <a:srgbClr val="777777"/>
            </a:solidFill>
            <a:prstDash val="dash"/>
          </a:ln>
        </p:spPr>
      </p:sp>
      <p:sp>
        <p:nvSpPr>
          <p:cNvPr id="14" name="Text 10"/>
          <p:cNvSpPr txBox="1"/>
          <p:nvPr/>
        </p:nvSpPr>
        <p:spPr>
          <a:xfrm>
            <a:off x="2478024" y="1874520"/>
            <a:ext cx="1188720" cy="256032"/>
          </a:xfrm>
          <a:prstGeom prst="rect">
            <a:avLst/>
          </a:prstGeom>
          <a:noFill/>
          <a:ln/>
        </p:spPr>
        <p:txBody>
          <a:bodyPr wrap="square" lIns="0" tIns="0" rIns="0" bIns="0" rtlCol="0" anchor="ctr"/>
          <a:lstStyle/>
          <a:p>
            <a:pPr indent="0" marL="0">
              <a:buNone/>
            </a:pPr>
            <a:r>
              <a:rPr lang="en-US" sz="750" dirty="0">
                <a:solidFill>
                  <a:srgbClr val="1155CC"/>
                </a:solidFill>
                <a:latin typeface="Arial" pitchFamily="34" charset="0"/>
                <a:ea typeface="Arial" pitchFamily="34" charset="-122"/>
                <a:cs typeface="Arial" pitchFamily="34" charset="-120"/>
              </a:rPr>
              <a:t>Target: 20 ayat</a:t>
            </a:r>
            <a:endParaRPr lang="en-US" sz="750" dirty="0"/>
          </a:p>
        </p:txBody>
      </p:sp>
      <p:sp>
        <p:nvSpPr>
          <p:cNvPr id="15" name="Shape 11"/>
          <p:cNvSpPr/>
          <p:nvPr/>
        </p:nvSpPr>
        <p:spPr>
          <a:xfrm>
            <a:off x="2514600" y="3410712"/>
            <a:ext cx="1097280" cy="256032"/>
          </a:xfrm>
          <a:prstGeom prst="roundRect">
            <a:avLst>
              <a:gd name="adj" fmla="val 50000"/>
            </a:avLst>
          </a:prstGeom>
          <a:solidFill>
            <a:srgbClr val="FFFFFF"/>
          </a:solidFill>
          <a:ln w="15875">
            <a:solidFill>
              <a:srgbClr val="333333"/>
            </a:solidFill>
            <a:prstDash val="solid"/>
          </a:ln>
        </p:spPr>
      </p:sp>
      <p:sp>
        <p:nvSpPr>
          <p:cNvPr id="16" name="Text 12"/>
          <p:cNvSpPr txBox="1"/>
          <p:nvPr/>
        </p:nvSpPr>
        <p:spPr>
          <a:xfrm>
            <a:off x="2514600" y="3410712"/>
            <a:ext cx="1097280" cy="256032"/>
          </a:xfrm>
          <a:prstGeom prst="rect">
            <a:avLst/>
          </a:prstGeom>
          <a:noFill/>
          <a:ln/>
        </p:spPr>
        <p:txBody>
          <a:bodyPr wrap="square" lIns="0" tIns="0" rIns="0" bIns="0" rtlCol="0" anchor="ctr"/>
          <a:lstStyle/>
          <a:p>
            <a:pPr algn="ctr" indent="0" marL="0">
              <a:buNone/>
            </a:pPr>
            <a:r>
              <a:rPr lang="en-US" sz="800" b="1" dirty="0">
                <a:solidFill>
                  <a:srgbClr val="1E2A26"/>
                </a:solidFill>
                <a:latin typeface="Arial" pitchFamily="34" charset="0"/>
                <a:ea typeface="Arial" pitchFamily="34" charset="-122"/>
                <a:cs typeface="Arial" pitchFamily="34" charset="-120"/>
              </a:rPr>
              <a:t>Sudah Setor ✓</a:t>
            </a:r>
            <a:endParaRPr lang="en-US" sz="800" dirty="0"/>
          </a:p>
        </p:txBody>
      </p:sp>
      <p:sp>
        <p:nvSpPr>
          <p:cNvPr id="17" name="Shape 13"/>
          <p:cNvSpPr/>
          <p:nvPr/>
        </p:nvSpPr>
        <p:spPr>
          <a:xfrm>
            <a:off x="2926080" y="3383280"/>
            <a:ext cx="274320" cy="274320"/>
          </a:xfrm>
          <a:prstGeom prst="ellipse">
            <a:avLst/>
          </a:prstGeom>
          <a:solidFill>
            <a:srgbClr val="E8C39E"/>
          </a:solidFill>
          <a:ln/>
        </p:spPr>
      </p:sp>
      <p:sp>
        <p:nvSpPr>
          <p:cNvPr id="18" name="Text 14"/>
          <p:cNvSpPr txBox="1"/>
          <p:nvPr/>
        </p:nvSpPr>
        <p:spPr>
          <a:xfrm>
            <a:off x="3977640" y="1783080"/>
            <a:ext cx="1737360" cy="1280160"/>
          </a:xfrm>
          <a:prstGeom prst="rect">
            <a:avLst/>
          </a:prstGeom>
          <a:noFill/>
          <a:ln/>
        </p:spPr>
        <p:txBody>
          <a:bodyPr wrap="square" lIns="0" tIns="0" rIns="0" bIns="0" rtlCol="0" anchor="t"/>
          <a:lstStyle/>
          <a:p>
            <a:pPr indent="0" marL="0">
              <a:buNone/>
            </a:pPr>
            <a:r>
              <a:rPr lang="en-US" sz="1100" i="1" dirty="0">
                <a:solidFill>
                  <a:srgbClr val="E53935"/>
                </a:solidFill>
                <a:latin typeface="Calibri" pitchFamily="34" charset="0"/>
                <a:ea typeface="Calibri" pitchFamily="34" charset="-122"/>
                <a:cs typeface="Calibri" pitchFamily="34" charset="-120"/>
              </a:rPr>
              <a:t>"Tombolnya di mana untuk melihat target pekan depan?"</a:t>
            </a:r>
            <a:endParaRPr lang="en-US" sz="1100" dirty="0"/>
          </a:p>
        </p:txBody>
      </p:sp>
      <p:sp>
        <p:nvSpPr>
          <p:cNvPr id="19" name="Text 1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20" name="Text 1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sketsa dengan pengguna</a:t>
            </a:r>
            <a:endParaRPr lang="en-US" sz="1800" dirty="0"/>
          </a:p>
        </p:txBody>
      </p:sp>
      <p:sp>
        <p:nvSpPr>
          <p:cNvPr id="21" name="Text 1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Tunjukkan layar pertama kepada pengguna. Minta ia "menekan" dengan jari. Ganti kertas sesuai pilihannya. Amati dan catat.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 Sketsa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Shape 7"/>
          <p:cNvSpPr/>
          <p:nvPr/>
        </p:nvSpPr>
        <p:spPr>
          <a:xfrm>
            <a:off x="2251710" y="1143000"/>
            <a:ext cx="1623060" cy="3429000"/>
          </a:xfrm>
          <a:prstGeom prst="rect">
            <a:avLst/>
          </a:prstGeom>
          <a:solidFill>
            <a:srgbClr val="D7C9A8"/>
          </a:solidFill>
          <a:ln w="12700">
            <a:solidFill>
              <a:srgbClr val="D7C9A8"/>
            </a:solidFill>
            <a:prstDash val="solid"/>
          </a:ln>
        </p:spPr>
      </p:sp>
      <p:sp>
        <p:nvSpPr>
          <p:cNvPr id="12" name="Shape 8"/>
          <p:cNvSpPr/>
          <p:nvPr/>
        </p:nvSpPr>
        <p:spPr>
          <a:xfrm>
            <a:off x="2495169" y="1325880"/>
            <a:ext cx="1136142" cy="2880360"/>
          </a:xfrm>
          <a:prstGeom prst="roundRect">
            <a:avLst>
              <a:gd name="adj" fmla="val 9658"/>
            </a:avLst>
          </a:prstGeom>
          <a:solidFill>
            <a:srgbClr val="FFFFFF"/>
          </a:solidFill>
          <a:ln w="19050">
            <a:solidFill>
              <a:srgbClr val="333333"/>
            </a:solidFill>
            <a:prstDash val="solid"/>
          </a:ln>
        </p:spPr>
      </p:sp>
      <p:sp>
        <p:nvSpPr>
          <p:cNvPr id="13" name="Shape 9"/>
          <p:cNvSpPr/>
          <p:nvPr/>
        </p:nvSpPr>
        <p:spPr>
          <a:xfrm>
            <a:off x="2568321" y="1417320"/>
            <a:ext cx="989838" cy="274320"/>
          </a:xfrm>
          <a:prstGeom prst="rect">
            <a:avLst/>
          </a:prstGeom>
          <a:solidFill>
            <a:srgbClr val="FFFFFF"/>
          </a:solidFill>
          <a:ln w="12700">
            <a:solidFill>
              <a:srgbClr val="333333"/>
            </a:solidFill>
            <a:prstDash val="solid"/>
          </a:ln>
        </p:spPr>
      </p:sp>
      <p:sp>
        <p:nvSpPr>
          <p:cNvPr id="14" name="Text 10"/>
          <p:cNvSpPr txBox="1"/>
          <p:nvPr/>
        </p:nvSpPr>
        <p:spPr>
          <a:xfrm>
            <a:off x="2586609" y="1417320"/>
            <a:ext cx="953262" cy="274320"/>
          </a:xfrm>
          <a:prstGeom prst="rect">
            <a:avLst/>
          </a:prstGeom>
          <a:noFill/>
          <a:ln/>
        </p:spPr>
        <p:txBody>
          <a:bodyPr wrap="square" lIns="0" tIns="0" rIns="0" bIns="0" rtlCol="0" anchor="ctr"/>
          <a:lstStyle/>
          <a:p>
            <a:pPr algn="ctr" indent="0" marL="0">
              <a:buNone/>
            </a:pPr>
            <a:r>
              <a:rPr lang="en-US" sz="900" b="1" dirty="0">
                <a:solidFill>
                  <a:srgbClr val="1E2A26"/>
                </a:solidFill>
                <a:latin typeface="Arial" pitchFamily="34" charset="0"/>
                <a:ea typeface="Arial" pitchFamily="34" charset="-122"/>
                <a:cs typeface="Arial" pitchFamily="34" charset="-120"/>
              </a:rPr>
              <a:t>Setoran Hari Ini</a:t>
            </a:r>
            <a:endParaRPr lang="en-US" sz="900" dirty="0"/>
          </a:p>
        </p:txBody>
      </p:sp>
      <p:sp>
        <p:nvSpPr>
          <p:cNvPr id="15" name="Shape 11"/>
          <p:cNvSpPr/>
          <p:nvPr/>
        </p:nvSpPr>
        <p:spPr>
          <a:xfrm>
            <a:off x="2604897" y="1783080"/>
            <a:ext cx="916686" cy="256032"/>
          </a:xfrm>
          <a:prstGeom prst="rect">
            <a:avLst/>
          </a:prstGeom>
          <a:solidFill>
            <a:srgbClr val="FFFFFF"/>
          </a:solidFill>
          <a:ln w="9525">
            <a:solidFill>
              <a:srgbClr val="777777"/>
            </a:solidFill>
            <a:prstDash val="dash"/>
          </a:ln>
        </p:spPr>
      </p:sp>
      <p:sp>
        <p:nvSpPr>
          <p:cNvPr id="16" name="Text 12"/>
          <p:cNvSpPr txBox="1"/>
          <p:nvPr/>
        </p:nvSpPr>
        <p:spPr>
          <a:xfrm>
            <a:off x="2641473" y="1783080"/>
            <a:ext cx="861822" cy="256032"/>
          </a:xfrm>
          <a:prstGeom prst="rect">
            <a:avLst/>
          </a:prstGeom>
          <a:noFill/>
          <a:ln/>
        </p:spPr>
        <p:txBody>
          <a:bodyPr wrap="square" lIns="0" tIns="0" rIns="0" bIns="0" rtlCol="0" anchor="ctr"/>
          <a:lstStyle/>
          <a:p>
            <a:pPr indent="0" marL="0">
              <a:buNone/>
            </a:pPr>
            <a:r>
              <a:rPr lang="en-US" sz="750" dirty="0">
                <a:solidFill>
                  <a:srgbClr val="1155CC"/>
                </a:solidFill>
                <a:latin typeface="Arial" pitchFamily="34" charset="0"/>
                <a:ea typeface="Arial" pitchFamily="34" charset="-122"/>
                <a:cs typeface="Arial" pitchFamily="34" charset="-120"/>
              </a:rPr>
              <a:t>Target: 20 ayat</a:t>
            </a:r>
            <a:endParaRPr lang="en-US" sz="750" dirty="0"/>
          </a:p>
        </p:txBody>
      </p:sp>
      <p:sp>
        <p:nvSpPr>
          <p:cNvPr id="17" name="Shape 13"/>
          <p:cNvSpPr/>
          <p:nvPr/>
        </p:nvSpPr>
        <p:spPr>
          <a:xfrm>
            <a:off x="2678049" y="3822192"/>
            <a:ext cx="770382" cy="256032"/>
          </a:xfrm>
          <a:prstGeom prst="roundRect">
            <a:avLst>
              <a:gd name="adj" fmla="val 50000"/>
            </a:avLst>
          </a:prstGeom>
          <a:solidFill>
            <a:srgbClr val="FFFFFF"/>
          </a:solidFill>
          <a:ln w="15875">
            <a:solidFill>
              <a:srgbClr val="333333"/>
            </a:solidFill>
            <a:prstDash val="solid"/>
          </a:ln>
        </p:spPr>
      </p:sp>
      <p:sp>
        <p:nvSpPr>
          <p:cNvPr id="18" name="Text 14"/>
          <p:cNvSpPr txBox="1"/>
          <p:nvPr/>
        </p:nvSpPr>
        <p:spPr>
          <a:xfrm>
            <a:off x="2678049" y="3822192"/>
            <a:ext cx="770382" cy="256032"/>
          </a:xfrm>
          <a:prstGeom prst="rect">
            <a:avLst/>
          </a:prstGeom>
          <a:noFill/>
          <a:ln/>
        </p:spPr>
        <p:txBody>
          <a:bodyPr wrap="square" lIns="0" tIns="0" rIns="0" bIns="0" rtlCol="0" anchor="ctr"/>
          <a:lstStyle/>
          <a:p>
            <a:pPr algn="ctr" indent="0" marL="0">
              <a:buNone/>
            </a:pPr>
            <a:r>
              <a:rPr lang="en-US" sz="800" b="1" dirty="0">
                <a:solidFill>
                  <a:srgbClr val="1E2A26"/>
                </a:solidFill>
                <a:latin typeface="Arial" pitchFamily="34" charset="0"/>
                <a:ea typeface="Arial" pitchFamily="34" charset="-122"/>
                <a:cs typeface="Arial" pitchFamily="34" charset="-120"/>
              </a:rPr>
              <a:t>Sudah Setor ✓</a:t>
            </a:r>
            <a:endParaRPr lang="en-US" sz="800" dirty="0"/>
          </a:p>
        </p:txBody>
      </p:sp>
      <p:sp>
        <p:nvSpPr>
          <p:cNvPr id="19" name="Shape 15"/>
          <p:cNvSpPr/>
          <p:nvPr/>
        </p:nvSpPr>
        <p:spPr>
          <a:xfrm>
            <a:off x="2792730" y="1143000"/>
            <a:ext cx="0" cy="3429000"/>
          </a:xfrm>
          <a:prstGeom prst="line">
            <a:avLst/>
          </a:prstGeom>
          <a:noFill/>
          <a:ln w="6350">
            <a:solidFill>
              <a:srgbClr val="FFFFFF">
                <a:alpha val="60000"/>
              </a:srgbClr>
            </a:solidFill>
            <a:prstDash val="solid"/>
          </a:ln>
        </p:spPr>
      </p:sp>
      <p:sp>
        <p:nvSpPr>
          <p:cNvPr id="20" name="Shape 16"/>
          <p:cNvSpPr/>
          <p:nvPr/>
        </p:nvSpPr>
        <p:spPr>
          <a:xfrm>
            <a:off x="2251710" y="2286000"/>
            <a:ext cx="1623060" cy="0"/>
          </a:xfrm>
          <a:prstGeom prst="line">
            <a:avLst/>
          </a:prstGeom>
          <a:noFill/>
          <a:ln w="6350">
            <a:solidFill>
              <a:srgbClr val="FFFFFF">
                <a:alpha val="60000"/>
              </a:srgbClr>
            </a:solidFill>
            <a:prstDash val="solid"/>
          </a:ln>
        </p:spPr>
      </p:sp>
      <p:sp>
        <p:nvSpPr>
          <p:cNvPr id="21" name="Shape 17"/>
          <p:cNvSpPr/>
          <p:nvPr/>
        </p:nvSpPr>
        <p:spPr>
          <a:xfrm>
            <a:off x="3333750" y="1143000"/>
            <a:ext cx="0" cy="3429000"/>
          </a:xfrm>
          <a:prstGeom prst="line">
            <a:avLst/>
          </a:prstGeom>
          <a:noFill/>
          <a:ln w="6350">
            <a:solidFill>
              <a:srgbClr val="FFFFFF">
                <a:alpha val="60000"/>
              </a:srgbClr>
            </a:solidFill>
            <a:prstDash val="solid"/>
          </a:ln>
        </p:spPr>
      </p:sp>
      <p:sp>
        <p:nvSpPr>
          <p:cNvPr id="22" name="Shape 18"/>
          <p:cNvSpPr/>
          <p:nvPr/>
        </p:nvSpPr>
        <p:spPr>
          <a:xfrm>
            <a:off x="2251710" y="3429000"/>
            <a:ext cx="1623060" cy="0"/>
          </a:xfrm>
          <a:prstGeom prst="line">
            <a:avLst/>
          </a:prstGeom>
          <a:noFill/>
          <a:ln w="6350">
            <a:solidFill>
              <a:srgbClr val="FFFFFF">
                <a:alpha val="60000"/>
              </a:srgbClr>
            </a:solidFill>
            <a:prstDash val="solid"/>
          </a:ln>
        </p:spPr>
      </p:sp>
      <p:sp>
        <p:nvSpPr>
          <p:cNvPr id="23" name="Shape 19"/>
          <p:cNvSpPr/>
          <p:nvPr/>
        </p:nvSpPr>
        <p:spPr>
          <a:xfrm>
            <a:off x="3326130" y="2628900"/>
            <a:ext cx="457200" cy="457200"/>
          </a:xfrm>
          <a:prstGeom prst="ellipse">
            <a:avLst/>
          </a:prstGeom>
          <a:solidFill>
            <a:srgbClr val="FFFFFF"/>
          </a:solidFill>
          <a:ln/>
        </p:spPr>
      </p:sp>
      <p:sp>
        <p:nvSpPr>
          <p:cNvPr id="24" name="Shape 20"/>
          <p:cNvSpPr/>
          <p:nvPr/>
        </p:nvSpPr>
        <p:spPr>
          <a:xfrm>
            <a:off x="3399282" y="2702052"/>
            <a:ext cx="310896" cy="310896"/>
          </a:xfrm>
          <a:prstGeom prst="ellipse">
            <a:avLst/>
          </a:prstGeom>
          <a:solidFill>
            <a:srgbClr val="C62828"/>
          </a:solidFill>
          <a:ln/>
        </p:spPr>
      </p:sp>
      <p:sp>
        <p:nvSpPr>
          <p:cNvPr id="25" name="Shape 21"/>
          <p:cNvSpPr/>
          <p:nvPr/>
        </p:nvSpPr>
        <p:spPr>
          <a:xfrm>
            <a:off x="3289554" y="2592324"/>
            <a:ext cx="530352" cy="530352"/>
          </a:xfrm>
          <a:prstGeom prst="roundRect">
            <a:avLst>
              <a:gd name="adj" fmla="val 8621"/>
            </a:avLst>
          </a:prstGeom>
          <a:solidFill>
            <a:srgbClr val="FFFFFF">
              <a:alpha val="0"/>
            </a:srgbClr>
          </a:solidFill>
          <a:ln w="31750">
            <a:solidFill>
              <a:srgbClr val="E53935"/>
            </a:solidFill>
            <a:prstDash val="solid"/>
          </a:ln>
        </p:spPr>
      </p:sp>
      <p:sp>
        <p:nvSpPr>
          <p:cNvPr id="26" name="Shape 22"/>
          <p:cNvSpPr/>
          <p:nvPr/>
        </p:nvSpPr>
        <p:spPr>
          <a:xfrm>
            <a:off x="3682746" y="2455164"/>
            <a:ext cx="274320" cy="274320"/>
          </a:xfrm>
          <a:prstGeom prst="ellipse">
            <a:avLst/>
          </a:prstGeom>
          <a:solidFill>
            <a:srgbClr val="E53935"/>
          </a:solidFill>
          <a:ln w="12700">
            <a:solidFill>
              <a:srgbClr val="FFFFFF"/>
            </a:solidFill>
            <a:prstDash val="solid"/>
          </a:ln>
        </p:spPr>
      </p:sp>
      <p:sp>
        <p:nvSpPr>
          <p:cNvPr id="27" name="Text 23"/>
          <p:cNvSpPr txBox="1"/>
          <p:nvPr/>
        </p:nvSpPr>
        <p:spPr>
          <a:xfrm>
            <a:off x="3682746" y="24551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28" name="Image 2" descr="preencoded.png">    </p:cNvPr>
          <p:cNvPicPr>
            <a:picLocks noChangeAspect="1"/>
          </p:cNvPicPr>
          <p:nvPr/>
        </p:nvPicPr>
        <p:blipFill>
          <a:blip r:embed="rId3"/>
          <a:stretch>
            <a:fillRect/>
          </a:stretch>
        </p:blipFill>
        <p:spPr>
          <a:xfrm>
            <a:off x="3577590" y="2880360"/>
            <a:ext cx="237744" cy="237744"/>
          </a:xfrm>
          <a:prstGeom prst="rect">
            <a:avLst/>
          </a:prstGeom>
        </p:spPr>
      </p:pic>
      <p:sp>
        <p:nvSpPr>
          <p:cNvPr id="29" name="Text 2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30" name="Text 2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Perbaiki sketsa, foto, simpan</a:t>
            </a:r>
            <a:endParaRPr lang="en-US" sz="1800" dirty="0"/>
          </a:p>
        </p:txBody>
      </p:sp>
      <p:sp>
        <p:nvSpPr>
          <p:cNvPr id="31" name="Text 2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Perbaiki sketsa berdasarkan masukan. Foto semua layar dengan HP, unggah ke folder proyek kelompok di Drive.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5</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Tambahkan ke Proposal_Solusi kelompok:</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Daftar minimal 8 ide hasil brainstorming.</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Foto matriks dan ide terpilih beserta alasannya.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Foto sketsa 2–3 layar dan alur penggunanya.</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Catatan hasil uji sketsa dan perbaikannya.</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Minimal 8 ide terkumpul</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Ide dipilih dengan matriks</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sketsa 2–3 layar</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Sketsa diuji pengguna</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perlu banyak ide sebelum memilih?</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masukan pengguna terhadap sketsamu?</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Hargai ide setiap anggota. Musyawarah melahirkan keputusan yang lebih baik.</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Proposal Solusi Digital.</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06</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Proposal Solusi Digital</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menyusun dan mempresentasikan proposal</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2: Problem Solving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ingin meyakinkan pimpinan pondok agar mendukung ide kalian, apa yang harus disiapkan?</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06</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proposal solusi digital yang lengkap</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Menyertakan flowchart dan sketsa sebagai rancangan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Mempresentasikan proposal secara singkat dan meyakinkan (pitch)</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Tujuh Bagian Proposal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1. Latar Belakang &amp; Masalah</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Masalah, akar masalah (5 Mengapa), bukti dari wawancara.</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2. Pengguna</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Profil pengguna dan kebutuhannya.</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3. Solusi</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Ide terpilih dan alasannya (matriks).</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4. Fitur</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3–5 fitur utama, diurutkan dari yang terpenting.</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5. Rancangan</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Flowchart dan sketsa layar.</a:t>
            </a:r>
            <a:endParaRPr lang="en-US" sz="1250" dirty="0"/>
          </a:p>
        </p:txBody>
      </p:sp>
      <p:sp>
        <p:nvSpPr>
          <p:cNvPr id="34" name="Shape 25"/>
          <p:cNvSpPr/>
          <p:nvPr/>
        </p:nvSpPr>
        <p:spPr>
          <a:xfrm>
            <a:off x="6096000" y="2948940"/>
            <a:ext cx="2590800" cy="1668780"/>
          </a:xfrm>
          <a:prstGeom prst="roundRect">
            <a:avLst>
              <a:gd name="adj" fmla="val 6575"/>
            </a:avLst>
          </a:prstGeom>
          <a:solidFill>
            <a:srgbClr val="E6F2EC"/>
          </a:solidFill>
          <a:ln w="12700">
            <a:solidFill>
              <a:srgbClr val="E6F2EC"/>
            </a:solidFill>
            <a:prstDash val="solid"/>
          </a:ln>
        </p:spPr>
      </p:sp>
      <p:sp>
        <p:nvSpPr>
          <p:cNvPr id="35" name="Shape 26"/>
          <p:cNvSpPr/>
          <p:nvPr/>
        </p:nvSpPr>
        <p:spPr>
          <a:xfrm>
            <a:off x="6278880" y="3131820"/>
            <a:ext cx="548640" cy="548640"/>
          </a:xfrm>
          <a:prstGeom prst="ellipse">
            <a:avLst/>
          </a:prstGeom>
          <a:solidFill>
            <a:srgbClr val="0F4C3A"/>
          </a:solidFill>
          <a:ln/>
        </p:spPr>
      </p:sp>
      <p:pic>
        <p:nvPicPr>
          <p:cNvPr id="36" name="Image 7" descr="preencoded.png">    </p:cNvPr>
          <p:cNvPicPr>
            <a:picLocks noChangeAspect="1"/>
          </p:cNvPicPr>
          <p:nvPr/>
        </p:nvPicPr>
        <p:blipFill>
          <a:blip r:embed="rId8"/>
          <a:stretch>
            <a:fillRect/>
          </a:stretch>
        </p:blipFill>
        <p:spPr>
          <a:xfrm>
            <a:off x="6416040" y="3268980"/>
            <a:ext cx="274320" cy="274320"/>
          </a:xfrm>
          <a:prstGeom prst="rect">
            <a:avLst/>
          </a:prstGeom>
        </p:spPr>
      </p:pic>
      <p:sp>
        <p:nvSpPr>
          <p:cNvPr id="37" name="Text 27"/>
          <p:cNvSpPr txBox="1"/>
          <p:nvPr/>
        </p:nvSpPr>
        <p:spPr>
          <a:xfrm>
            <a:off x="69646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6–7. Rencana &amp; Ukuran Berhasil</a:t>
            </a:r>
            <a:endParaRPr lang="en-US" sz="1600" dirty="0"/>
          </a:p>
        </p:txBody>
      </p:sp>
      <p:sp>
        <p:nvSpPr>
          <p:cNvPr id="38" name="Text 28"/>
          <p:cNvSpPr txBox="1"/>
          <p:nvPr/>
        </p:nvSpPr>
        <p:spPr>
          <a:xfrm>
            <a:off x="62788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Jadwal, peran tim, alat gratis; cara mengukur keberhasilan.</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Pitch 3 Menit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Masalah (30 detik)</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Cerita singkat pengguna dan masalahnya</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Solusi (90 detik)</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Fitur utama dan sketsa layar</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Rencana (60 detik)</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Jadwal, peran, dan ukuran berhasil</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Pembuka: "Santri A sering lupa ayat yang harus disetor. Di kelas kami, 7 dari 10 santri mengalaminya..."</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Menyusun Proposal dan Pitch</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2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1–4</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Melengkapi proposal di Google Docs</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Latihan pitch</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Presentasi dan masukan</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Proposal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Proposal_Solusi_Kel3 -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Proposal_Solusi_Kel3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57810"/>
          </a:xfrm>
          <a:prstGeom prst="rect">
            <a:avLst/>
          </a:prstGeom>
          <a:noFill/>
          <a:ln/>
        </p:spPr>
        <p:txBody>
          <a:bodyPr wrap="square" lIns="0" tIns="0" rIns="0" bIns="0" rtlCol="0" anchor="ctr"/>
          <a:lstStyle/>
          <a:p>
            <a:pPr algn="l" indent="0" marL="0">
              <a:buNone/>
            </a:pPr>
            <a:r>
              <a:rPr lang="en-US" sz="1400" b="1" dirty="0">
                <a:solidFill>
                  <a:srgbClr val="1E2A26"/>
                </a:solidFill>
                <a:latin typeface="Arial" pitchFamily="34" charset="0"/>
                <a:ea typeface="Arial" pitchFamily="34" charset="-122"/>
                <a:cs typeface="Arial" pitchFamily="34" charset="-120"/>
              </a:rPr>
              <a:t>Proposal: Web Jadwal Setoran Harian</a:t>
            </a:r>
            <a:endParaRPr lang="en-US" sz="1400" dirty="0"/>
          </a:p>
        </p:txBody>
      </p:sp>
      <p:sp>
        <p:nvSpPr>
          <p:cNvPr id="70" name="Text 59"/>
          <p:cNvSpPr txBox="1"/>
          <p:nvPr/>
        </p:nvSpPr>
        <p:spPr>
          <a:xfrm>
            <a:off x="1554480" y="293218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Kelompok 3 · Kelas 9A · 2026</a:t>
            </a:r>
            <a:endParaRPr lang="en-US" sz="800" dirty="0"/>
          </a:p>
        </p:txBody>
      </p:sp>
      <p:sp>
        <p:nvSpPr>
          <p:cNvPr id="71" name="Text 60"/>
          <p:cNvSpPr txBox="1"/>
          <p:nvPr/>
        </p:nvSpPr>
        <p:spPr>
          <a:xfrm>
            <a:off x="1554480" y="312522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1. Latar Belakang dan Masalah</a:t>
            </a:r>
            <a:endParaRPr lang="en-US" sz="1100" dirty="0"/>
          </a:p>
        </p:txBody>
      </p:sp>
      <p:sp>
        <p:nvSpPr>
          <p:cNvPr id="72" name="Text 61"/>
          <p:cNvSpPr txBox="1"/>
          <p:nvPr/>
        </p:nvSpPr>
        <p:spPr>
          <a:xfrm>
            <a:off x="1554480" y="3373508"/>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2. Pengguna</a:t>
            </a:r>
            <a:endParaRPr lang="en-US" sz="1100" dirty="0"/>
          </a:p>
        </p:txBody>
      </p:sp>
      <p:sp>
        <p:nvSpPr>
          <p:cNvPr id="73" name="Text 62"/>
          <p:cNvSpPr txBox="1"/>
          <p:nvPr/>
        </p:nvSpPr>
        <p:spPr>
          <a:xfrm>
            <a:off x="1554480" y="362179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3. Solusi</a:t>
            </a:r>
            <a:endParaRPr lang="en-US" sz="1100" dirty="0"/>
          </a:p>
        </p:txBody>
      </p:sp>
      <p:sp>
        <p:nvSpPr>
          <p:cNvPr id="74" name="Text 63"/>
          <p:cNvSpPr txBox="1"/>
          <p:nvPr/>
        </p:nvSpPr>
        <p:spPr>
          <a:xfrm>
            <a:off x="1554480" y="3870078"/>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4. Fitur</a:t>
            </a:r>
            <a:endParaRPr lang="en-US" sz="1100" dirty="0"/>
          </a:p>
        </p:txBody>
      </p:sp>
      <p:sp>
        <p:nvSpPr>
          <p:cNvPr id="75" name="Shape 64"/>
          <p:cNvSpPr/>
          <p:nvPr/>
        </p:nvSpPr>
        <p:spPr>
          <a:xfrm>
            <a:off x="1527048" y="2601221"/>
            <a:ext cx="3072384" cy="1498854"/>
          </a:xfrm>
          <a:prstGeom prst="roundRect">
            <a:avLst>
              <a:gd name="adj" fmla="val 3050"/>
            </a:avLst>
          </a:prstGeom>
          <a:solidFill>
            <a:srgbClr val="FFFFFF">
              <a:alpha val="0"/>
            </a:srgbClr>
          </a:solidFill>
          <a:ln w="31750">
            <a:solidFill>
              <a:srgbClr val="E53935"/>
            </a:solidFill>
            <a:prstDash val="solid"/>
          </a:ln>
        </p:spPr>
      </p:sp>
      <p:sp>
        <p:nvSpPr>
          <p:cNvPr id="76" name="Shape 65"/>
          <p:cNvSpPr/>
          <p:nvPr/>
        </p:nvSpPr>
        <p:spPr>
          <a:xfrm>
            <a:off x="4462272" y="2464061"/>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4640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78" name="Image 9" descr="preencoded.png">    </p:cNvPr>
          <p:cNvPicPr>
            <a:picLocks noChangeAspect="1"/>
          </p:cNvPicPr>
          <p:nvPr/>
        </p:nvPicPr>
        <p:blipFill>
          <a:blip r:embed="rId10"/>
          <a:stretch>
            <a:fillRect/>
          </a:stretch>
        </p:blipFill>
        <p:spPr>
          <a:xfrm>
            <a:off x="3214116" y="3422848"/>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Susun judul dan struktur 7 bagian</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awal dokumen: judul solusi, nama kelompok, kelas. Buat 7 judul bagian dengan Heading 1. Pindahkan bahan yang sudah ada ke bagiannya.</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Proposal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Proposal_Solusi_Kel3 -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Proposal_Solusi_Kel3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4. Fitur</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No</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Fitur</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Prioritas</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Tampil target setoran hari ini</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WAJIB</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2</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Tombol Sudah Setor</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WAJIB</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3</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Riwayat pekan ini</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WAJIB</a:t>
            </a:r>
            <a:endParaRPr lang="en-US" sz="650" dirty="0"/>
          </a:p>
        </p:txBody>
      </p:sp>
      <p:sp>
        <p:nvSpPr>
          <p:cNvPr id="94" name="Shape 83"/>
          <p:cNvSpPr/>
          <p:nvPr/>
        </p:nvSpPr>
        <p:spPr>
          <a:xfrm>
            <a:off x="1554480" y="3608458"/>
            <a:ext cx="1005840" cy="182880"/>
          </a:xfrm>
          <a:prstGeom prst="rect">
            <a:avLst/>
          </a:prstGeom>
          <a:solidFill>
            <a:srgbClr val="FFFFFF"/>
          </a:solidFill>
          <a:ln w="6350">
            <a:solidFill>
              <a:srgbClr val="777777"/>
            </a:solidFill>
            <a:prstDash val="solid"/>
          </a:ln>
        </p:spPr>
      </p:sp>
      <p:sp>
        <p:nvSpPr>
          <p:cNvPr id="95" name="Text 84"/>
          <p:cNvSpPr txBox="1"/>
          <p:nvPr/>
        </p:nvSpPr>
        <p:spPr>
          <a:xfrm>
            <a:off x="158191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4</a:t>
            </a:r>
            <a:endParaRPr lang="en-US" sz="650" dirty="0"/>
          </a:p>
        </p:txBody>
      </p:sp>
      <p:sp>
        <p:nvSpPr>
          <p:cNvPr id="96" name="Shape 85"/>
          <p:cNvSpPr/>
          <p:nvPr/>
        </p:nvSpPr>
        <p:spPr>
          <a:xfrm>
            <a:off x="2560320" y="3608458"/>
            <a:ext cx="1005840" cy="182880"/>
          </a:xfrm>
          <a:prstGeom prst="rect">
            <a:avLst/>
          </a:prstGeom>
          <a:solidFill>
            <a:srgbClr val="FFFFFF"/>
          </a:solidFill>
          <a:ln w="6350">
            <a:solidFill>
              <a:srgbClr val="777777"/>
            </a:solidFill>
            <a:prstDash val="solid"/>
          </a:ln>
        </p:spPr>
      </p:sp>
      <p:sp>
        <p:nvSpPr>
          <p:cNvPr id="97" name="Text 86"/>
          <p:cNvSpPr txBox="1"/>
          <p:nvPr/>
        </p:nvSpPr>
        <p:spPr>
          <a:xfrm>
            <a:off x="258775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Grafik progres bulanan</a:t>
            </a:r>
            <a:endParaRPr lang="en-US" sz="650" dirty="0"/>
          </a:p>
        </p:txBody>
      </p:sp>
      <p:sp>
        <p:nvSpPr>
          <p:cNvPr id="98" name="Shape 87"/>
          <p:cNvSpPr/>
          <p:nvPr/>
        </p:nvSpPr>
        <p:spPr>
          <a:xfrm>
            <a:off x="3566160" y="3608458"/>
            <a:ext cx="1005840" cy="182880"/>
          </a:xfrm>
          <a:prstGeom prst="rect">
            <a:avLst/>
          </a:prstGeom>
          <a:solidFill>
            <a:srgbClr val="FFFFFF"/>
          </a:solidFill>
          <a:ln w="6350">
            <a:solidFill>
              <a:srgbClr val="777777"/>
            </a:solidFill>
            <a:prstDash val="solid"/>
          </a:ln>
        </p:spPr>
      </p:sp>
      <p:sp>
        <p:nvSpPr>
          <p:cNvPr id="99" name="Text 88"/>
          <p:cNvSpPr txBox="1"/>
          <p:nvPr/>
        </p:nvSpPr>
        <p:spPr>
          <a:xfrm>
            <a:off x="359359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NANTI</a:t>
            </a:r>
            <a:endParaRPr lang="en-US" sz="650" dirty="0"/>
          </a:p>
        </p:txBody>
      </p:sp>
      <p:sp>
        <p:nvSpPr>
          <p:cNvPr id="100" name="Shape 89"/>
          <p:cNvSpPr/>
          <p:nvPr/>
        </p:nvSpPr>
        <p:spPr>
          <a:xfrm>
            <a:off x="1527048" y="2849506"/>
            <a:ext cx="3072384" cy="969264"/>
          </a:xfrm>
          <a:prstGeom prst="roundRect">
            <a:avLst>
              <a:gd name="adj" fmla="val 4717"/>
            </a:avLst>
          </a:prstGeom>
          <a:solidFill>
            <a:srgbClr val="FFFFFF">
              <a:alpha val="0"/>
            </a:srgbClr>
          </a:solidFill>
          <a:ln w="31750">
            <a:solidFill>
              <a:srgbClr val="E53935"/>
            </a:solidFill>
            <a:prstDash val="solid"/>
          </a:ln>
        </p:spPr>
      </p:sp>
      <p:sp>
        <p:nvSpPr>
          <p:cNvPr id="101" name="Shape 90"/>
          <p:cNvSpPr/>
          <p:nvPr/>
        </p:nvSpPr>
        <p:spPr>
          <a:xfrm>
            <a:off x="4462272" y="2712346"/>
            <a:ext cx="274320" cy="274320"/>
          </a:xfrm>
          <a:prstGeom prst="ellipse">
            <a:avLst/>
          </a:prstGeom>
          <a:solidFill>
            <a:srgbClr val="E53935"/>
          </a:solidFill>
          <a:ln w="12700">
            <a:solidFill>
              <a:srgbClr val="FFFFFF"/>
            </a:solidFill>
            <a:prstDash val="solid"/>
          </a:ln>
        </p:spPr>
      </p:sp>
      <p:sp>
        <p:nvSpPr>
          <p:cNvPr id="102" name="Text 91"/>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103" name="Image 9" descr="preencoded.png">    </p:cNvPr>
          <p:cNvPicPr>
            <a:picLocks noChangeAspect="1"/>
          </p:cNvPicPr>
          <p:nvPr/>
        </p:nvPicPr>
        <p:blipFill>
          <a:blip r:embed="rId10"/>
          <a:stretch>
            <a:fillRect/>
          </a:stretch>
        </p:blipFill>
        <p:spPr>
          <a:xfrm>
            <a:off x="3214116" y="3379858"/>
            <a:ext cx="237744" cy="237744"/>
          </a:xfrm>
          <a:prstGeom prst="rect">
            <a:avLst/>
          </a:prstGeom>
        </p:spPr>
      </p:pic>
      <p:sp>
        <p:nvSpPr>
          <p:cNvPr id="104" name="Text 9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105" name="Text 9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fitur utama berurutan</a:t>
            </a:r>
            <a:endParaRPr lang="en-US" sz="1800" dirty="0"/>
          </a:p>
        </p:txBody>
      </p:sp>
      <p:sp>
        <p:nvSpPr>
          <p:cNvPr id="106" name="Text 9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3–5 fitur. Tandai: WAJIB (versi pertama) atau NANTI (pengembangan).</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Proposal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Proposal_Solusi_Kel3 -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Proposal_Solusi_Kel3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5. Rancangan</a:t>
            </a:r>
            <a:endParaRPr lang="en-US" sz="1100" dirty="0"/>
          </a:p>
        </p:txBody>
      </p:sp>
      <p:sp>
        <p:nvSpPr>
          <p:cNvPr id="70" name="Shape 59"/>
          <p:cNvSpPr/>
          <p:nvPr/>
        </p:nvSpPr>
        <p:spPr>
          <a:xfrm>
            <a:off x="2514600" y="2876938"/>
            <a:ext cx="1097280" cy="731520"/>
          </a:xfrm>
          <a:prstGeom prst="rect">
            <a:avLst/>
          </a:prstGeom>
          <a:solidFill>
            <a:srgbClr val="A7CBEE"/>
          </a:solidFill>
          <a:ln w="12700">
            <a:solidFill>
              <a:srgbClr val="A7CBEE"/>
            </a:solidFill>
            <a:prstDash val="solid"/>
          </a:ln>
        </p:spPr>
      </p:sp>
      <p:sp>
        <p:nvSpPr>
          <p:cNvPr id="71" name="Shape 60"/>
          <p:cNvSpPr/>
          <p:nvPr/>
        </p:nvSpPr>
        <p:spPr>
          <a:xfrm>
            <a:off x="3246120" y="2986666"/>
            <a:ext cx="182880" cy="182880"/>
          </a:xfrm>
          <a:prstGeom prst="ellipse">
            <a:avLst/>
          </a:prstGeom>
          <a:solidFill>
            <a:srgbClr val="FBBC05"/>
          </a:solidFill>
          <a:ln/>
        </p:spPr>
      </p:sp>
      <p:sp>
        <p:nvSpPr>
          <p:cNvPr id="72" name="Shape 61"/>
          <p:cNvSpPr/>
          <p:nvPr/>
        </p:nvSpPr>
        <p:spPr>
          <a:xfrm>
            <a:off x="2606040" y="3196978"/>
            <a:ext cx="640080" cy="411480"/>
          </a:xfrm>
          <a:prstGeom prst="triangle">
            <a:avLst/>
          </a:prstGeom>
          <a:solidFill>
            <a:srgbClr val="34A853"/>
          </a:solidFill>
          <a:ln/>
        </p:spPr>
      </p:sp>
      <p:sp>
        <p:nvSpPr>
          <p:cNvPr id="73" name="Shape 62"/>
          <p:cNvSpPr/>
          <p:nvPr/>
        </p:nvSpPr>
        <p:spPr>
          <a:xfrm>
            <a:off x="2487168" y="2849506"/>
            <a:ext cx="1152144" cy="786384"/>
          </a:xfrm>
          <a:prstGeom prst="roundRect">
            <a:avLst>
              <a:gd name="adj" fmla="val 5814"/>
            </a:avLst>
          </a:prstGeom>
          <a:solidFill>
            <a:srgbClr val="FFFFFF">
              <a:alpha val="0"/>
            </a:srgbClr>
          </a:solidFill>
          <a:ln w="31750">
            <a:solidFill>
              <a:srgbClr val="E53935"/>
            </a:solidFill>
            <a:prstDash val="solid"/>
          </a:ln>
        </p:spPr>
      </p:sp>
      <p:sp>
        <p:nvSpPr>
          <p:cNvPr id="74" name="Shape 63"/>
          <p:cNvSpPr/>
          <p:nvPr/>
        </p:nvSpPr>
        <p:spPr>
          <a:xfrm>
            <a:off x="3502152" y="2712346"/>
            <a:ext cx="274320" cy="274320"/>
          </a:xfrm>
          <a:prstGeom prst="ellipse">
            <a:avLst/>
          </a:prstGeom>
          <a:solidFill>
            <a:srgbClr val="E53935"/>
          </a:solidFill>
          <a:ln w="12700">
            <a:solidFill>
              <a:srgbClr val="FFFFFF"/>
            </a:solidFill>
            <a:prstDash val="solid"/>
          </a:ln>
        </p:spPr>
      </p:sp>
      <p:sp>
        <p:nvSpPr>
          <p:cNvPr id="75" name="Text 64"/>
          <p:cNvSpPr txBox="1"/>
          <p:nvPr/>
        </p:nvSpPr>
        <p:spPr>
          <a:xfrm>
            <a:off x="350215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6" name="Image 9" descr="preencoded.png">    </p:cNvPr>
          <p:cNvPicPr>
            <a:picLocks noChangeAspect="1"/>
          </p:cNvPicPr>
          <p:nvPr/>
        </p:nvPicPr>
        <p:blipFill>
          <a:blip r:embed="rId10"/>
          <a:stretch>
            <a:fillRect/>
          </a:stretch>
        </p:blipFill>
        <p:spPr>
          <a:xfrm>
            <a:off x="3118104" y="3279274"/>
            <a:ext cx="237744" cy="237744"/>
          </a:xfrm>
          <a:prstGeom prst="rect">
            <a:avLst/>
          </a:prstGeom>
        </p:spPr>
      </p:pic>
      <p:sp>
        <p:nvSpPr>
          <p:cNvPr id="77" name="Text 6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78" name="Text 6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Sisipkan flowchart dan foto sketsa</a:t>
            </a:r>
            <a:endParaRPr lang="en-US" sz="1800" dirty="0"/>
          </a:p>
        </p:txBody>
      </p:sp>
      <p:sp>
        <p:nvSpPr>
          <p:cNvPr id="79" name="Text 6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Insert › Image › Drive: masukkan flowchart (PNG dari diagrams.net) dan foto sketsa layar.</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Proposal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Proposal_Solusi_Kel3 -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Proposal_Solusi_Kel3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6. Rencana Kerja</a:t>
            </a:r>
            <a:endParaRPr lang="en-US" sz="1100" dirty="0"/>
          </a:p>
        </p:txBody>
      </p:sp>
      <p:sp>
        <p:nvSpPr>
          <p:cNvPr id="70" name="Text 59"/>
          <p:cNvSpPr txBox="1"/>
          <p:nvPr/>
        </p:nvSpPr>
        <p:spPr>
          <a:xfrm>
            <a:off x="1645920" y="287693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Modul 4–6: tampilan dan tombol (HTML, CSS, JS)</a:t>
            </a:r>
            <a:endParaRPr lang="en-US" sz="750" dirty="0"/>
          </a:p>
        </p:txBody>
      </p:sp>
      <p:sp>
        <p:nvSpPr>
          <p:cNvPr id="71" name="Text 60"/>
          <p:cNvSpPr txBox="1"/>
          <p:nvPr/>
        </p:nvSpPr>
        <p:spPr>
          <a:xfrm>
            <a:off x="1645920" y="302419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Modul 7–8: menyimpan data (Google Sheets)</a:t>
            </a:r>
            <a:endParaRPr lang="en-US" sz="750" dirty="0"/>
          </a:p>
        </p:txBody>
      </p:sp>
      <p:sp>
        <p:nvSpPr>
          <p:cNvPr id="72" name="Text 61"/>
          <p:cNvSpPr txBox="1"/>
          <p:nvPr/>
        </p:nvSpPr>
        <p:spPr>
          <a:xfrm>
            <a:off x="1554480" y="3171451"/>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7. Ukuran Berhasil</a:t>
            </a:r>
            <a:endParaRPr lang="en-US" sz="1100" dirty="0"/>
          </a:p>
        </p:txBody>
      </p:sp>
      <p:sp>
        <p:nvSpPr>
          <p:cNvPr id="73" name="Text 62"/>
          <p:cNvSpPr txBox="1"/>
          <p:nvPr/>
        </p:nvSpPr>
        <p:spPr>
          <a:xfrm>
            <a:off x="1554480" y="3419736"/>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10 santri memakai web 1 pekan; 7 merasa terbantu.</a:t>
            </a:r>
            <a:endParaRPr lang="en-US" sz="800" dirty="0"/>
          </a:p>
        </p:txBody>
      </p:sp>
      <p:sp>
        <p:nvSpPr>
          <p:cNvPr id="74" name="Shape 63"/>
          <p:cNvSpPr/>
          <p:nvPr/>
        </p:nvSpPr>
        <p:spPr>
          <a:xfrm>
            <a:off x="1527048" y="2601221"/>
            <a:ext cx="3072384" cy="993267"/>
          </a:xfrm>
          <a:prstGeom prst="roundRect">
            <a:avLst>
              <a:gd name="adj" fmla="val 4603"/>
            </a:avLst>
          </a:prstGeom>
          <a:solidFill>
            <a:srgbClr val="FFFFFF">
              <a:alpha val="0"/>
            </a:srgbClr>
          </a:solidFill>
          <a:ln w="31750">
            <a:solidFill>
              <a:srgbClr val="E53935"/>
            </a:solidFill>
            <a:prstDash val="solid"/>
          </a:ln>
        </p:spPr>
      </p:sp>
      <p:sp>
        <p:nvSpPr>
          <p:cNvPr id="75" name="Shape 64"/>
          <p:cNvSpPr/>
          <p:nvPr/>
        </p:nvSpPr>
        <p:spPr>
          <a:xfrm>
            <a:off x="4462272" y="2464061"/>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4640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77" name="Image 9" descr="preencoded.png">    </p:cNvPr>
          <p:cNvPicPr>
            <a:picLocks noChangeAspect="1"/>
          </p:cNvPicPr>
          <p:nvPr/>
        </p:nvPicPr>
        <p:blipFill>
          <a:blip r:embed="rId10"/>
          <a:stretch>
            <a:fillRect/>
          </a:stretch>
        </p:blipFill>
        <p:spPr>
          <a:xfrm>
            <a:off x="3214116" y="3144775"/>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Rencana kerja, alat, dan ukuran berhasil</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jadwal per modul, peran tim, alat gratis (HTML, CSS, JavaScript, GitHub Pages, Sheets), dan ukuran berhasil.</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Pitch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1143000" y="1417320"/>
            <a:ext cx="548640" cy="548640"/>
          </a:xfrm>
          <a:prstGeom prst="ellipse">
            <a:avLst/>
          </a:prstGeom>
          <a:solidFill>
            <a:srgbClr val="E8C39E"/>
          </a:solidFill>
          <a:ln/>
        </p:spPr>
      </p:sp>
      <p:sp>
        <p:nvSpPr>
          <p:cNvPr id="11" name="Shape 7"/>
          <p:cNvSpPr/>
          <p:nvPr/>
        </p:nvSpPr>
        <p:spPr>
          <a:xfrm>
            <a:off x="1005840" y="2011680"/>
            <a:ext cx="822960" cy="1005840"/>
          </a:xfrm>
          <a:prstGeom prst="roundRect">
            <a:avLst>
              <a:gd name="adj" fmla="val 22222"/>
            </a:avLst>
          </a:prstGeom>
          <a:solidFill>
            <a:srgbClr val="E53935"/>
          </a:solidFill>
          <a:ln w="12700">
            <a:solidFill>
              <a:srgbClr val="E53935"/>
            </a:solidFill>
            <a:prstDash val="solid"/>
          </a:ln>
        </p:spPr>
      </p:sp>
      <p:sp>
        <p:nvSpPr>
          <p:cNvPr id="12" name="Text 8"/>
          <p:cNvSpPr txBox="1"/>
          <p:nvPr/>
        </p:nvSpPr>
        <p:spPr>
          <a:xfrm>
            <a:off x="685800" y="3154680"/>
            <a:ext cx="1463040" cy="320040"/>
          </a:xfrm>
          <a:prstGeom prst="rect">
            <a:avLst/>
          </a:prstGeom>
          <a:noFill/>
          <a:ln/>
        </p:spPr>
        <p:txBody>
          <a:bodyPr wrap="square" lIns="0" tIns="0" rIns="0" bIns="0" rtlCol="0" anchor="t"/>
          <a:lstStyle/>
          <a:p>
            <a:pPr algn="ctr" indent="0" marL="0">
              <a:buNone/>
            </a:pPr>
            <a:r>
              <a:rPr lang="en-US" sz="1300" b="1" dirty="0">
                <a:solidFill>
                  <a:srgbClr val="1E2A26"/>
                </a:solidFill>
                <a:latin typeface="Calibri" pitchFamily="34" charset="0"/>
                <a:ea typeface="Calibri" pitchFamily="34" charset="-122"/>
                <a:cs typeface="Calibri" pitchFamily="34" charset="-120"/>
              </a:rPr>
              <a:t>Masalah</a:t>
            </a:r>
            <a:endParaRPr lang="en-US" sz="1300" dirty="0"/>
          </a:p>
        </p:txBody>
      </p:sp>
      <p:sp>
        <p:nvSpPr>
          <p:cNvPr id="13" name="Text 9"/>
          <p:cNvSpPr txBox="1"/>
          <p:nvPr/>
        </p:nvSpPr>
        <p:spPr>
          <a:xfrm>
            <a:off x="685800" y="3474720"/>
            <a:ext cx="1463040" cy="274320"/>
          </a:xfrm>
          <a:prstGeom prst="rect">
            <a:avLst/>
          </a:prstGeom>
          <a:noFill/>
          <a:ln/>
        </p:spPr>
        <p:txBody>
          <a:bodyPr wrap="square" lIns="0" tIns="0" rIns="0" bIns="0" rtlCol="0" anchor="t"/>
          <a:lstStyle/>
          <a:p>
            <a:pPr algn="ctr" indent="0" marL="0">
              <a:buNone/>
            </a:pPr>
            <a:r>
              <a:rPr lang="en-US" sz="1200" dirty="0">
                <a:solidFill>
                  <a:srgbClr val="5F6F68"/>
                </a:solidFill>
                <a:latin typeface="Calibri" pitchFamily="34" charset="0"/>
                <a:ea typeface="Calibri" pitchFamily="34" charset="-122"/>
                <a:cs typeface="Calibri" pitchFamily="34" charset="-120"/>
              </a:rPr>
              <a:t>30 dtk</a:t>
            </a:r>
            <a:endParaRPr lang="en-US" sz="1200" dirty="0"/>
          </a:p>
        </p:txBody>
      </p:sp>
      <p:sp>
        <p:nvSpPr>
          <p:cNvPr id="14" name="Shape 10"/>
          <p:cNvSpPr/>
          <p:nvPr/>
        </p:nvSpPr>
        <p:spPr>
          <a:xfrm>
            <a:off x="2834640" y="1417320"/>
            <a:ext cx="548640" cy="548640"/>
          </a:xfrm>
          <a:prstGeom prst="ellipse">
            <a:avLst/>
          </a:prstGeom>
          <a:solidFill>
            <a:srgbClr val="E8C39E"/>
          </a:solidFill>
          <a:ln/>
        </p:spPr>
      </p:sp>
      <p:sp>
        <p:nvSpPr>
          <p:cNvPr id="15" name="Shape 11"/>
          <p:cNvSpPr/>
          <p:nvPr/>
        </p:nvSpPr>
        <p:spPr>
          <a:xfrm>
            <a:off x="2697480" y="2011680"/>
            <a:ext cx="822960" cy="1005840"/>
          </a:xfrm>
          <a:prstGeom prst="roundRect">
            <a:avLst>
              <a:gd name="adj" fmla="val 22222"/>
            </a:avLst>
          </a:prstGeom>
          <a:solidFill>
            <a:srgbClr val="1F7A5C"/>
          </a:solidFill>
          <a:ln w="12700">
            <a:solidFill>
              <a:srgbClr val="1F7A5C"/>
            </a:solidFill>
            <a:prstDash val="solid"/>
          </a:ln>
        </p:spPr>
      </p:sp>
      <p:sp>
        <p:nvSpPr>
          <p:cNvPr id="16" name="Text 12"/>
          <p:cNvSpPr txBox="1"/>
          <p:nvPr/>
        </p:nvSpPr>
        <p:spPr>
          <a:xfrm>
            <a:off x="2377440" y="3154680"/>
            <a:ext cx="1463040" cy="320040"/>
          </a:xfrm>
          <a:prstGeom prst="rect">
            <a:avLst/>
          </a:prstGeom>
          <a:noFill/>
          <a:ln/>
        </p:spPr>
        <p:txBody>
          <a:bodyPr wrap="square" lIns="0" tIns="0" rIns="0" bIns="0" rtlCol="0" anchor="t"/>
          <a:lstStyle/>
          <a:p>
            <a:pPr algn="ctr" indent="0" marL="0">
              <a:buNone/>
            </a:pPr>
            <a:r>
              <a:rPr lang="en-US" sz="1300" b="1" dirty="0">
                <a:solidFill>
                  <a:srgbClr val="1E2A26"/>
                </a:solidFill>
                <a:latin typeface="Calibri" pitchFamily="34" charset="0"/>
                <a:ea typeface="Calibri" pitchFamily="34" charset="-122"/>
                <a:cs typeface="Calibri" pitchFamily="34" charset="-120"/>
              </a:rPr>
              <a:t>Solusi</a:t>
            </a:r>
            <a:endParaRPr lang="en-US" sz="1300" dirty="0"/>
          </a:p>
        </p:txBody>
      </p:sp>
      <p:sp>
        <p:nvSpPr>
          <p:cNvPr id="17" name="Text 13"/>
          <p:cNvSpPr txBox="1"/>
          <p:nvPr/>
        </p:nvSpPr>
        <p:spPr>
          <a:xfrm>
            <a:off x="2377440" y="3474720"/>
            <a:ext cx="1463040" cy="274320"/>
          </a:xfrm>
          <a:prstGeom prst="rect">
            <a:avLst/>
          </a:prstGeom>
          <a:noFill/>
          <a:ln/>
        </p:spPr>
        <p:txBody>
          <a:bodyPr wrap="square" lIns="0" tIns="0" rIns="0" bIns="0" rtlCol="0" anchor="t"/>
          <a:lstStyle/>
          <a:p>
            <a:pPr algn="ctr" indent="0" marL="0">
              <a:buNone/>
            </a:pPr>
            <a:r>
              <a:rPr lang="en-US" sz="1200" dirty="0">
                <a:solidFill>
                  <a:srgbClr val="5F6F68"/>
                </a:solidFill>
                <a:latin typeface="Calibri" pitchFamily="34" charset="0"/>
                <a:ea typeface="Calibri" pitchFamily="34" charset="-122"/>
                <a:cs typeface="Calibri" pitchFamily="34" charset="-120"/>
              </a:rPr>
              <a:t>90 dtk</a:t>
            </a:r>
            <a:endParaRPr lang="en-US" sz="1200" dirty="0"/>
          </a:p>
        </p:txBody>
      </p:sp>
      <p:sp>
        <p:nvSpPr>
          <p:cNvPr id="18" name="Shape 14"/>
          <p:cNvSpPr/>
          <p:nvPr/>
        </p:nvSpPr>
        <p:spPr>
          <a:xfrm>
            <a:off x="4526280" y="1417320"/>
            <a:ext cx="548640" cy="548640"/>
          </a:xfrm>
          <a:prstGeom prst="ellipse">
            <a:avLst/>
          </a:prstGeom>
          <a:solidFill>
            <a:srgbClr val="E8C39E"/>
          </a:solidFill>
          <a:ln/>
        </p:spPr>
      </p:sp>
      <p:sp>
        <p:nvSpPr>
          <p:cNvPr id="19" name="Shape 15"/>
          <p:cNvSpPr/>
          <p:nvPr/>
        </p:nvSpPr>
        <p:spPr>
          <a:xfrm>
            <a:off x="4389120" y="2011680"/>
            <a:ext cx="822960" cy="1005840"/>
          </a:xfrm>
          <a:prstGeom prst="roundRect">
            <a:avLst>
              <a:gd name="adj" fmla="val 22222"/>
            </a:avLst>
          </a:prstGeom>
          <a:solidFill>
            <a:srgbClr val="0078D4"/>
          </a:solidFill>
          <a:ln w="12700">
            <a:solidFill>
              <a:srgbClr val="0078D4"/>
            </a:solidFill>
            <a:prstDash val="solid"/>
          </a:ln>
        </p:spPr>
      </p:sp>
      <p:sp>
        <p:nvSpPr>
          <p:cNvPr id="20" name="Text 16"/>
          <p:cNvSpPr txBox="1"/>
          <p:nvPr/>
        </p:nvSpPr>
        <p:spPr>
          <a:xfrm>
            <a:off x="4069080" y="3154680"/>
            <a:ext cx="1463040" cy="320040"/>
          </a:xfrm>
          <a:prstGeom prst="rect">
            <a:avLst/>
          </a:prstGeom>
          <a:noFill/>
          <a:ln/>
        </p:spPr>
        <p:txBody>
          <a:bodyPr wrap="square" lIns="0" tIns="0" rIns="0" bIns="0" rtlCol="0" anchor="t"/>
          <a:lstStyle/>
          <a:p>
            <a:pPr algn="ctr" indent="0" marL="0">
              <a:buNone/>
            </a:pPr>
            <a:r>
              <a:rPr lang="en-US" sz="1300" b="1" dirty="0">
                <a:solidFill>
                  <a:srgbClr val="1E2A26"/>
                </a:solidFill>
                <a:latin typeface="Calibri" pitchFamily="34" charset="0"/>
                <a:ea typeface="Calibri" pitchFamily="34" charset="-122"/>
                <a:cs typeface="Calibri" pitchFamily="34" charset="-120"/>
              </a:rPr>
              <a:t>Rencana</a:t>
            </a:r>
            <a:endParaRPr lang="en-US" sz="1300" dirty="0"/>
          </a:p>
        </p:txBody>
      </p:sp>
      <p:sp>
        <p:nvSpPr>
          <p:cNvPr id="21" name="Text 17"/>
          <p:cNvSpPr txBox="1"/>
          <p:nvPr/>
        </p:nvSpPr>
        <p:spPr>
          <a:xfrm>
            <a:off x="4069080" y="3474720"/>
            <a:ext cx="1463040" cy="274320"/>
          </a:xfrm>
          <a:prstGeom prst="rect">
            <a:avLst/>
          </a:prstGeom>
          <a:noFill/>
          <a:ln/>
        </p:spPr>
        <p:txBody>
          <a:bodyPr wrap="square" lIns="0" tIns="0" rIns="0" bIns="0" rtlCol="0" anchor="t"/>
          <a:lstStyle/>
          <a:p>
            <a:pPr algn="ctr" indent="0" marL="0">
              <a:buNone/>
            </a:pPr>
            <a:r>
              <a:rPr lang="en-US" sz="1200" dirty="0">
                <a:solidFill>
                  <a:srgbClr val="5F6F68"/>
                </a:solidFill>
                <a:latin typeface="Calibri" pitchFamily="34" charset="0"/>
                <a:ea typeface="Calibri" pitchFamily="34" charset="-122"/>
                <a:cs typeface="Calibri" pitchFamily="34" charset="-120"/>
              </a:rPr>
              <a:t>60 dtk</a:t>
            </a:r>
            <a:endParaRPr lang="en-US" sz="1200" dirty="0"/>
          </a:p>
        </p:txBody>
      </p:sp>
      <p:pic>
        <p:nvPicPr>
          <p:cNvPr id="22" name="Image 2" descr="preencoded.png">    </p:cNvPr>
          <p:cNvPicPr>
            <a:picLocks noChangeAspect="1"/>
          </p:cNvPicPr>
          <p:nvPr/>
        </p:nvPicPr>
        <p:blipFill>
          <a:blip r:embed="rId3"/>
          <a:stretch>
            <a:fillRect/>
          </a:stretch>
        </p:blipFill>
        <p:spPr>
          <a:xfrm>
            <a:off x="5074920" y="1188720"/>
            <a:ext cx="411480" cy="411480"/>
          </a:xfrm>
          <a:prstGeom prst="rect">
            <a:avLst/>
          </a:prstGeom>
        </p:spPr>
      </p:pic>
      <p:sp>
        <p:nvSpPr>
          <p:cNvPr id="23" name="Text 1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24" name="Text 1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Latihan pitch 3 menit</a:t>
            </a:r>
            <a:endParaRPr lang="en-US" sz="1800" dirty="0"/>
          </a:p>
        </p:txBody>
      </p:sp>
      <p:sp>
        <p:nvSpPr>
          <p:cNvPr id="25" name="Text 2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Bagi bagian: satu orang Masalah, satu Solusi, satu Rencana. Latihan sekali dengan stopwatch.</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Proposal_Solusi_Kel3 -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Proposal_Solusi_Kel3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57810"/>
          </a:xfrm>
          <a:prstGeom prst="rect">
            <a:avLst/>
          </a:prstGeom>
          <a:noFill/>
          <a:ln/>
        </p:spPr>
        <p:txBody>
          <a:bodyPr wrap="square" lIns="0" tIns="0" rIns="0" bIns="0" rtlCol="0" anchor="ctr"/>
          <a:lstStyle/>
          <a:p>
            <a:pPr algn="l" indent="0" marL="0">
              <a:buNone/>
            </a:pPr>
            <a:r>
              <a:rPr lang="en-US" sz="1400" b="1" dirty="0">
                <a:solidFill>
                  <a:srgbClr val="1E2A26"/>
                </a:solidFill>
                <a:latin typeface="Arial" pitchFamily="34" charset="0"/>
                <a:ea typeface="Arial" pitchFamily="34" charset="-122"/>
                <a:cs typeface="Arial" pitchFamily="34" charset="-120"/>
              </a:rPr>
              <a:t>Proposal: Web Jadwal Setoran Harian</a:t>
            </a:r>
            <a:endParaRPr lang="en-US" sz="1400" dirty="0"/>
          </a:p>
        </p:txBody>
      </p:sp>
      <p:sp>
        <p:nvSpPr>
          <p:cNvPr id="70" name="Text 59"/>
          <p:cNvSpPr txBox="1"/>
          <p:nvPr/>
        </p:nvSpPr>
        <p:spPr>
          <a:xfrm>
            <a:off x="1554480" y="293218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Kelompok 3 · Kelas 9A · 2026</a:t>
            </a:r>
            <a:endParaRPr lang="en-US" sz="800" dirty="0"/>
          </a:p>
        </p:txBody>
      </p:sp>
      <p:sp>
        <p:nvSpPr>
          <p:cNvPr id="71" name="Text 60"/>
          <p:cNvSpPr txBox="1"/>
          <p:nvPr/>
        </p:nvSpPr>
        <p:spPr>
          <a:xfrm>
            <a:off x="1554480" y="312522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1. Latar Belakang dan Masalah</a:t>
            </a:r>
            <a:endParaRPr lang="en-US" sz="1100" dirty="0"/>
          </a:p>
        </p:txBody>
      </p:sp>
      <p:sp>
        <p:nvSpPr>
          <p:cNvPr id="72" name="Text 61"/>
          <p:cNvSpPr txBox="1"/>
          <p:nvPr/>
        </p:nvSpPr>
        <p:spPr>
          <a:xfrm>
            <a:off x="1554480" y="337350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Santri A sering lupa ayat yang harus disetor...</a:t>
            </a:r>
            <a:endParaRPr lang="en-US" sz="800" dirty="0"/>
          </a:p>
        </p:txBody>
      </p:sp>
      <p:sp>
        <p:nvSpPr>
          <p:cNvPr id="73" name="Shape 62"/>
          <p:cNvSpPr/>
          <p:nvPr/>
        </p:nvSpPr>
        <p:spPr>
          <a:xfrm>
            <a:off x="1261872" y="2427485"/>
            <a:ext cx="3602736" cy="1586187"/>
          </a:xfrm>
          <a:prstGeom prst="roundRect">
            <a:avLst>
              <a:gd name="adj" fmla="val 2882"/>
            </a:avLst>
          </a:prstGeom>
          <a:solidFill>
            <a:srgbClr val="FFFFFF">
              <a:alpha val="0"/>
            </a:srgbClr>
          </a:solidFill>
          <a:ln w="31750">
            <a:solidFill>
              <a:srgbClr val="E53935"/>
            </a:solidFill>
            <a:prstDash val="solid"/>
          </a:ln>
        </p:spPr>
      </p:sp>
      <p:sp>
        <p:nvSpPr>
          <p:cNvPr id="74" name="Shape 63"/>
          <p:cNvSpPr/>
          <p:nvPr/>
        </p:nvSpPr>
        <p:spPr>
          <a:xfrm>
            <a:off x="4727448" y="2290325"/>
            <a:ext cx="274320" cy="274320"/>
          </a:xfrm>
          <a:prstGeom prst="ellipse">
            <a:avLst/>
          </a:prstGeom>
          <a:solidFill>
            <a:srgbClr val="E53935"/>
          </a:solidFill>
          <a:ln w="12700">
            <a:solidFill>
              <a:srgbClr val="FFFFFF"/>
            </a:solidFill>
            <a:prstDash val="solid"/>
          </a:ln>
        </p:spPr>
      </p:sp>
      <p:sp>
        <p:nvSpPr>
          <p:cNvPr id="75" name="Text 64"/>
          <p:cNvSpPr txBox="1"/>
          <p:nvPr/>
        </p:nvSpPr>
        <p:spPr>
          <a:xfrm>
            <a:off x="4727448" y="22903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76" name="Text 6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77" name="Text 6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Pitch di depan kelas, terima masukan</a:t>
            </a:r>
            <a:endParaRPr lang="en-US" sz="1800" dirty="0"/>
          </a:p>
        </p:txBody>
      </p:sp>
      <p:sp>
        <p:nvSpPr>
          <p:cNvPr id="78" name="Text 6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Tampilkan proposal di proyektor. Pitch 3 menit. Kelas memberi 1 pujian, 1 pertanyaan, 1 saran.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Proposal Solusi Digital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Proposal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Memuat 7 bagian: masalah, pengguna, solusi, fitur, rancangan, rencana, ukuran berhasil.</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Berdasarkan data nyata: 5 Mengapa dan wawancara pengguna.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Memuat flowchart dan sketsa layar yang sudah diuji.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Pitch 3 menit sudah disampaikan; masukan dicatat; disetujui guru.</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2: Problem Solving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Proposal memuat 7 bagian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flowchart dan sketsa</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Rencana kerja realistis</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Pitch 3 menit</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Bagian proposal mana yang paling sulit ditulis?</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Masukan apa yang paling membantu dari presentasi?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Sampaikan dengan jujur: jangan melebih-lebihkan kemampuan solusi.</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3: Prompt Engineering.</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3 Modul 2 - Problem Solving</dc:title>
  <dc:subject>PptxGenJS Presentation</dc:subject>
  <dc:creator>PptxGenJS</dc:creator>
  <cp:lastModifiedBy>PptxGenJS</cp:lastModifiedBy>
  <cp:revision>1</cp:revision>
  <dcterms:created xsi:type="dcterms:W3CDTF">2026-10-02T05:59:33Z</dcterms:created>
  <dcterms:modified xsi:type="dcterms:W3CDTF">2026-10-02T05:59:33Z</dcterms:modified>
</cp:coreProperties>
</file>