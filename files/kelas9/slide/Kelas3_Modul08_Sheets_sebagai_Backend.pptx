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8: Sheets sebagai Backend — Proyek: Formulir Web Tersambung Sheets
Terdiri dari 3 pertemuan (Pertemuan 22–24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Gunakan bahan guru: Bahan_Guru_Kelas9_Modul8_Template_Sheets_Backend.zip (Code.gs, index.html, PETUNJUK_GURU). Seluruh kode di slide sama dengan template, jadi guru dapat menyalin langsung bila santri kesulitan.
- Saat pertama kali deploy, Google meminta izin (Authorize). Jika muncul "Google hasn't verified this app", klik Advanced › Go to (nama proyek). Ini wajar untuk skrip buatan sendiri. Lakukan dengan akun kelas.
- "Who has access: Anyone" berarti siapa saja yang tahu URL dapat mengirim data. Karena itu HANYA DATA LATIHAN, memakai kode (S001) bukan nama, dan validasi di doPost menolak data tidak wajar. Setelah proyek selesai: Deploy › Manage deployments › Archive.
- Materi phishing dan keamanan formulir online (pedoman) dibahas di Pertemuan 22.
CATATAN
Istilah: frontend (tampilan yang dilihat pengguna), backend (program di server yang mengolah data), database (tempat data disimpan), Apps Script (bahasa JavaScript milik Google untuk mengatur Sheets), Web app URL (alamat backend), doGet (membaca data), doPost (menyimpan data), fetch (cara website mengirim/meminta data).
Setiap kali Code.gs diubah: Deploy › Manage deployments › ikon pensil › Version: New version › Deploy. URL tetap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ke-22, dengan judul "Frontend, Backend &amp; Keamanan". Kita mengenal dapur di balik aplikasi, dan belajar waspada terhadap penipuan online.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membangun database proyek di Google Sheets. Sekarang, bagaimana agar website kelompok kalian bisa menyimpan data ke database itu?
Sekarang pertanyaan hari ini. Coba pikirkan sejenak:
"Saat mengisi formulir di website, ke mana sebenarnya data itu pergi?"
(Beri waktu 1 menit. Minta 2–3 santri menjawab. Hargai semua jawaban.)
Data dikirim ke BACKEND, yaitu program di server yang mengolah dan menyimpannya ke DATABASE. Hari ini kita membuat backend pertama dengan Google Apps Script. Dan karena kita berurusan dengan formulir online, kita juga belajar mewaspadai PHISHING.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modern memiliki tiga lapisan, seperti rumah makan.
FRONTEND adalah ruang makan: tampilan yang dilihat dan dipakai pengguna. Ini website kalian dari HTML, CSS, dan JavaScript.
BACKEND adalah dapur: program yang menerima pesanan, mengolah, dan menyimpan data. Kita membuatnya dengan Google Apps Script. Pengunjung tidak melihat dapur, tetapi dapurlah yang bekerja.
DATABASE adalah gudang: tempat bahan-bahan disimpan. Kita memakai Google Sheets, yang sudah kalian rancang di Modul 7.
Alurnya di bawah: santri mengisi formulir di HP, data dikirim ke backend, disimpan di Sheets, lalu dibaca kembali dan ditampilkan di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dibaca fising, berasal dari kata fishing, artinya memancing. Phishing adalah penipuan yang memancing korban agar memberikan kata sandi atau data pribadi melalui link atau formulir palsu.
Kenali tiga cirinya.
ALAMAT PALSU: mirip yang asli, tetapi berbeda sedikit, misalnya g nol nol gle titik com.
TERBURU-BURU ATAU HADIAH: pesan yang menakut-nakuti, akunmu diblokir dalam satu jam, atau menggiurkan, selamat kamu menang HP.
MEMINTA RAHASIA: kata sandi, kode verifikasi, atau PIN. Lembaga resmi tidak pernah meminta ini lewat pesan atau formulir.
Karena hari ini kalian membuat formulir online sendiri, kalian juga harus memastikan formulir kalian tidak pernah meminta data rahasia seperti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formulir yang aman dengan formulir phishing.
Formulir KITA: hanya meminta data latihan seperti kode, surat, dan ayat; menjelaskan untuk apa data dipakai; dan memeriksa atau memvalidasi data yang masuk, sehingga data yang tidak wajar ditolak.
Formulir PHISHING: meminta kata sandi, PIN, atau kode verifikasi; tidak jelas siapa pembuatnya; dan menakut-nakuti agar segera diisi.
Ingat: backend kita bisa dikirimi data oleh siapa saja yang tahu alamatnya. Karena itu kita hanya menyimpan data latihan, dan kita akan menulis validasi di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memakai Google Sheets database proyek dari Modul 7, atau membuat Sheets latihan baru dengan akun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Google Sheets kelompok, buat lembar bernama Setoran, tanda b. Isi baris pertama dengan judul kolom: Waktu, Kode, Surat, Ayat, tanda a.
Tulis persis seperti di layar, termasuk huruf besar-kecilnya, karena kode akan membaca nama lembar dan judul kolom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menu Extensions, lalu Apps Script. Tab baru terbuka berisi editor Apps Script, tempat kita menulis backend.
Apps Script adalah bahasa JavaScript milik Google untuk mengatur Sheets. Jadi yang kalian pelajari di Modul 6 tetap berlaku.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editor, hapus isi Code.gs, lalu ketik fungsi doGet seperti di layar, tanda a: function doGet, kurung e, lalu return ContentService createTextOutput dengan teks salam.
doGet adalah nama khusus: fungsi ini dijalankan saat seseorang membuka alamat backend. Klik ikon Save, tanda b, dan beri nama proyek, misalnya Backend Setoran Kel3.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tombol biru Deploy di kanan atas, tanda a, lalu New deployment, tanda b. Deploy artinya menerbitkan, seperti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ikon roda gigi di Select type, lalu pilih Web app, tanda a.
Isi Description: Versi 1. Execute as: Me, artinya backend berjalan dengan akun kelas. Who has access: Anyone, artinya website kita bisa menghubunginya, tanda b.
Ingat, Anyone berarti siapa saja yang tahu alamatnya. Karena itu kita hanya menyimpan data latihan.
Klik Deploy, tanda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Saat pertama kali, Google meminta izin. Klik Authorize access atau Review permissions, lalu pilih akun kelas.
Mungkin muncul peringatan Google hasn't verified this app. Ini wajar karena skrip buatan sendiri, bukan aplikasi dari orang lain. Klik Advanced, lalu Go to nama proyek, lalu Allow.
Catatan penting dari pelajaran phishing: kita boleh mengizinkan karena kitalah pembuat skrip ini. Jangan pernah mengizinkan skrip atau aplikasi yang tidak kalian kenal.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Muncul Web app URL, alamat backend kalian, tanda a. Klik Copy, tanda b.
Buka tab baru, tempel alamat itu, lalu Enter. Muncul tulisan: Assalamu'alaikum dari backend! Masya Allah, backend pertama kalian sudah hidup di server Google.
Simpan URL ini di Docs kelompok. Jangan disebarkan ke grup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gambar tiga lapisan aplikasi, Web app URL yang menampilkan salam, tiga ciri phishing beserta satu contoh pesan phishing buatan sendiri untuk latihan, dan alasan mengapa backend hanya untuk data latihan.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3 lapisan aplikasi?
- web app menampilkan salam?
- bisa mengenali 3 ciri phishing?
- paham risiko Who has access: Anyone?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formulir online bisa disalahgunakan?
Pertanyaan kedua: apa yang kamu lakukan jika menerima link mencurigakan?
(Minta 2–3 santri menjawab secara bergantian.)
Pesan adab kita hari ini: jangan menipu dan jangan mau ditipu. Rasulullah bersabda, maknanya: seorang mukmin tidak tersengat dari lubang yang sama dua kali. Hadits ini diriwayatkan oleh Bukhari dan Muslim. Waspada adalah bagian dari kecerdasan seorang mukmin.
Pekan depan: menyimpan data dari website ke Google Sheets.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ke-23, dengan judul "Menyimpan &amp; Membaca Data". Hari ini website dan Google Sheets kalian benar-benar tersambung.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backend pertama. Siapa yang ingat, fungsi apa yang dijalankan saat alamat backend dibuka?
(Tunggu jawaban: doGet.)
Sekarang pertanyaan hari ini. Coba pikirkan sejenak:
"Bagaimana tombol Simpan di website bisa menambah baris di Google Sheets?"
(Beri waktu 1 menit. Minta 2–3 santri menjawab. Hargai semua jawaban.)
Website mengirim data ke backend dengan perintah FETCH. Backend menerimanya dengan fungsi doPost, memeriksanya, lalu menambahkan baris ke Sheets. Untuk membaca kembali, website memanggil doGet. Hari ini kita menyambungkan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alur di layar.
MENYIMPAN, panah atas berwarna merah: website mengirim data kode, surat, ayat dengan cara POST ke Apps Script. Fungsi doPost menerimanya, memeriksa apakah datanya wajar, lalu menambahkan baris ke Sheets dengan appendRow.
MEMBACA, panah bawah berwarna hijau: website meminta data dengan cara GET. Fungsi doGet membaca semua baris dari Sheets dengan getValues, lalu mengirimkannya ke website dalam format JSON.
JSON adalah format data yang mudah dibaca JavaScript, berbentuk kurung siku dan kurung kurawal, seperti contoh di bawah. Dari JSON inilah website membuat tabel riwayat.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kita bisa dikirimi data oleh siapa saja yang tahu alamatnya, bahkan tanpa melalui website kita. Karena itu backend harus MEMERIKSA SENDIRI setiap data yang masuk. Ini disebut validasi di backend.
Validasi kita: kode WAJIB DIISI, tidak boleh kosong. Ayat harus angka dalam BATAS WAJAR, 0 sampai 300; di luar itu ditolak. Dan PANJANG teks dibatasi dengan slice, misalnya maksimal 40 huruf.
Ingat validasi di Google Forms dan Sheets di Kelas VIII? Prinsipnya sama: jangan percaya begitu saja pada data yang masuk.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Kode lengkap tersedia di template guru. Santri boleh mengetik ulang sambil memahami, atau menyalin dari template yang dibagikan guru. Yang terpenting: pahami setiap bagian.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kembali editor Apps Script. Ganti fungsi salam dengan doGet yang membaca data, seperti di layar atau dari template guru.
Pahami bagian-bagiannya: getSheetByName mengambil lembar Setoran. getDataRange getValues mengambil semua baris. shift mengambil baris pertama sebagai judul kolom. map mengubah setiap baris menjadi objek dengan nama kolom. Lalu hasilnya dikirim sebagai JSON.
Jika ada bagian yang belum dipahami, tanyakan kepada AI pada giliran kelompok: minta penjelasan baris demi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bawah doGet, tambahkan fungsi doPost.
e titik parameter berisi data yang dikirim website. Kode dan surat dibersihkan dengan trim dan dibatasi panjangnya dengan slice. Ayat diubah menjadi angka dengan Number, seperti di Modul 6.
Baris kuning adalah VALIDASI: jika kode kosong, atau ayat bukan angka, atau di luar 0 sampai 300, kembalikan "ditolak" dan berhenti. Jika lolos, appendRow menambahkan baris baru: waktu sekarang, kode, surat, dan 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Simpan. Di Google Sheets, isi satu baris contoh secara manual di lembar Setoran.
Buka Web app URL di tab browser. Jika muncul JSON berisi baris itu, doGet sudah bekerja. Jika masih muncul salam lama, itu karena backend belum diperbarui. Lanjutkan ke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Ini langkah yang sering terlupa. Setiap kali Code.gs diubah, backend harus diperbarui.
Klik Deploy, Manage deployments. Klik ikon pensil, lalu pada Version pilih New version, dan klik Deploy. URL tetap sama, jadi website tidak perlu diubah.
Buka lagi Web app URL: sekarang muncul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Salin file index.html dari template guru ke folder proyek. Buka dengan Notepad, cari baris URL_APPS_SCRIPT, lalu ganti tulisan TEMPEL_URL_WEB_APP_DI_SINI dengan Web app URL kalian, di antara tanda kutip.
Perhatikan tiga bagian kode yang diberi komentar: alamat backend, menyimpan data, dan membaca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Pahami dua perintah fetch.
MENYIMPAN: data formulir dikumpulkan, lalu fetch dengan method POST mengirimkannya ke backend. Kata await artinya tunggu sampai selesai.
MEMBACA: fetch tanpa method berarti GET. Hasilnya diubah menjadi data JavaScript dengan res titik json.
Satu hal penting tentang keamanan: data ditampilkan dengan textContent, bukan innerHTML, agar isian aneh dari orang lain tidak dijalankan sebagai kode. Tanyakan kepada AI jika ingin tahu lebih dalam.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Buka index.html di browser. Isi kode S001, surat An-Naba, ayat 20, lalu klik Simpan.
Muncul pesan Alhamdulillah, tersimpan. Buka Google Sheets: ada baris baru dengan waktu, kode, surat, dan ayat! Dan tabel Riwayat di website ikut menampilkan data terbaru.
Uji juga validasi: isi ayat 500, lalu Simpan. Baris baru TIDAK bertambah di Sheets, karena backend menolaknya.
Masya Allah, website kalian sekarang tersambung dengan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Code.gs dengan doGet dan doPost yang sudah di-deploy, index.html yang tersambung, bukti uji validasi, serta penjelasan doPost, doGet, dan fetch dengan kata-kata sendiri.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doPost dan doGet tersimpan?
- deploy versi baru?
- data dari web masuk ke Sheets?
- riwayat tampil di web?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tugas doPost dan doGet?
Pertanyaan kedua: mengapa validasi di backend penting?
(Minta 2–3 santri menjawab secara bergantian.)
Pesan adab kita hari ini: data yang dititipkan harus disimpan dengan benar dan tidak diubah tanpa hak. Mengubah data titipan orang lain adalah pengkhianatan amanah.
Pekan depan: proyek Formulir Web Tersambung Sheets.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ke-24, dengan judul "Formulir Web Tersambung Sheets". Hari ini aplikasi kelompok kalian bisa menyimpan dan menampilkan data.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website dan Sheets kalian tersambung. Siapa yang ingat, apa yang harus dilakukan setiap kali Code.gs diubah?
(Tunggu jawaban: deploy versi baru lewat Manage deployments.)
Sekarang pertanyaan hari ini. Coba pikirkan sejenak:
"Aplikasi kelompok kalian sudah bisa menghitung. Bagaimana agar hasilnya juga tersimpan?"
(Beri waktu 1 menit. Minta 2–3 santri menjawab. Hargai semua jawaban.)
Dengan menerapkan template pekan lalu ke aplikasi kelompok: menyesuaikan kolom database, formulir, dan tampilan riwayat sesuai proposal. Hari ini aplikasi kalian naik kelas: dari kalkulator menjadi sistem yang menyimpan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menyesuaikan template dengan proyeknya. Ada empat bagian yang disesuaikan.
DATABASE: judul kolom di Sheets sesuai rancangan Modul 7.
BACKEND: doPost mengambil field sesuai proyek, dengan validasi yang sesuai, dan appendRow dengan urutan kolom yang benar.
FRONTEND: formulir dengan atribut name yang SAMA PERSIS dengan yang dibaca doPost. Jika di HTML name="buku", di doPost harus p titik buku.
TAMPILAN DATA: riwayat, total, atau status, sesuai kebutuhan pengguna di proposal.
Kesalahan paling sering: nama field yang berbeda satu huruf antara HTML dan backend. Ingat bug id "hasill" di Modul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diterbitkan, aplikasi harus lolos daftar periksa keamanan.
Yang WAJIB: hanya data latihan dengan kode santri; validasi di backend untuk setiap field; dan data ditampilkan dengan textContent.
Yang DILARANG: meminta nama lengkap, alamat, nomor HP, atau kata sandi; menyebarkan Web app URL ke grup umum; dan membiarkan backend tetap aktif setelah proyek selesai. Setelah selesai, guru menonaktifkan dengan Archive di Manage deployments.
Kalian sedang memegang kemampuan yang dipakai aplikasi sungguhan. Gunakan dengan amanah.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database proyek dari Modul 7, aplikasi dari Modul 6, dan template dari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Dari proposal dan database Modul 7, tentukan field apa saja yang diisi pengguna. Tulis tabel di Docs: name di HTML, nama kolom di Sheets, dan aturan validasinya.
Tabel ini menjadi peta agar frontend, backend, dan database saling cocok.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Apps Script database proyek, salin Code.gs dari template, lalu sesuaikan. Pastikan NAMA_SHEET sama dengan nama lembar. Ubah doPost: field yang diambil, aturan validasi, dan urutan appendRow sesuai urutan kolom di Sheets.
Kelompok perpustakaan, misalnya, mengambil kode buku dan kode santri; kelompok tahfidz mengambil kode, surat, dan 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Deploy backend: New deployment jika baru, atau New version jika memperbarui. Buka Web app URL di browser: JSON harus tampil dengan nama-nama kolom proyek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index.html proyek kelompok, tambahkan formulir dengan atribut name SAMA PERSIS dengan tabel field. Tempel Web app URL, lalu salin fungsi simpan dan muatData dari template.
Fitur dari Modul 6, seperti perhitungan sisa ayat dan pesan if, tetap dipertahankan.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Selain riwayat, tampilkan satu informasi yang berguna bagi pengguna, sesuai proposal. Misalnya total ayat pekan ini untuk kode tertentu, atau status target tercapai.
Ini latihan yang baik untuk bertanya kepada AI pada giliran kelompok: jelaskan kebutuhan, tempel fungsi muatData, dan minta langkah demi langkah dengan penjelasan.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Uji fungsi dan keamanan, catat di tabel.
Data normal: tersimpan. Ayat 500: ditolak. Kode kosong: ditolak. Dan isi kolom surat dengan teks yang mengandung tag HTML, misalnya kurang dari b lebih dari aneh. Hasilnya harus tampil sebagai teks biasa, bukan menjadi huruf tebal. Ini bukti textContent melindungi aplikasi.
Isi juga daftar periksa keamanan dari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Unggah ke repository GitHub dengan pesan commit: Versi 3, tersambung Google Sheets. Aplikasi otomatis diperbarui di GitHub Pages.
Catatan: Web app URL memang tertulis di kode website, sehingga bisa dilihat orang yang membuka kode sumber. Karena itulah backend hanya menyimpan data latihan dan memiliki validasi.
Presentasikan dengan demo dari HP: isi formulir, tunjukkan data masuk ke Sheets di proyektor, dan data tampil kembali di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versi tiga dinyatakan selesai jika: formulir menyimpan data dengan validasi, data tampil kembali, lolos uji fungsi dan keamanan dengan data latihan saja, serta online, di-commit, dan didemokan dari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aplikasi menyimpan ke Sheets?
- data tampil kembali di web?
- lolos daftar keamanan?
- online di GitHub Pages?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perubahan terbesar aplikasimu setelah tersambung database?
Pertanyaan kedua: apa risiko keamanan yang kamu waspadai?
(Minta 2–3 santri menjawab secara bergantian.)
Pesan adab kita hari ini: kemampuan mengelola data orang adalah amanah besar. Aplikasi seperti WASIAT di pondok kita menyimpan data banyak santri. Gunakan kemampuan ini hanya untuk kebaikan, dan jaga data orang lain seperti menjaga milik sendiri.
Pekan depan: kita masuk Modul 9: AI-Assisted Development. Alhamdulillah, Modul 8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image" Target="../media/image-46-10.png"/><Relationship Id="rId11" Type="http://schemas.openxmlformats.org/officeDocument/2006/relationships/slideLayout" Target="../slideLayouts/slideLayout1.xml"/><Relationship Id="rId1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8</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Sheets sebagai Backend</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Formulir Web Tersambung Sheets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menghubungkan website buatan sendiri dengan Google Sheets melalui Google Apps Script: memahami frontend, backend, dan database, menyimpan data dari formulir web, menampilkannya kembali, serta menjaga keamanan formulir online dan mewaspadai phishing.</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22</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Frontend, Backend &amp; Keamanan</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23</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Menyimpan &amp; Membaca Data</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24</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Formulir Web Tersambung Sheets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Sheets dan Apps Script (akun kelas), Notepad, browser, GitHub Pages, Bahan Guru: Template Sheets Backend, layanan AI (akun pondok, bergiliran, diawasi guru)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Frontend, Backend &amp; Keamanan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Apps Script pertama dan waspada phishing</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Sheets sebagai Backend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Saat mengisi formulir di website, ke mana sebenarnya data itu pergi?</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frontend, backend, dan database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dan menerbitkan Web app pertama dengan Apps Script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phishing dan menjaga keamanan formulir online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Lapisan Aplikasi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Frontend</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Tampilan: HTML, CSS, JS di GitHub Pages</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Backend</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Pengolah: Apps Script (doGet, doPost)</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Database</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Penyimpan: Google Sheets</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Santri mengisi formulir di HP (frontend) → data dikirim ke Apps Script (backend) → disimpan di Sheets (database) → dibaca kembali dan ditampilkan di website.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Waspada Phishing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Apa Itu Phishing?</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Penipuan yang memancing korban memberikan kata sandi atau data pribadi lewat link atau formulir palsu.</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Alamat Palsu</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Mirip asli tetapi beda sedikit: g00gle.com, wihdatulumah-login.xyz.</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Terburu-buru &amp; Hadiah</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"Akunmu diblokir dalam 1 jam!" "Selamat, kamu menang HP!"</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Meminta Rahasia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Meminta kata sandi, kode verifikasi, PIN. Lembaga resmi tidak pernah meminta ini.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Formulir Online yang 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Formulir Kita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Hanya meminta data latihan: kode, surat, ayat</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Menjelaskan untuk apa data dipakai</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Memeriksa (validasi) data yang masuk</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Formulir Phishing</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Meminta kata sandi, PIN, kode verifikasi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Tidak jelas siapa pembuatnya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Menakut-nakuti agar segera diisi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Backend Pertama dengan Apps Script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Akun kelas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Apps Script dari Sheets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Deploy sebagai Web app</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URL backend</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Apps 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Backend_Setoran_Kel3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82296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66768" y="2573789"/>
            <a:ext cx="548640" cy="119299"/>
          </a:xfrm>
          <a:prstGeom prst="rect">
            <a:avLst/>
          </a:prstGeom>
          <a:solidFill>
            <a:srgbClr val="F8F9FA"/>
          </a:solidFill>
          <a:ln w="6350">
            <a:solidFill>
              <a:srgbClr val="DDDDDD"/>
            </a:solidFill>
            <a:prstDash val="solid"/>
          </a:ln>
        </p:spPr>
      </p:sp>
      <p:sp>
        <p:nvSpPr>
          <p:cNvPr id="64" name="Text 56"/>
          <p:cNvSpPr txBox="1"/>
          <p:nvPr/>
        </p:nvSpPr>
        <p:spPr>
          <a:xfrm>
            <a:off x="16667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215408" y="2573789"/>
            <a:ext cx="822960" cy="119299"/>
          </a:xfrm>
          <a:prstGeom prst="rect">
            <a:avLst/>
          </a:prstGeom>
          <a:solidFill>
            <a:srgbClr val="F8F9FA"/>
          </a:solidFill>
          <a:ln w="6350">
            <a:solidFill>
              <a:srgbClr val="DDDDDD"/>
            </a:solidFill>
            <a:prstDash val="solid"/>
          </a:ln>
        </p:spPr>
      </p:sp>
      <p:sp>
        <p:nvSpPr>
          <p:cNvPr id="66" name="Text 58"/>
          <p:cNvSpPr txBox="1"/>
          <p:nvPr/>
        </p:nvSpPr>
        <p:spPr>
          <a:xfrm>
            <a:off x="221540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03836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303836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82296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Waktu</a:t>
            </a:r>
            <a:endParaRPr lang="en-US" sz="600" dirty="0"/>
          </a:p>
        </p:txBody>
      </p:sp>
      <p:sp>
        <p:nvSpPr>
          <p:cNvPr id="73" name="Shape 65"/>
          <p:cNvSpPr/>
          <p:nvPr/>
        </p:nvSpPr>
        <p:spPr>
          <a:xfrm>
            <a:off x="1666768" y="2693089"/>
            <a:ext cx="548640" cy="119299"/>
          </a:xfrm>
          <a:prstGeom prst="rect">
            <a:avLst/>
          </a:prstGeom>
          <a:solidFill>
            <a:srgbClr val="0F4C3A"/>
          </a:solidFill>
          <a:ln w="6350">
            <a:solidFill>
              <a:srgbClr val="E2E2E2"/>
            </a:solidFill>
            <a:prstDash val="solid"/>
          </a:ln>
        </p:spPr>
      </p:sp>
      <p:sp>
        <p:nvSpPr>
          <p:cNvPr id="74" name="Text 66"/>
          <p:cNvSpPr txBox="1"/>
          <p:nvPr/>
        </p:nvSpPr>
        <p:spPr>
          <a:xfrm>
            <a:off x="16942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5" name="Shape 67"/>
          <p:cNvSpPr/>
          <p:nvPr/>
        </p:nvSpPr>
        <p:spPr>
          <a:xfrm>
            <a:off x="2215408" y="2693089"/>
            <a:ext cx="822960" cy="119299"/>
          </a:xfrm>
          <a:prstGeom prst="rect">
            <a:avLst/>
          </a:prstGeom>
          <a:solidFill>
            <a:srgbClr val="0F4C3A"/>
          </a:solidFill>
          <a:ln w="6350">
            <a:solidFill>
              <a:srgbClr val="E2E2E2"/>
            </a:solidFill>
            <a:prstDash val="solid"/>
          </a:ln>
        </p:spPr>
      </p:sp>
      <p:sp>
        <p:nvSpPr>
          <p:cNvPr id="76" name="Text 68"/>
          <p:cNvSpPr txBox="1"/>
          <p:nvPr/>
        </p:nvSpPr>
        <p:spPr>
          <a:xfrm>
            <a:off x="224284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77" name="Shape 69"/>
          <p:cNvSpPr/>
          <p:nvPr/>
        </p:nvSpPr>
        <p:spPr>
          <a:xfrm>
            <a:off x="303836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306580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822960" cy="119299"/>
          </a:xfrm>
          <a:prstGeom prst="rect">
            <a:avLst/>
          </a:prstGeom>
          <a:solidFill>
            <a:srgbClr val="FFFFFF"/>
          </a:solidFill>
          <a:ln w="6350">
            <a:solidFill>
              <a:srgbClr val="E2E2E2"/>
            </a:solidFill>
            <a:prstDash val="solid"/>
          </a:ln>
        </p:spPr>
      </p:sp>
      <p:sp>
        <p:nvSpPr>
          <p:cNvPr id="82" name="Shape 74"/>
          <p:cNvSpPr/>
          <p:nvPr/>
        </p:nvSpPr>
        <p:spPr>
          <a:xfrm>
            <a:off x="1666768" y="2812388"/>
            <a:ext cx="548640" cy="119299"/>
          </a:xfrm>
          <a:prstGeom prst="rect">
            <a:avLst/>
          </a:prstGeom>
          <a:solidFill>
            <a:srgbClr val="FFFFFF"/>
          </a:solidFill>
          <a:ln w="6350">
            <a:solidFill>
              <a:srgbClr val="E2E2E2"/>
            </a:solidFill>
            <a:prstDash val="solid"/>
          </a:ln>
        </p:spPr>
      </p:sp>
      <p:sp>
        <p:nvSpPr>
          <p:cNvPr id="83" name="Shape 75"/>
          <p:cNvSpPr/>
          <p:nvPr/>
        </p:nvSpPr>
        <p:spPr>
          <a:xfrm>
            <a:off x="2215408" y="2812388"/>
            <a:ext cx="822960" cy="119299"/>
          </a:xfrm>
          <a:prstGeom prst="rect">
            <a:avLst/>
          </a:prstGeom>
          <a:solidFill>
            <a:srgbClr val="FFFFFF"/>
          </a:solidFill>
          <a:ln w="6350">
            <a:solidFill>
              <a:srgbClr val="E2E2E2"/>
            </a:solidFill>
            <a:prstDash val="solid"/>
          </a:ln>
        </p:spPr>
      </p:sp>
      <p:sp>
        <p:nvSpPr>
          <p:cNvPr id="84" name="Shape 76"/>
          <p:cNvSpPr/>
          <p:nvPr/>
        </p:nvSpPr>
        <p:spPr>
          <a:xfrm>
            <a:off x="3038368" y="2812388"/>
            <a:ext cx="45720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822960" cy="119299"/>
          </a:xfrm>
          <a:prstGeom prst="rect">
            <a:avLst/>
          </a:prstGeom>
          <a:solidFill>
            <a:srgbClr val="FFFFFF"/>
          </a:solidFill>
          <a:ln w="6350">
            <a:solidFill>
              <a:srgbClr val="E2E2E2"/>
            </a:solidFill>
            <a:prstDash val="solid"/>
          </a:ln>
        </p:spPr>
      </p:sp>
      <p:sp>
        <p:nvSpPr>
          <p:cNvPr id="88" name="Shape 80"/>
          <p:cNvSpPr/>
          <p:nvPr/>
        </p:nvSpPr>
        <p:spPr>
          <a:xfrm>
            <a:off x="1666768" y="2931688"/>
            <a:ext cx="548640" cy="119299"/>
          </a:xfrm>
          <a:prstGeom prst="rect">
            <a:avLst/>
          </a:prstGeom>
          <a:solidFill>
            <a:srgbClr val="FFFFFF"/>
          </a:solidFill>
          <a:ln w="6350">
            <a:solidFill>
              <a:srgbClr val="E2E2E2"/>
            </a:solidFill>
            <a:prstDash val="solid"/>
          </a:ln>
        </p:spPr>
      </p:sp>
      <p:sp>
        <p:nvSpPr>
          <p:cNvPr id="89" name="Shape 81"/>
          <p:cNvSpPr/>
          <p:nvPr/>
        </p:nvSpPr>
        <p:spPr>
          <a:xfrm>
            <a:off x="2215408" y="2931688"/>
            <a:ext cx="822960" cy="119299"/>
          </a:xfrm>
          <a:prstGeom prst="rect">
            <a:avLst/>
          </a:prstGeom>
          <a:solidFill>
            <a:srgbClr val="FFFFFF"/>
          </a:solidFill>
          <a:ln w="6350">
            <a:solidFill>
              <a:srgbClr val="E2E2E2"/>
            </a:solidFill>
            <a:prstDash val="solid"/>
          </a:ln>
        </p:spPr>
      </p:sp>
      <p:sp>
        <p:nvSpPr>
          <p:cNvPr id="90" name="Shape 82"/>
          <p:cNvSpPr/>
          <p:nvPr/>
        </p:nvSpPr>
        <p:spPr>
          <a:xfrm>
            <a:off x="3038368" y="2931688"/>
            <a:ext cx="457200" cy="119299"/>
          </a:xfrm>
          <a:prstGeom prst="rect">
            <a:avLst/>
          </a:prstGeom>
          <a:solidFill>
            <a:srgbClr val="FFFFFF"/>
          </a:solidFill>
          <a:ln w="6350">
            <a:solidFill>
              <a:srgbClr val="E2E2E2"/>
            </a:solidFill>
            <a:prstDash val="solid"/>
          </a:ln>
        </p:spPr>
      </p:sp>
      <p:sp>
        <p:nvSpPr>
          <p:cNvPr id="91" name="Shape 83"/>
          <p:cNvSpPr/>
          <p:nvPr/>
        </p:nvSpPr>
        <p:spPr>
          <a:xfrm>
            <a:off x="587776" y="3050987"/>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3" name="Shape 85"/>
          <p:cNvSpPr/>
          <p:nvPr/>
        </p:nvSpPr>
        <p:spPr>
          <a:xfrm>
            <a:off x="843808" y="3050987"/>
            <a:ext cx="822960" cy="119299"/>
          </a:xfrm>
          <a:prstGeom prst="rect">
            <a:avLst/>
          </a:prstGeom>
          <a:solidFill>
            <a:srgbClr val="FFFFFF"/>
          </a:solidFill>
          <a:ln w="6350">
            <a:solidFill>
              <a:srgbClr val="E2E2E2"/>
            </a:solidFill>
            <a:prstDash val="solid"/>
          </a:ln>
        </p:spPr>
      </p:sp>
      <p:sp>
        <p:nvSpPr>
          <p:cNvPr id="94" name="Shape 86"/>
          <p:cNvSpPr/>
          <p:nvPr/>
        </p:nvSpPr>
        <p:spPr>
          <a:xfrm>
            <a:off x="1666768" y="3050987"/>
            <a:ext cx="548640" cy="119299"/>
          </a:xfrm>
          <a:prstGeom prst="rect">
            <a:avLst/>
          </a:prstGeom>
          <a:solidFill>
            <a:srgbClr val="FFFFFF"/>
          </a:solidFill>
          <a:ln w="6350">
            <a:solidFill>
              <a:srgbClr val="E2E2E2"/>
            </a:solidFill>
            <a:prstDash val="solid"/>
          </a:ln>
        </p:spPr>
      </p:sp>
      <p:sp>
        <p:nvSpPr>
          <p:cNvPr id="95" name="Shape 87"/>
          <p:cNvSpPr/>
          <p:nvPr/>
        </p:nvSpPr>
        <p:spPr>
          <a:xfrm>
            <a:off x="2215408" y="3050987"/>
            <a:ext cx="822960" cy="119299"/>
          </a:xfrm>
          <a:prstGeom prst="rect">
            <a:avLst/>
          </a:prstGeom>
          <a:solidFill>
            <a:srgbClr val="FFFFFF"/>
          </a:solidFill>
          <a:ln w="6350">
            <a:solidFill>
              <a:srgbClr val="E2E2E2"/>
            </a:solidFill>
            <a:prstDash val="solid"/>
          </a:ln>
        </p:spPr>
      </p:sp>
      <p:sp>
        <p:nvSpPr>
          <p:cNvPr id="96" name="Shape 88"/>
          <p:cNvSpPr/>
          <p:nvPr/>
        </p:nvSpPr>
        <p:spPr>
          <a:xfrm>
            <a:off x="3038368" y="3050987"/>
            <a:ext cx="457200" cy="119299"/>
          </a:xfrm>
          <a:prstGeom prst="rect">
            <a:avLst/>
          </a:prstGeom>
          <a:solidFill>
            <a:srgbClr val="FFFFFF"/>
          </a:solidFill>
          <a:ln w="6350">
            <a:solidFill>
              <a:srgbClr val="E2E2E2"/>
            </a:solidFill>
            <a:prstDash val="solid"/>
          </a:ln>
        </p:spPr>
      </p:sp>
      <p:sp>
        <p:nvSpPr>
          <p:cNvPr id="97" name="Shape 89"/>
          <p:cNvSpPr/>
          <p:nvPr/>
        </p:nvSpPr>
        <p:spPr>
          <a:xfrm>
            <a:off x="587776" y="31702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99" name="Shape 91"/>
          <p:cNvSpPr/>
          <p:nvPr/>
        </p:nvSpPr>
        <p:spPr>
          <a:xfrm>
            <a:off x="843808" y="3170287"/>
            <a:ext cx="822960" cy="119299"/>
          </a:xfrm>
          <a:prstGeom prst="rect">
            <a:avLst/>
          </a:prstGeom>
          <a:solidFill>
            <a:srgbClr val="FFFFFF"/>
          </a:solidFill>
          <a:ln w="6350">
            <a:solidFill>
              <a:srgbClr val="E2E2E2"/>
            </a:solidFill>
            <a:prstDash val="solid"/>
          </a:ln>
        </p:spPr>
      </p:sp>
      <p:sp>
        <p:nvSpPr>
          <p:cNvPr id="100" name="Shape 92"/>
          <p:cNvSpPr/>
          <p:nvPr/>
        </p:nvSpPr>
        <p:spPr>
          <a:xfrm>
            <a:off x="1666768" y="3170287"/>
            <a:ext cx="548640" cy="119299"/>
          </a:xfrm>
          <a:prstGeom prst="rect">
            <a:avLst/>
          </a:prstGeom>
          <a:solidFill>
            <a:srgbClr val="FFFFFF"/>
          </a:solidFill>
          <a:ln w="6350">
            <a:solidFill>
              <a:srgbClr val="E2E2E2"/>
            </a:solidFill>
            <a:prstDash val="solid"/>
          </a:ln>
        </p:spPr>
      </p:sp>
      <p:sp>
        <p:nvSpPr>
          <p:cNvPr id="101" name="Shape 93"/>
          <p:cNvSpPr/>
          <p:nvPr/>
        </p:nvSpPr>
        <p:spPr>
          <a:xfrm>
            <a:off x="2215408" y="3170287"/>
            <a:ext cx="822960" cy="119299"/>
          </a:xfrm>
          <a:prstGeom prst="rect">
            <a:avLst/>
          </a:prstGeom>
          <a:solidFill>
            <a:srgbClr val="FFFFFF"/>
          </a:solidFill>
          <a:ln w="6350">
            <a:solidFill>
              <a:srgbClr val="E2E2E2"/>
            </a:solidFill>
            <a:prstDash val="solid"/>
          </a:ln>
        </p:spPr>
      </p:sp>
      <p:sp>
        <p:nvSpPr>
          <p:cNvPr id="102" name="Shape 94"/>
          <p:cNvSpPr/>
          <p:nvPr/>
        </p:nvSpPr>
        <p:spPr>
          <a:xfrm>
            <a:off x="3038368" y="3170287"/>
            <a:ext cx="457200" cy="119299"/>
          </a:xfrm>
          <a:prstGeom prst="rect">
            <a:avLst/>
          </a:prstGeom>
          <a:solidFill>
            <a:srgbClr val="FFFFFF"/>
          </a:solidFill>
          <a:ln w="6350">
            <a:solidFill>
              <a:srgbClr val="E2E2E2"/>
            </a:solidFill>
            <a:prstDash val="solid"/>
          </a:ln>
        </p:spPr>
      </p:sp>
      <p:sp>
        <p:nvSpPr>
          <p:cNvPr id="103" name="Shape 95"/>
          <p:cNvSpPr/>
          <p:nvPr/>
        </p:nvSpPr>
        <p:spPr>
          <a:xfrm>
            <a:off x="587776" y="3289586"/>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05" name="Shape 97"/>
          <p:cNvSpPr/>
          <p:nvPr/>
        </p:nvSpPr>
        <p:spPr>
          <a:xfrm>
            <a:off x="843808" y="3289586"/>
            <a:ext cx="822960" cy="119299"/>
          </a:xfrm>
          <a:prstGeom prst="rect">
            <a:avLst/>
          </a:prstGeom>
          <a:solidFill>
            <a:srgbClr val="FFFFFF"/>
          </a:solidFill>
          <a:ln w="6350">
            <a:solidFill>
              <a:srgbClr val="E2E2E2"/>
            </a:solidFill>
            <a:prstDash val="solid"/>
          </a:ln>
        </p:spPr>
      </p:sp>
      <p:sp>
        <p:nvSpPr>
          <p:cNvPr id="106" name="Shape 98"/>
          <p:cNvSpPr/>
          <p:nvPr/>
        </p:nvSpPr>
        <p:spPr>
          <a:xfrm>
            <a:off x="1666768" y="3289586"/>
            <a:ext cx="548640" cy="119299"/>
          </a:xfrm>
          <a:prstGeom prst="rect">
            <a:avLst/>
          </a:prstGeom>
          <a:solidFill>
            <a:srgbClr val="FFFFFF"/>
          </a:solidFill>
          <a:ln w="6350">
            <a:solidFill>
              <a:srgbClr val="E2E2E2"/>
            </a:solidFill>
            <a:prstDash val="solid"/>
          </a:ln>
        </p:spPr>
      </p:sp>
      <p:sp>
        <p:nvSpPr>
          <p:cNvPr id="107" name="Shape 99"/>
          <p:cNvSpPr/>
          <p:nvPr/>
        </p:nvSpPr>
        <p:spPr>
          <a:xfrm>
            <a:off x="2215408" y="3289586"/>
            <a:ext cx="822960" cy="119299"/>
          </a:xfrm>
          <a:prstGeom prst="rect">
            <a:avLst/>
          </a:prstGeom>
          <a:solidFill>
            <a:srgbClr val="FFFFFF"/>
          </a:solidFill>
          <a:ln w="6350">
            <a:solidFill>
              <a:srgbClr val="E2E2E2"/>
            </a:solidFill>
            <a:prstDash val="solid"/>
          </a:ln>
        </p:spPr>
      </p:sp>
      <p:sp>
        <p:nvSpPr>
          <p:cNvPr id="108" name="Shape 100"/>
          <p:cNvSpPr/>
          <p:nvPr/>
        </p:nvSpPr>
        <p:spPr>
          <a:xfrm>
            <a:off x="3038368" y="3289586"/>
            <a:ext cx="457200" cy="119299"/>
          </a:xfrm>
          <a:prstGeom prst="rect">
            <a:avLst/>
          </a:prstGeom>
          <a:solidFill>
            <a:srgbClr val="FFFFFF"/>
          </a:solidFill>
          <a:ln w="6350">
            <a:solidFill>
              <a:srgbClr val="E2E2E2"/>
            </a:solidFill>
            <a:prstDash val="solid"/>
          </a:ln>
        </p:spPr>
      </p:sp>
      <p:sp>
        <p:nvSpPr>
          <p:cNvPr id="109" name="Shape 101"/>
          <p:cNvSpPr/>
          <p:nvPr/>
        </p:nvSpPr>
        <p:spPr>
          <a:xfrm>
            <a:off x="587776" y="3408885"/>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1" name="Shape 103"/>
          <p:cNvSpPr/>
          <p:nvPr/>
        </p:nvSpPr>
        <p:spPr>
          <a:xfrm>
            <a:off x="843808" y="3408885"/>
            <a:ext cx="822960" cy="119299"/>
          </a:xfrm>
          <a:prstGeom prst="rect">
            <a:avLst/>
          </a:prstGeom>
          <a:solidFill>
            <a:srgbClr val="FFFFFF"/>
          </a:solidFill>
          <a:ln w="6350">
            <a:solidFill>
              <a:srgbClr val="E2E2E2"/>
            </a:solidFill>
            <a:prstDash val="solid"/>
          </a:ln>
        </p:spPr>
      </p:sp>
      <p:sp>
        <p:nvSpPr>
          <p:cNvPr id="112" name="Shape 104"/>
          <p:cNvSpPr/>
          <p:nvPr/>
        </p:nvSpPr>
        <p:spPr>
          <a:xfrm>
            <a:off x="1666768" y="3408885"/>
            <a:ext cx="548640" cy="119299"/>
          </a:xfrm>
          <a:prstGeom prst="rect">
            <a:avLst/>
          </a:prstGeom>
          <a:solidFill>
            <a:srgbClr val="FFFFFF"/>
          </a:solidFill>
          <a:ln w="6350">
            <a:solidFill>
              <a:srgbClr val="E2E2E2"/>
            </a:solidFill>
            <a:prstDash val="solid"/>
          </a:ln>
        </p:spPr>
      </p:sp>
      <p:sp>
        <p:nvSpPr>
          <p:cNvPr id="113" name="Shape 105"/>
          <p:cNvSpPr/>
          <p:nvPr/>
        </p:nvSpPr>
        <p:spPr>
          <a:xfrm>
            <a:off x="2215408" y="3408885"/>
            <a:ext cx="822960" cy="119299"/>
          </a:xfrm>
          <a:prstGeom prst="rect">
            <a:avLst/>
          </a:prstGeom>
          <a:solidFill>
            <a:srgbClr val="FFFFFF"/>
          </a:solidFill>
          <a:ln w="6350">
            <a:solidFill>
              <a:srgbClr val="E2E2E2"/>
            </a:solidFill>
            <a:prstDash val="solid"/>
          </a:ln>
        </p:spPr>
      </p:sp>
      <p:sp>
        <p:nvSpPr>
          <p:cNvPr id="114" name="Shape 106"/>
          <p:cNvSpPr/>
          <p:nvPr/>
        </p:nvSpPr>
        <p:spPr>
          <a:xfrm>
            <a:off x="3038368" y="3408885"/>
            <a:ext cx="457200" cy="119299"/>
          </a:xfrm>
          <a:prstGeom prst="rect">
            <a:avLst/>
          </a:prstGeom>
          <a:solidFill>
            <a:srgbClr val="FFFFFF"/>
          </a:solidFill>
          <a:ln w="6350">
            <a:solidFill>
              <a:srgbClr val="E2E2E2"/>
            </a:solidFill>
            <a:prstDash val="solid"/>
          </a:ln>
        </p:spPr>
      </p:sp>
      <p:sp>
        <p:nvSpPr>
          <p:cNvPr id="115" name="Shape 107"/>
          <p:cNvSpPr/>
          <p:nvPr/>
        </p:nvSpPr>
        <p:spPr>
          <a:xfrm>
            <a:off x="587776" y="35281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17" name="Shape 109"/>
          <p:cNvSpPr/>
          <p:nvPr/>
        </p:nvSpPr>
        <p:spPr>
          <a:xfrm>
            <a:off x="843808" y="3528185"/>
            <a:ext cx="822960" cy="119299"/>
          </a:xfrm>
          <a:prstGeom prst="rect">
            <a:avLst/>
          </a:prstGeom>
          <a:solidFill>
            <a:srgbClr val="FFFFFF"/>
          </a:solidFill>
          <a:ln w="6350">
            <a:solidFill>
              <a:srgbClr val="E2E2E2"/>
            </a:solidFill>
            <a:prstDash val="solid"/>
          </a:ln>
        </p:spPr>
      </p:sp>
      <p:sp>
        <p:nvSpPr>
          <p:cNvPr id="118" name="Shape 110"/>
          <p:cNvSpPr/>
          <p:nvPr/>
        </p:nvSpPr>
        <p:spPr>
          <a:xfrm>
            <a:off x="1666768" y="3528185"/>
            <a:ext cx="548640" cy="119299"/>
          </a:xfrm>
          <a:prstGeom prst="rect">
            <a:avLst/>
          </a:prstGeom>
          <a:solidFill>
            <a:srgbClr val="FFFFFF"/>
          </a:solidFill>
          <a:ln w="6350">
            <a:solidFill>
              <a:srgbClr val="E2E2E2"/>
            </a:solidFill>
            <a:prstDash val="solid"/>
          </a:ln>
        </p:spPr>
      </p:sp>
      <p:sp>
        <p:nvSpPr>
          <p:cNvPr id="119" name="Shape 111"/>
          <p:cNvSpPr/>
          <p:nvPr/>
        </p:nvSpPr>
        <p:spPr>
          <a:xfrm>
            <a:off x="2215408" y="3528185"/>
            <a:ext cx="822960" cy="119299"/>
          </a:xfrm>
          <a:prstGeom prst="rect">
            <a:avLst/>
          </a:prstGeom>
          <a:solidFill>
            <a:srgbClr val="FFFFFF"/>
          </a:solidFill>
          <a:ln w="6350">
            <a:solidFill>
              <a:srgbClr val="E2E2E2"/>
            </a:solidFill>
            <a:prstDash val="solid"/>
          </a:ln>
        </p:spPr>
      </p:sp>
      <p:sp>
        <p:nvSpPr>
          <p:cNvPr id="120" name="Shape 112"/>
          <p:cNvSpPr/>
          <p:nvPr/>
        </p:nvSpPr>
        <p:spPr>
          <a:xfrm>
            <a:off x="3038368" y="3528185"/>
            <a:ext cx="457200" cy="119299"/>
          </a:xfrm>
          <a:prstGeom prst="rect">
            <a:avLst/>
          </a:prstGeom>
          <a:solidFill>
            <a:srgbClr val="FFFFFF"/>
          </a:solidFill>
          <a:ln w="6350">
            <a:solidFill>
              <a:srgbClr val="E2E2E2"/>
            </a:solidFill>
            <a:prstDash val="solid"/>
          </a:ln>
        </p:spPr>
      </p:sp>
      <p:sp>
        <p:nvSpPr>
          <p:cNvPr id="121" name="Shape 113"/>
          <p:cNvSpPr/>
          <p:nvPr/>
        </p:nvSpPr>
        <p:spPr>
          <a:xfrm>
            <a:off x="587776" y="3647484"/>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3" name="Shape 115"/>
          <p:cNvSpPr/>
          <p:nvPr/>
        </p:nvSpPr>
        <p:spPr>
          <a:xfrm>
            <a:off x="843808" y="3647484"/>
            <a:ext cx="822960" cy="119299"/>
          </a:xfrm>
          <a:prstGeom prst="rect">
            <a:avLst/>
          </a:prstGeom>
          <a:solidFill>
            <a:srgbClr val="FFFFFF"/>
          </a:solidFill>
          <a:ln w="6350">
            <a:solidFill>
              <a:srgbClr val="E2E2E2"/>
            </a:solidFill>
            <a:prstDash val="solid"/>
          </a:ln>
        </p:spPr>
      </p:sp>
      <p:sp>
        <p:nvSpPr>
          <p:cNvPr id="124" name="Shape 116"/>
          <p:cNvSpPr/>
          <p:nvPr/>
        </p:nvSpPr>
        <p:spPr>
          <a:xfrm>
            <a:off x="1666768" y="3647484"/>
            <a:ext cx="548640" cy="119299"/>
          </a:xfrm>
          <a:prstGeom prst="rect">
            <a:avLst/>
          </a:prstGeom>
          <a:solidFill>
            <a:srgbClr val="FFFFFF"/>
          </a:solidFill>
          <a:ln w="6350">
            <a:solidFill>
              <a:srgbClr val="E2E2E2"/>
            </a:solidFill>
            <a:prstDash val="solid"/>
          </a:ln>
        </p:spPr>
      </p:sp>
      <p:sp>
        <p:nvSpPr>
          <p:cNvPr id="125" name="Shape 117"/>
          <p:cNvSpPr/>
          <p:nvPr/>
        </p:nvSpPr>
        <p:spPr>
          <a:xfrm>
            <a:off x="2215408" y="3647484"/>
            <a:ext cx="822960" cy="119299"/>
          </a:xfrm>
          <a:prstGeom prst="rect">
            <a:avLst/>
          </a:prstGeom>
          <a:solidFill>
            <a:srgbClr val="FFFFFF"/>
          </a:solidFill>
          <a:ln w="6350">
            <a:solidFill>
              <a:srgbClr val="E2E2E2"/>
            </a:solidFill>
            <a:prstDash val="solid"/>
          </a:ln>
        </p:spPr>
      </p:sp>
      <p:sp>
        <p:nvSpPr>
          <p:cNvPr id="126" name="Shape 118"/>
          <p:cNvSpPr/>
          <p:nvPr/>
        </p:nvSpPr>
        <p:spPr>
          <a:xfrm>
            <a:off x="3038368" y="3647484"/>
            <a:ext cx="457200" cy="119299"/>
          </a:xfrm>
          <a:prstGeom prst="rect">
            <a:avLst/>
          </a:prstGeom>
          <a:solidFill>
            <a:srgbClr val="FFFFFF"/>
          </a:solidFill>
          <a:ln w="6350">
            <a:solidFill>
              <a:srgbClr val="E2E2E2"/>
            </a:solidFill>
            <a:prstDash val="solid"/>
          </a:ln>
        </p:spPr>
      </p:sp>
      <p:sp>
        <p:nvSpPr>
          <p:cNvPr id="127" name="Shape 119"/>
          <p:cNvSpPr/>
          <p:nvPr/>
        </p:nvSpPr>
        <p:spPr>
          <a:xfrm>
            <a:off x="587776" y="3794216"/>
            <a:ext cx="4950927" cy="201168"/>
          </a:xfrm>
          <a:prstGeom prst="rect">
            <a:avLst/>
          </a:prstGeom>
          <a:solidFill>
            <a:srgbClr val="F8F9FA"/>
          </a:solidFill>
          <a:ln w="12700">
            <a:solidFill>
              <a:srgbClr val="F8F9FA"/>
            </a:solidFill>
            <a:prstDash val="solid"/>
          </a:ln>
        </p:spPr>
      </p:sp>
      <p:sp>
        <p:nvSpPr>
          <p:cNvPr id="128" name="Text 12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29" name="Shape 121"/>
          <p:cNvSpPr/>
          <p:nvPr/>
        </p:nvSpPr>
        <p:spPr>
          <a:xfrm>
            <a:off x="1136416" y="3794216"/>
            <a:ext cx="731520" cy="201168"/>
          </a:xfrm>
          <a:prstGeom prst="rect">
            <a:avLst/>
          </a:prstGeom>
          <a:solidFill>
            <a:srgbClr val="E1EFFE"/>
          </a:solidFill>
          <a:ln w="12700">
            <a:solidFill>
              <a:srgbClr val="E1EFFE"/>
            </a:solidFill>
            <a:prstDash val="solid"/>
          </a:ln>
        </p:spPr>
      </p:sp>
      <p:sp>
        <p:nvSpPr>
          <p:cNvPr id="130" name="Text 122"/>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31" name="Shape 123"/>
          <p:cNvSpPr/>
          <p:nvPr/>
        </p:nvSpPr>
        <p:spPr>
          <a:xfrm>
            <a:off x="825520" y="2674801"/>
            <a:ext cx="2688336" cy="155875"/>
          </a:xfrm>
          <a:prstGeom prst="roundRect">
            <a:avLst>
              <a:gd name="adj" fmla="val 29331"/>
            </a:avLst>
          </a:prstGeom>
          <a:solidFill>
            <a:srgbClr val="FFFFFF">
              <a:alpha val="0"/>
            </a:srgbClr>
          </a:solidFill>
          <a:ln w="31750">
            <a:solidFill>
              <a:srgbClr val="E53935"/>
            </a:solidFill>
            <a:prstDash val="solid"/>
          </a:ln>
        </p:spPr>
      </p:sp>
      <p:sp>
        <p:nvSpPr>
          <p:cNvPr id="132" name="Shape 124"/>
          <p:cNvSpPr/>
          <p:nvPr/>
        </p:nvSpPr>
        <p:spPr>
          <a:xfrm>
            <a:off x="3376696" y="2537641"/>
            <a:ext cx="274320" cy="274320"/>
          </a:xfrm>
          <a:prstGeom prst="ellipse">
            <a:avLst/>
          </a:prstGeom>
          <a:solidFill>
            <a:srgbClr val="E53935"/>
          </a:solidFill>
          <a:ln w="12700">
            <a:solidFill>
              <a:srgbClr val="FFFFFF"/>
            </a:solidFill>
            <a:prstDash val="solid"/>
          </a:ln>
        </p:spPr>
      </p:sp>
      <p:sp>
        <p:nvSpPr>
          <p:cNvPr id="133" name="Text 125"/>
          <p:cNvSpPr txBox="1"/>
          <p:nvPr/>
        </p:nvSpPr>
        <p:spPr>
          <a:xfrm>
            <a:off x="337669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34" name="Image 6" descr="preencoded.png">    </p:cNvPr>
          <p:cNvPicPr>
            <a:picLocks noChangeAspect="1"/>
          </p:cNvPicPr>
          <p:nvPr/>
        </p:nvPicPr>
        <p:blipFill>
          <a:blip r:embed="rId7"/>
          <a:stretch>
            <a:fillRect/>
          </a:stretch>
        </p:blipFill>
        <p:spPr>
          <a:xfrm>
            <a:off x="2302276" y="2758703"/>
            <a:ext cx="237744" cy="237744"/>
          </a:xfrm>
          <a:prstGeom prst="rect">
            <a:avLst/>
          </a:prstGeom>
        </p:spPr>
      </p:pic>
      <p:sp>
        <p:nvSpPr>
          <p:cNvPr id="135" name="Shape 126"/>
          <p:cNvSpPr/>
          <p:nvPr/>
        </p:nvSpPr>
        <p:spPr>
          <a:xfrm>
            <a:off x="111812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136" name="Shape 127"/>
          <p:cNvSpPr/>
          <p:nvPr/>
        </p:nvSpPr>
        <p:spPr>
          <a:xfrm>
            <a:off x="1749064" y="3638768"/>
            <a:ext cx="274320" cy="274320"/>
          </a:xfrm>
          <a:prstGeom prst="ellipse">
            <a:avLst/>
          </a:prstGeom>
          <a:solidFill>
            <a:srgbClr val="E53935"/>
          </a:solidFill>
          <a:ln w="12700">
            <a:solidFill>
              <a:srgbClr val="FFFFFF"/>
            </a:solidFill>
            <a:prstDash val="solid"/>
          </a:ln>
        </p:spPr>
      </p:sp>
      <p:sp>
        <p:nvSpPr>
          <p:cNvPr id="137" name="Text 128"/>
          <p:cNvSpPr txBox="1"/>
          <p:nvPr/>
        </p:nvSpPr>
        <p:spPr>
          <a:xfrm>
            <a:off x="174906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38" name="Image 7" descr="preencoded.png">    </p:cNvPr>
          <p:cNvPicPr>
            <a:picLocks noChangeAspect="1"/>
          </p:cNvPicPr>
          <p:nvPr/>
        </p:nvPicPr>
        <p:blipFill>
          <a:blip r:embed="rId8"/>
          <a:stretch>
            <a:fillRect/>
          </a:stretch>
        </p:blipFill>
        <p:spPr>
          <a:xfrm>
            <a:off x="1538752" y="3904858"/>
            <a:ext cx="237744" cy="237744"/>
          </a:xfrm>
          <a:prstGeom prst="rect">
            <a:avLst/>
          </a:prstGeom>
        </p:spPr>
      </p:pic>
      <p:sp>
        <p:nvSpPr>
          <p:cNvPr id="139" name="Text 1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40" name="Text 1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lembar Setoran</a:t>
            </a:r>
            <a:endParaRPr lang="en-US" sz="1800" dirty="0"/>
          </a:p>
        </p:txBody>
      </p:sp>
      <p:sp>
        <p:nvSpPr>
          <p:cNvPr id="141" name="Text 1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Sheets kelompok, buat lembar bernama Setoran. Baris 1: Waktu | Kode | Surat | Ayat.</a:t>
            </a:r>
            <a:endParaRPr lang="en-US" sz="1300" dirty="0"/>
          </a:p>
        </p:txBody>
      </p:sp>
      <p:sp>
        <p:nvSpPr>
          <p:cNvPr id="142" name="Shape 13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43"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144" name="Text 13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Nama lembar dan judul kolom harus persis, karena dibaca oleh kode.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Apps 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Backend_Setoran_Kel3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82296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66768" y="2573789"/>
            <a:ext cx="548640" cy="119299"/>
          </a:xfrm>
          <a:prstGeom prst="rect">
            <a:avLst/>
          </a:prstGeom>
          <a:solidFill>
            <a:srgbClr val="F8F9FA"/>
          </a:solidFill>
          <a:ln w="6350">
            <a:solidFill>
              <a:srgbClr val="DDDDDD"/>
            </a:solidFill>
            <a:prstDash val="solid"/>
          </a:ln>
        </p:spPr>
      </p:sp>
      <p:sp>
        <p:nvSpPr>
          <p:cNvPr id="64" name="Text 56"/>
          <p:cNvSpPr txBox="1"/>
          <p:nvPr/>
        </p:nvSpPr>
        <p:spPr>
          <a:xfrm>
            <a:off x="16667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215408" y="2573789"/>
            <a:ext cx="822960" cy="119299"/>
          </a:xfrm>
          <a:prstGeom prst="rect">
            <a:avLst/>
          </a:prstGeom>
          <a:solidFill>
            <a:srgbClr val="F8F9FA"/>
          </a:solidFill>
          <a:ln w="6350">
            <a:solidFill>
              <a:srgbClr val="DDDDDD"/>
            </a:solidFill>
            <a:prstDash val="solid"/>
          </a:ln>
        </p:spPr>
      </p:sp>
      <p:sp>
        <p:nvSpPr>
          <p:cNvPr id="66" name="Text 58"/>
          <p:cNvSpPr txBox="1"/>
          <p:nvPr/>
        </p:nvSpPr>
        <p:spPr>
          <a:xfrm>
            <a:off x="221540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03836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303836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82296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Waktu</a:t>
            </a:r>
            <a:endParaRPr lang="en-US" sz="600" dirty="0"/>
          </a:p>
        </p:txBody>
      </p:sp>
      <p:sp>
        <p:nvSpPr>
          <p:cNvPr id="73" name="Shape 65"/>
          <p:cNvSpPr/>
          <p:nvPr/>
        </p:nvSpPr>
        <p:spPr>
          <a:xfrm>
            <a:off x="1666768" y="2693089"/>
            <a:ext cx="548640" cy="119299"/>
          </a:xfrm>
          <a:prstGeom prst="rect">
            <a:avLst/>
          </a:prstGeom>
          <a:solidFill>
            <a:srgbClr val="0F4C3A"/>
          </a:solidFill>
          <a:ln w="6350">
            <a:solidFill>
              <a:srgbClr val="E2E2E2"/>
            </a:solidFill>
            <a:prstDash val="solid"/>
          </a:ln>
        </p:spPr>
      </p:sp>
      <p:sp>
        <p:nvSpPr>
          <p:cNvPr id="74" name="Text 66"/>
          <p:cNvSpPr txBox="1"/>
          <p:nvPr/>
        </p:nvSpPr>
        <p:spPr>
          <a:xfrm>
            <a:off x="16942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5" name="Shape 67"/>
          <p:cNvSpPr/>
          <p:nvPr/>
        </p:nvSpPr>
        <p:spPr>
          <a:xfrm>
            <a:off x="2215408" y="2693089"/>
            <a:ext cx="822960" cy="119299"/>
          </a:xfrm>
          <a:prstGeom prst="rect">
            <a:avLst/>
          </a:prstGeom>
          <a:solidFill>
            <a:srgbClr val="0F4C3A"/>
          </a:solidFill>
          <a:ln w="6350">
            <a:solidFill>
              <a:srgbClr val="E2E2E2"/>
            </a:solidFill>
            <a:prstDash val="solid"/>
          </a:ln>
        </p:spPr>
      </p:sp>
      <p:sp>
        <p:nvSpPr>
          <p:cNvPr id="76" name="Text 68"/>
          <p:cNvSpPr txBox="1"/>
          <p:nvPr/>
        </p:nvSpPr>
        <p:spPr>
          <a:xfrm>
            <a:off x="224284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77" name="Shape 69"/>
          <p:cNvSpPr/>
          <p:nvPr/>
        </p:nvSpPr>
        <p:spPr>
          <a:xfrm>
            <a:off x="303836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306580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822960" cy="119299"/>
          </a:xfrm>
          <a:prstGeom prst="rect">
            <a:avLst/>
          </a:prstGeom>
          <a:solidFill>
            <a:srgbClr val="FFFFFF"/>
          </a:solidFill>
          <a:ln w="6350">
            <a:solidFill>
              <a:srgbClr val="E2E2E2"/>
            </a:solidFill>
            <a:prstDash val="solid"/>
          </a:ln>
        </p:spPr>
      </p:sp>
      <p:sp>
        <p:nvSpPr>
          <p:cNvPr id="82" name="Shape 74"/>
          <p:cNvSpPr/>
          <p:nvPr/>
        </p:nvSpPr>
        <p:spPr>
          <a:xfrm>
            <a:off x="1666768" y="2812388"/>
            <a:ext cx="548640" cy="119299"/>
          </a:xfrm>
          <a:prstGeom prst="rect">
            <a:avLst/>
          </a:prstGeom>
          <a:solidFill>
            <a:srgbClr val="FFFFFF"/>
          </a:solidFill>
          <a:ln w="6350">
            <a:solidFill>
              <a:srgbClr val="E2E2E2"/>
            </a:solidFill>
            <a:prstDash val="solid"/>
          </a:ln>
        </p:spPr>
      </p:sp>
      <p:sp>
        <p:nvSpPr>
          <p:cNvPr id="83" name="Shape 75"/>
          <p:cNvSpPr/>
          <p:nvPr/>
        </p:nvSpPr>
        <p:spPr>
          <a:xfrm>
            <a:off x="2215408" y="2812388"/>
            <a:ext cx="822960" cy="119299"/>
          </a:xfrm>
          <a:prstGeom prst="rect">
            <a:avLst/>
          </a:prstGeom>
          <a:solidFill>
            <a:srgbClr val="FFFFFF"/>
          </a:solidFill>
          <a:ln w="6350">
            <a:solidFill>
              <a:srgbClr val="E2E2E2"/>
            </a:solidFill>
            <a:prstDash val="solid"/>
          </a:ln>
        </p:spPr>
      </p:sp>
      <p:sp>
        <p:nvSpPr>
          <p:cNvPr id="84" name="Shape 76"/>
          <p:cNvSpPr/>
          <p:nvPr/>
        </p:nvSpPr>
        <p:spPr>
          <a:xfrm>
            <a:off x="3038368" y="2812388"/>
            <a:ext cx="45720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822960" cy="119299"/>
          </a:xfrm>
          <a:prstGeom prst="rect">
            <a:avLst/>
          </a:prstGeom>
          <a:solidFill>
            <a:srgbClr val="FFFFFF"/>
          </a:solidFill>
          <a:ln w="6350">
            <a:solidFill>
              <a:srgbClr val="E2E2E2"/>
            </a:solidFill>
            <a:prstDash val="solid"/>
          </a:ln>
        </p:spPr>
      </p:sp>
      <p:sp>
        <p:nvSpPr>
          <p:cNvPr id="88" name="Shape 80"/>
          <p:cNvSpPr/>
          <p:nvPr/>
        </p:nvSpPr>
        <p:spPr>
          <a:xfrm>
            <a:off x="1666768" y="2931688"/>
            <a:ext cx="548640" cy="119299"/>
          </a:xfrm>
          <a:prstGeom prst="rect">
            <a:avLst/>
          </a:prstGeom>
          <a:solidFill>
            <a:srgbClr val="FFFFFF"/>
          </a:solidFill>
          <a:ln w="6350">
            <a:solidFill>
              <a:srgbClr val="E2E2E2"/>
            </a:solidFill>
            <a:prstDash val="solid"/>
          </a:ln>
        </p:spPr>
      </p:sp>
      <p:sp>
        <p:nvSpPr>
          <p:cNvPr id="89" name="Shape 81"/>
          <p:cNvSpPr/>
          <p:nvPr/>
        </p:nvSpPr>
        <p:spPr>
          <a:xfrm>
            <a:off x="2215408" y="2931688"/>
            <a:ext cx="822960" cy="119299"/>
          </a:xfrm>
          <a:prstGeom prst="rect">
            <a:avLst/>
          </a:prstGeom>
          <a:solidFill>
            <a:srgbClr val="FFFFFF"/>
          </a:solidFill>
          <a:ln w="6350">
            <a:solidFill>
              <a:srgbClr val="E2E2E2"/>
            </a:solidFill>
            <a:prstDash val="solid"/>
          </a:ln>
        </p:spPr>
      </p:sp>
      <p:sp>
        <p:nvSpPr>
          <p:cNvPr id="90" name="Shape 82"/>
          <p:cNvSpPr/>
          <p:nvPr/>
        </p:nvSpPr>
        <p:spPr>
          <a:xfrm>
            <a:off x="3038368" y="2931688"/>
            <a:ext cx="457200" cy="119299"/>
          </a:xfrm>
          <a:prstGeom prst="rect">
            <a:avLst/>
          </a:prstGeom>
          <a:solidFill>
            <a:srgbClr val="FFFFFF"/>
          </a:solidFill>
          <a:ln w="6350">
            <a:solidFill>
              <a:srgbClr val="E2E2E2"/>
            </a:solidFill>
            <a:prstDash val="solid"/>
          </a:ln>
        </p:spPr>
      </p:sp>
      <p:sp>
        <p:nvSpPr>
          <p:cNvPr id="91" name="Shape 83"/>
          <p:cNvSpPr/>
          <p:nvPr/>
        </p:nvSpPr>
        <p:spPr>
          <a:xfrm>
            <a:off x="587776" y="3050987"/>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3" name="Shape 85"/>
          <p:cNvSpPr/>
          <p:nvPr/>
        </p:nvSpPr>
        <p:spPr>
          <a:xfrm>
            <a:off x="843808" y="3050987"/>
            <a:ext cx="822960" cy="119299"/>
          </a:xfrm>
          <a:prstGeom prst="rect">
            <a:avLst/>
          </a:prstGeom>
          <a:solidFill>
            <a:srgbClr val="FFFFFF"/>
          </a:solidFill>
          <a:ln w="6350">
            <a:solidFill>
              <a:srgbClr val="E2E2E2"/>
            </a:solidFill>
            <a:prstDash val="solid"/>
          </a:ln>
        </p:spPr>
      </p:sp>
      <p:sp>
        <p:nvSpPr>
          <p:cNvPr id="94" name="Shape 86"/>
          <p:cNvSpPr/>
          <p:nvPr/>
        </p:nvSpPr>
        <p:spPr>
          <a:xfrm>
            <a:off x="1666768" y="3050987"/>
            <a:ext cx="548640" cy="119299"/>
          </a:xfrm>
          <a:prstGeom prst="rect">
            <a:avLst/>
          </a:prstGeom>
          <a:solidFill>
            <a:srgbClr val="FFFFFF"/>
          </a:solidFill>
          <a:ln w="6350">
            <a:solidFill>
              <a:srgbClr val="E2E2E2"/>
            </a:solidFill>
            <a:prstDash val="solid"/>
          </a:ln>
        </p:spPr>
      </p:sp>
      <p:sp>
        <p:nvSpPr>
          <p:cNvPr id="95" name="Shape 87"/>
          <p:cNvSpPr/>
          <p:nvPr/>
        </p:nvSpPr>
        <p:spPr>
          <a:xfrm>
            <a:off x="2215408" y="3050987"/>
            <a:ext cx="822960" cy="119299"/>
          </a:xfrm>
          <a:prstGeom prst="rect">
            <a:avLst/>
          </a:prstGeom>
          <a:solidFill>
            <a:srgbClr val="FFFFFF"/>
          </a:solidFill>
          <a:ln w="6350">
            <a:solidFill>
              <a:srgbClr val="E2E2E2"/>
            </a:solidFill>
            <a:prstDash val="solid"/>
          </a:ln>
        </p:spPr>
      </p:sp>
      <p:sp>
        <p:nvSpPr>
          <p:cNvPr id="96" name="Shape 88"/>
          <p:cNvSpPr/>
          <p:nvPr/>
        </p:nvSpPr>
        <p:spPr>
          <a:xfrm>
            <a:off x="3038368" y="3050987"/>
            <a:ext cx="457200" cy="119299"/>
          </a:xfrm>
          <a:prstGeom prst="rect">
            <a:avLst/>
          </a:prstGeom>
          <a:solidFill>
            <a:srgbClr val="FFFFFF"/>
          </a:solidFill>
          <a:ln w="6350">
            <a:solidFill>
              <a:srgbClr val="E2E2E2"/>
            </a:solidFill>
            <a:prstDash val="solid"/>
          </a:ln>
        </p:spPr>
      </p:sp>
      <p:sp>
        <p:nvSpPr>
          <p:cNvPr id="97" name="Shape 89"/>
          <p:cNvSpPr/>
          <p:nvPr/>
        </p:nvSpPr>
        <p:spPr>
          <a:xfrm>
            <a:off x="587776" y="31702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99" name="Shape 91"/>
          <p:cNvSpPr/>
          <p:nvPr/>
        </p:nvSpPr>
        <p:spPr>
          <a:xfrm>
            <a:off x="843808" y="3170287"/>
            <a:ext cx="822960" cy="119299"/>
          </a:xfrm>
          <a:prstGeom prst="rect">
            <a:avLst/>
          </a:prstGeom>
          <a:solidFill>
            <a:srgbClr val="FFFFFF"/>
          </a:solidFill>
          <a:ln w="6350">
            <a:solidFill>
              <a:srgbClr val="E2E2E2"/>
            </a:solidFill>
            <a:prstDash val="solid"/>
          </a:ln>
        </p:spPr>
      </p:sp>
      <p:sp>
        <p:nvSpPr>
          <p:cNvPr id="100" name="Shape 92"/>
          <p:cNvSpPr/>
          <p:nvPr/>
        </p:nvSpPr>
        <p:spPr>
          <a:xfrm>
            <a:off x="1666768" y="3170287"/>
            <a:ext cx="548640" cy="119299"/>
          </a:xfrm>
          <a:prstGeom prst="rect">
            <a:avLst/>
          </a:prstGeom>
          <a:solidFill>
            <a:srgbClr val="FFFFFF"/>
          </a:solidFill>
          <a:ln w="6350">
            <a:solidFill>
              <a:srgbClr val="E2E2E2"/>
            </a:solidFill>
            <a:prstDash val="solid"/>
          </a:ln>
        </p:spPr>
      </p:sp>
      <p:sp>
        <p:nvSpPr>
          <p:cNvPr id="101" name="Shape 93"/>
          <p:cNvSpPr/>
          <p:nvPr/>
        </p:nvSpPr>
        <p:spPr>
          <a:xfrm>
            <a:off x="2215408" y="3170287"/>
            <a:ext cx="822960" cy="119299"/>
          </a:xfrm>
          <a:prstGeom prst="rect">
            <a:avLst/>
          </a:prstGeom>
          <a:solidFill>
            <a:srgbClr val="FFFFFF"/>
          </a:solidFill>
          <a:ln w="6350">
            <a:solidFill>
              <a:srgbClr val="E2E2E2"/>
            </a:solidFill>
            <a:prstDash val="solid"/>
          </a:ln>
        </p:spPr>
      </p:sp>
      <p:sp>
        <p:nvSpPr>
          <p:cNvPr id="102" name="Shape 94"/>
          <p:cNvSpPr/>
          <p:nvPr/>
        </p:nvSpPr>
        <p:spPr>
          <a:xfrm>
            <a:off x="3038368" y="3170287"/>
            <a:ext cx="457200" cy="119299"/>
          </a:xfrm>
          <a:prstGeom prst="rect">
            <a:avLst/>
          </a:prstGeom>
          <a:solidFill>
            <a:srgbClr val="FFFFFF"/>
          </a:solidFill>
          <a:ln w="6350">
            <a:solidFill>
              <a:srgbClr val="E2E2E2"/>
            </a:solidFill>
            <a:prstDash val="solid"/>
          </a:ln>
        </p:spPr>
      </p:sp>
      <p:sp>
        <p:nvSpPr>
          <p:cNvPr id="103" name="Shape 95"/>
          <p:cNvSpPr/>
          <p:nvPr/>
        </p:nvSpPr>
        <p:spPr>
          <a:xfrm>
            <a:off x="587776" y="3289586"/>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05" name="Shape 97"/>
          <p:cNvSpPr/>
          <p:nvPr/>
        </p:nvSpPr>
        <p:spPr>
          <a:xfrm>
            <a:off x="843808" y="3289586"/>
            <a:ext cx="822960" cy="119299"/>
          </a:xfrm>
          <a:prstGeom prst="rect">
            <a:avLst/>
          </a:prstGeom>
          <a:solidFill>
            <a:srgbClr val="FFFFFF"/>
          </a:solidFill>
          <a:ln w="6350">
            <a:solidFill>
              <a:srgbClr val="E2E2E2"/>
            </a:solidFill>
            <a:prstDash val="solid"/>
          </a:ln>
        </p:spPr>
      </p:sp>
      <p:sp>
        <p:nvSpPr>
          <p:cNvPr id="106" name="Shape 98"/>
          <p:cNvSpPr/>
          <p:nvPr/>
        </p:nvSpPr>
        <p:spPr>
          <a:xfrm>
            <a:off x="1666768" y="3289586"/>
            <a:ext cx="548640" cy="119299"/>
          </a:xfrm>
          <a:prstGeom prst="rect">
            <a:avLst/>
          </a:prstGeom>
          <a:solidFill>
            <a:srgbClr val="FFFFFF"/>
          </a:solidFill>
          <a:ln w="6350">
            <a:solidFill>
              <a:srgbClr val="E2E2E2"/>
            </a:solidFill>
            <a:prstDash val="solid"/>
          </a:ln>
        </p:spPr>
      </p:sp>
      <p:sp>
        <p:nvSpPr>
          <p:cNvPr id="107" name="Shape 99"/>
          <p:cNvSpPr/>
          <p:nvPr/>
        </p:nvSpPr>
        <p:spPr>
          <a:xfrm>
            <a:off x="2215408" y="3289586"/>
            <a:ext cx="822960" cy="119299"/>
          </a:xfrm>
          <a:prstGeom prst="rect">
            <a:avLst/>
          </a:prstGeom>
          <a:solidFill>
            <a:srgbClr val="FFFFFF"/>
          </a:solidFill>
          <a:ln w="6350">
            <a:solidFill>
              <a:srgbClr val="E2E2E2"/>
            </a:solidFill>
            <a:prstDash val="solid"/>
          </a:ln>
        </p:spPr>
      </p:sp>
      <p:sp>
        <p:nvSpPr>
          <p:cNvPr id="108" name="Shape 100"/>
          <p:cNvSpPr/>
          <p:nvPr/>
        </p:nvSpPr>
        <p:spPr>
          <a:xfrm>
            <a:off x="3038368" y="3289586"/>
            <a:ext cx="457200" cy="119299"/>
          </a:xfrm>
          <a:prstGeom prst="rect">
            <a:avLst/>
          </a:prstGeom>
          <a:solidFill>
            <a:srgbClr val="FFFFFF"/>
          </a:solidFill>
          <a:ln w="6350">
            <a:solidFill>
              <a:srgbClr val="E2E2E2"/>
            </a:solidFill>
            <a:prstDash val="solid"/>
          </a:ln>
        </p:spPr>
      </p:sp>
      <p:sp>
        <p:nvSpPr>
          <p:cNvPr id="109" name="Shape 101"/>
          <p:cNvSpPr/>
          <p:nvPr/>
        </p:nvSpPr>
        <p:spPr>
          <a:xfrm>
            <a:off x="587776" y="3408885"/>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1" name="Shape 103"/>
          <p:cNvSpPr/>
          <p:nvPr/>
        </p:nvSpPr>
        <p:spPr>
          <a:xfrm>
            <a:off x="843808" y="3408885"/>
            <a:ext cx="822960" cy="119299"/>
          </a:xfrm>
          <a:prstGeom prst="rect">
            <a:avLst/>
          </a:prstGeom>
          <a:solidFill>
            <a:srgbClr val="FFFFFF"/>
          </a:solidFill>
          <a:ln w="6350">
            <a:solidFill>
              <a:srgbClr val="E2E2E2"/>
            </a:solidFill>
            <a:prstDash val="solid"/>
          </a:ln>
        </p:spPr>
      </p:sp>
      <p:sp>
        <p:nvSpPr>
          <p:cNvPr id="112" name="Shape 104"/>
          <p:cNvSpPr/>
          <p:nvPr/>
        </p:nvSpPr>
        <p:spPr>
          <a:xfrm>
            <a:off x="1666768" y="3408885"/>
            <a:ext cx="548640" cy="119299"/>
          </a:xfrm>
          <a:prstGeom prst="rect">
            <a:avLst/>
          </a:prstGeom>
          <a:solidFill>
            <a:srgbClr val="FFFFFF"/>
          </a:solidFill>
          <a:ln w="6350">
            <a:solidFill>
              <a:srgbClr val="E2E2E2"/>
            </a:solidFill>
            <a:prstDash val="solid"/>
          </a:ln>
        </p:spPr>
      </p:sp>
      <p:sp>
        <p:nvSpPr>
          <p:cNvPr id="113" name="Shape 105"/>
          <p:cNvSpPr/>
          <p:nvPr/>
        </p:nvSpPr>
        <p:spPr>
          <a:xfrm>
            <a:off x="2215408" y="3408885"/>
            <a:ext cx="822960" cy="119299"/>
          </a:xfrm>
          <a:prstGeom prst="rect">
            <a:avLst/>
          </a:prstGeom>
          <a:solidFill>
            <a:srgbClr val="FFFFFF"/>
          </a:solidFill>
          <a:ln w="6350">
            <a:solidFill>
              <a:srgbClr val="E2E2E2"/>
            </a:solidFill>
            <a:prstDash val="solid"/>
          </a:ln>
        </p:spPr>
      </p:sp>
      <p:sp>
        <p:nvSpPr>
          <p:cNvPr id="114" name="Shape 106"/>
          <p:cNvSpPr/>
          <p:nvPr/>
        </p:nvSpPr>
        <p:spPr>
          <a:xfrm>
            <a:off x="3038368" y="3408885"/>
            <a:ext cx="457200" cy="119299"/>
          </a:xfrm>
          <a:prstGeom prst="rect">
            <a:avLst/>
          </a:prstGeom>
          <a:solidFill>
            <a:srgbClr val="FFFFFF"/>
          </a:solidFill>
          <a:ln w="6350">
            <a:solidFill>
              <a:srgbClr val="E2E2E2"/>
            </a:solidFill>
            <a:prstDash val="solid"/>
          </a:ln>
        </p:spPr>
      </p:sp>
      <p:sp>
        <p:nvSpPr>
          <p:cNvPr id="115" name="Shape 107"/>
          <p:cNvSpPr/>
          <p:nvPr/>
        </p:nvSpPr>
        <p:spPr>
          <a:xfrm>
            <a:off x="587776" y="35281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17" name="Shape 109"/>
          <p:cNvSpPr/>
          <p:nvPr/>
        </p:nvSpPr>
        <p:spPr>
          <a:xfrm>
            <a:off x="843808" y="3528185"/>
            <a:ext cx="822960" cy="119299"/>
          </a:xfrm>
          <a:prstGeom prst="rect">
            <a:avLst/>
          </a:prstGeom>
          <a:solidFill>
            <a:srgbClr val="FFFFFF"/>
          </a:solidFill>
          <a:ln w="6350">
            <a:solidFill>
              <a:srgbClr val="E2E2E2"/>
            </a:solidFill>
            <a:prstDash val="solid"/>
          </a:ln>
        </p:spPr>
      </p:sp>
      <p:sp>
        <p:nvSpPr>
          <p:cNvPr id="118" name="Shape 110"/>
          <p:cNvSpPr/>
          <p:nvPr/>
        </p:nvSpPr>
        <p:spPr>
          <a:xfrm>
            <a:off x="1666768" y="3528185"/>
            <a:ext cx="548640" cy="119299"/>
          </a:xfrm>
          <a:prstGeom prst="rect">
            <a:avLst/>
          </a:prstGeom>
          <a:solidFill>
            <a:srgbClr val="FFFFFF"/>
          </a:solidFill>
          <a:ln w="6350">
            <a:solidFill>
              <a:srgbClr val="E2E2E2"/>
            </a:solidFill>
            <a:prstDash val="solid"/>
          </a:ln>
        </p:spPr>
      </p:sp>
      <p:sp>
        <p:nvSpPr>
          <p:cNvPr id="119" name="Shape 111"/>
          <p:cNvSpPr/>
          <p:nvPr/>
        </p:nvSpPr>
        <p:spPr>
          <a:xfrm>
            <a:off x="2215408" y="3528185"/>
            <a:ext cx="822960" cy="119299"/>
          </a:xfrm>
          <a:prstGeom prst="rect">
            <a:avLst/>
          </a:prstGeom>
          <a:solidFill>
            <a:srgbClr val="FFFFFF"/>
          </a:solidFill>
          <a:ln w="6350">
            <a:solidFill>
              <a:srgbClr val="E2E2E2"/>
            </a:solidFill>
            <a:prstDash val="solid"/>
          </a:ln>
        </p:spPr>
      </p:sp>
      <p:sp>
        <p:nvSpPr>
          <p:cNvPr id="120" name="Shape 112"/>
          <p:cNvSpPr/>
          <p:nvPr/>
        </p:nvSpPr>
        <p:spPr>
          <a:xfrm>
            <a:off x="3038368" y="3528185"/>
            <a:ext cx="457200" cy="119299"/>
          </a:xfrm>
          <a:prstGeom prst="rect">
            <a:avLst/>
          </a:prstGeom>
          <a:solidFill>
            <a:srgbClr val="FFFFFF"/>
          </a:solidFill>
          <a:ln w="6350">
            <a:solidFill>
              <a:srgbClr val="E2E2E2"/>
            </a:solidFill>
            <a:prstDash val="solid"/>
          </a:ln>
        </p:spPr>
      </p:sp>
      <p:sp>
        <p:nvSpPr>
          <p:cNvPr id="121" name="Shape 113"/>
          <p:cNvSpPr/>
          <p:nvPr/>
        </p:nvSpPr>
        <p:spPr>
          <a:xfrm>
            <a:off x="587776" y="3647484"/>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3" name="Shape 115"/>
          <p:cNvSpPr/>
          <p:nvPr/>
        </p:nvSpPr>
        <p:spPr>
          <a:xfrm>
            <a:off x="843808" y="3647484"/>
            <a:ext cx="822960" cy="119299"/>
          </a:xfrm>
          <a:prstGeom prst="rect">
            <a:avLst/>
          </a:prstGeom>
          <a:solidFill>
            <a:srgbClr val="FFFFFF"/>
          </a:solidFill>
          <a:ln w="6350">
            <a:solidFill>
              <a:srgbClr val="E2E2E2"/>
            </a:solidFill>
            <a:prstDash val="solid"/>
          </a:ln>
        </p:spPr>
      </p:sp>
      <p:sp>
        <p:nvSpPr>
          <p:cNvPr id="124" name="Shape 116"/>
          <p:cNvSpPr/>
          <p:nvPr/>
        </p:nvSpPr>
        <p:spPr>
          <a:xfrm>
            <a:off x="1666768" y="3647484"/>
            <a:ext cx="548640" cy="119299"/>
          </a:xfrm>
          <a:prstGeom prst="rect">
            <a:avLst/>
          </a:prstGeom>
          <a:solidFill>
            <a:srgbClr val="FFFFFF"/>
          </a:solidFill>
          <a:ln w="6350">
            <a:solidFill>
              <a:srgbClr val="E2E2E2"/>
            </a:solidFill>
            <a:prstDash val="solid"/>
          </a:ln>
        </p:spPr>
      </p:sp>
      <p:sp>
        <p:nvSpPr>
          <p:cNvPr id="125" name="Shape 117"/>
          <p:cNvSpPr/>
          <p:nvPr/>
        </p:nvSpPr>
        <p:spPr>
          <a:xfrm>
            <a:off x="2215408" y="3647484"/>
            <a:ext cx="822960" cy="119299"/>
          </a:xfrm>
          <a:prstGeom prst="rect">
            <a:avLst/>
          </a:prstGeom>
          <a:solidFill>
            <a:srgbClr val="FFFFFF"/>
          </a:solidFill>
          <a:ln w="6350">
            <a:solidFill>
              <a:srgbClr val="E2E2E2"/>
            </a:solidFill>
            <a:prstDash val="solid"/>
          </a:ln>
        </p:spPr>
      </p:sp>
      <p:sp>
        <p:nvSpPr>
          <p:cNvPr id="126" name="Shape 118"/>
          <p:cNvSpPr/>
          <p:nvPr/>
        </p:nvSpPr>
        <p:spPr>
          <a:xfrm>
            <a:off x="3038368" y="3647484"/>
            <a:ext cx="457200" cy="119299"/>
          </a:xfrm>
          <a:prstGeom prst="rect">
            <a:avLst/>
          </a:prstGeom>
          <a:solidFill>
            <a:srgbClr val="FFFFFF"/>
          </a:solidFill>
          <a:ln w="6350">
            <a:solidFill>
              <a:srgbClr val="E2E2E2"/>
            </a:solidFill>
            <a:prstDash val="solid"/>
          </a:ln>
        </p:spPr>
      </p:sp>
      <p:sp>
        <p:nvSpPr>
          <p:cNvPr id="127" name="Shape 119"/>
          <p:cNvSpPr/>
          <p:nvPr/>
        </p:nvSpPr>
        <p:spPr>
          <a:xfrm>
            <a:off x="587776" y="3794216"/>
            <a:ext cx="4950927" cy="201168"/>
          </a:xfrm>
          <a:prstGeom prst="rect">
            <a:avLst/>
          </a:prstGeom>
          <a:solidFill>
            <a:srgbClr val="F8F9FA"/>
          </a:solidFill>
          <a:ln w="12700">
            <a:solidFill>
              <a:srgbClr val="F8F9FA"/>
            </a:solidFill>
            <a:prstDash val="solid"/>
          </a:ln>
        </p:spPr>
      </p:sp>
      <p:sp>
        <p:nvSpPr>
          <p:cNvPr id="128" name="Text 12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29" name="Shape 121"/>
          <p:cNvSpPr/>
          <p:nvPr/>
        </p:nvSpPr>
        <p:spPr>
          <a:xfrm>
            <a:off x="1136416" y="3794216"/>
            <a:ext cx="731520" cy="201168"/>
          </a:xfrm>
          <a:prstGeom prst="rect">
            <a:avLst/>
          </a:prstGeom>
          <a:solidFill>
            <a:srgbClr val="E1EFFE"/>
          </a:solidFill>
          <a:ln w="12700">
            <a:solidFill>
              <a:srgbClr val="E1EFFE"/>
            </a:solidFill>
            <a:prstDash val="solid"/>
          </a:ln>
        </p:spPr>
      </p:sp>
      <p:sp>
        <p:nvSpPr>
          <p:cNvPr id="130" name="Text 122"/>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31" name="Shape 123"/>
          <p:cNvSpPr/>
          <p:nvPr/>
        </p:nvSpPr>
        <p:spPr>
          <a:xfrm>
            <a:off x="3257824" y="2043437"/>
            <a:ext cx="1417320" cy="859536"/>
          </a:xfrm>
          <a:prstGeom prst="rect">
            <a:avLst/>
          </a:prstGeom>
          <a:solidFill>
            <a:srgbClr val="FFFFFF"/>
          </a:solidFill>
          <a:ln w="9525">
            <a:solidFill>
              <a:srgbClr val="AAAAAA"/>
            </a:solidFill>
            <a:prstDash val="solid"/>
          </a:ln>
        </p:spPr>
      </p:sp>
      <p:sp>
        <p:nvSpPr>
          <p:cNvPr id="132" name="Text 124"/>
          <p:cNvSpPr txBox="1"/>
          <p:nvPr/>
        </p:nvSpPr>
        <p:spPr>
          <a:xfrm>
            <a:off x="33675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Add-ons          ›</a:t>
            </a:r>
            <a:endParaRPr lang="en-US" sz="800" dirty="0"/>
          </a:p>
        </p:txBody>
      </p:sp>
      <p:sp>
        <p:nvSpPr>
          <p:cNvPr id="133" name="Text 125"/>
          <p:cNvSpPr txBox="1"/>
          <p:nvPr/>
        </p:nvSpPr>
        <p:spPr>
          <a:xfrm>
            <a:off x="33675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Macros           ›</a:t>
            </a:r>
            <a:endParaRPr lang="en-US" sz="800" dirty="0"/>
          </a:p>
        </p:txBody>
      </p:sp>
      <p:sp>
        <p:nvSpPr>
          <p:cNvPr id="134" name="Shape 126"/>
          <p:cNvSpPr/>
          <p:nvPr/>
        </p:nvSpPr>
        <p:spPr>
          <a:xfrm>
            <a:off x="3294400" y="2564645"/>
            <a:ext cx="1344168" cy="0"/>
          </a:xfrm>
          <a:prstGeom prst="line">
            <a:avLst/>
          </a:prstGeom>
          <a:noFill/>
          <a:ln w="6350">
            <a:solidFill>
              <a:srgbClr val="DDDDDD"/>
            </a:solidFill>
            <a:prstDash val="solid"/>
          </a:ln>
        </p:spPr>
      </p:sp>
      <p:sp>
        <p:nvSpPr>
          <p:cNvPr id="135" name="Text 127"/>
          <p:cNvSpPr txBox="1"/>
          <p:nvPr/>
        </p:nvSpPr>
        <p:spPr>
          <a:xfrm>
            <a:off x="336755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Apps Script</a:t>
            </a:r>
            <a:endParaRPr lang="en-US" sz="800" dirty="0"/>
          </a:p>
        </p:txBody>
      </p:sp>
      <p:sp>
        <p:nvSpPr>
          <p:cNvPr id="136" name="Shape 128"/>
          <p:cNvSpPr/>
          <p:nvPr/>
        </p:nvSpPr>
        <p:spPr>
          <a:xfrm>
            <a:off x="3276112" y="2656085"/>
            <a:ext cx="1380744" cy="228600"/>
          </a:xfrm>
          <a:prstGeom prst="roundRect">
            <a:avLst>
              <a:gd name="adj" fmla="val 20000"/>
            </a:avLst>
          </a:prstGeom>
          <a:solidFill>
            <a:srgbClr val="FFFFFF">
              <a:alpha val="0"/>
            </a:srgbClr>
          </a:solidFill>
          <a:ln w="31750">
            <a:solidFill>
              <a:srgbClr val="E53935"/>
            </a:solidFill>
            <a:prstDash val="solid"/>
          </a:ln>
        </p:spPr>
      </p:sp>
      <p:sp>
        <p:nvSpPr>
          <p:cNvPr id="137" name="Shape 129"/>
          <p:cNvSpPr/>
          <p:nvPr/>
        </p:nvSpPr>
        <p:spPr>
          <a:xfrm>
            <a:off x="4519696" y="2518925"/>
            <a:ext cx="274320" cy="274320"/>
          </a:xfrm>
          <a:prstGeom prst="ellipse">
            <a:avLst/>
          </a:prstGeom>
          <a:solidFill>
            <a:srgbClr val="E53935"/>
          </a:solidFill>
          <a:ln w="12700">
            <a:solidFill>
              <a:srgbClr val="FFFFFF"/>
            </a:solidFill>
            <a:prstDash val="solid"/>
          </a:ln>
        </p:spPr>
      </p:sp>
      <p:sp>
        <p:nvSpPr>
          <p:cNvPr id="138" name="Text 130"/>
          <p:cNvSpPr txBox="1"/>
          <p:nvPr/>
        </p:nvSpPr>
        <p:spPr>
          <a:xfrm>
            <a:off x="4519696" y="25189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39" name="Image 6" descr="preencoded.png">    </p:cNvPr>
          <p:cNvPicPr>
            <a:picLocks noChangeAspect="1"/>
          </p:cNvPicPr>
          <p:nvPr/>
        </p:nvPicPr>
        <p:blipFill>
          <a:blip r:embed="rId7"/>
          <a:stretch>
            <a:fillRect/>
          </a:stretch>
        </p:blipFill>
        <p:spPr>
          <a:xfrm>
            <a:off x="4033693" y="2779986"/>
            <a:ext cx="237744" cy="237744"/>
          </a:xfrm>
          <a:prstGeom prst="rect">
            <a:avLst/>
          </a:prstGeom>
        </p:spPr>
      </p:pic>
      <p:sp>
        <p:nvSpPr>
          <p:cNvPr id="140" name="Text 1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41" name="Text 1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Extensions › Apps Script</a:t>
            </a:r>
            <a:endParaRPr lang="en-US" sz="1800" dirty="0"/>
          </a:p>
        </p:txBody>
      </p:sp>
      <p:sp>
        <p:nvSpPr>
          <p:cNvPr id="142" name="Text 1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Extensions › Apps Script. Tab baru terbuka: editor Apps Script.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Apps Script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Shape 32"/>
          <p:cNvSpPr/>
          <p:nvPr/>
        </p:nvSpPr>
        <p:spPr>
          <a:xfrm>
            <a:off x="1867936" y="2253749"/>
            <a:ext cx="3634191" cy="155448"/>
          </a:xfrm>
          <a:prstGeom prst="rect">
            <a:avLst/>
          </a:prstGeom>
          <a:solidFill>
            <a:srgbClr val="FFF59D"/>
          </a:solidFill>
          <a:ln w="12700">
            <a:solidFill>
              <a:srgbClr val="FFF59D"/>
            </a:solidFill>
            <a:prstDash val="solid"/>
          </a:ln>
        </p:spPr>
      </p:sp>
      <p:sp>
        <p:nvSpPr>
          <p:cNvPr id="42" name="Text 33"/>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3" name="Text 34"/>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doGet(e) {</a:t>
            </a:r>
            <a:endParaRPr lang="en-US" sz="748" dirty="0"/>
          </a:p>
        </p:txBody>
      </p:sp>
      <p:sp>
        <p:nvSpPr>
          <p:cNvPr id="44" name="Shape 35"/>
          <p:cNvSpPr/>
          <p:nvPr/>
        </p:nvSpPr>
        <p:spPr>
          <a:xfrm>
            <a:off x="1867936" y="2409197"/>
            <a:ext cx="3634191" cy="155448"/>
          </a:xfrm>
          <a:prstGeom prst="rect">
            <a:avLst/>
          </a:prstGeom>
          <a:solidFill>
            <a:srgbClr val="FFF59D"/>
          </a:solidFill>
          <a:ln w="12700">
            <a:solidFill>
              <a:srgbClr val="FFF59D"/>
            </a:solidFill>
            <a:prstDash val="solid"/>
          </a:ln>
        </p:spPr>
      </p:sp>
      <p:sp>
        <p:nvSpPr>
          <p:cNvPr id="45" name="Text 36"/>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6" name="Text 37"/>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  return ContentService.createTextOutput(</a:t>
            </a:r>
            <a:endParaRPr lang="en-US" sz="748" dirty="0"/>
          </a:p>
        </p:txBody>
      </p:sp>
      <p:sp>
        <p:nvSpPr>
          <p:cNvPr id="47" name="Shape 38"/>
          <p:cNvSpPr/>
          <p:nvPr/>
        </p:nvSpPr>
        <p:spPr>
          <a:xfrm>
            <a:off x="1867936" y="2564645"/>
            <a:ext cx="3634191" cy="155448"/>
          </a:xfrm>
          <a:prstGeom prst="rect">
            <a:avLst/>
          </a:prstGeom>
          <a:solidFill>
            <a:srgbClr val="FFF59D"/>
          </a:solidFill>
          <a:ln w="12700">
            <a:solidFill>
              <a:srgbClr val="FFF59D"/>
            </a:solidFill>
            <a:prstDash val="solid"/>
          </a:ln>
        </p:spPr>
      </p:sp>
      <p:sp>
        <p:nvSpPr>
          <p:cNvPr id="48" name="Text 39"/>
          <p:cNvSpPr txBox="1"/>
          <p:nvPr/>
        </p:nvSpPr>
        <p:spPr>
          <a:xfrm>
            <a:off x="1611904" y="2564645"/>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9" name="Text 40"/>
          <p:cNvSpPr txBox="1"/>
          <p:nvPr/>
        </p:nvSpPr>
        <p:spPr>
          <a:xfrm>
            <a:off x="1904512" y="2564645"/>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"Assalamu'alaikum dari backend!");</a:t>
            </a:r>
            <a:endParaRPr lang="en-US" sz="748" dirty="0"/>
          </a:p>
        </p:txBody>
      </p:sp>
      <p:sp>
        <p:nvSpPr>
          <p:cNvPr id="50" name="Shape 41"/>
          <p:cNvSpPr/>
          <p:nvPr/>
        </p:nvSpPr>
        <p:spPr>
          <a:xfrm>
            <a:off x="1867936" y="2720093"/>
            <a:ext cx="3634191" cy="155448"/>
          </a:xfrm>
          <a:prstGeom prst="rect">
            <a:avLst/>
          </a:prstGeom>
          <a:solidFill>
            <a:srgbClr val="FFF59D"/>
          </a:solidFill>
          <a:ln w="12700">
            <a:solidFill>
              <a:srgbClr val="FFF59D"/>
            </a:solidFill>
            <a:prstDash val="solid"/>
          </a:ln>
        </p:spPr>
      </p:sp>
      <p:sp>
        <p:nvSpPr>
          <p:cNvPr id="51" name="Text 42"/>
          <p:cNvSpPr txBox="1"/>
          <p:nvPr/>
        </p:nvSpPr>
        <p:spPr>
          <a:xfrm>
            <a:off x="1611904" y="2720093"/>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52" name="Text 43"/>
          <p:cNvSpPr txBox="1"/>
          <p:nvPr/>
        </p:nvSpPr>
        <p:spPr>
          <a:xfrm>
            <a:off x="1904512" y="2720093"/>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a:t>
            </a:r>
            <a:endParaRPr lang="en-US" sz="748" dirty="0"/>
          </a:p>
        </p:txBody>
      </p:sp>
      <p:sp>
        <p:nvSpPr>
          <p:cNvPr id="53" name="Shape 44"/>
          <p:cNvSpPr/>
          <p:nvPr/>
        </p:nvSpPr>
        <p:spPr>
          <a:xfrm>
            <a:off x="1849648" y="2235461"/>
            <a:ext cx="3670767" cy="658368"/>
          </a:xfrm>
          <a:prstGeom prst="roundRect">
            <a:avLst>
              <a:gd name="adj" fmla="val 6944"/>
            </a:avLst>
          </a:prstGeom>
          <a:solidFill>
            <a:srgbClr val="FFFFFF">
              <a:alpha val="0"/>
            </a:srgbClr>
          </a:solidFill>
          <a:ln w="31750">
            <a:solidFill>
              <a:srgbClr val="E53935"/>
            </a:solidFill>
            <a:prstDash val="solid"/>
          </a:ln>
        </p:spPr>
      </p:sp>
      <p:sp>
        <p:nvSpPr>
          <p:cNvPr id="54" name="Shape 45"/>
          <p:cNvSpPr/>
          <p:nvPr/>
        </p:nvSpPr>
        <p:spPr>
          <a:xfrm>
            <a:off x="5383256" y="2098301"/>
            <a:ext cx="274320" cy="274320"/>
          </a:xfrm>
          <a:prstGeom prst="ellipse">
            <a:avLst/>
          </a:prstGeom>
          <a:solidFill>
            <a:srgbClr val="E53935"/>
          </a:solidFill>
          <a:ln w="12700">
            <a:solidFill>
              <a:srgbClr val="FFFFFF"/>
            </a:solidFill>
            <a:prstDash val="solid"/>
          </a:ln>
        </p:spPr>
      </p:sp>
      <p:sp>
        <p:nvSpPr>
          <p:cNvPr id="55" name="Text 46"/>
          <p:cNvSpPr txBox="1"/>
          <p:nvPr/>
        </p:nvSpPr>
        <p:spPr>
          <a:xfrm>
            <a:off x="5383256" y="20983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6" name="Image 7" descr="preencoded.png">    </p:cNvPr>
          <p:cNvPicPr>
            <a:picLocks noChangeAspect="1"/>
          </p:cNvPicPr>
          <p:nvPr/>
        </p:nvPicPr>
        <p:blipFill>
          <a:blip r:embed="rId8"/>
          <a:stretch>
            <a:fillRect/>
          </a:stretch>
        </p:blipFill>
        <p:spPr>
          <a:xfrm>
            <a:off x="3866742" y="2595735"/>
            <a:ext cx="237744" cy="237744"/>
          </a:xfrm>
          <a:prstGeom prst="rect">
            <a:avLst/>
          </a:prstGeom>
        </p:spPr>
      </p:pic>
      <p:sp>
        <p:nvSpPr>
          <p:cNvPr id="57" name="Shape 47"/>
          <p:cNvSpPr/>
          <p:nvPr/>
        </p:nvSpPr>
        <p:spPr>
          <a:xfrm>
            <a:off x="1657624" y="1961141"/>
            <a:ext cx="283464" cy="237744"/>
          </a:xfrm>
          <a:prstGeom prst="roundRect">
            <a:avLst>
              <a:gd name="adj" fmla="val 19231"/>
            </a:avLst>
          </a:prstGeom>
          <a:solidFill>
            <a:srgbClr val="FFFFFF">
              <a:alpha val="0"/>
            </a:srgbClr>
          </a:solidFill>
          <a:ln w="31750">
            <a:solidFill>
              <a:srgbClr val="E53935"/>
            </a:solidFill>
            <a:prstDash val="solid"/>
          </a:ln>
        </p:spPr>
      </p:sp>
      <p:sp>
        <p:nvSpPr>
          <p:cNvPr id="58" name="Shape 48"/>
          <p:cNvSpPr/>
          <p:nvPr/>
        </p:nvSpPr>
        <p:spPr>
          <a:xfrm>
            <a:off x="1803928" y="1823981"/>
            <a:ext cx="274320" cy="274320"/>
          </a:xfrm>
          <a:prstGeom prst="ellipse">
            <a:avLst/>
          </a:prstGeom>
          <a:solidFill>
            <a:srgbClr val="E53935"/>
          </a:solidFill>
          <a:ln w="12700">
            <a:solidFill>
              <a:srgbClr val="FFFFFF"/>
            </a:solidFill>
            <a:prstDash val="solid"/>
          </a:ln>
        </p:spPr>
      </p:sp>
      <p:sp>
        <p:nvSpPr>
          <p:cNvPr id="59" name="Text 49"/>
          <p:cNvSpPr txBox="1"/>
          <p:nvPr/>
        </p:nvSpPr>
        <p:spPr>
          <a:xfrm>
            <a:off x="1803928" y="18239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0" name="Image 8" descr="preencoded.png">    </p:cNvPr>
          <p:cNvPicPr>
            <a:picLocks noChangeAspect="1"/>
          </p:cNvPicPr>
          <p:nvPr/>
        </p:nvPicPr>
        <p:blipFill>
          <a:blip r:embed="rId9"/>
          <a:stretch>
            <a:fillRect/>
          </a:stretch>
        </p:blipFill>
        <p:spPr>
          <a:xfrm>
            <a:off x="1810786" y="2089157"/>
            <a:ext cx="237744" cy="237744"/>
          </a:xfrm>
          <a:prstGeom prst="rect">
            <a:avLst/>
          </a:prstGeom>
        </p:spPr>
      </p:pic>
      <p:sp>
        <p:nvSpPr>
          <p:cNvPr id="61"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2"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doGet sederhana, Save</a:t>
            </a:r>
            <a:endParaRPr lang="en-US" sz="1800" dirty="0"/>
          </a:p>
        </p:txBody>
      </p:sp>
      <p:sp>
        <p:nvSpPr>
          <p:cNvPr id="63"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isi Code.gs. Ketik fungsi doGet yang mengembalikan salam. Klik ikon Save. Beri nama proyek.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Deploy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doGet(e) {</a:t>
            </a:r>
            <a:endParaRPr lang="en-US" sz="748" dirty="0"/>
          </a:p>
        </p:txBody>
      </p:sp>
      <p:sp>
        <p:nvSpPr>
          <p:cNvPr id="43" name="Text 34"/>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  return ContentService.createTextOutput(</a:t>
            </a:r>
            <a:endParaRPr lang="en-US" sz="748" dirty="0"/>
          </a:p>
        </p:txBody>
      </p:sp>
      <p:sp>
        <p:nvSpPr>
          <p:cNvPr id="45" name="Text 36"/>
          <p:cNvSpPr txBox="1"/>
          <p:nvPr/>
        </p:nvSpPr>
        <p:spPr>
          <a:xfrm>
            <a:off x="1611904" y="2564645"/>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64645"/>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"Assalamu'alaikum dari backend!");</a:t>
            </a:r>
            <a:endParaRPr lang="en-US" sz="748" dirty="0"/>
          </a:p>
        </p:txBody>
      </p:sp>
      <p:sp>
        <p:nvSpPr>
          <p:cNvPr id="47" name="Text 38"/>
          <p:cNvSpPr txBox="1"/>
          <p:nvPr/>
        </p:nvSpPr>
        <p:spPr>
          <a:xfrm>
            <a:off x="1611904" y="2720093"/>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720093"/>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a:t>
            </a:r>
            <a:endParaRPr lang="en-US" sz="748" dirty="0"/>
          </a:p>
        </p:txBody>
      </p:sp>
      <p:sp>
        <p:nvSpPr>
          <p:cNvPr id="49" name="Shape 40"/>
          <p:cNvSpPr/>
          <p:nvPr/>
        </p:nvSpPr>
        <p:spPr>
          <a:xfrm>
            <a:off x="4212824" y="1933709"/>
            <a:ext cx="1188720" cy="658368"/>
          </a:xfrm>
          <a:prstGeom prst="rect">
            <a:avLst/>
          </a:prstGeom>
          <a:solidFill>
            <a:srgbClr val="FFFFFF"/>
          </a:solidFill>
          <a:ln w="9525">
            <a:solidFill>
              <a:srgbClr val="AAAAAA"/>
            </a:solidFill>
            <a:prstDash val="solid"/>
          </a:ln>
        </p:spPr>
      </p:sp>
      <p:sp>
        <p:nvSpPr>
          <p:cNvPr id="50" name="Text 41"/>
          <p:cNvSpPr txBox="1"/>
          <p:nvPr/>
        </p:nvSpPr>
        <p:spPr>
          <a:xfrm>
            <a:off x="4322552" y="196114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deployment</a:t>
            </a:r>
            <a:endParaRPr lang="en-US" sz="800" dirty="0"/>
          </a:p>
        </p:txBody>
      </p:sp>
      <p:sp>
        <p:nvSpPr>
          <p:cNvPr id="51" name="Text 42"/>
          <p:cNvSpPr txBox="1"/>
          <p:nvPr/>
        </p:nvSpPr>
        <p:spPr>
          <a:xfrm>
            <a:off x="4322552" y="216230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Manage deployments</a:t>
            </a:r>
            <a:endParaRPr lang="en-US" sz="800" dirty="0"/>
          </a:p>
        </p:txBody>
      </p:sp>
      <p:sp>
        <p:nvSpPr>
          <p:cNvPr id="52" name="Text 43"/>
          <p:cNvSpPr txBox="1"/>
          <p:nvPr/>
        </p:nvSpPr>
        <p:spPr>
          <a:xfrm>
            <a:off x="4322552" y="236347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Test deployments</a:t>
            </a:r>
            <a:endParaRPr lang="en-US" sz="800" dirty="0"/>
          </a:p>
        </p:txBody>
      </p:sp>
      <p:sp>
        <p:nvSpPr>
          <p:cNvPr id="53" name="Shape 44"/>
          <p:cNvSpPr/>
          <p:nvPr/>
        </p:nvSpPr>
        <p:spPr>
          <a:xfrm>
            <a:off x="4743176" y="1695965"/>
            <a:ext cx="694944" cy="237744"/>
          </a:xfrm>
          <a:prstGeom prst="roundRect">
            <a:avLst>
              <a:gd name="adj" fmla="val 19231"/>
            </a:avLst>
          </a:prstGeom>
          <a:solidFill>
            <a:srgbClr val="FFFFFF">
              <a:alpha val="0"/>
            </a:srgbClr>
          </a:solidFill>
          <a:ln w="31750">
            <a:solidFill>
              <a:srgbClr val="E53935"/>
            </a:solidFill>
            <a:prstDash val="solid"/>
          </a:ln>
        </p:spPr>
      </p:sp>
      <p:sp>
        <p:nvSpPr>
          <p:cNvPr id="54" name="Shape 45"/>
          <p:cNvSpPr/>
          <p:nvPr/>
        </p:nvSpPr>
        <p:spPr>
          <a:xfrm>
            <a:off x="5300960" y="1558805"/>
            <a:ext cx="274320" cy="274320"/>
          </a:xfrm>
          <a:prstGeom prst="ellipse">
            <a:avLst/>
          </a:prstGeom>
          <a:solidFill>
            <a:srgbClr val="E53935"/>
          </a:solidFill>
          <a:ln w="12700">
            <a:solidFill>
              <a:srgbClr val="FFFFFF"/>
            </a:solidFill>
            <a:prstDash val="solid"/>
          </a:ln>
        </p:spPr>
      </p:sp>
      <p:sp>
        <p:nvSpPr>
          <p:cNvPr id="55" name="Text 46"/>
          <p:cNvSpPr txBox="1"/>
          <p:nvPr/>
        </p:nvSpPr>
        <p:spPr>
          <a:xfrm>
            <a:off x="5300960"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6" name="Image 7" descr="preencoded.png">    </p:cNvPr>
          <p:cNvPicPr>
            <a:picLocks noChangeAspect="1"/>
          </p:cNvPicPr>
          <p:nvPr/>
        </p:nvPicPr>
        <p:blipFill>
          <a:blip r:embed="rId8"/>
          <a:stretch>
            <a:fillRect/>
          </a:stretch>
        </p:blipFill>
        <p:spPr>
          <a:xfrm>
            <a:off x="5123566" y="1824896"/>
            <a:ext cx="237744" cy="237744"/>
          </a:xfrm>
          <a:prstGeom prst="rect">
            <a:avLst/>
          </a:prstGeom>
        </p:spPr>
      </p:pic>
      <p:sp>
        <p:nvSpPr>
          <p:cNvPr id="57" name="Shape 47"/>
          <p:cNvSpPr/>
          <p:nvPr/>
        </p:nvSpPr>
        <p:spPr>
          <a:xfrm>
            <a:off x="4231112" y="1942853"/>
            <a:ext cx="1152144" cy="228600"/>
          </a:xfrm>
          <a:prstGeom prst="roundRect">
            <a:avLst>
              <a:gd name="adj" fmla="val 20000"/>
            </a:avLst>
          </a:prstGeom>
          <a:solidFill>
            <a:srgbClr val="FFFFFF">
              <a:alpha val="0"/>
            </a:srgbClr>
          </a:solidFill>
          <a:ln w="31750">
            <a:solidFill>
              <a:srgbClr val="E53935"/>
            </a:solidFill>
            <a:prstDash val="solid"/>
          </a:ln>
        </p:spPr>
      </p:sp>
      <p:sp>
        <p:nvSpPr>
          <p:cNvPr id="58" name="Shape 48"/>
          <p:cNvSpPr/>
          <p:nvPr/>
        </p:nvSpPr>
        <p:spPr>
          <a:xfrm>
            <a:off x="5246096" y="1805693"/>
            <a:ext cx="274320" cy="274320"/>
          </a:xfrm>
          <a:prstGeom prst="ellipse">
            <a:avLst/>
          </a:prstGeom>
          <a:solidFill>
            <a:srgbClr val="E53935"/>
          </a:solidFill>
          <a:ln w="12700">
            <a:solidFill>
              <a:srgbClr val="FFFFFF"/>
            </a:solidFill>
            <a:prstDash val="solid"/>
          </a:ln>
        </p:spPr>
      </p:sp>
      <p:sp>
        <p:nvSpPr>
          <p:cNvPr id="59" name="Text 49"/>
          <p:cNvSpPr txBox="1"/>
          <p:nvPr/>
        </p:nvSpPr>
        <p:spPr>
          <a:xfrm>
            <a:off x="5246096" y="18056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0" name="Image 8" descr="preencoded.png">    </p:cNvPr>
          <p:cNvPicPr>
            <a:picLocks noChangeAspect="1"/>
          </p:cNvPicPr>
          <p:nvPr/>
        </p:nvPicPr>
        <p:blipFill>
          <a:blip r:embed="rId9"/>
          <a:stretch>
            <a:fillRect/>
          </a:stretch>
        </p:blipFill>
        <p:spPr>
          <a:xfrm>
            <a:off x="4862962" y="2066754"/>
            <a:ext cx="237744" cy="237744"/>
          </a:xfrm>
          <a:prstGeom prst="rect">
            <a:avLst/>
          </a:prstGeom>
        </p:spPr>
      </p:pic>
      <p:sp>
        <p:nvSpPr>
          <p:cNvPr id="61" name="Text 5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2" name="Text 5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Deploy › New deployment</a:t>
            </a:r>
            <a:endParaRPr lang="en-US" sz="1800" dirty="0"/>
          </a:p>
        </p:txBody>
      </p:sp>
      <p:sp>
        <p:nvSpPr>
          <p:cNvPr id="63" name="Text 5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biru Deploy › New deployment.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Deploy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doGet(e) {</a:t>
            </a:r>
            <a:endParaRPr lang="en-US" sz="748" dirty="0"/>
          </a:p>
        </p:txBody>
      </p:sp>
      <p:sp>
        <p:nvSpPr>
          <p:cNvPr id="43" name="Text 34"/>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  return ContentService.createTextOutput(</a:t>
            </a:r>
            <a:endParaRPr lang="en-US" sz="748" dirty="0"/>
          </a:p>
        </p:txBody>
      </p:sp>
      <p:sp>
        <p:nvSpPr>
          <p:cNvPr id="45" name="Text 36"/>
          <p:cNvSpPr txBox="1"/>
          <p:nvPr/>
        </p:nvSpPr>
        <p:spPr>
          <a:xfrm>
            <a:off x="1611904" y="2564645"/>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64645"/>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"Assalamu'alaikum dari backend!");</a:t>
            </a:r>
            <a:endParaRPr lang="en-US" sz="748" dirty="0"/>
          </a:p>
        </p:txBody>
      </p:sp>
      <p:sp>
        <p:nvSpPr>
          <p:cNvPr id="47" name="Text 38"/>
          <p:cNvSpPr txBox="1"/>
          <p:nvPr/>
        </p:nvSpPr>
        <p:spPr>
          <a:xfrm>
            <a:off x="1611904" y="2720093"/>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720093"/>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a:t>
            </a:r>
            <a:endParaRPr lang="en-US" sz="748" dirty="0"/>
          </a:p>
        </p:txBody>
      </p:sp>
      <p:sp>
        <p:nvSpPr>
          <p:cNvPr id="49" name="Shape 40"/>
          <p:cNvSpPr/>
          <p:nvPr/>
        </p:nvSpPr>
        <p:spPr>
          <a:xfrm>
            <a:off x="1691640" y="1814837"/>
            <a:ext cx="2743200" cy="1828800"/>
          </a:xfrm>
          <a:prstGeom prst="roundRect">
            <a:avLst>
              <a:gd name="adj" fmla="val 2500"/>
            </a:avLst>
          </a:prstGeom>
          <a:solidFill>
            <a:srgbClr val="FFFFFF"/>
          </a:solidFill>
          <a:ln w="9525">
            <a:solidFill>
              <a:srgbClr val="AAAAAA"/>
            </a:solidFill>
            <a:prstDash val="solid"/>
          </a:ln>
        </p:spPr>
      </p:sp>
      <p:sp>
        <p:nvSpPr>
          <p:cNvPr id="50" name="Text 41"/>
          <p:cNvSpPr txBox="1"/>
          <p:nvPr/>
        </p:nvSpPr>
        <p:spPr>
          <a:xfrm>
            <a:off x="1801368" y="1869701"/>
            <a:ext cx="18288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New deployment</a:t>
            </a:r>
            <a:endParaRPr lang="en-US" sz="1000" dirty="0"/>
          </a:p>
        </p:txBody>
      </p:sp>
      <p:sp>
        <p:nvSpPr>
          <p:cNvPr id="51" name="Shape 42"/>
          <p:cNvSpPr/>
          <p:nvPr/>
        </p:nvSpPr>
        <p:spPr>
          <a:xfrm>
            <a:off x="1801368" y="2134877"/>
            <a:ext cx="1097280" cy="201168"/>
          </a:xfrm>
          <a:prstGeom prst="roundRect">
            <a:avLst>
              <a:gd name="adj" fmla="val 13636"/>
            </a:avLst>
          </a:prstGeom>
          <a:solidFill>
            <a:srgbClr val="F1F3F4"/>
          </a:solidFill>
          <a:ln w="12700">
            <a:solidFill>
              <a:srgbClr val="F1F3F4"/>
            </a:solidFill>
            <a:prstDash val="solid"/>
          </a:ln>
        </p:spPr>
      </p:sp>
      <p:sp>
        <p:nvSpPr>
          <p:cNvPr id="52" name="Text 43"/>
          <p:cNvSpPr txBox="1"/>
          <p:nvPr/>
        </p:nvSpPr>
        <p:spPr>
          <a:xfrm>
            <a:off x="1847088" y="213487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Select type: Web app</a:t>
            </a:r>
            <a:endParaRPr lang="en-US" sz="650" dirty="0"/>
          </a:p>
        </p:txBody>
      </p:sp>
      <p:sp>
        <p:nvSpPr>
          <p:cNvPr id="53" name="Text 44"/>
          <p:cNvSpPr txBox="1"/>
          <p:nvPr/>
        </p:nvSpPr>
        <p:spPr>
          <a:xfrm>
            <a:off x="1828800" y="243662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Description</a:t>
            </a:r>
            <a:endParaRPr lang="en-US" sz="650" dirty="0"/>
          </a:p>
        </p:txBody>
      </p:sp>
      <p:sp>
        <p:nvSpPr>
          <p:cNvPr id="54" name="Shape 45"/>
          <p:cNvSpPr/>
          <p:nvPr/>
        </p:nvSpPr>
        <p:spPr>
          <a:xfrm>
            <a:off x="2788920" y="2436629"/>
            <a:ext cx="1463040" cy="219456"/>
          </a:xfrm>
          <a:prstGeom prst="rect">
            <a:avLst/>
          </a:prstGeom>
          <a:solidFill>
            <a:srgbClr val="FFFFFF"/>
          </a:solidFill>
          <a:ln w="6350">
            <a:solidFill>
              <a:srgbClr val="999999"/>
            </a:solidFill>
            <a:prstDash val="solid"/>
          </a:ln>
        </p:spPr>
      </p:sp>
      <p:sp>
        <p:nvSpPr>
          <p:cNvPr id="55" name="Text 46"/>
          <p:cNvSpPr txBox="1"/>
          <p:nvPr/>
        </p:nvSpPr>
        <p:spPr>
          <a:xfrm>
            <a:off x="2834640" y="243662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Versi 1</a:t>
            </a:r>
            <a:endParaRPr lang="en-US" sz="650" dirty="0"/>
          </a:p>
        </p:txBody>
      </p:sp>
      <p:sp>
        <p:nvSpPr>
          <p:cNvPr id="56" name="Text 47"/>
          <p:cNvSpPr txBox="1"/>
          <p:nvPr/>
        </p:nvSpPr>
        <p:spPr>
          <a:xfrm>
            <a:off x="1828800" y="271094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Execute as</a:t>
            </a:r>
            <a:endParaRPr lang="en-US" sz="650" dirty="0"/>
          </a:p>
        </p:txBody>
      </p:sp>
      <p:sp>
        <p:nvSpPr>
          <p:cNvPr id="57" name="Shape 48"/>
          <p:cNvSpPr/>
          <p:nvPr/>
        </p:nvSpPr>
        <p:spPr>
          <a:xfrm>
            <a:off x="2788920" y="2710949"/>
            <a:ext cx="1463040" cy="219456"/>
          </a:xfrm>
          <a:prstGeom prst="rect">
            <a:avLst/>
          </a:prstGeom>
          <a:solidFill>
            <a:srgbClr val="FFFFFF"/>
          </a:solidFill>
          <a:ln w="6350">
            <a:solidFill>
              <a:srgbClr val="999999"/>
            </a:solidFill>
            <a:prstDash val="solid"/>
          </a:ln>
        </p:spPr>
      </p:sp>
      <p:sp>
        <p:nvSpPr>
          <p:cNvPr id="58" name="Text 49"/>
          <p:cNvSpPr txBox="1"/>
          <p:nvPr/>
        </p:nvSpPr>
        <p:spPr>
          <a:xfrm>
            <a:off x="2834640" y="271094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Me ▾</a:t>
            </a:r>
            <a:endParaRPr lang="en-US" sz="650" dirty="0"/>
          </a:p>
        </p:txBody>
      </p:sp>
      <p:sp>
        <p:nvSpPr>
          <p:cNvPr id="59" name="Text 50"/>
          <p:cNvSpPr txBox="1"/>
          <p:nvPr/>
        </p:nvSpPr>
        <p:spPr>
          <a:xfrm>
            <a:off x="1828800" y="298526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Who has access</a:t>
            </a:r>
            <a:endParaRPr lang="en-US" sz="650" dirty="0"/>
          </a:p>
        </p:txBody>
      </p:sp>
      <p:sp>
        <p:nvSpPr>
          <p:cNvPr id="60" name="Shape 51"/>
          <p:cNvSpPr/>
          <p:nvPr/>
        </p:nvSpPr>
        <p:spPr>
          <a:xfrm>
            <a:off x="2788920" y="2985269"/>
            <a:ext cx="1463040" cy="219456"/>
          </a:xfrm>
          <a:prstGeom prst="rect">
            <a:avLst/>
          </a:prstGeom>
          <a:solidFill>
            <a:srgbClr val="FFFFFF"/>
          </a:solidFill>
          <a:ln w="6350">
            <a:solidFill>
              <a:srgbClr val="999999"/>
            </a:solidFill>
            <a:prstDash val="solid"/>
          </a:ln>
        </p:spPr>
      </p:sp>
      <p:sp>
        <p:nvSpPr>
          <p:cNvPr id="61" name="Text 52"/>
          <p:cNvSpPr txBox="1"/>
          <p:nvPr/>
        </p:nvSpPr>
        <p:spPr>
          <a:xfrm>
            <a:off x="2834640" y="298526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Anyone ▾</a:t>
            </a:r>
            <a:endParaRPr lang="en-US" sz="650" dirty="0"/>
          </a:p>
        </p:txBody>
      </p:sp>
      <p:sp>
        <p:nvSpPr>
          <p:cNvPr id="62" name="Shape 53"/>
          <p:cNvSpPr/>
          <p:nvPr/>
        </p:nvSpPr>
        <p:spPr>
          <a:xfrm>
            <a:off x="3749040" y="3351029"/>
            <a:ext cx="566928" cy="201168"/>
          </a:xfrm>
          <a:prstGeom prst="roundRect">
            <a:avLst>
              <a:gd name="adj" fmla="val 18182"/>
            </a:avLst>
          </a:prstGeom>
          <a:solidFill>
            <a:srgbClr val="1A73E8"/>
          </a:solidFill>
          <a:ln w="12700">
            <a:solidFill>
              <a:srgbClr val="1A73E8"/>
            </a:solidFill>
            <a:prstDash val="solid"/>
          </a:ln>
        </p:spPr>
      </p:sp>
      <p:sp>
        <p:nvSpPr>
          <p:cNvPr id="63" name="Text 54"/>
          <p:cNvSpPr txBox="1"/>
          <p:nvPr/>
        </p:nvSpPr>
        <p:spPr>
          <a:xfrm>
            <a:off x="3749040" y="3351029"/>
            <a:ext cx="56692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Deploy</a:t>
            </a:r>
            <a:endParaRPr lang="en-US" sz="700" dirty="0"/>
          </a:p>
        </p:txBody>
      </p:sp>
      <p:sp>
        <p:nvSpPr>
          <p:cNvPr id="64" name="Shape 55"/>
          <p:cNvSpPr/>
          <p:nvPr/>
        </p:nvSpPr>
        <p:spPr>
          <a:xfrm>
            <a:off x="1783080" y="2116589"/>
            <a:ext cx="1133856" cy="237744"/>
          </a:xfrm>
          <a:prstGeom prst="roundRect">
            <a:avLst>
              <a:gd name="adj" fmla="val 19231"/>
            </a:avLst>
          </a:prstGeom>
          <a:solidFill>
            <a:srgbClr val="FFFFFF">
              <a:alpha val="0"/>
            </a:srgbClr>
          </a:solidFill>
          <a:ln w="31750">
            <a:solidFill>
              <a:srgbClr val="E53935"/>
            </a:solidFill>
            <a:prstDash val="solid"/>
          </a:ln>
        </p:spPr>
      </p:sp>
      <p:sp>
        <p:nvSpPr>
          <p:cNvPr id="65" name="Shape 56"/>
          <p:cNvSpPr/>
          <p:nvPr/>
        </p:nvSpPr>
        <p:spPr>
          <a:xfrm>
            <a:off x="2779776" y="1979429"/>
            <a:ext cx="274320" cy="274320"/>
          </a:xfrm>
          <a:prstGeom prst="ellipse">
            <a:avLst/>
          </a:prstGeom>
          <a:solidFill>
            <a:srgbClr val="E53935"/>
          </a:solidFill>
          <a:ln w="12700">
            <a:solidFill>
              <a:srgbClr val="FFFFFF"/>
            </a:solidFill>
            <a:prstDash val="solid"/>
          </a:ln>
        </p:spPr>
      </p:sp>
      <p:sp>
        <p:nvSpPr>
          <p:cNvPr id="66" name="Text 57"/>
          <p:cNvSpPr txBox="1"/>
          <p:nvPr/>
        </p:nvSpPr>
        <p:spPr>
          <a:xfrm>
            <a:off x="2779776" y="19794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7" name="Image 7" descr="preencoded.png">    </p:cNvPr>
          <p:cNvPicPr>
            <a:picLocks noChangeAspect="1"/>
          </p:cNvPicPr>
          <p:nvPr/>
        </p:nvPicPr>
        <p:blipFill>
          <a:blip r:embed="rId8"/>
          <a:stretch>
            <a:fillRect/>
          </a:stretch>
        </p:blipFill>
        <p:spPr>
          <a:xfrm>
            <a:off x="2404872" y="2245520"/>
            <a:ext cx="237744" cy="237744"/>
          </a:xfrm>
          <a:prstGeom prst="rect">
            <a:avLst/>
          </a:prstGeom>
        </p:spPr>
      </p:pic>
      <p:sp>
        <p:nvSpPr>
          <p:cNvPr id="68" name="Shape 58"/>
          <p:cNvSpPr/>
          <p:nvPr/>
        </p:nvSpPr>
        <p:spPr>
          <a:xfrm>
            <a:off x="2770632" y="2692661"/>
            <a:ext cx="1499616" cy="530352"/>
          </a:xfrm>
          <a:prstGeom prst="roundRect">
            <a:avLst>
              <a:gd name="adj" fmla="val 8621"/>
            </a:avLst>
          </a:prstGeom>
          <a:solidFill>
            <a:srgbClr val="FFFFFF">
              <a:alpha val="0"/>
            </a:srgbClr>
          </a:solidFill>
          <a:ln w="31750">
            <a:solidFill>
              <a:srgbClr val="E53935"/>
            </a:solidFill>
            <a:prstDash val="solid"/>
          </a:ln>
        </p:spPr>
      </p:sp>
      <p:sp>
        <p:nvSpPr>
          <p:cNvPr id="69" name="Shape 59"/>
          <p:cNvSpPr/>
          <p:nvPr/>
        </p:nvSpPr>
        <p:spPr>
          <a:xfrm>
            <a:off x="4133088" y="2555501"/>
            <a:ext cx="274320" cy="274320"/>
          </a:xfrm>
          <a:prstGeom prst="ellipse">
            <a:avLst/>
          </a:prstGeom>
          <a:solidFill>
            <a:srgbClr val="E53935"/>
          </a:solidFill>
          <a:ln w="12700">
            <a:solidFill>
              <a:srgbClr val="FFFFFF"/>
            </a:solidFill>
            <a:prstDash val="solid"/>
          </a:ln>
        </p:spPr>
      </p:sp>
      <p:sp>
        <p:nvSpPr>
          <p:cNvPr id="70" name="Text 60"/>
          <p:cNvSpPr txBox="1"/>
          <p:nvPr/>
        </p:nvSpPr>
        <p:spPr>
          <a:xfrm>
            <a:off x="4133088" y="25555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1" name="Image 8" descr="preencoded.png">    </p:cNvPr>
          <p:cNvPicPr>
            <a:picLocks noChangeAspect="1"/>
          </p:cNvPicPr>
          <p:nvPr/>
        </p:nvPicPr>
        <p:blipFill>
          <a:blip r:embed="rId9"/>
          <a:stretch>
            <a:fillRect/>
          </a:stretch>
        </p:blipFill>
        <p:spPr>
          <a:xfrm>
            <a:off x="3593592" y="2982526"/>
            <a:ext cx="237744" cy="237744"/>
          </a:xfrm>
          <a:prstGeom prst="rect">
            <a:avLst/>
          </a:prstGeom>
        </p:spPr>
      </p:pic>
      <p:sp>
        <p:nvSpPr>
          <p:cNvPr id="72" name="Shape 61"/>
          <p:cNvSpPr/>
          <p:nvPr/>
        </p:nvSpPr>
        <p:spPr>
          <a:xfrm>
            <a:off x="3730752" y="3332741"/>
            <a:ext cx="603504" cy="237744"/>
          </a:xfrm>
          <a:prstGeom prst="roundRect">
            <a:avLst>
              <a:gd name="adj" fmla="val 19231"/>
            </a:avLst>
          </a:prstGeom>
          <a:solidFill>
            <a:srgbClr val="FFFFFF">
              <a:alpha val="0"/>
            </a:srgbClr>
          </a:solidFill>
          <a:ln w="31750">
            <a:solidFill>
              <a:srgbClr val="E53935"/>
            </a:solidFill>
            <a:prstDash val="solid"/>
          </a:ln>
        </p:spPr>
      </p:sp>
      <p:sp>
        <p:nvSpPr>
          <p:cNvPr id="73" name="Shape 62"/>
          <p:cNvSpPr/>
          <p:nvPr/>
        </p:nvSpPr>
        <p:spPr>
          <a:xfrm>
            <a:off x="4197096" y="3195581"/>
            <a:ext cx="274320" cy="274320"/>
          </a:xfrm>
          <a:prstGeom prst="ellipse">
            <a:avLst/>
          </a:prstGeom>
          <a:solidFill>
            <a:srgbClr val="E53935"/>
          </a:solidFill>
          <a:ln w="12700">
            <a:solidFill>
              <a:srgbClr val="FFFFFF"/>
            </a:solidFill>
            <a:prstDash val="solid"/>
          </a:ln>
        </p:spPr>
      </p:sp>
      <p:sp>
        <p:nvSpPr>
          <p:cNvPr id="74" name="Text 63"/>
          <p:cNvSpPr txBox="1"/>
          <p:nvPr/>
        </p:nvSpPr>
        <p:spPr>
          <a:xfrm>
            <a:off x="4197096" y="31955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75" name="Image 9" descr="preencoded.png">    </p:cNvPr>
          <p:cNvPicPr>
            <a:picLocks noChangeAspect="1"/>
          </p:cNvPicPr>
          <p:nvPr/>
        </p:nvPicPr>
        <p:blipFill>
          <a:blip r:embed="rId10"/>
          <a:stretch>
            <a:fillRect/>
          </a:stretch>
        </p:blipFill>
        <p:spPr>
          <a:xfrm>
            <a:off x="4060850" y="3461672"/>
            <a:ext cx="237744" cy="237744"/>
          </a:xfrm>
          <a:prstGeom prst="rect">
            <a:avLst/>
          </a:prstGeom>
        </p:spPr>
      </p:pic>
      <p:sp>
        <p:nvSpPr>
          <p:cNvPr id="76"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7"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Type: Web app, Execute as Me, Access Anyone</a:t>
            </a:r>
            <a:endParaRPr lang="en-US" sz="1800" dirty="0"/>
          </a:p>
        </p:txBody>
      </p:sp>
      <p:sp>
        <p:nvSpPr>
          <p:cNvPr id="78"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roda gigi › Web app. Description: Versi 1. Execute as: Me. Who has access: Anyone. Klik Deploy.</a:t>
            </a:r>
            <a:endParaRPr lang="en-US" sz="1300" dirty="0"/>
          </a:p>
        </p:txBody>
      </p:sp>
      <p:sp>
        <p:nvSpPr>
          <p:cNvPr id="79" name="Shape 6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0"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1" name="Text 6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Anyone = siapa saja yang tahu URL. Karena itu hanya untuk data latihan.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Deploy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doGet(e) {</a:t>
            </a:r>
            <a:endParaRPr lang="en-US" sz="748" dirty="0"/>
          </a:p>
        </p:txBody>
      </p:sp>
      <p:sp>
        <p:nvSpPr>
          <p:cNvPr id="43" name="Text 34"/>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  return ContentService.createTextOutput(</a:t>
            </a:r>
            <a:endParaRPr lang="en-US" sz="748" dirty="0"/>
          </a:p>
        </p:txBody>
      </p:sp>
      <p:sp>
        <p:nvSpPr>
          <p:cNvPr id="45" name="Text 36"/>
          <p:cNvSpPr txBox="1"/>
          <p:nvPr/>
        </p:nvSpPr>
        <p:spPr>
          <a:xfrm>
            <a:off x="1611904" y="2564645"/>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64645"/>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"Assalamu'alaikum dari backend!");</a:t>
            </a:r>
            <a:endParaRPr lang="en-US" sz="748" dirty="0"/>
          </a:p>
        </p:txBody>
      </p:sp>
      <p:sp>
        <p:nvSpPr>
          <p:cNvPr id="47" name="Text 38"/>
          <p:cNvSpPr txBox="1"/>
          <p:nvPr/>
        </p:nvSpPr>
        <p:spPr>
          <a:xfrm>
            <a:off x="1611904" y="2720093"/>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720093"/>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a:t>
            </a:r>
            <a:endParaRPr lang="en-US" sz="748" dirty="0"/>
          </a:p>
        </p:txBody>
      </p:sp>
      <p:sp>
        <p:nvSpPr>
          <p:cNvPr id="49" name="Shape 40"/>
          <p:cNvSpPr/>
          <p:nvPr/>
        </p:nvSpPr>
        <p:spPr>
          <a:xfrm>
            <a:off x="1783080" y="1860557"/>
            <a:ext cx="2560320" cy="1371600"/>
          </a:xfrm>
          <a:prstGeom prst="roundRect">
            <a:avLst>
              <a:gd name="adj" fmla="val 3333"/>
            </a:avLst>
          </a:prstGeom>
          <a:solidFill>
            <a:srgbClr val="FFFFFF"/>
          </a:solidFill>
          <a:ln w="9525">
            <a:solidFill>
              <a:srgbClr val="AAAAAA"/>
            </a:solidFill>
            <a:prstDash val="solid"/>
          </a:ln>
        </p:spPr>
      </p:sp>
      <p:sp>
        <p:nvSpPr>
          <p:cNvPr id="50" name="Text 41"/>
          <p:cNvSpPr txBox="1"/>
          <p:nvPr/>
        </p:nvSpPr>
        <p:spPr>
          <a:xfrm>
            <a:off x="1892808" y="1933709"/>
            <a:ext cx="22860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Authorization required</a:t>
            </a:r>
            <a:endParaRPr lang="en-US" sz="1000" dirty="0"/>
          </a:p>
        </p:txBody>
      </p:sp>
      <p:sp>
        <p:nvSpPr>
          <p:cNvPr id="51" name="Text 42"/>
          <p:cNvSpPr txBox="1"/>
          <p:nvPr/>
        </p:nvSpPr>
        <p:spPr>
          <a:xfrm>
            <a:off x="1892808" y="2208029"/>
            <a:ext cx="2331720" cy="365760"/>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Proyek ini perlu izin mengakses Google Sheets milik akun Anda.</a:t>
            </a:r>
            <a:endParaRPr lang="en-US" sz="700" dirty="0"/>
          </a:p>
        </p:txBody>
      </p:sp>
      <p:sp>
        <p:nvSpPr>
          <p:cNvPr id="52" name="Shape 43"/>
          <p:cNvSpPr/>
          <p:nvPr/>
        </p:nvSpPr>
        <p:spPr>
          <a:xfrm>
            <a:off x="3291840" y="2930405"/>
            <a:ext cx="932688" cy="201168"/>
          </a:xfrm>
          <a:prstGeom prst="roundRect">
            <a:avLst>
              <a:gd name="adj" fmla="val 18182"/>
            </a:avLst>
          </a:prstGeom>
          <a:solidFill>
            <a:srgbClr val="1A73E8"/>
          </a:solidFill>
          <a:ln w="12700">
            <a:solidFill>
              <a:srgbClr val="1A73E8"/>
            </a:solidFill>
            <a:prstDash val="solid"/>
          </a:ln>
        </p:spPr>
      </p:sp>
      <p:sp>
        <p:nvSpPr>
          <p:cNvPr id="53" name="Text 44"/>
          <p:cNvSpPr txBox="1"/>
          <p:nvPr/>
        </p:nvSpPr>
        <p:spPr>
          <a:xfrm>
            <a:off x="3291840" y="2930405"/>
            <a:ext cx="932688"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Review permissions</a:t>
            </a:r>
            <a:endParaRPr lang="en-US" sz="650" dirty="0"/>
          </a:p>
        </p:txBody>
      </p:sp>
      <p:sp>
        <p:nvSpPr>
          <p:cNvPr id="54" name="Shape 45"/>
          <p:cNvSpPr/>
          <p:nvPr/>
        </p:nvSpPr>
        <p:spPr>
          <a:xfrm>
            <a:off x="3264408" y="2902973"/>
            <a:ext cx="987552" cy="256032"/>
          </a:xfrm>
          <a:prstGeom prst="roundRect">
            <a:avLst>
              <a:gd name="adj" fmla="val 17857"/>
            </a:avLst>
          </a:prstGeom>
          <a:solidFill>
            <a:srgbClr val="FFFFFF">
              <a:alpha val="0"/>
            </a:srgbClr>
          </a:solidFill>
          <a:ln w="31750">
            <a:solidFill>
              <a:srgbClr val="E53935"/>
            </a:solidFill>
            <a:prstDash val="solid"/>
          </a:ln>
        </p:spPr>
      </p:sp>
      <p:sp>
        <p:nvSpPr>
          <p:cNvPr id="55" name="Shape 46"/>
          <p:cNvSpPr/>
          <p:nvPr/>
        </p:nvSpPr>
        <p:spPr>
          <a:xfrm>
            <a:off x="4114800" y="2765813"/>
            <a:ext cx="274320" cy="274320"/>
          </a:xfrm>
          <a:prstGeom prst="ellipse">
            <a:avLst/>
          </a:prstGeom>
          <a:solidFill>
            <a:srgbClr val="E53935"/>
          </a:solidFill>
          <a:ln w="12700">
            <a:solidFill>
              <a:srgbClr val="FFFFFF"/>
            </a:solidFill>
            <a:prstDash val="solid"/>
          </a:ln>
        </p:spPr>
      </p:sp>
      <p:sp>
        <p:nvSpPr>
          <p:cNvPr id="56" name="Text 47"/>
          <p:cNvSpPr txBox="1"/>
          <p:nvPr/>
        </p:nvSpPr>
        <p:spPr>
          <a:xfrm>
            <a:off x="4114800" y="27658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7" name="Image 7" descr="preencoded.png">    </p:cNvPr>
          <p:cNvPicPr>
            <a:picLocks noChangeAspect="1"/>
          </p:cNvPicPr>
          <p:nvPr/>
        </p:nvPicPr>
        <p:blipFill>
          <a:blip r:embed="rId8"/>
          <a:stretch>
            <a:fillRect/>
          </a:stretch>
        </p:blipFill>
        <p:spPr>
          <a:xfrm>
            <a:off x="3804818" y="3041048"/>
            <a:ext cx="237744" cy="237744"/>
          </a:xfrm>
          <a:prstGeom prst="rect">
            <a:avLst/>
          </a:prstGeom>
        </p:spPr>
      </p:pic>
      <p:sp>
        <p:nvSpPr>
          <p:cNvPr id="58"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9"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Izinkan akses (Authorize)</a:t>
            </a:r>
            <a:endParaRPr lang="en-US" sz="1800" dirty="0"/>
          </a:p>
        </p:txBody>
      </p:sp>
      <p:sp>
        <p:nvSpPr>
          <p:cNvPr id="60"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Authorize access › pilih akun kelas. Jika muncul "Google hasn't verified this app": Advanced › Go to (nama proyek) › Allow.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URL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doGet(e) {</a:t>
            </a:r>
            <a:endParaRPr lang="en-US" sz="748" dirty="0"/>
          </a:p>
        </p:txBody>
      </p:sp>
      <p:sp>
        <p:nvSpPr>
          <p:cNvPr id="43" name="Text 34"/>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  return ContentService.createTextOutput(</a:t>
            </a:r>
            <a:endParaRPr lang="en-US" sz="748" dirty="0"/>
          </a:p>
        </p:txBody>
      </p:sp>
      <p:sp>
        <p:nvSpPr>
          <p:cNvPr id="45" name="Text 36"/>
          <p:cNvSpPr txBox="1"/>
          <p:nvPr/>
        </p:nvSpPr>
        <p:spPr>
          <a:xfrm>
            <a:off x="1611904" y="2564645"/>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64645"/>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"Assalamu'alaikum dari backend!");</a:t>
            </a:r>
            <a:endParaRPr lang="en-US" sz="748" dirty="0"/>
          </a:p>
        </p:txBody>
      </p:sp>
      <p:sp>
        <p:nvSpPr>
          <p:cNvPr id="47" name="Text 38"/>
          <p:cNvSpPr txBox="1"/>
          <p:nvPr/>
        </p:nvSpPr>
        <p:spPr>
          <a:xfrm>
            <a:off x="1611904" y="2720093"/>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720093"/>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a:t>
            </a:r>
            <a:endParaRPr lang="en-US" sz="748" dirty="0"/>
          </a:p>
        </p:txBody>
      </p:sp>
      <p:sp>
        <p:nvSpPr>
          <p:cNvPr id="49" name="Shape 40"/>
          <p:cNvSpPr/>
          <p:nvPr/>
        </p:nvSpPr>
        <p:spPr>
          <a:xfrm>
            <a:off x="1691640" y="1860557"/>
            <a:ext cx="2743200" cy="1280160"/>
          </a:xfrm>
          <a:prstGeom prst="roundRect">
            <a:avLst>
              <a:gd name="adj" fmla="val 3571"/>
            </a:avLst>
          </a:prstGeom>
          <a:solidFill>
            <a:srgbClr val="FFFFFF"/>
          </a:solidFill>
          <a:ln w="9525">
            <a:solidFill>
              <a:srgbClr val="AAAAAA"/>
            </a:solidFill>
            <a:prstDash val="solid"/>
          </a:ln>
        </p:spPr>
      </p:sp>
      <p:sp>
        <p:nvSpPr>
          <p:cNvPr id="50" name="Text 41"/>
          <p:cNvSpPr txBox="1"/>
          <p:nvPr/>
        </p:nvSpPr>
        <p:spPr>
          <a:xfrm>
            <a:off x="1801368" y="1915421"/>
            <a:ext cx="18288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New deployment ✓</a:t>
            </a:r>
            <a:endParaRPr lang="en-US" sz="1000" dirty="0"/>
          </a:p>
        </p:txBody>
      </p:sp>
      <p:sp>
        <p:nvSpPr>
          <p:cNvPr id="51" name="Text 42"/>
          <p:cNvSpPr txBox="1"/>
          <p:nvPr/>
        </p:nvSpPr>
        <p:spPr>
          <a:xfrm>
            <a:off x="1801368" y="2226317"/>
            <a:ext cx="13716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Web app URL</a:t>
            </a:r>
            <a:endParaRPr lang="en-US" sz="650" dirty="0"/>
          </a:p>
        </p:txBody>
      </p:sp>
      <p:sp>
        <p:nvSpPr>
          <p:cNvPr id="52" name="Shape 43"/>
          <p:cNvSpPr/>
          <p:nvPr/>
        </p:nvSpPr>
        <p:spPr>
          <a:xfrm>
            <a:off x="1801368" y="2390909"/>
            <a:ext cx="2523744" cy="219456"/>
          </a:xfrm>
          <a:prstGeom prst="rect">
            <a:avLst/>
          </a:prstGeom>
          <a:solidFill>
            <a:srgbClr val="F1F3F4"/>
          </a:solidFill>
          <a:ln w="12700">
            <a:solidFill>
              <a:srgbClr val="F1F3F4"/>
            </a:solidFill>
            <a:prstDash val="solid"/>
          </a:ln>
        </p:spPr>
      </p:sp>
      <p:sp>
        <p:nvSpPr>
          <p:cNvPr id="53" name="Text 44"/>
          <p:cNvSpPr txBox="1"/>
          <p:nvPr/>
        </p:nvSpPr>
        <p:spPr>
          <a:xfrm>
            <a:off x="1847088" y="2390909"/>
            <a:ext cx="2523744" cy="219456"/>
          </a:xfrm>
          <a:prstGeom prst="rect">
            <a:avLst/>
          </a:prstGeom>
          <a:noFill/>
          <a:ln/>
        </p:spPr>
        <p:txBody>
          <a:bodyPr wrap="square" lIns="0" tIns="0" rIns="0" bIns="0" rtlCol="0" anchor="ctr"/>
          <a:lstStyle/>
          <a:p>
            <a:pPr indent="0" marL="0">
              <a:buNone/>
            </a:pPr>
            <a:r>
              <a:rPr lang="en-US" sz="600" dirty="0">
                <a:solidFill>
                  <a:srgbClr val="1E2A26"/>
                </a:solidFill>
                <a:latin typeface="Courier New" pitchFamily="34" charset="0"/>
                <a:ea typeface="Courier New" pitchFamily="34" charset="-122"/>
                <a:cs typeface="Courier New" pitchFamily="34" charset="-120"/>
              </a:rPr>
              <a:t>https://script.google.com/macros/s/AKfy.../exec</a:t>
            </a:r>
            <a:endParaRPr lang="en-US" sz="600" dirty="0"/>
          </a:p>
        </p:txBody>
      </p:sp>
      <p:sp>
        <p:nvSpPr>
          <p:cNvPr id="54" name="Text 45"/>
          <p:cNvSpPr txBox="1"/>
          <p:nvPr/>
        </p:nvSpPr>
        <p:spPr>
          <a:xfrm>
            <a:off x="1801368" y="2665229"/>
            <a:ext cx="502920" cy="182880"/>
          </a:xfrm>
          <a:prstGeom prst="rect">
            <a:avLst/>
          </a:prstGeom>
          <a:noFill/>
          <a:ln/>
        </p:spPr>
        <p:txBody>
          <a:bodyPr wrap="square" lIns="0" tIns="0" rIns="0" bIns="0" rtlCol="0" anchor="ctr"/>
          <a:lstStyle/>
          <a:p>
            <a:pPr indent="0" marL="0">
              <a:buNone/>
            </a:pPr>
            <a:r>
              <a:rPr lang="en-US" sz="700" b="1" dirty="0">
                <a:solidFill>
                  <a:srgbClr val="1A73E8"/>
                </a:solidFill>
                <a:latin typeface="Calibri" pitchFamily="34" charset="0"/>
                <a:ea typeface="Calibri" pitchFamily="34" charset="-122"/>
                <a:cs typeface="Calibri" pitchFamily="34" charset="-120"/>
              </a:rPr>
              <a:t>⧉ Copy</a:t>
            </a:r>
            <a:endParaRPr lang="en-US" sz="700" dirty="0"/>
          </a:p>
        </p:txBody>
      </p:sp>
      <p:sp>
        <p:nvSpPr>
          <p:cNvPr id="55" name="Shape 46"/>
          <p:cNvSpPr/>
          <p:nvPr/>
        </p:nvSpPr>
        <p:spPr>
          <a:xfrm>
            <a:off x="1783080" y="2372621"/>
            <a:ext cx="2560320" cy="256032"/>
          </a:xfrm>
          <a:prstGeom prst="roundRect">
            <a:avLst>
              <a:gd name="adj" fmla="val 17857"/>
            </a:avLst>
          </a:prstGeom>
          <a:solidFill>
            <a:srgbClr val="FFFFFF">
              <a:alpha val="0"/>
            </a:srgbClr>
          </a:solidFill>
          <a:ln w="31750">
            <a:solidFill>
              <a:srgbClr val="E53935"/>
            </a:solidFill>
            <a:prstDash val="solid"/>
          </a:ln>
        </p:spPr>
      </p:sp>
      <p:sp>
        <p:nvSpPr>
          <p:cNvPr id="56" name="Shape 47"/>
          <p:cNvSpPr/>
          <p:nvPr/>
        </p:nvSpPr>
        <p:spPr>
          <a:xfrm>
            <a:off x="4206240" y="2235461"/>
            <a:ext cx="274320" cy="274320"/>
          </a:xfrm>
          <a:prstGeom prst="ellipse">
            <a:avLst/>
          </a:prstGeom>
          <a:solidFill>
            <a:srgbClr val="E53935"/>
          </a:solidFill>
          <a:ln w="12700">
            <a:solidFill>
              <a:srgbClr val="FFFFFF"/>
            </a:solidFill>
            <a:prstDash val="solid"/>
          </a:ln>
        </p:spPr>
      </p:sp>
      <p:sp>
        <p:nvSpPr>
          <p:cNvPr id="57" name="Text 48"/>
          <p:cNvSpPr txBox="1"/>
          <p:nvPr/>
        </p:nvSpPr>
        <p:spPr>
          <a:xfrm>
            <a:off x="4206240" y="22354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8" name="Image 7" descr="preencoded.png">    </p:cNvPr>
          <p:cNvPicPr>
            <a:picLocks noChangeAspect="1"/>
          </p:cNvPicPr>
          <p:nvPr/>
        </p:nvPicPr>
        <p:blipFill>
          <a:blip r:embed="rId8"/>
          <a:stretch>
            <a:fillRect/>
          </a:stretch>
        </p:blipFill>
        <p:spPr>
          <a:xfrm>
            <a:off x="3189427" y="2511610"/>
            <a:ext cx="237744" cy="237744"/>
          </a:xfrm>
          <a:prstGeom prst="rect">
            <a:avLst/>
          </a:prstGeom>
        </p:spPr>
      </p:pic>
      <p:sp>
        <p:nvSpPr>
          <p:cNvPr id="59" name="Shape 49"/>
          <p:cNvSpPr/>
          <p:nvPr/>
        </p:nvSpPr>
        <p:spPr>
          <a:xfrm>
            <a:off x="1783080" y="2646941"/>
            <a:ext cx="539496" cy="219456"/>
          </a:xfrm>
          <a:prstGeom prst="roundRect">
            <a:avLst>
              <a:gd name="adj" fmla="val 20833"/>
            </a:avLst>
          </a:prstGeom>
          <a:solidFill>
            <a:srgbClr val="FFFFFF">
              <a:alpha val="0"/>
            </a:srgbClr>
          </a:solidFill>
          <a:ln w="31750">
            <a:solidFill>
              <a:srgbClr val="E53935"/>
            </a:solidFill>
            <a:prstDash val="solid"/>
          </a:ln>
        </p:spPr>
      </p:sp>
      <p:sp>
        <p:nvSpPr>
          <p:cNvPr id="60" name="Shape 50"/>
          <p:cNvSpPr/>
          <p:nvPr/>
        </p:nvSpPr>
        <p:spPr>
          <a:xfrm>
            <a:off x="2185416" y="2509781"/>
            <a:ext cx="274320" cy="274320"/>
          </a:xfrm>
          <a:prstGeom prst="ellipse">
            <a:avLst/>
          </a:prstGeom>
          <a:solidFill>
            <a:srgbClr val="E53935"/>
          </a:solidFill>
          <a:ln w="12700">
            <a:solidFill>
              <a:srgbClr val="FFFFFF"/>
            </a:solidFill>
            <a:prstDash val="solid"/>
          </a:ln>
        </p:spPr>
      </p:sp>
      <p:sp>
        <p:nvSpPr>
          <p:cNvPr id="61" name="Text 51"/>
          <p:cNvSpPr txBox="1"/>
          <p:nvPr/>
        </p:nvSpPr>
        <p:spPr>
          <a:xfrm>
            <a:off x="2185416" y="25097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2" name="Image 8" descr="preencoded.png">    </p:cNvPr>
          <p:cNvPicPr>
            <a:picLocks noChangeAspect="1"/>
          </p:cNvPicPr>
          <p:nvPr/>
        </p:nvPicPr>
        <p:blipFill>
          <a:blip r:embed="rId9"/>
          <a:stretch>
            <a:fillRect/>
          </a:stretch>
        </p:blipFill>
        <p:spPr>
          <a:xfrm>
            <a:off x="2077974" y="2765813"/>
            <a:ext cx="237744" cy="237744"/>
          </a:xfrm>
          <a:prstGeom prst="rect">
            <a:avLst/>
          </a:prstGeom>
        </p:spPr>
      </p:pic>
      <p:sp>
        <p:nvSpPr>
          <p:cNvPr id="63"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64"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Salin Web app URL, buka di tab baru</a:t>
            </a:r>
            <a:endParaRPr lang="en-US" sz="1800" dirty="0"/>
          </a:p>
        </p:txBody>
      </p:sp>
      <p:sp>
        <p:nvSpPr>
          <p:cNvPr id="65"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Web app URL. Tempel di tab baru browser. Muncul: Assalamu'alaikum dari backend!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Gambar atau tabel 3 lapisan aplikasi kelompokmu (frontend, backend, database).</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Web app URL yang menampilkan salam (disimpan di Docs, tidak disebar).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ciri phishing dan 1 contoh pesan phishing buatan sendiri (untuk latihan).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Alasan mengapa backend kita hanya boleh menyimpan data latihan.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3 lapisan aplikasi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Web app menampilkan salam</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mengenali 3 ciri phishing</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Paham risiko Who has access: Anyone</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formulir online bisa disalahgunakan?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kamu lakukan jika menerima link mencurigakan?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Jangan menipu dan jangan mau ditipu. Seorang mukmin tidak tersengat dari lubang yang sama dua kali.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Menyimpan data dari website ke Google Sheets.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Menyimpan &amp; Membaca Data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doPost, doGet, dan fetch</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Sheets sebagai Backend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tombol Simpan di website bisa menambah baris di Google Sheets?</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doPost untuk menyimpan data dengan validasi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doGet untuk membaca data sebagai JSON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Menghubungkan formulir web dengan fetch</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Alur Menyimpan dan Membaca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371600"/>
            <a:ext cx="2194560" cy="960120"/>
          </a:xfrm>
          <a:prstGeom prst="roundRect">
            <a:avLst>
              <a:gd name="adj" fmla="val 9524"/>
            </a:avLst>
          </a:prstGeom>
          <a:solidFill>
            <a:srgbClr val="0078D4"/>
          </a:solidFill>
          <a:ln w="12700">
            <a:solidFill>
              <a:srgbClr val="0078D4"/>
            </a:solidFill>
            <a:prstDash val="solid"/>
          </a:ln>
        </p:spPr>
      </p:sp>
      <p:sp>
        <p:nvSpPr>
          <p:cNvPr id="10" name="Text 6"/>
          <p:cNvSpPr txBox="1"/>
          <p:nvPr/>
        </p:nvSpPr>
        <p:spPr>
          <a:xfrm>
            <a:off x="457200" y="1417320"/>
            <a:ext cx="21945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Website</a:t>
            </a:r>
            <a:endParaRPr lang="en-US" sz="1400" dirty="0"/>
          </a:p>
        </p:txBody>
      </p:sp>
      <p:sp>
        <p:nvSpPr>
          <p:cNvPr id="11" name="Text 7"/>
          <p:cNvSpPr txBox="1"/>
          <p:nvPr/>
        </p:nvSpPr>
        <p:spPr>
          <a:xfrm>
            <a:off x="548640" y="1783080"/>
            <a:ext cx="20116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index.html (fetch)</a:t>
            </a:r>
            <a:endParaRPr lang="en-US" sz="1100" dirty="0"/>
          </a:p>
        </p:txBody>
      </p:sp>
      <p:sp>
        <p:nvSpPr>
          <p:cNvPr id="12" name="Shape 8"/>
          <p:cNvSpPr/>
          <p:nvPr/>
        </p:nvSpPr>
        <p:spPr>
          <a:xfrm>
            <a:off x="3474720" y="1371600"/>
            <a:ext cx="2194560" cy="960120"/>
          </a:xfrm>
          <a:prstGeom prst="roundRect">
            <a:avLst>
              <a:gd name="adj" fmla="val 9524"/>
            </a:avLst>
          </a:prstGeom>
          <a:solidFill>
            <a:srgbClr val="1F7A5C"/>
          </a:solidFill>
          <a:ln w="12700">
            <a:solidFill>
              <a:srgbClr val="1F7A5C"/>
            </a:solidFill>
            <a:prstDash val="solid"/>
          </a:ln>
        </p:spPr>
      </p:sp>
      <p:sp>
        <p:nvSpPr>
          <p:cNvPr id="13" name="Text 9"/>
          <p:cNvSpPr txBox="1"/>
          <p:nvPr/>
        </p:nvSpPr>
        <p:spPr>
          <a:xfrm>
            <a:off x="3474720" y="1417320"/>
            <a:ext cx="21945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Apps Script</a:t>
            </a:r>
            <a:endParaRPr lang="en-US" sz="1400" dirty="0"/>
          </a:p>
        </p:txBody>
      </p:sp>
      <p:sp>
        <p:nvSpPr>
          <p:cNvPr id="14" name="Text 10"/>
          <p:cNvSpPr txBox="1"/>
          <p:nvPr/>
        </p:nvSpPr>
        <p:spPr>
          <a:xfrm>
            <a:off x="3566160" y="1783080"/>
            <a:ext cx="20116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doPost / doGet</a:t>
            </a:r>
            <a:endParaRPr lang="en-US" sz="1100" dirty="0"/>
          </a:p>
        </p:txBody>
      </p:sp>
      <p:sp>
        <p:nvSpPr>
          <p:cNvPr id="15" name="Shape 11"/>
          <p:cNvSpPr/>
          <p:nvPr/>
        </p:nvSpPr>
        <p:spPr>
          <a:xfrm>
            <a:off x="6492240" y="1371600"/>
            <a:ext cx="2194560" cy="960120"/>
          </a:xfrm>
          <a:prstGeom prst="roundRect">
            <a:avLst>
              <a:gd name="adj" fmla="val 9524"/>
            </a:avLst>
          </a:prstGeom>
          <a:solidFill>
            <a:srgbClr val="0F4C3A"/>
          </a:solidFill>
          <a:ln w="12700">
            <a:solidFill>
              <a:srgbClr val="0F4C3A"/>
            </a:solidFill>
            <a:prstDash val="solid"/>
          </a:ln>
        </p:spPr>
      </p:sp>
      <p:sp>
        <p:nvSpPr>
          <p:cNvPr id="16" name="Text 12"/>
          <p:cNvSpPr txBox="1"/>
          <p:nvPr/>
        </p:nvSpPr>
        <p:spPr>
          <a:xfrm>
            <a:off x="6492240" y="1417320"/>
            <a:ext cx="21945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Google Sheets</a:t>
            </a:r>
            <a:endParaRPr lang="en-US" sz="1400" dirty="0"/>
          </a:p>
        </p:txBody>
      </p:sp>
      <p:sp>
        <p:nvSpPr>
          <p:cNvPr id="17" name="Text 13"/>
          <p:cNvSpPr txBox="1"/>
          <p:nvPr/>
        </p:nvSpPr>
        <p:spPr>
          <a:xfrm>
            <a:off x="6583680" y="1783080"/>
            <a:ext cx="2011680"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lembar Setoran</a:t>
            </a:r>
            <a:endParaRPr lang="en-US" sz="1100" dirty="0"/>
          </a:p>
        </p:txBody>
      </p:sp>
      <p:sp>
        <p:nvSpPr>
          <p:cNvPr id="18" name="Shape 14"/>
          <p:cNvSpPr/>
          <p:nvPr/>
        </p:nvSpPr>
        <p:spPr>
          <a:xfrm>
            <a:off x="2651760" y="1645920"/>
            <a:ext cx="822960" cy="914"/>
          </a:xfrm>
          <a:prstGeom prst="line">
            <a:avLst/>
          </a:prstGeom>
          <a:noFill/>
          <a:ln w="12700">
            <a:solidFill>
              <a:srgbClr val="444444"/>
            </a:solidFill>
            <a:prstDash val="solid"/>
            <a:tailEnd type="triangle"/>
          </a:ln>
        </p:spPr>
      </p:sp>
      <p:sp>
        <p:nvSpPr>
          <p:cNvPr id="19" name="Text 15"/>
          <p:cNvSpPr txBox="1"/>
          <p:nvPr/>
        </p:nvSpPr>
        <p:spPr>
          <a:xfrm>
            <a:off x="2514600" y="1234440"/>
            <a:ext cx="1280160" cy="274320"/>
          </a:xfrm>
          <a:prstGeom prst="rect">
            <a:avLst/>
          </a:prstGeom>
          <a:noFill/>
          <a:ln/>
        </p:spPr>
        <p:txBody>
          <a:bodyPr wrap="square" lIns="0" tIns="0" rIns="0" bIns="0" rtlCol="0" anchor="t"/>
          <a:lstStyle/>
          <a:p>
            <a:pPr indent="0" marL="0">
              <a:buNone/>
            </a:pPr>
            <a:r>
              <a:rPr lang="en-US" sz="950" b="1" dirty="0">
                <a:solidFill>
                  <a:srgbClr val="E53935"/>
                </a:solidFill>
                <a:latin typeface="Calibri" pitchFamily="34" charset="0"/>
                <a:ea typeface="Calibri" pitchFamily="34" charset="-122"/>
                <a:cs typeface="Calibri" pitchFamily="34" charset="-120"/>
              </a:rPr>
              <a:t>POST: kode, surat, ayat</a:t>
            </a:r>
            <a:endParaRPr lang="en-US" sz="950" dirty="0"/>
          </a:p>
        </p:txBody>
      </p:sp>
      <p:sp>
        <p:nvSpPr>
          <p:cNvPr id="20" name="Shape 16"/>
          <p:cNvSpPr/>
          <p:nvPr/>
        </p:nvSpPr>
        <p:spPr>
          <a:xfrm>
            <a:off x="5669280" y="1645920"/>
            <a:ext cx="822960" cy="914"/>
          </a:xfrm>
          <a:prstGeom prst="line">
            <a:avLst/>
          </a:prstGeom>
          <a:noFill/>
          <a:ln w="12700">
            <a:solidFill>
              <a:srgbClr val="444444"/>
            </a:solidFill>
            <a:prstDash val="solid"/>
            <a:tailEnd type="triangle"/>
          </a:ln>
        </p:spPr>
      </p:sp>
      <p:sp>
        <p:nvSpPr>
          <p:cNvPr id="21" name="Text 17"/>
          <p:cNvSpPr txBox="1"/>
          <p:nvPr/>
        </p:nvSpPr>
        <p:spPr>
          <a:xfrm>
            <a:off x="5669280" y="1325880"/>
            <a:ext cx="822960" cy="274320"/>
          </a:xfrm>
          <a:prstGeom prst="rect">
            <a:avLst/>
          </a:prstGeom>
          <a:noFill/>
          <a:ln/>
        </p:spPr>
        <p:txBody>
          <a:bodyPr wrap="square" lIns="0" tIns="0" rIns="0" bIns="0" rtlCol="0" anchor="t"/>
          <a:lstStyle/>
          <a:p>
            <a:pPr indent="0" marL="0">
              <a:buNone/>
            </a:pPr>
            <a:r>
              <a:rPr lang="en-US" sz="950" b="1" dirty="0">
                <a:solidFill>
                  <a:srgbClr val="E53935"/>
                </a:solidFill>
                <a:latin typeface="Calibri" pitchFamily="34" charset="0"/>
                <a:ea typeface="Calibri" pitchFamily="34" charset="-122"/>
                <a:cs typeface="Calibri" pitchFamily="34" charset="-120"/>
              </a:rPr>
              <a:t>appendRow</a:t>
            </a:r>
            <a:endParaRPr lang="en-US" sz="950" dirty="0"/>
          </a:p>
        </p:txBody>
      </p:sp>
      <p:sp>
        <p:nvSpPr>
          <p:cNvPr id="22" name="Shape 18"/>
          <p:cNvSpPr/>
          <p:nvPr/>
        </p:nvSpPr>
        <p:spPr>
          <a:xfrm flipH="1">
            <a:off x="5669280" y="2103120"/>
            <a:ext cx="822960" cy="914"/>
          </a:xfrm>
          <a:prstGeom prst="line">
            <a:avLst/>
          </a:prstGeom>
          <a:noFill/>
          <a:ln w="12700">
            <a:solidFill>
              <a:srgbClr val="444444"/>
            </a:solidFill>
            <a:prstDash val="solid"/>
            <a:tailEnd type="triangle"/>
          </a:ln>
        </p:spPr>
      </p:sp>
      <p:sp>
        <p:nvSpPr>
          <p:cNvPr id="23" name="Text 19"/>
          <p:cNvSpPr txBox="1"/>
          <p:nvPr/>
        </p:nvSpPr>
        <p:spPr>
          <a:xfrm>
            <a:off x="5669280" y="2176272"/>
            <a:ext cx="822960" cy="274320"/>
          </a:xfrm>
          <a:prstGeom prst="rect">
            <a:avLst/>
          </a:prstGeom>
          <a:noFill/>
          <a:ln/>
        </p:spPr>
        <p:txBody>
          <a:bodyPr wrap="square" lIns="0" tIns="0" rIns="0" bIns="0" rtlCol="0" anchor="t"/>
          <a:lstStyle/>
          <a:p>
            <a:pPr indent="0" marL="0">
              <a:buNone/>
            </a:pPr>
            <a:r>
              <a:rPr lang="en-US" sz="950" b="1" dirty="0">
                <a:solidFill>
                  <a:srgbClr val="1F7A5C"/>
                </a:solidFill>
                <a:latin typeface="Calibri" pitchFamily="34" charset="0"/>
                <a:ea typeface="Calibri" pitchFamily="34" charset="-122"/>
                <a:cs typeface="Calibri" pitchFamily="34" charset="-120"/>
              </a:rPr>
              <a:t>getValues</a:t>
            </a:r>
            <a:endParaRPr lang="en-US" sz="950" dirty="0"/>
          </a:p>
        </p:txBody>
      </p:sp>
      <p:sp>
        <p:nvSpPr>
          <p:cNvPr id="24" name="Shape 20"/>
          <p:cNvSpPr/>
          <p:nvPr/>
        </p:nvSpPr>
        <p:spPr>
          <a:xfrm flipH="1">
            <a:off x="2651760" y="2103120"/>
            <a:ext cx="822960" cy="914"/>
          </a:xfrm>
          <a:prstGeom prst="line">
            <a:avLst/>
          </a:prstGeom>
          <a:noFill/>
          <a:ln w="12700">
            <a:solidFill>
              <a:srgbClr val="444444"/>
            </a:solidFill>
            <a:prstDash val="solid"/>
            <a:tailEnd type="triangle"/>
          </a:ln>
        </p:spPr>
      </p:sp>
      <p:sp>
        <p:nvSpPr>
          <p:cNvPr id="25" name="Text 21"/>
          <p:cNvSpPr txBox="1"/>
          <p:nvPr/>
        </p:nvSpPr>
        <p:spPr>
          <a:xfrm>
            <a:off x="2651760" y="2176272"/>
            <a:ext cx="822960" cy="274320"/>
          </a:xfrm>
          <a:prstGeom prst="rect">
            <a:avLst/>
          </a:prstGeom>
          <a:noFill/>
          <a:ln/>
        </p:spPr>
        <p:txBody>
          <a:bodyPr wrap="square" lIns="0" tIns="0" rIns="0" bIns="0" rtlCol="0" anchor="t"/>
          <a:lstStyle/>
          <a:p>
            <a:pPr indent="0" marL="0">
              <a:buNone/>
            </a:pPr>
            <a:r>
              <a:rPr lang="en-US" sz="950" b="1" dirty="0">
                <a:solidFill>
                  <a:srgbClr val="1F7A5C"/>
                </a:solidFill>
                <a:latin typeface="Calibri" pitchFamily="34" charset="0"/>
                <a:ea typeface="Calibri" pitchFamily="34" charset="-122"/>
                <a:cs typeface="Calibri" pitchFamily="34" charset="-120"/>
              </a:rPr>
              <a:t>GET: JSON</a:t>
            </a:r>
            <a:endParaRPr lang="en-US" sz="950" dirty="0"/>
          </a:p>
        </p:txBody>
      </p:sp>
      <p:sp>
        <p:nvSpPr>
          <p:cNvPr id="26" name="Shape 22"/>
          <p:cNvSpPr/>
          <p:nvPr/>
        </p:nvSpPr>
        <p:spPr>
          <a:xfrm>
            <a:off x="457200" y="2743200"/>
            <a:ext cx="8229600" cy="1783080"/>
          </a:xfrm>
          <a:prstGeom prst="roundRect">
            <a:avLst>
              <a:gd name="adj" fmla="val 5128"/>
            </a:avLst>
          </a:prstGeom>
          <a:solidFill>
            <a:srgbClr val="E6F2EC"/>
          </a:solidFill>
          <a:ln w="12700">
            <a:solidFill>
              <a:srgbClr val="E6F2EC"/>
            </a:solidFill>
            <a:prstDash val="solid"/>
          </a:ln>
        </p:spPr>
      </p:sp>
      <p:sp>
        <p:nvSpPr>
          <p:cNvPr id="27" name="Text 23"/>
          <p:cNvSpPr txBox="1"/>
          <p:nvPr/>
        </p:nvSpPr>
        <p:spPr>
          <a:xfrm>
            <a:off x="640080" y="2788920"/>
            <a:ext cx="7863840" cy="1691640"/>
          </a:xfrm>
          <a:prstGeom prst="rect">
            <a:avLst/>
          </a:prstGeom>
          <a:noFill/>
          <a:ln/>
        </p:spPr>
        <p:txBody>
          <a:bodyPr wrap="square" lIns="0" tIns="0" rIns="0" bIns="0" rtlCol="0" anchor="ctr"/>
          <a:lstStyle/>
          <a:p>
            <a:pPr indent="0" marL="0">
              <a:buNone/>
            </a:pPr>
            <a:r>
              <a:rPr lang="en-US" sz="1300" b="1" dirty="0">
                <a:solidFill>
                  <a:srgbClr val="E53935"/>
                </a:solidFill>
                <a:latin typeface="Courier New" pitchFamily="34" charset="0"/>
                <a:ea typeface="Courier New" pitchFamily="34" charset="-122"/>
                <a:cs typeface="Courier New" pitchFamily="34" charset="-120"/>
              </a:rPr>
              <a:t>doPost(e): </a:t>
            </a:r>
            <a:pPr indent="0" marL="0">
              <a:buNone/>
            </a:pPr>
            <a:r>
              <a:rPr lang="en-US" sz="1300" dirty="0">
                <a:solidFill>
                  <a:srgbClr val="1E2A26"/>
                </a:solidFill>
                <a:latin typeface="Calibri" pitchFamily="34" charset="0"/>
                <a:ea typeface="Calibri" pitchFamily="34" charset="-122"/>
                <a:cs typeface="Calibri" pitchFamily="34" charset="-120"/>
              </a:rPr>
              <a:t>menerima data, memeriksa (validasi), lalu menambah baris.
</a:t>
            </a:r>
            <a:pPr indent="0" marL="0">
              <a:buNone/>
            </a:pPr>
            <a:r>
              <a:rPr lang="en-US" sz="1300" b="1" dirty="0">
                <a:solidFill>
                  <a:srgbClr val="1F7A5C"/>
                </a:solidFill>
                <a:latin typeface="Courier New" pitchFamily="34" charset="0"/>
                <a:ea typeface="Courier New" pitchFamily="34" charset="-122"/>
                <a:cs typeface="Courier New" pitchFamily="34" charset="-120"/>
              </a:rPr>
              <a:t>doGet(e): </a:t>
            </a:r>
            <a:pPr indent="0" marL="0">
              <a:buNone/>
            </a:pPr>
            <a:r>
              <a:rPr lang="en-US" sz="1300" dirty="0">
                <a:solidFill>
                  <a:srgbClr val="1E2A26"/>
                </a:solidFill>
                <a:latin typeface="Calibri" pitchFamily="34" charset="0"/>
                <a:ea typeface="Calibri" pitchFamily="34" charset="-122"/>
                <a:cs typeface="Calibri" pitchFamily="34" charset="-120"/>
              </a:rPr>
              <a:t>membaca semua baris, mengirimkannya sebagai JSON.
</a:t>
            </a:r>
            <a:pPr indent="0" marL="0">
              <a:buNone/>
            </a:pPr>
            <a:r>
              <a:rPr lang="en-US" sz="1300" b="1" dirty="0">
                <a:solidFill>
                  <a:srgbClr val="1E2A26"/>
                </a:solidFill>
                <a:latin typeface="Courier New" pitchFamily="34" charset="0"/>
                <a:ea typeface="Courier New" pitchFamily="34" charset="-122"/>
                <a:cs typeface="Courier New" pitchFamily="34" charset="-120"/>
              </a:rPr>
              <a:t>JSON: </a:t>
            </a:r>
            <a:pPr indent="0" marL="0">
              <a:buNone/>
            </a:pPr>
            <a:r>
              <a:rPr lang="en-US" sz="1300" dirty="0">
                <a:solidFill>
                  <a:srgbClr val="1E2A26"/>
                </a:solidFill>
                <a:latin typeface="Calibri" pitchFamily="34" charset="0"/>
                <a:ea typeface="Calibri" pitchFamily="34" charset="-122"/>
                <a:cs typeface="Calibri" pitchFamily="34" charset="-120"/>
              </a:rPr>
              <a:t>format data yang mudah dibaca JavaScript, contoh: </a:t>
            </a:r>
            <a:pPr indent="0" marL="0">
              <a:buNone/>
            </a:pPr>
            <a:r>
              <a:rPr lang="en-US" sz="1300" dirty="0">
                <a:solidFill>
                  <a:srgbClr val="1E2A26"/>
                </a:solidFill>
                <a:latin typeface="Courier New" pitchFamily="34" charset="0"/>
                <a:ea typeface="Courier New" pitchFamily="34" charset="-122"/>
                <a:cs typeface="Courier New" pitchFamily="34" charset="-120"/>
              </a:rPr>
              <a:t>[{"Kode":"S001","Ayat":20}]</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Validasi di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Mengapa?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saja yang tahu URL bisa mengirim data. Backend harus memeriksa sendiri.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Wajib Diisi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Kode tidak boleh kosong.</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Batas Wajar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Ayat harus angka 0–300. Di luar itu: ditolak.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Panjang Dibatasi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.slice(0, 40): teks dipotong agar tidak terlalu panjang.</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Menyambungkan Website dan Sheets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 · kode ada di template guru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Backend: doGet dan doPost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Deploy versi baru</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Frontend: fetch dan uji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const NAMA_SHEET = 'Setoran';</a:t>
            </a:r>
            <a:endParaRPr lang="en-US" sz="547" dirty="0"/>
          </a:p>
        </p:txBody>
      </p:sp>
      <p:sp>
        <p:nvSpPr>
          <p:cNvPr id="43" name="Text 34"/>
          <p:cNvSpPr txBox="1"/>
          <p:nvPr/>
        </p:nvSpPr>
        <p:spPr>
          <a:xfrm>
            <a:off x="1611904" y="2367420"/>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367420"/>
            <a:ext cx="3588471" cy="113671"/>
          </a:xfrm>
          <a:prstGeom prst="rect">
            <a:avLst/>
          </a:prstGeom>
          <a:noFill/>
          <a:ln/>
        </p:spPr>
        <p:txBody>
          <a:bodyPr wrap="square" lIns="0" tIns="0" rIns="0" bIns="0" rtlCol="0" anchor="ctr"/>
          <a:lstStyle/>
          <a:p>
            <a:pPr indent="0" marL="0">
              <a:buNone/>
            </a:pPr>
            <a:endParaRPr lang="en-US" sz="547" dirty="0"/>
          </a:p>
        </p:txBody>
      </p:sp>
      <p:sp>
        <p:nvSpPr>
          <p:cNvPr id="45" name="Text 36"/>
          <p:cNvSpPr txBox="1"/>
          <p:nvPr/>
        </p:nvSpPr>
        <p:spPr>
          <a:xfrm>
            <a:off x="1611904" y="2481090"/>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481090"/>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function doGet(e) {</a:t>
            </a:r>
            <a:endParaRPr lang="en-US" sz="547" dirty="0"/>
          </a:p>
        </p:txBody>
      </p:sp>
      <p:sp>
        <p:nvSpPr>
          <p:cNvPr id="47" name="Text 38"/>
          <p:cNvSpPr txBox="1"/>
          <p:nvPr/>
        </p:nvSpPr>
        <p:spPr>
          <a:xfrm>
            <a:off x="1611904" y="2594761"/>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594761"/>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const sheet = SpreadsheetApp.getActiveSpreadsheet()</a:t>
            </a:r>
            <a:endParaRPr lang="en-US" sz="547" dirty="0"/>
          </a:p>
        </p:txBody>
      </p:sp>
      <p:sp>
        <p:nvSpPr>
          <p:cNvPr id="49" name="Text 40"/>
          <p:cNvSpPr txBox="1"/>
          <p:nvPr/>
        </p:nvSpPr>
        <p:spPr>
          <a:xfrm>
            <a:off x="1611904" y="2708431"/>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50" name="Text 41"/>
          <p:cNvSpPr txBox="1"/>
          <p:nvPr/>
        </p:nvSpPr>
        <p:spPr>
          <a:xfrm>
            <a:off x="1904512" y="2708431"/>
            <a:ext cx="3588471" cy="113671"/>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.getSheetByName(NAMA_SHEET);</a:t>
            </a:r>
            <a:endParaRPr lang="en-US" sz="547" dirty="0"/>
          </a:p>
        </p:txBody>
      </p:sp>
      <p:sp>
        <p:nvSpPr>
          <p:cNvPr id="51" name="Text 42"/>
          <p:cNvSpPr txBox="1"/>
          <p:nvPr/>
        </p:nvSpPr>
        <p:spPr>
          <a:xfrm>
            <a:off x="1611904" y="2822102"/>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52" name="Text 43"/>
          <p:cNvSpPr txBox="1"/>
          <p:nvPr/>
        </p:nvSpPr>
        <p:spPr>
          <a:xfrm>
            <a:off x="1904512" y="2822102"/>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const data = sheet.getDataRange().getValues();</a:t>
            </a:r>
            <a:endParaRPr lang="en-US" sz="547" dirty="0"/>
          </a:p>
        </p:txBody>
      </p:sp>
      <p:sp>
        <p:nvSpPr>
          <p:cNvPr id="53" name="Text 44"/>
          <p:cNvSpPr txBox="1"/>
          <p:nvPr/>
        </p:nvSpPr>
        <p:spPr>
          <a:xfrm>
            <a:off x="1611904" y="2935773"/>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54" name="Text 45"/>
          <p:cNvSpPr txBox="1"/>
          <p:nvPr/>
        </p:nvSpPr>
        <p:spPr>
          <a:xfrm>
            <a:off x="1904512" y="2935773"/>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const judul = data.shift();</a:t>
            </a:r>
            <a:endParaRPr lang="en-US" sz="547" dirty="0"/>
          </a:p>
        </p:txBody>
      </p:sp>
      <p:sp>
        <p:nvSpPr>
          <p:cNvPr id="55" name="Text 46"/>
          <p:cNvSpPr txBox="1"/>
          <p:nvPr/>
        </p:nvSpPr>
        <p:spPr>
          <a:xfrm>
            <a:off x="1611904" y="3049443"/>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56" name="Text 47"/>
          <p:cNvSpPr txBox="1"/>
          <p:nvPr/>
        </p:nvSpPr>
        <p:spPr>
          <a:xfrm>
            <a:off x="1904512" y="3049443"/>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const hasil = data.map(function (baris) {</a:t>
            </a:r>
            <a:endParaRPr lang="en-US" sz="547" dirty="0"/>
          </a:p>
        </p:txBody>
      </p:sp>
      <p:sp>
        <p:nvSpPr>
          <p:cNvPr id="57" name="Text 48"/>
          <p:cNvSpPr txBox="1"/>
          <p:nvPr/>
        </p:nvSpPr>
        <p:spPr>
          <a:xfrm>
            <a:off x="1611904" y="3163114"/>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58" name="Text 49"/>
          <p:cNvSpPr txBox="1"/>
          <p:nvPr/>
        </p:nvSpPr>
        <p:spPr>
          <a:xfrm>
            <a:off x="1904512" y="3163114"/>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const obj = {};</a:t>
            </a:r>
            <a:endParaRPr lang="en-US" sz="547" dirty="0"/>
          </a:p>
        </p:txBody>
      </p:sp>
      <p:sp>
        <p:nvSpPr>
          <p:cNvPr id="59" name="Text 50"/>
          <p:cNvSpPr txBox="1"/>
          <p:nvPr/>
        </p:nvSpPr>
        <p:spPr>
          <a:xfrm>
            <a:off x="1611904" y="3276784"/>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60" name="Text 51"/>
          <p:cNvSpPr txBox="1"/>
          <p:nvPr/>
        </p:nvSpPr>
        <p:spPr>
          <a:xfrm>
            <a:off x="1904512" y="3276784"/>
            <a:ext cx="3588471" cy="113671"/>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judul.forEach(function (j, i) { obj[j] = baris[i]; });</a:t>
            </a:r>
            <a:endParaRPr lang="en-US" sz="547" dirty="0"/>
          </a:p>
        </p:txBody>
      </p:sp>
      <p:sp>
        <p:nvSpPr>
          <p:cNvPr id="61" name="Text 52"/>
          <p:cNvSpPr txBox="1"/>
          <p:nvPr/>
        </p:nvSpPr>
        <p:spPr>
          <a:xfrm>
            <a:off x="1611904" y="3390455"/>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62" name="Text 53"/>
          <p:cNvSpPr txBox="1"/>
          <p:nvPr/>
        </p:nvSpPr>
        <p:spPr>
          <a:xfrm>
            <a:off x="1904512" y="3390455"/>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return obj;</a:t>
            </a:r>
            <a:endParaRPr lang="en-US" sz="547" dirty="0"/>
          </a:p>
        </p:txBody>
      </p:sp>
      <p:sp>
        <p:nvSpPr>
          <p:cNvPr id="63" name="Text 54"/>
          <p:cNvSpPr txBox="1"/>
          <p:nvPr/>
        </p:nvSpPr>
        <p:spPr>
          <a:xfrm>
            <a:off x="1611904" y="3504126"/>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64" name="Text 55"/>
          <p:cNvSpPr txBox="1"/>
          <p:nvPr/>
        </p:nvSpPr>
        <p:spPr>
          <a:xfrm>
            <a:off x="1904512" y="3504126"/>
            <a:ext cx="3588471" cy="113671"/>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a:t>
            </a:r>
            <a:endParaRPr lang="en-US" sz="547" dirty="0"/>
          </a:p>
        </p:txBody>
      </p:sp>
      <p:sp>
        <p:nvSpPr>
          <p:cNvPr id="65" name="Text 56"/>
          <p:cNvSpPr txBox="1"/>
          <p:nvPr/>
        </p:nvSpPr>
        <p:spPr>
          <a:xfrm>
            <a:off x="1611904" y="3617796"/>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66" name="Text 57"/>
          <p:cNvSpPr txBox="1"/>
          <p:nvPr/>
        </p:nvSpPr>
        <p:spPr>
          <a:xfrm>
            <a:off x="1904512" y="3617796"/>
            <a:ext cx="3588471" cy="113671"/>
          </a:xfrm>
          <a:prstGeom prst="rect">
            <a:avLst/>
          </a:prstGeom>
          <a:noFill/>
          <a:ln/>
        </p:spPr>
        <p:txBody>
          <a:bodyPr wrap="square" lIns="0" tIns="0" rIns="0" bIns="0" rtlCol="0" anchor="ctr"/>
          <a:lstStyle/>
          <a:p>
            <a:pPr indent="0" marL="0">
              <a:buNone/>
            </a:pPr>
            <a:r>
              <a:rPr lang="en-US" sz="547" dirty="0">
                <a:solidFill>
                  <a:srgbClr val="1A5FB4"/>
                </a:solidFill>
                <a:latin typeface="Courier New" pitchFamily="34" charset="0"/>
                <a:ea typeface="Courier New" pitchFamily="34" charset="-122"/>
                <a:cs typeface="Courier New" pitchFamily="34" charset="-120"/>
              </a:rPr>
              <a:t>  return ContentService.createTextOutput(JSON.stringify(hasil))</a:t>
            </a:r>
            <a:endParaRPr lang="en-US" sz="547" dirty="0"/>
          </a:p>
        </p:txBody>
      </p:sp>
      <p:sp>
        <p:nvSpPr>
          <p:cNvPr id="67" name="Text 58"/>
          <p:cNvSpPr txBox="1"/>
          <p:nvPr/>
        </p:nvSpPr>
        <p:spPr>
          <a:xfrm>
            <a:off x="1611904" y="3731467"/>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14</a:t>
            </a:r>
            <a:endParaRPr lang="en-US" sz="550" dirty="0"/>
          </a:p>
        </p:txBody>
      </p:sp>
      <p:sp>
        <p:nvSpPr>
          <p:cNvPr id="68" name="Text 59"/>
          <p:cNvSpPr txBox="1"/>
          <p:nvPr/>
        </p:nvSpPr>
        <p:spPr>
          <a:xfrm>
            <a:off x="1904512" y="3731467"/>
            <a:ext cx="3588471" cy="113671"/>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    .setMimeType(ContentService.MimeType.JSON);</a:t>
            </a:r>
            <a:endParaRPr lang="en-US" sz="547" dirty="0"/>
          </a:p>
        </p:txBody>
      </p:sp>
      <p:sp>
        <p:nvSpPr>
          <p:cNvPr id="69" name="Text 60"/>
          <p:cNvSpPr txBox="1"/>
          <p:nvPr/>
        </p:nvSpPr>
        <p:spPr>
          <a:xfrm>
            <a:off x="1611904" y="3845137"/>
            <a:ext cx="201168" cy="113671"/>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15</a:t>
            </a:r>
            <a:endParaRPr lang="en-US" sz="550" dirty="0"/>
          </a:p>
        </p:txBody>
      </p:sp>
      <p:sp>
        <p:nvSpPr>
          <p:cNvPr id="70" name="Text 61"/>
          <p:cNvSpPr txBox="1"/>
          <p:nvPr/>
        </p:nvSpPr>
        <p:spPr>
          <a:xfrm>
            <a:off x="1904512" y="3845137"/>
            <a:ext cx="3588471" cy="113671"/>
          </a:xfrm>
          <a:prstGeom prst="rect">
            <a:avLst/>
          </a:prstGeom>
          <a:noFill/>
          <a:ln/>
        </p:spPr>
        <p:txBody>
          <a:bodyPr wrap="square" lIns="0" tIns="0" rIns="0" bIns="0" rtlCol="0" anchor="ctr"/>
          <a:lstStyle/>
          <a:p>
            <a:pPr indent="0" marL="0">
              <a:buNone/>
            </a:pPr>
            <a:r>
              <a:rPr lang="en-US" sz="547" dirty="0">
                <a:solidFill>
                  <a:srgbClr val="222222"/>
                </a:solidFill>
                <a:latin typeface="Courier New" pitchFamily="34" charset="0"/>
                <a:ea typeface="Courier New" pitchFamily="34" charset="-122"/>
                <a:cs typeface="Courier New" pitchFamily="34" charset="-120"/>
              </a:rPr>
              <a:t>}</a:t>
            </a:r>
            <a:endParaRPr lang="en-US" sz="547" dirty="0"/>
          </a:p>
        </p:txBody>
      </p:sp>
      <p:sp>
        <p:nvSpPr>
          <p:cNvPr id="71" name="Shape 62"/>
          <p:cNvSpPr/>
          <p:nvPr/>
        </p:nvSpPr>
        <p:spPr>
          <a:xfrm>
            <a:off x="1849648" y="2462802"/>
            <a:ext cx="3670767" cy="1514294"/>
          </a:xfrm>
          <a:prstGeom prst="roundRect">
            <a:avLst>
              <a:gd name="adj" fmla="val 3019"/>
            </a:avLst>
          </a:prstGeom>
          <a:solidFill>
            <a:srgbClr val="FFFFFF">
              <a:alpha val="0"/>
            </a:srgbClr>
          </a:solidFill>
          <a:ln w="31750">
            <a:solidFill>
              <a:srgbClr val="E53935"/>
            </a:solidFill>
            <a:prstDash val="solid"/>
          </a:ln>
        </p:spPr>
      </p:sp>
      <p:sp>
        <p:nvSpPr>
          <p:cNvPr id="72" name="Shape 63"/>
          <p:cNvSpPr/>
          <p:nvPr/>
        </p:nvSpPr>
        <p:spPr>
          <a:xfrm>
            <a:off x="5383256" y="2325642"/>
            <a:ext cx="274320" cy="274320"/>
          </a:xfrm>
          <a:prstGeom prst="ellipse">
            <a:avLst/>
          </a:prstGeom>
          <a:solidFill>
            <a:srgbClr val="E53935"/>
          </a:solidFill>
          <a:ln w="12700">
            <a:solidFill>
              <a:srgbClr val="FFFFFF"/>
            </a:solidFill>
            <a:prstDash val="solid"/>
          </a:ln>
        </p:spPr>
      </p:sp>
      <p:sp>
        <p:nvSpPr>
          <p:cNvPr id="73" name="Text 64"/>
          <p:cNvSpPr txBox="1"/>
          <p:nvPr/>
        </p:nvSpPr>
        <p:spPr>
          <a:xfrm>
            <a:off x="5383256" y="232564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4" name="Image 7" descr="preencoded.png">    </p:cNvPr>
          <p:cNvPicPr>
            <a:picLocks noChangeAspect="1"/>
          </p:cNvPicPr>
          <p:nvPr/>
        </p:nvPicPr>
        <p:blipFill>
          <a:blip r:embed="rId8"/>
          <a:stretch>
            <a:fillRect/>
          </a:stretch>
        </p:blipFill>
        <p:spPr>
          <a:xfrm>
            <a:off x="3866742" y="3293835"/>
            <a:ext cx="237744" cy="237744"/>
          </a:xfrm>
          <a:prstGeom prst="rect">
            <a:avLst/>
          </a:prstGeom>
        </p:spPr>
      </p:pic>
      <p:sp>
        <p:nvSpPr>
          <p:cNvPr id="75"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6"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Code.gs dengan doGet yang membaca data</a:t>
            </a:r>
            <a:endParaRPr lang="en-US" sz="1800" dirty="0"/>
          </a:p>
        </p:txBody>
      </p:sp>
      <p:sp>
        <p:nvSpPr>
          <p:cNvPr id="77"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doGet salam. Tulis NAMA_SHEET dan doGet yang membaca lembar Setoran dan mengembalikan JSON.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doPost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function doPost(e) {</a:t>
            </a:r>
            <a:endParaRPr lang="en-US" sz="631" dirty="0"/>
          </a:p>
        </p:txBody>
      </p:sp>
      <p:sp>
        <p:nvSpPr>
          <p:cNvPr id="43" name="Text 34"/>
          <p:cNvSpPr txBox="1"/>
          <p:nvPr/>
        </p:nvSpPr>
        <p:spPr>
          <a:xfrm>
            <a:off x="1611904" y="2384907"/>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384907"/>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sheet = SpreadsheetApp.getActiveSpreadsheet()</a:t>
            </a:r>
            <a:endParaRPr lang="en-US" sz="631" dirty="0"/>
          </a:p>
        </p:txBody>
      </p:sp>
      <p:sp>
        <p:nvSpPr>
          <p:cNvPr id="45" name="Text 36"/>
          <p:cNvSpPr txBox="1"/>
          <p:nvPr/>
        </p:nvSpPr>
        <p:spPr>
          <a:xfrm>
            <a:off x="1611904" y="251606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16066"/>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.getSheetByName(NAMA_SHEET);</a:t>
            </a:r>
            <a:endParaRPr lang="en-US" sz="631" dirty="0"/>
          </a:p>
        </p:txBody>
      </p:sp>
      <p:sp>
        <p:nvSpPr>
          <p:cNvPr id="47" name="Text 38"/>
          <p:cNvSpPr txBox="1"/>
          <p:nvPr/>
        </p:nvSpPr>
        <p:spPr>
          <a:xfrm>
            <a:off x="1611904" y="264722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647224"/>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p = e.parameter;</a:t>
            </a:r>
            <a:endParaRPr lang="en-US" sz="631" dirty="0"/>
          </a:p>
        </p:txBody>
      </p:sp>
      <p:sp>
        <p:nvSpPr>
          <p:cNvPr id="49" name="Text 40"/>
          <p:cNvSpPr txBox="1"/>
          <p:nvPr/>
        </p:nvSpPr>
        <p:spPr>
          <a:xfrm>
            <a:off x="1611904" y="277838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50" name="Text 41"/>
          <p:cNvSpPr txBox="1"/>
          <p:nvPr/>
        </p:nvSpPr>
        <p:spPr>
          <a:xfrm>
            <a:off x="1904512" y="2778383"/>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kode = String(p.kode || '').trim().slice(0, 10);</a:t>
            </a:r>
            <a:endParaRPr lang="en-US" sz="631" dirty="0"/>
          </a:p>
        </p:txBody>
      </p:sp>
      <p:sp>
        <p:nvSpPr>
          <p:cNvPr id="51" name="Text 42"/>
          <p:cNvSpPr txBox="1"/>
          <p:nvPr/>
        </p:nvSpPr>
        <p:spPr>
          <a:xfrm>
            <a:off x="1611904" y="290954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52" name="Text 43"/>
          <p:cNvSpPr txBox="1"/>
          <p:nvPr/>
        </p:nvSpPr>
        <p:spPr>
          <a:xfrm>
            <a:off x="1904512" y="290954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surat = String(p.surat || '').trim().slice(0, 40);</a:t>
            </a:r>
            <a:endParaRPr lang="en-US" sz="631" dirty="0"/>
          </a:p>
        </p:txBody>
      </p:sp>
      <p:sp>
        <p:nvSpPr>
          <p:cNvPr id="53" name="Text 44"/>
          <p:cNvSpPr txBox="1"/>
          <p:nvPr/>
        </p:nvSpPr>
        <p:spPr>
          <a:xfrm>
            <a:off x="1611904" y="304069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54" name="Text 45"/>
          <p:cNvSpPr txBox="1"/>
          <p:nvPr/>
        </p:nvSpPr>
        <p:spPr>
          <a:xfrm>
            <a:off x="1904512" y="304069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ayat = Number(p.ayat);</a:t>
            </a:r>
            <a:endParaRPr lang="en-US" sz="631" dirty="0"/>
          </a:p>
        </p:txBody>
      </p:sp>
      <p:sp>
        <p:nvSpPr>
          <p:cNvPr id="55" name="Shape 46"/>
          <p:cNvSpPr/>
          <p:nvPr/>
        </p:nvSpPr>
        <p:spPr>
          <a:xfrm>
            <a:off x="1867936" y="3171858"/>
            <a:ext cx="3634191" cy="131158"/>
          </a:xfrm>
          <a:prstGeom prst="rect">
            <a:avLst/>
          </a:prstGeom>
          <a:solidFill>
            <a:srgbClr val="FFF59D"/>
          </a:solidFill>
          <a:ln w="12700">
            <a:solidFill>
              <a:srgbClr val="FFF59D"/>
            </a:solidFill>
            <a:prstDash val="solid"/>
          </a:ln>
        </p:spPr>
      </p:sp>
      <p:sp>
        <p:nvSpPr>
          <p:cNvPr id="56" name="Text 47"/>
          <p:cNvSpPr txBox="1"/>
          <p:nvPr/>
        </p:nvSpPr>
        <p:spPr>
          <a:xfrm>
            <a:off x="1611904" y="3171858"/>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57" name="Text 48"/>
          <p:cNvSpPr txBox="1"/>
          <p:nvPr/>
        </p:nvSpPr>
        <p:spPr>
          <a:xfrm>
            <a:off x="1904512" y="3171858"/>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if (kode === '' || isNaN(ayat) || ayat &lt; 0 || ayat &gt; 300) {</a:t>
            </a:r>
            <a:endParaRPr lang="en-US" sz="631" dirty="0"/>
          </a:p>
        </p:txBody>
      </p:sp>
      <p:sp>
        <p:nvSpPr>
          <p:cNvPr id="58" name="Shape 49"/>
          <p:cNvSpPr/>
          <p:nvPr/>
        </p:nvSpPr>
        <p:spPr>
          <a:xfrm>
            <a:off x="1867936" y="3303016"/>
            <a:ext cx="3634191" cy="131158"/>
          </a:xfrm>
          <a:prstGeom prst="rect">
            <a:avLst/>
          </a:prstGeom>
          <a:solidFill>
            <a:srgbClr val="FFF59D"/>
          </a:solidFill>
          <a:ln w="12700">
            <a:solidFill>
              <a:srgbClr val="FFF59D"/>
            </a:solidFill>
            <a:prstDash val="solid"/>
          </a:ln>
        </p:spPr>
      </p:sp>
      <p:sp>
        <p:nvSpPr>
          <p:cNvPr id="59" name="Text 50"/>
          <p:cNvSpPr txBox="1"/>
          <p:nvPr/>
        </p:nvSpPr>
        <p:spPr>
          <a:xfrm>
            <a:off x="1611904" y="330301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60" name="Text 51"/>
          <p:cNvSpPr txBox="1"/>
          <p:nvPr/>
        </p:nvSpPr>
        <p:spPr>
          <a:xfrm>
            <a:off x="1904512" y="3303016"/>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ContentService.createTextOutput('ditolak');</a:t>
            </a:r>
            <a:endParaRPr lang="en-US" sz="631" dirty="0"/>
          </a:p>
        </p:txBody>
      </p:sp>
      <p:sp>
        <p:nvSpPr>
          <p:cNvPr id="61" name="Shape 52"/>
          <p:cNvSpPr/>
          <p:nvPr/>
        </p:nvSpPr>
        <p:spPr>
          <a:xfrm>
            <a:off x="1867936" y="3434174"/>
            <a:ext cx="3634191" cy="131158"/>
          </a:xfrm>
          <a:prstGeom prst="rect">
            <a:avLst/>
          </a:prstGeom>
          <a:solidFill>
            <a:srgbClr val="FFF59D"/>
          </a:solidFill>
          <a:ln w="12700">
            <a:solidFill>
              <a:srgbClr val="FFF59D"/>
            </a:solidFill>
            <a:prstDash val="solid"/>
          </a:ln>
        </p:spPr>
      </p:sp>
      <p:sp>
        <p:nvSpPr>
          <p:cNvPr id="62" name="Text 53"/>
          <p:cNvSpPr txBox="1"/>
          <p:nvPr/>
        </p:nvSpPr>
        <p:spPr>
          <a:xfrm>
            <a:off x="1611904" y="343417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63" name="Text 54"/>
          <p:cNvSpPr txBox="1"/>
          <p:nvPr/>
        </p:nvSpPr>
        <p:spPr>
          <a:xfrm>
            <a:off x="1904512" y="3434174"/>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a:t>
            </a:r>
            <a:endParaRPr lang="en-US" sz="631" dirty="0"/>
          </a:p>
        </p:txBody>
      </p:sp>
      <p:sp>
        <p:nvSpPr>
          <p:cNvPr id="64" name="Text 55"/>
          <p:cNvSpPr txBox="1"/>
          <p:nvPr/>
        </p:nvSpPr>
        <p:spPr>
          <a:xfrm>
            <a:off x="1611904" y="356533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65" name="Text 56"/>
          <p:cNvSpPr txBox="1"/>
          <p:nvPr/>
        </p:nvSpPr>
        <p:spPr>
          <a:xfrm>
            <a:off x="1904512" y="3565333"/>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sheet.appendRow([new Date(), kode, surat, ayat]);</a:t>
            </a:r>
            <a:endParaRPr lang="en-US" sz="631" dirty="0"/>
          </a:p>
        </p:txBody>
      </p:sp>
      <p:sp>
        <p:nvSpPr>
          <p:cNvPr id="66" name="Text 57"/>
          <p:cNvSpPr txBox="1"/>
          <p:nvPr/>
        </p:nvSpPr>
        <p:spPr>
          <a:xfrm>
            <a:off x="1611904" y="369649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67" name="Text 58"/>
          <p:cNvSpPr txBox="1"/>
          <p:nvPr/>
        </p:nvSpPr>
        <p:spPr>
          <a:xfrm>
            <a:off x="1904512" y="369649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ContentService.createTextOutput('ok');</a:t>
            </a:r>
            <a:endParaRPr lang="en-US" sz="631" dirty="0"/>
          </a:p>
        </p:txBody>
      </p:sp>
      <p:sp>
        <p:nvSpPr>
          <p:cNvPr id="68" name="Text 59"/>
          <p:cNvSpPr txBox="1"/>
          <p:nvPr/>
        </p:nvSpPr>
        <p:spPr>
          <a:xfrm>
            <a:off x="1611904" y="3827650"/>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69" name="Text 60"/>
          <p:cNvSpPr txBox="1"/>
          <p:nvPr/>
        </p:nvSpPr>
        <p:spPr>
          <a:xfrm>
            <a:off x="1904512" y="3827650"/>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a:t>
            </a:r>
            <a:endParaRPr lang="en-US" sz="631" dirty="0"/>
          </a:p>
        </p:txBody>
      </p:sp>
      <p:sp>
        <p:nvSpPr>
          <p:cNvPr id="70" name="Shape 61"/>
          <p:cNvSpPr/>
          <p:nvPr/>
        </p:nvSpPr>
        <p:spPr>
          <a:xfrm>
            <a:off x="1849648" y="3153570"/>
            <a:ext cx="3670767" cy="561209"/>
          </a:xfrm>
          <a:prstGeom prst="roundRect">
            <a:avLst>
              <a:gd name="adj" fmla="val 8147"/>
            </a:avLst>
          </a:prstGeom>
          <a:solidFill>
            <a:srgbClr val="FFFFFF">
              <a:alpha val="0"/>
            </a:srgbClr>
          </a:solidFill>
          <a:ln w="31750">
            <a:solidFill>
              <a:srgbClr val="E53935"/>
            </a:solidFill>
            <a:prstDash val="solid"/>
          </a:ln>
        </p:spPr>
      </p:sp>
      <p:sp>
        <p:nvSpPr>
          <p:cNvPr id="71" name="Shape 62"/>
          <p:cNvSpPr/>
          <p:nvPr/>
        </p:nvSpPr>
        <p:spPr>
          <a:xfrm>
            <a:off x="5383256" y="3016410"/>
            <a:ext cx="274320" cy="274320"/>
          </a:xfrm>
          <a:prstGeom prst="ellipse">
            <a:avLst/>
          </a:prstGeom>
          <a:solidFill>
            <a:srgbClr val="E53935"/>
          </a:solidFill>
          <a:ln w="12700">
            <a:solidFill>
              <a:srgbClr val="FFFFFF"/>
            </a:solidFill>
            <a:prstDash val="solid"/>
          </a:ln>
        </p:spPr>
      </p:sp>
      <p:sp>
        <p:nvSpPr>
          <p:cNvPr id="72" name="Text 63"/>
          <p:cNvSpPr txBox="1"/>
          <p:nvPr/>
        </p:nvSpPr>
        <p:spPr>
          <a:xfrm>
            <a:off x="5383256" y="301641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3" name="Image 7" descr="preencoded.png">    </p:cNvPr>
          <p:cNvPicPr>
            <a:picLocks noChangeAspect="1"/>
          </p:cNvPicPr>
          <p:nvPr/>
        </p:nvPicPr>
        <p:blipFill>
          <a:blip r:embed="rId8"/>
          <a:stretch>
            <a:fillRect/>
          </a:stretch>
        </p:blipFill>
        <p:spPr>
          <a:xfrm>
            <a:off x="3866742" y="3460406"/>
            <a:ext cx="237744" cy="237744"/>
          </a:xfrm>
          <a:prstGeom prst="rect">
            <a:avLst/>
          </a:prstGeom>
        </p:spPr>
      </p:pic>
      <p:sp>
        <p:nvSpPr>
          <p:cNvPr id="74"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5"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doPost dengan validasi</a:t>
            </a:r>
            <a:endParaRPr lang="en-US" sz="1800" dirty="0"/>
          </a:p>
        </p:txBody>
      </p:sp>
      <p:sp>
        <p:nvSpPr>
          <p:cNvPr id="76"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bawah doGet, tulis doPost: ambil kode, surat, ayat dari e.parameter; validasi; appendRow; kembalikan 'ok'.</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script.google.com</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https://script.google.com/macros/s/AKfy.../exec</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Text 22"/>
          <p:cNvSpPr txBox="1"/>
          <p:nvPr/>
        </p:nvSpPr>
        <p:spPr>
          <a:xfrm>
            <a:off x="697504" y="1787405"/>
            <a:ext cx="4731471" cy="548640"/>
          </a:xfrm>
          <a:prstGeom prst="rect">
            <a:avLst/>
          </a:prstGeom>
          <a:noFill/>
          <a:ln/>
        </p:spPr>
        <p:txBody>
          <a:bodyPr wrap="square" lIns="0" tIns="0" rIns="0" bIns="0" rtlCol="0" anchor="t"/>
          <a:lstStyle/>
          <a:p>
            <a:pPr indent="0" marL="0">
              <a:buNone/>
            </a:pPr>
            <a:r>
              <a:rPr lang="en-US" sz="800" dirty="0">
                <a:solidFill>
                  <a:srgbClr val="1E2A26"/>
                </a:solidFill>
                <a:latin typeface="Courier New" pitchFamily="34" charset="0"/>
                <a:ea typeface="Courier New" pitchFamily="34" charset="-122"/>
                <a:cs typeface="Courier New" pitchFamily="34" charset="-120"/>
              </a:rPr>
              <a:t>[{"Waktu":"2027-02-03T02:15:00.000Z","Kode":"S001","Surat":"An-Naba","Ayat":20}]</a:t>
            </a:r>
            <a:endParaRPr lang="en-US" sz="800" dirty="0"/>
          </a:p>
        </p:txBody>
      </p:sp>
      <p:sp>
        <p:nvSpPr>
          <p:cNvPr id="30" name="Shape 23"/>
          <p:cNvSpPr/>
          <p:nvPr/>
        </p:nvSpPr>
        <p:spPr>
          <a:xfrm>
            <a:off x="633496" y="1723397"/>
            <a:ext cx="4859487" cy="585216"/>
          </a:xfrm>
          <a:prstGeom prst="roundRect">
            <a:avLst>
              <a:gd name="adj" fmla="val 7813"/>
            </a:avLst>
          </a:prstGeom>
          <a:solidFill>
            <a:srgbClr val="FFFFFF">
              <a:alpha val="0"/>
            </a:srgbClr>
          </a:solidFill>
          <a:ln w="31750">
            <a:solidFill>
              <a:srgbClr val="E53935"/>
            </a:solidFill>
            <a:prstDash val="solid"/>
          </a:ln>
        </p:spPr>
      </p:sp>
      <p:sp>
        <p:nvSpPr>
          <p:cNvPr id="31" name="Shape 24"/>
          <p:cNvSpPr/>
          <p:nvPr/>
        </p:nvSpPr>
        <p:spPr>
          <a:xfrm>
            <a:off x="5355824" y="1586237"/>
            <a:ext cx="274320" cy="274320"/>
          </a:xfrm>
          <a:prstGeom prst="ellipse">
            <a:avLst/>
          </a:prstGeom>
          <a:solidFill>
            <a:srgbClr val="E53935"/>
          </a:solidFill>
          <a:ln w="12700">
            <a:solidFill>
              <a:srgbClr val="FFFFFF"/>
            </a:solidFill>
            <a:prstDash val="solid"/>
          </a:ln>
        </p:spPr>
      </p:sp>
      <p:sp>
        <p:nvSpPr>
          <p:cNvPr id="32" name="Text 25"/>
          <p:cNvSpPr txBox="1"/>
          <p:nvPr/>
        </p:nvSpPr>
        <p:spPr>
          <a:xfrm>
            <a:off x="5355824" y="1586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33" name="Image 5" descr="preencoded.png">    </p:cNvPr>
          <p:cNvPicPr>
            <a:picLocks noChangeAspect="1"/>
          </p:cNvPicPr>
          <p:nvPr/>
        </p:nvPicPr>
        <p:blipFill>
          <a:blip r:embed="rId6"/>
          <a:stretch>
            <a:fillRect/>
          </a:stretch>
        </p:blipFill>
        <p:spPr>
          <a:xfrm>
            <a:off x="3304386" y="2043437"/>
            <a:ext cx="237744" cy="237744"/>
          </a:xfrm>
          <a:prstGeom prst="rect">
            <a:avLst/>
          </a:prstGeom>
        </p:spPr>
      </p:pic>
      <p:sp>
        <p:nvSpPr>
          <p:cNvPr id="34" name="Text 2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35" name="Text 2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Save, lalu uji doGet di tab browser</a:t>
            </a:r>
            <a:endParaRPr lang="en-US" sz="1800" dirty="0"/>
          </a:p>
        </p:txBody>
      </p:sp>
      <p:sp>
        <p:nvSpPr>
          <p:cNvPr id="36" name="Text 2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Simpan. Isi 1 baris contoh di Sheets secara manual. Buka Web app URL: muncul JSON berisi baris itu.</a:t>
            </a:r>
            <a:endParaRPr lang="en-US" sz="1300" dirty="0"/>
          </a:p>
        </p:txBody>
      </p:sp>
      <p:sp>
        <p:nvSpPr>
          <p:cNvPr id="37" name="Shape 2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8"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39" name="Text 3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belum berubah, lanjutkan ke langkah 4 (deploy versi baru) dulu.</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Deploy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Setoran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Setoran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function doPost(e) {</a:t>
            </a:r>
            <a:endParaRPr lang="en-US" sz="631" dirty="0"/>
          </a:p>
        </p:txBody>
      </p:sp>
      <p:sp>
        <p:nvSpPr>
          <p:cNvPr id="43" name="Text 34"/>
          <p:cNvSpPr txBox="1"/>
          <p:nvPr/>
        </p:nvSpPr>
        <p:spPr>
          <a:xfrm>
            <a:off x="1611904" y="2384907"/>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384907"/>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sheet = SpreadsheetApp.getActiveSpreadsheet()</a:t>
            </a:r>
            <a:endParaRPr lang="en-US" sz="631" dirty="0"/>
          </a:p>
        </p:txBody>
      </p:sp>
      <p:sp>
        <p:nvSpPr>
          <p:cNvPr id="45" name="Text 36"/>
          <p:cNvSpPr txBox="1"/>
          <p:nvPr/>
        </p:nvSpPr>
        <p:spPr>
          <a:xfrm>
            <a:off x="1611904" y="251606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16066"/>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.getSheetByName(NAMA_SHEET);</a:t>
            </a:r>
            <a:endParaRPr lang="en-US" sz="631" dirty="0"/>
          </a:p>
        </p:txBody>
      </p:sp>
      <p:sp>
        <p:nvSpPr>
          <p:cNvPr id="47" name="Text 38"/>
          <p:cNvSpPr txBox="1"/>
          <p:nvPr/>
        </p:nvSpPr>
        <p:spPr>
          <a:xfrm>
            <a:off x="1611904" y="264722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647224"/>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p = e.parameter;</a:t>
            </a:r>
            <a:endParaRPr lang="en-US" sz="631" dirty="0"/>
          </a:p>
        </p:txBody>
      </p:sp>
      <p:sp>
        <p:nvSpPr>
          <p:cNvPr id="49" name="Text 40"/>
          <p:cNvSpPr txBox="1"/>
          <p:nvPr/>
        </p:nvSpPr>
        <p:spPr>
          <a:xfrm>
            <a:off x="1611904" y="277838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50" name="Text 41"/>
          <p:cNvSpPr txBox="1"/>
          <p:nvPr/>
        </p:nvSpPr>
        <p:spPr>
          <a:xfrm>
            <a:off x="1904512" y="2778383"/>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kode = String(p.kode || '').trim().slice(0, 10);</a:t>
            </a:r>
            <a:endParaRPr lang="en-US" sz="631" dirty="0"/>
          </a:p>
        </p:txBody>
      </p:sp>
      <p:sp>
        <p:nvSpPr>
          <p:cNvPr id="51" name="Text 42"/>
          <p:cNvSpPr txBox="1"/>
          <p:nvPr/>
        </p:nvSpPr>
        <p:spPr>
          <a:xfrm>
            <a:off x="1611904" y="290954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52" name="Text 43"/>
          <p:cNvSpPr txBox="1"/>
          <p:nvPr/>
        </p:nvSpPr>
        <p:spPr>
          <a:xfrm>
            <a:off x="1904512" y="290954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surat = String(p.surat || '').trim().slice(0, 40);</a:t>
            </a:r>
            <a:endParaRPr lang="en-US" sz="631" dirty="0"/>
          </a:p>
        </p:txBody>
      </p:sp>
      <p:sp>
        <p:nvSpPr>
          <p:cNvPr id="53" name="Text 44"/>
          <p:cNvSpPr txBox="1"/>
          <p:nvPr/>
        </p:nvSpPr>
        <p:spPr>
          <a:xfrm>
            <a:off x="1611904" y="304069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54" name="Text 45"/>
          <p:cNvSpPr txBox="1"/>
          <p:nvPr/>
        </p:nvSpPr>
        <p:spPr>
          <a:xfrm>
            <a:off x="1904512" y="304069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ayat = Number(p.ayat);</a:t>
            </a:r>
            <a:endParaRPr lang="en-US" sz="631" dirty="0"/>
          </a:p>
        </p:txBody>
      </p:sp>
      <p:sp>
        <p:nvSpPr>
          <p:cNvPr id="55" name="Text 46"/>
          <p:cNvSpPr txBox="1"/>
          <p:nvPr/>
        </p:nvSpPr>
        <p:spPr>
          <a:xfrm>
            <a:off x="1611904" y="3171858"/>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56" name="Text 47"/>
          <p:cNvSpPr txBox="1"/>
          <p:nvPr/>
        </p:nvSpPr>
        <p:spPr>
          <a:xfrm>
            <a:off x="1904512" y="3171858"/>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if (kode === '' || isNaN(ayat) || ayat &lt; 0 || ayat &gt; 300) {</a:t>
            </a:r>
            <a:endParaRPr lang="en-US" sz="631" dirty="0"/>
          </a:p>
        </p:txBody>
      </p:sp>
      <p:sp>
        <p:nvSpPr>
          <p:cNvPr id="57" name="Text 48"/>
          <p:cNvSpPr txBox="1"/>
          <p:nvPr/>
        </p:nvSpPr>
        <p:spPr>
          <a:xfrm>
            <a:off x="1611904" y="330301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58" name="Text 49"/>
          <p:cNvSpPr txBox="1"/>
          <p:nvPr/>
        </p:nvSpPr>
        <p:spPr>
          <a:xfrm>
            <a:off x="1904512" y="3303016"/>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ContentService.createTextOutput('ditolak');</a:t>
            </a:r>
            <a:endParaRPr lang="en-US" sz="631" dirty="0"/>
          </a:p>
        </p:txBody>
      </p:sp>
      <p:sp>
        <p:nvSpPr>
          <p:cNvPr id="59" name="Text 50"/>
          <p:cNvSpPr txBox="1"/>
          <p:nvPr/>
        </p:nvSpPr>
        <p:spPr>
          <a:xfrm>
            <a:off x="1611904" y="343417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60" name="Text 51"/>
          <p:cNvSpPr txBox="1"/>
          <p:nvPr/>
        </p:nvSpPr>
        <p:spPr>
          <a:xfrm>
            <a:off x="1904512" y="3434174"/>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a:t>
            </a:r>
            <a:endParaRPr lang="en-US" sz="631" dirty="0"/>
          </a:p>
        </p:txBody>
      </p:sp>
      <p:sp>
        <p:nvSpPr>
          <p:cNvPr id="61" name="Text 52"/>
          <p:cNvSpPr txBox="1"/>
          <p:nvPr/>
        </p:nvSpPr>
        <p:spPr>
          <a:xfrm>
            <a:off x="1611904" y="356533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62" name="Text 53"/>
          <p:cNvSpPr txBox="1"/>
          <p:nvPr/>
        </p:nvSpPr>
        <p:spPr>
          <a:xfrm>
            <a:off x="1904512" y="3565333"/>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sheet.appendRow([new Date(), kode, surat, ayat]);</a:t>
            </a:r>
            <a:endParaRPr lang="en-US" sz="631" dirty="0"/>
          </a:p>
        </p:txBody>
      </p:sp>
      <p:sp>
        <p:nvSpPr>
          <p:cNvPr id="63" name="Text 54"/>
          <p:cNvSpPr txBox="1"/>
          <p:nvPr/>
        </p:nvSpPr>
        <p:spPr>
          <a:xfrm>
            <a:off x="1611904" y="369649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64" name="Text 55"/>
          <p:cNvSpPr txBox="1"/>
          <p:nvPr/>
        </p:nvSpPr>
        <p:spPr>
          <a:xfrm>
            <a:off x="1904512" y="369649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ContentService.createTextOutput('ok');</a:t>
            </a:r>
            <a:endParaRPr lang="en-US" sz="631" dirty="0"/>
          </a:p>
        </p:txBody>
      </p:sp>
      <p:sp>
        <p:nvSpPr>
          <p:cNvPr id="65" name="Text 56"/>
          <p:cNvSpPr txBox="1"/>
          <p:nvPr/>
        </p:nvSpPr>
        <p:spPr>
          <a:xfrm>
            <a:off x="1611904" y="3827650"/>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66" name="Text 57"/>
          <p:cNvSpPr txBox="1"/>
          <p:nvPr/>
        </p:nvSpPr>
        <p:spPr>
          <a:xfrm>
            <a:off x="1904512" y="3827650"/>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a:t>
            </a:r>
            <a:endParaRPr lang="en-US" sz="631" dirty="0"/>
          </a:p>
        </p:txBody>
      </p:sp>
      <p:sp>
        <p:nvSpPr>
          <p:cNvPr id="67" name="Shape 58"/>
          <p:cNvSpPr/>
          <p:nvPr/>
        </p:nvSpPr>
        <p:spPr>
          <a:xfrm>
            <a:off x="4212824" y="1933709"/>
            <a:ext cx="1188720" cy="658368"/>
          </a:xfrm>
          <a:prstGeom prst="rect">
            <a:avLst/>
          </a:prstGeom>
          <a:solidFill>
            <a:srgbClr val="FFFFFF"/>
          </a:solidFill>
          <a:ln w="9525">
            <a:solidFill>
              <a:srgbClr val="AAAAAA"/>
            </a:solidFill>
            <a:prstDash val="solid"/>
          </a:ln>
        </p:spPr>
      </p:sp>
      <p:sp>
        <p:nvSpPr>
          <p:cNvPr id="68" name="Text 59"/>
          <p:cNvSpPr txBox="1"/>
          <p:nvPr/>
        </p:nvSpPr>
        <p:spPr>
          <a:xfrm>
            <a:off x="4322552" y="196114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deployment</a:t>
            </a:r>
            <a:endParaRPr lang="en-US" sz="800" dirty="0"/>
          </a:p>
        </p:txBody>
      </p:sp>
      <p:sp>
        <p:nvSpPr>
          <p:cNvPr id="69" name="Text 60"/>
          <p:cNvSpPr txBox="1"/>
          <p:nvPr/>
        </p:nvSpPr>
        <p:spPr>
          <a:xfrm>
            <a:off x="4322552" y="216230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Manage deployments</a:t>
            </a:r>
            <a:endParaRPr lang="en-US" sz="800" dirty="0"/>
          </a:p>
        </p:txBody>
      </p:sp>
      <p:sp>
        <p:nvSpPr>
          <p:cNvPr id="70" name="Text 61"/>
          <p:cNvSpPr txBox="1"/>
          <p:nvPr/>
        </p:nvSpPr>
        <p:spPr>
          <a:xfrm>
            <a:off x="4322552" y="236347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Test deployments</a:t>
            </a:r>
            <a:endParaRPr lang="en-US" sz="800" dirty="0"/>
          </a:p>
        </p:txBody>
      </p:sp>
      <p:sp>
        <p:nvSpPr>
          <p:cNvPr id="71" name="Shape 62"/>
          <p:cNvSpPr/>
          <p:nvPr/>
        </p:nvSpPr>
        <p:spPr>
          <a:xfrm>
            <a:off x="4231112" y="2144021"/>
            <a:ext cx="1152144" cy="228600"/>
          </a:xfrm>
          <a:prstGeom prst="roundRect">
            <a:avLst>
              <a:gd name="adj" fmla="val 20000"/>
            </a:avLst>
          </a:prstGeom>
          <a:solidFill>
            <a:srgbClr val="FFFFFF">
              <a:alpha val="0"/>
            </a:srgbClr>
          </a:solidFill>
          <a:ln w="31750">
            <a:solidFill>
              <a:srgbClr val="E53935"/>
            </a:solidFill>
            <a:prstDash val="solid"/>
          </a:ln>
        </p:spPr>
      </p:sp>
      <p:sp>
        <p:nvSpPr>
          <p:cNvPr id="72" name="Shape 63"/>
          <p:cNvSpPr/>
          <p:nvPr/>
        </p:nvSpPr>
        <p:spPr>
          <a:xfrm>
            <a:off x="5246096" y="2006861"/>
            <a:ext cx="274320" cy="274320"/>
          </a:xfrm>
          <a:prstGeom prst="ellipse">
            <a:avLst/>
          </a:prstGeom>
          <a:solidFill>
            <a:srgbClr val="E53935"/>
          </a:solidFill>
          <a:ln w="12700">
            <a:solidFill>
              <a:srgbClr val="FFFFFF"/>
            </a:solidFill>
            <a:prstDash val="solid"/>
          </a:ln>
        </p:spPr>
      </p:sp>
      <p:sp>
        <p:nvSpPr>
          <p:cNvPr id="73" name="Text 64"/>
          <p:cNvSpPr txBox="1"/>
          <p:nvPr/>
        </p:nvSpPr>
        <p:spPr>
          <a:xfrm>
            <a:off x="5246096" y="20068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4" name="Image 7" descr="preencoded.png">    </p:cNvPr>
          <p:cNvPicPr>
            <a:picLocks noChangeAspect="1"/>
          </p:cNvPicPr>
          <p:nvPr/>
        </p:nvPicPr>
        <p:blipFill>
          <a:blip r:embed="rId8"/>
          <a:stretch>
            <a:fillRect/>
          </a:stretch>
        </p:blipFill>
        <p:spPr>
          <a:xfrm>
            <a:off x="4862962" y="2267922"/>
            <a:ext cx="237744" cy="237744"/>
          </a:xfrm>
          <a:prstGeom prst="rect">
            <a:avLst/>
          </a:prstGeom>
        </p:spPr>
      </p:pic>
      <p:sp>
        <p:nvSpPr>
          <p:cNvPr id="75"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6"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Deploy versi baru: Manage deployments</a:t>
            </a:r>
            <a:endParaRPr lang="en-US" sz="1800" dirty="0"/>
          </a:p>
        </p:txBody>
      </p:sp>
      <p:sp>
        <p:nvSpPr>
          <p:cNvPr id="77"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Deploy › Manage deployments › ikon pensil › Version: New version › Deploy. URL tetap sama.</a:t>
            </a:r>
            <a:endParaRPr lang="en-US" sz="1300" dirty="0"/>
          </a:p>
        </p:txBody>
      </p:sp>
      <p:sp>
        <p:nvSpPr>
          <p:cNvPr id="78" name="Shape 6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9"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80" name="Text 6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Lakukan ini SETIAP kali Code.gs diubah.</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Frontend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1. Tempel Web app URL dari Apps Script di sini:</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const URL_APPS_SCRIPT = 'https://script.google.com/macros/s/AKfy.../exec';</a:t>
            </a:r>
            <a:endParaRPr lang="en-US" sz="900" dirty="0"/>
          </a:p>
        </p:txBody>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34" name="Text 30"/>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5" name="Text 31"/>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2. Menyimpan data (INPUT -&gt; backend)</a:t>
            </a:r>
            <a:endParaRPr lang="en-US" sz="900" dirty="0"/>
          </a:p>
        </p:txBody>
      </p:sp>
      <p:sp>
        <p:nvSpPr>
          <p:cNvPr id="36" name="Text 32"/>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7" name="Text 33"/>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document.getElementById('formSetoran')</a:t>
            </a:r>
            <a:endParaRPr lang="en-US" sz="900" dirty="0"/>
          </a:p>
        </p:txBody>
      </p:sp>
      <p:sp>
        <p:nvSpPr>
          <p:cNvPr id="38" name="Text 34"/>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39" name="Text 35"/>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.addEventListener('submit', async function (ev) { ... });</a:t>
            </a:r>
            <a:endParaRPr lang="en-US" sz="900" dirty="0"/>
          </a:p>
        </p:txBody>
      </p:sp>
      <p:sp>
        <p:nvSpPr>
          <p:cNvPr id="40" name="Text 36"/>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1" name="Text 37"/>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42" name="Text 38"/>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3" name="Text 39"/>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3. Membaca data (backend -&gt; OUTPUT)</a:t>
            </a:r>
            <a:endParaRPr lang="en-US" sz="900" dirty="0"/>
          </a:p>
        </p:txBody>
      </p:sp>
      <p:sp>
        <p:nvSpPr>
          <p:cNvPr id="44" name="Text 40"/>
          <p:cNvSpPr txBox="1"/>
          <p:nvPr/>
        </p:nvSpPr>
        <p:spPr>
          <a:xfrm>
            <a:off x="639348" y="322517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10</a:t>
            </a:r>
            <a:endParaRPr lang="en-US" sz="800" dirty="0"/>
          </a:p>
        </p:txBody>
      </p:sp>
      <p:sp>
        <p:nvSpPr>
          <p:cNvPr id="45" name="Text 41"/>
          <p:cNvSpPr txBox="1"/>
          <p:nvPr/>
        </p:nvSpPr>
        <p:spPr>
          <a:xfrm>
            <a:off x="986820" y="322517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async function muatData() { ... }</a:t>
            </a:r>
            <a:endParaRPr lang="en-US" sz="900" dirty="0"/>
          </a:p>
        </p:txBody>
      </p:sp>
      <p:sp>
        <p:nvSpPr>
          <p:cNvPr id="46" name="Text 42"/>
          <p:cNvSpPr txBox="1"/>
          <p:nvPr/>
        </p:nvSpPr>
        <p:spPr>
          <a:xfrm>
            <a:off x="639348" y="339891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11</a:t>
            </a:r>
            <a:endParaRPr lang="en-US" sz="800" dirty="0"/>
          </a:p>
        </p:txBody>
      </p:sp>
      <p:sp>
        <p:nvSpPr>
          <p:cNvPr id="47" name="Text 43"/>
          <p:cNvSpPr txBox="1"/>
          <p:nvPr/>
        </p:nvSpPr>
        <p:spPr>
          <a:xfrm>
            <a:off x="986820" y="339891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muatData();</a:t>
            </a:r>
            <a:endParaRPr lang="en-US" sz="900" dirty="0"/>
          </a:p>
        </p:txBody>
      </p:sp>
      <p:sp>
        <p:nvSpPr>
          <p:cNvPr id="48" name="Text 44"/>
          <p:cNvSpPr txBox="1"/>
          <p:nvPr/>
        </p:nvSpPr>
        <p:spPr>
          <a:xfrm>
            <a:off x="639348" y="357264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12</a:t>
            </a:r>
            <a:endParaRPr lang="en-US" sz="800" dirty="0"/>
          </a:p>
        </p:txBody>
      </p:sp>
      <p:sp>
        <p:nvSpPr>
          <p:cNvPr id="49" name="Text 45"/>
          <p:cNvSpPr txBox="1"/>
          <p:nvPr/>
        </p:nvSpPr>
        <p:spPr>
          <a:xfrm>
            <a:off x="986820" y="357264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&lt;/script&gt;</a:t>
            </a:r>
            <a:endParaRPr lang="en-US" sz="900" dirty="0"/>
          </a:p>
        </p:txBody>
      </p:sp>
      <p:sp>
        <p:nvSpPr>
          <p:cNvPr id="50" name="Shape 46"/>
          <p:cNvSpPr/>
          <p:nvPr/>
        </p:nvSpPr>
        <p:spPr>
          <a:xfrm>
            <a:off x="913668" y="1990736"/>
            <a:ext cx="4555175" cy="210312"/>
          </a:xfrm>
          <a:prstGeom prst="roundRect">
            <a:avLst>
              <a:gd name="adj" fmla="val 21739"/>
            </a:avLst>
          </a:prstGeom>
          <a:solidFill>
            <a:srgbClr val="FFFFFF">
              <a:alpha val="0"/>
            </a:srgbClr>
          </a:solidFill>
          <a:ln w="31750">
            <a:solidFill>
              <a:srgbClr val="E53935"/>
            </a:solidFill>
            <a:prstDash val="solid"/>
          </a:ln>
        </p:spPr>
      </p:sp>
      <p:sp>
        <p:nvSpPr>
          <p:cNvPr id="51" name="Shape 47"/>
          <p:cNvSpPr/>
          <p:nvPr/>
        </p:nvSpPr>
        <p:spPr>
          <a:xfrm>
            <a:off x="5331684" y="1853576"/>
            <a:ext cx="274320" cy="274320"/>
          </a:xfrm>
          <a:prstGeom prst="ellipse">
            <a:avLst/>
          </a:prstGeom>
          <a:solidFill>
            <a:srgbClr val="E53935"/>
          </a:solidFill>
          <a:ln w="12700">
            <a:solidFill>
              <a:srgbClr val="FFFFFF"/>
            </a:solidFill>
            <a:prstDash val="solid"/>
          </a:ln>
        </p:spPr>
      </p:sp>
      <p:sp>
        <p:nvSpPr>
          <p:cNvPr id="52" name="Text 48"/>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3" name="Image 2" descr="preencoded.png">    </p:cNvPr>
          <p:cNvPicPr>
            <a:picLocks noChangeAspect="1"/>
          </p:cNvPicPr>
          <p:nvPr/>
        </p:nvPicPr>
        <p:blipFill>
          <a:blip r:embed="rId3"/>
          <a:stretch>
            <a:fillRect/>
          </a:stretch>
        </p:blipFill>
        <p:spPr>
          <a:xfrm>
            <a:off x="3417186" y="2104578"/>
            <a:ext cx="237744" cy="237744"/>
          </a:xfrm>
          <a:prstGeom prst="rect">
            <a:avLst/>
          </a:prstGeom>
        </p:spPr>
      </p:pic>
      <p:sp>
        <p:nvSpPr>
          <p:cNvPr id="54"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5"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index.html dari template</a:t>
            </a:r>
            <a:endParaRPr lang="en-US" sz="1800" dirty="0"/>
          </a:p>
        </p:txBody>
      </p:sp>
      <p:sp>
        <p:nvSpPr>
          <p:cNvPr id="56"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index.html dari template guru ke folder proyek. Tempel Web app URL pada baris URL_APPS_SCRIPT.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Frontend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MENYIMPAN</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const data = new URLSearchParams(new FormData(ev.target));</a:t>
            </a:r>
            <a:endParaRPr lang="en-US" sz="900" dirty="0"/>
          </a:p>
        </p:txBody>
      </p:sp>
      <p:sp>
        <p:nvSpPr>
          <p:cNvPr id="29" name="Shape 25"/>
          <p:cNvSpPr/>
          <p:nvPr/>
        </p:nvSpPr>
        <p:spPr>
          <a:xfrm>
            <a:off x="913668" y="2009024"/>
            <a:ext cx="4555175" cy="173736"/>
          </a:xfrm>
          <a:prstGeom prst="rect">
            <a:avLst/>
          </a:prstGeom>
          <a:solidFill>
            <a:srgbClr val="FFF59D"/>
          </a:solidFill>
          <a:ln w="12700">
            <a:solidFill>
              <a:srgbClr val="FFF59D"/>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await fetch(URL_APPS_SCRIPT,</a:t>
            </a:r>
            <a:endParaRPr lang="en-US" sz="900" dirty="0"/>
          </a:p>
        </p:txBody>
      </p:sp>
      <p:sp>
        <p:nvSpPr>
          <p:cNvPr id="32" name="Shape 28"/>
          <p:cNvSpPr/>
          <p:nvPr/>
        </p:nvSpPr>
        <p:spPr>
          <a:xfrm>
            <a:off x="913668" y="2182760"/>
            <a:ext cx="4555175" cy="173736"/>
          </a:xfrm>
          <a:prstGeom prst="rect">
            <a:avLst/>
          </a:prstGeom>
          <a:solidFill>
            <a:srgbClr val="FFF59D"/>
          </a:solidFill>
          <a:ln w="12700">
            <a:solidFill>
              <a:srgbClr val="FFF59D"/>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method: 'POST', mode: 'no-cors', body: data });</a:t>
            </a:r>
            <a:endParaRPr lang="en-US" sz="900" dirty="0"/>
          </a:p>
        </p:txBody>
      </p:sp>
      <p:sp>
        <p:nvSpPr>
          <p:cNvPr id="35" name="Text 31"/>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6" name="Text 32"/>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37" name="Text 33"/>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8" name="Text 34"/>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MEMBACA</a:t>
            </a:r>
            <a:endParaRPr lang="en-US" sz="900" dirty="0"/>
          </a:p>
        </p:txBody>
      </p:sp>
      <p:sp>
        <p:nvSpPr>
          <p:cNvPr id="39" name="Shape 35"/>
          <p:cNvSpPr/>
          <p:nvPr/>
        </p:nvSpPr>
        <p:spPr>
          <a:xfrm>
            <a:off x="913668" y="2703968"/>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const res = await fetch(URL_APPS_SCRIPT);</a:t>
            </a:r>
            <a:endParaRPr lang="en-US" sz="900" dirty="0"/>
          </a:p>
        </p:txBody>
      </p:sp>
      <p:sp>
        <p:nvSpPr>
          <p:cNvPr id="42" name="Shape 38"/>
          <p:cNvSpPr/>
          <p:nvPr/>
        </p:nvSpPr>
        <p:spPr>
          <a:xfrm>
            <a:off x="913668" y="2877704"/>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4" name="Text 40"/>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const baris = await res.json();</a:t>
            </a:r>
            <a:endParaRPr lang="en-US" sz="900" dirty="0"/>
          </a:p>
        </p:txBody>
      </p:sp>
      <p:sp>
        <p:nvSpPr>
          <p:cNvPr id="45" name="Text 41"/>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6" name="Text 42"/>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td.textContent = isi;   // aman: teks biasa</a:t>
            </a:r>
            <a:endParaRPr lang="en-US" sz="900" dirty="0"/>
          </a:p>
        </p:txBody>
      </p:sp>
      <p:sp>
        <p:nvSpPr>
          <p:cNvPr id="47" name="Shape 43"/>
          <p:cNvSpPr/>
          <p:nvPr/>
        </p:nvSpPr>
        <p:spPr>
          <a:xfrm>
            <a:off x="913668" y="1817000"/>
            <a:ext cx="4555175" cy="1252728"/>
          </a:xfrm>
          <a:prstGeom prst="roundRect">
            <a:avLst>
              <a:gd name="adj" fmla="val 3650"/>
            </a:avLst>
          </a:prstGeom>
          <a:solidFill>
            <a:srgbClr val="FFFFFF">
              <a:alpha val="0"/>
            </a:srgbClr>
          </a:solidFill>
          <a:ln w="31750">
            <a:solidFill>
              <a:srgbClr val="E53935"/>
            </a:solidFill>
            <a:prstDash val="solid"/>
          </a:ln>
        </p:spPr>
      </p:sp>
      <p:sp>
        <p:nvSpPr>
          <p:cNvPr id="48" name="Shape 44"/>
          <p:cNvSpPr/>
          <p:nvPr/>
        </p:nvSpPr>
        <p:spPr>
          <a:xfrm>
            <a:off x="5331684" y="1679840"/>
            <a:ext cx="274320" cy="274320"/>
          </a:xfrm>
          <a:prstGeom prst="ellipse">
            <a:avLst/>
          </a:prstGeom>
          <a:solidFill>
            <a:srgbClr val="E53935"/>
          </a:solidFill>
          <a:ln w="12700">
            <a:solidFill>
              <a:srgbClr val="FFFFFF"/>
            </a:solidFill>
            <a:prstDash val="solid"/>
          </a:ln>
        </p:spPr>
      </p:sp>
      <p:sp>
        <p:nvSpPr>
          <p:cNvPr id="49" name="Text 45"/>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0" name="Image 2" descr="preencoded.png">    </p:cNvPr>
          <p:cNvPicPr>
            <a:picLocks noChangeAspect="1"/>
          </p:cNvPicPr>
          <p:nvPr/>
        </p:nvPicPr>
        <p:blipFill>
          <a:blip r:embed="rId3"/>
          <a:stretch>
            <a:fillRect/>
          </a:stretch>
        </p:blipFill>
        <p:spPr>
          <a:xfrm>
            <a:off x="3417186" y="2504171"/>
            <a:ext cx="237744" cy="237744"/>
          </a:xfrm>
          <a:prstGeom prst="rect">
            <a:avLst/>
          </a:prstGeom>
        </p:spPr>
      </p:pic>
      <p:sp>
        <p:nvSpPr>
          <p:cNvPr id="51"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2"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Pahami fetch: kirim dan minta data</a:t>
            </a:r>
            <a:endParaRPr lang="en-US" sz="1800" dirty="0"/>
          </a:p>
        </p:txBody>
      </p:sp>
      <p:sp>
        <p:nvSpPr>
          <p:cNvPr id="53"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fetch(URL, {method:'POST', body:data}) mengirim. fetch(URL) lalu res.json() meminta data. textContent dipakai agar aman.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Frontend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Catatan Setoran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Catatan Setoran (latihan)</a:t>
            </a:r>
            <a:endParaRPr lang="en-US" sz="1100" dirty="0"/>
          </a:p>
        </p:txBody>
      </p:sp>
      <p:sp>
        <p:nvSpPr>
          <p:cNvPr id="32" name="Shape 25"/>
          <p:cNvSpPr/>
          <p:nvPr/>
        </p:nvSpPr>
        <p:spPr>
          <a:xfrm>
            <a:off x="697504" y="2198885"/>
            <a:ext cx="2320016" cy="1686771"/>
          </a:xfrm>
          <a:prstGeom prst="roundRect">
            <a:avLst>
              <a:gd name="adj" fmla="val 3253"/>
            </a:avLst>
          </a:prstGeom>
          <a:solidFill>
            <a:srgbClr val="FFFFFF"/>
          </a:solidFill>
          <a:ln w="6350">
            <a:solidFill>
              <a:srgbClr val="DDDDDD"/>
            </a:solidFill>
            <a:prstDash val="solid"/>
          </a:ln>
        </p:spPr>
      </p:sp>
      <p:sp>
        <p:nvSpPr>
          <p:cNvPr id="33" name="Text 26"/>
          <p:cNvSpPr txBox="1"/>
          <p:nvPr/>
        </p:nvSpPr>
        <p:spPr>
          <a:xfrm>
            <a:off x="770656"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Tambah Setoran</a:t>
            </a:r>
            <a:endParaRPr lang="en-US" sz="800" dirty="0"/>
          </a:p>
        </p:txBody>
      </p:sp>
      <p:sp>
        <p:nvSpPr>
          <p:cNvPr id="34" name="Shape 27"/>
          <p:cNvSpPr/>
          <p:nvPr/>
        </p:nvSpPr>
        <p:spPr>
          <a:xfrm>
            <a:off x="770656" y="2473205"/>
            <a:ext cx="2173712" cy="201168"/>
          </a:xfrm>
          <a:prstGeom prst="rect">
            <a:avLst/>
          </a:prstGeom>
          <a:solidFill>
            <a:srgbClr val="FFFFFF"/>
          </a:solidFill>
          <a:ln w="6350">
            <a:solidFill>
              <a:srgbClr val="999999"/>
            </a:solidFill>
            <a:prstDash val="solid"/>
          </a:ln>
        </p:spPr>
      </p:sp>
      <p:sp>
        <p:nvSpPr>
          <p:cNvPr id="35" name="Text 28"/>
          <p:cNvSpPr txBox="1"/>
          <p:nvPr/>
        </p:nvSpPr>
        <p:spPr>
          <a:xfrm>
            <a:off x="807232" y="2473205"/>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a:t>
            </a:r>
            <a:endParaRPr lang="en-US" sz="650" dirty="0"/>
          </a:p>
        </p:txBody>
      </p:sp>
      <p:sp>
        <p:nvSpPr>
          <p:cNvPr id="36" name="Shape 29"/>
          <p:cNvSpPr/>
          <p:nvPr/>
        </p:nvSpPr>
        <p:spPr>
          <a:xfrm>
            <a:off x="770656" y="2720093"/>
            <a:ext cx="2173712" cy="201168"/>
          </a:xfrm>
          <a:prstGeom prst="rect">
            <a:avLst/>
          </a:prstGeom>
          <a:solidFill>
            <a:srgbClr val="FFFFFF"/>
          </a:solidFill>
          <a:ln w="6350">
            <a:solidFill>
              <a:srgbClr val="999999"/>
            </a:solidFill>
            <a:prstDash val="solid"/>
          </a:ln>
        </p:spPr>
      </p:sp>
      <p:sp>
        <p:nvSpPr>
          <p:cNvPr id="37" name="Text 30"/>
          <p:cNvSpPr txBox="1"/>
          <p:nvPr/>
        </p:nvSpPr>
        <p:spPr>
          <a:xfrm>
            <a:off x="807232" y="2720093"/>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 </a:t>
            </a:r>
            <a:endParaRPr lang="en-US" sz="650" dirty="0"/>
          </a:p>
        </p:txBody>
      </p:sp>
      <p:sp>
        <p:nvSpPr>
          <p:cNvPr id="38" name="Shape 31"/>
          <p:cNvSpPr/>
          <p:nvPr/>
        </p:nvSpPr>
        <p:spPr>
          <a:xfrm>
            <a:off x="770656" y="2966981"/>
            <a:ext cx="2173712" cy="201168"/>
          </a:xfrm>
          <a:prstGeom prst="rect">
            <a:avLst/>
          </a:prstGeom>
          <a:solidFill>
            <a:srgbClr val="FFFFFF"/>
          </a:solidFill>
          <a:ln w="6350">
            <a:solidFill>
              <a:srgbClr val="999999"/>
            </a:solidFill>
            <a:prstDash val="solid"/>
          </a:ln>
        </p:spPr>
      </p:sp>
      <p:sp>
        <p:nvSpPr>
          <p:cNvPr id="39" name="Text 32"/>
          <p:cNvSpPr txBox="1"/>
          <p:nvPr/>
        </p:nvSpPr>
        <p:spPr>
          <a:xfrm>
            <a:off x="807232" y="2966981"/>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 </a:t>
            </a:r>
            <a:endParaRPr lang="en-US" sz="650" dirty="0"/>
          </a:p>
        </p:txBody>
      </p:sp>
      <p:sp>
        <p:nvSpPr>
          <p:cNvPr id="40" name="Shape 33"/>
          <p:cNvSpPr/>
          <p:nvPr/>
        </p:nvSpPr>
        <p:spPr>
          <a:xfrm>
            <a:off x="770656" y="3232157"/>
            <a:ext cx="2173712"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770656" y="3232157"/>
            <a:ext cx="217371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Simpan</a:t>
            </a:r>
            <a:endParaRPr lang="en-US" sz="750" dirty="0"/>
          </a:p>
        </p:txBody>
      </p:sp>
      <p:sp>
        <p:nvSpPr>
          <p:cNvPr id="42" name="Text 35"/>
          <p:cNvSpPr txBox="1"/>
          <p:nvPr/>
        </p:nvSpPr>
        <p:spPr>
          <a:xfrm>
            <a:off x="770656" y="3479045"/>
            <a:ext cx="2173712" cy="182880"/>
          </a:xfrm>
          <a:prstGeom prst="rect">
            <a:avLst/>
          </a:prstGeom>
          <a:noFill/>
          <a:ln/>
        </p:spPr>
        <p:txBody>
          <a:bodyPr wrap="square" lIns="0" tIns="0" rIns="0" bIns="0" rtlCol="0" anchor="t"/>
          <a:lstStyle/>
          <a:p>
            <a:pPr indent="0" marL="0">
              <a:buNone/>
            </a:pPr>
            <a:r>
              <a:rPr lang="en-US" sz="650" b="1" dirty="0">
                <a:solidFill>
                  <a:srgbClr val="1F7A5C"/>
                </a:solidFill>
                <a:latin typeface="Arial" pitchFamily="34" charset="0"/>
                <a:ea typeface="Arial" pitchFamily="34" charset="-122"/>
                <a:cs typeface="Arial" pitchFamily="34" charset="-120"/>
              </a:rPr>
              <a:t>Alhamdulillah, tersimpan!</a:t>
            </a:r>
            <a:endParaRPr lang="en-US" sz="650" dirty="0"/>
          </a:p>
        </p:txBody>
      </p:sp>
      <p:sp>
        <p:nvSpPr>
          <p:cNvPr id="43" name="Shape 36"/>
          <p:cNvSpPr/>
          <p:nvPr/>
        </p:nvSpPr>
        <p:spPr>
          <a:xfrm>
            <a:off x="3108960" y="2198885"/>
            <a:ext cx="2320016" cy="1686771"/>
          </a:xfrm>
          <a:prstGeom prst="roundRect">
            <a:avLst>
              <a:gd name="adj" fmla="val 3253"/>
            </a:avLst>
          </a:prstGeom>
          <a:solidFill>
            <a:srgbClr val="FFFFFF"/>
          </a:solidFill>
          <a:ln w="6350">
            <a:solidFill>
              <a:srgbClr val="DDDDDD"/>
            </a:solidFill>
            <a:prstDash val="solid"/>
          </a:ln>
        </p:spPr>
      </p:sp>
      <p:sp>
        <p:nvSpPr>
          <p:cNvPr id="44" name="Text 37"/>
          <p:cNvSpPr txBox="1"/>
          <p:nvPr/>
        </p:nvSpPr>
        <p:spPr>
          <a:xfrm>
            <a:off x="3182112"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Riwayat Setoran</a:t>
            </a:r>
            <a:endParaRPr lang="en-US" sz="800" dirty="0"/>
          </a:p>
        </p:txBody>
      </p:sp>
      <p:sp>
        <p:nvSpPr>
          <p:cNvPr id="45" name="Text 38"/>
          <p:cNvSpPr txBox="1"/>
          <p:nvPr/>
        </p:nvSpPr>
        <p:spPr>
          <a:xfrm>
            <a:off x="3182112" y="2473205"/>
            <a:ext cx="2228576" cy="182880"/>
          </a:xfrm>
          <a:prstGeom prst="rect">
            <a:avLst/>
          </a:prstGeom>
          <a:noFill/>
          <a:ln/>
        </p:spPr>
        <p:txBody>
          <a:bodyPr wrap="square" lIns="0" tIns="0" rIns="0" bIns="0" rtlCol="0" anchor="t"/>
          <a:lstStyle/>
          <a:p>
            <a:pPr indent="0" marL="0">
              <a:buNone/>
            </a:pPr>
            <a:r>
              <a:rPr lang="en-US" sz="650" b="1" dirty="0">
                <a:solidFill>
                  <a:srgbClr val="1F7A5C"/>
                </a:solidFill>
                <a:latin typeface="Arial" pitchFamily="34" charset="0"/>
                <a:ea typeface="Arial" pitchFamily="34" charset="-122"/>
                <a:cs typeface="Arial" pitchFamily="34" charset="-120"/>
              </a:rPr>
              <a:t>S001   ·   An-Naba   ·   20</a:t>
            </a:r>
            <a:endParaRPr lang="en-US" sz="650" dirty="0"/>
          </a:p>
        </p:txBody>
      </p:sp>
      <p:sp>
        <p:nvSpPr>
          <p:cNvPr id="46" name="Text 39"/>
          <p:cNvSpPr txBox="1"/>
          <p:nvPr/>
        </p:nvSpPr>
        <p:spPr>
          <a:xfrm>
            <a:off x="3182112" y="2674373"/>
            <a:ext cx="2228576" cy="182880"/>
          </a:xfrm>
          <a:prstGeom prst="rect">
            <a:avLst/>
          </a:prstGeom>
          <a:noFill/>
          <a:ln/>
        </p:spPr>
        <p:txBody>
          <a:bodyPr wrap="square" lIns="0" tIns="0" rIns="0" bIns="0" rtlCol="0" anchor="t"/>
          <a:lstStyle/>
          <a:p>
            <a:pPr indent="0" marL="0">
              <a:buNone/>
            </a:pPr>
            <a:r>
              <a:rPr lang="en-US" sz="650" dirty="0">
                <a:solidFill>
                  <a:srgbClr val="222222"/>
                </a:solidFill>
                <a:latin typeface="Arial" pitchFamily="34" charset="0"/>
                <a:ea typeface="Arial" pitchFamily="34" charset="-122"/>
                <a:cs typeface="Arial" pitchFamily="34" charset="-120"/>
              </a:rPr>
              <a:t>S003   ·   An-Naziat   ·   15</a:t>
            </a:r>
            <a:endParaRPr lang="en-US" sz="650" dirty="0"/>
          </a:p>
        </p:txBody>
      </p:sp>
      <p:sp>
        <p:nvSpPr>
          <p:cNvPr id="47" name="Shape 40"/>
          <p:cNvSpPr/>
          <p:nvPr/>
        </p:nvSpPr>
        <p:spPr>
          <a:xfrm>
            <a:off x="633496" y="2134877"/>
            <a:ext cx="4859487" cy="1814787"/>
          </a:xfrm>
          <a:prstGeom prst="roundRect">
            <a:avLst>
              <a:gd name="adj" fmla="val 2519"/>
            </a:avLst>
          </a:prstGeom>
          <a:solidFill>
            <a:srgbClr val="FFFFFF">
              <a:alpha val="0"/>
            </a:srgbClr>
          </a:solidFill>
          <a:ln w="31750">
            <a:solidFill>
              <a:srgbClr val="E53935"/>
            </a:solidFill>
            <a:prstDash val="solid"/>
          </a:ln>
        </p:spPr>
      </p:sp>
      <p:sp>
        <p:nvSpPr>
          <p:cNvPr id="48" name="Shape 41"/>
          <p:cNvSpPr/>
          <p:nvPr/>
        </p:nvSpPr>
        <p:spPr>
          <a:xfrm>
            <a:off x="5355824" y="1997717"/>
            <a:ext cx="274320" cy="274320"/>
          </a:xfrm>
          <a:prstGeom prst="ellipse">
            <a:avLst/>
          </a:prstGeom>
          <a:solidFill>
            <a:srgbClr val="E53935"/>
          </a:solidFill>
          <a:ln w="12700">
            <a:solidFill>
              <a:srgbClr val="FFFFFF"/>
            </a:solidFill>
            <a:prstDash val="solid"/>
          </a:ln>
        </p:spPr>
      </p:sp>
      <p:sp>
        <p:nvSpPr>
          <p:cNvPr id="49" name="Text 42"/>
          <p:cNvSpPr txBox="1"/>
          <p:nvPr/>
        </p:nvSpPr>
        <p:spPr>
          <a:xfrm>
            <a:off x="5355824"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50" name="Image 5" descr="preencoded.png">    </p:cNvPr>
          <p:cNvPicPr>
            <a:picLocks noChangeAspect="1"/>
          </p:cNvPicPr>
          <p:nvPr/>
        </p:nvPicPr>
        <p:blipFill>
          <a:blip r:embed="rId6"/>
          <a:stretch>
            <a:fillRect/>
          </a:stretch>
        </p:blipFill>
        <p:spPr>
          <a:xfrm>
            <a:off x="3304386" y="3131181"/>
            <a:ext cx="237744" cy="237744"/>
          </a:xfrm>
          <a:prstGeom prst="rect">
            <a:avLst/>
          </a:prstGeom>
        </p:spPr>
      </p:pic>
      <p:sp>
        <p:nvSpPr>
          <p:cNvPr id="51"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2"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isi formulir, Simpan, lihat Sheets</a:t>
            </a:r>
            <a:endParaRPr lang="en-US" sz="1800" dirty="0"/>
          </a:p>
        </p:txBody>
      </p:sp>
      <p:sp>
        <p:nvSpPr>
          <p:cNvPr id="53"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index.html. Isi S001, An-Naba, 20 › Simpan. Muncul "Alhamdulillah, tersimpan!". Cek Sheets: baris baru. Riwayat terisi.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Code.gs berisi doGet dan doPost dengan validasi; versi baru sudah di-deploy.</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index.html tersambung: data dari web masuk ke Sheets.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Bukti uji validasi: ayat 500 ditolak.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dengan kata-katamu: tugas doPost, doGet, dan fetch.</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doPost dan doGet tersimpan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Deploy versi baru</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 dari web masuk ke Sheets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Riwayat tampil di web</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tugas doPost dan doGet?</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validasi di backend penting?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yang dititipkan harus disimpan dengan benar dan tidak diubah tanpa hak.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Formulir Web Tersambung Sheets.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Formulir Web Tersambung Sheets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aplikasi kelompok menyimpan data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8: Sheets sebagai Backend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Aplikasi kelompok kalian sudah bisa menghitung. Bagaimana agar hasilnya juga tersimpan?</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Menyambungkan aplikasi proyek kelompok dengan backend Sheets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Menampilkan data tersimpan sesuai kebutuhan pengguna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keamanan dan mempresentasikan aplikasi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Menyesuaikan Template untuk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Database</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kolom di Sheets sesuai rancangan Modul 7.</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Backend</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doPost: ambil field proyek, validasi yang sesuai, appendRow urutan kolom.</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Frontend</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Formulir: input dengan name sama persis dengan yang dibaca doPost.</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Tampilan Data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Riwayat, total, atau status sesuai kebutuhan pengguna.</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Periksa Keamanan Aplikasi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Wajib</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Hanya data latihan dengan kode (S001)</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Validasi di backend untuk setiap field</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Tampilkan data dengan textContent</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Dilarang</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Meminta nama lengkap, alamat, nomor HP, kata sandi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Menyebarkan Web app URL ke grup umum</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Membiarkan backend aktif setelah proyek selesai</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Menyambungkan Aplikasi Proyek</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8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Menyesuaikan database dan backend</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Menyesuaikan frontend</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keamanan, terbit,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Rancangan_Backend_Kel3 -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Rancangan_Backend_Kel3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Field yang Disimpan</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name (HTML)</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Kolom Sheets</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Validasi</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wajib, maks 10</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maks 40 huruf</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angka 0–300</a:t>
            </a: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Tentukan field yang disimpan aplikasi</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Dari proposal dan database: field apa yang diisi pengguna? Tulis daftar: name di HTML, kolom di Sheets, aturan validasi.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Proyek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Proyek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doPost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function doPost(e) {</a:t>
            </a:r>
            <a:endParaRPr lang="en-US" sz="631" dirty="0"/>
          </a:p>
        </p:txBody>
      </p:sp>
      <p:sp>
        <p:nvSpPr>
          <p:cNvPr id="43" name="Text 34"/>
          <p:cNvSpPr txBox="1"/>
          <p:nvPr/>
        </p:nvSpPr>
        <p:spPr>
          <a:xfrm>
            <a:off x="1611904" y="2384907"/>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384907"/>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sheet = SpreadsheetApp.getActiveSpreadsheet()</a:t>
            </a:r>
            <a:endParaRPr lang="en-US" sz="631" dirty="0"/>
          </a:p>
        </p:txBody>
      </p:sp>
      <p:sp>
        <p:nvSpPr>
          <p:cNvPr id="45" name="Text 36"/>
          <p:cNvSpPr txBox="1"/>
          <p:nvPr/>
        </p:nvSpPr>
        <p:spPr>
          <a:xfrm>
            <a:off x="1611904" y="251606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16066"/>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.getSheetByName(NAMA_SHEET);</a:t>
            </a:r>
            <a:endParaRPr lang="en-US" sz="631" dirty="0"/>
          </a:p>
        </p:txBody>
      </p:sp>
      <p:sp>
        <p:nvSpPr>
          <p:cNvPr id="47" name="Text 38"/>
          <p:cNvSpPr txBox="1"/>
          <p:nvPr/>
        </p:nvSpPr>
        <p:spPr>
          <a:xfrm>
            <a:off x="1611904" y="264722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647224"/>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p = e.parameter;</a:t>
            </a:r>
            <a:endParaRPr lang="en-US" sz="631" dirty="0"/>
          </a:p>
        </p:txBody>
      </p:sp>
      <p:sp>
        <p:nvSpPr>
          <p:cNvPr id="49" name="Shape 40"/>
          <p:cNvSpPr/>
          <p:nvPr/>
        </p:nvSpPr>
        <p:spPr>
          <a:xfrm>
            <a:off x="1867936" y="2778383"/>
            <a:ext cx="3634191" cy="131158"/>
          </a:xfrm>
          <a:prstGeom prst="rect">
            <a:avLst/>
          </a:prstGeom>
          <a:solidFill>
            <a:srgbClr val="FFF59D"/>
          </a:solidFill>
          <a:ln w="12700">
            <a:solidFill>
              <a:srgbClr val="FFF59D"/>
            </a:solidFill>
            <a:prstDash val="solid"/>
          </a:ln>
        </p:spPr>
      </p:sp>
      <p:sp>
        <p:nvSpPr>
          <p:cNvPr id="50" name="Text 41"/>
          <p:cNvSpPr txBox="1"/>
          <p:nvPr/>
        </p:nvSpPr>
        <p:spPr>
          <a:xfrm>
            <a:off x="1611904" y="277838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51" name="Text 42"/>
          <p:cNvSpPr txBox="1"/>
          <p:nvPr/>
        </p:nvSpPr>
        <p:spPr>
          <a:xfrm>
            <a:off x="1904512" y="2778383"/>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kode = String(p.kode || '').trim().slice(0, 10);</a:t>
            </a:r>
            <a:endParaRPr lang="en-US" sz="631" dirty="0"/>
          </a:p>
        </p:txBody>
      </p:sp>
      <p:sp>
        <p:nvSpPr>
          <p:cNvPr id="52" name="Shape 43"/>
          <p:cNvSpPr/>
          <p:nvPr/>
        </p:nvSpPr>
        <p:spPr>
          <a:xfrm>
            <a:off x="1867936" y="2909541"/>
            <a:ext cx="3634191" cy="131158"/>
          </a:xfrm>
          <a:prstGeom prst="rect">
            <a:avLst/>
          </a:prstGeom>
          <a:solidFill>
            <a:srgbClr val="FFF59D"/>
          </a:solidFill>
          <a:ln w="12700">
            <a:solidFill>
              <a:srgbClr val="FFF59D"/>
            </a:solidFill>
            <a:prstDash val="solid"/>
          </a:ln>
        </p:spPr>
      </p:sp>
      <p:sp>
        <p:nvSpPr>
          <p:cNvPr id="53" name="Text 44"/>
          <p:cNvSpPr txBox="1"/>
          <p:nvPr/>
        </p:nvSpPr>
        <p:spPr>
          <a:xfrm>
            <a:off x="1611904" y="290954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54" name="Text 45"/>
          <p:cNvSpPr txBox="1"/>
          <p:nvPr/>
        </p:nvSpPr>
        <p:spPr>
          <a:xfrm>
            <a:off x="1904512" y="290954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surat = String(p.surat || '').trim().slice(0, 40);</a:t>
            </a:r>
            <a:endParaRPr lang="en-US" sz="631" dirty="0"/>
          </a:p>
        </p:txBody>
      </p:sp>
      <p:sp>
        <p:nvSpPr>
          <p:cNvPr id="55" name="Shape 46"/>
          <p:cNvSpPr/>
          <p:nvPr/>
        </p:nvSpPr>
        <p:spPr>
          <a:xfrm>
            <a:off x="1867936" y="3040699"/>
            <a:ext cx="3634191" cy="131158"/>
          </a:xfrm>
          <a:prstGeom prst="rect">
            <a:avLst/>
          </a:prstGeom>
          <a:solidFill>
            <a:srgbClr val="FFF59D"/>
          </a:solidFill>
          <a:ln w="12700">
            <a:solidFill>
              <a:srgbClr val="FFF59D"/>
            </a:solidFill>
            <a:prstDash val="solid"/>
          </a:ln>
        </p:spPr>
      </p:sp>
      <p:sp>
        <p:nvSpPr>
          <p:cNvPr id="56" name="Text 47"/>
          <p:cNvSpPr txBox="1"/>
          <p:nvPr/>
        </p:nvSpPr>
        <p:spPr>
          <a:xfrm>
            <a:off x="1611904" y="304069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57" name="Text 48"/>
          <p:cNvSpPr txBox="1"/>
          <p:nvPr/>
        </p:nvSpPr>
        <p:spPr>
          <a:xfrm>
            <a:off x="1904512" y="304069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ayat = Number(p.ayat);</a:t>
            </a:r>
            <a:endParaRPr lang="en-US" sz="631" dirty="0"/>
          </a:p>
        </p:txBody>
      </p:sp>
      <p:sp>
        <p:nvSpPr>
          <p:cNvPr id="58" name="Shape 49"/>
          <p:cNvSpPr/>
          <p:nvPr/>
        </p:nvSpPr>
        <p:spPr>
          <a:xfrm>
            <a:off x="1867936" y="3171858"/>
            <a:ext cx="3634191" cy="131158"/>
          </a:xfrm>
          <a:prstGeom prst="rect">
            <a:avLst/>
          </a:prstGeom>
          <a:solidFill>
            <a:srgbClr val="FFF59D"/>
          </a:solidFill>
          <a:ln w="12700">
            <a:solidFill>
              <a:srgbClr val="FFF59D"/>
            </a:solidFill>
            <a:prstDash val="solid"/>
          </a:ln>
        </p:spPr>
      </p:sp>
      <p:sp>
        <p:nvSpPr>
          <p:cNvPr id="59" name="Text 50"/>
          <p:cNvSpPr txBox="1"/>
          <p:nvPr/>
        </p:nvSpPr>
        <p:spPr>
          <a:xfrm>
            <a:off x="1611904" y="3171858"/>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60" name="Text 51"/>
          <p:cNvSpPr txBox="1"/>
          <p:nvPr/>
        </p:nvSpPr>
        <p:spPr>
          <a:xfrm>
            <a:off x="1904512" y="3171858"/>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if (kode === '' || isNaN(ayat) || ayat &lt; 0 || ayat &gt; 300) {</a:t>
            </a:r>
            <a:endParaRPr lang="en-US" sz="631" dirty="0"/>
          </a:p>
        </p:txBody>
      </p:sp>
      <p:sp>
        <p:nvSpPr>
          <p:cNvPr id="61" name="Text 52"/>
          <p:cNvSpPr txBox="1"/>
          <p:nvPr/>
        </p:nvSpPr>
        <p:spPr>
          <a:xfrm>
            <a:off x="1611904" y="330301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62" name="Text 53"/>
          <p:cNvSpPr txBox="1"/>
          <p:nvPr/>
        </p:nvSpPr>
        <p:spPr>
          <a:xfrm>
            <a:off x="1904512" y="3303016"/>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ContentService.createTextOutput('ditolak');</a:t>
            </a:r>
            <a:endParaRPr lang="en-US" sz="631" dirty="0"/>
          </a:p>
        </p:txBody>
      </p:sp>
      <p:sp>
        <p:nvSpPr>
          <p:cNvPr id="63" name="Text 54"/>
          <p:cNvSpPr txBox="1"/>
          <p:nvPr/>
        </p:nvSpPr>
        <p:spPr>
          <a:xfrm>
            <a:off x="1611904" y="343417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64" name="Text 55"/>
          <p:cNvSpPr txBox="1"/>
          <p:nvPr/>
        </p:nvSpPr>
        <p:spPr>
          <a:xfrm>
            <a:off x="1904512" y="3434174"/>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a:t>
            </a:r>
            <a:endParaRPr lang="en-US" sz="631" dirty="0"/>
          </a:p>
        </p:txBody>
      </p:sp>
      <p:sp>
        <p:nvSpPr>
          <p:cNvPr id="65" name="Shape 56"/>
          <p:cNvSpPr/>
          <p:nvPr/>
        </p:nvSpPr>
        <p:spPr>
          <a:xfrm>
            <a:off x="1867936" y="3565333"/>
            <a:ext cx="3634191" cy="131158"/>
          </a:xfrm>
          <a:prstGeom prst="rect">
            <a:avLst/>
          </a:prstGeom>
          <a:solidFill>
            <a:srgbClr val="FFF59D"/>
          </a:solidFill>
          <a:ln w="12700">
            <a:solidFill>
              <a:srgbClr val="FFF59D"/>
            </a:solidFill>
            <a:prstDash val="solid"/>
          </a:ln>
        </p:spPr>
      </p:sp>
      <p:sp>
        <p:nvSpPr>
          <p:cNvPr id="66" name="Text 57"/>
          <p:cNvSpPr txBox="1"/>
          <p:nvPr/>
        </p:nvSpPr>
        <p:spPr>
          <a:xfrm>
            <a:off x="1611904" y="356533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67" name="Text 58"/>
          <p:cNvSpPr txBox="1"/>
          <p:nvPr/>
        </p:nvSpPr>
        <p:spPr>
          <a:xfrm>
            <a:off x="1904512" y="3565333"/>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sheet.appendRow([new Date(), kode, surat, ayat]);</a:t>
            </a:r>
            <a:endParaRPr lang="en-US" sz="631" dirty="0"/>
          </a:p>
        </p:txBody>
      </p:sp>
      <p:sp>
        <p:nvSpPr>
          <p:cNvPr id="68" name="Text 59"/>
          <p:cNvSpPr txBox="1"/>
          <p:nvPr/>
        </p:nvSpPr>
        <p:spPr>
          <a:xfrm>
            <a:off x="1611904" y="369649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69" name="Text 60"/>
          <p:cNvSpPr txBox="1"/>
          <p:nvPr/>
        </p:nvSpPr>
        <p:spPr>
          <a:xfrm>
            <a:off x="1904512" y="369649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ContentService.createTextOutput('ok');</a:t>
            </a:r>
            <a:endParaRPr lang="en-US" sz="631" dirty="0"/>
          </a:p>
        </p:txBody>
      </p:sp>
      <p:sp>
        <p:nvSpPr>
          <p:cNvPr id="70" name="Text 61"/>
          <p:cNvSpPr txBox="1"/>
          <p:nvPr/>
        </p:nvSpPr>
        <p:spPr>
          <a:xfrm>
            <a:off x="1611904" y="3827650"/>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71" name="Text 62"/>
          <p:cNvSpPr txBox="1"/>
          <p:nvPr/>
        </p:nvSpPr>
        <p:spPr>
          <a:xfrm>
            <a:off x="1904512" y="3827650"/>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a:t>
            </a:r>
            <a:endParaRPr lang="en-US" sz="631" dirty="0"/>
          </a:p>
        </p:txBody>
      </p:sp>
      <p:sp>
        <p:nvSpPr>
          <p:cNvPr id="72" name="Shape 63"/>
          <p:cNvSpPr/>
          <p:nvPr/>
        </p:nvSpPr>
        <p:spPr>
          <a:xfrm>
            <a:off x="1849648" y="2760095"/>
            <a:ext cx="3670767" cy="954685"/>
          </a:xfrm>
          <a:prstGeom prst="roundRect">
            <a:avLst>
              <a:gd name="adj" fmla="val 4789"/>
            </a:avLst>
          </a:prstGeom>
          <a:solidFill>
            <a:srgbClr val="FFFFFF">
              <a:alpha val="0"/>
            </a:srgbClr>
          </a:solidFill>
          <a:ln w="31750">
            <a:solidFill>
              <a:srgbClr val="E53935"/>
            </a:solidFill>
            <a:prstDash val="solid"/>
          </a:ln>
        </p:spPr>
      </p:sp>
      <p:sp>
        <p:nvSpPr>
          <p:cNvPr id="73" name="Shape 64"/>
          <p:cNvSpPr/>
          <p:nvPr/>
        </p:nvSpPr>
        <p:spPr>
          <a:xfrm>
            <a:off x="5383256" y="2622935"/>
            <a:ext cx="274320" cy="274320"/>
          </a:xfrm>
          <a:prstGeom prst="ellipse">
            <a:avLst/>
          </a:prstGeom>
          <a:solidFill>
            <a:srgbClr val="E53935"/>
          </a:solidFill>
          <a:ln w="12700">
            <a:solidFill>
              <a:srgbClr val="FFFFFF"/>
            </a:solidFill>
            <a:prstDash val="solid"/>
          </a:ln>
        </p:spPr>
      </p:sp>
      <p:sp>
        <p:nvSpPr>
          <p:cNvPr id="74" name="Text 65"/>
          <p:cNvSpPr txBox="1"/>
          <p:nvPr/>
        </p:nvSpPr>
        <p:spPr>
          <a:xfrm>
            <a:off x="5383256" y="262293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5" name="Image 7" descr="preencoded.png">    </p:cNvPr>
          <p:cNvPicPr>
            <a:picLocks noChangeAspect="1"/>
          </p:cNvPicPr>
          <p:nvPr/>
        </p:nvPicPr>
        <p:blipFill>
          <a:blip r:embed="rId8"/>
          <a:stretch>
            <a:fillRect/>
          </a:stretch>
        </p:blipFill>
        <p:spPr>
          <a:xfrm>
            <a:off x="3866742" y="3283342"/>
            <a:ext cx="237744" cy="237744"/>
          </a:xfrm>
          <a:prstGeom prst="rect">
            <a:avLst/>
          </a:prstGeom>
        </p:spPr>
      </p:pic>
      <p:sp>
        <p:nvSpPr>
          <p:cNvPr id="76"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7"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Sesuaikan lembar dan doPost</a:t>
            </a:r>
            <a:endParaRPr lang="en-US" sz="1800" dirty="0"/>
          </a:p>
        </p:txBody>
      </p:sp>
      <p:sp>
        <p:nvSpPr>
          <p:cNvPr id="78"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Pastikan nama lembar dan judul kolom sesuai. Ubah doPost: field, validasi, dan urutan appendRow sesuai tabel.</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Backend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Proyek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Proyek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function doPost(e) {</a:t>
            </a:r>
            <a:endParaRPr lang="en-US" sz="631" dirty="0"/>
          </a:p>
        </p:txBody>
      </p:sp>
      <p:sp>
        <p:nvSpPr>
          <p:cNvPr id="43" name="Text 34"/>
          <p:cNvSpPr txBox="1"/>
          <p:nvPr/>
        </p:nvSpPr>
        <p:spPr>
          <a:xfrm>
            <a:off x="1611904" y="2384907"/>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384907"/>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sheet = SpreadsheetApp.getActiveSpreadsheet()</a:t>
            </a:r>
            <a:endParaRPr lang="en-US" sz="631" dirty="0"/>
          </a:p>
        </p:txBody>
      </p:sp>
      <p:sp>
        <p:nvSpPr>
          <p:cNvPr id="45" name="Text 36"/>
          <p:cNvSpPr txBox="1"/>
          <p:nvPr/>
        </p:nvSpPr>
        <p:spPr>
          <a:xfrm>
            <a:off x="1611904" y="251606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3</a:t>
            </a:r>
            <a:endParaRPr lang="en-US" sz="550" dirty="0"/>
          </a:p>
        </p:txBody>
      </p:sp>
      <p:sp>
        <p:nvSpPr>
          <p:cNvPr id="46" name="Text 37"/>
          <p:cNvSpPr txBox="1"/>
          <p:nvPr/>
        </p:nvSpPr>
        <p:spPr>
          <a:xfrm>
            <a:off x="1904512" y="2516066"/>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.getSheetByName(NAMA_SHEET);</a:t>
            </a:r>
            <a:endParaRPr lang="en-US" sz="631" dirty="0"/>
          </a:p>
        </p:txBody>
      </p:sp>
      <p:sp>
        <p:nvSpPr>
          <p:cNvPr id="47" name="Text 38"/>
          <p:cNvSpPr txBox="1"/>
          <p:nvPr/>
        </p:nvSpPr>
        <p:spPr>
          <a:xfrm>
            <a:off x="1611904" y="264722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4</a:t>
            </a:r>
            <a:endParaRPr lang="en-US" sz="550" dirty="0"/>
          </a:p>
        </p:txBody>
      </p:sp>
      <p:sp>
        <p:nvSpPr>
          <p:cNvPr id="48" name="Text 39"/>
          <p:cNvSpPr txBox="1"/>
          <p:nvPr/>
        </p:nvSpPr>
        <p:spPr>
          <a:xfrm>
            <a:off x="1904512" y="2647224"/>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p = e.parameter;</a:t>
            </a:r>
            <a:endParaRPr lang="en-US" sz="631" dirty="0"/>
          </a:p>
        </p:txBody>
      </p:sp>
      <p:sp>
        <p:nvSpPr>
          <p:cNvPr id="49" name="Text 40"/>
          <p:cNvSpPr txBox="1"/>
          <p:nvPr/>
        </p:nvSpPr>
        <p:spPr>
          <a:xfrm>
            <a:off x="1611904" y="277838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5</a:t>
            </a:r>
            <a:endParaRPr lang="en-US" sz="550" dirty="0"/>
          </a:p>
        </p:txBody>
      </p:sp>
      <p:sp>
        <p:nvSpPr>
          <p:cNvPr id="50" name="Text 41"/>
          <p:cNvSpPr txBox="1"/>
          <p:nvPr/>
        </p:nvSpPr>
        <p:spPr>
          <a:xfrm>
            <a:off x="1904512" y="2778383"/>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kode = String(p.kode || '').trim().slice(0, 10);</a:t>
            </a:r>
            <a:endParaRPr lang="en-US" sz="631" dirty="0"/>
          </a:p>
        </p:txBody>
      </p:sp>
      <p:sp>
        <p:nvSpPr>
          <p:cNvPr id="51" name="Text 42"/>
          <p:cNvSpPr txBox="1"/>
          <p:nvPr/>
        </p:nvSpPr>
        <p:spPr>
          <a:xfrm>
            <a:off x="1611904" y="290954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6</a:t>
            </a:r>
            <a:endParaRPr lang="en-US" sz="550" dirty="0"/>
          </a:p>
        </p:txBody>
      </p:sp>
      <p:sp>
        <p:nvSpPr>
          <p:cNvPr id="52" name="Text 43"/>
          <p:cNvSpPr txBox="1"/>
          <p:nvPr/>
        </p:nvSpPr>
        <p:spPr>
          <a:xfrm>
            <a:off x="1904512" y="290954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surat = String(p.surat || '').trim().slice(0, 40);</a:t>
            </a:r>
            <a:endParaRPr lang="en-US" sz="631" dirty="0"/>
          </a:p>
        </p:txBody>
      </p:sp>
      <p:sp>
        <p:nvSpPr>
          <p:cNvPr id="53" name="Text 44"/>
          <p:cNvSpPr txBox="1"/>
          <p:nvPr/>
        </p:nvSpPr>
        <p:spPr>
          <a:xfrm>
            <a:off x="1611904" y="3040699"/>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7</a:t>
            </a:r>
            <a:endParaRPr lang="en-US" sz="550" dirty="0"/>
          </a:p>
        </p:txBody>
      </p:sp>
      <p:sp>
        <p:nvSpPr>
          <p:cNvPr id="54" name="Text 45"/>
          <p:cNvSpPr txBox="1"/>
          <p:nvPr/>
        </p:nvSpPr>
        <p:spPr>
          <a:xfrm>
            <a:off x="1904512" y="3040699"/>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const ayat = Number(p.ayat);</a:t>
            </a:r>
            <a:endParaRPr lang="en-US" sz="631" dirty="0"/>
          </a:p>
        </p:txBody>
      </p:sp>
      <p:sp>
        <p:nvSpPr>
          <p:cNvPr id="55" name="Text 46"/>
          <p:cNvSpPr txBox="1"/>
          <p:nvPr/>
        </p:nvSpPr>
        <p:spPr>
          <a:xfrm>
            <a:off x="1611904" y="3171858"/>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8</a:t>
            </a:r>
            <a:endParaRPr lang="en-US" sz="550" dirty="0"/>
          </a:p>
        </p:txBody>
      </p:sp>
      <p:sp>
        <p:nvSpPr>
          <p:cNvPr id="56" name="Text 47"/>
          <p:cNvSpPr txBox="1"/>
          <p:nvPr/>
        </p:nvSpPr>
        <p:spPr>
          <a:xfrm>
            <a:off x="1904512" y="3171858"/>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if (kode === '' || isNaN(ayat) || ayat &lt; 0 || ayat &gt; 300) {</a:t>
            </a:r>
            <a:endParaRPr lang="en-US" sz="631" dirty="0"/>
          </a:p>
        </p:txBody>
      </p:sp>
      <p:sp>
        <p:nvSpPr>
          <p:cNvPr id="57" name="Text 48"/>
          <p:cNvSpPr txBox="1"/>
          <p:nvPr/>
        </p:nvSpPr>
        <p:spPr>
          <a:xfrm>
            <a:off x="1611904" y="3303016"/>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9</a:t>
            </a:r>
            <a:endParaRPr lang="en-US" sz="550" dirty="0"/>
          </a:p>
        </p:txBody>
      </p:sp>
      <p:sp>
        <p:nvSpPr>
          <p:cNvPr id="58" name="Text 49"/>
          <p:cNvSpPr txBox="1"/>
          <p:nvPr/>
        </p:nvSpPr>
        <p:spPr>
          <a:xfrm>
            <a:off x="1904512" y="3303016"/>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ContentService.createTextOutput('ditolak');</a:t>
            </a:r>
            <a:endParaRPr lang="en-US" sz="631" dirty="0"/>
          </a:p>
        </p:txBody>
      </p:sp>
      <p:sp>
        <p:nvSpPr>
          <p:cNvPr id="59" name="Text 50"/>
          <p:cNvSpPr txBox="1"/>
          <p:nvPr/>
        </p:nvSpPr>
        <p:spPr>
          <a:xfrm>
            <a:off x="1611904" y="3434174"/>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10</a:t>
            </a:r>
            <a:endParaRPr lang="en-US" sz="550" dirty="0"/>
          </a:p>
        </p:txBody>
      </p:sp>
      <p:sp>
        <p:nvSpPr>
          <p:cNvPr id="60" name="Text 51"/>
          <p:cNvSpPr txBox="1"/>
          <p:nvPr/>
        </p:nvSpPr>
        <p:spPr>
          <a:xfrm>
            <a:off x="1904512" y="3434174"/>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a:t>
            </a:r>
            <a:endParaRPr lang="en-US" sz="631" dirty="0"/>
          </a:p>
        </p:txBody>
      </p:sp>
      <p:sp>
        <p:nvSpPr>
          <p:cNvPr id="61" name="Text 52"/>
          <p:cNvSpPr txBox="1"/>
          <p:nvPr/>
        </p:nvSpPr>
        <p:spPr>
          <a:xfrm>
            <a:off x="1611904" y="3565333"/>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11</a:t>
            </a:r>
            <a:endParaRPr lang="en-US" sz="550" dirty="0"/>
          </a:p>
        </p:txBody>
      </p:sp>
      <p:sp>
        <p:nvSpPr>
          <p:cNvPr id="62" name="Text 53"/>
          <p:cNvSpPr txBox="1"/>
          <p:nvPr/>
        </p:nvSpPr>
        <p:spPr>
          <a:xfrm>
            <a:off x="1904512" y="3565333"/>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  sheet.appendRow([new Date(), kode, surat, ayat]);</a:t>
            </a:r>
            <a:endParaRPr lang="en-US" sz="631" dirty="0"/>
          </a:p>
        </p:txBody>
      </p:sp>
      <p:sp>
        <p:nvSpPr>
          <p:cNvPr id="63" name="Text 54"/>
          <p:cNvSpPr txBox="1"/>
          <p:nvPr/>
        </p:nvSpPr>
        <p:spPr>
          <a:xfrm>
            <a:off x="1611904" y="3696491"/>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12</a:t>
            </a:r>
            <a:endParaRPr lang="en-US" sz="550" dirty="0"/>
          </a:p>
        </p:txBody>
      </p:sp>
      <p:sp>
        <p:nvSpPr>
          <p:cNvPr id="64" name="Text 55"/>
          <p:cNvSpPr txBox="1"/>
          <p:nvPr/>
        </p:nvSpPr>
        <p:spPr>
          <a:xfrm>
            <a:off x="1904512" y="3696491"/>
            <a:ext cx="3588471" cy="131158"/>
          </a:xfrm>
          <a:prstGeom prst="rect">
            <a:avLst/>
          </a:prstGeom>
          <a:noFill/>
          <a:ln/>
        </p:spPr>
        <p:txBody>
          <a:bodyPr wrap="square" lIns="0" tIns="0" rIns="0" bIns="0" rtlCol="0" anchor="ctr"/>
          <a:lstStyle/>
          <a:p>
            <a:pPr indent="0" marL="0">
              <a:buNone/>
            </a:pPr>
            <a:r>
              <a:rPr lang="en-US" sz="631" dirty="0">
                <a:solidFill>
                  <a:srgbClr val="1A5FB4"/>
                </a:solidFill>
                <a:latin typeface="Courier New" pitchFamily="34" charset="0"/>
                <a:ea typeface="Courier New" pitchFamily="34" charset="-122"/>
                <a:cs typeface="Courier New" pitchFamily="34" charset="-120"/>
              </a:rPr>
              <a:t>  return ContentService.createTextOutput('ok');</a:t>
            </a:r>
            <a:endParaRPr lang="en-US" sz="631" dirty="0"/>
          </a:p>
        </p:txBody>
      </p:sp>
      <p:sp>
        <p:nvSpPr>
          <p:cNvPr id="65" name="Text 56"/>
          <p:cNvSpPr txBox="1"/>
          <p:nvPr/>
        </p:nvSpPr>
        <p:spPr>
          <a:xfrm>
            <a:off x="1611904" y="3827650"/>
            <a:ext cx="201168" cy="13115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13</a:t>
            </a:r>
            <a:endParaRPr lang="en-US" sz="550" dirty="0"/>
          </a:p>
        </p:txBody>
      </p:sp>
      <p:sp>
        <p:nvSpPr>
          <p:cNvPr id="66" name="Text 57"/>
          <p:cNvSpPr txBox="1"/>
          <p:nvPr/>
        </p:nvSpPr>
        <p:spPr>
          <a:xfrm>
            <a:off x="1904512" y="3827650"/>
            <a:ext cx="3588471" cy="131158"/>
          </a:xfrm>
          <a:prstGeom prst="rect">
            <a:avLst/>
          </a:prstGeom>
          <a:noFill/>
          <a:ln/>
        </p:spPr>
        <p:txBody>
          <a:bodyPr wrap="square" lIns="0" tIns="0" rIns="0" bIns="0" rtlCol="0" anchor="ctr"/>
          <a:lstStyle/>
          <a:p>
            <a:pPr indent="0" marL="0">
              <a:buNone/>
            </a:pPr>
            <a:r>
              <a:rPr lang="en-US" sz="631" dirty="0">
                <a:solidFill>
                  <a:srgbClr val="222222"/>
                </a:solidFill>
                <a:latin typeface="Courier New" pitchFamily="34" charset="0"/>
                <a:ea typeface="Courier New" pitchFamily="34" charset="-122"/>
                <a:cs typeface="Courier New" pitchFamily="34" charset="-120"/>
              </a:rPr>
              <a:t>}</a:t>
            </a:r>
            <a:endParaRPr lang="en-US" sz="631" dirty="0"/>
          </a:p>
        </p:txBody>
      </p:sp>
      <p:sp>
        <p:nvSpPr>
          <p:cNvPr id="67" name="Shape 58"/>
          <p:cNvSpPr/>
          <p:nvPr/>
        </p:nvSpPr>
        <p:spPr>
          <a:xfrm>
            <a:off x="1691640" y="1860557"/>
            <a:ext cx="2743200" cy="1280160"/>
          </a:xfrm>
          <a:prstGeom prst="roundRect">
            <a:avLst>
              <a:gd name="adj" fmla="val 3571"/>
            </a:avLst>
          </a:prstGeom>
          <a:solidFill>
            <a:srgbClr val="FFFFFF"/>
          </a:solidFill>
          <a:ln w="9525">
            <a:solidFill>
              <a:srgbClr val="AAAAAA"/>
            </a:solidFill>
            <a:prstDash val="solid"/>
          </a:ln>
        </p:spPr>
      </p:sp>
      <p:sp>
        <p:nvSpPr>
          <p:cNvPr id="68" name="Text 59"/>
          <p:cNvSpPr txBox="1"/>
          <p:nvPr/>
        </p:nvSpPr>
        <p:spPr>
          <a:xfrm>
            <a:off x="1801368" y="1915421"/>
            <a:ext cx="18288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New deployment ✓</a:t>
            </a:r>
            <a:endParaRPr lang="en-US" sz="1000" dirty="0"/>
          </a:p>
        </p:txBody>
      </p:sp>
      <p:sp>
        <p:nvSpPr>
          <p:cNvPr id="69" name="Text 60"/>
          <p:cNvSpPr txBox="1"/>
          <p:nvPr/>
        </p:nvSpPr>
        <p:spPr>
          <a:xfrm>
            <a:off x="1801368" y="2226317"/>
            <a:ext cx="13716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Web app URL</a:t>
            </a:r>
            <a:endParaRPr lang="en-US" sz="650" dirty="0"/>
          </a:p>
        </p:txBody>
      </p:sp>
      <p:sp>
        <p:nvSpPr>
          <p:cNvPr id="70" name="Shape 61"/>
          <p:cNvSpPr/>
          <p:nvPr/>
        </p:nvSpPr>
        <p:spPr>
          <a:xfrm>
            <a:off x="1801368" y="2390909"/>
            <a:ext cx="2523744" cy="219456"/>
          </a:xfrm>
          <a:prstGeom prst="rect">
            <a:avLst/>
          </a:prstGeom>
          <a:solidFill>
            <a:srgbClr val="F1F3F4"/>
          </a:solidFill>
          <a:ln w="12700">
            <a:solidFill>
              <a:srgbClr val="F1F3F4"/>
            </a:solidFill>
            <a:prstDash val="solid"/>
          </a:ln>
        </p:spPr>
      </p:sp>
      <p:sp>
        <p:nvSpPr>
          <p:cNvPr id="71" name="Text 62"/>
          <p:cNvSpPr txBox="1"/>
          <p:nvPr/>
        </p:nvSpPr>
        <p:spPr>
          <a:xfrm>
            <a:off x="1847088" y="2390909"/>
            <a:ext cx="2523744" cy="219456"/>
          </a:xfrm>
          <a:prstGeom prst="rect">
            <a:avLst/>
          </a:prstGeom>
          <a:noFill/>
          <a:ln/>
        </p:spPr>
        <p:txBody>
          <a:bodyPr wrap="square" lIns="0" tIns="0" rIns="0" bIns="0" rtlCol="0" anchor="ctr"/>
          <a:lstStyle/>
          <a:p>
            <a:pPr indent="0" marL="0">
              <a:buNone/>
            </a:pPr>
            <a:r>
              <a:rPr lang="en-US" sz="600" dirty="0">
                <a:solidFill>
                  <a:srgbClr val="1E2A26"/>
                </a:solidFill>
                <a:latin typeface="Courier New" pitchFamily="34" charset="0"/>
                <a:ea typeface="Courier New" pitchFamily="34" charset="-122"/>
                <a:cs typeface="Courier New" pitchFamily="34" charset="-120"/>
              </a:rPr>
              <a:t>https://script.google.com/macros/s/AKfy.../exec</a:t>
            </a:r>
            <a:endParaRPr lang="en-US" sz="600" dirty="0"/>
          </a:p>
        </p:txBody>
      </p:sp>
      <p:sp>
        <p:nvSpPr>
          <p:cNvPr id="72" name="Text 63"/>
          <p:cNvSpPr txBox="1"/>
          <p:nvPr/>
        </p:nvSpPr>
        <p:spPr>
          <a:xfrm>
            <a:off x="1801368" y="2665229"/>
            <a:ext cx="502920" cy="182880"/>
          </a:xfrm>
          <a:prstGeom prst="rect">
            <a:avLst/>
          </a:prstGeom>
          <a:noFill/>
          <a:ln/>
        </p:spPr>
        <p:txBody>
          <a:bodyPr wrap="square" lIns="0" tIns="0" rIns="0" bIns="0" rtlCol="0" anchor="ctr"/>
          <a:lstStyle/>
          <a:p>
            <a:pPr indent="0" marL="0">
              <a:buNone/>
            </a:pPr>
            <a:r>
              <a:rPr lang="en-US" sz="700" b="1" dirty="0">
                <a:solidFill>
                  <a:srgbClr val="1A73E8"/>
                </a:solidFill>
                <a:latin typeface="Calibri" pitchFamily="34" charset="0"/>
                <a:ea typeface="Calibri" pitchFamily="34" charset="-122"/>
                <a:cs typeface="Calibri" pitchFamily="34" charset="-120"/>
              </a:rPr>
              <a:t>⧉ Copy</a:t>
            </a:r>
            <a:endParaRPr lang="en-US" sz="700" dirty="0"/>
          </a:p>
        </p:txBody>
      </p:sp>
      <p:sp>
        <p:nvSpPr>
          <p:cNvPr id="73" name="Shape 64"/>
          <p:cNvSpPr/>
          <p:nvPr/>
        </p:nvSpPr>
        <p:spPr>
          <a:xfrm>
            <a:off x="1783080" y="2372621"/>
            <a:ext cx="2560320" cy="256032"/>
          </a:xfrm>
          <a:prstGeom prst="roundRect">
            <a:avLst>
              <a:gd name="adj" fmla="val 17857"/>
            </a:avLst>
          </a:prstGeom>
          <a:solidFill>
            <a:srgbClr val="FFFFFF">
              <a:alpha val="0"/>
            </a:srgbClr>
          </a:solidFill>
          <a:ln w="31750">
            <a:solidFill>
              <a:srgbClr val="E53935"/>
            </a:solidFill>
            <a:prstDash val="solid"/>
          </a:ln>
        </p:spPr>
      </p:sp>
      <p:sp>
        <p:nvSpPr>
          <p:cNvPr id="74" name="Shape 65"/>
          <p:cNvSpPr/>
          <p:nvPr/>
        </p:nvSpPr>
        <p:spPr>
          <a:xfrm>
            <a:off x="4206240" y="2235461"/>
            <a:ext cx="274320" cy="274320"/>
          </a:xfrm>
          <a:prstGeom prst="ellipse">
            <a:avLst/>
          </a:prstGeom>
          <a:solidFill>
            <a:srgbClr val="E53935"/>
          </a:solidFill>
          <a:ln w="12700">
            <a:solidFill>
              <a:srgbClr val="FFFFFF"/>
            </a:solidFill>
            <a:prstDash val="solid"/>
          </a:ln>
        </p:spPr>
      </p:sp>
      <p:sp>
        <p:nvSpPr>
          <p:cNvPr id="75" name="Text 66"/>
          <p:cNvSpPr txBox="1"/>
          <p:nvPr/>
        </p:nvSpPr>
        <p:spPr>
          <a:xfrm>
            <a:off x="4206240" y="22354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6" name="Image 7" descr="preencoded.png">    </p:cNvPr>
          <p:cNvPicPr>
            <a:picLocks noChangeAspect="1"/>
          </p:cNvPicPr>
          <p:nvPr/>
        </p:nvPicPr>
        <p:blipFill>
          <a:blip r:embed="rId8"/>
          <a:stretch>
            <a:fillRect/>
          </a:stretch>
        </p:blipFill>
        <p:spPr>
          <a:xfrm>
            <a:off x="3189427" y="2511610"/>
            <a:ext cx="237744" cy="237744"/>
          </a:xfrm>
          <a:prstGeom prst="rect">
            <a:avLst/>
          </a:prstGeom>
        </p:spPr>
      </p:pic>
      <p:sp>
        <p:nvSpPr>
          <p:cNvPr id="77"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8"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Deploy, uji doGet di browser</a:t>
            </a:r>
            <a:endParaRPr lang="en-US" sz="1800" dirty="0"/>
          </a:p>
        </p:txBody>
      </p:sp>
      <p:sp>
        <p:nvSpPr>
          <p:cNvPr id="79"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Deploy (New deployment atau New version). Buka URL: JSON tampil sesuai kolom proyek.</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Frontend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&lt;form id="formSetoran"&gt;</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&lt;input name="kode" placeholder="Kode santri (S001)" required&gt;</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&lt;input name="surat" placeholder="Surat"&gt;</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&lt;input name="ayat" type="number" min="0" max="300" required&gt;</a:t>
            </a:r>
            <a:endParaRPr lang="en-US" sz="900" dirty="0"/>
          </a:p>
        </p:txBody>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&lt;button type="submit"&gt;</a:t>
            </a:r>
            <a:pPr indent="0" marL="0">
              <a:buNone/>
            </a:pPr>
            <a:r>
              <a:rPr lang="en-US" sz="900" dirty="0">
                <a:solidFill>
                  <a:srgbClr val="222222"/>
                </a:solidFill>
                <a:latin typeface="Courier New" pitchFamily="34" charset="0"/>
                <a:ea typeface="Courier New" pitchFamily="34" charset="-122"/>
                <a:cs typeface="Courier New" pitchFamily="34" charset="-120"/>
              </a:rPr>
              <a:t>Simpan Setoran</a:t>
            </a:r>
            <a:pPr indent="0" marL="0">
              <a:buNone/>
            </a:pPr>
            <a:r>
              <a:rPr lang="en-US" sz="900" dirty="0">
                <a:solidFill>
                  <a:srgbClr val="1A5FB4"/>
                </a:solidFill>
                <a:latin typeface="Courier New" pitchFamily="34" charset="0"/>
                <a:ea typeface="Courier New" pitchFamily="34" charset="-122"/>
                <a:cs typeface="Courier New" pitchFamily="34" charset="-120"/>
              </a:rPr>
              <a:t>&lt;/button&gt;</a:t>
            </a:r>
            <a:endParaRPr lang="en-US" sz="900" dirty="0"/>
          </a:p>
        </p:txBody>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&lt;/form&gt;</a:t>
            </a:r>
            <a:endParaRPr lang="en-US" sz="900" dirty="0"/>
          </a:p>
        </p:txBody>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&lt;p id="pesan"&gt;</a:t>
            </a:r>
            <a:pPr indent="0" marL="0">
              <a:buNone/>
            </a:pPr>
            <a:r>
              <a:rPr lang="en-US" sz="900" dirty="0">
                <a:solidFill>
                  <a:srgbClr val="1A5FB4"/>
                </a:solidFill>
                <a:latin typeface="Courier New" pitchFamily="34" charset="0"/>
                <a:ea typeface="Courier New" pitchFamily="34" charset="-122"/>
                <a:cs typeface="Courier New" pitchFamily="34" charset="-120"/>
              </a:rPr>
              <a:t>&lt;/p&gt;</a:t>
            </a:r>
            <a:endParaRPr lang="en-US" sz="900" dirty="0"/>
          </a:p>
        </p:txBody>
      </p:sp>
      <p:sp>
        <p:nvSpPr>
          <p:cNvPr id="42" name="Shape 38"/>
          <p:cNvSpPr/>
          <p:nvPr/>
        </p:nvSpPr>
        <p:spPr>
          <a:xfrm>
            <a:off x="913668" y="1817000"/>
            <a:ext cx="4555175" cy="557784"/>
          </a:xfrm>
          <a:prstGeom prst="roundRect">
            <a:avLst>
              <a:gd name="adj" fmla="val 8197"/>
            </a:avLst>
          </a:prstGeom>
          <a:solidFill>
            <a:srgbClr val="FFFFFF">
              <a:alpha val="0"/>
            </a:srgbClr>
          </a:solidFill>
          <a:ln w="31750">
            <a:solidFill>
              <a:srgbClr val="E53935"/>
            </a:solidFill>
            <a:prstDash val="solid"/>
          </a:ln>
        </p:spPr>
      </p:sp>
      <p:sp>
        <p:nvSpPr>
          <p:cNvPr id="43" name="Shape 39"/>
          <p:cNvSpPr/>
          <p:nvPr/>
        </p:nvSpPr>
        <p:spPr>
          <a:xfrm>
            <a:off x="5331684" y="1679840"/>
            <a:ext cx="274320" cy="274320"/>
          </a:xfrm>
          <a:prstGeom prst="ellipse">
            <a:avLst/>
          </a:prstGeom>
          <a:solidFill>
            <a:srgbClr val="E53935"/>
          </a:solidFill>
          <a:ln w="12700">
            <a:solidFill>
              <a:srgbClr val="FFFFFF"/>
            </a:solidFill>
            <a:prstDash val="solid"/>
          </a:ln>
        </p:spPr>
      </p:sp>
      <p:sp>
        <p:nvSpPr>
          <p:cNvPr id="44" name="Text 40"/>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5" name="Image 2" descr="preencoded.png">    </p:cNvPr>
          <p:cNvPicPr>
            <a:picLocks noChangeAspect="1"/>
          </p:cNvPicPr>
          <p:nvPr/>
        </p:nvPicPr>
        <p:blipFill>
          <a:blip r:embed="rId3"/>
          <a:stretch>
            <a:fillRect/>
          </a:stretch>
        </p:blipFill>
        <p:spPr>
          <a:xfrm>
            <a:off x="3417186" y="2121952"/>
            <a:ext cx="237744" cy="237744"/>
          </a:xfrm>
          <a:prstGeom prst="rect">
            <a:avLst/>
          </a:prstGeom>
        </p:spPr>
      </p:pic>
      <p:sp>
        <p:nvSpPr>
          <p:cNvPr id="46"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7"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Gabungkan formulir ke aplikasi proyek</a:t>
            </a:r>
            <a:endParaRPr lang="en-US" sz="1800" dirty="0"/>
          </a:p>
        </p:txBody>
      </p:sp>
      <p:sp>
        <p:nvSpPr>
          <p:cNvPr id="48"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index.html proyek, tambahkan formulir dengan name sesuai tabel. Tempel URL. Salin fungsi simpan dan muatData dari template.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Frontend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Catatan Setoran (latihan)</a:t>
            </a:r>
            <a:endParaRPr lang="en-US" sz="1100" dirty="0"/>
          </a:p>
        </p:txBody>
      </p:sp>
      <p:sp>
        <p:nvSpPr>
          <p:cNvPr id="32" name="Shape 25"/>
          <p:cNvSpPr/>
          <p:nvPr/>
        </p:nvSpPr>
        <p:spPr>
          <a:xfrm>
            <a:off x="697504" y="2198885"/>
            <a:ext cx="2320016" cy="1686771"/>
          </a:xfrm>
          <a:prstGeom prst="roundRect">
            <a:avLst>
              <a:gd name="adj" fmla="val 3253"/>
            </a:avLst>
          </a:prstGeom>
          <a:solidFill>
            <a:srgbClr val="FFFFFF"/>
          </a:solidFill>
          <a:ln w="6350">
            <a:solidFill>
              <a:srgbClr val="DDDDDD"/>
            </a:solidFill>
            <a:prstDash val="solid"/>
          </a:ln>
        </p:spPr>
      </p:sp>
      <p:sp>
        <p:nvSpPr>
          <p:cNvPr id="33" name="Text 26"/>
          <p:cNvSpPr txBox="1"/>
          <p:nvPr/>
        </p:nvSpPr>
        <p:spPr>
          <a:xfrm>
            <a:off x="770656"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Tambah Setoran</a:t>
            </a:r>
            <a:endParaRPr lang="en-US" sz="800" dirty="0"/>
          </a:p>
        </p:txBody>
      </p:sp>
      <p:sp>
        <p:nvSpPr>
          <p:cNvPr id="34" name="Shape 27"/>
          <p:cNvSpPr/>
          <p:nvPr/>
        </p:nvSpPr>
        <p:spPr>
          <a:xfrm>
            <a:off x="770656" y="2473205"/>
            <a:ext cx="2173712" cy="201168"/>
          </a:xfrm>
          <a:prstGeom prst="rect">
            <a:avLst/>
          </a:prstGeom>
          <a:solidFill>
            <a:srgbClr val="FFFFFF"/>
          </a:solidFill>
          <a:ln w="6350">
            <a:solidFill>
              <a:srgbClr val="999999"/>
            </a:solidFill>
            <a:prstDash val="solid"/>
          </a:ln>
        </p:spPr>
      </p:sp>
      <p:sp>
        <p:nvSpPr>
          <p:cNvPr id="35" name="Text 28"/>
          <p:cNvSpPr txBox="1"/>
          <p:nvPr/>
        </p:nvSpPr>
        <p:spPr>
          <a:xfrm>
            <a:off x="807232" y="2473205"/>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a:t>
            </a:r>
            <a:endParaRPr lang="en-US" sz="650" dirty="0"/>
          </a:p>
        </p:txBody>
      </p:sp>
      <p:sp>
        <p:nvSpPr>
          <p:cNvPr id="36" name="Shape 29"/>
          <p:cNvSpPr/>
          <p:nvPr/>
        </p:nvSpPr>
        <p:spPr>
          <a:xfrm>
            <a:off x="770656" y="2720093"/>
            <a:ext cx="2173712" cy="201168"/>
          </a:xfrm>
          <a:prstGeom prst="rect">
            <a:avLst/>
          </a:prstGeom>
          <a:solidFill>
            <a:srgbClr val="FFFFFF"/>
          </a:solidFill>
          <a:ln w="6350">
            <a:solidFill>
              <a:srgbClr val="999999"/>
            </a:solidFill>
            <a:prstDash val="solid"/>
          </a:ln>
        </p:spPr>
      </p:sp>
      <p:sp>
        <p:nvSpPr>
          <p:cNvPr id="37" name="Text 30"/>
          <p:cNvSpPr txBox="1"/>
          <p:nvPr/>
        </p:nvSpPr>
        <p:spPr>
          <a:xfrm>
            <a:off x="807232" y="2720093"/>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 </a:t>
            </a:r>
            <a:endParaRPr lang="en-US" sz="650" dirty="0"/>
          </a:p>
        </p:txBody>
      </p:sp>
      <p:sp>
        <p:nvSpPr>
          <p:cNvPr id="38" name="Shape 31"/>
          <p:cNvSpPr/>
          <p:nvPr/>
        </p:nvSpPr>
        <p:spPr>
          <a:xfrm>
            <a:off x="770656" y="2966981"/>
            <a:ext cx="2173712" cy="201168"/>
          </a:xfrm>
          <a:prstGeom prst="rect">
            <a:avLst/>
          </a:prstGeom>
          <a:solidFill>
            <a:srgbClr val="FFFFFF"/>
          </a:solidFill>
          <a:ln w="6350">
            <a:solidFill>
              <a:srgbClr val="999999"/>
            </a:solidFill>
            <a:prstDash val="solid"/>
          </a:ln>
        </p:spPr>
      </p:sp>
      <p:sp>
        <p:nvSpPr>
          <p:cNvPr id="39" name="Text 32"/>
          <p:cNvSpPr txBox="1"/>
          <p:nvPr/>
        </p:nvSpPr>
        <p:spPr>
          <a:xfrm>
            <a:off x="807232" y="2966981"/>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 </a:t>
            </a:r>
            <a:endParaRPr lang="en-US" sz="650" dirty="0"/>
          </a:p>
        </p:txBody>
      </p:sp>
      <p:sp>
        <p:nvSpPr>
          <p:cNvPr id="40" name="Shape 33"/>
          <p:cNvSpPr/>
          <p:nvPr/>
        </p:nvSpPr>
        <p:spPr>
          <a:xfrm>
            <a:off x="770656" y="3232157"/>
            <a:ext cx="2173712"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770656" y="3232157"/>
            <a:ext cx="217371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Simpan</a:t>
            </a:r>
            <a:endParaRPr lang="en-US" sz="750" dirty="0"/>
          </a:p>
        </p:txBody>
      </p:sp>
      <p:sp>
        <p:nvSpPr>
          <p:cNvPr id="42" name="Text 35"/>
          <p:cNvSpPr txBox="1"/>
          <p:nvPr/>
        </p:nvSpPr>
        <p:spPr>
          <a:xfrm>
            <a:off x="770656" y="3479045"/>
            <a:ext cx="2173712" cy="182880"/>
          </a:xfrm>
          <a:prstGeom prst="rect">
            <a:avLst/>
          </a:prstGeom>
          <a:noFill/>
          <a:ln/>
        </p:spPr>
        <p:txBody>
          <a:bodyPr wrap="square" lIns="0" tIns="0" rIns="0" bIns="0" rtlCol="0" anchor="t"/>
          <a:lstStyle/>
          <a:p>
            <a:pPr indent="0" marL="0">
              <a:buNone/>
            </a:pPr>
            <a:r>
              <a:rPr lang="en-US" sz="650" b="1" dirty="0">
                <a:solidFill>
                  <a:srgbClr val="1F7A5C"/>
                </a:solidFill>
                <a:latin typeface="Arial" pitchFamily="34" charset="0"/>
                <a:ea typeface="Arial" pitchFamily="34" charset="-122"/>
                <a:cs typeface="Arial" pitchFamily="34" charset="-120"/>
              </a:rPr>
              <a:t>Alhamdulillah, tersimpan!</a:t>
            </a:r>
            <a:endParaRPr lang="en-US" sz="650" dirty="0"/>
          </a:p>
        </p:txBody>
      </p:sp>
      <p:sp>
        <p:nvSpPr>
          <p:cNvPr id="43" name="Shape 36"/>
          <p:cNvSpPr/>
          <p:nvPr/>
        </p:nvSpPr>
        <p:spPr>
          <a:xfrm>
            <a:off x="3108960" y="2198885"/>
            <a:ext cx="2320016" cy="1686771"/>
          </a:xfrm>
          <a:prstGeom prst="roundRect">
            <a:avLst>
              <a:gd name="adj" fmla="val 3253"/>
            </a:avLst>
          </a:prstGeom>
          <a:solidFill>
            <a:srgbClr val="FFFFFF"/>
          </a:solidFill>
          <a:ln w="6350">
            <a:solidFill>
              <a:srgbClr val="DDDDDD"/>
            </a:solidFill>
            <a:prstDash val="solid"/>
          </a:ln>
        </p:spPr>
      </p:sp>
      <p:sp>
        <p:nvSpPr>
          <p:cNvPr id="44" name="Text 37"/>
          <p:cNvSpPr txBox="1"/>
          <p:nvPr/>
        </p:nvSpPr>
        <p:spPr>
          <a:xfrm>
            <a:off x="3182112"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Riwayat Setoran</a:t>
            </a:r>
            <a:endParaRPr lang="en-US" sz="800" dirty="0"/>
          </a:p>
        </p:txBody>
      </p:sp>
      <p:sp>
        <p:nvSpPr>
          <p:cNvPr id="45" name="Text 38"/>
          <p:cNvSpPr txBox="1"/>
          <p:nvPr/>
        </p:nvSpPr>
        <p:spPr>
          <a:xfrm>
            <a:off x="3182112" y="2473205"/>
            <a:ext cx="2228576" cy="182880"/>
          </a:xfrm>
          <a:prstGeom prst="rect">
            <a:avLst/>
          </a:prstGeom>
          <a:noFill/>
          <a:ln/>
        </p:spPr>
        <p:txBody>
          <a:bodyPr wrap="square" lIns="0" tIns="0" rIns="0" bIns="0" rtlCol="0" anchor="t"/>
          <a:lstStyle/>
          <a:p>
            <a:pPr indent="0" marL="0">
              <a:buNone/>
            </a:pPr>
            <a:r>
              <a:rPr lang="en-US" sz="650" dirty="0">
                <a:solidFill>
                  <a:srgbClr val="222222"/>
                </a:solidFill>
                <a:latin typeface="Arial" pitchFamily="34" charset="0"/>
                <a:ea typeface="Arial" pitchFamily="34" charset="-122"/>
                <a:cs typeface="Arial" pitchFamily="34" charset="-120"/>
              </a:rPr>
              <a:t>S001   ·   An-Naba   ·   20</a:t>
            </a:r>
            <a:endParaRPr lang="en-US" sz="650" dirty="0"/>
          </a:p>
        </p:txBody>
      </p:sp>
      <p:sp>
        <p:nvSpPr>
          <p:cNvPr id="46" name="Text 39"/>
          <p:cNvSpPr txBox="1"/>
          <p:nvPr/>
        </p:nvSpPr>
        <p:spPr>
          <a:xfrm>
            <a:off x="3182112" y="2674373"/>
            <a:ext cx="2228576" cy="182880"/>
          </a:xfrm>
          <a:prstGeom prst="rect">
            <a:avLst/>
          </a:prstGeom>
          <a:noFill/>
          <a:ln/>
        </p:spPr>
        <p:txBody>
          <a:bodyPr wrap="square" lIns="0" tIns="0" rIns="0" bIns="0" rtlCol="0" anchor="t"/>
          <a:lstStyle/>
          <a:p>
            <a:pPr indent="0" marL="0">
              <a:buNone/>
            </a:pPr>
            <a:r>
              <a:rPr lang="en-US" sz="650" dirty="0">
                <a:solidFill>
                  <a:srgbClr val="222222"/>
                </a:solidFill>
                <a:latin typeface="Arial" pitchFamily="34" charset="0"/>
                <a:ea typeface="Arial" pitchFamily="34" charset="-122"/>
                <a:cs typeface="Arial" pitchFamily="34" charset="-120"/>
              </a:rPr>
              <a:t>S001   ·   Abasa   ·   18</a:t>
            </a:r>
            <a:endParaRPr lang="en-US" sz="650" dirty="0"/>
          </a:p>
        </p:txBody>
      </p:sp>
      <p:sp>
        <p:nvSpPr>
          <p:cNvPr id="47" name="Text 40"/>
          <p:cNvSpPr txBox="1"/>
          <p:nvPr/>
        </p:nvSpPr>
        <p:spPr>
          <a:xfrm>
            <a:off x="3182112" y="2875541"/>
            <a:ext cx="2228576" cy="182880"/>
          </a:xfrm>
          <a:prstGeom prst="rect">
            <a:avLst/>
          </a:prstGeom>
          <a:noFill/>
          <a:ln/>
        </p:spPr>
        <p:txBody>
          <a:bodyPr wrap="square" lIns="0" tIns="0" rIns="0" bIns="0" rtlCol="0" anchor="t"/>
          <a:lstStyle/>
          <a:p>
            <a:pPr indent="0" marL="0">
              <a:buNone/>
            </a:pPr>
            <a:r>
              <a:rPr lang="en-US" sz="650" dirty="0">
                <a:solidFill>
                  <a:srgbClr val="222222"/>
                </a:solidFill>
                <a:latin typeface="Arial" pitchFamily="34" charset="0"/>
                <a:ea typeface="Arial" pitchFamily="34" charset="-122"/>
                <a:cs typeface="Arial" pitchFamily="34" charset="-120"/>
              </a:rPr>
              <a:t>Total S001: 38 ayat</a:t>
            </a:r>
            <a:endParaRPr lang="en-US" sz="650" dirty="0"/>
          </a:p>
        </p:txBody>
      </p:sp>
      <p:sp>
        <p:nvSpPr>
          <p:cNvPr id="48" name="Shape 41"/>
          <p:cNvSpPr/>
          <p:nvPr/>
        </p:nvSpPr>
        <p:spPr>
          <a:xfrm>
            <a:off x="3044952" y="2134877"/>
            <a:ext cx="2448032" cy="1814787"/>
          </a:xfrm>
          <a:prstGeom prst="roundRect">
            <a:avLst>
              <a:gd name="adj" fmla="val 2519"/>
            </a:avLst>
          </a:prstGeom>
          <a:solidFill>
            <a:srgbClr val="FFFFFF">
              <a:alpha val="0"/>
            </a:srgbClr>
          </a:solidFill>
          <a:ln w="31750">
            <a:solidFill>
              <a:srgbClr val="E53935"/>
            </a:solidFill>
            <a:prstDash val="solid"/>
          </a:ln>
        </p:spPr>
      </p:sp>
      <p:sp>
        <p:nvSpPr>
          <p:cNvPr id="49" name="Shape 42"/>
          <p:cNvSpPr/>
          <p:nvPr/>
        </p:nvSpPr>
        <p:spPr>
          <a:xfrm>
            <a:off x="5355824" y="1997717"/>
            <a:ext cx="274320" cy="274320"/>
          </a:xfrm>
          <a:prstGeom prst="ellipse">
            <a:avLst/>
          </a:prstGeom>
          <a:solidFill>
            <a:srgbClr val="E53935"/>
          </a:solidFill>
          <a:ln w="12700">
            <a:solidFill>
              <a:srgbClr val="FFFFFF"/>
            </a:solidFill>
            <a:prstDash val="solid"/>
          </a:ln>
        </p:spPr>
      </p:sp>
      <p:sp>
        <p:nvSpPr>
          <p:cNvPr id="50" name="Text 43"/>
          <p:cNvSpPr txBox="1"/>
          <p:nvPr/>
        </p:nvSpPr>
        <p:spPr>
          <a:xfrm>
            <a:off x="5355824"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1" name="Image 5" descr="preencoded.png">    </p:cNvPr>
          <p:cNvPicPr>
            <a:picLocks noChangeAspect="1"/>
          </p:cNvPicPr>
          <p:nvPr/>
        </p:nvPicPr>
        <p:blipFill>
          <a:blip r:embed="rId6"/>
          <a:stretch>
            <a:fillRect/>
          </a:stretch>
        </p:blipFill>
        <p:spPr>
          <a:xfrm>
            <a:off x="4389541" y="3131181"/>
            <a:ext cx="237744" cy="237744"/>
          </a:xfrm>
          <a:prstGeom prst="rect">
            <a:avLst/>
          </a:prstGeom>
        </p:spPr>
      </p:pic>
      <p:sp>
        <p:nvSpPr>
          <p:cNvPr id="52"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3"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Tampilkan data sesuai kebutuhan pengguna</a:t>
            </a:r>
            <a:endParaRPr lang="en-US" sz="1800" dirty="0"/>
          </a:p>
        </p:txBody>
      </p:sp>
      <p:sp>
        <p:nvSpPr>
          <p:cNvPr id="54"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Selain riwayat, tampilkan 1 informasi berguna dari data, misalnya total ayat pekan ini atau status target. Minta bantuan AI dengan penjelasan.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Uji_Keamanan_Kel3 -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Uji_Keamanan_Kel3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Uji Fungsi dan Keamanan</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Uji</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Harapan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S001, An-Naba, 20</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Tersimpan</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 500</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Ditolak</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kosong</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Ditolak</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 &lt;b&gt;aneh&lt;/b&gt;</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Tampil sebagai teks</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OK</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keamanan dan fungsi</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Uji: data normal, ayat 500, kode kosong, teks &lt;b&gt;aneh&lt;/b&gt; di surat. Pastikan semua sesuai harapan. Isi daftar periksa keamanan.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Terbit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Catatan Setoran (latihan)</a:t>
            </a:r>
            <a:endParaRPr lang="en-US" sz="1100" dirty="0"/>
          </a:p>
        </p:txBody>
      </p:sp>
      <p:sp>
        <p:nvSpPr>
          <p:cNvPr id="32" name="Shape 25"/>
          <p:cNvSpPr/>
          <p:nvPr/>
        </p:nvSpPr>
        <p:spPr>
          <a:xfrm>
            <a:off x="697504" y="2198885"/>
            <a:ext cx="2320016" cy="1686771"/>
          </a:xfrm>
          <a:prstGeom prst="roundRect">
            <a:avLst>
              <a:gd name="adj" fmla="val 3253"/>
            </a:avLst>
          </a:prstGeom>
          <a:solidFill>
            <a:srgbClr val="FFFFFF"/>
          </a:solidFill>
          <a:ln w="6350">
            <a:solidFill>
              <a:srgbClr val="DDDDDD"/>
            </a:solidFill>
            <a:prstDash val="solid"/>
          </a:ln>
        </p:spPr>
      </p:sp>
      <p:sp>
        <p:nvSpPr>
          <p:cNvPr id="33" name="Text 26"/>
          <p:cNvSpPr txBox="1"/>
          <p:nvPr/>
        </p:nvSpPr>
        <p:spPr>
          <a:xfrm>
            <a:off x="770656"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Tambah Setoran</a:t>
            </a:r>
            <a:endParaRPr lang="en-US" sz="800" dirty="0"/>
          </a:p>
        </p:txBody>
      </p:sp>
      <p:sp>
        <p:nvSpPr>
          <p:cNvPr id="34" name="Shape 27"/>
          <p:cNvSpPr/>
          <p:nvPr/>
        </p:nvSpPr>
        <p:spPr>
          <a:xfrm>
            <a:off x="770656" y="2473205"/>
            <a:ext cx="2173712" cy="201168"/>
          </a:xfrm>
          <a:prstGeom prst="rect">
            <a:avLst/>
          </a:prstGeom>
          <a:solidFill>
            <a:srgbClr val="FFFFFF"/>
          </a:solidFill>
          <a:ln w="6350">
            <a:solidFill>
              <a:srgbClr val="999999"/>
            </a:solidFill>
            <a:prstDash val="solid"/>
          </a:ln>
        </p:spPr>
      </p:sp>
      <p:sp>
        <p:nvSpPr>
          <p:cNvPr id="35" name="Text 28"/>
          <p:cNvSpPr txBox="1"/>
          <p:nvPr/>
        </p:nvSpPr>
        <p:spPr>
          <a:xfrm>
            <a:off x="807232" y="2473205"/>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 S002</a:t>
            </a:r>
            <a:endParaRPr lang="en-US" sz="650" dirty="0"/>
          </a:p>
        </p:txBody>
      </p:sp>
      <p:sp>
        <p:nvSpPr>
          <p:cNvPr id="36" name="Shape 29"/>
          <p:cNvSpPr/>
          <p:nvPr/>
        </p:nvSpPr>
        <p:spPr>
          <a:xfrm>
            <a:off x="770656" y="2720093"/>
            <a:ext cx="2173712" cy="201168"/>
          </a:xfrm>
          <a:prstGeom prst="rect">
            <a:avLst/>
          </a:prstGeom>
          <a:solidFill>
            <a:srgbClr val="FFFFFF"/>
          </a:solidFill>
          <a:ln w="6350">
            <a:solidFill>
              <a:srgbClr val="999999"/>
            </a:solidFill>
            <a:prstDash val="solid"/>
          </a:ln>
        </p:spPr>
      </p:sp>
      <p:sp>
        <p:nvSpPr>
          <p:cNvPr id="37" name="Text 30"/>
          <p:cNvSpPr txBox="1"/>
          <p:nvPr/>
        </p:nvSpPr>
        <p:spPr>
          <a:xfrm>
            <a:off x="807232" y="2720093"/>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Surat: Al-Mulk</a:t>
            </a:r>
            <a:endParaRPr lang="en-US" sz="650" dirty="0"/>
          </a:p>
        </p:txBody>
      </p:sp>
      <p:sp>
        <p:nvSpPr>
          <p:cNvPr id="38" name="Shape 31"/>
          <p:cNvSpPr/>
          <p:nvPr/>
        </p:nvSpPr>
        <p:spPr>
          <a:xfrm>
            <a:off x="770656" y="2966981"/>
            <a:ext cx="2173712" cy="201168"/>
          </a:xfrm>
          <a:prstGeom prst="rect">
            <a:avLst/>
          </a:prstGeom>
          <a:solidFill>
            <a:srgbClr val="FFFFFF"/>
          </a:solidFill>
          <a:ln w="6350">
            <a:solidFill>
              <a:srgbClr val="999999"/>
            </a:solidFill>
            <a:prstDash val="solid"/>
          </a:ln>
        </p:spPr>
      </p:sp>
      <p:sp>
        <p:nvSpPr>
          <p:cNvPr id="39" name="Text 32"/>
          <p:cNvSpPr txBox="1"/>
          <p:nvPr/>
        </p:nvSpPr>
        <p:spPr>
          <a:xfrm>
            <a:off x="807232" y="2966981"/>
            <a:ext cx="2137136" cy="201168"/>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 12</a:t>
            </a:r>
            <a:endParaRPr lang="en-US" sz="650" dirty="0"/>
          </a:p>
        </p:txBody>
      </p:sp>
      <p:sp>
        <p:nvSpPr>
          <p:cNvPr id="40" name="Shape 33"/>
          <p:cNvSpPr/>
          <p:nvPr/>
        </p:nvSpPr>
        <p:spPr>
          <a:xfrm>
            <a:off x="770656" y="3232157"/>
            <a:ext cx="2173712" cy="219456"/>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770656" y="3232157"/>
            <a:ext cx="2173712"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Simpan</a:t>
            </a:r>
            <a:endParaRPr lang="en-US" sz="750" dirty="0"/>
          </a:p>
        </p:txBody>
      </p:sp>
      <p:sp>
        <p:nvSpPr>
          <p:cNvPr id="42" name="Text 35"/>
          <p:cNvSpPr txBox="1"/>
          <p:nvPr/>
        </p:nvSpPr>
        <p:spPr>
          <a:xfrm>
            <a:off x="770656" y="3479045"/>
            <a:ext cx="2173712" cy="182880"/>
          </a:xfrm>
          <a:prstGeom prst="rect">
            <a:avLst/>
          </a:prstGeom>
          <a:noFill/>
          <a:ln/>
        </p:spPr>
        <p:txBody>
          <a:bodyPr wrap="square" lIns="0" tIns="0" rIns="0" bIns="0" rtlCol="0" anchor="t"/>
          <a:lstStyle/>
          <a:p>
            <a:pPr indent="0" marL="0">
              <a:buNone/>
            </a:pPr>
            <a:r>
              <a:rPr lang="en-US" sz="650" b="1" dirty="0">
                <a:solidFill>
                  <a:srgbClr val="1F7A5C"/>
                </a:solidFill>
                <a:latin typeface="Arial" pitchFamily="34" charset="0"/>
                <a:ea typeface="Arial" pitchFamily="34" charset="-122"/>
                <a:cs typeface="Arial" pitchFamily="34" charset="-120"/>
              </a:rPr>
              <a:t>Alhamdulillah, tersimpan!</a:t>
            </a:r>
            <a:endParaRPr lang="en-US" sz="650" dirty="0"/>
          </a:p>
        </p:txBody>
      </p:sp>
      <p:sp>
        <p:nvSpPr>
          <p:cNvPr id="43" name="Shape 36"/>
          <p:cNvSpPr/>
          <p:nvPr/>
        </p:nvSpPr>
        <p:spPr>
          <a:xfrm>
            <a:off x="3108960" y="2198885"/>
            <a:ext cx="2320016" cy="1686771"/>
          </a:xfrm>
          <a:prstGeom prst="roundRect">
            <a:avLst>
              <a:gd name="adj" fmla="val 3253"/>
            </a:avLst>
          </a:prstGeom>
          <a:solidFill>
            <a:srgbClr val="FFFFFF"/>
          </a:solidFill>
          <a:ln w="6350">
            <a:solidFill>
              <a:srgbClr val="DDDDDD"/>
            </a:solidFill>
            <a:prstDash val="solid"/>
          </a:ln>
        </p:spPr>
      </p:sp>
      <p:sp>
        <p:nvSpPr>
          <p:cNvPr id="44" name="Text 37"/>
          <p:cNvSpPr txBox="1"/>
          <p:nvPr/>
        </p:nvSpPr>
        <p:spPr>
          <a:xfrm>
            <a:off x="3182112" y="2226317"/>
            <a:ext cx="2320016" cy="201168"/>
          </a:xfrm>
          <a:prstGeom prst="rect">
            <a:avLst/>
          </a:prstGeom>
          <a:noFill/>
          <a:ln/>
        </p:spPr>
        <p:txBody>
          <a:bodyPr wrap="square" lIns="0" tIns="0" rIns="0" bIns="0" rtlCol="0" anchor="t"/>
          <a:lstStyle/>
          <a:p>
            <a:pPr indent="0" marL="0">
              <a:buNone/>
            </a:pPr>
            <a:r>
              <a:rPr lang="en-US" sz="800" b="1" dirty="0">
                <a:solidFill>
                  <a:srgbClr val="1E2A26"/>
                </a:solidFill>
                <a:latin typeface="Arial" pitchFamily="34" charset="0"/>
                <a:ea typeface="Arial" pitchFamily="34" charset="-122"/>
                <a:cs typeface="Arial" pitchFamily="34" charset="-120"/>
              </a:rPr>
              <a:t>Riwayat Setoran</a:t>
            </a:r>
            <a:endParaRPr lang="en-US" sz="800" dirty="0"/>
          </a:p>
        </p:txBody>
      </p:sp>
      <p:sp>
        <p:nvSpPr>
          <p:cNvPr id="45" name="Text 38"/>
          <p:cNvSpPr txBox="1"/>
          <p:nvPr/>
        </p:nvSpPr>
        <p:spPr>
          <a:xfrm>
            <a:off x="3182112" y="2473205"/>
            <a:ext cx="2228576" cy="182880"/>
          </a:xfrm>
          <a:prstGeom prst="rect">
            <a:avLst/>
          </a:prstGeom>
          <a:noFill/>
          <a:ln/>
        </p:spPr>
        <p:txBody>
          <a:bodyPr wrap="square" lIns="0" tIns="0" rIns="0" bIns="0" rtlCol="0" anchor="t"/>
          <a:lstStyle/>
          <a:p>
            <a:pPr indent="0" marL="0">
              <a:buNone/>
            </a:pPr>
            <a:r>
              <a:rPr lang="en-US" sz="650" b="1" dirty="0">
                <a:solidFill>
                  <a:srgbClr val="1F7A5C"/>
                </a:solidFill>
                <a:latin typeface="Arial" pitchFamily="34" charset="0"/>
                <a:ea typeface="Arial" pitchFamily="34" charset="-122"/>
                <a:cs typeface="Arial" pitchFamily="34" charset="-120"/>
              </a:rPr>
              <a:t>S002   ·   Al-Mulk   ·   12</a:t>
            </a:r>
            <a:endParaRPr lang="en-US" sz="650" dirty="0"/>
          </a:p>
        </p:txBody>
      </p:sp>
      <p:sp>
        <p:nvSpPr>
          <p:cNvPr id="46" name="Text 39"/>
          <p:cNvSpPr txBox="1"/>
          <p:nvPr/>
        </p:nvSpPr>
        <p:spPr>
          <a:xfrm>
            <a:off x="3182112" y="2674373"/>
            <a:ext cx="2228576" cy="182880"/>
          </a:xfrm>
          <a:prstGeom prst="rect">
            <a:avLst/>
          </a:prstGeom>
          <a:noFill/>
          <a:ln/>
        </p:spPr>
        <p:txBody>
          <a:bodyPr wrap="square" lIns="0" tIns="0" rIns="0" bIns="0" rtlCol="0" anchor="t"/>
          <a:lstStyle/>
          <a:p>
            <a:pPr indent="0" marL="0">
              <a:buNone/>
            </a:pPr>
            <a:r>
              <a:rPr lang="en-US" sz="650" dirty="0">
                <a:solidFill>
                  <a:srgbClr val="222222"/>
                </a:solidFill>
                <a:latin typeface="Arial" pitchFamily="34" charset="0"/>
                <a:ea typeface="Arial" pitchFamily="34" charset="-122"/>
                <a:cs typeface="Arial" pitchFamily="34" charset="-120"/>
              </a:rPr>
              <a:t>S001   ·   An-Naba   ·   20</a:t>
            </a:r>
            <a:endParaRPr lang="en-US" sz="650" dirty="0"/>
          </a:p>
        </p:txBody>
      </p:sp>
      <p:sp>
        <p:nvSpPr>
          <p:cNvPr id="47" name="Shape 40"/>
          <p:cNvSpPr/>
          <p:nvPr/>
        </p:nvSpPr>
        <p:spPr>
          <a:xfrm>
            <a:off x="633496" y="1695965"/>
            <a:ext cx="4859487" cy="2281131"/>
          </a:xfrm>
          <a:prstGeom prst="roundRect">
            <a:avLst>
              <a:gd name="adj" fmla="val 2004"/>
            </a:avLst>
          </a:prstGeom>
          <a:solidFill>
            <a:srgbClr val="FFFFFF">
              <a:alpha val="0"/>
            </a:srgbClr>
          </a:solidFill>
          <a:ln w="31750">
            <a:solidFill>
              <a:srgbClr val="E53935"/>
            </a:solidFill>
            <a:prstDash val="solid"/>
          </a:ln>
        </p:spPr>
      </p:sp>
      <p:sp>
        <p:nvSpPr>
          <p:cNvPr id="48" name="Shape 41"/>
          <p:cNvSpPr/>
          <p:nvPr/>
        </p:nvSpPr>
        <p:spPr>
          <a:xfrm>
            <a:off x="5355824" y="1558805"/>
            <a:ext cx="274320" cy="274320"/>
          </a:xfrm>
          <a:prstGeom prst="ellipse">
            <a:avLst/>
          </a:prstGeom>
          <a:solidFill>
            <a:srgbClr val="E53935"/>
          </a:solidFill>
          <a:ln w="12700">
            <a:solidFill>
              <a:srgbClr val="FFFFFF"/>
            </a:solidFill>
            <a:prstDash val="solid"/>
          </a:ln>
        </p:spPr>
      </p:sp>
      <p:sp>
        <p:nvSpPr>
          <p:cNvPr id="49" name="Text 42"/>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1"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Commit, terbitkan, presentasikan</a:t>
            </a:r>
            <a:endParaRPr lang="en-US" sz="1800" dirty="0"/>
          </a:p>
        </p:txBody>
      </p:sp>
      <p:sp>
        <p:nvSpPr>
          <p:cNvPr id="52"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Upload ke GitHub (Web app URL boleh di kode, tetapi jangan disebar ke grup). Commit: "Versi 3: tersambung Google Sheets". Demo dari HP.</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Formulir Web Tersambung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Aplikasi kelompok versi 3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Formulir aplikasi menyimpan data ke Sheets lewat doPost dengan validasi.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Data tampil kembali di aplikasi (riwayat dan 1 informasi berguna).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Lolos uji fungsi dan keamanan; hanya data latihan dengan kode.</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Online di GitHub Pages, di-commit, dan didemokan dari HP.</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8: Sheets sebagai Backend · Pertemuan 24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Aplikasi menyimpan ke Sheets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Data tampil kembali di web</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Lolos daftar keamanan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Online di GitHub Pages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perubahan terbesar aplikasimu setelah tersambung database?</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risiko keamanan yang kamu waspadai?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Kemampuan mengelola data orang adalah amanah besar. Gunakan hanya untuk kebaikan.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9: AI-Assisted Development.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8 - Sheets sebagai Backend</dc:title>
  <dc:subject>PptxGenJS Presentation</dc:subject>
  <dc:creator>PptxGenJS</dc:creator>
  <cp:lastModifiedBy>PptxGenJS</cp:lastModifiedBy>
  <cp:revision>1</cp:revision>
  <dcterms:created xsi:type="dcterms:W3CDTF">2026-10-02T08:42:41Z</dcterms:created>
  <dcterms:modified xsi:type="dcterms:W3CDTF">2026-10-02T08:42:41Z</dcterms:modified>
</cp:coreProperties>
</file>