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9: AI-Assisted Development — Proyek: Prototype Fitur Aplikasi
Terdiri dari 3 pertemuan (Pertemuan 25–27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merangkum seluruh keterampilan Kelas IX dalam satu siklus: ide → prompt → kode → tes → debug → perbaiki. Setiap kelompok menambah SATU fitur baru pada aplikasi proyeknya.
- AI tetap dipakai bergiliran dengan akun pondok di bawah pengawasan guru. Guru dapat memeriksa riwayat obrolan.
- Fokus penilaian bukan pada kecanggihan fitur, tetapi pada PROSES: user story jelas, test case dibuat SEBELUM kode, kode ditinjau dan dipahami, serta perubahan dicatat (commit dan changelog).
- Guru cukup memakai lembar cek di slide (code review checklist dan tabel test case); tidak perlu memeriksa setiap baris kode.
CATATAN
Istilah: user story (cerita kebutuhan pengguna: Sebagai ..., saya ingin ..., agar ...), acceptance criteria (kriteria penerimaan: syarat fitur dianggap selesai), test case (kasus uji: masukan dan hasil yang diharapkan), code review (meninjau kode sebelum dipakai), refactor (merapikan kode tanpa mengubah fungsinya), changelog (catatan perubahan per versi).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ke-25, dengan judul "Siklus Pengembangan dengan AI". Kita belajar cara para programmer profesional bekerja bersama AI.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aplikasi kelompok kalian sudah bisa menyimpan data. Selama Kelas IX, kalian sudah memakai AI untuk menjelaskan, membuat kerangka, dan mencari bug. Hari ini kita menyatukan semuanya dalam satu cara kerja yang teratur.
Sekarang pertanyaan hari ini. Coba pikirkan sejenak:
"Bagaimana para programmer di perusahaan besar memakai AI tanpa membuat aplikasi mereka berantakan?"
(Beri waktu 1 menit. Minta 2–3 santri menjawab. Hargai semua jawaban.)
Mereka mengikuti SIKLUS yang teratur: merumuskan kebutuhan dengan jelas, meminta AI membantu, lalu menguji dan meninjau setiap kode sebelum dipakai. AI mempercepat pekerjaan, tetapi manusialah yang bertanggung jawab atas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siklus pengembangan berbantuan AI yang dipakai sesuai pedoman kita: ide, prompt, kode, tes, debug, perbaiki, lalu kembali lagi untuk fitur berikutnya.
IDE: dirumuskan sebagai user story dengan kriteria penerimaan. Kita pelajari hari ini.
PROMPT: dengan lima komponen, disertai kode yang sudah ada.
KODE: dipahami dulu, baru dipakai.
TES: kasus uji dibuat SEBELUM kode, agar kita tahu apa artinya "berhasil".
DEBUG DAN PERBAIKI: kode ditinjau, diperbaiki, lalu disimpan dengan commit dan catatan perubahan.
Tanda panah melingkar di tengah menunjukkan siklus ini berulang. Aplikasi besar dibangun dari banyak putaran kecil seperti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dirumuskan dengan USER STORY, yaitu cerita kebutuhan pengguna dalam satu kalimat dengan tiga bagian.
Merah, SEBAGAI siapa: santri.
Biru, SAYA INGIN apa: melihat total ayat yang saya setor pekan ini.
Hijau, AGAR apa manfaatnya: saya tahu apakah target tercapai.
User story memaksa kita berpikir dari sisi pengguna, bukan sekadar "fitur keren". Setiap fitur harus punya alasan yang jelas.
Satu user story adalah satu fitur kecil yang bisa selesai dalam satu sampai dua pertemuan. Jika terlalu besar, pecah menjadi beberapa user story. Ingat dekomposisi di Modul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user story dilengkapi KRITERIA PENERIMAAN, yaitu syarat-syarat yang harus terpenuhi agar fitur dianggap selesai.
Contoh untuk fitur total pekanan:
Satu, santri mengetik kode, klik Cek Total, lalu muncul total ayat tujuh hari terakhir.
Dua, jika total lebih dari atau sama dengan target, muncul pesan masya Allah, target tercapai.
Tiga, jika kode kosong atau tidak ditemukan, muncul pesan yang jelas, bukan error.
Kriteria ini nanti menjadi dasar test case. Tanpa kriteria, kita tidak tahu kapan fitur benar-benar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menambah SATU fitur baru pada aplikasi proyek. Buka proposal, terutama daftar fitur yang ditandai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tabel fitur di proposal kelompok dari Modul 2. Fitur bertanda WAJIB sebagian besar sudah dibuat. Pilih satu fitur bertanda NANTI yang paling bermanfaat bagi pengguna dan cukup kecil untuk dua pertemuan.
Contoh: total dan status setoran pekan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Buat dokumen baru Rancangan Fitur kelompok. Tulis user story dengan tiga bagian: sebagai siapa, saya ingin apa, agar apa.
Gunakan kata-kata pengguna dari wawancara di Modul 2 jika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Tulis tiga sampai empat kriteria penerimaan. Pastikan minimal satu kriteria untuk keadaan tidak normal: isian kosong, kode tidak ditemukan, atau angka aneh. Pengalaman di Modul 5 dan 6 mengajarkan bahwa bug sering bersembunyi di keadaan seperti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Susun prompt dengan lima komponen. Sertakan user story, kriteria penerimaan, dan bagian kode yang sudah ada, misalnya fungsi muatData. Tambahkan batasan: JavaScript sederhana dan beri komentar.
Perhatikan baris tebal: JANGAN langsung beri kode, jelaskan dulu rencananya langkah demi langkah. Ini teknik penting. Dengan melihat rencana dulu, kita bisa memeriksa apakah AI memahami kebutuhan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Petugas kelompok mengirim prompt pada gilirannya. AI menjelaskan rencana langkah demi langkah: menambah input dan tombol, membuat fungsi cekTotal, menyaring data kode tertentu dalam tujuh hari terakhir, menjumlahkan ayat, lalu membandingkan dengan target.
Perhatikan, AI bahkan bertanya balik: apakah rencana ini sesuai? Catat rencana di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Periksa rencana AI dengan kriteria penerimaan dalam tabel. Untuk setiap kriteria: apakah ada di rencana?
Contoh di layar: kriteria keempat, kode tidak ditemukan, belum ada di rencana. Pada giliran berikutnya, minta AI menambahkannya ke rencana.
Inilah peran kita sebagai pengembang: AI membantu, tetapi kita yang memastikan semua kebutuhan terpenuhi.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Rancangan Fitur berisi: user story, kriteria penerimaan, prompt dan rencana dari AI, serta tabel pemeriksaan rencana.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user story lengkap 3 bagian?
- minimal 3 kriteria penerimaan?
- prompt memuat kode yang ada dan batasan?
- aI diminta rencana, bukan langsung kode?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fitur harus dirumuskan sebelum meminta kode?
Pertanyaan kedua: siapa pengguna fitur kelompokmu?
(Minta 2–3 santri menjawab secara bergantian.)
Pesan adab kita hari ini: niat dan rencana yang jelas sebelum beramal membuat amal terarah dan bernilai. Sesungguhnya setiap amal tergantung niatnya; dan pekerjaan yang direncanakan dengan baik akan lebih mudah diselesaikan.
Pekan depan: test case dan code review.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ke-26, dengan judul "Test Case &amp; Code Review". Kita belajar memastikan kode dari AI benar, aman, dan dipahami sebelum dipakai.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menulis user story dan meminta rencana dari AI. Siapa yang ingat tiga bagian user story?
(Tunggu jawaban: sebagai siapa, saya ingin apa, agar apa.)
Sekarang pertanyaan hari ini. Coba pikirkan sejenak:
"Kode dari AI terlihat rapi. Bagaimana kita yakin kode itu benar dan aman?"
(Beri waktu 1 menit. Minta 2–3 santri menjawab. Hargai semua jawaban.)
Kode yang terlihat rapi belum tentu benar. Para programmer memakai dua cara: TEST CASE, yaitu menguji dengan contoh-contoh yang sudah disiapkan, dan CODE REVIEW, yaitu membaca dan menilai kode sebelum dipakai. Hari ini kita melakukan keduanya.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CASE atau kasus uji adalah daftar contoh masukan beserta hasil yang diharapkan. Perhatikan tabel di layar.
Test case 1: kode S001 dengan total 38 ayat. Harapannya: total 38 ayat, semangat, 62 ayat lagi.
Test case 2: S003 dengan total 105. Harapannya: target tercapai.
Test case 3: isian kosong. Harapannya: isi kode santri dulu.
Test case 4: S099 yang tidak ada. Harapannya: kode tidak ditemukan.
Kolom terakhir menunjukkan kriteria penerimaan mana yang diuji. Yang paling penting: test case dibuat SEBELUM melihat kode, berdasarkan kriteria. Jadi kita menguji apakah kebutuhan pengguna terpenuhi, bukan sekadar menguji apa yang kebetulan dibuat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REVIEW artinya meninjau kode sebelum dipakai. Di perusahaan besar, setiap kode dibaca oleh programmer lain sebelum digabungkan. Kita memakai empat pertanyaan.
PAHAM? Setiap anggota kelompok bisa menjelaskan setiap baris. Baris yang belum dipahami: tanyakan dulu, jangan dipakai.
SESUAI? Kode hanya mengerjakan yang diminta, tidak mengubah bagian lain yang sudah benar. AI kadang "terlalu rajin" mengubah hal lain.
AMAN? Tanpa data pribadi, menampilkan dengan textContent, dan ada validasi input.
SEDERHANA DAN RAPI? Nama variabel jelas, ada komentar, dan tidak ada kode yang tidak terpakai.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dokumen Rancangan Fitur dari pekan lalu dan aplikasi proyek versi 3. Sebelum mengubah file, buat salinan cadangan index.html, seperti di Modul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Google Sheets, siapkan data uji latihan agar setiap test case bisa diuji: misalnya S001 dengan total 38 ayat yang belum mencapai target, dan S003 dengan total 105 yang sudah mencapai target. Tanggalnya dalam tujuh hari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Tulis tabel test case di Docs, berdasarkan kriteria penerimaan: masukan, hasil yang diharapkan, kriteria yang diuji, dan kolom hasil sebenarnya yang dikosongkan dulu.
Ingat: tulis ini SEBELUM meminta kode dari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Pada giliran kelompok, lanjutkan percakapan dengan AI: rencana sudah sesuai, tambahkan penanganan kode tidak ditemukan, sekarang beri kodenya, ubah hanya bagian yang perlu, dan beri komentar.
Salin kode ke Docs, belum ke file aplikasi. Kode belum boleh dipakai sebelum ditinjau.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Lakukan code review. Bacakan kode baris demi baris di kelompok, lalu isi tabel dengan empat pertanyaan: paham, sesuai, aman, dan sederhana.
Contoh temuan di layar: bagian filter dan tanda panah sama dengan lebih dari belum dipahami. Maka sebelum dipakai, tanyakan kepada AI: jelaskan baris ini dengan bahasa sederhana. Setelah dipahami, baru kode boleh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Setelah ditinjau, pasang kode ke index.html. Jalankan setiap test case satu per satu, dan isi kolom hasil: lulus atau gagal.
Contoh di layar: test case keempat, kode S099 yang tidak ada. Harapannya muncul "Kode tidak ditemukan". Tetapi yang muncul: total 0 ayat, semangat 100 ayat lagi. Test case GAGAL!
Inilah gunanya test case: menemukan masalah yang tidak terlihat jika hanya mencoba data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Debug test case yang gagal dengan lima langkah dari Modul 5. Penyebabnya: kode tidak memeriksa apakah santri dengan kode itu ada sama sekali.
Perbaikannya, seperti di layar: setelah menyaring data berdasarkan kode, periksa: jika jumlahnya 0, tampilkan "Kode tidak ditemukan" dan berhenti.
Setelah memperbaiki, jalankan ULANG SEMUA test case, bukan hanya yang gagal. Kadang perbaikan satu hal merusak hal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Jika semua test case lulus, unggah ke GitHub dengan pesan commit yang jelas, misalnya: Tambah fitur total pekanan, empat dari empat test case lulus.
Perhatikan riwayat commit: versi 2, versi 3, lalu fitur baru. Riwayat ini menceritakan perjalanan aplikasi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Rancangan Fitur ditambah: tabel test case dengan hasilnya, tabel code review, catatan bug dan perbaikannya, serta commit fitur di GitHub.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test case dibuat sebelum kode?
- semua test case dijalankan?
- code review checklist terisi?
- temuan diperbaiki?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test case mana yang menemukan masalah?
Pertanyaan kedua: apa yang kamu temukan saat code review?
(Minta 2–3 santri menjawab secara bergantian.)
Pesan adab kita hari ini: periksalah dengan teliti sebelum menerima dan menyampaikan. Allah memerintahkan tabayyun: memeriksa kebenaran berita sebelum mempercayainya. Dalam pekerjaan, tabayyun berarti menguji sebelum memakai.
Pekan depan: proyek Prototype Fitur Aplikasi.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ke-27, dengan judul "Prototype Fitur Aplikasi". Hari ini setiap kelompok merilis fitur baru, lengkap dengan catatan dan presentasinya.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menguji dan meninjau kode. Siapa yang ingat, mengapa test case harus dibuat sebelum melihat kode?
(Tunggu jawaban: agar yang diuji adalah kebutuhan pengguna, bukan sekadar apa yang dibuat AI.)
Sekarang pertanyaan hari ini. Coba pikirkan sejenak:
"Bagaimana pengguna tahu ada fitur baru di aplikasi, dan apa saja yang berubah?"
(Beri waktu 1 menit. Minta 2–3 santri menjawab. Hargai semua jawaban.)
Aplikasi profesional memiliki CHANGELOG, yaitu catatan perubahan setiap versi. Seperti catatan pembaruan di aplikasi HP kalian. Hari ini kita menyempurnakan fitur, mengujinya bersama pengguna, menulis changelog, lalu merilisnya.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CHANGELOG adalah catatan perubahan setiap versi aplikasi. Biasanya ditulis di README atau file tersendiri dengan format Markdown dari Kelas VIII.
Perhatikan contoh di layar. Setiap versi diberi nomor dan tanggal. Di bawahnya daftar perubahan dengan label: BARU untuk fitur yang ditambahkan, dan PERBAIKAN untuk bug yang diperbaiki.
Versi terbaru selalu ditulis paling atas. Dengan changelog, pengguna dan anggota tim tahu persis apa yang berubah dan kapan.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Presentasi fitur berlangsung empat menit dengan empat bagian.
USER STORY: siapa pengguna dan apa kebutuhannya.
DEMO: tunjukkan fitur bekerja, termasuk keadaan tidak normal seperti kode kosong.
BUKTI KUALITAS: tabel test case, hasil code review, dan bug yang ditemukan.
PERAN AI: jujur menjelaskan bagian mana yang dibantu AI, bagian mana yang dibuat atau diubah sendiri, dan apa yang dipelajari.
Bagian keempat ini penting. Memakai AI bukan hal yang memalukan, tetapi menyembunyikannya adalah ketidakjujuran.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Fitur sudah lulus test case. Hari ini kita uji bersama pengguna nyata, sempurnakan, catat, dan 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Uji dengan pengguna nyata, misalnya dua santri dari kelompok atau kelas lain. Berikan tugas: cek total setoranmu pekan ini, dengan kode latihan S001.
Amati tanpa membantu, seperti di Kelas VIII Modul 12. Catat di mana mereka bingung.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Tulis semua masukan dalam tabel, beri prioritas, dan tentukan tindakannya. Pilih satu atau dua perbaikan yang paling penting dan cukup kecil untuk hari ini.
Contoh: pengguna bertanya kode santri itu apa. Tindakannya: tambah petunjuk di kolom isian.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Lakukan perbaikan. Jika memakai AI, tetap lakukan code review. Setelah memperbaiki, jalankan ULANG semua test case, lalu commit dengan pesan jelas.
Inilah siklus yang berulang: masukan, perbaiki, uji, simpan.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Edit README.md di GitHub. Tambahkan bagian dua pagar Catatan Perubahan, lalu versi dan tanggal dengan tiga pagar. Di bawahnya daftar perubahan dengan label Baru dan Perbaikan.
Commit dengan pesan: Tambah changelog versi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Tulis dengan jujur peran AI dalam fitur ini: bagian mana yang dibantu AI, bagian mana yang dibuat atau diubah sendiri, dan apa yang kalian pelajari.
Kejujuran ini sesuai aturan pemakaian AI di pondok kita, dan akan menjadi bagian penilaian.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mempresentasikan fiturnya selama empat menit: user story, demo termasuk keadaan tidak normal, bukti kualitas berupa test case dan code review, serta peran AI.
Kelompok lain memberi satu pujian dan satu saran.
(Nilai dengan rubrik proyek. Perhatikan terutama kualitas proses: test case, code review, dan kejujuran tentang peran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user story, kriteria, dan test case lengkap; fitur lulus semua test case setelah uji pengguna; code review terisi dan peran AI dicatat dengan jujur; serta changelog di README, online, dan dipresentasikan.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fitur lulus semua test case?
- diuji pengguna nyata?
- changelog dan README diperbarui?
- dipresentasikan dengan demo?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tahap mana dari siklus yang paling membantumu?
Pertanyaan kedua: apa bedanya kode yang diuji dan yang tidak?
(Minta 2–3 santri menjawab secara bergantian.)
Pesan adab kita hari ini: jujurlah dalam melaporkan: sebutkan bantuan AI dan keterbatasan fitur apa adanya. Kejujuran membuat orang lain percaya kepada karya kita, dan Allah mencintai orang-orang yang jujur.
Pekan depan: kita masuk Modul 10: UI/UX Dasar. Alhamdulillah, Modul 9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1.xml"/><Relationship Id="rId1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2  ·  MODUL 9</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AI-Assisted Development</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Prototype Fitur Aplikasi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menjalankan siklus pengembangan perangkat lunak berbantuan AI secara utuh: merumuskan fitur sebagai user story dengan kriteria penerimaan, meminta dan menilai kode AI, menguji dengan test case, meninjau kode (code review), memperbaiki, lalu merilis fitur baru.</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25</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Siklus Pengembangan dengan AI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26</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Test Case &amp; Code Review</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27</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Prototype Fitur Aplikasi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Notepad, browser, Google Docs, GitHub, aplikasi dan backend dari Modul 8, layanan AI (akun pondok, bergiliran, diawasi guru), Prompt Library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Siklus Pengembangan dengan AI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User story, kriteria, dan prompt fitur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AI-Assisted Development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para programmer di perusahaan besar memakai AI tanpa membuat aplikasi mereka berantakan?</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siklus pengembangan berbantuan AI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user story dan kriteria penerimaan untuk satu fitur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prompt fitur berdasarkan user story dan meminta rencana sebelum kode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Siklus AI-Assisted Development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240280" y="1069848"/>
            <a:ext cx="1005840" cy="694944"/>
          </a:xfrm>
          <a:prstGeom prst="ellipse">
            <a:avLst/>
          </a:prstGeom>
          <a:solidFill>
            <a:srgbClr val="0F4C3A"/>
          </a:solidFill>
          <a:ln/>
        </p:spPr>
      </p:sp>
      <p:pic>
        <p:nvPicPr>
          <p:cNvPr id="10" name="Image 2" descr="preencoded.png">    </p:cNvPr>
          <p:cNvPicPr>
            <a:picLocks noChangeAspect="1"/>
          </p:cNvPicPr>
          <p:nvPr/>
        </p:nvPicPr>
        <p:blipFill>
          <a:blip r:embed="rId3"/>
          <a:stretch>
            <a:fillRect/>
          </a:stretch>
        </p:blipFill>
        <p:spPr>
          <a:xfrm>
            <a:off x="2633472" y="1143000"/>
            <a:ext cx="219456" cy="219456"/>
          </a:xfrm>
          <a:prstGeom prst="rect">
            <a:avLst/>
          </a:prstGeom>
        </p:spPr>
      </p:pic>
      <p:sp>
        <p:nvSpPr>
          <p:cNvPr id="11" name="Text 6"/>
          <p:cNvSpPr txBox="1"/>
          <p:nvPr/>
        </p:nvSpPr>
        <p:spPr>
          <a:xfrm>
            <a:off x="2240280" y="1399032"/>
            <a:ext cx="10058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Ide</a:t>
            </a:r>
            <a:endParaRPr lang="en-US" sz="1100" dirty="0"/>
          </a:p>
        </p:txBody>
      </p:sp>
      <p:sp>
        <p:nvSpPr>
          <p:cNvPr id="12" name="Shape 7"/>
          <p:cNvSpPr/>
          <p:nvPr/>
        </p:nvSpPr>
        <p:spPr>
          <a:xfrm>
            <a:off x="3467715" y="1778508"/>
            <a:ext cx="1005840" cy="694944"/>
          </a:xfrm>
          <a:prstGeom prst="ellipse">
            <a:avLst/>
          </a:prstGeom>
          <a:solidFill>
            <a:srgbClr val="1F7A5C"/>
          </a:solidFill>
          <a:ln/>
        </p:spPr>
      </p:sp>
      <p:pic>
        <p:nvPicPr>
          <p:cNvPr id="13" name="Image 3" descr="preencoded.png">    </p:cNvPr>
          <p:cNvPicPr>
            <a:picLocks noChangeAspect="1"/>
          </p:cNvPicPr>
          <p:nvPr/>
        </p:nvPicPr>
        <p:blipFill>
          <a:blip r:embed="rId4"/>
          <a:stretch>
            <a:fillRect/>
          </a:stretch>
        </p:blipFill>
        <p:spPr>
          <a:xfrm>
            <a:off x="3860907" y="1851660"/>
            <a:ext cx="219456" cy="219456"/>
          </a:xfrm>
          <a:prstGeom prst="rect">
            <a:avLst/>
          </a:prstGeom>
        </p:spPr>
      </p:pic>
      <p:sp>
        <p:nvSpPr>
          <p:cNvPr id="14" name="Text 8"/>
          <p:cNvSpPr txBox="1"/>
          <p:nvPr/>
        </p:nvSpPr>
        <p:spPr>
          <a:xfrm>
            <a:off x="3467715" y="2107692"/>
            <a:ext cx="10058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Prompt</a:t>
            </a:r>
            <a:endParaRPr lang="en-US" sz="1100" dirty="0"/>
          </a:p>
        </p:txBody>
      </p:sp>
      <p:sp>
        <p:nvSpPr>
          <p:cNvPr id="15" name="Shape 9"/>
          <p:cNvSpPr/>
          <p:nvPr/>
        </p:nvSpPr>
        <p:spPr>
          <a:xfrm>
            <a:off x="3467715" y="3195828"/>
            <a:ext cx="1005840" cy="694944"/>
          </a:xfrm>
          <a:prstGeom prst="ellipse">
            <a:avLst/>
          </a:prstGeom>
          <a:solidFill>
            <a:srgbClr val="0F4C3A"/>
          </a:solidFill>
          <a:ln/>
        </p:spPr>
      </p:sp>
      <p:pic>
        <p:nvPicPr>
          <p:cNvPr id="16" name="Image 4" descr="preencoded.png">    </p:cNvPr>
          <p:cNvPicPr>
            <a:picLocks noChangeAspect="1"/>
          </p:cNvPicPr>
          <p:nvPr/>
        </p:nvPicPr>
        <p:blipFill>
          <a:blip r:embed="rId5"/>
          <a:stretch>
            <a:fillRect/>
          </a:stretch>
        </p:blipFill>
        <p:spPr>
          <a:xfrm>
            <a:off x="3860907" y="3268980"/>
            <a:ext cx="219456" cy="219456"/>
          </a:xfrm>
          <a:prstGeom prst="rect">
            <a:avLst/>
          </a:prstGeom>
        </p:spPr>
      </p:pic>
      <p:sp>
        <p:nvSpPr>
          <p:cNvPr id="17" name="Text 10"/>
          <p:cNvSpPr txBox="1"/>
          <p:nvPr/>
        </p:nvSpPr>
        <p:spPr>
          <a:xfrm>
            <a:off x="3467715" y="3525012"/>
            <a:ext cx="10058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Kode</a:t>
            </a:r>
            <a:endParaRPr lang="en-US" sz="1100" dirty="0"/>
          </a:p>
        </p:txBody>
      </p:sp>
      <p:sp>
        <p:nvSpPr>
          <p:cNvPr id="18" name="Shape 11"/>
          <p:cNvSpPr/>
          <p:nvPr/>
        </p:nvSpPr>
        <p:spPr>
          <a:xfrm>
            <a:off x="2240280" y="3904488"/>
            <a:ext cx="1005840" cy="694944"/>
          </a:xfrm>
          <a:prstGeom prst="ellipse">
            <a:avLst/>
          </a:prstGeom>
          <a:solidFill>
            <a:srgbClr val="1F7A5C"/>
          </a:solidFill>
          <a:ln/>
        </p:spPr>
      </p:sp>
      <p:pic>
        <p:nvPicPr>
          <p:cNvPr id="19" name="Image 5" descr="preencoded.png">    </p:cNvPr>
          <p:cNvPicPr>
            <a:picLocks noChangeAspect="1"/>
          </p:cNvPicPr>
          <p:nvPr/>
        </p:nvPicPr>
        <p:blipFill>
          <a:blip r:embed="rId6"/>
          <a:stretch>
            <a:fillRect/>
          </a:stretch>
        </p:blipFill>
        <p:spPr>
          <a:xfrm>
            <a:off x="2633472" y="3977640"/>
            <a:ext cx="219456" cy="219456"/>
          </a:xfrm>
          <a:prstGeom prst="rect">
            <a:avLst/>
          </a:prstGeom>
        </p:spPr>
      </p:pic>
      <p:sp>
        <p:nvSpPr>
          <p:cNvPr id="20" name="Text 12"/>
          <p:cNvSpPr txBox="1"/>
          <p:nvPr/>
        </p:nvSpPr>
        <p:spPr>
          <a:xfrm>
            <a:off x="2240280" y="4233672"/>
            <a:ext cx="10058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Tes</a:t>
            </a:r>
            <a:endParaRPr lang="en-US" sz="1100" dirty="0"/>
          </a:p>
        </p:txBody>
      </p:sp>
      <p:sp>
        <p:nvSpPr>
          <p:cNvPr id="21" name="Shape 13"/>
          <p:cNvSpPr/>
          <p:nvPr/>
        </p:nvSpPr>
        <p:spPr>
          <a:xfrm>
            <a:off x="1012845" y="3195828"/>
            <a:ext cx="1005840" cy="694944"/>
          </a:xfrm>
          <a:prstGeom prst="ellipse">
            <a:avLst/>
          </a:prstGeom>
          <a:solidFill>
            <a:srgbClr val="0F4C3A"/>
          </a:solidFill>
          <a:ln/>
        </p:spPr>
      </p:sp>
      <p:pic>
        <p:nvPicPr>
          <p:cNvPr id="22" name="Image 6" descr="preencoded.png">    </p:cNvPr>
          <p:cNvPicPr>
            <a:picLocks noChangeAspect="1"/>
          </p:cNvPicPr>
          <p:nvPr/>
        </p:nvPicPr>
        <p:blipFill>
          <a:blip r:embed="rId7"/>
          <a:stretch>
            <a:fillRect/>
          </a:stretch>
        </p:blipFill>
        <p:spPr>
          <a:xfrm>
            <a:off x="1406037" y="3268980"/>
            <a:ext cx="219456" cy="219456"/>
          </a:xfrm>
          <a:prstGeom prst="rect">
            <a:avLst/>
          </a:prstGeom>
        </p:spPr>
      </p:pic>
      <p:sp>
        <p:nvSpPr>
          <p:cNvPr id="23" name="Text 14"/>
          <p:cNvSpPr txBox="1"/>
          <p:nvPr/>
        </p:nvSpPr>
        <p:spPr>
          <a:xfrm>
            <a:off x="1012845" y="3525012"/>
            <a:ext cx="10058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Debug</a:t>
            </a:r>
            <a:endParaRPr lang="en-US" sz="1100" dirty="0"/>
          </a:p>
        </p:txBody>
      </p:sp>
      <p:sp>
        <p:nvSpPr>
          <p:cNvPr id="24" name="Shape 15"/>
          <p:cNvSpPr/>
          <p:nvPr/>
        </p:nvSpPr>
        <p:spPr>
          <a:xfrm>
            <a:off x="1012845" y="1778508"/>
            <a:ext cx="1005840" cy="694944"/>
          </a:xfrm>
          <a:prstGeom prst="ellipse">
            <a:avLst/>
          </a:prstGeom>
          <a:solidFill>
            <a:srgbClr val="1F7A5C"/>
          </a:solidFill>
          <a:ln/>
        </p:spPr>
      </p:sp>
      <p:pic>
        <p:nvPicPr>
          <p:cNvPr id="25" name="Image 7" descr="preencoded.png">    </p:cNvPr>
          <p:cNvPicPr>
            <a:picLocks noChangeAspect="1"/>
          </p:cNvPicPr>
          <p:nvPr/>
        </p:nvPicPr>
        <p:blipFill>
          <a:blip r:embed="rId8"/>
          <a:stretch>
            <a:fillRect/>
          </a:stretch>
        </p:blipFill>
        <p:spPr>
          <a:xfrm>
            <a:off x="1406037" y="1851660"/>
            <a:ext cx="219456" cy="219456"/>
          </a:xfrm>
          <a:prstGeom prst="rect">
            <a:avLst/>
          </a:prstGeom>
        </p:spPr>
      </p:pic>
      <p:sp>
        <p:nvSpPr>
          <p:cNvPr id="26" name="Text 16"/>
          <p:cNvSpPr txBox="1"/>
          <p:nvPr/>
        </p:nvSpPr>
        <p:spPr>
          <a:xfrm>
            <a:off x="1012845" y="2107692"/>
            <a:ext cx="10058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Perbaiki</a:t>
            </a:r>
            <a:endParaRPr lang="en-US" sz="1100" dirty="0"/>
          </a:p>
        </p:txBody>
      </p:sp>
      <p:sp>
        <p:nvSpPr>
          <p:cNvPr id="27" name="Text 17"/>
          <p:cNvSpPr txBox="1"/>
          <p:nvPr/>
        </p:nvSpPr>
        <p:spPr>
          <a:xfrm>
            <a:off x="2377440" y="2423160"/>
            <a:ext cx="731520" cy="731520"/>
          </a:xfrm>
          <a:prstGeom prst="rect">
            <a:avLst/>
          </a:prstGeom>
          <a:noFill/>
          <a:ln/>
        </p:spPr>
        <p:txBody>
          <a:bodyPr wrap="square" lIns="0" tIns="0" rIns="0" bIns="0" rtlCol="0" anchor="ctr"/>
          <a:lstStyle/>
          <a:p>
            <a:pPr algn="ctr" indent="0" marL="0">
              <a:buNone/>
            </a:pPr>
            <a:r>
              <a:rPr lang="en-US" sz="3600" b="1" dirty="0">
                <a:solidFill>
                  <a:srgbClr val="D4A017"/>
                </a:solidFill>
                <a:latin typeface="Calibri" pitchFamily="34" charset="0"/>
                <a:ea typeface="Calibri" pitchFamily="34" charset="-122"/>
                <a:cs typeface="Calibri" pitchFamily="34" charset="-120"/>
              </a:rPr>
              <a:t>↻</a:t>
            </a:r>
            <a:endParaRPr lang="en-US" sz="3600" dirty="0"/>
          </a:p>
        </p:txBody>
      </p:sp>
      <p:sp>
        <p:nvSpPr>
          <p:cNvPr id="28" name="Text 18"/>
          <p:cNvSpPr txBox="1"/>
          <p:nvPr/>
        </p:nvSpPr>
        <p:spPr>
          <a:xfrm>
            <a:off x="4937760" y="1234440"/>
            <a:ext cx="37490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Ide: </a:t>
            </a:r>
            <a:pPr indent="0" marL="0">
              <a:buNone/>
            </a:pPr>
            <a:r>
              <a:rPr lang="en-US" sz="1300" dirty="0">
                <a:solidFill>
                  <a:srgbClr val="1E2A26"/>
                </a:solidFill>
                <a:latin typeface="Calibri" pitchFamily="34" charset="0"/>
                <a:ea typeface="Calibri" pitchFamily="34" charset="-122"/>
                <a:cs typeface="Calibri" pitchFamily="34" charset="-120"/>
              </a:rPr>
              <a:t>User story + kriteria penerimaan</a:t>
            </a:r>
            <a:endParaRPr lang="en-US" sz="1300" dirty="0"/>
          </a:p>
        </p:txBody>
      </p:sp>
      <p:sp>
        <p:nvSpPr>
          <p:cNvPr id="29" name="Text 19"/>
          <p:cNvSpPr txBox="1"/>
          <p:nvPr/>
        </p:nvSpPr>
        <p:spPr>
          <a:xfrm>
            <a:off x="4937760" y="1874520"/>
            <a:ext cx="37490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Prompt: </a:t>
            </a:r>
            <a:pPr indent="0" marL="0">
              <a:buNone/>
            </a:pPr>
            <a:r>
              <a:rPr lang="en-US" sz="1300" dirty="0">
                <a:solidFill>
                  <a:srgbClr val="1E2A26"/>
                </a:solidFill>
                <a:latin typeface="Calibri" pitchFamily="34" charset="0"/>
                <a:ea typeface="Calibri" pitchFamily="34" charset="-122"/>
                <a:cs typeface="Calibri" pitchFamily="34" charset="-120"/>
              </a:rPr>
              <a:t>5 komponen + kode yang ada</a:t>
            </a:r>
            <a:endParaRPr lang="en-US" sz="1300" dirty="0"/>
          </a:p>
        </p:txBody>
      </p:sp>
      <p:sp>
        <p:nvSpPr>
          <p:cNvPr id="30" name="Text 20"/>
          <p:cNvSpPr txBox="1"/>
          <p:nvPr/>
        </p:nvSpPr>
        <p:spPr>
          <a:xfrm>
            <a:off x="4937760" y="2514600"/>
            <a:ext cx="37490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Kode: </a:t>
            </a:r>
            <a:pPr indent="0" marL="0">
              <a:buNone/>
            </a:pPr>
            <a:r>
              <a:rPr lang="en-US" sz="1300" dirty="0">
                <a:solidFill>
                  <a:srgbClr val="1E2A26"/>
                </a:solidFill>
                <a:latin typeface="Calibri" pitchFamily="34" charset="0"/>
                <a:ea typeface="Calibri" pitchFamily="34" charset="-122"/>
                <a:cs typeface="Calibri" pitchFamily="34" charset="-120"/>
              </a:rPr>
              <a:t>Pahami dulu, baru pakai</a:t>
            </a:r>
            <a:endParaRPr lang="en-US" sz="1300" dirty="0"/>
          </a:p>
        </p:txBody>
      </p:sp>
      <p:sp>
        <p:nvSpPr>
          <p:cNvPr id="31" name="Text 21"/>
          <p:cNvSpPr txBox="1"/>
          <p:nvPr/>
        </p:nvSpPr>
        <p:spPr>
          <a:xfrm>
            <a:off x="4937760" y="3154680"/>
            <a:ext cx="37490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Tes: </a:t>
            </a:r>
            <a:pPr indent="0" marL="0">
              <a:buNone/>
            </a:pPr>
            <a:r>
              <a:rPr lang="en-US" sz="1300" dirty="0">
                <a:solidFill>
                  <a:srgbClr val="1E2A26"/>
                </a:solidFill>
                <a:latin typeface="Calibri" pitchFamily="34" charset="0"/>
                <a:ea typeface="Calibri" pitchFamily="34" charset="-122"/>
                <a:cs typeface="Calibri" pitchFamily="34" charset="-120"/>
              </a:rPr>
              <a:t>Test case dibuat SEBELUM kode</a:t>
            </a:r>
            <a:endParaRPr lang="en-US" sz="1300" dirty="0"/>
          </a:p>
        </p:txBody>
      </p:sp>
      <p:sp>
        <p:nvSpPr>
          <p:cNvPr id="32" name="Text 22"/>
          <p:cNvSpPr txBox="1"/>
          <p:nvPr/>
        </p:nvSpPr>
        <p:spPr>
          <a:xfrm>
            <a:off x="4937760" y="3794760"/>
            <a:ext cx="37490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Debug &amp; Perbaiki: </a:t>
            </a:r>
            <a:pPr indent="0" marL="0">
              <a:buNone/>
            </a:pPr>
            <a:r>
              <a:rPr lang="en-US" sz="1300" dirty="0">
                <a:solidFill>
                  <a:srgbClr val="1E2A26"/>
                </a:solidFill>
                <a:latin typeface="Calibri" pitchFamily="34" charset="0"/>
                <a:ea typeface="Calibri" pitchFamily="34" charset="-122"/>
                <a:cs typeface="Calibri" pitchFamily="34" charset="-120"/>
              </a:rPr>
              <a:t>Code review, commit, changelog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User Story: Merumuskan Fitur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8229600" cy="1188720"/>
          </a:xfrm>
          <a:prstGeom prst="roundRect">
            <a:avLst>
              <a:gd name="adj" fmla="val 6154"/>
            </a:avLst>
          </a:prstGeom>
          <a:solidFill>
            <a:srgbClr val="FFFFFF"/>
          </a:solidFill>
          <a:ln w="19050">
            <a:solidFill>
              <a:srgbClr val="1F7A5C"/>
            </a:solidFill>
            <a:prstDash val="solid"/>
          </a:ln>
        </p:spPr>
      </p:sp>
      <p:sp>
        <p:nvSpPr>
          <p:cNvPr id="10" name="Text 6"/>
          <p:cNvSpPr txBox="1"/>
          <p:nvPr/>
        </p:nvSpPr>
        <p:spPr>
          <a:xfrm>
            <a:off x="640080" y="1143000"/>
            <a:ext cx="7863840" cy="1097280"/>
          </a:xfrm>
          <a:prstGeom prst="rect">
            <a:avLst/>
          </a:prstGeom>
          <a:noFill/>
          <a:ln/>
        </p:spPr>
        <p:txBody>
          <a:bodyPr wrap="square" lIns="0" tIns="0" rIns="0" bIns="0" rtlCol="0" anchor="ctr"/>
          <a:lstStyle/>
          <a:p>
            <a:pPr indent="0" marL="0">
              <a:buNone/>
            </a:pPr>
            <a:r>
              <a:rPr lang="en-US" sz="1700" b="1" dirty="0">
                <a:solidFill>
                  <a:srgbClr val="E53935"/>
                </a:solidFill>
                <a:latin typeface="Calibri" pitchFamily="34" charset="0"/>
                <a:ea typeface="Calibri" pitchFamily="34" charset="-122"/>
                <a:cs typeface="Calibri" pitchFamily="34" charset="-120"/>
              </a:rPr>
              <a:t>Sebagai </a:t>
            </a:r>
            <a:pPr indent="0" marL="0">
              <a:buNone/>
            </a:pPr>
            <a:r>
              <a:rPr lang="en-US" sz="1700" dirty="0">
                <a:solidFill>
                  <a:srgbClr val="E53935"/>
                </a:solidFill>
                <a:latin typeface="Calibri" pitchFamily="34" charset="0"/>
                <a:ea typeface="Calibri" pitchFamily="34" charset="-122"/>
                <a:cs typeface="Calibri" pitchFamily="34" charset="-120"/>
              </a:rPr>
              <a:t>santri</a:t>
            </a:r>
            <a:pPr indent="0" marL="0">
              <a:buNone/>
            </a:pPr>
            <a:r>
              <a:rPr lang="en-US" sz="1700" b="1" dirty="0">
                <a:solidFill>
                  <a:srgbClr val="0078D4"/>
                </a:solidFill>
                <a:latin typeface="Calibri" pitchFamily="34" charset="0"/>
                <a:ea typeface="Calibri" pitchFamily="34" charset="-122"/>
                <a:cs typeface="Calibri" pitchFamily="34" charset="-120"/>
              </a:rPr>
              <a:t>, saya ingin </a:t>
            </a:r>
            <a:pPr indent="0" marL="0">
              <a:buNone/>
            </a:pPr>
            <a:r>
              <a:rPr lang="en-US" sz="1700" dirty="0">
                <a:solidFill>
                  <a:srgbClr val="0078D4"/>
                </a:solidFill>
                <a:latin typeface="Calibri" pitchFamily="34" charset="0"/>
                <a:ea typeface="Calibri" pitchFamily="34" charset="-122"/>
                <a:cs typeface="Calibri" pitchFamily="34" charset="-120"/>
              </a:rPr>
              <a:t>melihat total ayat yang saya setor pekan ini</a:t>
            </a:r>
            <a:pPr indent="0" marL="0">
              <a:buNone/>
            </a:pPr>
            <a:r>
              <a:rPr lang="en-US" sz="1700" b="1" dirty="0">
                <a:solidFill>
                  <a:srgbClr val="1F7A5C"/>
                </a:solidFill>
                <a:latin typeface="Calibri" pitchFamily="34" charset="0"/>
                <a:ea typeface="Calibri" pitchFamily="34" charset="-122"/>
                <a:cs typeface="Calibri" pitchFamily="34" charset="-120"/>
              </a:rPr>
              <a:t>, agar </a:t>
            </a:r>
            <a:pPr indent="0" marL="0">
              <a:buNone/>
            </a:pPr>
            <a:r>
              <a:rPr lang="en-US" sz="1700" dirty="0">
                <a:solidFill>
                  <a:srgbClr val="1F7A5C"/>
                </a:solidFill>
                <a:latin typeface="Calibri" pitchFamily="34" charset="0"/>
                <a:ea typeface="Calibri" pitchFamily="34" charset="-122"/>
                <a:cs typeface="Calibri" pitchFamily="34" charset="-120"/>
              </a:rPr>
              <a:t>saya tahu apakah target tercapai.</a:t>
            </a:r>
            <a:endParaRPr lang="en-US" sz="1700" dirty="0"/>
          </a:p>
        </p:txBody>
      </p:sp>
      <p:sp>
        <p:nvSpPr>
          <p:cNvPr id="11" name="Shape 7"/>
          <p:cNvSpPr/>
          <p:nvPr/>
        </p:nvSpPr>
        <p:spPr>
          <a:xfrm>
            <a:off x="457200" y="2514600"/>
            <a:ext cx="2606040" cy="1005840"/>
          </a:xfrm>
          <a:prstGeom prst="roundRect">
            <a:avLst>
              <a:gd name="adj" fmla="val 9091"/>
            </a:avLst>
          </a:prstGeom>
          <a:solidFill>
            <a:srgbClr val="E6F2EC"/>
          </a:solidFill>
          <a:ln w="12700">
            <a:solidFill>
              <a:srgbClr val="E6F2EC"/>
            </a:solidFill>
            <a:prstDash val="solid"/>
          </a:ln>
        </p:spPr>
      </p:sp>
      <p:sp>
        <p:nvSpPr>
          <p:cNvPr id="12" name="Text 8"/>
          <p:cNvSpPr txBox="1"/>
          <p:nvPr/>
        </p:nvSpPr>
        <p:spPr>
          <a:xfrm>
            <a:off x="594360" y="2578608"/>
            <a:ext cx="2377440" cy="365760"/>
          </a:xfrm>
          <a:prstGeom prst="rect">
            <a:avLst/>
          </a:prstGeom>
          <a:noFill/>
          <a:ln/>
        </p:spPr>
        <p:txBody>
          <a:bodyPr wrap="square" lIns="0" tIns="0" rIns="0" bIns="0" rtlCol="0" anchor="t"/>
          <a:lstStyle/>
          <a:p>
            <a:pPr indent="0" marL="0">
              <a:buNone/>
            </a:pPr>
            <a:r>
              <a:rPr lang="en-US" sz="1500" b="1" dirty="0">
                <a:solidFill>
                  <a:srgbClr val="E53935"/>
                </a:solidFill>
                <a:latin typeface="Calibri" pitchFamily="34" charset="0"/>
                <a:ea typeface="Calibri" pitchFamily="34" charset="-122"/>
                <a:cs typeface="Calibri" pitchFamily="34" charset="-120"/>
              </a:rPr>
              <a:t>Sebagai ...</a:t>
            </a:r>
            <a:endParaRPr lang="en-US" sz="1500" dirty="0"/>
          </a:p>
        </p:txBody>
      </p:sp>
      <p:sp>
        <p:nvSpPr>
          <p:cNvPr id="13" name="Text 9"/>
          <p:cNvSpPr txBox="1"/>
          <p:nvPr/>
        </p:nvSpPr>
        <p:spPr>
          <a:xfrm>
            <a:off x="594360" y="2971800"/>
            <a:ext cx="2377440" cy="45720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SIAPA penggunanya</a:t>
            </a:r>
            <a:endParaRPr lang="en-US" sz="1300" dirty="0"/>
          </a:p>
        </p:txBody>
      </p:sp>
      <p:sp>
        <p:nvSpPr>
          <p:cNvPr id="14" name="Shape 10"/>
          <p:cNvSpPr/>
          <p:nvPr/>
        </p:nvSpPr>
        <p:spPr>
          <a:xfrm>
            <a:off x="3246120" y="2514600"/>
            <a:ext cx="2606040" cy="1005840"/>
          </a:xfrm>
          <a:prstGeom prst="roundRect">
            <a:avLst>
              <a:gd name="adj" fmla="val 9091"/>
            </a:avLst>
          </a:prstGeom>
          <a:solidFill>
            <a:srgbClr val="E6F2EC"/>
          </a:solidFill>
          <a:ln w="12700">
            <a:solidFill>
              <a:srgbClr val="E6F2EC"/>
            </a:solidFill>
            <a:prstDash val="solid"/>
          </a:ln>
        </p:spPr>
      </p:sp>
      <p:sp>
        <p:nvSpPr>
          <p:cNvPr id="15" name="Text 11"/>
          <p:cNvSpPr txBox="1"/>
          <p:nvPr/>
        </p:nvSpPr>
        <p:spPr>
          <a:xfrm>
            <a:off x="3383280" y="2578608"/>
            <a:ext cx="2377440" cy="365760"/>
          </a:xfrm>
          <a:prstGeom prst="rect">
            <a:avLst/>
          </a:prstGeom>
          <a:noFill/>
          <a:ln/>
        </p:spPr>
        <p:txBody>
          <a:bodyPr wrap="square" lIns="0" tIns="0" rIns="0" bIns="0" rtlCol="0" anchor="t"/>
          <a:lstStyle/>
          <a:p>
            <a:pPr indent="0" marL="0">
              <a:buNone/>
            </a:pPr>
            <a:r>
              <a:rPr lang="en-US" sz="1500" b="1" dirty="0">
                <a:solidFill>
                  <a:srgbClr val="0078D4"/>
                </a:solidFill>
                <a:latin typeface="Calibri" pitchFamily="34" charset="0"/>
                <a:ea typeface="Calibri" pitchFamily="34" charset="-122"/>
                <a:cs typeface="Calibri" pitchFamily="34" charset="-120"/>
              </a:rPr>
              <a:t>saya ingin ...</a:t>
            </a:r>
            <a:endParaRPr lang="en-US" sz="1500" dirty="0"/>
          </a:p>
        </p:txBody>
      </p:sp>
      <p:sp>
        <p:nvSpPr>
          <p:cNvPr id="16" name="Text 12"/>
          <p:cNvSpPr txBox="1"/>
          <p:nvPr/>
        </p:nvSpPr>
        <p:spPr>
          <a:xfrm>
            <a:off x="3383280" y="2971800"/>
            <a:ext cx="2377440" cy="45720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APA yang ingin dilakukan</a:t>
            </a:r>
            <a:endParaRPr lang="en-US" sz="1300" dirty="0"/>
          </a:p>
        </p:txBody>
      </p:sp>
      <p:sp>
        <p:nvSpPr>
          <p:cNvPr id="17" name="Shape 13"/>
          <p:cNvSpPr/>
          <p:nvPr/>
        </p:nvSpPr>
        <p:spPr>
          <a:xfrm>
            <a:off x="6035040" y="2514600"/>
            <a:ext cx="2606040" cy="1005840"/>
          </a:xfrm>
          <a:prstGeom prst="roundRect">
            <a:avLst>
              <a:gd name="adj" fmla="val 9091"/>
            </a:avLst>
          </a:prstGeom>
          <a:solidFill>
            <a:srgbClr val="E6F2EC"/>
          </a:solidFill>
          <a:ln w="12700">
            <a:solidFill>
              <a:srgbClr val="E6F2EC"/>
            </a:solidFill>
            <a:prstDash val="solid"/>
          </a:ln>
        </p:spPr>
      </p:sp>
      <p:sp>
        <p:nvSpPr>
          <p:cNvPr id="18" name="Text 14"/>
          <p:cNvSpPr txBox="1"/>
          <p:nvPr/>
        </p:nvSpPr>
        <p:spPr>
          <a:xfrm>
            <a:off x="6172200" y="2578608"/>
            <a:ext cx="2377440" cy="365760"/>
          </a:xfrm>
          <a:prstGeom prst="rect">
            <a:avLst/>
          </a:prstGeom>
          <a:noFill/>
          <a:ln/>
        </p:spPr>
        <p:txBody>
          <a:bodyPr wrap="square" lIns="0" tIns="0" rIns="0" bIns="0" rtlCol="0" anchor="t"/>
          <a:lstStyle/>
          <a:p>
            <a:pPr indent="0" marL="0">
              <a:buNone/>
            </a:pPr>
            <a:r>
              <a:rPr lang="en-US" sz="1500" b="1" dirty="0">
                <a:solidFill>
                  <a:srgbClr val="1F7A5C"/>
                </a:solidFill>
                <a:latin typeface="Calibri" pitchFamily="34" charset="0"/>
                <a:ea typeface="Calibri" pitchFamily="34" charset="-122"/>
                <a:cs typeface="Calibri" pitchFamily="34" charset="-120"/>
              </a:rPr>
              <a:t>agar ...</a:t>
            </a:r>
            <a:endParaRPr lang="en-US" sz="1500" dirty="0"/>
          </a:p>
        </p:txBody>
      </p:sp>
      <p:sp>
        <p:nvSpPr>
          <p:cNvPr id="19" name="Text 15"/>
          <p:cNvSpPr txBox="1"/>
          <p:nvPr/>
        </p:nvSpPr>
        <p:spPr>
          <a:xfrm>
            <a:off x="6172200" y="2971800"/>
            <a:ext cx="2377440" cy="45720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MENGAPA, manfaatnya</a:t>
            </a:r>
            <a:endParaRPr lang="en-US" sz="1300" dirty="0"/>
          </a:p>
        </p:txBody>
      </p:sp>
      <p:sp>
        <p:nvSpPr>
          <p:cNvPr id="20" name="Shape 16"/>
          <p:cNvSpPr/>
          <p:nvPr/>
        </p:nvSpPr>
        <p:spPr>
          <a:xfrm>
            <a:off x="457200" y="3749040"/>
            <a:ext cx="8229600" cy="777240"/>
          </a:xfrm>
          <a:prstGeom prst="roundRect">
            <a:avLst>
              <a:gd name="adj" fmla="val 11765"/>
            </a:avLst>
          </a:prstGeom>
          <a:solidFill>
            <a:srgbClr val="FBF1D3"/>
          </a:solidFill>
          <a:ln w="12700">
            <a:solidFill>
              <a:srgbClr val="FBF1D3"/>
            </a:solidFill>
            <a:prstDash val="solid"/>
          </a:ln>
        </p:spPr>
      </p:sp>
      <p:sp>
        <p:nvSpPr>
          <p:cNvPr id="21" name="Text 17"/>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Satu user story = satu fitur kecil yang bisa selesai dalam 1–2 pertemuan.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Kriteria Penerimaan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Apa Itu?</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Syarat-syarat yang harus terpenuhi agar fitur dianggap SELESAI.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Contoh 1</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Santri mengetik kode, klik Cek Total, muncul total ayat 7 hari terakhir.</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Contoh 2</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Jika total ≥ target, muncul pesan "Masya Allah, target tercapai!"</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Contoh 3</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Jika kode kosong atau tidak ditemukan, muncul pesan yang jelas, bukan error.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Merumuskan Fitur Baru</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Docs dan AI bergiliran</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User story dan kriteria</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Prompt fitur dan rencana dari AI</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User Story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4. Fitur</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No</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Fitur</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Prioritas</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Tampil target hari ini</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 ✓</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Sudah Setor</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 ✓</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Riwayat setoran</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 ✓</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4</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Total &amp; status pekan ini</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NANTI → dipilih</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1 fitur dari daftar NANTI di proposal</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tabel fitur di proposal. Pilih satu fitur bertanda NANTI yang paling bermanfaat dan cukup kecil.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User Story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User Story Fitur 4</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Sebagai santri, saya ingin melihat total ayat yang</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saya setor pekan ini, agar saya tahu apakah target</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tercapai.</a:t>
            </a:r>
            <a:endParaRPr lang="en-US" sz="800" dirty="0"/>
          </a:p>
        </p:txBody>
      </p:sp>
      <p:sp>
        <p:nvSpPr>
          <p:cNvPr id="73" name="Shape 62"/>
          <p:cNvSpPr/>
          <p:nvPr/>
        </p:nvSpPr>
        <p:spPr>
          <a:xfrm>
            <a:off x="1527048" y="2849506"/>
            <a:ext cx="3072384" cy="588264"/>
          </a:xfrm>
          <a:prstGeom prst="roundRect">
            <a:avLst>
              <a:gd name="adj" fmla="val 7772"/>
            </a:avLst>
          </a:prstGeom>
          <a:solidFill>
            <a:srgbClr val="FFFFFF">
              <a:alpha val="0"/>
            </a:srgbClr>
          </a:solidFill>
          <a:ln w="31750">
            <a:solidFill>
              <a:srgbClr val="E53935"/>
            </a:solidFill>
            <a:prstDash val="solid"/>
          </a:ln>
        </p:spPr>
      </p:sp>
      <p:sp>
        <p:nvSpPr>
          <p:cNvPr id="74" name="Shape 63"/>
          <p:cNvSpPr/>
          <p:nvPr/>
        </p:nvSpPr>
        <p:spPr>
          <a:xfrm>
            <a:off x="4462272" y="2712346"/>
            <a:ext cx="274320" cy="274320"/>
          </a:xfrm>
          <a:prstGeom prst="ellipse">
            <a:avLst/>
          </a:prstGeom>
          <a:solidFill>
            <a:srgbClr val="E53935"/>
          </a:solidFill>
          <a:ln w="12700">
            <a:solidFill>
              <a:srgbClr val="FFFFFF"/>
            </a:solidFill>
            <a:prstDash val="solid"/>
          </a:ln>
        </p:spPr>
      </p:sp>
      <p:sp>
        <p:nvSpPr>
          <p:cNvPr id="75" name="Text 64"/>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6" name="Image 9" descr="preencoded.png">    </p:cNvPr>
          <p:cNvPicPr>
            <a:picLocks noChangeAspect="1"/>
          </p:cNvPicPr>
          <p:nvPr/>
        </p:nvPicPr>
        <p:blipFill>
          <a:blip r:embed="rId10"/>
          <a:stretch>
            <a:fillRect/>
          </a:stretch>
        </p:blipFill>
        <p:spPr>
          <a:xfrm>
            <a:off x="3214116" y="3170308"/>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user story</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Rancangan_Fitur_KelN: Sebagai [pengguna], saya ingin [aksi], agar [manfaat].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User Story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Kriteria Penerimaan</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Ketik kode + klik Cek Total → total 7 hari terakhir.</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Total ≥ target → "Masya Allah, target tercapai!"</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Total &lt; target → "Semangat, X ayat lagi!"</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Kode kosong/tidak ada → pesan jelas, tanpa error.</a:t>
            </a:r>
            <a:endParaRPr lang="en-US" sz="750" dirty="0"/>
          </a:p>
        </p:txBody>
      </p:sp>
      <p:sp>
        <p:nvSpPr>
          <p:cNvPr id="74" name="Shape 63"/>
          <p:cNvSpPr/>
          <p:nvPr/>
        </p:nvSpPr>
        <p:spPr>
          <a:xfrm>
            <a:off x="1527048" y="2849506"/>
            <a:ext cx="3072384" cy="634746"/>
          </a:xfrm>
          <a:prstGeom prst="roundRect">
            <a:avLst>
              <a:gd name="adj" fmla="val 7203"/>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7" name="Image 9" descr="preencoded.png">    </p:cNvPr>
          <p:cNvPicPr>
            <a:picLocks noChangeAspect="1"/>
          </p:cNvPicPr>
          <p:nvPr/>
        </p:nvPicPr>
        <p:blipFill>
          <a:blip r:embed="rId10"/>
          <a:stretch>
            <a:fillRect/>
          </a:stretch>
        </p:blipFill>
        <p:spPr>
          <a:xfrm>
            <a:off x="3214116" y="3195873"/>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3–4 kriteria penerimaan</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Termasuk minimal 1 kriteria untuk keadaan tidak normal (kosong, tidak ditemukan, angka aneh).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Fitur</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Kamu mentor JavaScript untuk santri kelas 9. Aplikasiku</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membaca data setoran dari Google Sheets (kode di bawah).</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User story: [tempel]. Kriteria: [tempel].</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JANGAN langsung beri kode. Jelaskan dulu rencana</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langkah demi langkah. Pakai JS sederhana + komentar.</a:t>
            </a:r>
            <a:endParaRPr lang="en-US" sz="800" dirty="0"/>
          </a:p>
        </p:txBody>
      </p:sp>
      <p:sp>
        <p:nvSpPr>
          <p:cNvPr id="75" name="Shape 64"/>
          <p:cNvSpPr/>
          <p:nvPr/>
        </p:nvSpPr>
        <p:spPr>
          <a:xfrm>
            <a:off x="1527048" y="3428626"/>
            <a:ext cx="3072384" cy="202184"/>
          </a:xfrm>
          <a:prstGeom prst="roundRect">
            <a:avLst>
              <a:gd name="adj" fmla="val 22613"/>
            </a:avLst>
          </a:prstGeom>
          <a:solidFill>
            <a:srgbClr val="FFFFFF">
              <a:alpha val="0"/>
            </a:srgbClr>
          </a:solidFill>
          <a:ln w="31750">
            <a:solidFill>
              <a:srgbClr val="E53935"/>
            </a:solidFill>
            <a:prstDash val="solid"/>
          </a:ln>
        </p:spPr>
      </p:sp>
      <p:sp>
        <p:nvSpPr>
          <p:cNvPr id="76" name="Shape 65"/>
          <p:cNvSpPr/>
          <p:nvPr/>
        </p:nvSpPr>
        <p:spPr>
          <a:xfrm>
            <a:off x="4462272" y="329146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32914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8" name="Image 9" descr="preencoded.png">    </p:cNvPr>
          <p:cNvPicPr>
            <a:picLocks noChangeAspect="1"/>
          </p:cNvPicPr>
          <p:nvPr/>
        </p:nvPicPr>
        <p:blipFill>
          <a:blip r:embed="rId10"/>
          <a:stretch>
            <a:fillRect/>
          </a:stretch>
        </p:blipFill>
        <p:spPr>
          <a:xfrm>
            <a:off x="3214116" y="353708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prompt fitur dari user story</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Gunakan 5 komponen. Sertakan: user story, kriteria, kode yang sudah ada (bagian terkait), dan batasan (JS sederhana, beri komentar).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mentor JavaScript untuk santri kelas 9... JANGAN langsung beri kode. Jelaskan dulu rencana langkah demi langkah.</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11887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Rencana: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1. Tambah input kode dan tombol "Cek Total" di HTML.</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Buat fungsi cekTotal(): ambil kode, cek kosong.</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Pakai data dari muatData (simpan di variabel semuaData).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4. Saring baris dengan kode itu dan tanggal 7 hari terakhir.</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5. Jumlahkan Ayat, bandingkan dengan target, tampilkan pesan.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Apakah rencana ini sesuai?</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1243584"/>
          </a:xfrm>
          <a:prstGeom prst="roundRect">
            <a:avLst>
              <a:gd name="adj" fmla="val 3676"/>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971553"/>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Kirim, baca rencana dari AI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Petugas kelompok mengirim prompt di komputer ber-AI. AI menjelaskan rencana: langkah-langkah, fungsi yang dibuat, dan perubahan HTML.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Pemeriksaan Rencana</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Kriteria</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Ada di rencana?</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Catatan</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 Total 7 hari</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 (langkah 4–5)</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 Tercapai</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 (langkah 5)</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 Semangat</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 (langkah 5)</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4 Kode tidak ada</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Belum!</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Minta tambahkan</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rencana dengan kriteria</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Cocokkan setiap langkah rencana dengan kriteria penerimaan. Ada yang terlewat? Minta AI memperbaiki rencana.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Rancangan_Fitur kelompok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User story fitur yang dipilih (3 bagian lengkap).</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3–4 kriteria penerimaan, termasuk keadaan tidak normal.</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Prompt fitur dan rencana dari AI.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pemeriksaan rencana terhadap kriteria.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User story lengkap 3 bagian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3 kriteria penerimaan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Prompt memuat kode yang ada dan batasan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AI diminta rencana, bukan langsung kode</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fitur harus dirumuskan sebelum meminta kode?</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Siapa pengguna fitur kelompokmu?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Niat dan rencana yang jelas sebelum beramal membuat amal terarah dan bernilai.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Test case dan code review.</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Test Case &amp; Code Review</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Menguji dan meninjau kode dari AI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AI-Assisted Development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Kode dari AI terlihat rapi. Bagaimana kita yakin kode itu benar dan aman?</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test case dari kriteria penerimaan sebelum memakai kode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Meninjau kode AI dengan daftar code review</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Memperbaiki temuan dan mencatat perubahan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Test Case: Disiapkan Sebelum Kode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548640" cy="411480"/>
          </a:xfrm>
          <a:prstGeom prst="rect">
            <a:avLst/>
          </a:prstGeom>
          <a:solidFill>
            <a:srgbClr val="0F4C3A"/>
          </a:solidFill>
          <a:ln w="9525">
            <a:solidFill>
              <a:srgbClr val="FFFFFF"/>
            </a:solidFill>
            <a:prstDash val="solid"/>
          </a:ln>
        </p:spPr>
      </p:sp>
      <p:sp>
        <p:nvSpPr>
          <p:cNvPr id="10" name="Text 6"/>
          <p:cNvSpPr txBox="1"/>
          <p:nvPr/>
        </p:nvSpPr>
        <p:spPr>
          <a:xfrm>
            <a:off x="457200" y="1143000"/>
            <a:ext cx="5486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p>
        </p:txBody>
      </p:sp>
      <p:sp>
        <p:nvSpPr>
          <p:cNvPr id="11" name="Shape 7"/>
          <p:cNvSpPr/>
          <p:nvPr/>
        </p:nvSpPr>
        <p:spPr>
          <a:xfrm>
            <a:off x="1005840" y="1143000"/>
            <a:ext cx="1828800" cy="411480"/>
          </a:xfrm>
          <a:prstGeom prst="rect">
            <a:avLst/>
          </a:prstGeom>
          <a:solidFill>
            <a:srgbClr val="0F4C3A"/>
          </a:solidFill>
          <a:ln w="9525">
            <a:solidFill>
              <a:srgbClr val="FFFFFF"/>
            </a:solidFill>
            <a:prstDash val="solid"/>
          </a:ln>
        </p:spPr>
      </p:sp>
      <p:sp>
        <p:nvSpPr>
          <p:cNvPr id="12" name="Text 8"/>
          <p:cNvSpPr txBox="1"/>
          <p:nvPr/>
        </p:nvSpPr>
        <p:spPr>
          <a:xfrm>
            <a:off x="1005840" y="1143000"/>
            <a:ext cx="18288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Masukan</a:t>
            </a:r>
            <a:endParaRPr lang="en-US" sz="1200" dirty="0"/>
          </a:p>
        </p:txBody>
      </p:sp>
      <p:sp>
        <p:nvSpPr>
          <p:cNvPr id="13" name="Shape 9"/>
          <p:cNvSpPr/>
          <p:nvPr/>
        </p:nvSpPr>
        <p:spPr>
          <a:xfrm>
            <a:off x="2834640" y="1143000"/>
            <a:ext cx="4389120" cy="411480"/>
          </a:xfrm>
          <a:prstGeom prst="rect">
            <a:avLst/>
          </a:prstGeom>
          <a:solidFill>
            <a:srgbClr val="0F4C3A"/>
          </a:solidFill>
          <a:ln w="9525">
            <a:solidFill>
              <a:srgbClr val="FFFFFF"/>
            </a:solidFill>
            <a:prstDash val="solid"/>
          </a:ln>
        </p:spPr>
      </p:sp>
      <p:sp>
        <p:nvSpPr>
          <p:cNvPr id="14" name="Text 10"/>
          <p:cNvSpPr txBox="1"/>
          <p:nvPr/>
        </p:nvSpPr>
        <p:spPr>
          <a:xfrm>
            <a:off x="2834640" y="1143000"/>
            <a:ext cx="43891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Hasil yang Diharapkan</a:t>
            </a:r>
            <a:endParaRPr lang="en-US" sz="1200" dirty="0"/>
          </a:p>
        </p:txBody>
      </p:sp>
      <p:sp>
        <p:nvSpPr>
          <p:cNvPr id="15" name="Shape 11"/>
          <p:cNvSpPr/>
          <p:nvPr/>
        </p:nvSpPr>
        <p:spPr>
          <a:xfrm>
            <a:off x="7223760" y="1143000"/>
            <a:ext cx="1463040" cy="411480"/>
          </a:xfrm>
          <a:prstGeom prst="rect">
            <a:avLst/>
          </a:prstGeom>
          <a:solidFill>
            <a:srgbClr val="0F4C3A"/>
          </a:solidFill>
          <a:ln w="9525">
            <a:solidFill>
              <a:srgbClr val="FFFFFF"/>
            </a:solidFill>
            <a:prstDash val="solid"/>
          </a:ln>
        </p:spPr>
      </p:sp>
      <p:sp>
        <p:nvSpPr>
          <p:cNvPr id="16" name="Text 12"/>
          <p:cNvSpPr txBox="1"/>
          <p:nvPr/>
        </p:nvSpPr>
        <p:spPr>
          <a:xfrm>
            <a:off x="7223760" y="1143000"/>
            <a:ext cx="1463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Kriteria</a:t>
            </a:r>
            <a:endParaRPr lang="en-US" sz="1200" dirty="0"/>
          </a:p>
        </p:txBody>
      </p:sp>
      <p:sp>
        <p:nvSpPr>
          <p:cNvPr id="17" name="Shape 13"/>
          <p:cNvSpPr/>
          <p:nvPr/>
        </p:nvSpPr>
        <p:spPr>
          <a:xfrm>
            <a:off x="457200" y="1554480"/>
            <a:ext cx="548640" cy="502920"/>
          </a:xfrm>
          <a:prstGeom prst="rect">
            <a:avLst/>
          </a:prstGeom>
          <a:solidFill>
            <a:srgbClr val="FFFFFF"/>
          </a:solidFill>
          <a:ln w="6350">
            <a:solidFill>
              <a:srgbClr val="CCCCCC"/>
            </a:solidFill>
            <a:prstDash val="solid"/>
          </a:ln>
        </p:spPr>
      </p:sp>
      <p:sp>
        <p:nvSpPr>
          <p:cNvPr id="18" name="Text 14"/>
          <p:cNvSpPr txBox="1"/>
          <p:nvPr/>
        </p:nvSpPr>
        <p:spPr>
          <a:xfrm>
            <a:off x="502920" y="1554480"/>
            <a:ext cx="4572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1</a:t>
            </a:r>
            <a:endParaRPr lang="en-US" sz="1150" dirty="0"/>
          </a:p>
        </p:txBody>
      </p:sp>
      <p:sp>
        <p:nvSpPr>
          <p:cNvPr id="19" name="Shape 15"/>
          <p:cNvSpPr/>
          <p:nvPr/>
        </p:nvSpPr>
        <p:spPr>
          <a:xfrm>
            <a:off x="1005840" y="1554480"/>
            <a:ext cx="1828800" cy="502920"/>
          </a:xfrm>
          <a:prstGeom prst="rect">
            <a:avLst/>
          </a:prstGeom>
          <a:solidFill>
            <a:srgbClr val="FFFFFF"/>
          </a:solidFill>
          <a:ln w="6350">
            <a:solidFill>
              <a:srgbClr val="CCCCCC"/>
            </a:solidFill>
            <a:prstDash val="solid"/>
          </a:ln>
        </p:spPr>
      </p:sp>
      <p:sp>
        <p:nvSpPr>
          <p:cNvPr id="20" name="Text 16"/>
          <p:cNvSpPr txBox="1"/>
          <p:nvPr/>
        </p:nvSpPr>
        <p:spPr>
          <a:xfrm>
            <a:off x="1051560" y="1554480"/>
            <a:ext cx="173736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S001 (total 38)</a:t>
            </a:r>
            <a:endParaRPr lang="en-US" sz="1150" dirty="0"/>
          </a:p>
        </p:txBody>
      </p:sp>
      <p:sp>
        <p:nvSpPr>
          <p:cNvPr id="21" name="Shape 17"/>
          <p:cNvSpPr/>
          <p:nvPr/>
        </p:nvSpPr>
        <p:spPr>
          <a:xfrm>
            <a:off x="2834640" y="1554480"/>
            <a:ext cx="4389120" cy="502920"/>
          </a:xfrm>
          <a:prstGeom prst="rect">
            <a:avLst/>
          </a:prstGeom>
          <a:solidFill>
            <a:srgbClr val="FFFFFF"/>
          </a:solidFill>
          <a:ln w="6350">
            <a:solidFill>
              <a:srgbClr val="CCCCCC"/>
            </a:solidFill>
            <a:prstDash val="solid"/>
          </a:ln>
        </p:spPr>
      </p:sp>
      <p:sp>
        <p:nvSpPr>
          <p:cNvPr id="22" name="Text 18"/>
          <p:cNvSpPr txBox="1"/>
          <p:nvPr/>
        </p:nvSpPr>
        <p:spPr>
          <a:xfrm>
            <a:off x="2880360" y="1554480"/>
            <a:ext cx="429768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"Total pekan ini: 38 ayat... Semangat, 62 ayat lagi!"</a:t>
            </a:r>
            <a:endParaRPr lang="en-US" sz="1150" dirty="0"/>
          </a:p>
        </p:txBody>
      </p:sp>
      <p:sp>
        <p:nvSpPr>
          <p:cNvPr id="23" name="Shape 19"/>
          <p:cNvSpPr/>
          <p:nvPr/>
        </p:nvSpPr>
        <p:spPr>
          <a:xfrm>
            <a:off x="7223760" y="1554480"/>
            <a:ext cx="1463040" cy="502920"/>
          </a:xfrm>
          <a:prstGeom prst="rect">
            <a:avLst/>
          </a:prstGeom>
          <a:solidFill>
            <a:srgbClr val="FFFFFF"/>
          </a:solidFill>
          <a:ln w="6350">
            <a:solidFill>
              <a:srgbClr val="CCCCCC"/>
            </a:solidFill>
            <a:prstDash val="solid"/>
          </a:ln>
        </p:spPr>
      </p:sp>
      <p:sp>
        <p:nvSpPr>
          <p:cNvPr id="24" name="Text 20"/>
          <p:cNvSpPr txBox="1"/>
          <p:nvPr/>
        </p:nvSpPr>
        <p:spPr>
          <a:xfrm>
            <a:off x="7269480" y="1554480"/>
            <a:ext cx="13716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1, 3</a:t>
            </a:r>
            <a:endParaRPr lang="en-US" sz="1150" dirty="0"/>
          </a:p>
        </p:txBody>
      </p:sp>
      <p:sp>
        <p:nvSpPr>
          <p:cNvPr id="25" name="Shape 21"/>
          <p:cNvSpPr/>
          <p:nvPr/>
        </p:nvSpPr>
        <p:spPr>
          <a:xfrm>
            <a:off x="457200" y="2057400"/>
            <a:ext cx="548640" cy="502920"/>
          </a:xfrm>
          <a:prstGeom prst="rect">
            <a:avLst/>
          </a:prstGeom>
          <a:solidFill>
            <a:srgbClr val="F3F8F5"/>
          </a:solidFill>
          <a:ln w="6350">
            <a:solidFill>
              <a:srgbClr val="CCCCCC"/>
            </a:solidFill>
            <a:prstDash val="solid"/>
          </a:ln>
        </p:spPr>
      </p:sp>
      <p:sp>
        <p:nvSpPr>
          <p:cNvPr id="26" name="Text 22"/>
          <p:cNvSpPr txBox="1"/>
          <p:nvPr/>
        </p:nvSpPr>
        <p:spPr>
          <a:xfrm>
            <a:off x="502920" y="2057400"/>
            <a:ext cx="4572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2</a:t>
            </a:r>
            <a:endParaRPr lang="en-US" sz="1150" dirty="0"/>
          </a:p>
        </p:txBody>
      </p:sp>
      <p:sp>
        <p:nvSpPr>
          <p:cNvPr id="27" name="Shape 23"/>
          <p:cNvSpPr/>
          <p:nvPr/>
        </p:nvSpPr>
        <p:spPr>
          <a:xfrm>
            <a:off x="1005840" y="2057400"/>
            <a:ext cx="1828800" cy="502920"/>
          </a:xfrm>
          <a:prstGeom prst="rect">
            <a:avLst/>
          </a:prstGeom>
          <a:solidFill>
            <a:srgbClr val="F3F8F5"/>
          </a:solidFill>
          <a:ln w="6350">
            <a:solidFill>
              <a:srgbClr val="CCCCCC"/>
            </a:solidFill>
            <a:prstDash val="solid"/>
          </a:ln>
        </p:spPr>
      </p:sp>
      <p:sp>
        <p:nvSpPr>
          <p:cNvPr id="28" name="Text 24"/>
          <p:cNvSpPr txBox="1"/>
          <p:nvPr/>
        </p:nvSpPr>
        <p:spPr>
          <a:xfrm>
            <a:off x="1051560" y="2057400"/>
            <a:ext cx="173736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S003 (total 105)</a:t>
            </a:r>
            <a:endParaRPr lang="en-US" sz="1150" dirty="0"/>
          </a:p>
        </p:txBody>
      </p:sp>
      <p:sp>
        <p:nvSpPr>
          <p:cNvPr id="29" name="Shape 25"/>
          <p:cNvSpPr/>
          <p:nvPr/>
        </p:nvSpPr>
        <p:spPr>
          <a:xfrm>
            <a:off x="2834640" y="2057400"/>
            <a:ext cx="4389120" cy="502920"/>
          </a:xfrm>
          <a:prstGeom prst="rect">
            <a:avLst/>
          </a:prstGeom>
          <a:solidFill>
            <a:srgbClr val="F3F8F5"/>
          </a:solidFill>
          <a:ln w="6350">
            <a:solidFill>
              <a:srgbClr val="CCCCCC"/>
            </a:solidFill>
            <a:prstDash val="solid"/>
          </a:ln>
        </p:spPr>
      </p:sp>
      <p:sp>
        <p:nvSpPr>
          <p:cNvPr id="30" name="Text 26"/>
          <p:cNvSpPr txBox="1"/>
          <p:nvPr/>
        </p:nvSpPr>
        <p:spPr>
          <a:xfrm>
            <a:off x="2880360" y="2057400"/>
            <a:ext cx="429768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"Masya Allah, target tercapai!"</a:t>
            </a:r>
            <a:endParaRPr lang="en-US" sz="1150" dirty="0"/>
          </a:p>
        </p:txBody>
      </p:sp>
      <p:sp>
        <p:nvSpPr>
          <p:cNvPr id="31" name="Shape 27"/>
          <p:cNvSpPr/>
          <p:nvPr/>
        </p:nvSpPr>
        <p:spPr>
          <a:xfrm>
            <a:off x="7223760" y="2057400"/>
            <a:ext cx="1463040" cy="502920"/>
          </a:xfrm>
          <a:prstGeom prst="rect">
            <a:avLst/>
          </a:prstGeom>
          <a:solidFill>
            <a:srgbClr val="F3F8F5"/>
          </a:solidFill>
          <a:ln w="6350">
            <a:solidFill>
              <a:srgbClr val="CCCCCC"/>
            </a:solidFill>
            <a:prstDash val="solid"/>
          </a:ln>
        </p:spPr>
      </p:sp>
      <p:sp>
        <p:nvSpPr>
          <p:cNvPr id="32" name="Text 28"/>
          <p:cNvSpPr txBox="1"/>
          <p:nvPr/>
        </p:nvSpPr>
        <p:spPr>
          <a:xfrm>
            <a:off x="7269480" y="2057400"/>
            <a:ext cx="13716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1, 2</a:t>
            </a:r>
            <a:endParaRPr lang="en-US" sz="1150" dirty="0"/>
          </a:p>
        </p:txBody>
      </p:sp>
      <p:sp>
        <p:nvSpPr>
          <p:cNvPr id="33" name="Shape 29"/>
          <p:cNvSpPr/>
          <p:nvPr/>
        </p:nvSpPr>
        <p:spPr>
          <a:xfrm>
            <a:off x="457200" y="2560320"/>
            <a:ext cx="548640" cy="502920"/>
          </a:xfrm>
          <a:prstGeom prst="rect">
            <a:avLst/>
          </a:prstGeom>
          <a:solidFill>
            <a:srgbClr val="FFFFFF"/>
          </a:solidFill>
          <a:ln w="6350">
            <a:solidFill>
              <a:srgbClr val="CCCCCC"/>
            </a:solidFill>
            <a:prstDash val="solid"/>
          </a:ln>
        </p:spPr>
      </p:sp>
      <p:sp>
        <p:nvSpPr>
          <p:cNvPr id="34" name="Text 30"/>
          <p:cNvSpPr txBox="1"/>
          <p:nvPr/>
        </p:nvSpPr>
        <p:spPr>
          <a:xfrm>
            <a:off x="502920" y="2560320"/>
            <a:ext cx="4572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3</a:t>
            </a:r>
            <a:endParaRPr lang="en-US" sz="1150" dirty="0"/>
          </a:p>
        </p:txBody>
      </p:sp>
      <p:sp>
        <p:nvSpPr>
          <p:cNvPr id="35" name="Shape 31"/>
          <p:cNvSpPr/>
          <p:nvPr/>
        </p:nvSpPr>
        <p:spPr>
          <a:xfrm>
            <a:off x="1005840" y="2560320"/>
            <a:ext cx="1828800" cy="502920"/>
          </a:xfrm>
          <a:prstGeom prst="rect">
            <a:avLst/>
          </a:prstGeom>
          <a:solidFill>
            <a:srgbClr val="FFFFFF"/>
          </a:solidFill>
          <a:ln w="6350">
            <a:solidFill>
              <a:srgbClr val="CCCCCC"/>
            </a:solidFill>
            <a:prstDash val="solid"/>
          </a:ln>
        </p:spPr>
      </p:sp>
      <p:sp>
        <p:nvSpPr>
          <p:cNvPr id="36" name="Text 32"/>
          <p:cNvSpPr txBox="1"/>
          <p:nvPr/>
        </p:nvSpPr>
        <p:spPr>
          <a:xfrm>
            <a:off x="1051560" y="2560320"/>
            <a:ext cx="173736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(kosong)</a:t>
            </a:r>
            <a:endParaRPr lang="en-US" sz="1150" dirty="0"/>
          </a:p>
        </p:txBody>
      </p:sp>
      <p:sp>
        <p:nvSpPr>
          <p:cNvPr id="37" name="Shape 33"/>
          <p:cNvSpPr/>
          <p:nvPr/>
        </p:nvSpPr>
        <p:spPr>
          <a:xfrm>
            <a:off x="2834640" y="2560320"/>
            <a:ext cx="4389120" cy="502920"/>
          </a:xfrm>
          <a:prstGeom prst="rect">
            <a:avLst/>
          </a:prstGeom>
          <a:solidFill>
            <a:srgbClr val="FFFFFF"/>
          </a:solidFill>
          <a:ln w="6350">
            <a:solidFill>
              <a:srgbClr val="CCCCCC"/>
            </a:solidFill>
            <a:prstDash val="solid"/>
          </a:ln>
        </p:spPr>
      </p:sp>
      <p:sp>
        <p:nvSpPr>
          <p:cNvPr id="38" name="Text 34"/>
          <p:cNvSpPr txBox="1"/>
          <p:nvPr/>
        </p:nvSpPr>
        <p:spPr>
          <a:xfrm>
            <a:off x="2880360" y="2560320"/>
            <a:ext cx="429768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"Isi kode santri dulu."</a:t>
            </a:r>
            <a:endParaRPr lang="en-US" sz="1150" dirty="0"/>
          </a:p>
        </p:txBody>
      </p:sp>
      <p:sp>
        <p:nvSpPr>
          <p:cNvPr id="39" name="Shape 35"/>
          <p:cNvSpPr/>
          <p:nvPr/>
        </p:nvSpPr>
        <p:spPr>
          <a:xfrm>
            <a:off x="7223760" y="2560320"/>
            <a:ext cx="1463040" cy="502920"/>
          </a:xfrm>
          <a:prstGeom prst="rect">
            <a:avLst/>
          </a:prstGeom>
          <a:solidFill>
            <a:srgbClr val="FFFFFF"/>
          </a:solidFill>
          <a:ln w="6350">
            <a:solidFill>
              <a:srgbClr val="CCCCCC"/>
            </a:solidFill>
            <a:prstDash val="solid"/>
          </a:ln>
        </p:spPr>
      </p:sp>
      <p:sp>
        <p:nvSpPr>
          <p:cNvPr id="40" name="Text 36"/>
          <p:cNvSpPr txBox="1"/>
          <p:nvPr/>
        </p:nvSpPr>
        <p:spPr>
          <a:xfrm>
            <a:off x="7269480" y="2560320"/>
            <a:ext cx="13716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4</a:t>
            </a:r>
            <a:endParaRPr lang="en-US" sz="1150" dirty="0"/>
          </a:p>
        </p:txBody>
      </p:sp>
      <p:sp>
        <p:nvSpPr>
          <p:cNvPr id="41" name="Shape 37"/>
          <p:cNvSpPr/>
          <p:nvPr/>
        </p:nvSpPr>
        <p:spPr>
          <a:xfrm>
            <a:off x="457200" y="3063240"/>
            <a:ext cx="548640" cy="502920"/>
          </a:xfrm>
          <a:prstGeom prst="rect">
            <a:avLst/>
          </a:prstGeom>
          <a:solidFill>
            <a:srgbClr val="F3F8F5"/>
          </a:solidFill>
          <a:ln w="6350">
            <a:solidFill>
              <a:srgbClr val="CCCCCC"/>
            </a:solidFill>
            <a:prstDash val="solid"/>
          </a:ln>
        </p:spPr>
      </p:sp>
      <p:sp>
        <p:nvSpPr>
          <p:cNvPr id="42" name="Text 38"/>
          <p:cNvSpPr txBox="1"/>
          <p:nvPr/>
        </p:nvSpPr>
        <p:spPr>
          <a:xfrm>
            <a:off x="502920" y="3063240"/>
            <a:ext cx="4572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4</a:t>
            </a:r>
            <a:endParaRPr lang="en-US" sz="1150" dirty="0"/>
          </a:p>
        </p:txBody>
      </p:sp>
      <p:sp>
        <p:nvSpPr>
          <p:cNvPr id="43" name="Shape 39"/>
          <p:cNvSpPr/>
          <p:nvPr/>
        </p:nvSpPr>
        <p:spPr>
          <a:xfrm>
            <a:off x="1005840" y="3063240"/>
            <a:ext cx="1828800" cy="502920"/>
          </a:xfrm>
          <a:prstGeom prst="rect">
            <a:avLst/>
          </a:prstGeom>
          <a:solidFill>
            <a:srgbClr val="F3F8F5"/>
          </a:solidFill>
          <a:ln w="6350">
            <a:solidFill>
              <a:srgbClr val="CCCCCC"/>
            </a:solidFill>
            <a:prstDash val="solid"/>
          </a:ln>
        </p:spPr>
      </p:sp>
      <p:sp>
        <p:nvSpPr>
          <p:cNvPr id="44" name="Text 40"/>
          <p:cNvSpPr txBox="1"/>
          <p:nvPr/>
        </p:nvSpPr>
        <p:spPr>
          <a:xfrm>
            <a:off x="1051560" y="3063240"/>
            <a:ext cx="173736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S099 (tidak ada)</a:t>
            </a:r>
            <a:endParaRPr lang="en-US" sz="1150" dirty="0"/>
          </a:p>
        </p:txBody>
      </p:sp>
      <p:sp>
        <p:nvSpPr>
          <p:cNvPr id="45" name="Shape 41"/>
          <p:cNvSpPr/>
          <p:nvPr/>
        </p:nvSpPr>
        <p:spPr>
          <a:xfrm>
            <a:off x="2834640" y="3063240"/>
            <a:ext cx="4389120" cy="502920"/>
          </a:xfrm>
          <a:prstGeom prst="rect">
            <a:avLst/>
          </a:prstGeom>
          <a:solidFill>
            <a:srgbClr val="F3F8F5"/>
          </a:solidFill>
          <a:ln w="6350">
            <a:solidFill>
              <a:srgbClr val="CCCCCC"/>
            </a:solidFill>
            <a:prstDash val="solid"/>
          </a:ln>
        </p:spPr>
      </p:sp>
      <p:sp>
        <p:nvSpPr>
          <p:cNvPr id="46" name="Text 42"/>
          <p:cNvSpPr txBox="1"/>
          <p:nvPr/>
        </p:nvSpPr>
        <p:spPr>
          <a:xfrm>
            <a:off x="2880360" y="3063240"/>
            <a:ext cx="429768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"Kode tidak ditemukan."</a:t>
            </a:r>
            <a:endParaRPr lang="en-US" sz="1150" dirty="0"/>
          </a:p>
        </p:txBody>
      </p:sp>
      <p:sp>
        <p:nvSpPr>
          <p:cNvPr id="47" name="Shape 43"/>
          <p:cNvSpPr/>
          <p:nvPr/>
        </p:nvSpPr>
        <p:spPr>
          <a:xfrm>
            <a:off x="7223760" y="3063240"/>
            <a:ext cx="1463040" cy="502920"/>
          </a:xfrm>
          <a:prstGeom prst="rect">
            <a:avLst/>
          </a:prstGeom>
          <a:solidFill>
            <a:srgbClr val="F3F8F5"/>
          </a:solidFill>
          <a:ln w="6350">
            <a:solidFill>
              <a:srgbClr val="CCCCCC"/>
            </a:solidFill>
            <a:prstDash val="solid"/>
          </a:ln>
        </p:spPr>
      </p:sp>
      <p:sp>
        <p:nvSpPr>
          <p:cNvPr id="48" name="Text 44"/>
          <p:cNvSpPr txBox="1"/>
          <p:nvPr/>
        </p:nvSpPr>
        <p:spPr>
          <a:xfrm>
            <a:off x="7269480" y="3063240"/>
            <a:ext cx="137160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4</a:t>
            </a:r>
            <a:endParaRPr lang="en-US" sz="1150" dirty="0"/>
          </a:p>
        </p:txBody>
      </p:sp>
      <p:sp>
        <p:nvSpPr>
          <p:cNvPr id="49" name="Shape 45"/>
          <p:cNvSpPr/>
          <p:nvPr/>
        </p:nvSpPr>
        <p:spPr>
          <a:xfrm>
            <a:off x="457200" y="3749040"/>
            <a:ext cx="8229600" cy="777240"/>
          </a:xfrm>
          <a:prstGeom prst="roundRect">
            <a:avLst>
              <a:gd name="adj" fmla="val 11765"/>
            </a:avLst>
          </a:prstGeom>
          <a:solidFill>
            <a:srgbClr val="FBF1D3"/>
          </a:solidFill>
          <a:ln w="12700">
            <a:solidFill>
              <a:srgbClr val="FBF1D3"/>
            </a:solidFill>
            <a:prstDash val="solid"/>
          </a:ln>
        </p:spPr>
      </p:sp>
      <p:sp>
        <p:nvSpPr>
          <p:cNvPr id="50" name="Text 46"/>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Dibuat SEBELUM melihat kode, dari kriteria penerimaan. Jadi kita menguji kebutuhan, bukan sekadar menguji kode.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Daftar Code Review</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Paham?</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Setiap anggota bisa menjelaskan setiap baris. Yang belum dipahami: tanya dulu.</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Sesuai?</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mengerjakan yang diminta. Tidak mengubah bagian lain yang sudah benar.</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Aman?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Tanpa data pribadi; textContent untuk menampilkan; validasi input.</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Sederhana &amp; Rapi?</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variabel jelas, ada komentar, tidak ada kode yang tidak terpakai.</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Menguji dan Meninjau Fitur</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AI bergiliran, diawasi guru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test case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Meminta kode dan code review</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memperbaiki, mencatat</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Test Case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Backend_Setoran_Kel3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50292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77724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9012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9012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77724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Waktu</a:t>
            </a:r>
            <a:endParaRPr lang="en-US" sz="600" dirty="0"/>
          </a:p>
        </p:txBody>
      </p:sp>
      <p:sp>
        <p:nvSpPr>
          <p:cNvPr id="73" name="Shape 65"/>
          <p:cNvSpPr/>
          <p:nvPr/>
        </p:nvSpPr>
        <p:spPr>
          <a:xfrm>
            <a:off x="1621048" y="2693089"/>
            <a:ext cx="502920" cy="119299"/>
          </a:xfrm>
          <a:prstGeom prst="rect">
            <a:avLst/>
          </a:prstGeom>
          <a:solidFill>
            <a:srgbClr val="0F4C3A"/>
          </a:solidFill>
          <a:ln w="6350">
            <a:solidFill>
              <a:srgbClr val="E2E2E2"/>
            </a:solidFill>
            <a:prstDash val="solid"/>
          </a:ln>
        </p:spPr>
      </p:sp>
      <p:sp>
        <p:nvSpPr>
          <p:cNvPr id="74" name="Text 66"/>
          <p:cNvSpPr txBox="1"/>
          <p:nvPr/>
        </p:nvSpPr>
        <p:spPr>
          <a:xfrm>
            <a:off x="164848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5" name="Shape 67"/>
          <p:cNvSpPr/>
          <p:nvPr/>
        </p:nvSpPr>
        <p:spPr>
          <a:xfrm>
            <a:off x="212396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215140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77" name="Shape 69"/>
          <p:cNvSpPr/>
          <p:nvPr/>
        </p:nvSpPr>
        <p:spPr>
          <a:xfrm>
            <a:off x="290120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29286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777240" cy="119299"/>
          </a:xfrm>
          <a:prstGeom prst="rect">
            <a:avLst/>
          </a:prstGeom>
          <a:solidFill>
            <a:srgbClr val="FFFFFF"/>
          </a:solidFill>
          <a:ln w="6350">
            <a:solidFill>
              <a:srgbClr val="E2E2E2"/>
            </a:solidFill>
            <a:prstDash val="solid"/>
          </a:ln>
        </p:spPr>
      </p:sp>
      <p:sp>
        <p:nvSpPr>
          <p:cNvPr id="82" name="Text 74"/>
          <p:cNvSpPr txBox="1"/>
          <p:nvPr/>
        </p:nvSpPr>
        <p:spPr>
          <a:xfrm>
            <a:off x="87124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 07:10</a:t>
            </a:r>
            <a:endParaRPr lang="en-US" sz="600" dirty="0"/>
          </a:p>
        </p:txBody>
      </p:sp>
      <p:sp>
        <p:nvSpPr>
          <p:cNvPr id="83" name="Shape 75"/>
          <p:cNvSpPr/>
          <p:nvPr/>
        </p:nvSpPr>
        <p:spPr>
          <a:xfrm>
            <a:off x="1621048" y="2812388"/>
            <a:ext cx="502920" cy="119299"/>
          </a:xfrm>
          <a:prstGeom prst="rect">
            <a:avLst/>
          </a:prstGeom>
          <a:solidFill>
            <a:srgbClr val="FFFFFF"/>
          </a:solidFill>
          <a:ln w="6350">
            <a:solidFill>
              <a:srgbClr val="E2E2E2"/>
            </a:solidFill>
            <a:prstDash val="solid"/>
          </a:ln>
        </p:spPr>
      </p:sp>
      <p:sp>
        <p:nvSpPr>
          <p:cNvPr id="84" name="Text 76"/>
          <p:cNvSpPr txBox="1"/>
          <p:nvPr/>
        </p:nvSpPr>
        <p:spPr>
          <a:xfrm>
            <a:off x="164848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85" name="Shape 77"/>
          <p:cNvSpPr/>
          <p:nvPr/>
        </p:nvSpPr>
        <p:spPr>
          <a:xfrm>
            <a:off x="2123968" y="2812388"/>
            <a:ext cx="777240" cy="119299"/>
          </a:xfrm>
          <a:prstGeom prst="rect">
            <a:avLst/>
          </a:prstGeom>
          <a:solidFill>
            <a:srgbClr val="FFFFFF"/>
          </a:solidFill>
          <a:ln w="6350">
            <a:solidFill>
              <a:srgbClr val="E2E2E2"/>
            </a:solidFill>
            <a:prstDash val="solid"/>
          </a:ln>
        </p:spPr>
      </p:sp>
      <p:sp>
        <p:nvSpPr>
          <p:cNvPr id="86" name="Text 78"/>
          <p:cNvSpPr txBox="1"/>
          <p:nvPr/>
        </p:nvSpPr>
        <p:spPr>
          <a:xfrm>
            <a:off x="215140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87" name="Shape 79"/>
          <p:cNvSpPr/>
          <p:nvPr/>
        </p:nvSpPr>
        <p:spPr>
          <a:xfrm>
            <a:off x="2901208" y="2812388"/>
            <a:ext cx="457200" cy="119299"/>
          </a:xfrm>
          <a:prstGeom prst="rect">
            <a:avLst/>
          </a:prstGeom>
          <a:solidFill>
            <a:srgbClr val="FFFFFF"/>
          </a:solidFill>
          <a:ln w="6350">
            <a:solidFill>
              <a:srgbClr val="E2E2E2"/>
            </a:solidFill>
            <a:prstDash val="solid"/>
          </a:ln>
        </p:spPr>
      </p:sp>
      <p:sp>
        <p:nvSpPr>
          <p:cNvPr id="88" name="Text 80"/>
          <p:cNvSpPr txBox="1"/>
          <p:nvPr/>
        </p:nvSpPr>
        <p:spPr>
          <a:xfrm>
            <a:off x="2928640" y="2812388"/>
            <a:ext cx="4023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77724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 07:05</a:t>
            </a:r>
            <a:endParaRPr lang="en-US" sz="600" dirty="0"/>
          </a:p>
        </p:txBody>
      </p:sp>
      <p:sp>
        <p:nvSpPr>
          <p:cNvPr id="93" name="Shape 85"/>
          <p:cNvSpPr/>
          <p:nvPr/>
        </p:nvSpPr>
        <p:spPr>
          <a:xfrm>
            <a:off x="1621048" y="2931688"/>
            <a:ext cx="502920" cy="119299"/>
          </a:xfrm>
          <a:prstGeom prst="rect">
            <a:avLst/>
          </a:prstGeom>
          <a:solidFill>
            <a:srgbClr val="FFFFFF"/>
          </a:solidFill>
          <a:ln w="6350">
            <a:solidFill>
              <a:srgbClr val="E2E2E2"/>
            </a:solidFill>
            <a:prstDash val="solid"/>
          </a:ln>
        </p:spPr>
      </p:sp>
      <p:sp>
        <p:nvSpPr>
          <p:cNvPr id="94" name="Text 86"/>
          <p:cNvSpPr txBox="1"/>
          <p:nvPr/>
        </p:nvSpPr>
        <p:spPr>
          <a:xfrm>
            <a:off x="164848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5" name="Shape 87"/>
          <p:cNvSpPr/>
          <p:nvPr/>
        </p:nvSpPr>
        <p:spPr>
          <a:xfrm>
            <a:off x="2123968" y="2931688"/>
            <a:ext cx="777240" cy="119299"/>
          </a:xfrm>
          <a:prstGeom prst="rect">
            <a:avLst/>
          </a:prstGeom>
          <a:solidFill>
            <a:srgbClr val="FFFFFF"/>
          </a:solidFill>
          <a:ln w="6350">
            <a:solidFill>
              <a:srgbClr val="E2E2E2"/>
            </a:solidFill>
            <a:prstDash val="solid"/>
          </a:ln>
        </p:spPr>
      </p:sp>
      <p:sp>
        <p:nvSpPr>
          <p:cNvPr id="96" name="Text 88"/>
          <p:cNvSpPr txBox="1"/>
          <p:nvPr/>
        </p:nvSpPr>
        <p:spPr>
          <a:xfrm>
            <a:off x="215140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Abasa</a:t>
            </a:r>
            <a:endParaRPr lang="en-US" sz="600" dirty="0"/>
          </a:p>
        </p:txBody>
      </p:sp>
      <p:sp>
        <p:nvSpPr>
          <p:cNvPr id="97" name="Shape 89"/>
          <p:cNvSpPr/>
          <p:nvPr/>
        </p:nvSpPr>
        <p:spPr>
          <a:xfrm>
            <a:off x="2901208" y="2931688"/>
            <a:ext cx="457200" cy="119299"/>
          </a:xfrm>
          <a:prstGeom prst="rect">
            <a:avLst/>
          </a:prstGeom>
          <a:solidFill>
            <a:srgbClr val="FFFFFF"/>
          </a:solidFill>
          <a:ln w="6350">
            <a:solidFill>
              <a:srgbClr val="E2E2E2"/>
            </a:solidFill>
            <a:prstDash val="solid"/>
          </a:ln>
        </p:spPr>
      </p:sp>
      <p:sp>
        <p:nvSpPr>
          <p:cNvPr id="98" name="Text 90"/>
          <p:cNvSpPr txBox="1"/>
          <p:nvPr/>
        </p:nvSpPr>
        <p:spPr>
          <a:xfrm>
            <a:off x="2928640" y="2931688"/>
            <a:ext cx="4023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18</a:t>
            </a:r>
            <a:endParaRPr lang="en-US" sz="600" dirty="0"/>
          </a:p>
        </p:txBody>
      </p:sp>
      <p:sp>
        <p:nvSpPr>
          <p:cNvPr id="99" name="Shape 91"/>
          <p:cNvSpPr/>
          <p:nvPr/>
        </p:nvSpPr>
        <p:spPr>
          <a:xfrm>
            <a:off x="587776" y="3050987"/>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1" name="Shape 93"/>
          <p:cNvSpPr/>
          <p:nvPr/>
        </p:nvSpPr>
        <p:spPr>
          <a:xfrm>
            <a:off x="843808" y="3050987"/>
            <a:ext cx="777240" cy="119299"/>
          </a:xfrm>
          <a:prstGeom prst="rect">
            <a:avLst/>
          </a:prstGeom>
          <a:solidFill>
            <a:srgbClr val="FFFFFF"/>
          </a:solidFill>
          <a:ln w="6350">
            <a:solidFill>
              <a:srgbClr val="E2E2E2"/>
            </a:solidFill>
            <a:prstDash val="solid"/>
          </a:ln>
        </p:spPr>
      </p:sp>
      <p:sp>
        <p:nvSpPr>
          <p:cNvPr id="102" name="Text 94"/>
          <p:cNvSpPr txBox="1"/>
          <p:nvPr/>
        </p:nvSpPr>
        <p:spPr>
          <a:xfrm>
            <a:off x="87124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 07:20</a:t>
            </a:r>
            <a:endParaRPr lang="en-US" sz="600" dirty="0"/>
          </a:p>
        </p:txBody>
      </p:sp>
      <p:sp>
        <p:nvSpPr>
          <p:cNvPr id="103" name="Shape 95"/>
          <p:cNvSpPr/>
          <p:nvPr/>
        </p:nvSpPr>
        <p:spPr>
          <a:xfrm>
            <a:off x="1621048" y="3050987"/>
            <a:ext cx="502920" cy="119299"/>
          </a:xfrm>
          <a:prstGeom prst="rect">
            <a:avLst/>
          </a:prstGeom>
          <a:solidFill>
            <a:srgbClr val="FFFFFF"/>
          </a:solidFill>
          <a:ln w="6350">
            <a:solidFill>
              <a:srgbClr val="E2E2E2"/>
            </a:solidFill>
            <a:prstDash val="solid"/>
          </a:ln>
        </p:spPr>
      </p:sp>
      <p:sp>
        <p:nvSpPr>
          <p:cNvPr id="104" name="Text 96"/>
          <p:cNvSpPr txBox="1"/>
          <p:nvPr/>
        </p:nvSpPr>
        <p:spPr>
          <a:xfrm>
            <a:off x="164848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5" name="Shape 97"/>
          <p:cNvSpPr/>
          <p:nvPr/>
        </p:nvSpPr>
        <p:spPr>
          <a:xfrm>
            <a:off x="2123968" y="3050987"/>
            <a:ext cx="777240" cy="119299"/>
          </a:xfrm>
          <a:prstGeom prst="rect">
            <a:avLst/>
          </a:prstGeom>
          <a:solidFill>
            <a:srgbClr val="FFFFFF"/>
          </a:solidFill>
          <a:ln w="6350">
            <a:solidFill>
              <a:srgbClr val="E2E2E2"/>
            </a:solidFill>
            <a:prstDash val="solid"/>
          </a:ln>
        </p:spPr>
      </p:sp>
      <p:sp>
        <p:nvSpPr>
          <p:cNvPr id="106" name="Text 98"/>
          <p:cNvSpPr txBox="1"/>
          <p:nvPr/>
        </p:nvSpPr>
        <p:spPr>
          <a:xfrm>
            <a:off x="215140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Al-Mulk</a:t>
            </a:r>
            <a:endParaRPr lang="en-US" sz="600" dirty="0"/>
          </a:p>
        </p:txBody>
      </p:sp>
      <p:sp>
        <p:nvSpPr>
          <p:cNvPr id="107" name="Shape 99"/>
          <p:cNvSpPr/>
          <p:nvPr/>
        </p:nvSpPr>
        <p:spPr>
          <a:xfrm>
            <a:off x="2901208" y="3050987"/>
            <a:ext cx="457200" cy="119299"/>
          </a:xfrm>
          <a:prstGeom prst="rect">
            <a:avLst/>
          </a:prstGeom>
          <a:solidFill>
            <a:srgbClr val="FFFFFF"/>
          </a:solidFill>
          <a:ln w="6350">
            <a:solidFill>
              <a:srgbClr val="E2E2E2"/>
            </a:solidFill>
            <a:prstDash val="solid"/>
          </a:ln>
        </p:spPr>
      </p:sp>
      <p:sp>
        <p:nvSpPr>
          <p:cNvPr id="108" name="Text 100"/>
          <p:cNvSpPr txBox="1"/>
          <p:nvPr/>
        </p:nvSpPr>
        <p:spPr>
          <a:xfrm>
            <a:off x="2928640" y="3050987"/>
            <a:ext cx="4023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30</a:t>
            </a:r>
            <a:endParaRPr lang="en-US" sz="600" dirty="0"/>
          </a:p>
        </p:txBody>
      </p:sp>
      <p:sp>
        <p:nvSpPr>
          <p:cNvPr id="109" name="Shape 101"/>
          <p:cNvSpPr/>
          <p:nvPr/>
        </p:nvSpPr>
        <p:spPr>
          <a:xfrm>
            <a:off x="587776" y="3170287"/>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1" name="Shape 103"/>
          <p:cNvSpPr/>
          <p:nvPr/>
        </p:nvSpPr>
        <p:spPr>
          <a:xfrm>
            <a:off x="843808" y="3170287"/>
            <a:ext cx="777240" cy="119299"/>
          </a:xfrm>
          <a:prstGeom prst="rect">
            <a:avLst/>
          </a:prstGeom>
          <a:solidFill>
            <a:srgbClr val="FFFFFF"/>
          </a:solidFill>
          <a:ln w="6350">
            <a:solidFill>
              <a:srgbClr val="E2E2E2"/>
            </a:solidFill>
            <a:prstDash val="solid"/>
          </a:ln>
        </p:spPr>
      </p:sp>
      <p:sp>
        <p:nvSpPr>
          <p:cNvPr id="112" name="Text 104"/>
          <p:cNvSpPr txBox="1"/>
          <p:nvPr/>
        </p:nvSpPr>
        <p:spPr>
          <a:xfrm>
            <a:off x="87124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05/02 07:15</a:t>
            </a:r>
            <a:endParaRPr lang="en-US" sz="600" dirty="0"/>
          </a:p>
        </p:txBody>
      </p:sp>
      <p:sp>
        <p:nvSpPr>
          <p:cNvPr id="113" name="Shape 105"/>
          <p:cNvSpPr/>
          <p:nvPr/>
        </p:nvSpPr>
        <p:spPr>
          <a:xfrm>
            <a:off x="1621048" y="3170287"/>
            <a:ext cx="502920" cy="119299"/>
          </a:xfrm>
          <a:prstGeom prst="rect">
            <a:avLst/>
          </a:prstGeom>
          <a:solidFill>
            <a:srgbClr val="FFFFFF"/>
          </a:solidFill>
          <a:ln w="6350">
            <a:solidFill>
              <a:srgbClr val="E2E2E2"/>
            </a:solidFill>
            <a:prstDash val="solid"/>
          </a:ln>
        </p:spPr>
      </p:sp>
      <p:sp>
        <p:nvSpPr>
          <p:cNvPr id="114" name="Text 106"/>
          <p:cNvSpPr txBox="1"/>
          <p:nvPr/>
        </p:nvSpPr>
        <p:spPr>
          <a:xfrm>
            <a:off x="164848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5" name="Shape 107"/>
          <p:cNvSpPr/>
          <p:nvPr/>
        </p:nvSpPr>
        <p:spPr>
          <a:xfrm>
            <a:off x="2123968" y="3170287"/>
            <a:ext cx="777240" cy="119299"/>
          </a:xfrm>
          <a:prstGeom prst="rect">
            <a:avLst/>
          </a:prstGeom>
          <a:solidFill>
            <a:srgbClr val="FFFFFF"/>
          </a:solidFill>
          <a:ln w="6350">
            <a:solidFill>
              <a:srgbClr val="E2E2E2"/>
            </a:solidFill>
            <a:prstDash val="solid"/>
          </a:ln>
        </p:spPr>
      </p:sp>
      <p:sp>
        <p:nvSpPr>
          <p:cNvPr id="116" name="Text 108"/>
          <p:cNvSpPr txBox="1"/>
          <p:nvPr/>
        </p:nvSpPr>
        <p:spPr>
          <a:xfrm>
            <a:off x="215140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Yasin</a:t>
            </a:r>
            <a:endParaRPr lang="en-US" sz="600" dirty="0"/>
          </a:p>
        </p:txBody>
      </p:sp>
      <p:sp>
        <p:nvSpPr>
          <p:cNvPr id="117" name="Shape 109"/>
          <p:cNvSpPr/>
          <p:nvPr/>
        </p:nvSpPr>
        <p:spPr>
          <a:xfrm>
            <a:off x="2901208" y="3170287"/>
            <a:ext cx="457200" cy="119299"/>
          </a:xfrm>
          <a:prstGeom prst="rect">
            <a:avLst/>
          </a:prstGeom>
          <a:solidFill>
            <a:srgbClr val="FFFFFF"/>
          </a:solidFill>
          <a:ln w="6350">
            <a:solidFill>
              <a:srgbClr val="E2E2E2"/>
            </a:solidFill>
            <a:prstDash val="solid"/>
          </a:ln>
        </p:spPr>
      </p:sp>
      <p:sp>
        <p:nvSpPr>
          <p:cNvPr id="118" name="Text 110"/>
          <p:cNvSpPr txBox="1"/>
          <p:nvPr/>
        </p:nvSpPr>
        <p:spPr>
          <a:xfrm>
            <a:off x="2928640" y="3170287"/>
            <a:ext cx="4023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777240" cy="119299"/>
          </a:xfrm>
          <a:prstGeom prst="rect">
            <a:avLst/>
          </a:prstGeom>
          <a:solidFill>
            <a:srgbClr val="FFFFFF"/>
          </a:solidFill>
          <a:ln w="6350">
            <a:solidFill>
              <a:srgbClr val="E2E2E2"/>
            </a:solidFill>
            <a:prstDash val="solid"/>
          </a:ln>
        </p:spPr>
      </p:sp>
      <p:sp>
        <p:nvSpPr>
          <p:cNvPr id="122" name="Shape 114"/>
          <p:cNvSpPr/>
          <p:nvPr/>
        </p:nvSpPr>
        <p:spPr>
          <a:xfrm>
            <a:off x="1621048" y="3289586"/>
            <a:ext cx="502920" cy="119299"/>
          </a:xfrm>
          <a:prstGeom prst="rect">
            <a:avLst/>
          </a:prstGeom>
          <a:solidFill>
            <a:srgbClr val="FFFFFF"/>
          </a:solidFill>
          <a:ln w="6350">
            <a:solidFill>
              <a:srgbClr val="E2E2E2"/>
            </a:solidFill>
            <a:prstDash val="solid"/>
          </a:ln>
        </p:spPr>
      </p:sp>
      <p:sp>
        <p:nvSpPr>
          <p:cNvPr id="123" name="Shape 115"/>
          <p:cNvSpPr/>
          <p:nvPr/>
        </p:nvSpPr>
        <p:spPr>
          <a:xfrm>
            <a:off x="2123968" y="3289586"/>
            <a:ext cx="777240" cy="119299"/>
          </a:xfrm>
          <a:prstGeom prst="rect">
            <a:avLst/>
          </a:prstGeom>
          <a:solidFill>
            <a:srgbClr val="FFFFFF"/>
          </a:solidFill>
          <a:ln w="6350">
            <a:solidFill>
              <a:srgbClr val="E2E2E2"/>
            </a:solidFill>
            <a:prstDash val="solid"/>
          </a:ln>
        </p:spPr>
      </p:sp>
      <p:sp>
        <p:nvSpPr>
          <p:cNvPr id="124" name="Shape 116"/>
          <p:cNvSpPr/>
          <p:nvPr/>
        </p:nvSpPr>
        <p:spPr>
          <a:xfrm>
            <a:off x="2901208" y="3289586"/>
            <a:ext cx="457200" cy="119299"/>
          </a:xfrm>
          <a:prstGeom prst="rect">
            <a:avLst/>
          </a:prstGeom>
          <a:solidFill>
            <a:srgbClr val="FFFFFF"/>
          </a:solidFill>
          <a:ln w="6350">
            <a:solidFill>
              <a:srgbClr val="E2E2E2"/>
            </a:solidFill>
            <a:prstDash val="solid"/>
          </a:ln>
        </p:spPr>
      </p:sp>
      <p:sp>
        <p:nvSpPr>
          <p:cNvPr id="125" name="Shape 117"/>
          <p:cNvSpPr/>
          <p:nvPr/>
        </p:nvSpPr>
        <p:spPr>
          <a:xfrm>
            <a:off x="587776" y="3408885"/>
            <a:ext cx="256032" cy="119299"/>
          </a:xfrm>
          <a:prstGeom prst="rect">
            <a:avLst/>
          </a:prstGeom>
          <a:solidFill>
            <a:srgbClr val="F8F9FA"/>
          </a:solidFill>
          <a:ln w="6350">
            <a:solidFill>
              <a:srgbClr val="DDDDDD"/>
            </a:solidFill>
            <a:prstDash val="solid"/>
          </a:ln>
        </p:spPr>
      </p:sp>
      <p:sp>
        <p:nvSpPr>
          <p:cNvPr id="126" name="Text 11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7" name="Shape 119"/>
          <p:cNvSpPr/>
          <p:nvPr/>
        </p:nvSpPr>
        <p:spPr>
          <a:xfrm>
            <a:off x="843808" y="3408885"/>
            <a:ext cx="777240" cy="119299"/>
          </a:xfrm>
          <a:prstGeom prst="rect">
            <a:avLst/>
          </a:prstGeom>
          <a:solidFill>
            <a:srgbClr val="FFFFFF"/>
          </a:solidFill>
          <a:ln w="6350">
            <a:solidFill>
              <a:srgbClr val="E2E2E2"/>
            </a:solidFill>
            <a:prstDash val="solid"/>
          </a:ln>
        </p:spPr>
      </p:sp>
      <p:sp>
        <p:nvSpPr>
          <p:cNvPr id="128" name="Shape 120"/>
          <p:cNvSpPr/>
          <p:nvPr/>
        </p:nvSpPr>
        <p:spPr>
          <a:xfrm>
            <a:off x="1621048" y="3408885"/>
            <a:ext cx="502920" cy="119299"/>
          </a:xfrm>
          <a:prstGeom prst="rect">
            <a:avLst/>
          </a:prstGeom>
          <a:solidFill>
            <a:srgbClr val="FFFFFF"/>
          </a:solidFill>
          <a:ln w="6350">
            <a:solidFill>
              <a:srgbClr val="E2E2E2"/>
            </a:solidFill>
            <a:prstDash val="solid"/>
          </a:ln>
        </p:spPr>
      </p:sp>
      <p:sp>
        <p:nvSpPr>
          <p:cNvPr id="129" name="Shape 121"/>
          <p:cNvSpPr/>
          <p:nvPr/>
        </p:nvSpPr>
        <p:spPr>
          <a:xfrm>
            <a:off x="2123968" y="3408885"/>
            <a:ext cx="777240" cy="119299"/>
          </a:xfrm>
          <a:prstGeom prst="rect">
            <a:avLst/>
          </a:prstGeom>
          <a:solidFill>
            <a:srgbClr val="FFFFFF"/>
          </a:solidFill>
          <a:ln w="6350">
            <a:solidFill>
              <a:srgbClr val="E2E2E2"/>
            </a:solidFill>
            <a:prstDash val="solid"/>
          </a:ln>
        </p:spPr>
      </p:sp>
      <p:sp>
        <p:nvSpPr>
          <p:cNvPr id="130" name="Shape 122"/>
          <p:cNvSpPr/>
          <p:nvPr/>
        </p:nvSpPr>
        <p:spPr>
          <a:xfrm>
            <a:off x="2901208" y="3408885"/>
            <a:ext cx="457200" cy="119299"/>
          </a:xfrm>
          <a:prstGeom prst="rect">
            <a:avLst/>
          </a:prstGeom>
          <a:solidFill>
            <a:srgbClr val="FFFFFF"/>
          </a:solidFill>
          <a:ln w="6350">
            <a:solidFill>
              <a:srgbClr val="E2E2E2"/>
            </a:solidFill>
            <a:prstDash val="solid"/>
          </a:ln>
        </p:spPr>
      </p:sp>
      <p:sp>
        <p:nvSpPr>
          <p:cNvPr id="131" name="Shape 123"/>
          <p:cNvSpPr/>
          <p:nvPr/>
        </p:nvSpPr>
        <p:spPr>
          <a:xfrm>
            <a:off x="587776" y="3528185"/>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3" name="Shape 125"/>
          <p:cNvSpPr/>
          <p:nvPr/>
        </p:nvSpPr>
        <p:spPr>
          <a:xfrm>
            <a:off x="843808" y="3528185"/>
            <a:ext cx="777240" cy="119299"/>
          </a:xfrm>
          <a:prstGeom prst="rect">
            <a:avLst/>
          </a:prstGeom>
          <a:solidFill>
            <a:srgbClr val="FFFFFF"/>
          </a:solidFill>
          <a:ln w="6350">
            <a:solidFill>
              <a:srgbClr val="E2E2E2"/>
            </a:solidFill>
            <a:prstDash val="solid"/>
          </a:ln>
        </p:spPr>
      </p:sp>
      <p:sp>
        <p:nvSpPr>
          <p:cNvPr id="134" name="Shape 126"/>
          <p:cNvSpPr/>
          <p:nvPr/>
        </p:nvSpPr>
        <p:spPr>
          <a:xfrm>
            <a:off x="1621048" y="3528185"/>
            <a:ext cx="502920" cy="119299"/>
          </a:xfrm>
          <a:prstGeom prst="rect">
            <a:avLst/>
          </a:prstGeom>
          <a:solidFill>
            <a:srgbClr val="FFFFFF"/>
          </a:solidFill>
          <a:ln w="6350">
            <a:solidFill>
              <a:srgbClr val="E2E2E2"/>
            </a:solidFill>
            <a:prstDash val="solid"/>
          </a:ln>
        </p:spPr>
      </p:sp>
      <p:sp>
        <p:nvSpPr>
          <p:cNvPr id="135" name="Shape 127"/>
          <p:cNvSpPr/>
          <p:nvPr/>
        </p:nvSpPr>
        <p:spPr>
          <a:xfrm>
            <a:off x="2123968" y="3528185"/>
            <a:ext cx="777240" cy="119299"/>
          </a:xfrm>
          <a:prstGeom prst="rect">
            <a:avLst/>
          </a:prstGeom>
          <a:solidFill>
            <a:srgbClr val="FFFFFF"/>
          </a:solidFill>
          <a:ln w="6350">
            <a:solidFill>
              <a:srgbClr val="E2E2E2"/>
            </a:solidFill>
            <a:prstDash val="solid"/>
          </a:ln>
        </p:spPr>
      </p:sp>
      <p:sp>
        <p:nvSpPr>
          <p:cNvPr id="136" name="Shape 128"/>
          <p:cNvSpPr/>
          <p:nvPr/>
        </p:nvSpPr>
        <p:spPr>
          <a:xfrm>
            <a:off x="2901208" y="3528185"/>
            <a:ext cx="45720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777240" cy="119299"/>
          </a:xfrm>
          <a:prstGeom prst="rect">
            <a:avLst/>
          </a:prstGeom>
          <a:solidFill>
            <a:srgbClr val="FFFFFF"/>
          </a:solidFill>
          <a:ln w="6350">
            <a:solidFill>
              <a:srgbClr val="E2E2E2"/>
            </a:solidFill>
            <a:prstDash val="solid"/>
          </a:ln>
        </p:spPr>
      </p:sp>
      <p:sp>
        <p:nvSpPr>
          <p:cNvPr id="140" name="Shape 132"/>
          <p:cNvSpPr/>
          <p:nvPr/>
        </p:nvSpPr>
        <p:spPr>
          <a:xfrm>
            <a:off x="1621048" y="3647484"/>
            <a:ext cx="50292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777240" cy="119299"/>
          </a:xfrm>
          <a:prstGeom prst="rect">
            <a:avLst/>
          </a:prstGeom>
          <a:solidFill>
            <a:srgbClr val="FFFFFF"/>
          </a:solidFill>
          <a:ln w="6350">
            <a:solidFill>
              <a:srgbClr val="E2E2E2"/>
            </a:solidFill>
            <a:prstDash val="solid"/>
          </a:ln>
        </p:spPr>
      </p:sp>
      <p:sp>
        <p:nvSpPr>
          <p:cNvPr id="142" name="Shape 134"/>
          <p:cNvSpPr/>
          <p:nvPr/>
        </p:nvSpPr>
        <p:spPr>
          <a:xfrm>
            <a:off x="2901208" y="3647484"/>
            <a:ext cx="457200" cy="119299"/>
          </a:xfrm>
          <a:prstGeom prst="rect">
            <a:avLst/>
          </a:prstGeom>
          <a:solidFill>
            <a:srgbClr val="FFFFFF"/>
          </a:solidFill>
          <a:ln w="6350">
            <a:solidFill>
              <a:srgbClr val="E2E2E2"/>
            </a:solidFill>
            <a:prstDash val="solid"/>
          </a:ln>
        </p:spPr>
      </p:sp>
      <p:sp>
        <p:nvSpPr>
          <p:cNvPr id="143" name="Shape 135"/>
          <p:cNvSpPr/>
          <p:nvPr/>
        </p:nvSpPr>
        <p:spPr>
          <a:xfrm>
            <a:off x="587776" y="3794216"/>
            <a:ext cx="4950927" cy="201168"/>
          </a:xfrm>
          <a:prstGeom prst="rect">
            <a:avLst/>
          </a:prstGeom>
          <a:solidFill>
            <a:srgbClr val="F8F9FA"/>
          </a:solidFill>
          <a:ln w="12700">
            <a:solidFill>
              <a:srgbClr val="F8F9FA"/>
            </a:solidFill>
            <a:prstDash val="solid"/>
          </a:ln>
        </p:spPr>
      </p:sp>
      <p:sp>
        <p:nvSpPr>
          <p:cNvPr id="144" name="Text 13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5" name="Shape 137"/>
          <p:cNvSpPr/>
          <p:nvPr/>
        </p:nvSpPr>
        <p:spPr>
          <a:xfrm>
            <a:off x="1136416" y="3794216"/>
            <a:ext cx="731520" cy="201168"/>
          </a:xfrm>
          <a:prstGeom prst="rect">
            <a:avLst/>
          </a:prstGeom>
          <a:solidFill>
            <a:srgbClr val="E1EFFE"/>
          </a:solidFill>
          <a:ln w="12700">
            <a:solidFill>
              <a:srgbClr val="E1EFFE"/>
            </a:solidFill>
            <a:prstDash val="solid"/>
          </a:ln>
        </p:spPr>
      </p:sp>
      <p:sp>
        <p:nvSpPr>
          <p:cNvPr id="146" name="Text 13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47" name="Shape 139"/>
          <p:cNvSpPr/>
          <p:nvPr/>
        </p:nvSpPr>
        <p:spPr>
          <a:xfrm>
            <a:off x="825520" y="2794100"/>
            <a:ext cx="2551176" cy="513774"/>
          </a:xfrm>
          <a:prstGeom prst="roundRect">
            <a:avLst>
              <a:gd name="adj" fmla="val 8899"/>
            </a:avLst>
          </a:prstGeom>
          <a:solidFill>
            <a:srgbClr val="FFFFFF">
              <a:alpha val="0"/>
            </a:srgbClr>
          </a:solidFill>
          <a:ln w="31750">
            <a:solidFill>
              <a:srgbClr val="E53935"/>
            </a:solidFill>
            <a:prstDash val="solid"/>
          </a:ln>
        </p:spPr>
      </p:sp>
      <p:sp>
        <p:nvSpPr>
          <p:cNvPr id="148" name="Shape 140"/>
          <p:cNvSpPr/>
          <p:nvPr/>
        </p:nvSpPr>
        <p:spPr>
          <a:xfrm>
            <a:off x="3239536" y="2656940"/>
            <a:ext cx="274320" cy="274320"/>
          </a:xfrm>
          <a:prstGeom prst="ellipse">
            <a:avLst/>
          </a:prstGeom>
          <a:solidFill>
            <a:srgbClr val="E53935"/>
          </a:solidFill>
          <a:ln w="12700">
            <a:solidFill>
              <a:srgbClr val="FFFFFF"/>
            </a:solidFill>
            <a:prstDash val="solid"/>
          </a:ln>
        </p:spPr>
      </p:sp>
      <p:sp>
        <p:nvSpPr>
          <p:cNvPr id="149" name="Text 141"/>
          <p:cNvSpPr txBox="1"/>
          <p:nvPr/>
        </p:nvSpPr>
        <p:spPr>
          <a:xfrm>
            <a:off x="32395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50" name="Image 6" descr="preencoded.png">    </p:cNvPr>
          <p:cNvPicPr>
            <a:picLocks noChangeAspect="1"/>
          </p:cNvPicPr>
          <p:nvPr/>
        </p:nvPicPr>
        <p:blipFill>
          <a:blip r:embed="rId7"/>
          <a:stretch>
            <a:fillRect/>
          </a:stretch>
        </p:blipFill>
        <p:spPr>
          <a:xfrm>
            <a:off x="2226838" y="3074847"/>
            <a:ext cx="237744" cy="237744"/>
          </a:xfrm>
          <a:prstGeom prst="rect">
            <a:avLst/>
          </a:prstGeom>
        </p:spPr>
      </p:pic>
      <p:sp>
        <p:nvSpPr>
          <p:cNvPr id="151" name="Text 1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52" name="Text 1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data uji di Sheets</a:t>
            </a:r>
            <a:endParaRPr lang="en-US" sz="1800" dirty="0"/>
          </a:p>
        </p:txBody>
      </p:sp>
      <p:sp>
        <p:nvSpPr>
          <p:cNvPr id="153" name="Text 1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beberapa baris data latihan agar setiap test case bisa diuji: satu kode yang belum mencapai target, satu yang sudah.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Test Case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Test Case Fitur 4</a:t>
            </a:r>
            <a:endParaRPr lang="en-US" sz="1100" dirty="0"/>
          </a:p>
        </p:txBody>
      </p:sp>
      <p:sp>
        <p:nvSpPr>
          <p:cNvPr id="70" name="Shape 59"/>
          <p:cNvSpPr/>
          <p:nvPr/>
        </p:nvSpPr>
        <p:spPr>
          <a:xfrm>
            <a:off x="1554480" y="2876938"/>
            <a:ext cx="75438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Masukan</a:t>
            </a:r>
            <a:endParaRPr lang="en-US" sz="650" dirty="0"/>
          </a:p>
        </p:txBody>
      </p:sp>
      <p:sp>
        <p:nvSpPr>
          <p:cNvPr id="72" name="Shape 61"/>
          <p:cNvSpPr/>
          <p:nvPr/>
        </p:nvSpPr>
        <p:spPr>
          <a:xfrm>
            <a:off x="2308860" y="2876938"/>
            <a:ext cx="754380" cy="182880"/>
          </a:xfrm>
          <a:prstGeom prst="rect">
            <a:avLst/>
          </a:prstGeom>
          <a:solidFill>
            <a:srgbClr val="D9EAD3"/>
          </a:solidFill>
          <a:ln w="6350">
            <a:solidFill>
              <a:srgbClr val="777777"/>
            </a:solidFill>
            <a:prstDash val="solid"/>
          </a:ln>
        </p:spPr>
      </p:sp>
      <p:sp>
        <p:nvSpPr>
          <p:cNvPr id="73" name="Text 62"/>
          <p:cNvSpPr txBox="1"/>
          <p:nvPr/>
        </p:nvSpPr>
        <p:spPr>
          <a:xfrm>
            <a:off x="233629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Harapan</a:t>
            </a:r>
            <a:endParaRPr lang="en-US" sz="650" dirty="0"/>
          </a:p>
        </p:txBody>
      </p:sp>
      <p:sp>
        <p:nvSpPr>
          <p:cNvPr id="74" name="Shape 63"/>
          <p:cNvSpPr/>
          <p:nvPr/>
        </p:nvSpPr>
        <p:spPr>
          <a:xfrm>
            <a:off x="3063240" y="2876938"/>
            <a:ext cx="754380" cy="182880"/>
          </a:xfrm>
          <a:prstGeom prst="rect">
            <a:avLst/>
          </a:prstGeom>
          <a:solidFill>
            <a:srgbClr val="D9EAD3"/>
          </a:solidFill>
          <a:ln w="6350">
            <a:solidFill>
              <a:srgbClr val="777777"/>
            </a:solidFill>
            <a:prstDash val="solid"/>
          </a:ln>
        </p:spPr>
      </p:sp>
      <p:sp>
        <p:nvSpPr>
          <p:cNvPr id="75" name="Text 64"/>
          <p:cNvSpPr txBox="1"/>
          <p:nvPr/>
        </p:nvSpPr>
        <p:spPr>
          <a:xfrm>
            <a:off x="309067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Kriteria</a:t>
            </a:r>
            <a:endParaRPr lang="en-US" sz="650" dirty="0"/>
          </a:p>
        </p:txBody>
      </p:sp>
      <p:sp>
        <p:nvSpPr>
          <p:cNvPr id="76" name="Shape 65"/>
          <p:cNvSpPr/>
          <p:nvPr/>
        </p:nvSpPr>
        <p:spPr>
          <a:xfrm>
            <a:off x="3817620" y="2876938"/>
            <a:ext cx="754380" cy="182880"/>
          </a:xfrm>
          <a:prstGeom prst="rect">
            <a:avLst/>
          </a:prstGeom>
          <a:solidFill>
            <a:srgbClr val="D9EAD3"/>
          </a:solidFill>
          <a:ln w="6350">
            <a:solidFill>
              <a:srgbClr val="777777"/>
            </a:solidFill>
            <a:prstDash val="solid"/>
          </a:ln>
        </p:spPr>
      </p:sp>
      <p:sp>
        <p:nvSpPr>
          <p:cNvPr id="77" name="Text 66"/>
          <p:cNvSpPr txBox="1"/>
          <p:nvPr/>
        </p:nvSpPr>
        <p:spPr>
          <a:xfrm>
            <a:off x="384505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8" name="Shape 67"/>
          <p:cNvSpPr/>
          <p:nvPr/>
        </p:nvSpPr>
        <p:spPr>
          <a:xfrm>
            <a:off x="1554480" y="3059818"/>
            <a:ext cx="754380" cy="182880"/>
          </a:xfrm>
          <a:prstGeom prst="rect">
            <a:avLst/>
          </a:prstGeom>
          <a:solidFill>
            <a:srgbClr val="FFFFFF"/>
          </a:solidFill>
          <a:ln w="6350">
            <a:solidFill>
              <a:srgbClr val="777777"/>
            </a:solidFill>
            <a:prstDash val="solid"/>
          </a:ln>
        </p:spPr>
      </p:sp>
      <p:sp>
        <p:nvSpPr>
          <p:cNvPr id="79" name="Text 68"/>
          <p:cNvSpPr txBox="1"/>
          <p:nvPr/>
        </p:nvSpPr>
        <p:spPr>
          <a:xfrm>
            <a:off x="158191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S001</a:t>
            </a:r>
            <a:endParaRPr lang="en-US" sz="650" dirty="0"/>
          </a:p>
        </p:txBody>
      </p:sp>
      <p:sp>
        <p:nvSpPr>
          <p:cNvPr id="80" name="Shape 69"/>
          <p:cNvSpPr/>
          <p:nvPr/>
        </p:nvSpPr>
        <p:spPr>
          <a:xfrm>
            <a:off x="2308860" y="3059818"/>
            <a:ext cx="754380" cy="182880"/>
          </a:xfrm>
          <a:prstGeom prst="rect">
            <a:avLst/>
          </a:prstGeom>
          <a:solidFill>
            <a:srgbClr val="FFFFFF"/>
          </a:solidFill>
          <a:ln w="6350">
            <a:solidFill>
              <a:srgbClr val="777777"/>
            </a:solidFill>
            <a:prstDash val="solid"/>
          </a:ln>
        </p:spPr>
      </p:sp>
      <p:sp>
        <p:nvSpPr>
          <p:cNvPr id="81" name="Text 70"/>
          <p:cNvSpPr txBox="1"/>
          <p:nvPr/>
        </p:nvSpPr>
        <p:spPr>
          <a:xfrm>
            <a:off x="233629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Semangat 62 lagi</a:t>
            </a:r>
            <a:endParaRPr lang="en-US" sz="650" dirty="0"/>
          </a:p>
        </p:txBody>
      </p:sp>
      <p:sp>
        <p:nvSpPr>
          <p:cNvPr id="82" name="Shape 71"/>
          <p:cNvSpPr/>
          <p:nvPr/>
        </p:nvSpPr>
        <p:spPr>
          <a:xfrm>
            <a:off x="3063240" y="3059818"/>
            <a:ext cx="754380" cy="182880"/>
          </a:xfrm>
          <a:prstGeom prst="rect">
            <a:avLst/>
          </a:prstGeom>
          <a:solidFill>
            <a:srgbClr val="FFFFFF"/>
          </a:solidFill>
          <a:ln w="6350">
            <a:solidFill>
              <a:srgbClr val="777777"/>
            </a:solidFill>
            <a:prstDash val="solid"/>
          </a:ln>
        </p:spPr>
      </p:sp>
      <p:sp>
        <p:nvSpPr>
          <p:cNvPr id="83" name="Text 72"/>
          <p:cNvSpPr txBox="1"/>
          <p:nvPr/>
        </p:nvSpPr>
        <p:spPr>
          <a:xfrm>
            <a:off x="309067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1, 3</a:t>
            </a:r>
            <a:endParaRPr lang="en-US" sz="650" dirty="0"/>
          </a:p>
        </p:txBody>
      </p:sp>
      <p:sp>
        <p:nvSpPr>
          <p:cNvPr id="84" name="Shape 73"/>
          <p:cNvSpPr/>
          <p:nvPr/>
        </p:nvSpPr>
        <p:spPr>
          <a:xfrm>
            <a:off x="3817620" y="3059818"/>
            <a:ext cx="754380" cy="182880"/>
          </a:xfrm>
          <a:prstGeom prst="rect">
            <a:avLst/>
          </a:prstGeom>
          <a:solidFill>
            <a:srgbClr val="FFFFFF"/>
          </a:solidFill>
          <a:ln w="6350">
            <a:solidFill>
              <a:srgbClr val="777777"/>
            </a:solidFill>
            <a:prstDash val="solid"/>
          </a:ln>
        </p:spPr>
      </p:sp>
      <p:sp>
        <p:nvSpPr>
          <p:cNvPr id="85" name="Text 74"/>
          <p:cNvSpPr txBox="1"/>
          <p:nvPr/>
        </p:nvSpPr>
        <p:spPr>
          <a:xfrm>
            <a:off x="3845052" y="3059818"/>
            <a:ext cx="708660" cy="182880"/>
          </a:xfrm>
          <a:prstGeom prst="rect">
            <a:avLst/>
          </a:prstGeom>
          <a:noFill/>
          <a:ln/>
        </p:spPr>
        <p:txBody>
          <a:bodyPr wrap="square" lIns="0" tIns="0" rIns="0" bIns="0" rtlCol="0" anchor="ctr"/>
          <a:lstStyle/>
          <a:p>
            <a:pPr indent="0" marL="0">
              <a:buNone/>
            </a:pPr>
            <a:endParaRPr lang="en-US" sz="650" dirty="0"/>
          </a:p>
        </p:txBody>
      </p:sp>
      <p:sp>
        <p:nvSpPr>
          <p:cNvPr id="86" name="Shape 75"/>
          <p:cNvSpPr/>
          <p:nvPr/>
        </p:nvSpPr>
        <p:spPr>
          <a:xfrm>
            <a:off x="1554480" y="3242698"/>
            <a:ext cx="754380" cy="182880"/>
          </a:xfrm>
          <a:prstGeom prst="rect">
            <a:avLst/>
          </a:prstGeom>
          <a:solidFill>
            <a:srgbClr val="FFFFFF"/>
          </a:solidFill>
          <a:ln w="6350">
            <a:solidFill>
              <a:srgbClr val="777777"/>
            </a:solidFill>
            <a:prstDash val="solid"/>
          </a:ln>
        </p:spPr>
      </p:sp>
      <p:sp>
        <p:nvSpPr>
          <p:cNvPr id="87" name="Text 76"/>
          <p:cNvSpPr txBox="1"/>
          <p:nvPr/>
        </p:nvSpPr>
        <p:spPr>
          <a:xfrm>
            <a:off x="158191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S003</a:t>
            </a:r>
            <a:endParaRPr lang="en-US" sz="650" dirty="0"/>
          </a:p>
        </p:txBody>
      </p:sp>
      <p:sp>
        <p:nvSpPr>
          <p:cNvPr id="88" name="Shape 77"/>
          <p:cNvSpPr/>
          <p:nvPr/>
        </p:nvSpPr>
        <p:spPr>
          <a:xfrm>
            <a:off x="2308860" y="3242698"/>
            <a:ext cx="754380" cy="182880"/>
          </a:xfrm>
          <a:prstGeom prst="rect">
            <a:avLst/>
          </a:prstGeom>
          <a:solidFill>
            <a:srgbClr val="FFFFFF"/>
          </a:solidFill>
          <a:ln w="6350">
            <a:solidFill>
              <a:srgbClr val="777777"/>
            </a:solidFill>
            <a:prstDash val="solid"/>
          </a:ln>
        </p:spPr>
      </p:sp>
      <p:sp>
        <p:nvSpPr>
          <p:cNvPr id="89" name="Text 78"/>
          <p:cNvSpPr txBox="1"/>
          <p:nvPr/>
        </p:nvSpPr>
        <p:spPr>
          <a:xfrm>
            <a:off x="233629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Tercapai</a:t>
            </a:r>
            <a:endParaRPr lang="en-US" sz="650" dirty="0"/>
          </a:p>
        </p:txBody>
      </p:sp>
      <p:sp>
        <p:nvSpPr>
          <p:cNvPr id="90" name="Shape 79"/>
          <p:cNvSpPr/>
          <p:nvPr/>
        </p:nvSpPr>
        <p:spPr>
          <a:xfrm>
            <a:off x="3063240" y="3242698"/>
            <a:ext cx="754380" cy="182880"/>
          </a:xfrm>
          <a:prstGeom prst="rect">
            <a:avLst/>
          </a:prstGeom>
          <a:solidFill>
            <a:srgbClr val="FFFFFF"/>
          </a:solidFill>
          <a:ln w="6350">
            <a:solidFill>
              <a:srgbClr val="777777"/>
            </a:solidFill>
            <a:prstDash val="solid"/>
          </a:ln>
        </p:spPr>
      </p:sp>
      <p:sp>
        <p:nvSpPr>
          <p:cNvPr id="91" name="Text 80"/>
          <p:cNvSpPr txBox="1"/>
          <p:nvPr/>
        </p:nvSpPr>
        <p:spPr>
          <a:xfrm>
            <a:off x="309067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1, 2</a:t>
            </a:r>
            <a:endParaRPr lang="en-US" sz="650" dirty="0"/>
          </a:p>
        </p:txBody>
      </p:sp>
      <p:sp>
        <p:nvSpPr>
          <p:cNvPr id="92" name="Shape 81"/>
          <p:cNvSpPr/>
          <p:nvPr/>
        </p:nvSpPr>
        <p:spPr>
          <a:xfrm>
            <a:off x="3817620" y="3242698"/>
            <a:ext cx="754380" cy="182880"/>
          </a:xfrm>
          <a:prstGeom prst="rect">
            <a:avLst/>
          </a:prstGeom>
          <a:solidFill>
            <a:srgbClr val="FFFFFF"/>
          </a:solidFill>
          <a:ln w="6350">
            <a:solidFill>
              <a:srgbClr val="777777"/>
            </a:solidFill>
            <a:prstDash val="solid"/>
          </a:ln>
        </p:spPr>
      </p:sp>
      <p:sp>
        <p:nvSpPr>
          <p:cNvPr id="93" name="Text 82"/>
          <p:cNvSpPr txBox="1"/>
          <p:nvPr/>
        </p:nvSpPr>
        <p:spPr>
          <a:xfrm>
            <a:off x="3845052" y="3242698"/>
            <a:ext cx="708660" cy="182880"/>
          </a:xfrm>
          <a:prstGeom prst="rect">
            <a:avLst/>
          </a:prstGeom>
          <a:noFill/>
          <a:ln/>
        </p:spPr>
        <p:txBody>
          <a:bodyPr wrap="square" lIns="0" tIns="0" rIns="0" bIns="0" rtlCol="0" anchor="ctr"/>
          <a:lstStyle/>
          <a:p>
            <a:pPr indent="0" marL="0">
              <a:buNone/>
            </a:pPr>
            <a:endParaRPr lang="en-US" sz="650" dirty="0"/>
          </a:p>
        </p:txBody>
      </p:sp>
      <p:sp>
        <p:nvSpPr>
          <p:cNvPr id="94" name="Shape 83"/>
          <p:cNvSpPr/>
          <p:nvPr/>
        </p:nvSpPr>
        <p:spPr>
          <a:xfrm>
            <a:off x="1554480" y="3425578"/>
            <a:ext cx="754380" cy="182880"/>
          </a:xfrm>
          <a:prstGeom prst="rect">
            <a:avLst/>
          </a:prstGeom>
          <a:solidFill>
            <a:srgbClr val="FFFFFF"/>
          </a:solidFill>
          <a:ln w="6350">
            <a:solidFill>
              <a:srgbClr val="777777"/>
            </a:solidFill>
            <a:prstDash val="solid"/>
          </a:ln>
        </p:spPr>
      </p:sp>
      <p:sp>
        <p:nvSpPr>
          <p:cNvPr id="95" name="Text 84"/>
          <p:cNvSpPr txBox="1"/>
          <p:nvPr/>
        </p:nvSpPr>
        <p:spPr>
          <a:xfrm>
            <a:off x="158191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(kosong)</a:t>
            </a:r>
            <a:endParaRPr lang="en-US" sz="650" dirty="0"/>
          </a:p>
        </p:txBody>
      </p:sp>
      <p:sp>
        <p:nvSpPr>
          <p:cNvPr id="96" name="Shape 85"/>
          <p:cNvSpPr/>
          <p:nvPr/>
        </p:nvSpPr>
        <p:spPr>
          <a:xfrm>
            <a:off x="2308860" y="3425578"/>
            <a:ext cx="754380" cy="182880"/>
          </a:xfrm>
          <a:prstGeom prst="rect">
            <a:avLst/>
          </a:prstGeom>
          <a:solidFill>
            <a:srgbClr val="FFFFFF"/>
          </a:solidFill>
          <a:ln w="6350">
            <a:solidFill>
              <a:srgbClr val="777777"/>
            </a:solidFill>
            <a:prstDash val="solid"/>
          </a:ln>
        </p:spPr>
      </p:sp>
      <p:sp>
        <p:nvSpPr>
          <p:cNvPr id="97" name="Text 86"/>
          <p:cNvSpPr txBox="1"/>
          <p:nvPr/>
        </p:nvSpPr>
        <p:spPr>
          <a:xfrm>
            <a:off x="233629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Isi kode dulu</a:t>
            </a:r>
            <a:endParaRPr lang="en-US" sz="650" dirty="0"/>
          </a:p>
        </p:txBody>
      </p:sp>
      <p:sp>
        <p:nvSpPr>
          <p:cNvPr id="98" name="Shape 87"/>
          <p:cNvSpPr/>
          <p:nvPr/>
        </p:nvSpPr>
        <p:spPr>
          <a:xfrm>
            <a:off x="3063240" y="3425578"/>
            <a:ext cx="754380" cy="182880"/>
          </a:xfrm>
          <a:prstGeom prst="rect">
            <a:avLst/>
          </a:prstGeom>
          <a:solidFill>
            <a:srgbClr val="FFFFFF"/>
          </a:solidFill>
          <a:ln w="6350">
            <a:solidFill>
              <a:srgbClr val="777777"/>
            </a:solidFill>
            <a:prstDash val="solid"/>
          </a:ln>
        </p:spPr>
      </p:sp>
      <p:sp>
        <p:nvSpPr>
          <p:cNvPr id="99" name="Text 88"/>
          <p:cNvSpPr txBox="1"/>
          <p:nvPr/>
        </p:nvSpPr>
        <p:spPr>
          <a:xfrm>
            <a:off x="309067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4</a:t>
            </a:r>
            <a:endParaRPr lang="en-US" sz="650" dirty="0"/>
          </a:p>
        </p:txBody>
      </p:sp>
      <p:sp>
        <p:nvSpPr>
          <p:cNvPr id="100" name="Shape 89"/>
          <p:cNvSpPr/>
          <p:nvPr/>
        </p:nvSpPr>
        <p:spPr>
          <a:xfrm>
            <a:off x="3817620" y="3425578"/>
            <a:ext cx="754380" cy="182880"/>
          </a:xfrm>
          <a:prstGeom prst="rect">
            <a:avLst/>
          </a:prstGeom>
          <a:solidFill>
            <a:srgbClr val="FFFFFF"/>
          </a:solidFill>
          <a:ln w="6350">
            <a:solidFill>
              <a:srgbClr val="777777"/>
            </a:solidFill>
            <a:prstDash val="solid"/>
          </a:ln>
        </p:spPr>
      </p:sp>
      <p:sp>
        <p:nvSpPr>
          <p:cNvPr id="101" name="Text 90"/>
          <p:cNvSpPr txBox="1"/>
          <p:nvPr/>
        </p:nvSpPr>
        <p:spPr>
          <a:xfrm>
            <a:off x="3845052" y="3425578"/>
            <a:ext cx="708660" cy="182880"/>
          </a:xfrm>
          <a:prstGeom prst="rect">
            <a:avLst/>
          </a:prstGeom>
          <a:noFill/>
          <a:ln/>
        </p:spPr>
        <p:txBody>
          <a:bodyPr wrap="square" lIns="0" tIns="0" rIns="0" bIns="0" rtlCol="0" anchor="ctr"/>
          <a:lstStyle/>
          <a:p>
            <a:pPr indent="0" marL="0">
              <a:buNone/>
            </a:pPr>
            <a:endParaRPr lang="en-US" sz="650" dirty="0"/>
          </a:p>
        </p:txBody>
      </p:sp>
      <p:sp>
        <p:nvSpPr>
          <p:cNvPr id="102" name="Shape 91"/>
          <p:cNvSpPr/>
          <p:nvPr/>
        </p:nvSpPr>
        <p:spPr>
          <a:xfrm>
            <a:off x="1554480" y="3608458"/>
            <a:ext cx="754380" cy="182880"/>
          </a:xfrm>
          <a:prstGeom prst="rect">
            <a:avLst/>
          </a:prstGeom>
          <a:solidFill>
            <a:srgbClr val="FFFFFF"/>
          </a:solidFill>
          <a:ln w="6350">
            <a:solidFill>
              <a:srgbClr val="777777"/>
            </a:solidFill>
            <a:prstDash val="solid"/>
          </a:ln>
        </p:spPr>
      </p:sp>
      <p:sp>
        <p:nvSpPr>
          <p:cNvPr id="103" name="Text 92"/>
          <p:cNvSpPr txBox="1"/>
          <p:nvPr/>
        </p:nvSpPr>
        <p:spPr>
          <a:xfrm>
            <a:off x="158191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S099</a:t>
            </a:r>
            <a:endParaRPr lang="en-US" sz="650" dirty="0"/>
          </a:p>
        </p:txBody>
      </p:sp>
      <p:sp>
        <p:nvSpPr>
          <p:cNvPr id="104" name="Shape 93"/>
          <p:cNvSpPr/>
          <p:nvPr/>
        </p:nvSpPr>
        <p:spPr>
          <a:xfrm>
            <a:off x="2308860" y="3608458"/>
            <a:ext cx="754380" cy="182880"/>
          </a:xfrm>
          <a:prstGeom prst="rect">
            <a:avLst/>
          </a:prstGeom>
          <a:solidFill>
            <a:srgbClr val="FFFFFF"/>
          </a:solidFill>
          <a:ln w="6350">
            <a:solidFill>
              <a:srgbClr val="777777"/>
            </a:solidFill>
            <a:prstDash val="solid"/>
          </a:ln>
        </p:spPr>
      </p:sp>
      <p:sp>
        <p:nvSpPr>
          <p:cNvPr id="105" name="Text 94"/>
          <p:cNvSpPr txBox="1"/>
          <p:nvPr/>
        </p:nvSpPr>
        <p:spPr>
          <a:xfrm>
            <a:off x="233629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Tidak ditemukan</a:t>
            </a:r>
            <a:endParaRPr lang="en-US" sz="650" dirty="0"/>
          </a:p>
        </p:txBody>
      </p:sp>
      <p:sp>
        <p:nvSpPr>
          <p:cNvPr id="106" name="Shape 95"/>
          <p:cNvSpPr/>
          <p:nvPr/>
        </p:nvSpPr>
        <p:spPr>
          <a:xfrm>
            <a:off x="3063240" y="3608458"/>
            <a:ext cx="754380" cy="182880"/>
          </a:xfrm>
          <a:prstGeom prst="rect">
            <a:avLst/>
          </a:prstGeom>
          <a:solidFill>
            <a:srgbClr val="FFFFFF"/>
          </a:solidFill>
          <a:ln w="6350">
            <a:solidFill>
              <a:srgbClr val="777777"/>
            </a:solidFill>
            <a:prstDash val="solid"/>
          </a:ln>
        </p:spPr>
      </p:sp>
      <p:sp>
        <p:nvSpPr>
          <p:cNvPr id="107" name="Text 96"/>
          <p:cNvSpPr txBox="1"/>
          <p:nvPr/>
        </p:nvSpPr>
        <p:spPr>
          <a:xfrm>
            <a:off x="309067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4</a:t>
            </a:r>
            <a:endParaRPr lang="en-US" sz="650" dirty="0"/>
          </a:p>
        </p:txBody>
      </p:sp>
      <p:sp>
        <p:nvSpPr>
          <p:cNvPr id="108" name="Shape 97"/>
          <p:cNvSpPr/>
          <p:nvPr/>
        </p:nvSpPr>
        <p:spPr>
          <a:xfrm>
            <a:off x="3817620" y="3608458"/>
            <a:ext cx="754380" cy="182880"/>
          </a:xfrm>
          <a:prstGeom prst="rect">
            <a:avLst/>
          </a:prstGeom>
          <a:solidFill>
            <a:srgbClr val="FFFFFF"/>
          </a:solidFill>
          <a:ln w="6350">
            <a:solidFill>
              <a:srgbClr val="777777"/>
            </a:solidFill>
            <a:prstDash val="solid"/>
          </a:ln>
        </p:spPr>
      </p:sp>
      <p:sp>
        <p:nvSpPr>
          <p:cNvPr id="109" name="Text 98"/>
          <p:cNvSpPr txBox="1"/>
          <p:nvPr/>
        </p:nvSpPr>
        <p:spPr>
          <a:xfrm>
            <a:off x="3845052" y="3608458"/>
            <a:ext cx="708660" cy="182880"/>
          </a:xfrm>
          <a:prstGeom prst="rect">
            <a:avLst/>
          </a:prstGeom>
          <a:noFill/>
          <a:ln/>
        </p:spPr>
        <p:txBody>
          <a:bodyPr wrap="square" lIns="0" tIns="0" rIns="0" bIns="0" rtlCol="0" anchor="ctr"/>
          <a:lstStyle/>
          <a:p>
            <a:pPr indent="0" marL="0">
              <a:buNone/>
            </a:pPr>
            <a:endParaRPr lang="en-US" sz="650" dirty="0"/>
          </a:p>
        </p:txBody>
      </p:sp>
      <p:sp>
        <p:nvSpPr>
          <p:cNvPr id="110" name="Shape 9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11" name="Shape 100"/>
          <p:cNvSpPr/>
          <p:nvPr/>
        </p:nvSpPr>
        <p:spPr>
          <a:xfrm>
            <a:off x="4462272" y="2712346"/>
            <a:ext cx="274320" cy="274320"/>
          </a:xfrm>
          <a:prstGeom prst="ellipse">
            <a:avLst/>
          </a:prstGeom>
          <a:solidFill>
            <a:srgbClr val="E53935"/>
          </a:solidFill>
          <a:ln w="12700">
            <a:solidFill>
              <a:srgbClr val="FFFFFF"/>
            </a:solidFill>
            <a:prstDash val="solid"/>
          </a:ln>
        </p:spPr>
      </p:sp>
      <p:sp>
        <p:nvSpPr>
          <p:cNvPr id="112" name="Text 10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1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14" name="Text 10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15" name="Text 10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tabel test case dari kriteria</a:t>
            </a:r>
            <a:endParaRPr lang="en-US" sz="1800" dirty="0"/>
          </a:p>
        </p:txBody>
      </p:sp>
      <p:sp>
        <p:nvSpPr>
          <p:cNvPr id="116" name="Text 10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No | Masukan | Hasil yang diharapkan | Kriteria | Hasil sebenarnya (dikosongkan).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Kode &amp; Review</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Rencana sudah sesuai, tambahkan penanganan kode tidak ditemukan. Sekarang beri kodenya. Ubah hanya bagian yang perlu, beri komentar.</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11887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function cekTotal()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const kode = document.getElementById('kodeCek').value.trim();</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if (kode === '') { tampil('Isi kode santri dulu.'); return;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 saring data 7 hari terakhir dengan kode itu</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const batas = Date.now() - 7*24*60*60*1000;</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const milik = semuaData.filter(b =&gt; b.Kode === kode &amp;&amp; new Date(b.Waktu) &gt;= batas);</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1243584"/>
          </a:xfrm>
          <a:prstGeom prst="roundRect">
            <a:avLst>
              <a:gd name="adj" fmla="val 3676"/>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3108713"/>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Minta kode sesuai rencana yang sudah diperiksa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Prompt lanjutan: "Rencana sudah sesuai, tambahkan penanganan kode tidak ditemukan. Sekarang beri kodenya. Ubah hanya bagian yang perlu, beri komentar."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Kode &amp; Review</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Code Review</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Pertanyaan</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Temuan</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Paham?</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Sebagian</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filter &amp; =&gt; ditanyakan</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Sesuai?</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Hanya fungsi baru</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Aman?</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textContent dipakai</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Sederhana?</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Komentar lengkap</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Code review: 4 pertanyaan</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Bacakan kode baris demi baris di kelompok. Isi tabel: Paham? Sesuai? Aman? Sederhana? Catat temuan.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 Cek Pekanan</a:t>
            </a:r>
            <a:endParaRPr lang="en-US" sz="1100" dirty="0"/>
          </a:p>
        </p:txBody>
      </p:sp>
      <p:sp>
        <p:nvSpPr>
          <p:cNvPr id="32" name="Shape 25"/>
          <p:cNvSpPr/>
          <p:nvPr/>
        </p:nvSpPr>
        <p:spPr>
          <a:xfrm>
            <a:off x="1783080" y="2198885"/>
            <a:ext cx="2560320" cy="1417320"/>
          </a:xfrm>
          <a:prstGeom prst="roundRect">
            <a:avLst>
              <a:gd name="adj" fmla="val 5161"/>
            </a:avLst>
          </a:prstGeom>
          <a:solidFill>
            <a:srgbClr val="FFFFFF"/>
          </a:solidFill>
          <a:ln w="9525">
            <a:solidFill>
              <a:srgbClr val="DDDDDD"/>
            </a:solidFill>
            <a:prstDash val="solid"/>
          </a:ln>
        </p:spPr>
      </p:sp>
      <p:sp>
        <p:nvSpPr>
          <p:cNvPr id="33" name="Text 26"/>
          <p:cNvSpPr txBox="1"/>
          <p:nvPr/>
        </p:nvSpPr>
        <p:spPr>
          <a:xfrm>
            <a:off x="1874520" y="2244605"/>
            <a:ext cx="2560320" cy="228600"/>
          </a:xfrm>
          <a:prstGeom prst="rect">
            <a:avLst/>
          </a:prstGeom>
          <a:noFill/>
          <a:ln/>
        </p:spPr>
        <p:txBody>
          <a:bodyPr wrap="square" lIns="0" tIns="0" rIns="0" bIns="0" rtlCol="0" anchor="t"/>
          <a:lstStyle/>
          <a:p>
            <a:pPr indent="0" marL="0">
              <a:buNone/>
            </a:pPr>
            <a:r>
              <a:rPr lang="en-US" sz="850" b="1" dirty="0">
                <a:solidFill>
                  <a:srgbClr val="1E2A26"/>
                </a:solidFill>
                <a:latin typeface="Arial" pitchFamily="34" charset="0"/>
                <a:ea typeface="Arial" pitchFamily="34" charset="-122"/>
                <a:cs typeface="Arial" pitchFamily="34" charset="-120"/>
              </a:rPr>
              <a:t>Cek total pekan ini</a:t>
            </a:r>
            <a:endParaRPr lang="en-US" sz="850" dirty="0"/>
          </a:p>
        </p:txBody>
      </p:sp>
      <p:sp>
        <p:nvSpPr>
          <p:cNvPr id="34" name="Shape 27"/>
          <p:cNvSpPr/>
          <p:nvPr/>
        </p:nvSpPr>
        <p:spPr>
          <a:xfrm>
            <a:off x="1874520" y="2518925"/>
            <a:ext cx="2377440" cy="219456"/>
          </a:xfrm>
          <a:prstGeom prst="rect">
            <a:avLst/>
          </a:prstGeom>
          <a:solidFill>
            <a:srgbClr val="FFFFFF"/>
          </a:solidFill>
          <a:ln w="6350">
            <a:solidFill>
              <a:srgbClr val="999999"/>
            </a:solidFill>
            <a:prstDash val="solid"/>
          </a:ln>
        </p:spPr>
      </p:sp>
      <p:sp>
        <p:nvSpPr>
          <p:cNvPr id="35" name="Text 28"/>
          <p:cNvSpPr txBox="1"/>
          <p:nvPr/>
        </p:nvSpPr>
        <p:spPr>
          <a:xfrm>
            <a:off x="1911096" y="2518925"/>
            <a:ext cx="228600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S099</a:t>
            </a:r>
            <a:endParaRPr lang="en-US" sz="800" dirty="0"/>
          </a:p>
        </p:txBody>
      </p:sp>
      <p:sp>
        <p:nvSpPr>
          <p:cNvPr id="36" name="Shape 29"/>
          <p:cNvSpPr/>
          <p:nvPr/>
        </p:nvSpPr>
        <p:spPr>
          <a:xfrm>
            <a:off x="2560320" y="2811533"/>
            <a:ext cx="100584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560320" y="2811533"/>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Cek Total</a:t>
            </a:r>
            <a:endParaRPr lang="en-US" sz="750" dirty="0"/>
          </a:p>
        </p:txBody>
      </p:sp>
      <p:sp>
        <p:nvSpPr>
          <p:cNvPr id="38" name="Text 31"/>
          <p:cNvSpPr txBox="1"/>
          <p:nvPr/>
        </p:nvSpPr>
        <p:spPr>
          <a:xfrm>
            <a:off x="1874520" y="3085853"/>
            <a:ext cx="2377440" cy="457200"/>
          </a:xfrm>
          <a:prstGeom prst="rect">
            <a:avLst/>
          </a:prstGeom>
          <a:noFill/>
          <a:ln/>
        </p:spPr>
        <p:txBody>
          <a:bodyPr wrap="square" lIns="0" tIns="0" rIns="0" bIns="0" rtlCol="0" anchor="t"/>
          <a:lstStyle/>
          <a:p>
            <a:pPr algn="ctr" indent="0" marL="0">
              <a:buNone/>
            </a:pPr>
            <a:r>
              <a:rPr lang="en-US" sz="750" b="1" dirty="0">
                <a:solidFill>
                  <a:srgbClr val="C62828"/>
                </a:solidFill>
                <a:latin typeface="Arial" pitchFamily="34" charset="0"/>
                <a:ea typeface="Arial" pitchFamily="34" charset="-122"/>
                <a:cs typeface="Arial" pitchFamily="34" charset="-120"/>
              </a:rPr>
              <a:t>Total pekan ini: 0 ayat dari target 100.</a:t>
            </a:r>
            <a:endParaRPr lang="en-US" sz="750" dirty="0"/>
          </a:p>
          <a:p>
            <a:pPr algn="ctr" indent="0" marL="0">
              <a:buNone/>
            </a:pPr>
            <a:r>
              <a:rPr lang="en-US" sz="750" b="1" dirty="0">
                <a:solidFill>
                  <a:srgbClr val="C62828"/>
                </a:solidFill>
                <a:latin typeface="Arial" pitchFamily="34" charset="0"/>
                <a:ea typeface="Arial" pitchFamily="34" charset="-122"/>
                <a:cs typeface="Arial" pitchFamily="34" charset="-120"/>
              </a:rPr>
              <a:t>Semangat, 100 ayat lagi!</a:t>
            </a:r>
            <a:endParaRPr lang="en-US" sz="750" dirty="0"/>
          </a:p>
        </p:txBody>
      </p:sp>
      <p:sp>
        <p:nvSpPr>
          <p:cNvPr id="39" name="Shape 32"/>
          <p:cNvSpPr/>
          <p:nvPr/>
        </p:nvSpPr>
        <p:spPr>
          <a:xfrm>
            <a:off x="633496" y="2134877"/>
            <a:ext cx="4859487" cy="1545336"/>
          </a:xfrm>
          <a:prstGeom prst="roundRect">
            <a:avLst>
              <a:gd name="adj" fmla="val 2959"/>
            </a:avLst>
          </a:prstGeom>
          <a:solidFill>
            <a:srgbClr val="FFFFFF">
              <a:alpha val="0"/>
            </a:srgbClr>
          </a:solidFill>
          <a:ln w="31750">
            <a:solidFill>
              <a:srgbClr val="E53935"/>
            </a:solidFill>
            <a:prstDash val="solid"/>
          </a:ln>
        </p:spPr>
      </p:sp>
      <p:sp>
        <p:nvSpPr>
          <p:cNvPr id="40" name="Shape 33"/>
          <p:cNvSpPr/>
          <p:nvPr/>
        </p:nvSpPr>
        <p:spPr>
          <a:xfrm>
            <a:off x="5355824" y="1997717"/>
            <a:ext cx="274320" cy="274320"/>
          </a:xfrm>
          <a:prstGeom prst="ellipse">
            <a:avLst/>
          </a:prstGeom>
          <a:solidFill>
            <a:srgbClr val="E53935"/>
          </a:solidFill>
          <a:ln w="12700">
            <a:solidFill>
              <a:srgbClr val="FFFFFF"/>
            </a:solidFill>
            <a:prstDash val="solid"/>
          </a:ln>
        </p:spPr>
      </p:sp>
      <p:sp>
        <p:nvSpPr>
          <p:cNvPr id="41" name="Text 34"/>
          <p:cNvSpPr txBox="1"/>
          <p:nvPr/>
        </p:nvSpPr>
        <p:spPr>
          <a:xfrm>
            <a:off x="5355824" y="19977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2" name="Image 5" descr="preencoded.png">    </p:cNvPr>
          <p:cNvPicPr>
            <a:picLocks noChangeAspect="1"/>
          </p:cNvPicPr>
          <p:nvPr/>
        </p:nvPicPr>
        <p:blipFill>
          <a:blip r:embed="rId6"/>
          <a:stretch>
            <a:fillRect/>
          </a:stretch>
        </p:blipFill>
        <p:spPr>
          <a:xfrm>
            <a:off x="3304386" y="2982983"/>
            <a:ext cx="237744" cy="237744"/>
          </a:xfrm>
          <a:prstGeom prst="rect">
            <a:avLst/>
          </a:prstGeom>
        </p:spPr>
      </p:pic>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Pasang kode, jalankan semua test case</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kode ke index.html. Jalankan setiap test case satu per satu. Isi kolom Hasil: Lulus atau Gagal.</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const milik = semuaData.filter(b =&gt; b.Kode === kode);</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perbaikan: kode tidak ditemukan sama sekali</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if (milik.length === 0) {</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tampil('Kode tidak ditemukan.');</a:t>
            </a:r>
            <a:endParaRPr lang="en-US" sz="900" dirty="0"/>
          </a:p>
        </p:txBody>
      </p:sp>
      <p:sp>
        <p:nvSpPr>
          <p:cNvPr id="36" name="Shape 32"/>
          <p:cNvSpPr/>
          <p:nvPr/>
        </p:nvSpPr>
        <p:spPr>
          <a:xfrm>
            <a:off x="913668" y="2356496"/>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8" name="Text 34"/>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return;</a:t>
            </a:r>
            <a:endParaRPr lang="en-US" sz="900" dirty="0"/>
          </a:p>
        </p:txBody>
      </p:sp>
      <p:sp>
        <p:nvSpPr>
          <p:cNvPr id="39" name="Shape 35"/>
          <p:cNvSpPr/>
          <p:nvPr/>
        </p:nvSpPr>
        <p:spPr>
          <a:xfrm>
            <a:off x="913668" y="2530232"/>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1" name="Text 37"/>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2" name="Text 38"/>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3" name="Text 39"/>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lalu saring 7 hari terakhir dan jumlahkan</a:t>
            </a:r>
            <a:endParaRPr lang="en-US" sz="900" dirty="0"/>
          </a:p>
        </p:txBody>
      </p:sp>
      <p:sp>
        <p:nvSpPr>
          <p:cNvPr id="44" name="Shape 40"/>
          <p:cNvSpPr/>
          <p:nvPr/>
        </p:nvSpPr>
        <p:spPr>
          <a:xfrm>
            <a:off x="913668" y="1817000"/>
            <a:ext cx="4555175" cy="905256"/>
          </a:xfrm>
          <a:prstGeom prst="roundRect">
            <a:avLst>
              <a:gd name="adj" fmla="val 5051"/>
            </a:avLst>
          </a:prstGeom>
          <a:solidFill>
            <a:srgbClr val="FFFFFF">
              <a:alpha val="0"/>
            </a:srgbClr>
          </a:solidFill>
          <a:ln w="31750">
            <a:solidFill>
              <a:srgbClr val="E53935"/>
            </a:solidFill>
            <a:prstDash val="solid"/>
          </a:ln>
        </p:spPr>
      </p:sp>
      <p:sp>
        <p:nvSpPr>
          <p:cNvPr id="45" name="Shape 41"/>
          <p:cNvSpPr/>
          <p:nvPr/>
        </p:nvSpPr>
        <p:spPr>
          <a:xfrm>
            <a:off x="5331684" y="1679840"/>
            <a:ext cx="274320" cy="274320"/>
          </a:xfrm>
          <a:prstGeom prst="ellipse">
            <a:avLst/>
          </a:prstGeom>
          <a:solidFill>
            <a:srgbClr val="E53935"/>
          </a:solidFill>
          <a:ln w="12700">
            <a:solidFill>
              <a:srgbClr val="FFFFFF"/>
            </a:solidFill>
            <a:prstDash val="solid"/>
          </a:ln>
        </p:spPr>
      </p:sp>
      <p:sp>
        <p:nvSpPr>
          <p:cNvPr id="46" name="Text 42"/>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7" name="Image 2" descr="preencoded.png">    </p:cNvPr>
          <p:cNvPicPr>
            <a:picLocks noChangeAspect="1"/>
          </p:cNvPicPr>
          <p:nvPr/>
        </p:nvPicPr>
        <p:blipFill>
          <a:blip r:embed="rId3"/>
          <a:stretch>
            <a:fillRect/>
          </a:stretch>
        </p:blipFill>
        <p:spPr>
          <a:xfrm>
            <a:off x="3417186" y="2313062"/>
            <a:ext cx="237744" cy="237744"/>
          </a:xfrm>
          <a:prstGeom prst="rect">
            <a:avLst/>
          </a:prstGeom>
        </p:spPr>
      </p:pic>
      <p:sp>
        <p:nvSpPr>
          <p:cNvPr id="48"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9"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Debug dan perbaiki yang gagal</a:t>
            </a:r>
            <a:endParaRPr lang="en-US" sz="1800" dirty="0"/>
          </a:p>
        </p:txBody>
      </p:sp>
      <p:sp>
        <p:nvSpPr>
          <p:cNvPr id="50"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Gunakan 5 langkah debugging. Tanya AI dengan prompt debugging bila perlu. Perbaiki, lalu jalankan ULANG semua test case.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Mencatat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18288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Commits</a:t>
            </a:r>
            <a:endParaRPr lang="en-US" sz="1100" dirty="0"/>
          </a:p>
        </p:txBody>
      </p:sp>
      <p:sp>
        <p:nvSpPr>
          <p:cNvPr id="33" name="Shape 25"/>
          <p:cNvSpPr/>
          <p:nvPr/>
        </p:nvSpPr>
        <p:spPr>
          <a:xfrm>
            <a:off x="724936" y="2381765"/>
            <a:ext cx="4676607" cy="292608"/>
          </a:xfrm>
          <a:prstGeom prst="rect">
            <a:avLst/>
          </a:prstGeom>
          <a:solidFill>
            <a:srgbClr val="FFFFFF"/>
          </a:solidFill>
          <a:ln w="6350">
            <a:solidFill>
              <a:srgbClr val="D0D7DE"/>
            </a:solidFill>
            <a:prstDash val="solid"/>
          </a:ln>
        </p:spPr>
      </p:sp>
      <p:sp>
        <p:nvSpPr>
          <p:cNvPr id="34" name="Text 26"/>
          <p:cNvSpPr txBox="1"/>
          <p:nvPr/>
        </p:nvSpPr>
        <p:spPr>
          <a:xfrm>
            <a:off x="816376" y="2381765"/>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Tambah fitur total pekanan (4/4 test case lulus)</a:t>
            </a:r>
            <a:endParaRPr lang="en-US" sz="750" dirty="0"/>
          </a:p>
        </p:txBody>
      </p:sp>
      <p:sp>
        <p:nvSpPr>
          <p:cNvPr id="35" name="Text 27"/>
          <p:cNvSpPr txBox="1"/>
          <p:nvPr/>
        </p:nvSpPr>
        <p:spPr>
          <a:xfrm>
            <a:off x="816376" y="2528069"/>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santri-wu-kel3 · baru saja</a:t>
            </a:r>
            <a:endParaRPr lang="en-US" sz="600" dirty="0"/>
          </a:p>
        </p:txBody>
      </p:sp>
      <p:sp>
        <p:nvSpPr>
          <p:cNvPr id="36" name="Text 28"/>
          <p:cNvSpPr txBox="1"/>
          <p:nvPr/>
        </p:nvSpPr>
        <p:spPr>
          <a:xfrm>
            <a:off x="4670024" y="2381765"/>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b7e21c9</a:t>
            </a:r>
            <a:endParaRPr lang="en-US" sz="650" dirty="0"/>
          </a:p>
        </p:txBody>
      </p:sp>
      <p:sp>
        <p:nvSpPr>
          <p:cNvPr id="37" name="Shape 29"/>
          <p:cNvSpPr/>
          <p:nvPr/>
        </p:nvSpPr>
        <p:spPr>
          <a:xfrm>
            <a:off x="724936" y="2710949"/>
            <a:ext cx="4676607" cy="292608"/>
          </a:xfrm>
          <a:prstGeom prst="rect">
            <a:avLst/>
          </a:prstGeom>
          <a:solidFill>
            <a:srgbClr val="FFFFFF"/>
          </a:solidFill>
          <a:ln w="6350">
            <a:solidFill>
              <a:srgbClr val="D0D7DE"/>
            </a:solidFill>
            <a:prstDash val="solid"/>
          </a:ln>
        </p:spPr>
      </p:sp>
      <p:sp>
        <p:nvSpPr>
          <p:cNvPr id="38" name="Text 30"/>
          <p:cNvSpPr txBox="1"/>
          <p:nvPr/>
        </p:nvSpPr>
        <p:spPr>
          <a:xfrm>
            <a:off x="816376" y="2710949"/>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Versi 3: tersambung Google Sheets</a:t>
            </a:r>
            <a:endParaRPr lang="en-US" sz="750" dirty="0"/>
          </a:p>
        </p:txBody>
      </p:sp>
      <p:sp>
        <p:nvSpPr>
          <p:cNvPr id="39" name="Text 31"/>
          <p:cNvSpPr txBox="1"/>
          <p:nvPr/>
        </p:nvSpPr>
        <p:spPr>
          <a:xfrm>
            <a:off x="816376" y="2857253"/>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santri-wu-kel3 · 2 pekan lalu</a:t>
            </a:r>
            <a:endParaRPr lang="en-US" sz="600" dirty="0"/>
          </a:p>
        </p:txBody>
      </p:sp>
      <p:sp>
        <p:nvSpPr>
          <p:cNvPr id="40" name="Text 32"/>
          <p:cNvSpPr txBox="1"/>
          <p:nvPr/>
        </p:nvSpPr>
        <p:spPr>
          <a:xfrm>
            <a:off x="4670024" y="2710949"/>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4d0a8f3</a:t>
            </a:r>
            <a:endParaRPr lang="en-US" sz="650" dirty="0"/>
          </a:p>
        </p:txBody>
      </p:sp>
      <p:sp>
        <p:nvSpPr>
          <p:cNvPr id="41" name="Shape 33"/>
          <p:cNvSpPr/>
          <p:nvPr/>
        </p:nvSpPr>
        <p:spPr>
          <a:xfrm>
            <a:off x="724936" y="3040133"/>
            <a:ext cx="4676607" cy="292608"/>
          </a:xfrm>
          <a:prstGeom prst="rect">
            <a:avLst/>
          </a:prstGeom>
          <a:solidFill>
            <a:srgbClr val="FFFFFF"/>
          </a:solidFill>
          <a:ln w="6350">
            <a:solidFill>
              <a:srgbClr val="D0D7DE"/>
            </a:solidFill>
            <a:prstDash val="solid"/>
          </a:ln>
        </p:spPr>
      </p:sp>
      <p:sp>
        <p:nvSpPr>
          <p:cNvPr id="42" name="Text 34"/>
          <p:cNvSpPr txBox="1"/>
          <p:nvPr/>
        </p:nvSpPr>
        <p:spPr>
          <a:xfrm>
            <a:off x="816376" y="3040133"/>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Versi 2: input, hitung, dan keputusan if</a:t>
            </a:r>
            <a:endParaRPr lang="en-US" sz="750" dirty="0"/>
          </a:p>
        </p:txBody>
      </p:sp>
      <p:sp>
        <p:nvSpPr>
          <p:cNvPr id="43" name="Text 35"/>
          <p:cNvSpPr txBox="1"/>
          <p:nvPr/>
        </p:nvSpPr>
        <p:spPr>
          <a:xfrm>
            <a:off x="816376" y="3186437"/>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santri-wu-kel3 · bulan lalu</a:t>
            </a:r>
            <a:endParaRPr lang="en-US" sz="600" dirty="0"/>
          </a:p>
        </p:txBody>
      </p:sp>
      <p:sp>
        <p:nvSpPr>
          <p:cNvPr id="44" name="Text 36"/>
          <p:cNvSpPr txBox="1"/>
          <p:nvPr/>
        </p:nvSpPr>
        <p:spPr>
          <a:xfrm>
            <a:off x="4670024" y="3040133"/>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9c3e17b</a:t>
            </a:r>
            <a:endParaRPr lang="en-US" sz="650" dirty="0"/>
          </a:p>
        </p:txBody>
      </p:sp>
      <p:sp>
        <p:nvSpPr>
          <p:cNvPr id="45" name="Shape 37"/>
          <p:cNvSpPr/>
          <p:nvPr/>
        </p:nvSpPr>
        <p:spPr>
          <a:xfrm>
            <a:off x="706648" y="2363477"/>
            <a:ext cx="4713183" cy="329184"/>
          </a:xfrm>
          <a:prstGeom prst="roundRect">
            <a:avLst>
              <a:gd name="adj" fmla="val 13889"/>
            </a:avLst>
          </a:prstGeom>
          <a:solidFill>
            <a:srgbClr val="FFFFFF">
              <a:alpha val="0"/>
            </a:srgbClr>
          </a:solidFill>
          <a:ln w="31750">
            <a:solidFill>
              <a:srgbClr val="E53935"/>
            </a:solidFill>
            <a:prstDash val="solid"/>
          </a:ln>
        </p:spPr>
      </p:sp>
      <p:sp>
        <p:nvSpPr>
          <p:cNvPr id="46" name="Shape 38"/>
          <p:cNvSpPr/>
          <p:nvPr/>
        </p:nvSpPr>
        <p:spPr>
          <a:xfrm>
            <a:off x="5282672" y="2226317"/>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282672"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8" name="Image 6" descr="preencoded.png">    </p:cNvPr>
          <p:cNvPicPr>
            <a:picLocks noChangeAspect="1"/>
          </p:cNvPicPr>
          <p:nvPr/>
        </p:nvPicPr>
        <p:blipFill>
          <a:blip r:embed="rId7"/>
          <a:stretch>
            <a:fillRect/>
          </a:stretch>
        </p:blipFill>
        <p:spPr>
          <a:xfrm>
            <a:off x="3297070" y="2542700"/>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Semua lulus? Commit dengan pesan jelas</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semua test case lulus: upload ke GitHub, commit "Tambah fitur total pekanan (4/4 test case lulus)".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Rancangan_Fitur kelompok ditambah:</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test case (dibuat sebelum kode) dengan kolom hasil terisi.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code review 4 pertanyaan dan temuannya.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bug yang ditemukan test case dan perbaikannya.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Commit fitur di GitHub dengan pesan jelas.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Test case dibuat sebelum kode</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test case dijalankan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Code review checklist terisi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Temuan diperbaiki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Test case mana yang menemukan masalah?</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kamu temukan saat code review?</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Periksa dengan teliti sebelum menerima dan menyampaikan. Itulah tabayyun dalam pekerjaan.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Prototype Fitur Aplikasi.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Prototype Fitur Aplikasi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merilis fitur baru dengan siklus lengkap</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AI-Assisted Development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pengguna tahu ada fitur baru di aplikasi, dan apa saja yang berubah?</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Menyempurnakan fitur berdasarkan uji pengguna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changelog dan memperbarui README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fitur beserta proses pengembangannya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Changelog: Catatan Perubahan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5120640" cy="3474720"/>
          </a:xfrm>
          <a:prstGeom prst="roundRect">
            <a:avLst>
              <a:gd name="adj" fmla="val 1579"/>
            </a:avLst>
          </a:prstGeom>
          <a:solidFill>
            <a:srgbClr val="FFFFFF"/>
          </a:solidFill>
          <a:ln w="12700">
            <a:solidFill>
              <a:srgbClr val="BBBBBB"/>
            </a:solidFill>
            <a:prstDash val="solid"/>
          </a:ln>
        </p:spPr>
      </p:sp>
      <p:sp>
        <p:nvSpPr>
          <p:cNvPr id="10" name="Text 6"/>
          <p:cNvSpPr txBox="1"/>
          <p:nvPr/>
        </p:nvSpPr>
        <p:spPr>
          <a:xfrm>
            <a:off x="640080" y="1188720"/>
            <a:ext cx="4846320" cy="347472"/>
          </a:xfrm>
          <a:prstGeom prst="rect">
            <a:avLst/>
          </a:prstGeom>
          <a:noFill/>
          <a:ln/>
        </p:spPr>
        <p:txBody>
          <a:bodyPr wrap="square" lIns="0" tIns="0" rIns="0" bIns="0" rtlCol="0" anchor="ctr"/>
          <a:lstStyle/>
          <a:p>
            <a:pPr indent="0" marL="0">
              <a:buNone/>
            </a:pPr>
            <a:r>
              <a:rPr lang="en-US" sz="1200" b="1" dirty="0">
                <a:solidFill>
                  <a:srgbClr val="0F4C3A"/>
                </a:solidFill>
                <a:latin typeface="Courier New" pitchFamily="34" charset="0"/>
                <a:ea typeface="Courier New" pitchFamily="34" charset="-122"/>
                <a:cs typeface="Courier New" pitchFamily="34" charset="-120"/>
              </a:rPr>
              <a:t>## Catatan Perubahan</a:t>
            </a:r>
            <a:endParaRPr lang="en-US" sz="1200" dirty="0"/>
          </a:p>
        </p:txBody>
      </p:sp>
      <p:sp>
        <p:nvSpPr>
          <p:cNvPr id="11" name="Text 7"/>
          <p:cNvSpPr txBox="1"/>
          <p:nvPr/>
        </p:nvSpPr>
        <p:spPr>
          <a:xfrm>
            <a:off x="640080" y="1554480"/>
            <a:ext cx="4846320" cy="347472"/>
          </a:xfrm>
          <a:prstGeom prst="rect">
            <a:avLst/>
          </a:prstGeom>
          <a:noFill/>
          <a:ln/>
        </p:spPr>
        <p:txBody>
          <a:bodyPr wrap="square" lIns="0" tIns="0" rIns="0" bIns="0" rtlCol="0" anchor="ctr"/>
          <a:lstStyle/>
          <a:p>
            <a:pPr indent="0" marL="0">
              <a:buNone/>
            </a:pPr>
            <a:endParaRPr lang="en-US" sz="1200" dirty="0"/>
          </a:p>
        </p:txBody>
      </p:sp>
      <p:sp>
        <p:nvSpPr>
          <p:cNvPr id="12" name="Text 8"/>
          <p:cNvSpPr txBox="1"/>
          <p:nvPr/>
        </p:nvSpPr>
        <p:spPr>
          <a:xfrm>
            <a:off x="640080" y="1920240"/>
            <a:ext cx="4846320" cy="347472"/>
          </a:xfrm>
          <a:prstGeom prst="rect">
            <a:avLst/>
          </a:prstGeom>
          <a:noFill/>
          <a:ln/>
        </p:spPr>
        <p:txBody>
          <a:bodyPr wrap="square" lIns="0" tIns="0" rIns="0" bIns="0" rtlCol="0" anchor="ctr"/>
          <a:lstStyle/>
          <a:p>
            <a:pPr indent="0" marL="0">
              <a:buNone/>
            </a:pPr>
            <a:r>
              <a:rPr lang="en-US" sz="1200" b="1" dirty="0">
                <a:solidFill>
                  <a:srgbClr val="0F4C3A"/>
                </a:solidFill>
                <a:latin typeface="Courier New" pitchFamily="34" charset="0"/>
                <a:ea typeface="Courier New" pitchFamily="34" charset="-122"/>
                <a:cs typeface="Courier New" pitchFamily="34" charset="-120"/>
              </a:rPr>
              <a:t>### Versi 4 (Februari 2027)</a:t>
            </a:r>
            <a:endParaRPr lang="en-US" sz="1200" dirty="0"/>
          </a:p>
        </p:txBody>
      </p:sp>
      <p:sp>
        <p:nvSpPr>
          <p:cNvPr id="13" name="Text 9"/>
          <p:cNvSpPr txBox="1"/>
          <p:nvPr/>
        </p:nvSpPr>
        <p:spPr>
          <a:xfrm>
            <a:off x="640080" y="2286000"/>
            <a:ext cx="4846320" cy="347472"/>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Baru: cek total ayat pekan ini per kode</a:t>
            </a:r>
            <a:endParaRPr lang="en-US" sz="1200" dirty="0"/>
          </a:p>
        </p:txBody>
      </p:sp>
      <p:sp>
        <p:nvSpPr>
          <p:cNvPr id="14" name="Text 10"/>
          <p:cNvSpPr txBox="1"/>
          <p:nvPr/>
        </p:nvSpPr>
        <p:spPr>
          <a:xfrm>
            <a:off x="640080" y="2651760"/>
            <a:ext cx="4846320" cy="347472"/>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Baru: pesan status target</a:t>
            </a:r>
            <a:endParaRPr lang="en-US" sz="1200" dirty="0"/>
          </a:p>
        </p:txBody>
      </p:sp>
      <p:sp>
        <p:nvSpPr>
          <p:cNvPr id="15" name="Text 11"/>
          <p:cNvSpPr txBox="1"/>
          <p:nvPr/>
        </p:nvSpPr>
        <p:spPr>
          <a:xfrm>
            <a:off x="640080" y="3017520"/>
            <a:ext cx="4846320" cy="347472"/>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Perbaikan: pesan jika kode tidak ditemukan</a:t>
            </a:r>
            <a:endParaRPr lang="en-US" sz="1200" dirty="0"/>
          </a:p>
        </p:txBody>
      </p:sp>
      <p:sp>
        <p:nvSpPr>
          <p:cNvPr id="16" name="Text 12"/>
          <p:cNvSpPr txBox="1"/>
          <p:nvPr/>
        </p:nvSpPr>
        <p:spPr>
          <a:xfrm>
            <a:off x="640080" y="3383280"/>
            <a:ext cx="4846320" cy="347472"/>
          </a:xfrm>
          <a:prstGeom prst="rect">
            <a:avLst/>
          </a:prstGeom>
          <a:noFill/>
          <a:ln/>
        </p:spPr>
        <p:txBody>
          <a:bodyPr wrap="square" lIns="0" tIns="0" rIns="0" bIns="0" rtlCol="0" anchor="ctr"/>
          <a:lstStyle/>
          <a:p>
            <a:pPr indent="0" marL="0">
              <a:buNone/>
            </a:pPr>
            <a:endParaRPr lang="en-US" sz="1200" dirty="0"/>
          </a:p>
        </p:txBody>
      </p:sp>
      <p:sp>
        <p:nvSpPr>
          <p:cNvPr id="17" name="Text 13"/>
          <p:cNvSpPr txBox="1"/>
          <p:nvPr/>
        </p:nvSpPr>
        <p:spPr>
          <a:xfrm>
            <a:off x="640080" y="3749040"/>
            <a:ext cx="4846320" cy="347472"/>
          </a:xfrm>
          <a:prstGeom prst="rect">
            <a:avLst/>
          </a:prstGeom>
          <a:noFill/>
          <a:ln/>
        </p:spPr>
        <p:txBody>
          <a:bodyPr wrap="square" lIns="0" tIns="0" rIns="0" bIns="0" rtlCol="0" anchor="ctr"/>
          <a:lstStyle/>
          <a:p>
            <a:pPr indent="0" marL="0">
              <a:buNone/>
            </a:pPr>
            <a:r>
              <a:rPr lang="en-US" sz="1200" b="1" dirty="0">
                <a:solidFill>
                  <a:srgbClr val="0F4C3A"/>
                </a:solidFill>
                <a:latin typeface="Courier New" pitchFamily="34" charset="0"/>
                <a:ea typeface="Courier New" pitchFamily="34" charset="-122"/>
                <a:cs typeface="Courier New" pitchFamily="34" charset="-120"/>
              </a:rPr>
              <a:t>### Versi 3 (Februari 2027)</a:t>
            </a:r>
            <a:endParaRPr lang="en-US" sz="1200" dirty="0"/>
          </a:p>
        </p:txBody>
      </p:sp>
      <p:sp>
        <p:nvSpPr>
          <p:cNvPr id="18" name="Text 14"/>
          <p:cNvSpPr txBox="1"/>
          <p:nvPr/>
        </p:nvSpPr>
        <p:spPr>
          <a:xfrm>
            <a:off x="640080" y="4114800"/>
            <a:ext cx="4846320" cy="347472"/>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Baru: data tersimpan di Google Sheets</a:t>
            </a:r>
            <a:endParaRPr lang="en-US" sz="1200" dirty="0"/>
          </a:p>
        </p:txBody>
      </p:sp>
      <p:sp>
        <p:nvSpPr>
          <p:cNvPr id="19" name="Shape 15"/>
          <p:cNvSpPr/>
          <p:nvPr/>
        </p:nvSpPr>
        <p:spPr>
          <a:xfrm>
            <a:off x="5852160" y="1188720"/>
            <a:ext cx="2834640" cy="960120"/>
          </a:xfrm>
          <a:prstGeom prst="roundRect">
            <a:avLst>
              <a:gd name="adj" fmla="val 9524"/>
            </a:avLst>
          </a:prstGeom>
          <a:solidFill>
            <a:srgbClr val="E6F2EC"/>
          </a:solidFill>
          <a:ln w="12700">
            <a:solidFill>
              <a:srgbClr val="E6F2EC"/>
            </a:solidFill>
            <a:prstDash val="solid"/>
          </a:ln>
        </p:spPr>
      </p:sp>
      <p:sp>
        <p:nvSpPr>
          <p:cNvPr id="20" name="Text 16"/>
          <p:cNvSpPr txBox="1"/>
          <p:nvPr/>
        </p:nvSpPr>
        <p:spPr>
          <a:xfrm>
            <a:off x="5989320" y="1261872"/>
            <a:ext cx="2560320" cy="365760"/>
          </a:xfrm>
          <a:prstGeom prst="rect">
            <a:avLst/>
          </a:prstGeom>
          <a:noFill/>
          <a:ln/>
        </p:spPr>
        <p:txBody>
          <a:bodyPr wrap="square" lIns="0" tIns="0" rIns="0" bIns="0" rtlCol="0" anchor="t"/>
          <a:lstStyle/>
          <a:p>
            <a:pPr indent="0" marL="0">
              <a:buNone/>
            </a:pPr>
            <a:r>
              <a:rPr lang="en-US" sz="1500" b="1" dirty="0">
                <a:solidFill>
                  <a:srgbClr val="1F7A5C"/>
                </a:solidFill>
                <a:latin typeface="Calibri" pitchFamily="34" charset="0"/>
                <a:ea typeface="Calibri" pitchFamily="34" charset="-122"/>
                <a:cs typeface="Calibri" pitchFamily="34" charset="-120"/>
              </a:rPr>
              <a:t>Baru</a:t>
            </a:r>
            <a:endParaRPr lang="en-US" sz="1500" dirty="0"/>
          </a:p>
        </p:txBody>
      </p:sp>
      <p:sp>
        <p:nvSpPr>
          <p:cNvPr id="21" name="Text 17"/>
          <p:cNvSpPr txBox="1"/>
          <p:nvPr/>
        </p:nvSpPr>
        <p:spPr>
          <a:xfrm>
            <a:off x="5989320" y="1645920"/>
            <a:ext cx="25603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Fitur yang ditambahkan</a:t>
            </a:r>
            <a:endParaRPr lang="en-US" sz="1250" dirty="0"/>
          </a:p>
        </p:txBody>
      </p:sp>
      <p:sp>
        <p:nvSpPr>
          <p:cNvPr id="22" name="Shape 18"/>
          <p:cNvSpPr/>
          <p:nvPr/>
        </p:nvSpPr>
        <p:spPr>
          <a:xfrm>
            <a:off x="5852160" y="2286000"/>
            <a:ext cx="2834640" cy="960120"/>
          </a:xfrm>
          <a:prstGeom prst="roundRect">
            <a:avLst>
              <a:gd name="adj" fmla="val 9524"/>
            </a:avLst>
          </a:prstGeom>
          <a:solidFill>
            <a:srgbClr val="E6F2EC"/>
          </a:solidFill>
          <a:ln w="12700">
            <a:solidFill>
              <a:srgbClr val="E6F2EC"/>
            </a:solidFill>
            <a:prstDash val="solid"/>
          </a:ln>
        </p:spPr>
      </p:sp>
      <p:sp>
        <p:nvSpPr>
          <p:cNvPr id="23" name="Text 19"/>
          <p:cNvSpPr txBox="1"/>
          <p:nvPr/>
        </p:nvSpPr>
        <p:spPr>
          <a:xfrm>
            <a:off x="5989320" y="2359152"/>
            <a:ext cx="2560320" cy="365760"/>
          </a:xfrm>
          <a:prstGeom prst="rect">
            <a:avLst/>
          </a:prstGeom>
          <a:noFill/>
          <a:ln/>
        </p:spPr>
        <p:txBody>
          <a:bodyPr wrap="square" lIns="0" tIns="0" rIns="0" bIns="0" rtlCol="0" anchor="t"/>
          <a:lstStyle/>
          <a:p>
            <a:pPr indent="0" marL="0">
              <a:buNone/>
            </a:pPr>
            <a:r>
              <a:rPr lang="en-US" sz="1500" b="1" dirty="0">
                <a:solidFill>
                  <a:srgbClr val="E53935"/>
                </a:solidFill>
                <a:latin typeface="Calibri" pitchFamily="34" charset="0"/>
                <a:ea typeface="Calibri" pitchFamily="34" charset="-122"/>
                <a:cs typeface="Calibri" pitchFamily="34" charset="-120"/>
              </a:rPr>
              <a:t>Perbaikan</a:t>
            </a:r>
            <a:endParaRPr lang="en-US" sz="1500" dirty="0"/>
          </a:p>
        </p:txBody>
      </p:sp>
      <p:sp>
        <p:nvSpPr>
          <p:cNvPr id="24" name="Text 20"/>
          <p:cNvSpPr txBox="1"/>
          <p:nvPr/>
        </p:nvSpPr>
        <p:spPr>
          <a:xfrm>
            <a:off x="5989320" y="2743200"/>
            <a:ext cx="25603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Bug yang diperbaiki</a:t>
            </a:r>
            <a:endParaRPr lang="en-US" sz="1250" dirty="0"/>
          </a:p>
        </p:txBody>
      </p:sp>
      <p:sp>
        <p:nvSpPr>
          <p:cNvPr id="25" name="Shape 21"/>
          <p:cNvSpPr/>
          <p:nvPr/>
        </p:nvSpPr>
        <p:spPr>
          <a:xfrm>
            <a:off x="5852160" y="3383280"/>
            <a:ext cx="2834640" cy="960120"/>
          </a:xfrm>
          <a:prstGeom prst="roundRect">
            <a:avLst>
              <a:gd name="adj" fmla="val 9524"/>
            </a:avLst>
          </a:prstGeom>
          <a:solidFill>
            <a:srgbClr val="E6F2EC"/>
          </a:solidFill>
          <a:ln w="12700">
            <a:solidFill>
              <a:srgbClr val="E6F2EC"/>
            </a:solidFill>
            <a:prstDash val="solid"/>
          </a:ln>
        </p:spPr>
      </p:sp>
      <p:sp>
        <p:nvSpPr>
          <p:cNvPr id="26" name="Text 22"/>
          <p:cNvSpPr txBox="1"/>
          <p:nvPr/>
        </p:nvSpPr>
        <p:spPr>
          <a:xfrm>
            <a:off x="5989320" y="3456432"/>
            <a:ext cx="2560320" cy="365760"/>
          </a:xfrm>
          <a:prstGeom prst="rect">
            <a:avLst/>
          </a:prstGeom>
          <a:noFill/>
          <a:ln/>
        </p:spPr>
        <p:txBody>
          <a:bodyPr wrap="square" lIns="0" tIns="0" rIns="0" bIns="0" rtlCol="0" anchor="t"/>
          <a:lstStyle/>
          <a:p>
            <a:pPr indent="0" marL="0">
              <a:buNone/>
            </a:pPr>
            <a:r>
              <a:rPr lang="en-US" sz="1500" b="1" dirty="0">
                <a:solidFill>
                  <a:srgbClr val="0078D4"/>
                </a:solidFill>
                <a:latin typeface="Calibri" pitchFamily="34" charset="0"/>
                <a:ea typeface="Calibri" pitchFamily="34" charset="-122"/>
                <a:cs typeface="Calibri" pitchFamily="34" charset="-120"/>
              </a:rPr>
              <a:t>Versi &amp; Tanggal</a:t>
            </a:r>
            <a:endParaRPr lang="en-US" sz="1500" dirty="0"/>
          </a:p>
        </p:txBody>
      </p:sp>
      <p:sp>
        <p:nvSpPr>
          <p:cNvPr id="27" name="Text 23"/>
          <p:cNvSpPr txBox="1"/>
          <p:nvPr/>
        </p:nvSpPr>
        <p:spPr>
          <a:xfrm>
            <a:off x="5989320" y="3840480"/>
            <a:ext cx="25603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Agar urutan jelas</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Presentasi Fitur (4 Menit)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User Story</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penggunanya, apa kebutuhannya.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Demo</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Tunjukkan fitur bekerja, termasuk keadaan tidak normal.</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Bukti Kualitas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Tabel test case, code review, dan bug yang ditemukan.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Peran AI</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Bagian mana dibantu AI, bagian mana dibuat sendiri, apa yang dipelajari.</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Merilis Fitur Baru</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9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pengguna dan penyempurnaan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Changelog dan README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274320"/>
          </a:xfrm>
          <a:prstGeom prst="rect">
            <a:avLst/>
          </a:prstGeom>
          <a:solidFill>
            <a:srgbClr val="F1F3F4"/>
          </a:solidFill>
          <a:ln w="12700">
            <a:solidFill>
              <a:srgbClr val="F1F3F4"/>
            </a:solidFill>
            <a:prstDash val="solid"/>
          </a:ln>
        </p:spPr>
      </p:sp>
      <p:sp>
        <p:nvSpPr>
          <p:cNvPr id="12" name="Text 8"/>
          <p:cNvSpPr txBox="1"/>
          <p:nvPr/>
        </p:nvSpPr>
        <p:spPr>
          <a:xfrm>
            <a:off x="2297430" y="1143000"/>
            <a:ext cx="1531620" cy="27432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santri-wu-kel3.github.io/...</a:t>
            </a:r>
            <a:endParaRPr lang="en-US" sz="650" dirty="0"/>
          </a:p>
        </p:txBody>
      </p:sp>
      <p:sp>
        <p:nvSpPr>
          <p:cNvPr id="13" name="Shape 9"/>
          <p:cNvSpPr/>
          <p:nvPr/>
        </p:nvSpPr>
        <p:spPr>
          <a:xfrm>
            <a:off x="2251710" y="1417320"/>
            <a:ext cx="1623060" cy="3154680"/>
          </a:xfrm>
          <a:prstGeom prst="rect">
            <a:avLst/>
          </a:prstGeom>
          <a:solidFill>
            <a:srgbClr val="F3F8F5"/>
          </a:solidFill>
          <a:ln w="12700">
            <a:solidFill>
              <a:srgbClr val="F3F8F5"/>
            </a:solidFill>
            <a:prstDash val="solid"/>
          </a:ln>
        </p:spPr>
      </p:sp>
      <p:sp>
        <p:nvSpPr>
          <p:cNvPr id="14" name="Shape 10"/>
          <p:cNvSpPr/>
          <p:nvPr/>
        </p:nvSpPr>
        <p:spPr>
          <a:xfrm>
            <a:off x="2251710" y="1417320"/>
            <a:ext cx="1623060" cy="411480"/>
          </a:xfrm>
          <a:prstGeom prst="rect">
            <a:avLst/>
          </a:prstGeom>
          <a:solidFill>
            <a:srgbClr val="0F4C3A"/>
          </a:solidFill>
          <a:ln w="12700">
            <a:solidFill>
              <a:srgbClr val="0F4C3A"/>
            </a:solidFill>
            <a:prstDash val="solid"/>
          </a:ln>
        </p:spPr>
      </p:sp>
      <p:sp>
        <p:nvSpPr>
          <p:cNvPr id="15" name="Text 11"/>
          <p:cNvSpPr txBox="1"/>
          <p:nvPr/>
        </p:nvSpPr>
        <p:spPr>
          <a:xfrm>
            <a:off x="2251710" y="1417320"/>
            <a:ext cx="16230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 Cek Pekanan</a:t>
            </a:r>
            <a:endParaRPr lang="en-US" sz="1100" dirty="0"/>
          </a:p>
        </p:txBody>
      </p:sp>
      <p:sp>
        <p:nvSpPr>
          <p:cNvPr id="16" name="Shape 12"/>
          <p:cNvSpPr/>
          <p:nvPr/>
        </p:nvSpPr>
        <p:spPr>
          <a:xfrm>
            <a:off x="2388870" y="1920240"/>
            <a:ext cx="1348740" cy="1417320"/>
          </a:xfrm>
          <a:prstGeom prst="roundRect">
            <a:avLst>
              <a:gd name="adj" fmla="val 5424"/>
            </a:avLst>
          </a:prstGeom>
          <a:solidFill>
            <a:srgbClr val="FFFFFF"/>
          </a:solidFill>
          <a:ln w="9525">
            <a:solidFill>
              <a:srgbClr val="DDDDDD"/>
            </a:solidFill>
            <a:prstDash val="solid"/>
          </a:ln>
        </p:spPr>
      </p:sp>
      <p:sp>
        <p:nvSpPr>
          <p:cNvPr id="17" name="Text 13"/>
          <p:cNvSpPr txBox="1"/>
          <p:nvPr/>
        </p:nvSpPr>
        <p:spPr>
          <a:xfrm>
            <a:off x="2480310" y="1965960"/>
            <a:ext cx="1348740" cy="228600"/>
          </a:xfrm>
          <a:prstGeom prst="rect">
            <a:avLst/>
          </a:prstGeom>
          <a:noFill/>
          <a:ln/>
        </p:spPr>
        <p:txBody>
          <a:bodyPr wrap="square" lIns="0" tIns="0" rIns="0" bIns="0" rtlCol="0" anchor="t"/>
          <a:lstStyle/>
          <a:p>
            <a:pPr indent="0" marL="0">
              <a:buNone/>
            </a:pPr>
            <a:r>
              <a:rPr lang="en-US" sz="850" b="1" dirty="0">
                <a:solidFill>
                  <a:srgbClr val="1E2A26"/>
                </a:solidFill>
                <a:latin typeface="Arial" pitchFamily="34" charset="0"/>
                <a:ea typeface="Arial" pitchFamily="34" charset="-122"/>
                <a:cs typeface="Arial" pitchFamily="34" charset="-120"/>
              </a:rPr>
              <a:t>Cek total pekan ini</a:t>
            </a:r>
            <a:endParaRPr lang="en-US" sz="850" dirty="0"/>
          </a:p>
        </p:txBody>
      </p:sp>
      <p:sp>
        <p:nvSpPr>
          <p:cNvPr id="18" name="Shape 14"/>
          <p:cNvSpPr/>
          <p:nvPr/>
        </p:nvSpPr>
        <p:spPr>
          <a:xfrm>
            <a:off x="2480310" y="2240280"/>
            <a:ext cx="1165860" cy="219456"/>
          </a:xfrm>
          <a:prstGeom prst="rect">
            <a:avLst/>
          </a:prstGeom>
          <a:solidFill>
            <a:srgbClr val="FFFFFF"/>
          </a:solidFill>
          <a:ln w="6350">
            <a:solidFill>
              <a:srgbClr val="999999"/>
            </a:solidFill>
            <a:prstDash val="solid"/>
          </a:ln>
        </p:spPr>
      </p:sp>
      <p:sp>
        <p:nvSpPr>
          <p:cNvPr id="19" name="Text 15"/>
          <p:cNvSpPr txBox="1"/>
          <p:nvPr/>
        </p:nvSpPr>
        <p:spPr>
          <a:xfrm>
            <a:off x="2516886" y="2240280"/>
            <a:ext cx="107442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S001</a:t>
            </a:r>
            <a:endParaRPr lang="en-US" sz="800" dirty="0"/>
          </a:p>
        </p:txBody>
      </p:sp>
      <p:sp>
        <p:nvSpPr>
          <p:cNvPr id="20" name="Shape 16"/>
          <p:cNvSpPr/>
          <p:nvPr/>
        </p:nvSpPr>
        <p:spPr>
          <a:xfrm>
            <a:off x="2560320" y="2532888"/>
            <a:ext cx="1005840" cy="219456"/>
          </a:xfrm>
          <a:prstGeom prst="roundRect">
            <a:avLst>
              <a:gd name="adj" fmla="val 50000"/>
            </a:avLst>
          </a:prstGeom>
          <a:solidFill>
            <a:srgbClr val="D4A017"/>
          </a:solidFill>
          <a:ln w="12700">
            <a:solidFill>
              <a:srgbClr val="D4A017"/>
            </a:solidFill>
            <a:prstDash val="solid"/>
          </a:ln>
        </p:spPr>
      </p:sp>
      <p:sp>
        <p:nvSpPr>
          <p:cNvPr id="21" name="Text 17"/>
          <p:cNvSpPr txBox="1"/>
          <p:nvPr/>
        </p:nvSpPr>
        <p:spPr>
          <a:xfrm>
            <a:off x="2560320" y="2532888"/>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Cek Total</a:t>
            </a:r>
            <a:endParaRPr lang="en-US" sz="750" dirty="0"/>
          </a:p>
        </p:txBody>
      </p:sp>
      <p:sp>
        <p:nvSpPr>
          <p:cNvPr id="22" name="Text 18"/>
          <p:cNvSpPr txBox="1"/>
          <p:nvPr/>
        </p:nvSpPr>
        <p:spPr>
          <a:xfrm>
            <a:off x="2480310" y="2807208"/>
            <a:ext cx="1165860" cy="457200"/>
          </a:xfrm>
          <a:prstGeom prst="rect">
            <a:avLst/>
          </a:prstGeom>
          <a:noFill/>
          <a:ln/>
        </p:spPr>
        <p:txBody>
          <a:bodyPr wrap="square" lIns="0" tIns="0" rIns="0" bIns="0" rtlCol="0" anchor="t"/>
          <a:lstStyle/>
          <a:p>
            <a:pPr algn="ctr" indent="0" marL="0">
              <a:buNone/>
            </a:pPr>
            <a:r>
              <a:rPr lang="en-US" sz="750" b="1" dirty="0">
                <a:solidFill>
                  <a:srgbClr val="1F7A5C"/>
                </a:solidFill>
                <a:latin typeface="Arial" pitchFamily="34" charset="0"/>
                <a:ea typeface="Arial" pitchFamily="34" charset="-122"/>
                <a:cs typeface="Arial" pitchFamily="34" charset="-120"/>
              </a:rPr>
              <a:t>Total pekan ini: 38 ayat dari target 100.</a:t>
            </a:r>
            <a:endParaRPr lang="en-US" sz="750" dirty="0"/>
          </a:p>
          <a:p>
            <a:pPr algn="ctr" indent="0" marL="0">
              <a:buNone/>
            </a:pPr>
            <a:r>
              <a:rPr lang="en-US" sz="750" b="1" dirty="0">
                <a:solidFill>
                  <a:srgbClr val="1F7A5C"/>
                </a:solidFill>
                <a:latin typeface="Arial" pitchFamily="34" charset="0"/>
                <a:ea typeface="Arial" pitchFamily="34" charset="-122"/>
                <a:cs typeface="Arial" pitchFamily="34" charset="-120"/>
              </a:rPr>
              <a:t>Semangat, 62 ayat lagi!</a:t>
            </a:r>
            <a:endParaRPr lang="en-US" sz="750" dirty="0"/>
          </a:p>
        </p:txBody>
      </p:sp>
      <p:sp>
        <p:nvSpPr>
          <p:cNvPr id="23" name="Shape 19"/>
          <p:cNvSpPr/>
          <p:nvPr/>
        </p:nvSpPr>
        <p:spPr>
          <a:xfrm>
            <a:off x="2233422" y="1399032"/>
            <a:ext cx="1659636" cy="2048256"/>
          </a:xfrm>
          <a:prstGeom prst="roundRect">
            <a:avLst>
              <a:gd name="adj" fmla="val 2755"/>
            </a:avLst>
          </a:prstGeom>
          <a:solidFill>
            <a:srgbClr val="FFFFFF">
              <a:alpha val="0"/>
            </a:srgbClr>
          </a:solidFill>
          <a:ln w="31750">
            <a:solidFill>
              <a:srgbClr val="E53935"/>
            </a:solidFill>
            <a:prstDash val="solid"/>
          </a:ln>
        </p:spPr>
      </p:sp>
      <p:sp>
        <p:nvSpPr>
          <p:cNvPr id="24" name="Shape 20"/>
          <p:cNvSpPr/>
          <p:nvPr/>
        </p:nvSpPr>
        <p:spPr>
          <a:xfrm>
            <a:off x="3755898" y="1261872"/>
            <a:ext cx="274320" cy="274320"/>
          </a:xfrm>
          <a:prstGeom prst="ellipse">
            <a:avLst/>
          </a:prstGeom>
          <a:solidFill>
            <a:srgbClr val="E53935"/>
          </a:solidFill>
          <a:ln w="12700">
            <a:solidFill>
              <a:srgbClr val="FFFFFF"/>
            </a:solidFill>
            <a:prstDash val="solid"/>
          </a:ln>
        </p:spPr>
      </p:sp>
      <p:sp>
        <p:nvSpPr>
          <p:cNvPr id="25" name="Text 21"/>
          <p:cNvSpPr txBox="1"/>
          <p:nvPr/>
        </p:nvSpPr>
        <p:spPr>
          <a:xfrm>
            <a:off x="3755898"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pengguna: 2 orang mencoba dari HP</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Beri tugas: "Cek total setoranmu pekan ini (kode latihan S001)." Amati tanpa membantu. Catat kebingungan.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Masukan Pengguna</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Masukan</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Prioritas</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Tindakan</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 santri itu apa?"</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Tinggi</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Tambah petunjuk di kolom</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"Tombolnya kecil di HP"</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Sedang</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Lebar tombol 100%</a:t>
            </a:r>
            <a:endParaRPr lang="en-US" sz="650" dirty="0"/>
          </a:p>
        </p:txBody>
      </p:sp>
      <p:sp>
        <p:nvSpPr>
          <p:cNvPr id="88" name="Shape 77"/>
          <p:cNvSpPr/>
          <p:nvPr/>
        </p:nvSpPr>
        <p:spPr>
          <a:xfrm>
            <a:off x="1527048" y="2849506"/>
            <a:ext cx="3072384" cy="603504"/>
          </a:xfrm>
          <a:prstGeom prst="roundRect">
            <a:avLst>
              <a:gd name="adj" fmla="val 7576"/>
            </a:avLst>
          </a:prstGeom>
          <a:solidFill>
            <a:srgbClr val="FFFFFF">
              <a:alpha val="0"/>
            </a:srgbClr>
          </a:solidFill>
          <a:ln w="31750">
            <a:solidFill>
              <a:srgbClr val="E53935"/>
            </a:solidFill>
            <a:prstDash val="solid"/>
          </a:ln>
        </p:spPr>
      </p:sp>
      <p:sp>
        <p:nvSpPr>
          <p:cNvPr id="89" name="Shape 78"/>
          <p:cNvSpPr/>
          <p:nvPr/>
        </p:nvSpPr>
        <p:spPr>
          <a:xfrm>
            <a:off x="4462272" y="2712346"/>
            <a:ext cx="274320" cy="274320"/>
          </a:xfrm>
          <a:prstGeom prst="ellipse">
            <a:avLst/>
          </a:prstGeom>
          <a:solidFill>
            <a:srgbClr val="E53935"/>
          </a:solidFill>
          <a:ln w="12700">
            <a:solidFill>
              <a:srgbClr val="FFFFFF"/>
            </a:solidFill>
            <a:prstDash val="solid"/>
          </a:ln>
        </p:spPr>
      </p:sp>
      <p:sp>
        <p:nvSpPr>
          <p:cNvPr id="90" name="Text 79"/>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91" name="Image 9" descr="preencoded.png">    </p:cNvPr>
          <p:cNvPicPr>
            <a:picLocks noChangeAspect="1"/>
          </p:cNvPicPr>
          <p:nvPr/>
        </p:nvPicPr>
        <p:blipFill>
          <a:blip r:embed="rId10"/>
          <a:stretch>
            <a:fillRect/>
          </a:stretch>
        </p:blipFill>
        <p:spPr>
          <a:xfrm>
            <a:off x="3214116" y="3178690"/>
            <a:ext cx="237744" cy="237744"/>
          </a:xfrm>
          <a:prstGeom prst="rect">
            <a:avLst/>
          </a:prstGeom>
        </p:spPr>
      </p:pic>
      <p:sp>
        <p:nvSpPr>
          <p:cNvPr id="92" name="Text 8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93" name="Text 8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Catat masukan, pilih 1–2 perbaikan</a:t>
            </a:r>
            <a:endParaRPr lang="en-US" sz="1800" dirty="0"/>
          </a:p>
        </p:txBody>
      </p:sp>
      <p:sp>
        <p:nvSpPr>
          <p:cNvPr id="94" name="Text 8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masukan pengguna. Pilih yang paling penting dan kecil, misalnya teks tombol lebih jelas atau pesan lebih ramah.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 Cek Pekanan</a:t>
            </a:r>
            <a:endParaRPr lang="en-US" sz="1100" dirty="0"/>
          </a:p>
        </p:txBody>
      </p:sp>
      <p:sp>
        <p:nvSpPr>
          <p:cNvPr id="32" name="Shape 25"/>
          <p:cNvSpPr/>
          <p:nvPr/>
        </p:nvSpPr>
        <p:spPr>
          <a:xfrm>
            <a:off x="1783080" y="2198885"/>
            <a:ext cx="2560320" cy="1417320"/>
          </a:xfrm>
          <a:prstGeom prst="roundRect">
            <a:avLst>
              <a:gd name="adj" fmla="val 5161"/>
            </a:avLst>
          </a:prstGeom>
          <a:solidFill>
            <a:srgbClr val="FFFFFF"/>
          </a:solidFill>
          <a:ln w="9525">
            <a:solidFill>
              <a:srgbClr val="DDDDDD"/>
            </a:solidFill>
            <a:prstDash val="solid"/>
          </a:ln>
        </p:spPr>
      </p:sp>
      <p:sp>
        <p:nvSpPr>
          <p:cNvPr id="33" name="Text 26"/>
          <p:cNvSpPr txBox="1"/>
          <p:nvPr/>
        </p:nvSpPr>
        <p:spPr>
          <a:xfrm>
            <a:off x="1874520" y="2244605"/>
            <a:ext cx="2560320" cy="228600"/>
          </a:xfrm>
          <a:prstGeom prst="rect">
            <a:avLst/>
          </a:prstGeom>
          <a:noFill/>
          <a:ln/>
        </p:spPr>
        <p:txBody>
          <a:bodyPr wrap="square" lIns="0" tIns="0" rIns="0" bIns="0" rtlCol="0" anchor="t"/>
          <a:lstStyle/>
          <a:p>
            <a:pPr indent="0" marL="0">
              <a:buNone/>
            </a:pPr>
            <a:r>
              <a:rPr lang="en-US" sz="850" b="1" dirty="0">
                <a:solidFill>
                  <a:srgbClr val="1E2A26"/>
                </a:solidFill>
                <a:latin typeface="Arial" pitchFamily="34" charset="0"/>
                <a:ea typeface="Arial" pitchFamily="34" charset="-122"/>
                <a:cs typeface="Arial" pitchFamily="34" charset="-120"/>
              </a:rPr>
              <a:t>Cek total pekan ini</a:t>
            </a:r>
            <a:endParaRPr lang="en-US" sz="850" dirty="0"/>
          </a:p>
        </p:txBody>
      </p:sp>
      <p:sp>
        <p:nvSpPr>
          <p:cNvPr id="34" name="Shape 27"/>
          <p:cNvSpPr/>
          <p:nvPr/>
        </p:nvSpPr>
        <p:spPr>
          <a:xfrm>
            <a:off x="1874520" y="2518925"/>
            <a:ext cx="2377440" cy="219456"/>
          </a:xfrm>
          <a:prstGeom prst="rect">
            <a:avLst/>
          </a:prstGeom>
          <a:solidFill>
            <a:srgbClr val="FFFFFF"/>
          </a:solidFill>
          <a:ln w="6350">
            <a:solidFill>
              <a:srgbClr val="999999"/>
            </a:solidFill>
            <a:prstDash val="solid"/>
          </a:ln>
        </p:spPr>
      </p:sp>
      <p:sp>
        <p:nvSpPr>
          <p:cNvPr id="35" name="Text 28"/>
          <p:cNvSpPr txBox="1"/>
          <p:nvPr/>
        </p:nvSpPr>
        <p:spPr>
          <a:xfrm>
            <a:off x="1911096" y="2518925"/>
            <a:ext cx="228600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Kode santri latihan, contoh: S001</a:t>
            </a:r>
            <a:endParaRPr lang="en-US" sz="800" dirty="0"/>
          </a:p>
        </p:txBody>
      </p:sp>
      <p:sp>
        <p:nvSpPr>
          <p:cNvPr id="36" name="Shape 29"/>
          <p:cNvSpPr/>
          <p:nvPr/>
        </p:nvSpPr>
        <p:spPr>
          <a:xfrm>
            <a:off x="2560320" y="2811533"/>
            <a:ext cx="100584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560320" y="2811533"/>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Cek Total</a:t>
            </a:r>
            <a:endParaRPr lang="en-US" sz="750" dirty="0"/>
          </a:p>
        </p:txBody>
      </p:sp>
      <p:sp>
        <p:nvSpPr>
          <p:cNvPr id="38" name="Text 31"/>
          <p:cNvSpPr txBox="1"/>
          <p:nvPr/>
        </p:nvSpPr>
        <p:spPr>
          <a:xfrm>
            <a:off x="1874520" y="3085853"/>
            <a:ext cx="2377440" cy="457200"/>
          </a:xfrm>
          <a:prstGeom prst="rect">
            <a:avLst/>
          </a:prstGeom>
          <a:noFill/>
          <a:ln/>
        </p:spPr>
        <p:txBody>
          <a:bodyPr wrap="square" lIns="0" tIns="0" rIns="0" bIns="0" rtlCol="0" anchor="t"/>
          <a:lstStyle/>
          <a:p>
            <a:pPr algn="ctr" indent="0" marL="0">
              <a:buNone/>
            </a:pPr>
            <a:r>
              <a:rPr lang="en-US" sz="750" b="1" dirty="0">
                <a:solidFill>
                  <a:srgbClr val="1F7A5C"/>
                </a:solidFill>
                <a:latin typeface="Arial" pitchFamily="34" charset="0"/>
                <a:ea typeface="Arial" pitchFamily="34" charset="-122"/>
                <a:cs typeface="Arial" pitchFamily="34" charset="-120"/>
              </a:rPr>
              <a:t>Masya Allah, target tercapai!</a:t>
            </a:r>
            <a:endParaRPr lang="en-US" sz="750" dirty="0"/>
          </a:p>
          <a:p>
            <a:pPr algn="ctr" indent="0" marL="0">
              <a:buNone/>
            </a:pPr>
            <a:r>
              <a:rPr lang="en-US" sz="750" b="1" dirty="0">
                <a:solidFill>
                  <a:srgbClr val="1F7A5C"/>
                </a:solidFill>
                <a:latin typeface="Arial" pitchFamily="34" charset="0"/>
                <a:ea typeface="Arial" pitchFamily="34" charset="-122"/>
                <a:cs typeface="Arial" pitchFamily="34" charset="-120"/>
              </a:rPr>
              <a:t>Total pekan ini: 105 ayat.</a:t>
            </a:r>
            <a:endParaRPr lang="en-US" sz="750" dirty="0"/>
          </a:p>
        </p:txBody>
      </p:sp>
      <p:sp>
        <p:nvSpPr>
          <p:cNvPr id="39" name="Shape 32"/>
          <p:cNvSpPr/>
          <p:nvPr/>
        </p:nvSpPr>
        <p:spPr>
          <a:xfrm>
            <a:off x="633496" y="2134877"/>
            <a:ext cx="4859487" cy="1545336"/>
          </a:xfrm>
          <a:prstGeom prst="roundRect">
            <a:avLst>
              <a:gd name="adj" fmla="val 2959"/>
            </a:avLst>
          </a:prstGeom>
          <a:solidFill>
            <a:srgbClr val="FFFFFF">
              <a:alpha val="0"/>
            </a:srgbClr>
          </a:solidFill>
          <a:ln w="31750">
            <a:solidFill>
              <a:srgbClr val="E53935"/>
            </a:solidFill>
            <a:prstDash val="solid"/>
          </a:ln>
        </p:spPr>
      </p:sp>
      <p:sp>
        <p:nvSpPr>
          <p:cNvPr id="40" name="Shape 33"/>
          <p:cNvSpPr/>
          <p:nvPr/>
        </p:nvSpPr>
        <p:spPr>
          <a:xfrm>
            <a:off x="5355824" y="1997717"/>
            <a:ext cx="274320" cy="274320"/>
          </a:xfrm>
          <a:prstGeom prst="ellipse">
            <a:avLst/>
          </a:prstGeom>
          <a:solidFill>
            <a:srgbClr val="E53935"/>
          </a:solidFill>
          <a:ln w="12700">
            <a:solidFill>
              <a:srgbClr val="FFFFFF"/>
            </a:solidFill>
            <a:prstDash val="solid"/>
          </a:ln>
        </p:spPr>
      </p:sp>
      <p:sp>
        <p:nvSpPr>
          <p:cNvPr id="41" name="Text 34"/>
          <p:cNvSpPr txBox="1"/>
          <p:nvPr/>
        </p:nvSpPr>
        <p:spPr>
          <a:xfrm>
            <a:off x="5355824" y="19977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2" name="Image 5" descr="preencoded.png">    </p:cNvPr>
          <p:cNvPicPr>
            <a:picLocks noChangeAspect="1"/>
          </p:cNvPicPr>
          <p:nvPr/>
        </p:nvPicPr>
        <p:blipFill>
          <a:blip r:embed="rId6"/>
          <a:stretch>
            <a:fillRect/>
          </a:stretch>
        </p:blipFill>
        <p:spPr>
          <a:xfrm>
            <a:off x="3304386" y="2982983"/>
            <a:ext cx="237744" cy="237744"/>
          </a:xfrm>
          <a:prstGeom prst="rect">
            <a:avLst/>
          </a:prstGeom>
        </p:spPr>
      </p:pic>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jalankan ulang test case</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Lakukan perbaikan (boleh dengan bantuan AI + code review). Jalankan ULANG semua test case. Commit.</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Dokumentasi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setoran-harian / README.md</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Setoran Harian Kelompok 3</a:t>
            </a:r>
            <a:endParaRPr lang="en-US" sz="782" dirty="0"/>
          </a:p>
        </p:txBody>
      </p:sp>
      <p:sp>
        <p:nvSpPr>
          <p:cNvPr id="38" name="Text 30"/>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Aplikasi catatan setoran hafalan (data latihan).</a:t>
            </a:r>
            <a:endParaRPr lang="en-US" sz="782" dirty="0"/>
          </a:p>
        </p:txBody>
      </p:sp>
      <p:sp>
        <p:nvSpPr>
          <p:cNvPr id="40" name="Text 32"/>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1E2A26"/>
                </a:solidFill>
                <a:latin typeface="Courier New" pitchFamily="34" charset="0"/>
                <a:ea typeface="Courier New" pitchFamily="34" charset="-122"/>
                <a:cs typeface="Courier New" pitchFamily="34" charset="-120"/>
              </a:rPr>
              <a:t> </a:t>
            </a:r>
            <a:endParaRPr lang="en-US" sz="782" dirty="0"/>
          </a:p>
        </p:txBody>
      </p:sp>
      <p:sp>
        <p:nvSpPr>
          <p:cNvPr id="42" name="Shape 34"/>
          <p:cNvSpPr/>
          <p:nvPr/>
        </p:nvSpPr>
        <p:spPr>
          <a:xfrm>
            <a:off x="999256" y="2848109"/>
            <a:ext cx="4383999" cy="155448"/>
          </a:xfrm>
          <a:prstGeom prst="rect">
            <a:avLst/>
          </a:prstGeom>
          <a:solidFill>
            <a:srgbClr val="DDF4E4"/>
          </a:solidFill>
          <a:ln w="12700">
            <a:solidFill>
              <a:srgbClr val="DDF4E4"/>
            </a:solidFill>
            <a:prstDash val="solid"/>
          </a:ln>
        </p:spPr>
      </p:sp>
      <p:sp>
        <p:nvSpPr>
          <p:cNvPr id="43" name="Text 35"/>
          <p:cNvSpPr txBox="1"/>
          <p:nvPr/>
        </p:nvSpPr>
        <p:spPr>
          <a:xfrm>
            <a:off x="724936" y="284810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4" name="Text 36"/>
          <p:cNvSpPr txBox="1"/>
          <p:nvPr/>
        </p:nvSpPr>
        <p:spPr>
          <a:xfrm>
            <a:off x="1044976" y="2848109"/>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Catatan Perubahan</a:t>
            </a:r>
            <a:endParaRPr lang="en-US" sz="782" dirty="0"/>
          </a:p>
        </p:txBody>
      </p:sp>
      <p:sp>
        <p:nvSpPr>
          <p:cNvPr id="45" name="Shape 37"/>
          <p:cNvSpPr/>
          <p:nvPr/>
        </p:nvSpPr>
        <p:spPr>
          <a:xfrm>
            <a:off x="999256" y="3003557"/>
            <a:ext cx="4383999" cy="155448"/>
          </a:xfrm>
          <a:prstGeom prst="rect">
            <a:avLst/>
          </a:prstGeom>
          <a:solidFill>
            <a:srgbClr val="DDF4E4"/>
          </a:solidFill>
          <a:ln w="12700">
            <a:solidFill>
              <a:srgbClr val="DDF4E4"/>
            </a:solidFill>
            <a:prstDash val="solid"/>
          </a:ln>
        </p:spPr>
      </p:sp>
      <p:sp>
        <p:nvSpPr>
          <p:cNvPr id="46" name="Text 38"/>
          <p:cNvSpPr txBox="1"/>
          <p:nvPr/>
        </p:nvSpPr>
        <p:spPr>
          <a:xfrm>
            <a:off x="724936" y="3003557"/>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47" name="Text 39"/>
          <p:cNvSpPr txBox="1"/>
          <p:nvPr/>
        </p:nvSpPr>
        <p:spPr>
          <a:xfrm>
            <a:off x="1044976" y="3003557"/>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Versi 4 (Februari 2027)</a:t>
            </a:r>
            <a:endParaRPr lang="en-US" sz="782" dirty="0"/>
          </a:p>
        </p:txBody>
      </p:sp>
      <p:sp>
        <p:nvSpPr>
          <p:cNvPr id="48" name="Shape 40"/>
          <p:cNvSpPr/>
          <p:nvPr/>
        </p:nvSpPr>
        <p:spPr>
          <a:xfrm>
            <a:off x="999256" y="3159005"/>
            <a:ext cx="4383999" cy="155448"/>
          </a:xfrm>
          <a:prstGeom prst="rect">
            <a:avLst/>
          </a:prstGeom>
          <a:solidFill>
            <a:srgbClr val="DDF4E4"/>
          </a:solidFill>
          <a:ln w="12700">
            <a:solidFill>
              <a:srgbClr val="DDF4E4"/>
            </a:solidFill>
            <a:prstDash val="solid"/>
          </a:ln>
        </p:spPr>
      </p:sp>
      <p:sp>
        <p:nvSpPr>
          <p:cNvPr id="49" name="Text 41"/>
          <p:cNvSpPr txBox="1"/>
          <p:nvPr/>
        </p:nvSpPr>
        <p:spPr>
          <a:xfrm>
            <a:off x="724936" y="315900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50" name="Text 42"/>
          <p:cNvSpPr txBox="1"/>
          <p:nvPr/>
        </p:nvSpPr>
        <p:spPr>
          <a:xfrm>
            <a:off x="1044976" y="3159005"/>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Baru: cek total ayat pekan ini per kode</a:t>
            </a:r>
            <a:endParaRPr lang="en-US" sz="782" dirty="0"/>
          </a:p>
        </p:txBody>
      </p:sp>
      <p:sp>
        <p:nvSpPr>
          <p:cNvPr id="51" name="Shape 43"/>
          <p:cNvSpPr/>
          <p:nvPr/>
        </p:nvSpPr>
        <p:spPr>
          <a:xfrm>
            <a:off x="999256" y="3314453"/>
            <a:ext cx="4383999" cy="155448"/>
          </a:xfrm>
          <a:prstGeom prst="rect">
            <a:avLst/>
          </a:prstGeom>
          <a:solidFill>
            <a:srgbClr val="DDF4E4"/>
          </a:solidFill>
          <a:ln w="12700">
            <a:solidFill>
              <a:srgbClr val="DDF4E4"/>
            </a:solidFill>
            <a:prstDash val="solid"/>
          </a:ln>
        </p:spPr>
      </p:sp>
      <p:sp>
        <p:nvSpPr>
          <p:cNvPr id="52" name="Text 44"/>
          <p:cNvSpPr txBox="1"/>
          <p:nvPr/>
        </p:nvSpPr>
        <p:spPr>
          <a:xfrm>
            <a:off x="724936" y="331445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53" name="Text 45"/>
          <p:cNvSpPr txBox="1"/>
          <p:nvPr/>
        </p:nvSpPr>
        <p:spPr>
          <a:xfrm>
            <a:off x="1044976" y="331445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Baru: pesan status target</a:t>
            </a:r>
            <a:endParaRPr lang="en-US" sz="782" dirty="0"/>
          </a:p>
        </p:txBody>
      </p:sp>
      <p:sp>
        <p:nvSpPr>
          <p:cNvPr id="54" name="Shape 46"/>
          <p:cNvSpPr/>
          <p:nvPr/>
        </p:nvSpPr>
        <p:spPr>
          <a:xfrm>
            <a:off x="999256" y="3469901"/>
            <a:ext cx="4383999" cy="155448"/>
          </a:xfrm>
          <a:prstGeom prst="rect">
            <a:avLst/>
          </a:prstGeom>
          <a:solidFill>
            <a:srgbClr val="DDF4E4"/>
          </a:solidFill>
          <a:ln w="12700">
            <a:solidFill>
              <a:srgbClr val="DDF4E4"/>
            </a:solidFill>
            <a:prstDash val="solid"/>
          </a:ln>
        </p:spPr>
      </p:sp>
      <p:sp>
        <p:nvSpPr>
          <p:cNvPr id="55" name="Text 47"/>
          <p:cNvSpPr txBox="1"/>
          <p:nvPr/>
        </p:nvSpPr>
        <p:spPr>
          <a:xfrm>
            <a:off x="724936" y="346990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8</a:t>
            </a:r>
            <a:endParaRPr lang="en-US" sz="600" dirty="0"/>
          </a:p>
        </p:txBody>
      </p:sp>
      <p:sp>
        <p:nvSpPr>
          <p:cNvPr id="56" name="Text 48"/>
          <p:cNvSpPr txBox="1"/>
          <p:nvPr/>
        </p:nvSpPr>
        <p:spPr>
          <a:xfrm>
            <a:off x="1044976" y="346990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Perbaikan: pesan jika kode tidak ditemukan</a:t>
            </a:r>
            <a:endParaRPr lang="en-US" sz="782" dirty="0"/>
          </a:p>
        </p:txBody>
      </p:sp>
      <p:sp>
        <p:nvSpPr>
          <p:cNvPr id="57" name="Shape 49"/>
          <p:cNvSpPr/>
          <p:nvPr/>
        </p:nvSpPr>
        <p:spPr>
          <a:xfrm>
            <a:off x="999256" y="3625349"/>
            <a:ext cx="4383999" cy="155448"/>
          </a:xfrm>
          <a:prstGeom prst="rect">
            <a:avLst/>
          </a:prstGeom>
          <a:solidFill>
            <a:srgbClr val="DDF4E4"/>
          </a:solidFill>
          <a:ln w="12700">
            <a:solidFill>
              <a:srgbClr val="DDF4E4"/>
            </a:solidFill>
            <a:prstDash val="solid"/>
          </a:ln>
        </p:spPr>
      </p:sp>
      <p:sp>
        <p:nvSpPr>
          <p:cNvPr id="58" name="Text 50"/>
          <p:cNvSpPr txBox="1"/>
          <p:nvPr/>
        </p:nvSpPr>
        <p:spPr>
          <a:xfrm>
            <a:off x="724936" y="362534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9</a:t>
            </a:r>
            <a:endParaRPr lang="en-US" sz="600" dirty="0"/>
          </a:p>
        </p:txBody>
      </p:sp>
      <p:sp>
        <p:nvSpPr>
          <p:cNvPr id="59" name="Text 51"/>
          <p:cNvSpPr txBox="1"/>
          <p:nvPr/>
        </p:nvSpPr>
        <p:spPr>
          <a:xfrm>
            <a:off x="1044976" y="3625349"/>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Perbaikan: petunjuk kolom kode (masukan pengguna)</a:t>
            </a:r>
            <a:endParaRPr lang="en-US" sz="782" dirty="0"/>
          </a:p>
        </p:txBody>
      </p:sp>
      <p:sp>
        <p:nvSpPr>
          <p:cNvPr id="60" name="Shape 52"/>
          <p:cNvSpPr/>
          <p:nvPr/>
        </p:nvSpPr>
        <p:spPr>
          <a:xfrm>
            <a:off x="980968" y="2829821"/>
            <a:ext cx="4402287" cy="969264"/>
          </a:xfrm>
          <a:prstGeom prst="roundRect">
            <a:avLst>
              <a:gd name="adj" fmla="val 4717"/>
            </a:avLst>
          </a:prstGeom>
          <a:solidFill>
            <a:srgbClr val="FFFFFF">
              <a:alpha val="0"/>
            </a:srgbClr>
          </a:solidFill>
          <a:ln w="31750">
            <a:solidFill>
              <a:srgbClr val="E53935"/>
            </a:solidFill>
            <a:prstDash val="solid"/>
          </a:ln>
        </p:spPr>
      </p:sp>
      <p:sp>
        <p:nvSpPr>
          <p:cNvPr id="61" name="Shape 53"/>
          <p:cNvSpPr/>
          <p:nvPr/>
        </p:nvSpPr>
        <p:spPr>
          <a:xfrm>
            <a:off x="5246096" y="2692661"/>
            <a:ext cx="274320" cy="274320"/>
          </a:xfrm>
          <a:prstGeom prst="ellipse">
            <a:avLst/>
          </a:prstGeom>
          <a:solidFill>
            <a:srgbClr val="E53935"/>
          </a:solidFill>
          <a:ln w="12700">
            <a:solidFill>
              <a:srgbClr val="FFFFFF"/>
            </a:solidFill>
            <a:prstDash val="solid"/>
          </a:ln>
        </p:spPr>
      </p:sp>
      <p:sp>
        <p:nvSpPr>
          <p:cNvPr id="62" name="Text 54"/>
          <p:cNvSpPr txBox="1"/>
          <p:nvPr/>
        </p:nvSpPr>
        <p:spPr>
          <a:xfrm>
            <a:off x="5246096" y="2692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3" name="Image 6" descr="preencoded.png">    </p:cNvPr>
          <p:cNvPicPr>
            <a:picLocks noChangeAspect="1"/>
          </p:cNvPicPr>
          <p:nvPr/>
        </p:nvPicPr>
        <p:blipFill>
          <a:blip r:embed="rId7"/>
          <a:stretch>
            <a:fillRect/>
          </a:stretch>
        </p:blipFill>
        <p:spPr>
          <a:xfrm>
            <a:off x="3400398" y="3361088"/>
            <a:ext cx="237744" cy="237744"/>
          </a:xfrm>
          <a:prstGeom prst="rect">
            <a:avLst/>
          </a:prstGeom>
        </p:spPr>
      </p:pic>
      <p:sp>
        <p:nvSpPr>
          <p:cNvPr id="64"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5"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changelog di README</a:t>
            </a:r>
            <a:endParaRPr lang="en-US" sz="1800" dirty="0"/>
          </a:p>
        </p:txBody>
      </p:sp>
      <p:sp>
        <p:nvSpPr>
          <p:cNvPr id="66"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Edit README.md di GitHub. Tambah bagian ## Catatan Perubahan: versi, tanggal, Baru, Perbaikan.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Dokumentasi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Rancangan_Fitur_Kel3 -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Rancangan_Fitur_Kel3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Peran AI dalam Fitur 4</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Dibantu AI: rencana awal, fungsi cekTotal (filter).</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Dibuat/diubah sendiri: test case, penanganan kode</a:t>
            </a:r>
            <a:endParaRPr lang="en-US" sz="750" dirty="0"/>
          </a:p>
        </p:txBody>
      </p:sp>
      <p:sp>
        <p:nvSpPr>
          <p:cNvPr id="72" name="Text 61"/>
          <p:cNvSpPr txBox="1"/>
          <p:nvPr/>
        </p:nvSpPr>
        <p:spPr>
          <a:xfrm>
            <a:off x="1554480" y="3171451"/>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tidak ditemukan, petunjuk kolom, pesan status.</a:t>
            </a:r>
            <a:endParaRPr lang="en-US" sz="800" dirty="0"/>
          </a:p>
        </p:txBody>
      </p:sp>
      <p:sp>
        <p:nvSpPr>
          <p:cNvPr id="73" name="Text 62"/>
          <p:cNvSpPr txBox="1"/>
          <p:nvPr/>
        </p:nvSpPr>
        <p:spPr>
          <a:xfrm>
            <a:off x="1645920" y="336449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Dipelajari: filter, tanda =&gt;, menghitung 7 hari.</a:t>
            </a:r>
            <a:endParaRPr lang="en-US" sz="750" dirty="0"/>
          </a:p>
        </p:txBody>
      </p:sp>
      <p:sp>
        <p:nvSpPr>
          <p:cNvPr id="74" name="Shape 63"/>
          <p:cNvSpPr/>
          <p:nvPr/>
        </p:nvSpPr>
        <p:spPr>
          <a:xfrm>
            <a:off x="1527048" y="2849506"/>
            <a:ext cx="3072384" cy="680530"/>
          </a:xfrm>
          <a:prstGeom prst="roundRect">
            <a:avLst>
              <a:gd name="adj" fmla="val 6718"/>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7" name="Image 9" descr="preencoded.png">    </p:cNvPr>
          <p:cNvPicPr>
            <a:picLocks noChangeAspect="1"/>
          </p:cNvPicPr>
          <p:nvPr/>
        </p:nvPicPr>
        <p:blipFill>
          <a:blip r:embed="rId10"/>
          <a:stretch>
            <a:fillRect/>
          </a:stretch>
        </p:blipFill>
        <p:spPr>
          <a:xfrm>
            <a:off x="3214116" y="3221054"/>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Catat peran AI dengan jujur</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Rancangan_Fitur, tulis: bagian yang dibantu AI, bagian yang dibuat/diubah sendiri, dan yang dipelajari.</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 Cek Pekanan</a:t>
            </a:r>
            <a:endParaRPr lang="en-US" sz="1100" dirty="0"/>
          </a:p>
        </p:txBody>
      </p:sp>
      <p:sp>
        <p:nvSpPr>
          <p:cNvPr id="32" name="Shape 25"/>
          <p:cNvSpPr/>
          <p:nvPr/>
        </p:nvSpPr>
        <p:spPr>
          <a:xfrm>
            <a:off x="1783080" y="2198885"/>
            <a:ext cx="2560320" cy="1417320"/>
          </a:xfrm>
          <a:prstGeom prst="roundRect">
            <a:avLst>
              <a:gd name="adj" fmla="val 5161"/>
            </a:avLst>
          </a:prstGeom>
          <a:solidFill>
            <a:srgbClr val="FFFFFF"/>
          </a:solidFill>
          <a:ln w="9525">
            <a:solidFill>
              <a:srgbClr val="DDDDDD"/>
            </a:solidFill>
            <a:prstDash val="solid"/>
          </a:ln>
        </p:spPr>
      </p:sp>
      <p:sp>
        <p:nvSpPr>
          <p:cNvPr id="33" name="Text 26"/>
          <p:cNvSpPr txBox="1"/>
          <p:nvPr/>
        </p:nvSpPr>
        <p:spPr>
          <a:xfrm>
            <a:off x="1874520" y="2244605"/>
            <a:ext cx="2560320" cy="228600"/>
          </a:xfrm>
          <a:prstGeom prst="rect">
            <a:avLst/>
          </a:prstGeom>
          <a:noFill/>
          <a:ln/>
        </p:spPr>
        <p:txBody>
          <a:bodyPr wrap="square" lIns="0" tIns="0" rIns="0" bIns="0" rtlCol="0" anchor="t"/>
          <a:lstStyle/>
          <a:p>
            <a:pPr indent="0" marL="0">
              <a:buNone/>
            </a:pPr>
            <a:r>
              <a:rPr lang="en-US" sz="850" b="1" dirty="0">
                <a:solidFill>
                  <a:srgbClr val="1E2A26"/>
                </a:solidFill>
                <a:latin typeface="Arial" pitchFamily="34" charset="0"/>
                <a:ea typeface="Arial" pitchFamily="34" charset="-122"/>
                <a:cs typeface="Arial" pitchFamily="34" charset="-120"/>
              </a:rPr>
              <a:t>Cek total pekan ini</a:t>
            </a:r>
            <a:endParaRPr lang="en-US" sz="850" dirty="0"/>
          </a:p>
        </p:txBody>
      </p:sp>
      <p:sp>
        <p:nvSpPr>
          <p:cNvPr id="34" name="Shape 27"/>
          <p:cNvSpPr/>
          <p:nvPr/>
        </p:nvSpPr>
        <p:spPr>
          <a:xfrm>
            <a:off x="1874520" y="2518925"/>
            <a:ext cx="2377440" cy="219456"/>
          </a:xfrm>
          <a:prstGeom prst="rect">
            <a:avLst/>
          </a:prstGeom>
          <a:solidFill>
            <a:srgbClr val="FFFFFF"/>
          </a:solidFill>
          <a:ln w="6350">
            <a:solidFill>
              <a:srgbClr val="999999"/>
            </a:solidFill>
            <a:prstDash val="solid"/>
          </a:ln>
        </p:spPr>
      </p:sp>
      <p:sp>
        <p:nvSpPr>
          <p:cNvPr id="35" name="Text 28"/>
          <p:cNvSpPr txBox="1"/>
          <p:nvPr/>
        </p:nvSpPr>
        <p:spPr>
          <a:xfrm>
            <a:off x="1911096" y="2518925"/>
            <a:ext cx="228600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S001</a:t>
            </a:r>
            <a:endParaRPr lang="en-US" sz="800" dirty="0"/>
          </a:p>
        </p:txBody>
      </p:sp>
      <p:sp>
        <p:nvSpPr>
          <p:cNvPr id="36" name="Shape 29"/>
          <p:cNvSpPr/>
          <p:nvPr/>
        </p:nvSpPr>
        <p:spPr>
          <a:xfrm>
            <a:off x="2560320" y="2811533"/>
            <a:ext cx="100584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560320" y="2811533"/>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Cek Total</a:t>
            </a:r>
            <a:endParaRPr lang="en-US" sz="750" dirty="0"/>
          </a:p>
        </p:txBody>
      </p:sp>
      <p:sp>
        <p:nvSpPr>
          <p:cNvPr id="38" name="Text 31"/>
          <p:cNvSpPr txBox="1"/>
          <p:nvPr/>
        </p:nvSpPr>
        <p:spPr>
          <a:xfrm>
            <a:off x="1874520" y="3085853"/>
            <a:ext cx="2377440" cy="457200"/>
          </a:xfrm>
          <a:prstGeom prst="rect">
            <a:avLst/>
          </a:prstGeom>
          <a:noFill/>
          <a:ln/>
        </p:spPr>
        <p:txBody>
          <a:bodyPr wrap="square" lIns="0" tIns="0" rIns="0" bIns="0" rtlCol="0" anchor="t"/>
          <a:lstStyle/>
          <a:p>
            <a:pPr algn="ctr" indent="0" marL="0">
              <a:buNone/>
            </a:pPr>
            <a:r>
              <a:rPr lang="en-US" sz="750" b="1" dirty="0">
                <a:solidFill>
                  <a:srgbClr val="1F7A5C"/>
                </a:solidFill>
                <a:latin typeface="Arial" pitchFamily="34" charset="0"/>
                <a:ea typeface="Arial" pitchFamily="34" charset="-122"/>
                <a:cs typeface="Arial" pitchFamily="34" charset="-120"/>
              </a:rPr>
              <a:t>Total pekan ini: 38 ayat dari target 100.</a:t>
            </a:r>
            <a:endParaRPr lang="en-US" sz="750" dirty="0"/>
          </a:p>
          <a:p>
            <a:pPr algn="ctr" indent="0" marL="0">
              <a:buNone/>
            </a:pPr>
            <a:r>
              <a:rPr lang="en-US" sz="750" b="1" dirty="0">
                <a:solidFill>
                  <a:srgbClr val="1F7A5C"/>
                </a:solidFill>
                <a:latin typeface="Arial" pitchFamily="34" charset="0"/>
                <a:ea typeface="Arial" pitchFamily="34" charset="-122"/>
                <a:cs typeface="Arial" pitchFamily="34" charset="-120"/>
              </a:rPr>
              <a:t>Semangat, 62 ayat lagi!</a:t>
            </a:r>
            <a:endParaRPr lang="en-US" sz="750" dirty="0"/>
          </a:p>
        </p:txBody>
      </p:sp>
      <p:sp>
        <p:nvSpPr>
          <p:cNvPr id="39" name="Shape 32"/>
          <p:cNvSpPr/>
          <p:nvPr/>
        </p:nvSpPr>
        <p:spPr>
          <a:xfrm>
            <a:off x="633496" y="1695965"/>
            <a:ext cx="4859487" cy="2281131"/>
          </a:xfrm>
          <a:prstGeom prst="roundRect">
            <a:avLst>
              <a:gd name="adj" fmla="val 2004"/>
            </a:avLst>
          </a:prstGeom>
          <a:solidFill>
            <a:srgbClr val="FFFFFF">
              <a:alpha val="0"/>
            </a:srgbClr>
          </a:solidFill>
          <a:ln w="31750">
            <a:solidFill>
              <a:srgbClr val="E53935"/>
            </a:solidFill>
            <a:prstDash val="solid"/>
          </a:ln>
        </p:spPr>
      </p:sp>
      <p:sp>
        <p:nvSpPr>
          <p:cNvPr id="40" name="Shape 33"/>
          <p:cNvSpPr/>
          <p:nvPr/>
        </p:nvSpPr>
        <p:spPr>
          <a:xfrm>
            <a:off x="5355824" y="1558805"/>
            <a:ext cx="274320" cy="274320"/>
          </a:xfrm>
          <a:prstGeom prst="ellipse">
            <a:avLst/>
          </a:prstGeom>
          <a:solidFill>
            <a:srgbClr val="E53935"/>
          </a:solidFill>
          <a:ln w="12700">
            <a:solidFill>
              <a:srgbClr val="FFFFFF"/>
            </a:solidFill>
            <a:prstDash val="solid"/>
          </a:ln>
        </p:spPr>
      </p:sp>
      <p:sp>
        <p:nvSpPr>
          <p:cNvPr id="41" name="Text 34"/>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2"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3"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fitur (4 menit)</a:t>
            </a:r>
            <a:endParaRPr lang="en-US" sz="1800" dirty="0"/>
          </a:p>
        </p:txBody>
      </p:sp>
      <p:sp>
        <p:nvSpPr>
          <p:cNvPr id="44"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User story → demo (normal dan tidak normal) → test case dan code review → peran AI. Kelompok lain memberi 1 pujian dan 1 saran.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Prototype Fitur Aplikasi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User story, kriteria penerimaan, dan test case (dibuat sebelum kode) lengkap.</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Fitur lulus semua test case setelah uji pengguna dan perbaikan.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Code review terisi; peran AI dicatat dengan jujur.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Changelog di README, di-commit, online, dan dipresentasikan.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9: AI-Assisted Development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Fitur lulus semua test case</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Diuji pengguna nyata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Changelog dan README diperbarui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Dipresentasikan dengan demo</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Tahap mana dari siklus yang paling membantumu?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bedanya kode yang diuji dan yang tidak?</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Jujur dalam melaporkan: sebutkan bantuan AI dan keterbatasan fitur apa adanya.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10: UI/UX Dasar.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9 - AI-Assisted Development</dc:title>
  <dc:subject>PptxGenJS Presentation</dc:subject>
  <dc:creator>PptxGenJS</dc:creator>
  <cp:lastModifiedBy>PptxGenJS</cp:lastModifiedBy>
  <cp:revision>1</cp:revision>
  <dcterms:created xsi:type="dcterms:W3CDTF">2026-10-02T12:00:29Z</dcterms:created>
  <dcterms:modified xsi:type="dcterms:W3CDTF">2026-10-02T12:00:29Z</dcterms:modified>
</cp:coreProperties>
</file>