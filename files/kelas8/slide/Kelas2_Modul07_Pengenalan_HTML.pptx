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7: Pengenalan HTML — Proyek: Halaman Profil Santri
Terdiri dari 3 pertemuan (Pertemuan 19–21 Kelas VIII),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Modul ini cukup memakai Notepad dan browser yang sudah ada di Windows. Tidak perlu internet, kecuali saat bertanya kepada AI.
- Opsional: bila komputer pondok memungkinkan, pasang Visual Studio Code (gratis) agar kode berwarna dan lebih mudah dibaca. Langkah di slide tetap berlaku.
- Guru TIDAK perlu menghafal kode. Seluruh kode contoh ada di slide. Bila santri menemui error, gunakan pola: bandingkan dengan slide → tanya teman → tanya AI (dioperasikan guru).
- Halaman profil hanya memuat nama panggilan, kelas, hobi, dan cita-cita. Jangan memuat alamat, nomor HP, atau foto wajah.
CATATAN
Saat menyimpan dari Notepad, WAJIB memilih "Save as type: All files" dan Encoding "UTF-8", lalu menulis nama file diakhiri .html. Jika tidak, file tersimpan sebagai .txt dan tidak terbuka sebagai halaman web.
Jika ekstensi file tidak terlihat, buka File Explorer › View › Show › centang File name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ke-19, dengan judul "Mengenal HTML". Selamat datang di Semester 2. Mulai hari ini kita menulis kode sendiri untuk membuat halaman web.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kita memasuki Semester 2 Kelas VIII. Semester lalu kalian membuat website kelas dengan Google Sites, tanpa coding. Semester ini kalian naik tingkat: membuat website dengan menulis kode sendiri, menyimpannya di GitHub, lalu menerbitkannya di internet secara gratis.
Sekarang pertanyaan hari ini. Coba pikirkan sejenak:
"Website kelas di Google Sites dibuat dengan klik dan seret. Tahukah kalian apa yang ada di balik layarnya?"
(Beri waktu 1 menit. Minta 2–3 santri menjawab. Hargai semua jawaban.)
Di balik setiap halaman web ada KODE yang memberi tahu browser apa yang harus ditampilkan. Kode dasar itu bernama HTML. Google Sites menulis kode HTML untuk kita secara otomatis. Hari ini kita menulisnya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 adalah singkatan dari HyperText Markup Language. HTML adalah bahasa untuk menyusun kerangka halaman web: mana yang menjadi judul, mana paragraf, mana gambar, dan mana link.
HTML disebut bahasa penanda atau markup, karena kita memberi tanda pada tulisan: ini judul, ini paragraf. Lalu browser membaca tanda-tanda itu dan menampilkannya.
Perumpamaannya seperti kerangka sebuah bangunan masjid. HTML adalah tiang dan dindingnya. Nanti di Modul 8 kita belajar CSS, yaitu cat dan hiasannya. Dan di Kelas IX kita belajar JavaScript, yaitu listrik yang membuat bangunan bisa bergerak dan berfungsi.
Semua website di dunia, termasuk website besar sekalipun, dibangun dengan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 ditulis dengan TAG, yaitu kata yang diapit tanda kurung sudut, kurang dari dan lebih dari.
Perhatikan contoh di layar. Tanda kurang dari, p, lebih dari: ini TAG PEMBUKA. Huruf p artinya paragraph.
Lalu ISI: Nama saya Ahmad. Inilah yang tampil di layar.
Lalu tanda kurang dari, garis miring, p, lebih dari: ini TAG PENUTUP. Bedanya ada garis miring.
Tag pembuka, isi, dan tag penutup bersama-sama disebut satu ELEMEN.
Aturan penting: hampir semua tag harus ditutup. Seperti membuka pintu, harus ditutup kembali. Jika lupa ditutup, tampilan halaman bisa kacau.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dokumen HTML memiliki struktur dasar yang sama. Perhatikan kode di layar.
Baris 1, DOCTYPE html: penanda bahwa ini dokumen HTML.
Baris 2 dan 10, tag html: membungkus seluruh isi dokumen.
Baris 3 sampai 5, HEAD atau kepala: berisi informasi tentang halaman yang tidak tampil di layar, misalnya title, yaitu tulisan yang muncul di tab browser.
Baris 6 sampai 9, BODY atau badan: berisi semua yang TAMPIL di layar. Di sini ada h1, yaitu judul besar, dan p, yaitu paragraf.
Perhatikan, isi di dalam head dan body ditulis menjorok ke dalam dengan spasi. Ini tidak wajib, tetapi membuat kode rapi dan mudah dibaca. Seperti menulis kitab dengan rapi.
Struktur ini akan kalian ketik sebentar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Setiap santri membuat halaman web pertamanya. Ketik kode dengan teliti, huruf demi huruf, termasuk tanda kurung sudut dan garis miring.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File Explorer, masuk ke Documents, Portofolio kalian, lalu Proyek. Buat folder baru bernama Website, garis bawah, Saya, seperti yang kita pelajari di Kelas VII.
Semua file website kalian akan disimpan di folder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Buka Notepad: klik Start, ketik notepad, lalu tekan Enter. Kalian sudah melakukannya di Kelas VII.
Ya, kita menulis kode dengan Notepad yang sederhana ini. Para programmer pun dulu memulai dengan cara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Ketik kode persis seperti di layar, baris demi baris. Ganti nama Ahmad dengan nama panggilan kalian.
Perhatikan tanda kurang dari dan lebih dari: tahan tombol Shift, lalu tekan tombol koma untuk kurang dari, atau tombol titik untuk lebih dari. Garis miring ada di sebelah kiri tombol Shift kanan.
Untuk menjorokkan baris, tekan spasi dua kali.
(Berkeliling dan periksa ketelitian santri.)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menu File, lalu Save 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Ini langkah yang SANGAT PENTING.
Buka folder Website Saya. Pada File name, ketik index titik html, tanda a. Halaman utama sebuah website selalu bernama index.html.
Pada Save as type, pilih All files, tanda b. Jika tetap Text Documents, file akan tersimpan sebagai index.html.txt dan tidak bisa dibuka sebagai halaman web.
Pada Encoding, pilih UTF-8, agar huruf seperti tanda petik tampil dengan benar.
Klik Save, tanda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Buka folder Website Saya di File Explorer. Ikon file index.html kini bergambar browser. Klik dua kali.
Halaman web pertama kalian terbuka di browser! Perhatikan kolom alamat, tanda a: alamatnya diawali file, artinya file dari komputer sendiri, belum di internet. Dan tulisan Assalamu'alaikum tampil besar karena tag h1, tanda b.
Masya Allah, kalian baru saja membuat halaman web dengan kode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Kembali ke Notepad. Tambahkan satu baris paragraf baru di bawah paragraf pertama, misalnya: tag p, Cita-cita saya menjadi dokter, tutup tag p.
Tekan Ctrl dan S untuk menyimpan. Pindah ke browser, lalu tekan F5 untuk memuat ulang. Paragraf baru langsung tampil.
Inilah siklus kerja seorang pembuat website: ubah kode, simpan, muat ulang, periksa. Diulang terus.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Tambahkan ke halaman kalian: ganti judul tab, tambahkan dua paragraf, tambahkan subjudul dengan h2, dan coba sengaja hapus satu tag penutup p, simpan, lihat akibatnya, lalu perbaiki.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file bernama index.html?
- struktur dasar lengkap?
- halaman terbuka di browser?
- perubahan terlihat setelah refresh?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perbedaan membuat website dengan Google Sites dan dengan HTML?
Pertanyaan kedua: mengapa setiap tag pembuka perlu tag penutup?
(Minta 2–3 santri menjawab secara bergantian.)
Pesan adab kita hari ini: belajar hal baru memerlukan kesabaran. Satu tanda yang terlewat bisa membuat halaman kacau. Jangan putus asa. Kesalahan kecil dalam kode adalah bagian dari proses belajar setiap programmer.
Pekan depan: tag-tag penting HTML: judul, paragraf, daftar, gambar, dan link.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ke-20, dengan judul "Tag-tag Penting HTML". Kita akan mempelajari tag-tag yang paling sering dipakai untuk membangun halaman web.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halaman web pertama. Siapa yang ingat, apa bedanya tag pembuka dan tag penutup?
(Tunggu jawaban: tag penutup memiliki garis miring.)
Sekarang pertanyaan hari ini. Coba pikirkan sejenak:
"Jika ingin menampilkan daftar hobi dengan tanda titik di depannya, tag apa yang dipakai?"
(Beri waktu 1 menit. Minta 2–3 santri menjawab. Hargai semua jawaban.)
Kita memakai tag ul dan li. Hari ini kita mempelajari tag-tag penting seperti itu: judul, format teks, daftar, gambar, dan link. Dengan tag-tag ini, kalian sudah bisa membuat halaman profil yang lengkap.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kenali tag-tag untuk teks.
h1 sampai h6: tag JUDUL. h1 untuk judul paling besar, biasanya hanya satu di setiap halaman. h2 untuk subjudul, h3 untuk sub-subjudul, dan seterusnya sampai h6. Sama seperti gaya Title dan Heading di Google Docs.
p: tag PARAGRAF. Browser otomatis memberi jarak antar paragraf.
b dan i: untuk huruf TEBAL dan MIRING. Contoh: b, Ahmad, tutup b, membuat nama Ahmad tebal.
br dan hr: br untuk pindah baris, hr untuk garis pemisah mendatar. Kedua tag ini istimewa: tidak memerlukan tag penutup.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membuat daftar, ada dua jenis.
Di kiri, DAFTAR BERBUTIR dengan tag ul, singkatan dari unordered list, artinya daftar tidak berurutan. Setiap butir ditulis dengan tag li, singkatan dari list item. Hasilnya: daftar dengan tanda titik di depannya.
Di kanan, DAFTAR BERNOMOR dengan tag ol, singkatan dari ordered list, artinya daftar berurutan. Butirnya juga dengan li. Hasilnya: daftar dengan nomor 1, 2, 3 otomatis.
Perhatikan, tag li berada di DALAM tag ul atau ol, dan ditulis menjorok. Ini disebut tag bersarang, seperti kotak di dalam kotak.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 gambar dan link memakai ATRIBUT, yaitu keterangan tambahan yang ditulis di dalam tag pembuka, dengan format nama sama dengan nilai dalam tanda kutip.
Baris pertama, tag img untuk GAMBAR. Atribut src berisi nama file gambar, misalnya pondok.jpg. File gambar harus berada di folder yang sama dengan index.html. Atribut alt berisi keterangan gambar, yang dibaca oleh pembaca layar untuk orang tunanetra, dan tampil jika gambar gagal dimuat. Atribut width mengatur lebar. Tag img tidak perlu tag penutup.
Baris kedua, tag a untuk LINK. Atribut href berisi alamat tujuan. Tulisan di antara tag a pembuka dan penutup adalah teks yang bisa diklik. Contoh ini menghubungkan ke website kelas kalian di Google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index.html dengan Notepad: klik kanan file, Open with, Notepad. Kita lengkapi halaman profil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index.html dengan Notepad: klik kanan file di File Explorer, pilih Open with, lalu Notepad.
Di dalam head, tambahkan baris meta charset sama dengan UTF-8, tanda a. Baris ini memberi tahu browser jenis huruf yang dipakai, agar semua karakter tampil benar.
Di paragraf pertama, apit nama kalian dengan tag b, tanda b, agar tampil tebal.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bawah paragraf, tambahkan subjudul dengan h2: Hobi Saya. Lalu buat daftar berbutir dengan ul, berisi dua sampai tiga hobi dengan li.
Perhatikan tag li ditulis menjorok di dalam ul. Simpan dengan Ctrl S, lalu muat ulang browser dengan F5.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Siapkan satu gambar, sebaiknya karya sendiri, misalnya poster dakwah dari Kelas VII atau foto gedung pondok. Salin gambar itu ke folder Website Saya, di samping index.html.
Ganti nama gambar menjadi huruf kecil tanpa spasi, misalnya pondok.jpg. Nama file di website sebaiknya selalu huruf kecil tanpa spasi, agar tidak terjadi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Di bawah daftar hobi, tulis tag img dengan atribut src berisi nama file gambar, alt berisi keterangan gambar, dan width 300.
Penting: nama di src harus PERSIS sama dengan nama file, termasuk huruf besar-kecil dan ekstensinya, misalnya .jpg atau .png. Jika berbeda satu huruf saja, gambar tidak muncul.
Simpan dan muat ulang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Tambahkan link ke website kelas yang kalian buat di Google Sites. Tulis tag a dengan href berisi alamat website kelas, dan teks Website Kelas.
Simpan, muat ulang, lalu klik link itu di browser. Apakah website kelas terbuka?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Periksa hasil di browser dan bandingkan dengan gambar di layar: judul besar, nama tebal, subjudul, daftar hobi, gambar, dan link biru bergaris bawah.
Jika ada yang tidak tampil, periksa tiga hal: apakah semua tag sudah ditutup, apakah tanda kutip berpasangan, dan apakah nama file gambar sudah sama persis.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Tambahkan ke halaman profil: daftar bernomor tiga adab menuntut ilmu, garis pemisah, satu kata miring, dan ubah lebar gambar menjadi 200.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h1, h2, dan p?
- ada daftar ul atau ol?
- gambar tampil dengan alt?
- link dapat diklik?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fungsi atribut alt pada gambar?
Pertanyaan kedua: tag mana yang paling sering kamu pakai?
(Minta 2–3 santri menjawab secara bergantian.)
Pesan adab kita hari ini: gunakan gambar milik sendiri atau yang diizinkan, dan tulis atribut alt. Alt membantu saudara kita yang tunanetra memahami isi gambar. Memudahkan orang lain adalah bagian dari akhlak mulia.
Pekan depan: proyek Halaman Profil Santri dengan AI sebagai mentor.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ke-21, dengan judul "Halaman Profil Santri". Hari ini kita menyelesaikan proyek Modul 7: halaman profil santri, dengan AI sebagai mentor.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mempelajari tag-tag penting. Siapa yang ingat, atribut apa yang berisi nama file pada tag img?
(Tunggu jawaban: src.)
Sekarang pertanyaan hari ini. Coba pikirkan sejenak:
"Jika halaman web kalian error dan tidak tahu penyebabnya, apa yang bisa dilakukan?"
(Beri waktu 1 menit. Minta 2–3 santri menjawab. Hargai semua jawaban.)
Ada beberapa cara: membandingkan dengan contoh, bertanya kepada teman, atau bertanya kepada AI sebagai mentor. Hari ini kita berlatih memakai AI untuk memahami kode dan mencari kesalahan, dengan cara yang benar: minta penjelasan, bukan minta dibuatkan semuanya.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Memakai AI saat belajar kode harus dengan cara yang benar.
Prompt yang BAIK:
Meminta penjelasan: jelaskan fungsi setiap baris kode ini.
Meminta bantuan mencari error dengan syarat: jelaskan penyebabnya, jangan ganti semua kode.
Bertanya konsep: apa bedanya ul dan ol.
Prompt yang BURUK:
Buatkan halaman profil lengkap. Jika AI yang membuat semuanya, kita tidak belajar apa-apa.
Perbaiki kode ini, lalu hasilnya langsung disalin tanpa dipahami.
Bertanya tanpa menyertakan kode, sehingga AI hanya menebak.
Ingat semboyan kita: santri tidak dituntut menghafal kode, tetapi wajib memahami kodenya.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Ketika halaman tidak tampil sesuai harapan, ikuti pola ini.
Pertama, TEMUKAN: bagian mana yang salah? Misalnya gambar tidak muncul.
Kedua, ANALISIS: bandingkan dengan contoh di slide. Periksa tiga penyebab paling sering: tag yang lupa ditutup, tanda kutip yang tidak berpasangan, dan nama file yang berbeda.
Ketiga, TANYA DAN PERBAIKI: jika masih belum ketemu, tanyakan kepada AI penyebabnya. Pahami penjelasannya, perbaiki sendiri, lalu uji lagi.
Contoh di bawah: gambar tidak muncul karena src tertulis Pondok titik JPG dengan huruf besar, padahal nama filenya pondok.jpg huruf kecil. Setelah diperbaiki, gambar muncul.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(Guru membuka layanan AI di proyektor dengan akun pesantren.)
Lengkapi halaman profil kalian, lalu kita berlatih bertanya kepada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Susun halaman profil kalian dengan bagian-bagian berikut: judul salam dengan h1, paragraf perkenalan, subjudul Hobi dengan daftar ul, subjudul Cita-cita dengan paragraf, subjudul Adab Menuntut Ilmu dengan daftar ol, satu gambar karya kalian, dan link ke website kelas.
Ingat: hanya nama panggilan dan kelas. Tidak ada alamat, nomor HP, atau foto wajah.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Rapikan kode: pastikan setiap baris di dalam body menjorok dua spasi. Simpan, lalu muat ulang browser, tanda a. Periksa setiap bagian halaman,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Saya menempelkan potongan kode salah satu santri ke AI, dengan prompt: Saya santri SMP belajar HTML. Jelaskan fungsi setiap baris kode berikut dengan bahasa sederhana.
(Bacakan jawaban AI.)
Bandingkan penjelasan AI dengan yang sudah kita pelajari. Sama, bukan? AI bisa menjadi guru yang sabar, yang menjelaskan berulang-ulang kapan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Sekarang latihan mencari error. Saya tampilkan kode yang salah.
Perhatikan baris 3: tag h2 Hobi Saya, tetapi tanpa tag penutup h2. Akibatnya, di browser, semua tulisan di bawahnya ikut menjadi besar seperti judul.
Siapa yang bisa menemukan kesalahannya?
(Tunggu jawaban santri.)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Jika belum ada yang menemukan, kita tanya AI. Perhatikan prompt-nya: kita jelaskan gejalanya, sertakan kodenya, dan minta penjelasan serta langkah perbaikan satu per satu, jangan langsung mengganti seluruh kode.
(Bacakan jawaban AI.)
AI menjelaskan: tag h2 belum ditutup, sehingga browser menganggap semua isi setelahnya masih bagian dari judul. Perbaikannya: tambahkan tag penutup h2.
Sekarang santri memperbaiki sendiri. Itulah pola memperbaiki error: temukan, analisis, tanya, pahami, perbaiki, 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Satu rahasia kecil: di browser, tekan Ctrl dan U. Muncul tab baru berisi kode HTML halaman kalian. Ini disebut View Source, artinya melihat kode sumber.
Coba lakukan juga pada website lain, misalnya website kelas di Google Sites. Kalian akan melihat kode HTML yang sangat panjang. Semua website di dunia memakai HTML, persis seperti yang kalian pelajari.
(Lalu minta beberapa santri mempresentasikan halaman profilnya dan menjelaskan satu bagian kodenya.)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Halaman profil dinyatakan selesai jika: strukturnya lengkap, memuat semua tag penting, tanpa data pribadi, dan santri mampu menjelaskan fungsi setiap tag di halamannya.
(Uji pemahaman: minta santri menunjuk satu baris kode secara acak dan menjelaskannya.)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halaman profil lengkap?
- satu error berhasil diperbaiki?
- bisa menjelaskan setiap tag?
- tidak ada data pribadi?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yang kamu pelajari dari penjelasan AI?
Pertanyaan kedua: bagian kode mana yang paling kamu pahami sekarang?
(Minta 2–3 santri menjawab secara bergantian.)
Pesan adab kita hari ini: data pribadi tidak ditampilkan di halaman web. Cukup nama panggilan, kelas, dan hal-hal baik yang bermanfaat. Halaman web bisa dibaca siapa saja, maka jagalah diri dan keluarga kita.
Pekan depan: kita masuk Modul 8: CSS, untuk memperindah halaman web. Alhamdulillah, Modul 7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slideLayout" Target="../slideLayouts/slideLayout1.xml"/><Relationship Id="rId1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slideLayout" Target="../slideLayouts/slideLayout1.xml"/><Relationship Id="rId10"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slideLayout" Target="../slideLayouts/slideLayout1.xml"/><Relationship Id="rId10"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1.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2 WUSTHA  ·  SEMESTER 2  ·  MODUL 7</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Pengenalan HTML</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Halaman Profil Santri</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mulai menulis kode: memahami HTML sebagai kerangka halaman web, menulis tag-tag penting dengan Notepad, membukanya di browser, dan memakai AI sebagai mentor untuk memahami serta memperbaiki kode.</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19</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HTML</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20</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Tag-tag Penting HTML</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21</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Halaman Profil Santri</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Notepad (bawaan Windows), browser Chrome/Edge, folder portofolio, layanan AI (dioperasikan guru)</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19</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HTML</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Menulis halaman web pertama dengan kode</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7: Pengenalan HTML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Website kelas di Google Sites dibuat dengan klik dan seret. Tahukah kalian apa yang ada di balik layarnya?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HTML, tag, dan elemen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struktur dasar dokumen HTML</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Menyimpan file .html dan membukanya di browser</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HTML?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HyperText Markup Language</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HTML adalah bahasa untuk menyusun kerangka halaman web: judul, paragraf, gambar, dan link.</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Bukan bahasa pemrograman, tetapi bahasa penanda (markup)</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Dibaca dan ditampilkan oleh browser</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Semua website di dunia memakai HTML</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Tag dan Elemen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8229600" cy="1097280"/>
          </a:xfrm>
          <a:prstGeom prst="roundRect">
            <a:avLst>
              <a:gd name="adj" fmla="val 6667"/>
            </a:avLst>
          </a:prstGeom>
          <a:solidFill>
            <a:srgbClr val="FFFFFF"/>
          </a:solidFill>
          <a:ln w="19050">
            <a:solidFill>
              <a:srgbClr val="1F7A5C"/>
            </a:solidFill>
            <a:prstDash val="solid"/>
          </a:ln>
        </p:spPr>
      </p:sp>
      <p:sp>
        <p:nvSpPr>
          <p:cNvPr id="10" name="Text 6"/>
          <p:cNvSpPr txBox="1"/>
          <p:nvPr/>
        </p:nvSpPr>
        <p:spPr>
          <a:xfrm>
            <a:off x="640080" y="1234440"/>
            <a:ext cx="7863840" cy="1005840"/>
          </a:xfrm>
          <a:prstGeom prst="rect">
            <a:avLst/>
          </a:prstGeom>
          <a:noFill/>
          <a:ln/>
        </p:spPr>
        <p:txBody>
          <a:bodyPr wrap="square" lIns="0" tIns="0" rIns="0" bIns="0" rtlCol="0" anchor="ctr"/>
          <a:lstStyle/>
          <a:p>
            <a:pPr algn="ctr" indent="0" marL="0">
              <a:buNone/>
            </a:pPr>
            <a:r>
              <a:rPr lang="en-US" sz="3200" b="1" dirty="0">
                <a:solidFill>
                  <a:srgbClr val="1A5FB4"/>
                </a:solidFill>
                <a:latin typeface="Courier New" pitchFamily="34" charset="0"/>
                <a:ea typeface="Courier New" pitchFamily="34" charset="-122"/>
                <a:cs typeface="Courier New" pitchFamily="34" charset="-120"/>
              </a:rPr>
              <a:t>&lt;p&gt;</a:t>
            </a:r>
            <a:pPr algn="ctr" indent="0" marL="0">
              <a:buNone/>
            </a:pPr>
            <a:r>
              <a:rPr lang="en-US" sz="3200" dirty="0">
                <a:solidFill>
                  <a:srgbClr val="222222"/>
                </a:solidFill>
                <a:latin typeface="Courier New" pitchFamily="34" charset="0"/>
                <a:ea typeface="Courier New" pitchFamily="34" charset="-122"/>
                <a:cs typeface="Courier New" pitchFamily="34" charset="-120"/>
              </a:rPr>
              <a:t>Nama saya Ahmad.</a:t>
            </a:r>
            <a:pPr algn="ctr" indent="0" marL="0">
              <a:buNone/>
            </a:pPr>
            <a:r>
              <a:rPr lang="en-US" sz="3200" b="1" dirty="0">
                <a:solidFill>
                  <a:srgbClr val="E53935"/>
                </a:solidFill>
                <a:latin typeface="Courier New" pitchFamily="34" charset="0"/>
                <a:ea typeface="Courier New" pitchFamily="34" charset="-122"/>
                <a:cs typeface="Courier New" pitchFamily="34" charset="-120"/>
              </a:rPr>
              <a:t>&lt;/p&gt;</a:t>
            </a:r>
            <a:endParaRPr lang="en-US" sz="3200" dirty="0"/>
          </a:p>
        </p:txBody>
      </p:sp>
      <p:sp>
        <p:nvSpPr>
          <p:cNvPr id="11" name="Shape 7"/>
          <p:cNvSpPr/>
          <p:nvPr/>
        </p:nvSpPr>
        <p:spPr>
          <a:xfrm>
            <a:off x="457200" y="2514600"/>
            <a:ext cx="2606040" cy="1234440"/>
          </a:xfrm>
          <a:prstGeom prst="roundRect">
            <a:avLst>
              <a:gd name="adj" fmla="val 7407"/>
            </a:avLst>
          </a:prstGeom>
          <a:solidFill>
            <a:srgbClr val="E6F2EC"/>
          </a:solidFill>
          <a:ln w="12700">
            <a:solidFill>
              <a:srgbClr val="E6F2EC"/>
            </a:solidFill>
            <a:prstDash val="solid"/>
          </a:ln>
        </p:spPr>
      </p:sp>
      <p:sp>
        <p:nvSpPr>
          <p:cNvPr id="12" name="Text 8"/>
          <p:cNvSpPr txBox="1"/>
          <p:nvPr/>
        </p:nvSpPr>
        <p:spPr>
          <a:xfrm>
            <a:off x="594360" y="2606040"/>
            <a:ext cx="2377440" cy="365760"/>
          </a:xfrm>
          <a:prstGeom prst="rect">
            <a:avLst/>
          </a:prstGeom>
          <a:noFill/>
          <a:ln/>
        </p:spPr>
        <p:txBody>
          <a:bodyPr wrap="square" lIns="0" tIns="0" rIns="0" bIns="0" rtlCol="0" anchor="t"/>
          <a:lstStyle/>
          <a:p>
            <a:pPr indent="0" marL="0">
              <a:buNone/>
            </a:pPr>
            <a:r>
              <a:rPr lang="en-US" sz="1400" b="1" dirty="0">
                <a:solidFill>
                  <a:srgbClr val="1A5FB4"/>
                </a:solidFill>
                <a:latin typeface="Courier New" pitchFamily="34" charset="0"/>
                <a:ea typeface="Courier New" pitchFamily="34" charset="-122"/>
                <a:cs typeface="Courier New" pitchFamily="34" charset="-120"/>
              </a:rPr>
              <a:t>&lt;p&gt;</a:t>
            </a:r>
            <a:endParaRPr lang="en-US" sz="1400" dirty="0"/>
          </a:p>
        </p:txBody>
      </p:sp>
      <p:sp>
        <p:nvSpPr>
          <p:cNvPr id="13" name="Text 9"/>
          <p:cNvSpPr txBox="1"/>
          <p:nvPr/>
        </p:nvSpPr>
        <p:spPr>
          <a:xfrm>
            <a:off x="594360" y="3017520"/>
            <a:ext cx="2377440" cy="6400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Tag pembuka: awal paragraf</a:t>
            </a:r>
            <a:endParaRPr lang="en-US" sz="1300" dirty="0"/>
          </a:p>
        </p:txBody>
      </p:sp>
      <p:sp>
        <p:nvSpPr>
          <p:cNvPr id="14" name="Shape 10"/>
          <p:cNvSpPr/>
          <p:nvPr/>
        </p:nvSpPr>
        <p:spPr>
          <a:xfrm>
            <a:off x="3246120" y="2514600"/>
            <a:ext cx="2606040" cy="1234440"/>
          </a:xfrm>
          <a:prstGeom prst="roundRect">
            <a:avLst>
              <a:gd name="adj" fmla="val 7407"/>
            </a:avLst>
          </a:prstGeom>
          <a:solidFill>
            <a:srgbClr val="E6F2EC"/>
          </a:solidFill>
          <a:ln w="12700">
            <a:solidFill>
              <a:srgbClr val="E6F2EC"/>
            </a:solidFill>
            <a:prstDash val="solid"/>
          </a:ln>
        </p:spPr>
      </p:sp>
      <p:sp>
        <p:nvSpPr>
          <p:cNvPr id="15" name="Text 11"/>
          <p:cNvSpPr txBox="1"/>
          <p:nvPr/>
        </p:nvSpPr>
        <p:spPr>
          <a:xfrm>
            <a:off x="3383280" y="2606040"/>
            <a:ext cx="2377440" cy="365760"/>
          </a:xfrm>
          <a:prstGeom prst="rect">
            <a:avLst/>
          </a:prstGeom>
          <a:noFill/>
          <a:ln/>
        </p:spPr>
        <p:txBody>
          <a:bodyPr wrap="square" lIns="0" tIns="0" rIns="0" bIns="0" rtlCol="0" anchor="t"/>
          <a:lstStyle/>
          <a:p>
            <a:pPr indent="0" marL="0">
              <a:buNone/>
            </a:pPr>
            <a:r>
              <a:rPr lang="en-US" sz="1400" b="1" dirty="0">
                <a:solidFill>
                  <a:srgbClr val="222222"/>
                </a:solidFill>
                <a:latin typeface="Courier New" pitchFamily="34" charset="0"/>
                <a:ea typeface="Courier New" pitchFamily="34" charset="-122"/>
                <a:cs typeface="Courier New" pitchFamily="34" charset="-120"/>
              </a:rPr>
              <a:t>Nama saya Ahmad.</a:t>
            </a:r>
            <a:endParaRPr lang="en-US" sz="1400" dirty="0"/>
          </a:p>
        </p:txBody>
      </p:sp>
      <p:sp>
        <p:nvSpPr>
          <p:cNvPr id="16" name="Text 12"/>
          <p:cNvSpPr txBox="1"/>
          <p:nvPr/>
        </p:nvSpPr>
        <p:spPr>
          <a:xfrm>
            <a:off x="3383280" y="3017520"/>
            <a:ext cx="2377440" cy="6400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Isi: yang tampil di layar</a:t>
            </a:r>
            <a:endParaRPr lang="en-US" sz="1300" dirty="0"/>
          </a:p>
        </p:txBody>
      </p:sp>
      <p:sp>
        <p:nvSpPr>
          <p:cNvPr id="17" name="Shape 13"/>
          <p:cNvSpPr/>
          <p:nvPr/>
        </p:nvSpPr>
        <p:spPr>
          <a:xfrm>
            <a:off x="6035040" y="2514600"/>
            <a:ext cx="2606040" cy="1234440"/>
          </a:xfrm>
          <a:prstGeom prst="roundRect">
            <a:avLst>
              <a:gd name="adj" fmla="val 7407"/>
            </a:avLst>
          </a:prstGeom>
          <a:solidFill>
            <a:srgbClr val="E6F2EC"/>
          </a:solidFill>
          <a:ln w="12700">
            <a:solidFill>
              <a:srgbClr val="E6F2EC"/>
            </a:solidFill>
            <a:prstDash val="solid"/>
          </a:ln>
        </p:spPr>
      </p:sp>
      <p:sp>
        <p:nvSpPr>
          <p:cNvPr id="18" name="Text 14"/>
          <p:cNvSpPr txBox="1"/>
          <p:nvPr/>
        </p:nvSpPr>
        <p:spPr>
          <a:xfrm>
            <a:off x="6172200" y="2606040"/>
            <a:ext cx="2377440" cy="365760"/>
          </a:xfrm>
          <a:prstGeom prst="rect">
            <a:avLst/>
          </a:prstGeom>
          <a:noFill/>
          <a:ln/>
        </p:spPr>
        <p:txBody>
          <a:bodyPr wrap="square" lIns="0" tIns="0" rIns="0" bIns="0" rtlCol="0" anchor="t"/>
          <a:lstStyle/>
          <a:p>
            <a:pPr indent="0" marL="0">
              <a:buNone/>
            </a:pPr>
            <a:r>
              <a:rPr lang="en-US" sz="1400" b="1" dirty="0">
                <a:solidFill>
                  <a:srgbClr val="E53935"/>
                </a:solidFill>
                <a:latin typeface="Courier New" pitchFamily="34" charset="0"/>
                <a:ea typeface="Courier New" pitchFamily="34" charset="-122"/>
                <a:cs typeface="Courier New" pitchFamily="34" charset="-120"/>
              </a:rPr>
              <a:t>&lt;/p&gt;</a:t>
            </a:r>
            <a:endParaRPr lang="en-US" sz="1400" dirty="0"/>
          </a:p>
        </p:txBody>
      </p:sp>
      <p:sp>
        <p:nvSpPr>
          <p:cNvPr id="19" name="Text 15"/>
          <p:cNvSpPr txBox="1"/>
          <p:nvPr/>
        </p:nvSpPr>
        <p:spPr>
          <a:xfrm>
            <a:off x="6172200" y="3017520"/>
            <a:ext cx="2377440" cy="6400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Tag penutup: ada garis miring /</a:t>
            </a:r>
            <a:endParaRPr lang="en-US" sz="1300" dirty="0"/>
          </a:p>
        </p:txBody>
      </p:sp>
      <p:sp>
        <p:nvSpPr>
          <p:cNvPr id="20" name="Shape 16"/>
          <p:cNvSpPr/>
          <p:nvPr/>
        </p:nvSpPr>
        <p:spPr>
          <a:xfrm>
            <a:off x="457200" y="3931920"/>
            <a:ext cx="8229600" cy="640080"/>
          </a:xfrm>
          <a:prstGeom prst="roundRect">
            <a:avLst>
              <a:gd name="adj" fmla="val 14286"/>
            </a:avLst>
          </a:prstGeom>
          <a:solidFill>
            <a:srgbClr val="FBF1D3"/>
          </a:solidFill>
          <a:ln w="12700">
            <a:solidFill>
              <a:srgbClr val="FBF1D3"/>
            </a:solidFill>
            <a:prstDash val="solid"/>
          </a:ln>
        </p:spPr>
      </p:sp>
      <p:sp>
        <p:nvSpPr>
          <p:cNvPr id="21" name="Text 17"/>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Tag pembuka + isi + tag penutup = satu ELEMEN. Hampir semua tag harus ditutup.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Struktur Dasar Dokumen HTML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754880" cy="3520440"/>
          </a:xfrm>
          <a:prstGeom prst="roundRect">
            <a:avLst>
              <a:gd name="adj" fmla="val 1558"/>
            </a:avLst>
          </a:prstGeom>
          <a:solidFill>
            <a:srgbClr val="FFFFFF"/>
          </a:solidFill>
          <a:ln w="12700">
            <a:solidFill>
              <a:srgbClr val="BBBBBB"/>
            </a:solidFill>
            <a:prstDash val="solid"/>
          </a:ln>
        </p:spPr>
      </p:sp>
      <p:sp>
        <p:nvSpPr>
          <p:cNvPr id="10" name="Shape 6"/>
          <p:cNvSpPr/>
          <p:nvPr/>
        </p:nvSpPr>
        <p:spPr>
          <a:xfrm>
            <a:off x="530352" y="1207008"/>
            <a:ext cx="274320" cy="292608"/>
          </a:xfrm>
          <a:prstGeom prst="rect">
            <a:avLst/>
          </a:prstGeom>
          <a:solidFill>
            <a:srgbClr val="F3F3F3"/>
          </a:solidFill>
          <a:ln w="12700">
            <a:solidFill>
              <a:srgbClr val="F3F3F3"/>
            </a:solidFill>
            <a:prstDash val="solid"/>
          </a:ln>
        </p:spPr>
      </p:sp>
      <p:sp>
        <p:nvSpPr>
          <p:cNvPr id="11" name="Text 7"/>
          <p:cNvSpPr txBox="1"/>
          <p:nvPr/>
        </p:nvSpPr>
        <p:spPr>
          <a:xfrm>
            <a:off x="530352" y="1207008"/>
            <a:ext cx="256032" cy="292608"/>
          </a:xfrm>
          <a:prstGeom prst="rect">
            <a:avLst/>
          </a:prstGeom>
          <a:noFill/>
          <a:ln/>
        </p:spPr>
        <p:txBody>
          <a:bodyPr wrap="square" lIns="0" tIns="0" rIns="0" bIns="0" rtlCol="0" anchor="ctr"/>
          <a:lstStyle/>
          <a:p>
            <a:pPr algn="r" indent="0" marL="0">
              <a:buNone/>
            </a:pPr>
            <a:r>
              <a:rPr lang="en-US" sz="900" dirty="0">
                <a:solidFill>
                  <a:srgbClr val="999999"/>
                </a:solidFill>
                <a:latin typeface="Courier New" pitchFamily="34" charset="0"/>
                <a:ea typeface="Courier New" pitchFamily="34" charset="-122"/>
                <a:cs typeface="Courier New" pitchFamily="34" charset="-120"/>
              </a:rPr>
              <a:t>1</a:t>
            </a:r>
            <a:endParaRPr lang="en-US" sz="900" dirty="0"/>
          </a:p>
        </p:txBody>
      </p:sp>
      <p:sp>
        <p:nvSpPr>
          <p:cNvPr id="12" name="Text 8"/>
          <p:cNvSpPr txBox="1"/>
          <p:nvPr/>
        </p:nvSpPr>
        <p:spPr>
          <a:xfrm>
            <a:off x="896112" y="1207008"/>
            <a:ext cx="4251960" cy="292608"/>
          </a:xfrm>
          <a:prstGeom prst="rect">
            <a:avLst/>
          </a:prstGeom>
          <a:noFill/>
          <a:ln/>
        </p:spPr>
        <p:txBody>
          <a:bodyPr wrap="square" lIns="0" tIns="0" rIns="0" bIns="0" rtlCol="0" anchor="ctr"/>
          <a:lstStyle/>
          <a:p>
            <a:pPr indent="0" marL="0">
              <a:buNone/>
            </a:pPr>
            <a:r>
              <a:rPr lang="en-US" sz="1100" dirty="0">
                <a:solidFill>
                  <a:srgbClr val="1A5FB4"/>
                </a:solidFill>
                <a:latin typeface="Courier New" pitchFamily="34" charset="0"/>
                <a:ea typeface="Courier New" pitchFamily="34" charset="-122"/>
                <a:cs typeface="Courier New" pitchFamily="34" charset="-120"/>
              </a:rPr>
              <a:t>&lt;!DOCTYPE html&gt;</a:t>
            </a:r>
            <a:endParaRPr lang="en-US" sz="1100" dirty="0"/>
          </a:p>
        </p:txBody>
      </p:sp>
      <p:sp>
        <p:nvSpPr>
          <p:cNvPr id="13" name="Shape 9"/>
          <p:cNvSpPr/>
          <p:nvPr/>
        </p:nvSpPr>
        <p:spPr>
          <a:xfrm>
            <a:off x="530352" y="1536192"/>
            <a:ext cx="274320" cy="292608"/>
          </a:xfrm>
          <a:prstGeom prst="rect">
            <a:avLst/>
          </a:prstGeom>
          <a:solidFill>
            <a:srgbClr val="F3F3F3"/>
          </a:solidFill>
          <a:ln w="12700">
            <a:solidFill>
              <a:srgbClr val="F3F3F3"/>
            </a:solidFill>
            <a:prstDash val="solid"/>
          </a:ln>
        </p:spPr>
      </p:sp>
      <p:sp>
        <p:nvSpPr>
          <p:cNvPr id="14" name="Text 10"/>
          <p:cNvSpPr txBox="1"/>
          <p:nvPr/>
        </p:nvSpPr>
        <p:spPr>
          <a:xfrm>
            <a:off x="530352" y="1536192"/>
            <a:ext cx="256032" cy="292608"/>
          </a:xfrm>
          <a:prstGeom prst="rect">
            <a:avLst/>
          </a:prstGeom>
          <a:noFill/>
          <a:ln/>
        </p:spPr>
        <p:txBody>
          <a:bodyPr wrap="square" lIns="0" tIns="0" rIns="0" bIns="0" rtlCol="0" anchor="ctr"/>
          <a:lstStyle/>
          <a:p>
            <a:pPr algn="r" indent="0" marL="0">
              <a:buNone/>
            </a:pPr>
            <a:r>
              <a:rPr lang="en-US" sz="900" dirty="0">
                <a:solidFill>
                  <a:srgbClr val="999999"/>
                </a:solidFill>
                <a:latin typeface="Courier New" pitchFamily="34" charset="0"/>
                <a:ea typeface="Courier New" pitchFamily="34" charset="-122"/>
                <a:cs typeface="Courier New" pitchFamily="34" charset="-120"/>
              </a:rPr>
              <a:t>2</a:t>
            </a:r>
            <a:endParaRPr lang="en-US" sz="900" dirty="0"/>
          </a:p>
        </p:txBody>
      </p:sp>
      <p:sp>
        <p:nvSpPr>
          <p:cNvPr id="15" name="Text 11"/>
          <p:cNvSpPr txBox="1"/>
          <p:nvPr/>
        </p:nvSpPr>
        <p:spPr>
          <a:xfrm>
            <a:off x="896112" y="1536192"/>
            <a:ext cx="4251960" cy="292608"/>
          </a:xfrm>
          <a:prstGeom prst="rect">
            <a:avLst/>
          </a:prstGeom>
          <a:noFill/>
          <a:ln/>
        </p:spPr>
        <p:txBody>
          <a:bodyPr wrap="square" lIns="0" tIns="0" rIns="0" bIns="0" rtlCol="0" anchor="ctr"/>
          <a:lstStyle/>
          <a:p>
            <a:pPr indent="0" marL="0">
              <a:buNone/>
            </a:pPr>
            <a:r>
              <a:rPr lang="en-US" sz="1100" dirty="0">
                <a:solidFill>
                  <a:srgbClr val="1A5FB4"/>
                </a:solidFill>
                <a:latin typeface="Courier New" pitchFamily="34" charset="0"/>
                <a:ea typeface="Courier New" pitchFamily="34" charset="-122"/>
                <a:cs typeface="Courier New" pitchFamily="34" charset="-120"/>
              </a:rPr>
              <a:t>&lt;html&gt;</a:t>
            </a:r>
            <a:endParaRPr lang="en-US" sz="1100" dirty="0"/>
          </a:p>
        </p:txBody>
      </p:sp>
      <p:sp>
        <p:nvSpPr>
          <p:cNvPr id="16" name="Shape 12"/>
          <p:cNvSpPr/>
          <p:nvPr/>
        </p:nvSpPr>
        <p:spPr>
          <a:xfrm>
            <a:off x="530352" y="1865376"/>
            <a:ext cx="274320" cy="292608"/>
          </a:xfrm>
          <a:prstGeom prst="rect">
            <a:avLst/>
          </a:prstGeom>
          <a:solidFill>
            <a:srgbClr val="F3F3F3"/>
          </a:solidFill>
          <a:ln w="12700">
            <a:solidFill>
              <a:srgbClr val="F3F3F3"/>
            </a:solidFill>
            <a:prstDash val="solid"/>
          </a:ln>
        </p:spPr>
      </p:sp>
      <p:sp>
        <p:nvSpPr>
          <p:cNvPr id="17" name="Text 13"/>
          <p:cNvSpPr txBox="1"/>
          <p:nvPr/>
        </p:nvSpPr>
        <p:spPr>
          <a:xfrm>
            <a:off x="530352" y="1865376"/>
            <a:ext cx="256032" cy="292608"/>
          </a:xfrm>
          <a:prstGeom prst="rect">
            <a:avLst/>
          </a:prstGeom>
          <a:noFill/>
          <a:ln/>
        </p:spPr>
        <p:txBody>
          <a:bodyPr wrap="square" lIns="0" tIns="0" rIns="0" bIns="0" rtlCol="0" anchor="ctr"/>
          <a:lstStyle/>
          <a:p>
            <a:pPr algn="r" indent="0" marL="0">
              <a:buNone/>
            </a:pPr>
            <a:r>
              <a:rPr lang="en-US" sz="900" dirty="0">
                <a:solidFill>
                  <a:srgbClr val="999999"/>
                </a:solidFill>
                <a:latin typeface="Courier New" pitchFamily="34" charset="0"/>
                <a:ea typeface="Courier New" pitchFamily="34" charset="-122"/>
                <a:cs typeface="Courier New" pitchFamily="34" charset="-120"/>
              </a:rPr>
              <a:t>3</a:t>
            </a:r>
            <a:endParaRPr lang="en-US" sz="900" dirty="0"/>
          </a:p>
        </p:txBody>
      </p:sp>
      <p:sp>
        <p:nvSpPr>
          <p:cNvPr id="18" name="Text 14"/>
          <p:cNvSpPr txBox="1"/>
          <p:nvPr/>
        </p:nvSpPr>
        <p:spPr>
          <a:xfrm>
            <a:off x="896112" y="1865376"/>
            <a:ext cx="4251960" cy="292608"/>
          </a:xfrm>
          <a:prstGeom prst="rect">
            <a:avLst/>
          </a:prstGeom>
          <a:noFill/>
          <a:ln/>
        </p:spPr>
        <p:txBody>
          <a:bodyPr wrap="square" lIns="0" tIns="0" rIns="0" bIns="0" rtlCol="0" anchor="ctr"/>
          <a:lstStyle/>
          <a:p>
            <a:pPr indent="0" marL="0">
              <a:buNone/>
            </a:pPr>
            <a:r>
              <a:rPr lang="en-US" sz="1100" dirty="0">
                <a:solidFill>
                  <a:srgbClr val="1A5FB4"/>
                </a:solidFill>
                <a:latin typeface="Courier New" pitchFamily="34" charset="0"/>
                <a:ea typeface="Courier New" pitchFamily="34" charset="-122"/>
                <a:cs typeface="Courier New" pitchFamily="34" charset="-120"/>
              </a:rPr>
              <a:t>&lt;head&gt;</a:t>
            </a:r>
            <a:endParaRPr lang="en-US" sz="1100" dirty="0"/>
          </a:p>
        </p:txBody>
      </p:sp>
      <p:sp>
        <p:nvSpPr>
          <p:cNvPr id="19" name="Shape 15"/>
          <p:cNvSpPr/>
          <p:nvPr/>
        </p:nvSpPr>
        <p:spPr>
          <a:xfrm>
            <a:off x="530352" y="2194560"/>
            <a:ext cx="274320" cy="292608"/>
          </a:xfrm>
          <a:prstGeom prst="rect">
            <a:avLst/>
          </a:prstGeom>
          <a:solidFill>
            <a:srgbClr val="F3F3F3"/>
          </a:solidFill>
          <a:ln w="12700">
            <a:solidFill>
              <a:srgbClr val="F3F3F3"/>
            </a:solidFill>
            <a:prstDash val="solid"/>
          </a:ln>
        </p:spPr>
      </p:sp>
      <p:sp>
        <p:nvSpPr>
          <p:cNvPr id="20" name="Text 16"/>
          <p:cNvSpPr txBox="1"/>
          <p:nvPr/>
        </p:nvSpPr>
        <p:spPr>
          <a:xfrm>
            <a:off x="530352" y="2194560"/>
            <a:ext cx="256032" cy="292608"/>
          </a:xfrm>
          <a:prstGeom prst="rect">
            <a:avLst/>
          </a:prstGeom>
          <a:noFill/>
          <a:ln/>
        </p:spPr>
        <p:txBody>
          <a:bodyPr wrap="square" lIns="0" tIns="0" rIns="0" bIns="0" rtlCol="0" anchor="ctr"/>
          <a:lstStyle/>
          <a:p>
            <a:pPr algn="r" indent="0" marL="0">
              <a:buNone/>
            </a:pPr>
            <a:r>
              <a:rPr lang="en-US" sz="900" dirty="0">
                <a:solidFill>
                  <a:srgbClr val="999999"/>
                </a:solidFill>
                <a:latin typeface="Courier New" pitchFamily="34" charset="0"/>
                <a:ea typeface="Courier New" pitchFamily="34" charset="-122"/>
                <a:cs typeface="Courier New" pitchFamily="34" charset="-120"/>
              </a:rPr>
              <a:t>4</a:t>
            </a:r>
            <a:endParaRPr lang="en-US" sz="900" dirty="0"/>
          </a:p>
        </p:txBody>
      </p:sp>
      <p:sp>
        <p:nvSpPr>
          <p:cNvPr id="21" name="Text 17"/>
          <p:cNvSpPr txBox="1"/>
          <p:nvPr/>
        </p:nvSpPr>
        <p:spPr>
          <a:xfrm>
            <a:off x="896112" y="2194560"/>
            <a:ext cx="4251960" cy="292608"/>
          </a:xfrm>
          <a:prstGeom prst="rect">
            <a:avLst/>
          </a:prstGeom>
          <a:noFill/>
          <a:ln/>
        </p:spPr>
        <p:txBody>
          <a:bodyPr wrap="square" lIns="0" tIns="0" rIns="0" bIns="0" rtlCol="0" anchor="ctr"/>
          <a:lstStyle/>
          <a:p>
            <a:pPr indent="0" marL="0">
              <a:buNone/>
            </a:pPr>
            <a:r>
              <a:rPr lang="en-US" sz="1100" dirty="0">
                <a:solidFill>
                  <a:srgbClr val="222222"/>
                </a:solidFill>
                <a:latin typeface="Courier New" pitchFamily="34" charset="0"/>
                <a:ea typeface="Courier New" pitchFamily="34" charset="-122"/>
                <a:cs typeface="Courier New" pitchFamily="34" charset="-120"/>
              </a:rPr>
              <a:t>  </a:t>
            </a:r>
            <a:pPr indent="0" marL="0">
              <a:buNone/>
            </a:pPr>
            <a:r>
              <a:rPr lang="en-US" sz="1100" dirty="0">
                <a:solidFill>
                  <a:srgbClr val="1A5FB4"/>
                </a:solidFill>
                <a:latin typeface="Courier New" pitchFamily="34" charset="0"/>
                <a:ea typeface="Courier New" pitchFamily="34" charset="-122"/>
                <a:cs typeface="Courier New" pitchFamily="34" charset="-120"/>
              </a:rPr>
              <a:t>&lt;title&gt;</a:t>
            </a:r>
            <a:pPr indent="0" marL="0">
              <a:buNone/>
            </a:pPr>
            <a:r>
              <a:rPr lang="en-US" sz="1100" dirty="0">
                <a:solidFill>
                  <a:srgbClr val="222222"/>
                </a:solidFill>
                <a:latin typeface="Courier New" pitchFamily="34" charset="0"/>
                <a:ea typeface="Courier New" pitchFamily="34" charset="-122"/>
                <a:cs typeface="Courier New" pitchFamily="34" charset="-120"/>
              </a:rPr>
              <a:t>Profil Santri</a:t>
            </a:r>
            <a:pPr indent="0" marL="0">
              <a:buNone/>
            </a:pPr>
            <a:r>
              <a:rPr lang="en-US" sz="1100" dirty="0">
                <a:solidFill>
                  <a:srgbClr val="1A5FB4"/>
                </a:solidFill>
                <a:latin typeface="Courier New" pitchFamily="34" charset="0"/>
                <a:ea typeface="Courier New" pitchFamily="34" charset="-122"/>
                <a:cs typeface="Courier New" pitchFamily="34" charset="-120"/>
              </a:rPr>
              <a:t>&lt;/title&gt;</a:t>
            </a:r>
            <a:endParaRPr lang="en-US" sz="1100" dirty="0"/>
          </a:p>
        </p:txBody>
      </p:sp>
      <p:sp>
        <p:nvSpPr>
          <p:cNvPr id="22" name="Shape 18"/>
          <p:cNvSpPr/>
          <p:nvPr/>
        </p:nvSpPr>
        <p:spPr>
          <a:xfrm>
            <a:off x="530352" y="2523744"/>
            <a:ext cx="274320" cy="292608"/>
          </a:xfrm>
          <a:prstGeom prst="rect">
            <a:avLst/>
          </a:prstGeom>
          <a:solidFill>
            <a:srgbClr val="F3F3F3"/>
          </a:solidFill>
          <a:ln w="12700">
            <a:solidFill>
              <a:srgbClr val="F3F3F3"/>
            </a:solidFill>
            <a:prstDash val="solid"/>
          </a:ln>
        </p:spPr>
      </p:sp>
      <p:sp>
        <p:nvSpPr>
          <p:cNvPr id="23" name="Text 19"/>
          <p:cNvSpPr txBox="1"/>
          <p:nvPr/>
        </p:nvSpPr>
        <p:spPr>
          <a:xfrm>
            <a:off x="530352" y="2523744"/>
            <a:ext cx="256032" cy="292608"/>
          </a:xfrm>
          <a:prstGeom prst="rect">
            <a:avLst/>
          </a:prstGeom>
          <a:noFill/>
          <a:ln/>
        </p:spPr>
        <p:txBody>
          <a:bodyPr wrap="square" lIns="0" tIns="0" rIns="0" bIns="0" rtlCol="0" anchor="ctr"/>
          <a:lstStyle/>
          <a:p>
            <a:pPr algn="r" indent="0" marL="0">
              <a:buNone/>
            </a:pPr>
            <a:r>
              <a:rPr lang="en-US" sz="900" dirty="0">
                <a:solidFill>
                  <a:srgbClr val="999999"/>
                </a:solidFill>
                <a:latin typeface="Courier New" pitchFamily="34" charset="0"/>
                <a:ea typeface="Courier New" pitchFamily="34" charset="-122"/>
                <a:cs typeface="Courier New" pitchFamily="34" charset="-120"/>
              </a:rPr>
              <a:t>5</a:t>
            </a:r>
            <a:endParaRPr lang="en-US" sz="900" dirty="0"/>
          </a:p>
        </p:txBody>
      </p:sp>
      <p:sp>
        <p:nvSpPr>
          <p:cNvPr id="24" name="Text 20"/>
          <p:cNvSpPr txBox="1"/>
          <p:nvPr/>
        </p:nvSpPr>
        <p:spPr>
          <a:xfrm>
            <a:off x="896112" y="2523744"/>
            <a:ext cx="4251960" cy="292608"/>
          </a:xfrm>
          <a:prstGeom prst="rect">
            <a:avLst/>
          </a:prstGeom>
          <a:noFill/>
          <a:ln/>
        </p:spPr>
        <p:txBody>
          <a:bodyPr wrap="square" lIns="0" tIns="0" rIns="0" bIns="0" rtlCol="0" anchor="ctr"/>
          <a:lstStyle/>
          <a:p>
            <a:pPr indent="0" marL="0">
              <a:buNone/>
            </a:pPr>
            <a:r>
              <a:rPr lang="en-US" sz="1100" dirty="0">
                <a:solidFill>
                  <a:srgbClr val="1A5FB4"/>
                </a:solidFill>
                <a:latin typeface="Courier New" pitchFamily="34" charset="0"/>
                <a:ea typeface="Courier New" pitchFamily="34" charset="-122"/>
                <a:cs typeface="Courier New" pitchFamily="34" charset="-120"/>
              </a:rPr>
              <a:t>&lt;/head&gt;</a:t>
            </a:r>
            <a:endParaRPr lang="en-US" sz="1100" dirty="0"/>
          </a:p>
        </p:txBody>
      </p:sp>
      <p:sp>
        <p:nvSpPr>
          <p:cNvPr id="25" name="Shape 21"/>
          <p:cNvSpPr/>
          <p:nvPr/>
        </p:nvSpPr>
        <p:spPr>
          <a:xfrm>
            <a:off x="530352" y="2852928"/>
            <a:ext cx="274320" cy="292608"/>
          </a:xfrm>
          <a:prstGeom prst="rect">
            <a:avLst/>
          </a:prstGeom>
          <a:solidFill>
            <a:srgbClr val="F3F3F3"/>
          </a:solidFill>
          <a:ln w="12700">
            <a:solidFill>
              <a:srgbClr val="F3F3F3"/>
            </a:solidFill>
            <a:prstDash val="solid"/>
          </a:ln>
        </p:spPr>
      </p:sp>
      <p:sp>
        <p:nvSpPr>
          <p:cNvPr id="26" name="Text 22"/>
          <p:cNvSpPr txBox="1"/>
          <p:nvPr/>
        </p:nvSpPr>
        <p:spPr>
          <a:xfrm>
            <a:off x="530352" y="2852928"/>
            <a:ext cx="256032" cy="292608"/>
          </a:xfrm>
          <a:prstGeom prst="rect">
            <a:avLst/>
          </a:prstGeom>
          <a:noFill/>
          <a:ln/>
        </p:spPr>
        <p:txBody>
          <a:bodyPr wrap="square" lIns="0" tIns="0" rIns="0" bIns="0" rtlCol="0" anchor="ctr"/>
          <a:lstStyle/>
          <a:p>
            <a:pPr algn="r" indent="0" marL="0">
              <a:buNone/>
            </a:pPr>
            <a:r>
              <a:rPr lang="en-US" sz="900" dirty="0">
                <a:solidFill>
                  <a:srgbClr val="999999"/>
                </a:solidFill>
                <a:latin typeface="Courier New" pitchFamily="34" charset="0"/>
                <a:ea typeface="Courier New" pitchFamily="34" charset="-122"/>
                <a:cs typeface="Courier New" pitchFamily="34" charset="-120"/>
              </a:rPr>
              <a:t>6</a:t>
            </a:r>
            <a:endParaRPr lang="en-US" sz="900" dirty="0"/>
          </a:p>
        </p:txBody>
      </p:sp>
      <p:sp>
        <p:nvSpPr>
          <p:cNvPr id="27" name="Text 23"/>
          <p:cNvSpPr txBox="1"/>
          <p:nvPr/>
        </p:nvSpPr>
        <p:spPr>
          <a:xfrm>
            <a:off x="896112" y="2852928"/>
            <a:ext cx="4251960" cy="292608"/>
          </a:xfrm>
          <a:prstGeom prst="rect">
            <a:avLst/>
          </a:prstGeom>
          <a:noFill/>
          <a:ln/>
        </p:spPr>
        <p:txBody>
          <a:bodyPr wrap="square" lIns="0" tIns="0" rIns="0" bIns="0" rtlCol="0" anchor="ctr"/>
          <a:lstStyle/>
          <a:p>
            <a:pPr indent="0" marL="0">
              <a:buNone/>
            </a:pPr>
            <a:r>
              <a:rPr lang="en-US" sz="1100" dirty="0">
                <a:solidFill>
                  <a:srgbClr val="1A5FB4"/>
                </a:solidFill>
                <a:latin typeface="Courier New" pitchFamily="34" charset="0"/>
                <a:ea typeface="Courier New" pitchFamily="34" charset="-122"/>
                <a:cs typeface="Courier New" pitchFamily="34" charset="-120"/>
              </a:rPr>
              <a:t>&lt;body&gt;</a:t>
            </a:r>
            <a:endParaRPr lang="en-US" sz="1100" dirty="0"/>
          </a:p>
        </p:txBody>
      </p:sp>
      <p:sp>
        <p:nvSpPr>
          <p:cNvPr id="28" name="Shape 24"/>
          <p:cNvSpPr/>
          <p:nvPr/>
        </p:nvSpPr>
        <p:spPr>
          <a:xfrm>
            <a:off x="530352" y="3182112"/>
            <a:ext cx="274320" cy="292608"/>
          </a:xfrm>
          <a:prstGeom prst="rect">
            <a:avLst/>
          </a:prstGeom>
          <a:solidFill>
            <a:srgbClr val="F3F3F3"/>
          </a:solidFill>
          <a:ln w="12700">
            <a:solidFill>
              <a:srgbClr val="F3F3F3"/>
            </a:solidFill>
            <a:prstDash val="solid"/>
          </a:ln>
        </p:spPr>
      </p:sp>
      <p:sp>
        <p:nvSpPr>
          <p:cNvPr id="29" name="Text 25"/>
          <p:cNvSpPr txBox="1"/>
          <p:nvPr/>
        </p:nvSpPr>
        <p:spPr>
          <a:xfrm>
            <a:off x="530352" y="3182112"/>
            <a:ext cx="256032" cy="292608"/>
          </a:xfrm>
          <a:prstGeom prst="rect">
            <a:avLst/>
          </a:prstGeom>
          <a:noFill/>
          <a:ln/>
        </p:spPr>
        <p:txBody>
          <a:bodyPr wrap="square" lIns="0" tIns="0" rIns="0" bIns="0" rtlCol="0" anchor="ctr"/>
          <a:lstStyle/>
          <a:p>
            <a:pPr algn="r" indent="0" marL="0">
              <a:buNone/>
            </a:pPr>
            <a:r>
              <a:rPr lang="en-US" sz="900" dirty="0">
                <a:solidFill>
                  <a:srgbClr val="999999"/>
                </a:solidFill>
                <a:latin typeface="Courier New" pitchFamily="34" charset="0"/>
                <a:ea typeface="Courier New" pitchFamily="34" charset="-122"/>
                <a:cs typeface="Courier New" pitchFamily="34" charset="-120"/>
              </a:rPr>
              <a:t>7</a:t>
            </a:r>
            <a:endParaRPr lang="en-US" sz="900" dirty="0"/>
          </a:p>
        </p:txBody>
      </p:sp>
      <p:sp>
        <p:nvSpPr>
          <p:cNvPr id="30" name="Text 26"/>
          <p:cNvSpPr txBox="1"/>
          <p:nvPr/>
        </p:nvSpPr>
        <p:spPr>
          <a:xfrm>
            <a:off x="896112" y="3182112"/>
            <a:ext cx="4251960" cy="292608"/>
          </a:xfrm>
          <a:prstGeom prst="rect">
            <a:avLst/>
          </a:prstGeom>
          <a:noFill/>
          <a:ln/>
        </p:spPr>
        <p:txBody>
          <a:bodyPr wrap="square" lIns="0" tIns="0" rIns="0" bIns="0" rtlCol="0" anchor="ctr"/>
          <a:lstStyle/>
          <a:p>
            <a:pPr indent="0" marL="0">
              <a:buNone/>
            </a:pPr>
            <a:r>
              <a:rPr lang="en-US" sz="1100" dirty="0">
                <a:solidFill>
                  <a:srgbClr val="222222"/>
                </a:solidFill>
                <a:latin typeface="Courier New" pitchFamily="34" charset="0"/>
                <a:ea typeface="Courier New" pitchFamily="34" charset="-122"/>
                <a:cs typeface="Courier New" pitchFamily="34" charset="-120"/>
              </a:rPr>
              <a:t>  </a:t>
            </a:r>
            <a:pPr indent="0" marL="0">
              <a:buNone/>
            </a:pPr>
            <a:r>
              <a:rPr lang="en-US" sz="1100" dirty="0">
                <a:solidFill>
                  <a:srgbClr val="1A5FB4"/>
                </a:solidFill>
                <a:latin typeface="Courier New" pitchFamily="34" charset="0"/>
                <a:ea typeface="Courier New" pitchFamily="34" charset="-122"/>
                <a:cs typeface="Courier New" pitchFamily="34" charset="-120"/>
              </a:rPr>
              <a:t>&lt;h1&gt;</a:t>
            </a:r>
            <a:pPr indent="0" marL="0">
              <a:buNone/>
            </a:pPr>
            <a:r>
              <a:rPr lang="en-US" sz="1100" dirty="0">
                <a:solidFill>
                  <a:srgbClr val="222222"/>
                </a:solidFill>
                <a:latin typeface="Courier New" pitchFamily="34" charset="0"/>
                <a:ea typeface="Courier New" pitchFamily="34" charset="-122"/>
                <a:cs typeface="Courier New" pitchFamily="34" charset="-120"/>
              </a:rPr>
              <a:t>Assalamu'alaikum!</a:t>
            </a:r>
            <a:pPr indent="0" marL="0">
              <a:buNone/>
            </a:pPr>
            <a:r>
              <a:rPr lang="en-US" sz="1100" dirty="0">
                <a:solidFill>
                  <a:srgbClr val="1A5FB4"/>
                </a:solidFill>
                <a:latin typeface="Courier New" pitchFamily="34" charset="0"/>
                <a:ea typeface="Courier New" pitchFamily="34" charset="-122"/>
                <a:cs typeface="Courier New" pitchFamily="34" charset="-120"/>
              </a:rPr>
              <a:t>&lt;/h1&gt;</a:t>
            </a:r>
            <a:endParaRPr lang="en-US" sz="1100" dirty="0"/>
          </a:p>
        </p:txBody>
      </p:sp>
      <p:sp>
        <p:nvSpPr>
          <p:cNvPr id="31" name="Shape 27"/>
          <p:cNvSpPr/>
          <p:nvPr/>
        </p:nvSpPr>
        <p:spPr>
          <a:xfrm>
            <a:off x="530352" y="3511296"/>
            <a:ext cx="274320" cy="292608"/>
          </a:xfrm>
          <a:prstGeom prst="rect">
            <a:avLst/>
          </a:prstGeom>
          <a:solidFill>
            <a:srgbClr val="F3F3F3"/>
          </a:solidFill>
          <a:ln w="12700">
            <a:solidFill>
              <a:srgbClr val="F3F3F3"/>
            </a:solidFill>
            <a:prstDash val="solid"/>
          </a:ln>
        </p:spPr>
      </p:sp>
      <p:sp>
        <p:nvSpPr>
          <p:cNvPr id="32" name="Text 28"/>
          <p:cNvSpPr txBox="1"/>
          <p:nvPr/>
        </p:nvSpPr>
        <p:spPr>
          <a:xfrm>
            <a:off x="530352" y="3511296"/>
            <a:ext cx="256032" cy="292608"/>
          </a:xfrm>
          <a:prstGeom prst="rect">
            <a:avLst/>
          </a:prstGeom>
          <a:noFill/>
          <a:ln/>
        </p:spPr>
        <p:txBody>
          <a:bodyPr wrap="square" lIns="0" tIns="0" rIns="0" bIns="0" rtlCol="0" anchor="ctr"/>
          <a:lstStyle/>
          <a:p>
            <a:pPr algn="r" indent="0" marL="0">
              <a:buNone/>
            </a:pPr>
            <a:r>
              <a:rPr lang="en-US" sz="900" dirty="0">
                <a:solidFill>
                  <a:srgbClr val="999999"/>
                </a:solidFill>
                <a:latin typeface="Courier New" pitchFamily="34" charset="0"/>
                <a:ea typeface="Courier New" pitchFamily="34" charset="-122"/>
                <a:cs typeface="Courier New" pitchFamily="34" charset="-120"/>
              </a:rPr>
              <a:t>8</a:t>
            </a:r>
            <a:endParaRPr lang="en-US" sz="900" dirty="0"/>
          </a:p>
        </p:txBody>
      </p:sp>
      <p:sp>
        <p:nvSpPr>
          <p:cNvPr id="33" name="Text 29"/>
          <p:cNvSpPr txBox="1"/>
          <p:nvPr/>
        </p:nvSpPr>
        <p:spPr>
          <a:xfrm>
            <a:off x="896112" y="3511296"/>
            <a:ext cx="4251960" cy="292608"/>
          </a:xfrm>
          <a:prstGeom prst="rect">
            <a:avLst/>
          </a:prstGeom>
          <a:noFill/>
          <a:ln/>
        </p:spPr>
        <p:txBody>
          <a:bodyPr wrap="square" lIns="0" tIns="0" rIns="0" bIns="0" rtlCol="0" anchor="ctr"/>
          <a:lstStyle/>
          <a:p>
            <a:pPr indent="0" marL="0">
              <a:buNone/>
            </a:pPr>
            <a:r>
              <a:rPr lang="en-US" sz="1100" dirty="0">
                <a:solidFill>
                  <a:srgbClr val="222222"/>
                </a:solidFill>
                <a:latin typeface="Courier New" pitchFamily="34" charset="0"/>
                <a:ea typeface="Courier New" pitchFamily="34" charset="-122"/>
                <a:cs typeface="Courier New" pitchFamily="34" charset="-120"/>
              </a:rPr>
              <a:t>  </a:t>
            </a:r>
            <a:pPr indent="0" marL="0">
              <a:buNone/>
            </a:pPr>
            <a:r>
              <a:rPr lang="en-US" sz="1100" dirty="0">
                <a:solidFill>
                  <a:srgbClr val="1A5FB4"/>
                </a:solidFill>
                <a:latin typeface="Courier New" pitchFamily="34" charset="0"/>
                <a:ea typeface="Courier New" pitchFamily="34" charset="-122"/>
                <a:cs typeface="Courier New" pitchFamily="34" charset="-120"/>
              </a:rPr>
              <a:t>&lt;p&gt;</a:t>
            </a:r>
            <a:pPr indent="0" marL="0">
              <a:buNone/>
            </a:pPr>
            <a:r>
              <a:rPr lang="en-US" sz="1100" dirty="0">
                <a:solidFill>
                  <a:srgbClr val="222222"/>
                </a:solidFill>
                <a:latin typeface="Courier New" pitchFamily="34" charset="0"/>
                <a:ea typeface="Courier New" pitchFamily="34" charset="-122"/>
                <a:cs typeface="Courier New" pitchFamily="34" charset="-120"/>
              </a:rPr>
              <a:t>Nama saya Ahmad, santri Kelas 8A.</a:t>
            </a:r>
            <a:pPr indent="0" marL="0">
              <a:buNone/>
            </a:pPr>
            <a:r>
              <a:rPr lang="en-US" sz="1100" dirty="0">
                <a:solidFill>
                  <a:srgbClr val="1A5FB4"/>
                </a:solidFill>
                <a:latin typeface="Courier New" pitchFamily="34" charset="0"/>
                <a:ea typeface="Courier New" pitchFamily="34" charset="-122"/>
                <a:cs typeface="Courier New" pitchFamily="34" charset="-120"/>
              </a:rPr>
              <a:t>&lt;/p&gt;</a:t>
            </a:r>
            <a:endParaRPr lang="en-US" sz="1100" dirty="0"/>
          </a:p>
        </p:txBody>
      </p:sp>
      <p:sp>
        <p:nvSpPr>
          <p:cNvPr id="34" name="Shape 30"/>
          <p:cNvSpPr/>
          <p:nvPr/>
        </p:nvSpPr>
        <p:spPr>
          <a:xfrm>
            <a:off x="530352" y="3840480"/>
            <a:ext cx="274320" cy="292608"/>
          </a:xfrm>
          <a:prstGeom prst="rect">
            <a:avLst/>
          </a:prstGeom>
          <a:solidFill>
            <a:srgbClr val="F3F3F3"/>
          </a:solidFill>
          <a:ln w="12700">
            <a:solidFill>
              <a:srgbClr val="F3F3F3"/>
            </a:solidFill>
            <a:prstDash val="solid"/>
          </a:ln>
        </p:spPr>
      </p:sp>
      <p:sp>
        <p:nvSpPr>
          <p:cNvPr id="35" name="Text 31"/>
          <p:cNvSpPr txBox="1"/>
          <p:nvPr/>
        </p:nvSpPr>
        <p:spPr>
          <a:xfrm>
            <a:off x="530352" y="3840480"/>
            <a:ext cx="256032" cy="292608"/>
          </a:xfrm>
          <a:prstGeom prst="rect">
            <a:avLst/>
          </a:prstGeom>
          <a:noFill/>
          <a:ln/>
        </p:spPr>
        <p:txBody>
          <a:bodyPr wrap="square" lIns="0" tIns="0" rIns="0" bIns="0" rtlCol="0" anchor="ctr"/>
          <a:lstStyle/>
          <a:p>
            <a:pPr algn="r" indent="0" marL="0">
              <a:buNone/>
            </a:pPr>
            <a:r>
              <a:rPr lang="en-US" sz="900" dirty="0">
                <a:solidFill>
                  <a:srgbClr val="999999"/>
                </a:solidFill>
                <a:latin typeface="Courier New" pitchFamily="34" charset="0"/>
                <a:ea typeface="Courier New" pitchFamily="34" charset="-122"/>
                <a:cs typeface="Courier New" pitchFamily="34" charset="-120"/>
              </a:rPr>
              <a:t>9</a:t>
            </a:r>
            <a:endParaRPr lang="en-US" sz="900" dirty="0"/>
          </a:p>
        </p:txBody>
      </p:sp>
      <p:sp>
        <p:nvSpPr>
          <p:cNvPr id="36" name="Text 32"/>
          <p:cNvSpPr txBox="1"/>
          <p:nvPr/>
        </p:nvSpPr>
        <p:spPr>
          <a:xfrm>
            <a:off x="896112" y="3840480"/>
            <a:ext cx="4251960" cy="292608"/>
          </a:xfrm>
          <a:prstGeom prst="rect">
            <a:avLst/>
          </a:prstGeom>
          <a:noFill/>
          <a:ln/>
        </p:spPr>
        <p:txBody>
          <a:bodyPr wrap="square" lIns="0" tIns="0" rIns="0" bIns="0" rtlCol="0" anchor="ctr"/>
          <a:lstStyle/>
          <a:p>
            <a:pPr indent="0" marL="0">
              <a:buNone/>
            </a:pPr>
            <a:r>
              <a:rPr lang="en-US" sz="1100" dirty="0">
                <a:solidFill>
                  <a:srgbClr val="1A5FB4"/>
                </a:solidFill>
                <a:latin typeface="Courier New" pitchFamily="34" charset="0"/>
                <a:ea typeface="Courier New" pitchFamily="34" charset="-122"/>
                <a:cs typeface="Courier New" pitchFamily="34" charset="-120"/>
              </a:rPr>
              <a:t>&lt;/body&gt;</a:t>
            </a:r>
            <a:endParaRPr lang="en-US" sz="1100" dirty="0"/>
          </a:p>
        </p:txBody>
      </p:sp>
      <p:sp>
        <p:nvSpPr>
          <p:cNvPr id="37" name="Shape 33"/>
          <p:cNvSpPr/>
          <p:nvPr/>
        </p:nvSpPr>
        <p:spPr>
          <a:xfrm>
            <a:off x="530352" y="4169664"/>
            <a:ext cx="274320" cy="292608"/>
          </a:xfrm>
          <a:prstGeom prst="rect">
            <a:avLst/>
          </a:prstGeom>
          <a:solidFill>
            <a:srgbClr val="F3F3F3"/>
          </a:solidFill>
          <a:ln w="12700">
            <a:solidFill>
              <a:srgbClr val="F3F3F3"/>
            </a:solidFill>
            <a:prstDash val="solid"/>
          </a:ln>
        </p:spPr>
      </p:sp>
      <p:sp>
        <p:nvSpPr>
          <p:cNvPr id="38" name="Text 34"/>
          <p:cNvSpPr txBox="1"/>
          <p:nvPr/>
        </p:nvSpPr>
        <p:spPr>
          <a:xfrm>
            <a:off x="530352" y="4169664"/>
            <a:ext cx="256032" cy="292608"/>
          </a:xfrm>
          <a:prstGeom prst="rect">
            <a:avLst/>
          </a:prstGeom>
          <a:noFill/>
          <a:ln/>
        </p:spPr>
        <p:txBody>
          <a:bodyPr wrap="square" lIns="0" tIns="0" rIns="0" bIns="0" rtlCol="0" anchor="ctr"/>
          <a:lstStyle/>
          <a:p>
            <a:pPr algn="r" indent="0" marL="0">
              <a:buNone/>
            </a:pPr>
            <a:r>
              <a:rPr lang="en-US" sz="900" dirty="0">
                <a:solidFill>
                  <a:srgbClr val="999999"/>
                </a:solidFill>
                <a:latin typeface="Courier New" pitchFamily="34" charset="0"/>
                <a:ea typeface="Courier New" pitchFamily="34" charset="-122"/>
                <a:cs typeface="Courier New" pitchFamily="34" charset="-120"/>
              </a:rPr>
              <a:t>10</a:t>
            </a:r>
            <a:endParaRPr lang="en-US" sz="900" dirty="0"/>
          </a:p>
        </p:txBody>
      </p:sp>
      <p:sp>
        <p:nvSpPr>
          <p:cNvPr id="39" name="Text 35"/>
          <p:cNvSpPr txBox="1"/>
          <p:nvPr/>
        </p:nvSpPr>
        <p:spPr>
          <a:xfrm>
            <a:off x="896112" y="4169664"/>
            <a:ext cx="4251960" cy="292608"/>
          </a:xfrm>
          <a:prstGeom prst="rect">
            <a:avLst/>
          </a:prstGeom>
          <a:noFill/>
          <a:ln/>
        </p:spPr>
        <p:txBody>
          <a:bodyPr wrap="square" lIns="0" tIns="0" rIns="0" bIns="0" rtlCol="0" anchor="ctr"/>
          <a:lstStyle/>
          <a:p>
            <a:pPr indent="0" marL="0">
              <a:buNone/>
            </a:pPr>
            <a:r>
              <a:rPr lang="en-US" sz="1100" dirty="0">
                <a:solidFill>
                  <a:srgbClr val="1A5FB4"/>
                </a:solidFill>
                <a:latin typeface="Courier New" pitchFamily="34" charset="0"/>
                <a:ea typeface="Courier New" pitchFamily="34" charset="-122"/>
                <a:cs typeface="Courier New" pitchFamily="34" charset="-120"/>
              </a:rPr>
              <a:t>&lt;/html&gt;</a:t>
            </a:r>
            <a:endParaRPr lang="en-US" sz="1100" dirty="0"/>
          </a:p>
        </p:txBody>
      </p:sp>
      <p:sp>
        <p:nvSpPr>
          <p:cNvPr id="40" name="Shape 36"/>
          <p:cNvSpPr/>
          <p:nvPr/>
        </p:nvSpPr>
        <p:spPr>
          <a:xfrm>
            <a:off x="5486400" y="1078992"/>
            <a:ext cx="3200400" cy="777240"/>
          </a:xfrm>
          <a:prstGeom prst="roundRect">
            <a:avLst>
              <a:gd name="adj" fmla="val 9412"/>
            </a:avLst>
          </a:prstGeom>
          <a:solidFill>
            <a:srgbClr val="E6F2EC"/>
          </a:solidFill>
          <a:ln w="12700">
            <a:solidFill>
              <a:srgbClr val="E6F2EC"/>
            </a:solidFill>
            <a:prstDash val="solid"/>
          </a:ln>
        </p:spPr>
      </p:sp>
      <p:sp>
        <p:nvSpPr>
          <p:cNvPr id="41" name="Text 37"/>
          <p:cNvSpPr txBox="1"/>
          <p:nvPr/>
        </p:nvSpPr>
        <p:spPr>
          <a:xfrm>
            <a:off x="5623560" y="1124712"/>
            <a:ext cx="3017520" cy="274320"/>
          </a:xfrm>
          <a:prstGeom prst="rect">
            <a:avLst/>
          </a:prstGeom>
          <a:noFill/>
          <a:ln/>
        </p:spPr>
        <p:txBody>
          <a:bodyPr wrap="square" lIns="0" tIns="0" rIns="0" bIns="0" rtlCol="0" anchor="t"/>
          <a:lstStyle/>
          <a:p>
            <a:pPr indent="0" marL="0">
              <a:buNone/>
            </a:pPr>
            <a:r>
              <a:rPr lang="en-US" sz="1200" b="1" dirty="0">
                <a:solidFill>
                  <a:srgbClr val="1A5FB4"/>
                </a:solidFill>
                <a:latin typeface="Courier New" pitchFamily="34" charset="0"/>
                <a:ea typeface="Courier New" pitchFamily="34" charset="-122"/>
                <a:cs typeface="Courier New" pitchFamily="34" charset="-120"/>
              </a:rPr>
              <a:t>&lt;!DOCTYPE html&gt;</a:t>
            </a:r>
            <a:endParaRPr lang="en-US" sz="1200" dirty="0"/>
          </a:p>
        </p:txBody>
      </p:sp>
      <p:sp>
        <p:nvSpPr>
          <p:cNvPr id="42" name="Text 38"/>
          <p:cNvSpPr txBox="1"/>
          <p:nvPr/>
        </p:nvSpPr>
        <p:spPr>
          <a:xfrm>
            <a:off x="5623560" y="1399032"/>
            <a:ext cx="3017520" cy="41148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Penanda: ini dokumen HTML</a:t>
            </a:r>
            <a:endParaRPr lang="en-US" sz="1200" dirty="0"/>
          </a:p>
        </p:txBody>
      </p:sp>
      <p:sp>
        <p:nvSpPr>
          <p:cNvPr id="43" name="Shape 39"/>
          <p:cNvSpPr/>
          <p:nvPr/>
        </p:nvSpPr>
        <p:spPr>
          <a:xfrm>
            <a:off x="5486400" y="1920240"/>
            <a:ext cx="3200400" cy="777240"/>
          </a:xfrm>
          <a:prstGeom prst="roundRect">
            <a:avLst>
              <a:gd name="adj" fmla="val 9412"/>
            </a:avLst>
          </a:prstGeom>
          <a:solidFill>
            <a:srgbClr val="E6F2EC"/>
          </a:solidFill>
          <a:ln w="12700">
            <a:solidFill>
              <a:srgbClr val="E6F2EC"/>
            </a:solidFill>
            <a:prstDash val="solid"/>
          </a:ln>
        </p:spPr>
      </p:sp>
      <p:sp>
        <p:nvSpPr>
          <p:cNvPr id="44" name="Text 40"/>
          <p:cNvSpPr txBox="1"/>
          <p:nvPr/>
        </p:nvSpPr>
        <p:spPr>
          <a:xfrm>
            <a:off x="5623560" y="1965960"/>
            <a:ext cx="3017520" cy="274320"/>
          </a:xfrm>
          <a:prstGeom prst="rect">
            <a:avLst/>
          </a:prstGeom>
          <a:noFill/>
          <a:ln/>
        </p:spPr>
        <p:txBody>
          <a:bodyPr wrap="square" lIns="0" tIns="0" rIns="0" bIns="0" rtlCol="0" anchor="t"/>
          <a:lstStyle/>
          <a:p>
            <a:pPr indent="0" marL="0">
              <a:buNone/>
            </a:pPr>
            <a:r>
              <a:rPr lang="en-US" sz="1200" b="1" dirty="0">
                <a:solidFill>
                  <a:srgbClr val="1A5FB4"/>
                </a:solidFill>
                <a:latin typeface="Courier New" pitchFamily="34" charset="0"/>
                <a:ea typeface="Courier New" pitchFamily="34" charset="-122"/>
                <a:cs typeface="Courier New" pitchFamily="34" charset="-120"/>
              </a:rPr>
              <a:t>&lt;head&gt;</a:t>
            </a:r>
            <a:endParaRPr lang="en-US" sz="1200" dirty="0"/>
          </a:p>
        </p:txBody>
      </p:sp>
      <p:sp>
        <p:nvSpPr>
          <p:cNvPr id="45" name="Text 41"/>
          <p:cNvSpPr txBox="1"/>
          <p:nvPr/>
        </p:nvSpPr>
        <p:spPr>
          <a:xfrm>
            <a:off x="5623560" y="2240280"/>
            <a:ext cx="3017520" cy="41148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Kepala: info halaman, misal judul tab</a:t>
            </a:r>
            <a:endParaRPr lang="en-US" sz="1200" dirty="0"/>
          </a:p>
        </p:txBody>
      </p:sp>
      <p:sp>
        <p:nvSpPr>
          <p:cNvPr id="46" name="Shape 42"/>
          <p:cNvSpPr/>
          <p:nvPr/>
        </p:nvSpPr>
        <p:spPr>
          <a:xfrm>
            <a:off x="5486400" y="3108960"/>
            <a:ext cx="3200400" cy="777240"/>
          </a:xfrm>
          <a:prstGeom prst="roundRect">
            <a:avLst>
              <a:gd name="adj" fmla="val 9412"/>
            </a:avLst>
          </a:prstGeom>
          <a:solidFill>
            <a:srgbClr val="E6F2EC"/>
          </a:solidFill>
          <a:ln w="12700">
            <a:solidFill>
              <a:srgbClr val="E6F2EC"/>
            </a:solidFill>
            <a:prstDash val="solid"/>
          </a:ln>
        </p:spPr>
      </p:sp>
      <p:sp>
        <p:nvSpPr>
          <p:cNvPr id="47" name="Text 43"/>
          <p:cNvSpPr txBox="1"/>
          <p:nvPr/>
        </p:nvSpPr>
        <p:spPr>
          <a:xfrm>
            <a:off x="5623560" y="3154680"/>
            <a:ext cx="3017520" cy="274320"/>
          </a:xfrm>
          <a:prstGeom prst="rect">
            <a:avLst/>
          </a:prstGeom>
          <a:noFill/>
          <a:ln/>
        </p:spPr>
        <p:txBody>
          <a:bodyPr wrap="square" lIns="0" tIns="0" rIns="0" bIns="0" rtlCol="0" anchor="t"/>
          <a:lstStyle/>
          <a:p>
            <a:pPr indent="0" marL="0">
              <a:buNone/>
            </a:pPr>
            <a:r>
              <a:rPr lang="en-US" sz="1200" b="1" dirty="0">
                <a:solidFill>
                  <a:srgbClr val="1A5FB4"/>
                </a:solidFill>
                <a:latin typeface="Courier New" pitchFamily="34" charset="0"/>
                <a:ea typeface="Courier New" pitchFamily="34" charset="-122"/>
                <a:cs typeface="Courier New" pitchFamily="34" charset="-120"/>
              </a:rPr>
              <a:t>&lt;body&gt;</a:t>
            </a:r>
            <a:endParaRPr lang="en-US" sz="1200" dirty="0"/>
          </a:p>
        </p:txBody>
      </p:sp>
      <p:sp>
        <p:nvSpPr>
          <p:cNvPr id="48" name="Text 44"/>
          <p:cNvSpPr txBox="1"/>
          <p:nvPr/>
        </p:nvSpPr>
        <p:spPr>
          <a:xfrm>
            <a:off x="5623560" y="3429000"/>
            <a:ext cx="3017520" cy="41148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Badan: semua yang TAMPIL di layar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Halaman Web Pertama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Folder dan Notepad</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Mengetik dan menyimpan .html</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Membuka di browser dan mengubah</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Persiapan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Proyek</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Magazine_WU_Ed1</a:t>
            </a:r>
            <a:endParaRPr lang="en-US" sz="700" dirty="0"/>
          </a:p>
        </p:txBody>
      </p:sp>
      <p:pic>
        <p:nvPicPr>
          <p:cNvPr id="38"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39" name="Shape 28"/>
          <p:cNvSpPr/>
          <p:nvPr/>
        </p:nvSpPr>
        <p:spPr>
          <a:xfrm>
            <a:off x="2760025" y="2205373"/>
            <a:ext cx="786384" cy="182880"/>
          </a:xfrm>
          <a:prstGeom prst="rect">
            <a:avLst/>
          </a:prstGeom>
          <a:solidFill>
            <a:srgbClr val="FFFFFF"/>
          </a:solidFill>
          <a:ln w="12700">
            <a:solidFill>
              <a:srgbClr val="0078D4"/>
            </a:solidFill>
            <a:prstDash val="solid"/>
          </a:ln>
        </p:spPr>
      </p:sp>
      <p:sp>
        <p:nvSpPr>
          <p:cNvPr id="40" name="Text 29"/>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Website_Saya</a:t>
            </a:r>
            <a:endParaRPr lang="en-US" sz="700" dirty="0"/>
          </a:p>
        </p:txBody>
      </p:sp>
      <p:sp>
        <p:nvSpPr>
          <p:cNvPr id="41" name="Shape 30"/>
          <p:cNvSpPr/>
          <p:nvPr/>
        </p:nvSpPr>
        <p:spPr>
          <a:xfrm>
            <a:off x="2723449" y="1803037"/>
            <a:ext cx="859536" cy="676656"/>
          </a:xfrm>
          <a:prstGeom prst="roundRect">
            <a:avLst>
              <a:gd name="adj" fmla="val 6757"/>
            </a:avLst>
          </a:prstGeom>
          <a:solidFill>
            <a:srgbClr val="FFFFFF">
              <a:alpha val="0"/>
            </a:srgbClr>
          </a:solidFill>
          <a:ln w="31750">
            <a:solidFill>
              <a:srgbClr val="E53935"/>
            </a:solidFill>
            <a:prstDash val="solid"/>
          </a:ln>
        </p:spPr>
      </p:sp>
      <p:sp>
        <p:nvSpPr>
          <p:cNvPr id="42" name="Shape 31"/>
          <p:cNvSpPr/>
          <p:nvPr/>
        </p:nvSpPr>
        <p:spPr>
          <a:xfrm>
            <a:off x="3445825" y="1665877"/>
            <a:ext cx="274320" cy="274320"/>
          </a:xfrm>
          <a:prstGeom prst="ellipse">
            <a:avLst/>
          </a:prstGeom>
          <a:solidFill>
            <a:srgbClr val="E53935"/>
          </a:solidFill>
          <a:ln w="12700">
            <a:solidFill>
              <a:srgbClr val="FFFFFF"/>
            </a:solidFill>
            <a:prstDash val="solid"/>
          </a:ln>
        </p:spPr>
      </p:sp>
      <p:sp>
        <p:nvSpPr>
          <p:cNvPr id="43" name="Text 32"/>
          <p:cNvSpPr txBox="1"/>
          <p:nvPr/>
        </p:nvSpPr>
        <p:spPr>
          <a:xfrm>
            <a:off x="344582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4" name="Image 9" descr="preencoded.png">    </p:cNvPr>
          <p:cNvPicPr>
            <a:picLocks noChangeAspect="1"/>
          </p:cNvPicPr>
          <p:nvPr/>
        </p:nvPicPr>
        <p:blipFill>
          <a:blip r:embed="rId10"/>
          <a:stretch>
            <a:fillRect/>
          </a:stretch>
        </p:blipFill>
        <p:spPr>
          <a:xfrm>
            <a:off x="3192536" y="2171540"/>
            <a:ext cx="237744" cy="237744"/>
          </a:xfrm>
          <a:prstGeom prst="rect">
            <a:avLst/>
          </a:prstGeom>
        </p:spPr>
      </p:pic>
      <p:sp>
        <p:nvSpPr>
          <p:cNvPr id="45"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6"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folder Website_Saya</a:t>
            </a:r>
            <a:endParaRPr lang="en-US" sz="1800" dirty="0"/>
          </a:p>
        </p:txBody>
      </p:sp>
      <p:sp>
        <p:nvSpPr>
          <p:cNvPr id="47"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File Explorer › Documents › Portofolio_NamaKamu › Proyek. Buat folder baru: Website_Saya.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Persiapan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1619220" y="1502460"/>
            <a:ext cx="2888041" cy="2249186"/>
          </a:xfrm>
          <a:prstGeom prst="roundRect">
            <a:avLst>
              <a:gd name="adj" fmla="val 2439"/>
            </a:avLst>
          </a:prstGeom>
          <a:solidFill>
            <a:srgbClr val="FAFAFA"/>
          </a:solidFill>
          <a:ln w="9525">
            <a:solidFill>
              <a:srgbClr val="CCCCCC"/>
            </a:solidFill>
            <a:prstDash val="solid"/>
          </a:ln>
        </p:spPr>
      </p:sp>
      <p:sp>
        <p:nvSpPr>
          <p:cNvPr id="28" name="Shape 20"/>
          <p:cNvSpPr/>
          <p:nvPr/>
        </p:nvSpPr>
        <p:spPr>
          <a:xfrm>
            <a:off x="1756380" y="1612188"/>
            <a:ext cx="2613721" cy="237744"/>
          </a:xfrm>
          <a:prstGeom prst="roundRect">
            <a:avLst>
              <a:gd name="adj" fmla="val 46154"/>
            </a:avLst>
          </a:prstGeom>
          <a:solidFill>
            <a:srgbClr val="FFFFFF"/>
          </a:solidFill>
          <a:ln w="12700">
            <a:solidFill>
              <a:srgbClr val="0078D4"/>
            </a:solidFill>
            <a:prstDash val="solid"/>
          </a:ln>
        </p:spPr>
      </p:sp>
      <p:pic>
        <p:nvPicPr>
          <p:cNvPr id="29" name="Image 6" descr="preencoded.png">    </p:cNvPr>
          <p:cNvPicPr>
            <a:picLocks noChangeAspect="1"/>
          </p:cNvPicPr>
          <p:nvPr/>
        </p:nvPicPr>
        <p:blipFill>
          <a:blip r:embed="rId7"/>
          <a:stretch>
            <a:fillRect/>
          </a:stretch>
        </p:blipFill>
        <p:spPr>
          <a:xfrm>
            <a:off x="1829532" y="1667052"/>
            <a:ext cx="128016" cy="128016"/>
          </a:xfrm>
          <a:prstGeom prst="rect">
            <a:avLst/>
          </a:prstGeom>
        </p:spPr>
      </p:pic>
      <p:sp>
        <p:nvSpPr>
          <p:cNvPr id="30" name="Text 21"/>
          <p:cNvSpPr txBox="1"/>
          <p:nvPr/>
        </p:nvSpPr>
        <p:spPr>
          <a:xfrm>
            <a:off x="2030700" y="1612188"/>
            <a:ext cx="2293681" cy="237744"/>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notepad</a:t>
            </a:r>
            <a:endParaRPr lang="en-US" sz="800" dirty="0"/>
          </a:p>
        </p:txBody>
      </p:sp>
      <p:sp>
        <p:nvSpPr>
          <p:cNvPr id="31" name="Text 22"/>
          <p:cNvSpPr txBox="1"/>
          <p:nvPr/>
        </p:nvSpPr>
        <p:spPr>
          <a:xfrm>
            <a:off x="1802100" y="1959660"/>
            <a:ext cx="1371600" cy="182880"/>
          </a:xfrm>
          <a:prstGeom prst="rect">
            <a:avLst/>
          </a:prstGeom>
          <a:noFill/>
          <a:ln/>
        </p:spPr>
        <p:txBody>
          <a:bodyPr wrap="square" lIns="0" tIns="0" rIns="0" bIns="0" rtlCol="0" anchor="t"/>
          <a:lstStyle/>
          <a:p>
            <a:pPr indent="0" marL="0">
              <a:buNone/>
            </a:pPr>
            <a:r>
              <a:rPr lang="en-US" sz="700" b="1" dirty="0">
                <a:solidFill>
                  <a:srgbClr val="1E2A26"/>
                </a:solidFill>
                <a:latin typeface="Calibri" pitchFamily="34" charset="0"/>
                <a:ea typeface="Calibri" pitchFamily="34" charset="-122"/>
                <a:cs typeface="Calibri" pitchFamily="34" charset="-120"/>
              </a:rPr>
              <a:t>Best match</a:t>
            </a:r>
            <a:endParaRPr lang="en-US" sz="700" dirty="0"/>
          </a:p>
        </p:txBody>
      </p:sp>
      <p:sp>
        <p:nvSpPr>
          <p:cNvPr id="32" name="Shape 23"/>
          <p:cNvSpPr/>
          <p:nvPr/>
        </p:nvSpPr>
        <p:spPr>
          <a:xfrm>
            <a:off x="1756380" y="2160828"/>
            <a:ext cx="2613721" cy="384048"/>
          </a:xfrm>
          <a:prstGeom prst="roundRect">
            <a:avLst>
              <a:gd name="adj" fmla="val 11905"/>
            </a:avLst>
          </a:prstGeom>
          <a:solidFill>
            <a:srgbClr val="E5F1FB"/>
          </a:solidFill>
          <a:ln w="12700">
            <a:solidFill>
              <a:srgbClr val="E5F1FB"/>
            </a:solidFill>
            <a:prstDash val="solid"/>
          </a:ln>
        </p:spPr>
      </p:sp>
      <p:pic>
        <p:nvPicPr>
          <p:cNvPr id="33" name="Image 7" descr="preencoded.png">    </p:cNvPr>
          <p:cNvPicPr>
            <a:picLocks noChangeAspect="1"/>
          </p:cNvPicPr>
          <p:nvPr/>
        </p:nvPicPr>
        <p:blipFill>
          <a:blip r:embed="rId8"/>
          <a:stretch>
            <a:fillRect/>
          </a:stretch>
        </p:blipFill>
        <p:spPr>
          <a:xfrm>
            <a:off x="1847820" y="2233980"/>
            <a:ext cx="237744" cy="237744"/>
          </a:xfrm>
          <a:prstGeom prst="rect">
            <a:avLst/>
          </a:prstGeom>
        </p:spPr>
      </p:pic>
      <p:sp>
        <p:nvSpPr>
          <p:cNvPr id="34" name="Text 24"/>
          <p:cNvSpPr txBox="1"/>
          <p:nvPr/>
        </p:nvSpPr>
        <p:spPr>
          <a:xfrm>
            <a:off x="2167860" y="2206548"/>
            <a:ext cx="1828800" cy="310896"/>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Notepad</a:t>
            </a:r>
            <a:endParaRPr lang="en-US" sz="800" dirty="0"/>
          </a:p>
          <a:p>
            <a:pPr indent="0" marL="0">
              <a:buNone/>
            </a:pPr>
            <a:r>
              <a:rPr lang="en-US" sz="800" dirty="0">
                <a:solidFill>
                  <a:srgbClr val="666666"/>
                </a:solidFill>
                <a:latin typeface="Calibri" pitchFamily="34" charset="0"/>
                <a:ea typeface="Calibri" pitchFamily="34" charset="-122"/>
                <a:cs typeface="Calibri" pitchFamily="34" charset="-120"/>
              </a:rPr>
              <a:t>App</a:t>
            </a:r>
            <a:endParaRPr lang="en-US" sz="800" dirty="0"/>
          </a:p>
        </p:txBody>
      </p:sp>
      <p:sp>
        <p:nvSpPr>
          <p:cNvPr id="35" name="Shape 25"/>
          <p:cNvSpPr/>
          <p:nvPr/>
        </p:nvSpPr>
        <p:spPr>
          <a:xfrm>
            <a:off x="1619220" y="3367598"/>
            <a:ext cx="2888041" cy="0"/>
          </a:xfrm>
          <a:prstGeom prst="line">
            <a:avLst/>
          </a:prstGeom>
          <a:noFill/>
          <a:ln w="9525">
            <a:solidFill>
              <a:srgbClr val="DDDDDD"/>
            </a:solidFill>
            <a:prstDash val="solid"/>
          </a:ln>
        </p:spPr>
      </p:sp>
      <p:pic>
        <p:nvPicPr>
          <p:cNvPr id="36" name="Image 8" descr="preencoded.png">    </p:cNvPr>
          <p:cNvPicPr>
            <a:picLocks noChangeAspect="1"/>
          </p:cNvPicPr>
          <p:nvPr/>
        </p:nvPicPr>
        <p:blipFill>
          <a:blip r:embed="rId9"/>
          <a:stretch>
            <a:fillRect/>
          </a:stretch>
        </p:blipFill>
        <p:spPr>
          <a:xfrm>
            <a:off x="1802100" y="3440750"/>
            <a:ext cx="219456" cy="219456"/>
          </a:xfrm>
          <a:prstGeom prst="rect">
            <a:avLst/>
          </a:prstGeom>
        </p:spPr>
      </p:pic>
      <p:sp>
        <p:nvSpPr>
          <p:cNvPr id="37" name="Text 26"/>
          <p:cNvSpPr txBox="1"/>
          <p:nvPr/>
        </p:nvSpPr>
        <p:spPr>
          <a:xfrm>
            <a:off x="2076420" y="3440750"/>
            <a:ext cx="91440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Santri</a:t>
            </a:r>
            <a:endParaRPr lang="en-US" sz="800" dirty="0"/>
          </a:p>
        </p:txBody>
      </p:sp>
      <p:pic>
        <p:nvPicPr>
          <p:cNvPr id="38" name="Image 9" descr="preencoded.png">    </p:cNvPr>
          <p:cNvPicPr>
            <a:picLocks noChangeAspect="1"/>
          </p:cNvPicPr>
          <p:nvPr/>
        </p:nvPicPr>
        <p:blipFill>
          <a:blip r:embed="rId10"/>
          <a:stretch>
            <a:fillRect/>
          </a:stretch>
        </p:blipFill>
        <p:spPr>
          <a:xfrm>
            <a:off x="4095780" y="3440750"/>
            <a:ext cx="219456" cy="219456"/>
          </a:xfrm>
          <a:prstGeom prst="rect">
            <a:avLst/>
          </a:prstGeom>
        </p:spPr>
      </p:pic>
      <p:sp>
        <p:nvSpPr>
          <p:cNvPr id="39" name="Shape 27"/>
          <p:cNvSpPr/>
          <p:nvPr/>
        </p:nvSpPr>
        <p:spPr>
          <a:xfrm>
            <a:off x="1728948" y="2133396"/>
            <a:ext cx="2668585" cy="438912"/>
          </a:xfrm>
          <a:prstGeom prst="roundRect">
            <a:avLst>
              <a:gd name="adj" fmla="val 10417"/>
            </a:avLst>
          </a:prstGeom>
          <a:solidFill>
            <a:srgbClr val="FFFFFF">
              <a:alpha val="0"/>
            </a:srgbClr>
          </a:solidFill>
          <a:ln w="31750">
            <a:solidFill>
              <a:srgbClr val="E53935"/>
            </a:solidFill>
            <a:prstDash val="solid"/>
          </a:ln>
        </p:spPr>
      </p:sp>
      <p:sp>
        <p:nvSpPr>
          <p:cNvPr id="40" name="Shape 28"/>
          <p:cNvSpPr/>
          <p:nvPr/>
        </p:nvSpPr>
        <p:spPr>
          <a:xfrm>
            <a:off x="4260372" y="1996236"/>
            <a:ext cx="274320" cy="274320"/>
          </a:xfrm>
          <a:prstGeom prst="ellipse">
            <a:avLst/>
          </a:prstGeom>
          <a:solidFill>
            <a:srgbClr val="E53935"/>
          </a:solidFill>
          <a:ln w="12700">
            <a:solidFill>
              <a:srgbClr val="FFFFFF"/>
            </a:solidFill>
            <a:prstDash val="solid"/>
          </a:ln>
        </p:spPr>
      </p:sp>
      <p:sp>
        <p:nvSpPr>
          <p:cNvPr id="41" name="Text 29"/>
          <p:cNvSpPr txBox="1"/>
          <p:nvPr/>
        </p:nvSpPr>
        <p:spPr>
          <a:xfrm>
            <a:off x="4260372" y="199623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2" name="Image 10" descr="preencoded.png">    </p:cNvPr>
          <p:cNvPicPr>
            <a:picLocks noChangeAspect="1"/>
          </p:cNvPicPr>
          <p:nvPr/>
        </p:nvPicPr>
        <p:blipFill>
          <a:blip r:embed="rId11"/>
          <a:stretch>
            <a:fillRect/>
          </a:stretch>
        </p:blipFill>
        <p:spPr>
          <a:xfrm>
            <a:off x="3193926" y="2372054"/>
            <a:ext cx="237744" cy="237744"/>
          </a:xfrm>
          <a:prstGeom prst="rect">
            <a:avLst/>
          </a:prstGeom>
        </p:spPr>
      </p:pic>
      <p:sp>
        <p:nvSpPr>
          <p:cNvPr id="43" name="Text 3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4" name="Text 3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Notepad</a:t>
            </a:r>
            <a:endParaRPr lang="en-US" sz="1800" dirty="0"/>
          </a:p>
        </p:txBody>
      </p:sp>
      <p:sp>
        <p:nvSpPr>
          <p:cNvPr id="45" name="Text 3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Start, ketik notepad, tekan Enter.</a:t>
            </a:r>
            <a:endParaRPr lang="en-US" sz="1300" dirty="0"/>
          </a:p>
        </p:txBody>
      </p:sp>
      <p:sp>
        <p:nvSpPr>
          <p:cNvPr id="46" name="Shape 33"/>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7"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48" name="Text 34"/>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ada Visual Studio Code, boleh dipakai. Langkahnya serupa.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Mengetik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Untitled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&lt;!DOCTYPE html&gt;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&lt;html&gt;</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31" name="Text 27"/>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2" name="Text 28"/>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pPr indent="0" marL="0">
              <a:buNone/>
            </a:pPr>
            <a:r>
              <a:rPr lang="en-US" sz="900" dirty="0">
                <a:solidFill>
                  <a:srgbClr val="222222"/>
                </a:solidFill>
                <a:latin typeface="Courier New" pitchFamily="34" charset="0"/>
                <a:ea typeface="Courier New" pitchFamily="34" charset="-122"/>
                <a:cs typeface="Courier New" pitchFamily="34" charset="-120"/>
              </a:rPr>
              <a:t>Profil Santri</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endParaRPr lang="en-US" sz="900" dirty="0"/>
          </a:p>
        </p:txBody>
      </p:sp>
      <p:sp>
        <p:nvSpPr>
          <p:cNvPr id="33" name="Text 29"/>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4" name="Text 30"/>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35" name="Text 31"/>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6" name="Text 32"/>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37" name="Text 33"/>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8" name="Text 34"/>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&lt;h1&gt;</a:t>
            </a:r>
            <a:pPr indent="0" marL="0">
              <a:buNone/>
            </a:pPr>
            <a:r>
              <a:rPr lang="en-US" sz="900" dirty="0">
                <a:solidFill>
                  <a:srgbClr val="222222"/>
                </a:solidFill>
                <a:latin typeface="Courier New" pitchFamily="34" charset="0"/>
                <a:ea typeface="Courier New" pitchFamily="34" charset="-122"/>
                <a:cs typeface="Courier New" pitchFamily="34" charset="-120"/>
              </a:rPr>
              <a:t>Assalamu'alaikum!</a:t>
            </a:r>
            <a:pPr indent="0" marL="0">
              <a:buNone/>
            </a:pPr>
            <a:r>
              <a:rPr lang="en-US" sz="900" dirty="0">
                <a:solidFill>
                  <a:srgbClr val="1A5FB4"/>
                </a:solidFill>
                <a:latin typeface="Courier New" pitchFamily="34" charset="0"/>
                <a:ea typeface="Courier New" pitchFamily="34" charset="-122"/>
                <a:cs typeface="Courier New" pitchFamily="34" charset="-120"/>
              </a:rPr>
              <a:t>&lt;/h1&gt;</a:t>
            </a:r>
            <a:endParaRPr lang="en-US" sz="900" dirty="0"/>
          </a:p>
        </p:txBody>
      </p:sp>
      <p:sp>
        <p:nvSpPr>
          <p:cNvPr id="39" name="Text 35"/>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0" name="Text 36"/>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Nama saya Ahmad, santri Kelas 8A.</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41" name="Text 37"/>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2" name="Text 38"/>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43" name="Text 39"/>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44" name="Text 40"/>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&lt;/html&gt;</a:t>
            </a:r>
            <a:endParaRPr lang="en-US" sz="900" dirty="0"/>
          </a:p>
        </p:txBody>
      </p:sp>
      <p:sp>
        <p:nvSpPr>
          <p:cNvPr id="45" name="Shape 41"/>
          <p:cNvSpPr/>
          <p:nvPr/>
        </p:nvSpPr>
        <p:spPr>
          <a:xfrm>
            <a:off x="913668" y="1643264"/>
            <a:ext cx="4555175" cy="1773936"/>
          </a:xfrm>
          <a:prstGeom prst="roundRect">
            <a:avLst>
              <a:gd name="adj" fmla="val 2577"/>
            </a:avLst>
          </a:prstGeom>
          <a:solidFill>
            <a:srgbClr val="FFFFFF">
              <a:alpha val="0"/>
            </a:srgbClr>
          </a:solidFill>
          <a:ln w="31750">
            <a:solidFill>
              <a:srgbClr val="E53935"/>
            </a:solidFill>
            <a:prstDash val="solid"/>
          </a:ln>
        </p:spPr>
      </p:sp>
      <p:sp>
        <p:nvSpPr>
          <p:cNvPr id="46" name="Shape 42"/>
          <p:cNvSpPr/>
          <p:nvPr/>
        </p:nvSpPr>
        <p:spPr>
          <a:xfrm>
            <a:off x="5331684" y="1506104"/>
            <a:ext cx="274320" cy="274320"/>
          </a:xfrm>
          <a:prstGeom prst="ellipse">
            <a:avLst/>
          </a:prstGeom>
          <a:solidFill>
            <a:srgbClr val="E53935"/>
          </a:solidFill>
          <a:ln w="12700">
            <a:solidFill>
              <a:srgbClr val="FFFFFF"/>
            </a:solidFill>
            <a:prstDash val="solid"/>
          </a:ln>
        </p:spPr>
      </p:sp>
      <p:sp>
        <p:nvSpPr>
          <p:cNvPr id="47" name="Text 43"/>
          <p:cNvSpPr txBox="1"/>
          <p:nvPr/>
        </p:nvSpPr>
        <p:spPr>
          <a:xfrm>
            <a:off x="5331684" y="1506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8" name="Image 2" descr="preencoded.png">    </p:cNvPr>
          <p:cNvPicPr>
            <a:picLocks noChangeAspect="1"/>
          </p:cNvPicPr>
          <p:nvPr/>
        </p:nvPicPr>
        <p:blipFill>
          <a:blip r:embed="rId3"/>
          <a:stretch>
            <a:fillRect/>
          </a:stretch>
        </p:blipFill>
        <p:spPr>
          <a:xfrm>
            <a:off x="3417186" y="2617100"/>
            <a:ext cx="237744" cy="237744"/>
          </a:xfrm>
          <a:prstGeom prst="rect">
            <a:avLst/>
          </a:prstGeom>
        </p:spPr>
      </p:pic>
      <p:sp>
        <p:nvSpPr>
          <p:cNvPr id="49" name="Text 4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0" name="Text 4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struktur dasar HTML</a:t>
            </a:r>
            <a:endParaRPr lang="en-US" sz="1800" dirty="0"/>
          </a:p>
        </p:txBody>
      </p:sp>
      <p:sp>
        <p:nvSpPr>
          <p:cNvPr id="51" name="Text 4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kode persis seperti di gambar. Perhatikan tanda &lt; &gt; dan /. Gunakan spasi untuk menjorokkan baris di dalam head dan body.</a:t>
            </a:r>
            <a:endParaRPr lang="en-US" sz="1300" dirty="0"/>
          </a:p>
        </p:txBody>
      </p:sp>
      <p:sp>
        <p:nvSpPr>
          <p:cNvPr id="52" name="Shape 4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3" name="Image 3" descr="preencoded.png">    </p:cNvPr>
          <p:cNvPicPr>
            <a:picLocks noChangeAspect="1"/>
          </p:cNvPicPr>
          <p:nvPr/>
        </p:nvPicPr>
        <p:blipFill>
          <a:blip r:embed="rId4"/>
          <a:stretch>
            <a:fillRect/>
          </a:stretch>
        </p:blipFill>
        <p:spPr>
          <a:xfrm>
            <a:off x="6108192" y="3721608"/>
            <a:ext cx="201168" cy="201168"/>
          </a:xfrm>
          <a:prstGeom prst="rect">
            <a:avLst/>
          </a:prstGeom>
        </p:spPr>
      </p:pic>
      <p:sp>
        <p:nvSpPr>
          <p:cNvPr id="54" name="Text 4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Tanda &lt; dan &gt; ada di tombol koma dan titik (tahan Shift).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Menyimpan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Untitled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&lt;!DOCTYPE html&gt;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&lt;html&gt;</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31" name="Text 27"/>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2" name="Text 28"/>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pPr indent="0" marL="0">
              <a:buNone/>
            </a:pPr>
            <a:r>
              <a:rPr lang="en-US" sz="900" dirty="0">
                <a:solidFill>
                  <a:srgbClr val="222222"/>
                </a:solidFill>
                <a:latin typeface="Courier New" pitchFamily="34" charset="0"/>
                <a:ea typeface="Courier New" pitchFamily="34" charset="-122"/>
                <a:cs typeface="Courier New" pitchFamily="34" charset="-120"/>
              </a:rPr>
              <a:t>Profil Santri</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endParaRPr lang="en-US" sz="900" dirty="0"/>
          </a:p>
        </p:txBody>
      </p:sp>
      <p:sp>
        <p:nvSpPr>
          <p:cNvPr id="33" name="Text 29"/>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4" name="Text 30"/>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35" name="Text 31"/>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6" name="Text 32"/>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37" name="Text 33"/>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8" name="Text 34"/>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&lt;h1&gt;</a:t>
            </a:r>
            <a:pPr indent="0" marL="0">
              <a:buNone/>
            </a:pPr>
            <a:r>
              <a:rPr lang="en-US" sz="900" dirty="0">
                <a:solidFill>
                  <a:srgbClr val="222222"/>
                </a:solidFill>
                <a:latin typeface="Courier New" pitchFamily="34" charset="0"/>
                <a:ea typeface="Courier New" pitchFamily="34" charset="-122"/>
                <a:cs typeface="Courier New" pitchFamily="34" charset="-120"/>
              </a:rPr>
              <a:t>Assalamu'alaikum!</a:t>
            </a:r>
            <a:pPr indent="0" marL="0">
              <a:buNone/>
            </a:pPr>
            <a:r>
              <a:rPr lang="en-US" sz="900" dirty="0">
                <a:solidFill>
                  <a:srgbClr val="1A5FB4"/>
                </a:solidFill>
                <a:latin typeface="Courier New" pitchFamily="34" charset="0"/>
                <a:ea typeface="Courier New" pitchFamily="34" charset="-122"/>
                <a:cs typeface="Courier New" pitchFamily="34" charset="-120"/>
              </a:rPr>
              <a:t>&lt;/h1&gt;</a:t>
            </a:r>
            <a:endParaRPr lang="en-US" sz="900" dirty="0"/>
          </a:p>
        </p:txBody>
      </p:sp>
      <p:sp>
        <p:nvSpPr>
          <p:cNvPr id="39" name="Text 35"/>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0" name="Text 36"/>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Nama saya Ahmad, santri Kelas 8A.</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41" name="Text 37"/>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2" name="Text 38"/>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43" name="Text 39"/>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44" name="Text 40"/>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&lt;/html&gt;</a:t>
            </a:r>
            <a:endParaRPr lang="en-US" sz="900" dirty="0"/>
          </a:p>
        </p:txBody>
      </p:sp>
      <p:sp>
        <p:nvSpPr>
          <p:cNvPr id="45" name="Shape 41"/>
          <p:cNvSpPr/>
          <p:nvPr/>
        </p:nvSpPr>
        <p:spPr>
          <a:xfrm>
            <a:off x="685068" y="1615832"/>
            <a:ext cx="1188720" cy="1060704"/>
          </a:xfrm>
          <a:prstGeom prst="rect">
            <a:avLst/>
          </a:prstGeom>
          <a:solidFill>
            <a:srgbClr val="FFFFFF"/>
          </a:solidFill>
          <a:ln w="9525">
            <a:solidFill>
              <a:srgbClr val="AAAAAA"/>
            </a:solidFill>
            <a:prstDash val="solid"/>
          </a:ln>
        </p:spPr>
      </p:sp>
      <p:sp>
        <p:nvSpPr>
          <p:cNvPr id="46" name="Text 42"/>
          <p:cNvSpPr txBox="1"/>
          <p:nvPr/>
        </p:nvSpPr>
        <p:spPr>
          <a:xfrm>
            <a:off x="794796" y="1643264"/>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a:t>
            </a:r>
            <a:endParaRPr lang="en-US" sz="800" dirty="0"/>
          </a:p>
        </p:txBody>
      </p:sp>
      <p:sp>
        <p:nvSpPr>
          <p:cNvPr id="47" name="Text 43"/>
          <p:cNvSpPr txBox="1"/>
          <p:nvPr/>
        </p:nvSpPr>
        <p:spPr>
          <a:xfrm>
            <a:off x="794796" y="1844432"/>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Open...</a:t>
            </a:r>
            <a:endParaRPr lang="en-US" sz="800" dirty="0"/>
          </a:p>
        </p:txBody>
      </p:sp>
      <p:sp>
        <p:nvSpPr>
          <p:cNvPr id="48" name="Text 44"/>
          <p:cNvSpPr txBox="1"/>
          <p:nvPr/>
        </p:nvSpPr>
        <p:spPr>
          <a:xfrm>
            <a:off x="794796" y="2045600"/>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Save</a:t>
            </a:r>
            <a:endParaRPr lang="en-US" sz="800" dirty="0"/>
          </a:p>
        </p:txBody>
      </p:sp>
      <p:sp>
        <p:nvSpPr>
          <p:cNvPr id="49" name="Text 45"/>
          <p:cNvSpPr txBox="1"/>
          <p:nvPr/>
        </p:nvSpPr>
        <p:spPr>
          <a:xfrm>
            <a:off x="794796" y="2246768"/>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Save As...</a:t>
            </a:r>
            <a:endParaRPr lang="en-US" sz="800" dirty="0"/>
          </a:p>
        </p:txBody>
      </p:sp>
      <p:sp>
        <p:nvSpPr>
          <p:cNvPr id="50" name="Text 46"/>
          <p:cNvSpPr txBox="1"/>
          <p:nvPr/>
        </p:nvSpPr>
        <p:spPr>
          <a:xfrm>
            <a:off x="794796" y="2447936"/>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Exit</a:t>
            </a:r>
            <a:endParaRPr lang="en-US" sz="800" dirty="0"/>
          </a:p>
        </p:txBody>
      </p:sp>
      <p:sp>
        <p:nvSpPr>
          <p:cNvPr id="51" name="Shape 47"/>
          <p:cNvSpPr/>
          <p:nvPr/>
        </p:nvSpPr>
        <p:spPr>
          <a:xfrm>
            <a:off x="703356" y="2228480"/>
            <a:ext cx="1152144" cy="228600"/>
          </a:xfrm>
          <a:prstGeom prst="roundRect">
            <a:avLst>
              <a:gd name="adj" fmla="val 20000"/>
            </a:avLst>
          </a:prstGeom>
          <a:solidFill>
            <a:srgbClr val="FFFFFF">
              <a:alpha val="0"/>
            </a:srgbClr>
          </a:solidFill>
          <a:ln w="31750">
            <a:solidFill>
              <a:srgbClr val="E53935"/>
            </a:solidFill>
            <a:prstDash val="solid"/>
          </a:ln>
        </p:spPr>
      </p:sp>
      <p:sp>
        <p:nvSpPr>
          <p:cNvPr id="52" name="Shape 48"/>
          <p:cNvSpPr/>
          <p:nvPr/>
        </p:nvSpPr>
        <p:spPr>
          <a:xfrm>
            <a:off x="1718340" y="2091320"/>
            <a:ext cx="274320" cy="274320"/>
          </a:xfrm>
          <a:prstGeom prst="ellipse">
            <a:avLst/>
          </a:prstGeom>
          <a:solidFill>
            <a:srgbClr val="E53935"/>
          </a:solidFill>
          <a:ln w="12700">
            <a:solidFill>
              <a:srgbClr val="FFFFFF"/>
            </a:solidFill>
            <a:prstDash val="solid"/>
          </a:ln>
        </p:spPr>
      </p:sp>
      <p:sp>
        <p:nvSpPr>
          <p:cNvPr id="53" name="Text 49"/>
          <p:cNvSpPr txBox="1"/>
          <p:nvPr/>
        </p:nvSpPr>
        <p:spPr>
          <a:xfrm>
            <a:off x="1718340" y="20913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54" name="Image 2" descr="preencoded.png">    </p:cNvPr>
          <p:cNvPicPr>
            <a:picLocks noChangeAspect="1"/>
          </p:cNvPicPr>
          <p:nvPr/>
        </p:nvPicPr>
        <p:blipFill>
          <a:blip r:embed="rId3"/>
          <a:stretch>
            <a:fillRect/>
          </a:stretch>
        </p:blipFill>
        <p:spPr>
          <a:xfrm>
            <a:off x="1335207" y="2352381"/>
            <a:ext cx="237744" cy="237744"/>
          </a:xfrm>
          <a:prstGeom prst="rect">
            <a:avLst/>
          </a:prstGeom>
        </p:spPr>
      </p:pic>
      <p:sp>
        <p:nvSpPr>
          <p:cNvPr id="55" name="Text 5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6" name="Text 5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File › Save As</a:t>
            </a:r>
            <a:endParaRPr lang="en-US" sz="1800" dirty="0"/>
          </a:p>
        </p:txBody>
      </p:sp>
      <p:sp>
        <p:nvSpPr>
          <p:cNvPr id="57" name="Text 5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menu File › Save As.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Menyimpan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1000354" y="1272685"/>
            <a:ext cx="4125773" cy="2426754"/>
          </a:xfrm>
          <a:prstGeom prst="rect">
            <a:avLst/>
          </a:prstGeom>
          <a:solidFill>
            <a:srgbClr val="FFFFFF"/>
          </a:solidFill>
          <a:ln w="9525">
            <a:solidFill>
              <a:srgbClr val="999999"/>
            </a:solidFill>
            <a:prstDash val="solid"/>
          </a:ln>
        </p:spPr>
      </p:sp>
      <p:sp>
        <p:nvSpPr>
          <p:cNvPr id="17" name="Shape 13"/>
          <p:cNvSpPr/>
          <p:nvPr/>
        </p:nvSpPr>
        <p:spPr>
          <a:xfrm>
            <a:off x="1000354" y="1272685"/>
            <a:ext cx="4125773" cy="219456"/>
          </a:xfrm>
          <a:prstGeom prst="rect">
            <a:avLst/>
          </a:prstGeom>
          <a:solidFill>
            <a:srgbClr val="F0F0F0"/>
          </a:solidFill>
          <a:ln w="12700">
            <a:solidFill>
              <a:srgbClr val="F0F0F0"/>
            </a:solidFill>
            <a:prstDash val="solid"/>
          </a:ln>
        </p:spPr>
      </p:sp>
      <p:sp>
        <p:nvSpPr>
          <p:cNvPr id="18" name="Text 14"/>
          <p:cNvSpPr txBox="1"/>
          <p:nvPr/>
        </p:nvSpPr>
        <p:spPr>
          <a:xfrm>
            <a:off x="1091794" y="1272685"/>
            <a:ext cx="321137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Save As</a:t>
            </a:r>
            <a:endParaRPr lang="en-US" sz="750" dirty="0"/>
          </a:p>
        </p:txBody>
      </p:sp>
      <p:sp>
        <p:nvSpPr>
          <p:cNvPr id="19" name="Text 15"/>
          <p:cNvSpPr txBox="1"/>
          <p:nvPr/>
        </p:nvSpPr>
        <p:spPr>
          <a:xfrm>
            <a:off x="4303166"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577486"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4851806"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1091794" y="1547005"/>
            <a:ext cx="3942893" cy="182880"/>
          </a:xfrm>
          <a:prstGeom prst="rect">
            <a:avLst/>
          </a:prstGeom>
          <a:solidFill>
            <a:srgbClr val="FFFFFF"/>
          </a:solidFill>
          <a:ln w="9525">
            <a:solidFill>
              <a:srgbClr val="CCCCCC"/>
            </a:solidFill>
            <a:prstDash val="solid"/>
          </a:ln>
        </p:spPr>
      </p:sp>
      <p:sp>
        <p:nvSpPr>
          <p:cNvPr id="23" name="Text 19"/>
          <p:cNvSpPr txBox="1"/>
          <p:nvPr/>
        </p:nvSpPr>
        <p:spPr>
          <a:xfrm>
            <a:off x="1164946" y="1547005"/>
            <a:ext cx="3942893"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Proyek  ›  Website_Saya</a:t>
            </a:r>
            <a:endParaRPr lang="en-US" sz="750" dirty="0"/>
          </a:p>
        </p:txBody>
      </p:sp>
      <p:sp>
        <p:nvSpPr>
          <p:cNvPr id="24" name="Text 20"/>
          <p:cNvSpPr txBox="1"/>
          <p:nvPr/>
        </p:nvSpPr>
        <p:spPr>
          <a:xfrm>
            <a:off x="1183234" y="2004205"/>
            <a:ext cx="2286000" cy="228600"/>
          </a:xfrm>
          <a:prstGeom prst="rect">
            <a:avLst/>
          </a:prstGeom>
          <a:noFill/>
          <a:ln/>
        </p:spPr>
        <p:txBody>
          <a:bodyPr wrap="square" lIns="0" tIns="0" rIns="0" bIns="0" rtlCol="0" anchor="t"/>
          <a:lstStyle/>
          <a:p>
            <a:pPr indent="0" marL="0">
              <a:buNone/>
            </a:pPr>
            <a:r>
              <a:rPr lang="en-US" sz="800" i="1" dirty="0">
                <a:solidFill>
                  <a:srgbClr val="888888"/>
                </a:solidFill>
                <a:latin typeface="Calibri" pitchFamily="34" charset="0"/>
                <a:ea typeface="Calibri" pitchFamily="34" charset="-122"/>
                <a:cs typeface="Calibri" pitchFamily="34" charset="-120"/>
              </a:rPr>
              <a:t>(folder masih kosong)</a:t>
            </a:r>
            <a:endParaRPr lang="en-US" sz="800" dirty="0"/>
          </a:p>
        </p:txBody>
      </p:sp>
      <p:sp>
        <p:nvSpPr>
          <p:cNvPr id="25" name="Text 21"/>
          <p:cNvSpPr txBox="1"/>
          <p:nvPr/>
        </p:nvSpPr>
        <p:spPr>
          <a:xfrm>
            <a:off x="1137514" y="3132510"/>
            <a:ext cx="73152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File name:</a:t>
            </a:r>
            <a:endParaRPr lang="en-US" sz="800" dirty="0"/>
          </a:p>
        </p:txBody>
      </p:sp>
      <p:sp>
        <p:nvSpPr>
          <p:cNvPr id="26" name="Shape 22"/>
          <p:cNvSpPr/>
          <p:nvPr/>
        </p:nvSpPr>
        <p:spPr>
          <a:xfrm>
            <a:off x="1869034" y="3132510"/>
            <a:ext cx="3028493" cy="201168"/>
          </a:xfrm>
          <a:prstGeom prst="rect">
            <a:avLst/>
          </a:prstGeom>
          <a:solidFill>
            <a:srgbClr val="FFFFFF"/>
          </a:solidFill>
          <a:ln w="12700">
            <a:solidFill>
              <a:srgbClr val="0078D4"/>
            </a:solidFill>
            <a:prstDash val="solid"/>
          </a:ln>
        </p:spPr>
      </p:sp>
      <p:sp>
        <p:nvSpPr>
          <p:cNvPr id="27" name="Text 23"/>
          <p:cNvSpPr txBox="1"/>
          <p:nvPr/>
        </p:nvSpPr>
        <p:spPr>
          <a:xfrm>
            <a:off x="1923898" y="3132510"/>
            <a:ext cx="3028493"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index.html</a:t>
            </a:r>
            <a:endParaRPr lang="en-US" sz="800" dirty="0"/>
          </a:p>
        </p:txBody>
      </p:sp>
      <p:sp>
        <p:nvSpPr>
          <p:cNvPr id="28" name="Shape 24"/>
          <p:cNvSpPr/>
          <p:nvPr/>
        </p:nvSpPr>
        <p:spPr>
          <a:xfrm>
            <a:off x="3937406" y="3406830"/>
            <a:ext cx="502920" cy="201168"/>
          </a:xfrm>
          <a:prstGeom prst="roundRect">
            <a:avLst>
              <a:gd name="adj" fmla="val 13636"/>
            </a:avLst>
          </a:prstGeom>
          <a:solidFill>
            <a:srgbClr val="0078D4"/>
          </a:solidFill>
          <a:ln w="12700">
            <a:solidFill>
              <a:srgbClr val="0078D4"/>
            </a:solidFill>
            <a:prstDash val="solid"/>
          </a:ln>
        </p:spPr>
      </p:sp>
      <p:sp>
        <p:nvSpPr>
          <p:cNvPr id="29" name="Text 25"/>
          <p:cNvSpPr txBox="1"/>
          <p:nvPr/>
        </p:nvSpPr>
        <p:spPr>
          <a:xfrm>
            <a:off x="3937406" y="3406830"/>
            <a:ext cx="502920" cy="2011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Save</a:t>
            </a:r>
            <a:endParaRPr lang="en-US" sz="800" dirty="0"/>
          </a:p>
        </p:txBody>
      </p:sp>
      <p:sp>
        <p:nvSpPr>
          <p:cNvPr id="30" name="Shape 26"/>
          <p:cNvSpPr/>
          <p:nvPr/>
        </p:nvSpPr>
        <p:spPr>
          <a:xfrm>
            <a:off x="4504334" y="3406830"/>
            <a:ext cx="502920" cy="201168"/>
          </a:xfrm>
          <a:prstGeom prst="roundRect">
            <a:avLst>
              <a:gd name="adj" fmla="val 13636"/>
            </a:avLst>
          </a:prstGeom>
          <a:solidFill>
            <a:srgbClr val="EEEEEE"/>
          </a:solidFill>
          <a:ln w="12700">
            <a:solidFill>
              <a:srgbClr val="EEEEEE"/>
            </a:solidFill>
            <a:prstDash val="solid"/>
          </a:ln>
        </p:spPr>
      </p:sp>
      <p:sp>
        <p:nvSpPr>
          <p:cNvPr id="31" name="Text 27"/>
          <p:cNvSpPr txBox="1"/>
          <p:nvPr/>
        </p:nvSpPr>
        <p:spPr>
          <a:xfrm>
            <a:off x="4504334" y="3406830"/>
            <a:ext cx="502920" cy="201168"/>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Cancel</a:t>
            </a:r>
            <a:endParaRPr lang="en-US" sz="800" dirty="0"/>
          </a:p>
        </p:txBody>
      </p:sp>
      <p:sp>
        <p:nvSpPr>
          <p:cNvPr id="32" name="Shape 28"/>
          <p:cNvSpPr/>
          <p:nvPr/>
        </p:nvSpPr>
        <p:spPr>
          <a:xfrm>
            <a:off x="1869034" y="3388542"/>
            <a:ext cx="1463040" cy="182880"/>
          </a:xfrm>
          <a:prstGeom prst="rect">
            <a:avLst/>
          </a:prstGeom>
          <a:solidFill>
            <a:srgbClr val="FFFFFF"/>
          </a:solidFill>
          <a:ln w="9525">
            <a:solidFill>
              <a:srgbClr val="999999"/>
            </a:solidFill>
            <a:prstDash val="solid"/>
          </a:ln>
        </p:spPr>
      </p:sp>
      <p:sp>
        <p:nvSpPr>
          <p:cNvPr id="33" name="Text 29"/>
          <p:cNvSpPr txBox="1"/>
          <p:nvPr/>
        </p:nvSpPr>
        <p:spPr>
          <a:xfrm>
            <a:off x="1905610" y="3388542"/>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Save as type: All files (*.*) ▾</a:t>
            </a:r>
            <a:endParaRPr lang="en-US" sz="650" dirty="0"/>
          </a:p>
        </p:txBody>
      </p:sp>
      <p:sp>
        <p:nvSpPr>
          <p:cNvPr id="34" name="Shape 30"/>
          <p:cNvSpPr/>
          <p:nvPr/>
        </p:nvSpPr>
        <p:spPr>
          <a:xfrm>
            <a:off x="1850746" y="3114222"/>
            <a:ext cx="3065069" cy="237744"/>
          </a:xfrm>
          <a:prstGeom prst="roundRect">
            <a:avLst>
              <a:gd name="adj" fmla="val 19231"/>
            </a:avLst>
          </a:prstGeom>
          <a:solidFill>
            <a:srgbClr val="FFFFFF">
              <a:alpha val="0"/>
            </a:srgbClr>
          </a:solidFill>
          <a:ln w="31750">
            <a:solidFill>
              <a:srgbClr val="E53935"/>
            </a:solidFill>
            <a:prstDash val="solid"/>
          </a:ln>
        </p:spPr>
      </p:sp>
      <p:sp>
        <p:nvSpPr>
          <p:cNvPr id="35" name="Shape 31"/>
          <p:cNvSpPr/>
          <p:nvPr/>
        </p:nvSpPr>
        <p:spPr>
          <a:xfrm>
            <a:off x="4778654" y="2977062"/>
            <a:ext cx="274320" cy="274320"/>
          </a:xfrm>
          <a:prstGeom prst="ellipse">
            <a:avLst/>
          </a:prstGeom>
          <a:solidFill>
            <a:srgbClr val="E53935"/>
          </a:solidFill>
          <a:ln w="12700">
            <a:solidFill>
              <a:srgbClr val="FFFFFF"/>
            </a:solidFill>
            <a:prstDash val="solid"/>
          </a:ln>
        </p:spPr>
      </p:sp>
      <p:sp>
        <p:nvSpPr>
          <p:cNvPr id="36" name="Text 32"/>
          <p:cNvSpPr txBox="1"/>
          <p:nvPr/>
        </p:nvSpPr>
        <p:spPr>
          <a:xfrm>
            <a:off x="4778654" y="297706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37" name="Image 2" descr="preencoded.png">    </p:cNvPr>
          <p:cNvPicPr>
            <a:picLocks noChangeAspect="1"/>
          </p:cNvPicPr>
          <p:nvPr/>
        </p:nvPicPr>
        <p:blipFill>
          <a:blip r:embed="rId3"/>
          <a:stretch>
            <a:fillRect/>
          </a:stretch>
        </p:blipFill>
        <p:spPr>
          <a:xfrm>
            <a:off x="3534705" y="3243153"/>
            <a:ext cx="237744" cy="237744"/>
          </a:xfrm>
          <a:prstGeom prst="rect">
            <a:avLst/>
          </a:prstGeom>
        </p:spPr>
      </p:pic>
      <p:sp>
        <p:nvSpPr>
          <p:cNvPr id="38" name="Shape 33"/>
          <p:cNvSpPr/>
          <p:nvPr/>
        </p:nvSpPr>
        <p:spPr>
          <a:xfrm>
            <a:off x="1850746" y="3370254"/>
            <a:ext cx="1499616" cy="219456"/>
          </a:xfrm>
          <a:prstGeom prst="roundRect">
            <a:avLst>
              <a:gd name="adj" fmla="val 20833"/>
            </a:avLst>
          </a:prstGeom>
          <a:solidFill>
            <a:srgbClr val="FFFFFF">
              <a:alpha val="0"/>
            </a:srgbClr>
          </a:solidFill>
          <a:ln w="31750">
            <a:solidFill>
              <a:srgbClr val="E53935"/>
            </a:solidFill>
            <a:prstDash val="solid"/>
          </a:ln>
        </p:spPr>
      </p:sp>
      <p:sp>
        <p:nvSpPr>
          <p:cNvPr id="39" name="Shape 34"/>
          <p:cNvSpPr/>
          <p:nvPr/>
        </p:nvSpPr>
        <p:spPr>
          <a:xfrm>
            <a:off x="3213202" y="3233094"/>
            <a:ext cx="274320" cy="274320"/>
          </a:xfrm>
          <a:prstGeom prst="ellipse">
            <a:avLst/>
          </a:prstGeom>
          <a:solidFill>
            <a:srgbClr val="E53935"/>
          </a:solidFill>
          <a:ln w="12700">
            <a:solidFill>
              <a:srgbClr val="FFFFFF"/>
            </a:solidFill>
            <a:prstDash val="solid"/>
          </a:ln>
        </p:spPr>
      </p:sp>
      <p:sp>
        <p:nvSpPr>
          <p:cNvPr id="40" name="Text 35"/>
          <p:cNvSpPr txBox="1"/>
          <p:nvPr/>
        </p:nvSpPr>
        <p:spPr>
          <a:xfrm>
            <a:off x="3213202" y="323309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1" name="Image 3" descr="preencoded.png">    </p:cNvPr>
          <p:cNvPicPr>
            <a:picLocks noChangeAspect="1"/>
          </p:cNvPicPr>
          <p:nvPr/>
        </p:nvPicPr>
        <p:blipFill>
          <a:blip r:embed="rId4"/>
          <a:stretch>
            <a:fillRect/>
          </a:stretch>
        </p:blipFill>
        <p:spPr>
          <a:xfrm>
            <a:off x="2673706" y="3489126"/>
            <a:ext cx="237744" cy="237744"/>
          </a:xfrm>
          <a:prstGeom prst="rect">
            <a:avLst/>
          </a:prstGeom>
        </p:spPr>
      </p:pic>
      <p:sp>
        <p:nvSpPr>
          <p:cNvPr id="42" name="Shape 36"/>
          <p:cNvSpPr/>
          <p:nvPr/>
        </p:nvSpPr>
        <p:spPr>
          <a:xfrm>
            <a:off x="3919118" y="3388542"/>
            <a:ext cx="539496" cy="237744"/>
          </a:xfrm>
          <a:prstGeom prst="roundRect">
            <a:avLst>
              <a:gd name="adj" fmla="val 19231"/>
            </a:avLst>
          </a:prstGeom>
          <a:solidFill>
            <a:srgbClr val="FFFFFF">
              <a:alpha val="0"/>
            </a:srgbClr>
          </a:solidFill>
          <a:ln w="31750">
            <a:solidFill>
              <a:srgbClr val="E53935"/>
            </a:solidFill>
            <a:prstDash val="solid"/>
          </a:ln>
        </p:spPr>
      </p:sp>
      <p:sp>
        <p:nvSpPr>
          <p:cNvPr id="43" name="Shape 37"/>
          <p:cNvSpPr/>
          <p:nvPr/>
        </p:nvSpPr>
        <p:spPr>
          <a:xfrm>
            <a:off x="4321454" y="3251382"/>
            <a:ext cx="274320" cy="274320"/>
          </a:xfrm>
          <a:prstGeom prst="ellipse">
            <a:avLst/>
          </a:prstGeom>
          <a:solidFill>
            <a:srgbClr val="E53935"/>
          </a:solidFill>
          <a:ln w="12700">
            <a:solidFill>
              <a:srgbClr val="FFFFFF"/>
            </a:solidFill>
            <a:prstDash val="solid"/>
          </a:ln>
        </p:spPr>
      </p:sp>
      <p:sp>
        <p:nvSpPr>
          <p:cNvPr id="44" name="Text 38"/>
          <p:cNvSpPr txBox="1"/>
          <p:nvPr/>
        </p:nvSpPr>
        <p:spPr>
          <a:xfrm>
            <a:off x="4321454" y="32513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45" name="Image 4" descr="preencoded.png">    </p:cNvPr>
          <p:cNvPicPr>
            <a:picLocks noChangeAspect="1"/>
          </p:cNvPicPr>
          <p:nvPr/>
        </p:nvPicPr>
        <p:blipFill>
          <a:blip r:embed="rId5"/>
          <a:stretch>
            <a:fillRect/>
          </a:stretch>
        </p:blipFill>
        <p:spPr>
          <a:xfrm>
            <a:off x="4214012" y="3517473"/>
            <a:ext cx="237744" cy="237744"/>
          </a:xfrm>
          <a:prstGeom prst="rect">
            <a:avLst/>
          </a:prstGeom>
        </p:spPr>
      </p:pic>
      <p:sp>
        <p:nvSpPr>
          <p:cNvPr id="46" name="Text 3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7" name="Text 4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Nama index.html, tipe All files, UTF-8</a:t>
            </a:r>
            <a:endParaRPr lang="en-US" sz="1800" dirty="0"/>
          </a:p>
        </p:txBody>
      </p:sp>
      <p:sp>
        <p:nvSpPr>
          <p:cNvPr id="48" name="Text 4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folder Website_Saya. File name: index.html. Save as type: All files. Encoding: UTF-8. Klik Save.</a:t>
            </a:r>
            <a:endParaRPr lang="en-US" sz="1300" dirty="0"/>
          </a:p>
        </p:txBody>
      </p:sp>
      <p:sp>
        <p:nvSpPr>
          <p:cNvPr id="49" name="Shape 42"/>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0" name="Image 5" descr="preencoded.png">    </p:cNvPr>
          <p:cNvPicPr>
            <a:picLocks noChangeAspect="1"/>
          </p:cNvPicPr>
          <p:nvPr/>
        </p:nvPicPr>
        <p:blipFill>
          <a:blip r:embed="rId6"/>
          <a:stretch>
            <a:fillRect/>
          </a:stretch>
        </p:blipFill>
        <p:spPr>
          <a:xfrm>
            <a:off x="6108192" y="3721608"/>
            <a:ext cx="201168" cy="201168"/>
          </a:xfrm>
          <a:prstGeom prst="rect">
            <a:avLst/>
          </a:prstGeom>
        </p:spPr>
      </p:pic>
      <p:sp>
        <p:nvSpPr>
          <p:cNvPr id="51" name="Text 43"/>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Halaman utama website selalu bernama index.html.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Browser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Profil Santri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file:///C:/Users/Santri/Documents/Website_Saya/index.html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Text 22"/>
          <p:cNvSpPr txBox="1"/>
          <p:nvPr/>
        </p:nvSpPr>
        <p:spPr>
          <a:xfrm>
            <a:off x="743224" y="1787405"/>
            <a:ext cx="4640031" cy="365760"/>
          </a:xfrm>
          <a:prstGeom prst="rect">
            <a:avLst/>
          </a:prstGeom>
          <a:noFill/>
          <a:ln/>
        </p:spPr>
        <p:txBody>
          <a:bodyPr wrap="square" lIns="0" tIns="0" rIns="0" bIns="0" rtlCol="0" anchor="t"/>
          <a:lstStyle/>
          <a:p>
            <a:pPr indent="0" marL="0">
              <a:buNone/>
            </a:pPr>
            <a:r>
              <a:rPr lang="en-US" sz="1800" b="1" dirty="0">
                <a:solidFill>
                  <a:srgbClr val="1E2A26"/>
                </a:solidFill>
                <a:latin typeface="Times New Roman" pitchFamily="34" charset="0"/>
                <a:ea typeface="Times New Roman" pitchFamily="34" charset="-122"/>
                <a:cs typeface="Times New Roman" pitchFamily="34" charset="-120"/>
              </a:rPr>
              <a:t>Assalamu'alaikum!</a:t>
            </a:r>
            <a:endParaRPr lang="en-US" sz="1800" dirty="0"/>
          </a:p>
        </p:txBody>
      </p:sp>
      <p:sp>
        <p:nvSpPr>
          <p:cNvPr id="30" name="Text 23"/>
          <p:cNvSpPr txBox="1"/>
          <p:nvPr/>
        </p:nvSpPr>
        <p:spPr>
          <a:xfrm>
            <a:off x="743224" y="2198885"/>
            <a:ext cx="4640031" cy="228600"/>
          </a:xfrm>
          <a:prstGeom prst="rect">
            <a:avLst/>
          </a:prstGeom>
          <a:noFill/>
          <a:ln/>
        </p:spPr>
        <p:txBody>
          <a:bodyPr wrap="square" lIns="0" tIns="0" rIns="0" bIns="0" rtlCol="0" anchor="t"/>
          <a:lstStyle/>
          <a:p>
            <a:pPr indent="0" marL="0">
              <a:buNone/>
            </a:pPr>
            <a:r>
              <a:rPr lang="en-US" sz="900" dirty="0">
                <a:solidFill>
                  <a:srgbClr val="1E2A26"/>
                </a:solidFill>
                <a:latin typeface="Times New Roman" pitchFamily="34" charset="0"/>
                <a:ea typeface="Times New Roman" pitchFamily="34" charset="-122"/>
                <a:cs typeface="Times New Roman" pitchFamily="34" charset="-120"/>
              </a:rPr>
              <a:t>Nama saya Ahmad, santri Kelas 8A.</a:t>
            </a:r>
            <a:endParaRPr lang="en-US" sz="900" dirty="0"/>
          </a:p>
        </p:txBody>
      </p:sp>
      <p:sp>
        <p:nvSpPr>
          <p:cNvPr id="31" name="Shape 24"/>
          <p:cNvSpPr/>
          <p:nvPr/>
        </p:nvSpPr>
        <p:spPr>
          <a:xfrm>
            <a:off x="1301008" y="1421645"/>
            <a:ext cx="4073103" cy="237744"/>
          </a:xfrm>
          <a:prstGeom prst="roundRect">
            <a:avLst>
              <a:gd name="adj" fmla="val 19231"/>
            </a:avLst>
          </a:prstGeom>
          <a:solidFill>
            <a:srgbClr val="FFFFFF">
              <a:alpha val="0"/>
            </a:srgbClr>
          </a:solidFill>
          <a:ln w="31750">
            <a:solidFill>
              <a:srgbClr val="E53935"/>
            </a:solidFill>
            <a:prstDash val="solid"/>
          </a:ln>
        </p:spPr>
      </p:sp>
      <p:sp>
        <p:nvSpPr>
          <p:cNvPr id="32" name="Shape 25"/>
          <p:cNvSpPr/>
          <p:nvPr/>
        </p:nvSpPr>
        <p:spPr>
          <a:xfrm>
            <a:off x="5236952" y="1284485"/>
            <a:ext cx="274320" cy="274320"/>
          </a:xfrm>
          <a:prstGeom prst="ellipse">
            <a:avLst/>
          </a:prstGeom>
          <a:solidFill>
            <a:srgbClr val="E53935"/>
          </a:solidFill>
          <a:ln w="12700">
            <a:solidFill>
              <a:srgbClr val="FFFFFF"/>
            </a:solidFill>
            <a:prstDash val="solid"/>
          </a:ln>
        </p:spPr>
      </p:sp>
      <p:sp>
        <p:nvSpPr>
          <p:cNvPr id="33" name="Text 26"/>
          <p:cNvSpPr txBox="1"/>
          <p:nvPr/>
        </p:nvSpPr>
        <p:spPr>
          <a:xfrm>
            <a:off x="5236952" y="12844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34" name="Image 5" descr="preencoded.png">    </p:cNvPr>
          <p:cNvPicPr>
            <a:picLocks noChangeAspect="1"/>
          </p:cNvPicPr>
          <p:nvPr/>
        </p:nvPicPr>
        <p:blipFill>
          <a:blip r:embed="rId6"/>
          <a:stretch>
            <a:fillRect/>
          </a:stretch>
        </p:blipFill>
        <p:spPr>
          <a:xfrm>
            <a:off x="3539386" y="1550576"/>
            <a:ext cx="237744" cy="237744"/>
          </a:xfrm>
          <a:prstGeom prst="rect">
            <a:avLst/>
          </a:prstGeom>
        </p:spPr>
      </p:pic>
      <p:sp>
        <p:nvSpPr>
          <p:cNvPr id="35" name="Shape 27"/>
          <p:cNvSpPr/>
          <p:nvPr/>
        </p:nvSpPr>
        <p:spPr>
          <a:xfrm>
            <a:off x="679216" y="1723397"/>
            <a:ext cx="4768047" cy="859536"/>
          </a:xfrm>
          <a:prstGeom prst="roundRect">
            <a:avLst>
              <a:gd name="adj" fmla="val 5319"/>
            </a:avLst>
          </a:prstGeom>
          <a:solidFill>
            <a:srgbClr val="FFFFFF">
              <a:alpha val="0"/>
            </a:srgbClr>
          </a:solidFill>
          <a:ln w="31750">
            <a:solidFill>
              <a:srgbClr val="E53935"/>
            </a:solidFill>
            <a:prstDash val="solid"/>
          </a:ln>
        </p:spPr>
      </p:sp>
      <p:sp>
        <p:nvSpPr>
          <p:cNvPr id="36" name="Shape 28"/>
          <p:cNvSpPr/>
          <p:nvPr/>
        </p:nvSpPr>
        <p:spPr>
          <a:xfrm>
            <a:off x="5310104" y="1586237"/>
            <a:ext cx="274320" cy="274320"/>
          </a:xfrm>
          <a:prstGeom prst="ellipse">
            <a:avLst/>
          </a:prstGeom>
          <a:solidFill>
            <a:srgbClr val="E53935"/>
          </a:solidFill>
          <a:ln w="12700">
            <a:solidFill>
              <a:srgbClr val="FFFFFF"/>
            </a:solidFill>
            <a:prstDash val="solid"/>
          </a:ln>
        </p:spPr>
      </p:sp>
      <p:sp>
        <p:nvSpPr>
          <p:cNvPr id="37" name="Text 29"/>
          <p:cNvSpPr txBox="1"/>
          <p:nvPr/>
        </p:nvSpPr>
        <p:spPr>
          <a:xfrm>
            <a:off x="5310104" y="15862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38" name="Image 6" descr="preencoded.png">    </p:cNvPr>
          <p:cNvPicPr>
            <a:picLocks noChangeAspect="1"/>
          </p:cNvPicPr>
          <p:nvPr/>
        </p:nvPicPr>
        <p:blipFill>
          <a:blip r:embed="rId7"/>
          <a:stretch>
            <a:fillRect/>
          </a:stretch>
        </p:blipFill>
        <p:spPr>
          <a:xfrm>
            <a:off x="3299814" y="2194313"/>
            <a:ext cx="237744" cy="237744"/>
          </a:xfrm>
          <a:prstGeom prst="rect">
            <a:avLst/>
          </a:prstGeom>
        </p:spPr>
      </p:pic>
      <p:sp>
        <p:nvSpPr>
          <p:cNvPr id="39" name="Text 3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0" name="Text 3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dua kali index.html, terbuka di browser</a:t>
            </a:r>
            <a:endParaRPr lang="en-US" sz="1800" dirty="0"/>
          </a:p>
        </p:txBody>
      </p:sp>
      <p:sp>
        <p:nvSpPr>
          <p:cNvPr id="41" name="Text 3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folder Website_Saya di File Explorer. Klik dua kali index.html. Halaman tampil di browser.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Browser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&lt;!DOCTYPE html&gt;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&lt;html&gt;</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31" name="Text 27"/>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2" name="Text 28"/>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pPr indent="0" marL="0">
              <a:buNone/>
            </a:pPr>
            <a:r>
              <a:rPr lang="en-US" sz="900" dirty="0">
                <a:solidFill>
                  <a:srgbClr val="222222"/>
                </a:solidFill>
                <a:latin typeface="Courier New" pitchFamily="34" charset="0"/>
                <a:ea typeface="Courier New" pitchFamily="34" charset="-122"/>
                <a:cs typeface="Courier New" pitchFamily="34" charset="-120"/>
              </a:rPr>
              <a:t>Profil Santri</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endParaRPr lang="en-US" sz="900" dirty="0"/>
          </a:p>
        </p:txBody>
      </p:sp>
      <p:sp>
        <p:nvSpPr>
          <p:cNvPr id="33" name="Text 29"/>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4" name="Text 30"/>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35" name="Text 31"/>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6" name="Text 32"/>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37" name="Text 33"/>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8" name="Text 34"/>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&lt;h1&gt;</a:t>
            </a:r>
            <a:pPr indent="0" marL="0">
              <a:buNone/>
            </a:pPr>
            <a:r>
              <a:rPr lang="en-US" sz="900" dirty="0">
                <a:solidFill>
                  <a:srgbClr val="222222"/>
                </a:solidFill>
                <a:latin typeface="Courier New" pitchFamily="34" charset="0"/>
                <a:ea typeface="Courier New" pitchFamily="34" charset="-122"/>
                <a:cs typeface="Courier New" pitchFamily="34" charset="-120"/>
              </a:rPr>
              <a:t>Assalamu'alaikum!</a:t>
            </a:r>
            <a:pPr indent="0" marL="0">
              <a:buNone/>
            </a:pPr>
            <a:r>
              <a:rPr lang="en-US" sz="900" dirty="0">
                <a:solidFill>
                  <a:srgbClr val="1A5FB4"/>
                </a:solidFill>
                <a:latin typeface="Courier New" pitchFamily="34" charset="0"/>
                <a:ea typeface="Courier New" pitchFamily="34" charset="-122"/>
                <a:cs typeface="Courier New" pitchFamily="34" charset="-120"/>
              </a:rPr>
              <a:t>&lt;/h1&gt;</a:t>
            </a:r>
            <a:endParaRPr lang="en-US" sz="900" dirty="0"/>
          </a:p>
        </p:txBody>
      </p:sp>
      <p:sp>
        <p:nvSpPr>
          <p:cNvPr id="39" name="Text 35"/>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0" name="Text 36"/>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Nama saya Ahmad, santri Kelas 8A.</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41" name="Shape 37"/>
          <p:cNvSpPr/>
          <p:nvPr/>
        </p:nvSpPr>
        <p:spPr>
          <a:xfrm>
            <a:off x="913668" y="3051440"/>
            <a:ext cx="4555175" cy="173736"/>
          </a:xfrm>
          <a:prstGeom prst="rect">
            <a:avLst/>
          </a:prstGeom>
          <a:solidFill>
            <a:srgbClr val="FFF59D"/>
          </a:solidFill>
          <a:ln w="12700">
            <a:solidFill>
              <a:srgbClr val="FFF59D"/>
            </a:solidFill>
            <a:prstDash val="solid"/>
          </a:ln>
        </p:spPr>
      </p:sp>
      <p:sp>
        <p:nvSpPr>
          <p:cNvPr id="42" name="Text 38"/>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3" name="Text 39"/>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Cita-cita saya menjadi dokter.</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44" name="Text 40"/>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45" name="Text 41"/>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46" name="Text 42"/>
          <p:cNvSpPr txBox="1"/>
          <p:nvPr/>
        </p:nvSpPr>
        <p:spPr>
          <a:xfrm>
            <a:off x="639348" y="339891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11</a:t>
            </a:r>
            <a:endParaRPr lang="en-US" sz="800" dirty="0"/>
          </a:p>
        </p:txBody>
      </p:sp>
      <p:sp>
        <p:nvSpPr>
          <p:cNvPr id="47" name="Text 43"/>
          <p:cNvSpPr txBox="1"/>
          <p:nvPr/>
        </p:nvSpPr>
        <p:spPr>
          <a:xfrm>
            <a:off x="986820" y="339891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&lt;/html&gt;</a:t>
            </a:r>
            <a:endParaRPr lang="en-US" sz="900" dirty="0"/>
          </a:p>
        </p:txBody>
      </p:sp>
      <p:sp>
        <p:nvSpPr>
          <p:cNvPr id="48" name="Shape 44"/>
          <p:cNvSpPr/>
          <p:nvPr/>
        </p:nvSpPr>
        <p:spPr>
          <a:xfrm>
            <a:off x="913668" y="3033152"/>
            <a:ext cx="4555175" cy="210312"/>
          </a:xfrm>
          <a:prstGeom prst="roundRect">
            <a:avLst>
              <a:gd name="adj" fmla="val 21739"/>
            </a:avLst>
          </a:prstGeom>
          <a:solidFill>
            <a:srgbClr val="FFFFFF">
              <a:alpha val="0"/>
            </a:srgbClr>
          </a:solidFill>
          <a:ln w="31750">
            <a:solidFill>
              <a:srgbClr val="E53935"/>
            </a:solidFill>
            <a:prstDash val="solid"/>
          </a:ln>
        </p:spPr>
      </p:sp>
      <p:sp>
        <p:nvSpPr>
          <p:cNvPr id="49" name="Shape 45"/>
          <p:cNvSpPr/>
          <p:nvPr/>
        </p:nvSpPr>
        <p:spPr>
          <a:xfrm>
            <a:off x="5331684" y="2895992"/>
            <a:ext cx="274320" cy="274320"/>
          </a:xfrm>
          <a:prstGeom prst="ellipse">
            <a:avLst/>
          </a:prstGeom>
          <a:solidFill>
            <a:srgbClr val="E53935"/>
          </a:solidFill>
          <a:ln w="12700">
            <a:solidFill>
              <a:srgbClr val="FFFFFF"/>
            </a:solidFill>
            <a:prstDash val="solid"/>
          </a:ln>
        </p:spPr>
      </p:sp>
      <p:sp>
        <p:nvSpPr>
          <p:cNvPr id="50" name="Text 46"/>
          <p:cNvSpPr txBox="1"/>
          <p:nvPr/>
        </p:nvSpPr>
        <p:spPr>
          <a:xfrm>
            <a:off x="5331684" y="28959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51" name="Image 2" descr="preencoded.png">    </p:cNvPr>
          <p:cNvPicPr>
            <a:picLocks noChangeAspect="1"/>
          </p:cNvPicPr>
          <p:nvPr/>
        </p:nvPicPr>
        <p:blipFill>
          <a:blip r:embed="rId3"/>
          <a:stretch>
            <a:fillRect/>
          </a:stretch>
        </p:blipFill>
        <p:spPr>
          <a:xfrm>
            <a:off x="3417186" y="3146994"/>
            <a:ext cx="237744" cy="237744"/>
          </a:xfrm>
          <a:prstGeom prst="rect">
            <a:avLst/>
          </a:prstGeom>
        </p:spPr>
      </p:pic>
      <p:sp>
        <p:nvSpPr>
          <p:cNvPr id="52" name="Text 4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53" name="Text 4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Ubah kode, simpan (Ctrl+S), refresh (F5)</a:t>
            </a:r>
            <a:endParaRPr lang="en-US" sz="1800" dirty="0"/>
          </a:p>
        </p:txBody>
      </p:sp>
      <p:sp>
        <p:nvSpPr>
          <p:cNvPr id="54" name="Text 4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Kembali ke Notepad. Tambah satu paragraf baru. Tekan Ctrl+S. Pindah ke browser, tekan F5. Perubahan tampil.</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19</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Tambahkan ke index.html milikmu: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Ganti isi &lt;title&gt; menjadi Profil NamaKamu. Lihat perubahannya di tab browser.</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Tambahkan 2 paragraf: kelas dan cita-cita.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Tambahkan subjudul dengan &lt;h2&gt;.</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Sengaja hapus satu &lt;/p&gt;, simpan, lihat akibatnya, lalu perbaiki.</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File bernama index.html</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Struktur dasar lengkap</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Halaman terbuka di browser</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Perubahan terlihat setelah refresh</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perbedaan membuat website dengan Google Sites dan dengan HTML?</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setiap tag pembuka perlu tag penutup?</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Belajar hal baru memerlukan kesabaran. Kesalahan kecil dalam kode adalah bagian dari proses belajar.</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Tag-tag penting HTML: judul, paragraf, daftar, gambar, dan link.</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20</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Tag-tag Penting HTML</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Judul, teks, daftar, gambar, dan link</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7: Pengenalan HTML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ingin menampilkan daftar hobi dengan tanda titik di depannya, tag apa yang dipakai?</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20</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Menggunakan tag judul, paragraf, dan format teks</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daftar dengan ul, ol, dan li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Menyisipkan gambar dan link dengan atribut</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Tag untuk Teks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&lt;h1&gt; sampai &lt;h6&gt;</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Judul. h1 paling besar, h6 paling kecil. Satu h1 per halaman.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&lt;p&gt;</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Paragraf. Setiap paragraf diberi jarak otomatis.</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&lt;b&gt; dan &lt;i&gt;</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Tebal dan miring. Contoh: &lt;b&gt;Ahmad&lt;/b&gt;</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&lt;br&gt; dan &lt;hr&gt;</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Pindah baris dan garis pemisah. Tidak perlu tag penutup.</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Membuat Daftar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3931920" cy="320040"/>
          </a:xfrm>
          <a:prstGeom prst="rect">
            <a:avLst/>
          </a:prstGeom>
          <a:noFill/>
          <a:ln/>
        </p:spPr>
        <p:txBody>
          <a:bodyPr wrap="square" lIns="0" tIns="0" rIns="0" bIns="0" rtlCol="0" anchor="t"/>
          <a:lstStyle/>
          <a:p>
            <a:pPr indent="0" marL="0">
              <a:buNone/>
            </a:pPr>
            <a:r>
              <a:rPr lang="en-US" sz="1500" b="1" dirty="0">
                <a:solidFill>
                  <a:srgbClr val="0F4C3A"/>
                </a:solidFill>
                <a:latin typeface="Cambria" pitchFamily="34" charset="0"/>
                <a:ea typeface="Cambria" pitchFamily="34" charset="-122"/>
                <a:cs typeface="Cambria" pitchFamily="34" charset="-120"/>
              </a:rPr>
              <a:t>Daftar berbutir &lt;ul&gt;</a:t>
            </a:r>
            <a:endParaRPr lang="en-US" sz="1500" dirty="0"/>
          </a:p>
        </p:txBody>
      </p:sp>
      <p:sp>
        <p:nvSpPr>
          <p:cNvPr id="10" name="Shape 6"/>
          <p:cNvSpPr/>
          <p:nvPr/>
        </p:nvSpPr>
        <p:spPr>
          <a:xfrm>
            <a:off x="457200" y="1463040"/>
            <a:ext cx="3931920" cy="1600200"/>
          </a:xfrm>
          <a:prstGeom prst="roundRect">
            <a:avLst>
              <a:gd name="adj" fmla="val 3429"/>
            </a:avLst>
          </a:prstGeom>
          <a:solidFill>
            <a:srgbClr val="FFFFFF"/>
          </a:solidFill>
          <a:ln w="12700">
            <a:solidFill>
              <a:srgbClr val="BBBBBB"/>
            </a:solidFill>
            <a:prstDash val="solid"/>
          </a:ln>
        </p:spPr>
      </p:sp>
      <p:sp>
        <p:nvSpPr>
          <p:cNvPr id="11" name="Text 7"/>
          <p:cNvSpPr txBox="1"/>
          <p:nvPr/>
        </p:nvSpPr>
        <p:spPr>
          <a:xfrm>
            <a:off x="594360" y="1554480"/>
            <a:ext cx="3657600" cy="274320"/>
          </a:xfrm>
          <a:prstGeom prst="rect">
            <a:avLst/>
          </a:prstGeom>
          <a:noFill/>
          <a:ln/>
        </p:spPr>
        <p:txBody>
          <a:bodyPr wrap="square" lIns="0" tIns="0" rIns="0" bIns="0" rtlCol="0" anchor="ctr"/>
          <a:lstStyle/>
          <a:p>
            <a:pPr indent="0" marL="0">
              <a:buNone/>
            </a:pPr>
            <a:r>
              <a:rPr lang="en-US" sz="1200" dirty="0">
                <a:solidFill>
                  <a:srgbClr val="1A5FB4"/>
                </a:solidFill>
                <a:latin typeface="Courier New" pitchFamily="34" charset="0"/>
                <a:ea typeface="Courier New" pitchFamily="34" charset="-122"/>
                <a:cs typeface="Courier New" pitchFamily="34" charset="-120"/>
              </a:rPr>
              <a:t>&lt;ul&gt;</a:t>
            </a:r>
            <a:endParaRPr lang="en-US" sz="1200" dirty="0"/>
          </a:p>
        </p:txBody>
      </p:sp>
      <p:sp>
        <p:nvSpPr>
          <p:cNvPr id="12" name="Text 8"/>
          <p:cNvSpPr txBox="1"/>
          <p:nvPr/>
        </p:nvSpPr>
        <p:spPr>
          <a:xfrm>
            <a:off x="594360" y="1847088"/>
            <a:ext cx="3657600" cy="274320"/>
          </a:xfrm>
          <a:prstGeom prst="rect">
            <a:avLst/>
          </a:prstGeom>
          <a:noFill/>
          <a:ln/>
        </p:spPr>
        <p:txBody>
          <a:bodyPr wrap="square" lIns="0" tIns="0" rIns="0" bIns="0" rtlCol="0" anchor="ctr"/>
          <a:lstStyle/>
          <a:p>
            <a:pPr indent="0" marL="0">
              <a:buNone/>
            </a:pPr>
            <a:r>
              <a:rPr lang="en-US" sz="1200" dirty="0">
                <a:solidFill>
                  <a:srgbClr val="1E2A26"/>
                </a:solidFill>
                <a:latin typeface="Courier New" pitchFamily="34" charset="0"/>
                <a:ea typeface="Courier New" pitchFamily="34" charset="-122"/>
                <a:cs typeface="Courier New" pitchFamily="34" charset="-120"/>
              </a:rPr>
              <a:t>  </a:t>
            </a:r>
            <a:pPr indent="0" marL="0">
              <a:buNone/>
            </a:pPr>
            <a:r>
              <a:rPr lang="en-US" sz="1200" dirty="0">
                <a:solidFill>
                  <a:srgbClr val="1A5FB4"/>
                </a:solidFill>
                <a:latin typeface="Courier New" pitchFamily="34" charset="0"/>
                <a:ea typeface="Courier New" pitchFamily="34" charset="-122"/>
                <a:cs typeface="Courier New" pitchFamily="34" charset="-120"/>
              </a:rPr>
              <a:t>&lt;li&gt;</a:t>
            </a:r>
            <a:pPr indent="0" marL="0">
              <a:buNone/>
            </a:pPr>
            <a:r>
              <a:rPr lang="en-US" sz="1200" dirty="0">
                <a:solidFill>
                  <a:srgbClr val="1E2A26"/>
                </a:solidFill>
                <a:latin typeface="Courier New" pitchFamily="34" charset="0"/>
                <a:ea typeface="Courier New" pitchFamily="34" charset="-122"/>
                <a:cs typeface="Courier New" pitchFamily="34" charset="-120"/>
              </a:rPr>
              <a:t>Membaca</a:t>
            </a:r>
            <a:pPr indent="0" marL="0">
              <a:buNone/>
            </a:pPr>
            <a:r>
              <a:rPr lang="en-US" sz="1200" dirty="0">
                <a:solidFill>
                  <a:srgbClr val="1A5FB4"/>
                </a:solidFill>
                <a:latin typeface="Courier New" pitchFamily="34" charset="0"/>
                <a:ea typeface="Courier New" pitchFamily="34" charset="-122"/>
                <a:cs typeface="Courier New" pitchFamily="34" charset="-120"/>
              </a:rPr>
              <a:t>&lt;/li&gt;</a:t>
            </a:r>
            <a:endParaRPr lang="en-US" sz="1200" dirty="0"/>
          </a:p>
        </p:txBody>
      </p:sp>
      <p:sp>
        <p:nvSpPr>
          <p:cNvPr id="13" name="Text 9"/>
          <p:cNvSpPr txBox="1"/>
          <p:nvPr/>
        </p:nvSpPr>
        <p:spPr>
          <a:xfrm>
            <a:off x="594360" y="2139696"/>
            <a:ext cx="3657600" cy="274320"/>
          </a:xfrm>
          <a:prstGeom prst="rect">
            <a:avLst/>
          </a:prstGeom>
          <a:noFill/>
          <a:ln/>
        </p:spPr>
        <p:txBody>
          <a:bodyPr wrap="square" lIns="0" tIns="0" rIns="0" bIns="0" rtlCol="0" anchor="ctr"/>
          <a:lstStyle/>
          <a:p>
            <a:pPr indent="0" marL="0">
              <a:buNone/>
            </a:pPr>
            <a:r>
              <a:rPr lang="en-US" sz="1200" dirty="0">
                <a:solidFill>
                  <a:srgbClr val="1E2A26"/>
                </a:solidFill>
                <a:latin typeface="Courier New" pitchFamily="34" charset="0"/>
                <a:ea typeface="Courier New" pitchFamily="34" charset="-122"/>
                <a:cs typeface="Courier New" pitchFamily="34" charset="-120"/>
              </a:rPr>
              <a:t>  </a:t>
            </a:r>
            <a:pPr indent="0" marL="0">
              <a:buNone/>
            </a:pPr>
            <a:r>
              <a:rPr lang="en-US" sz="1200" dirty="0">
                <a:solidFill>
                  <a:srgbClr val="1A5FB4"/>
                </a:solidFill>
                <a:latin typeface="Courier New" pitchFamily="34" charset="0"/>
                <a:ea typeface="Courier New" pitchFamily="34" charset="-122"/>
                <a:cs typeface="Courier New" pitchFamily="34" charset="-120"/>
              </a:rPr>
              <a:t>&lt;li&gt;</a:t>
            </a:r>
            <a:pPr indent="0" marL="0">
              <a:buNone/>
            </a:pPr>
            <a:r>
              <a:rPr lang="en-US" sz="1200" dirty="0">
                <a:solidFill>
                  <a:srgbClr val="1E2A26"/>
                </a:solidFill>
                <a:latin typeface="Courier New" pitchFamily="34" charset="0"/>
                <a:ea typeface="Courier New" pitchFamily="34" charset="-122"/>
                <a:cs typeface="Courier New" pitchFamily="34" charset="-120"/>
              </a:rPr>
              <a:t>Kaligrafi</a:t>
            </a:r>
            <a:pPr indent="0" marL="0">
              <a:buNone/>
            </a:pPr>
            <a:r>
              <a:rPr lang="en-US" sz="1200" dirty="0">
                <a:solidFill>
                  <a:srgbClr val="1A5FB4"/>
                </a:solidFill>
                <a:latin typeface="Courier New" pitchFamily="34" charset="0"/>
                <a:ea typeface="Courier New" pitchFamily="34" charset="-122"/>
                <a:cs typeface="Courier New" pitchFamily="34" charset="-120"/>
              </a:rPr>
              <a:t>&lt;/li&gt;</a:t>
            </a:r>
            <a:endParaRPr lang="en-US" sz="1200" dirty="0"/>
          </a:p>
        </p:txBody>
      </p:sp>
      <p:sp>
        <p:nvSpPr>
          <p:cNvPr id="14" name="Text 10"/>
          <p:cNvSpPr txBox="1"/>
          <p:nvPr/>
        </p:nvSpPr>
        <p:spPr>
          <a:xfrm>
            <a:off x="594360" y="2432304"/>
            <a:ext cx="3657600" cy="274320"/>
          </a:xfrm>
          <a:prstGeom prst="rect">
            <a:avLst/>
          </a:prstGeom>
          <a:noFill/>
          <a:ln/>
        </p:spPr>
        <p:txBody>
          <a:bodyPr wrap="square" lIns="0" tIns="0" rIns="0" bIns="0" rtlCol="0" anchor="ctr"/>
          <a:lstStyle/>
          <a:p>
            <a:pPr indent="0" marL="0">
              <a:buNone/>
            </a:pPr>
            <a:r>
              <a:rPr lang="en-US" sz="1200" dirty="0">
                <a:solidFill>
                  <a:srgbClr val="1E2A26"/>
                </a:solidFill>
                <a:latin typeface="Courier New" pitchFamily="34" charset="0"/>
                <a:ea typeface="Courier New" pitchFamily="34" charset="-122"/>
                <a:cs typeface="Courier New" pitchFamily="34" charset="-120"/>
              </a:rPr>
              <a:t>  </a:t>
            </a:r>
            <a:pPr indent="0" marL="0">
              <a:buNone/>
            </a:pPr>
            <a:r>
              <a:rPr lang="en-US" sz="1200" dirty="0">
                <a:solidFill>
                  <a:srgbClr val="1A5FB4"/>
                </a:solidFill>
                <a:latin typeface="Courier New" pitchFamily="34" charset="0"/>
                <a:ea typeface="Courier New" pitchFamily="34" charset="-122"/>
                <a:cs typeface="Courier New" pitchFamily="34" charset="-120"/>
              </a:rPr>
              <a:t>&lt;li&gt;</a:t>
            </a:r>
            <a:pPr indent="0" marL="0">
              <a:buNone/>
            </a:pPr>
            <a:r>
              <a:rPr lang="en-US" sz="1200" dirty="0">
                <a:solidFill>
                  <a:srgbClr val="1E2A26"/>
                </a:solidFill>
                <a:latin typeface="Courier New" pitchFamily="34" charset="0"/>
                <a:ea typeface="Courier New" pitchFamily="34" charset="-122"/>
                <a:cs typeface="Courier New" pitchFamily="34" charset="-120"/>
              </a:rPr>
              <a:t>Futsal</a:t>
            </a:r>
            <a:pPr indent="0" marL="0">
              <a:buNone/>
            </a:pPr>
            <a:r>
              <a:rPr lang="en-US" sz="1200" dirty="0">
                <a:solidFill>
                  <a:srgbClr val="1A5FB4"/>
                </a:solidFill>
                <a:latin typeface="Courier New" pitchFamily="34" charset="0"/>
                <a:ea typeface="Courier New" pitchFamily="34" charset="-122"/>
                <a:cs typeface="Courier New" pitchFamily="34" charset="-120"/>
              </a:rPr>
              <a:t>&lt;/li&gt;</a:t>
            </a:r>
            <a:endParaRPr lang="en-US" sz="1200" dirty="0"/>
          </a:p>
        </p:txBody>
      </p:sp>
      <p:sp>
        <p:nvSpPr>
          <p:cNvPr id="15" name="Text 11"/>
          <p:cNvSpPr txBox="1"/>
          <p:nvPr/>
        </p:nvSpPr>
        <p:spPr>
          <a:xfrm>
            <a:off x="594360" y="2724912"/>
            <a:ext cx="3657600" cy="274320"/>
          </a:xfrm>
          <a:prstGeom prst="rect">
            <a:avLst/>
          </a:prstGeom>
          <a:noFill/>
          <a:ln/>
        </p:spPr>
        <p:txBody>
          <a:bodyPr wrap="square" lIns="0" tIns="0" rIns="0" bIns="0" rtlCol="0" anchor="ctr"/>
          <a:lstStyle/>
          <a:p>
            <a:pPr indent="0" marL="0">
              <a:buNone/>
            </a:pPr>
            <a:r>
              <a:rPr lang="en-US" sz="1200" dirty="0">
                <a:solidFill>
                  <a:srgbClr val="1A5FB4"/>
                </a:solidFill>
                <a:latin typeface="Courier New" pitchFamily="34" charset="0"/>
                <a:ea typeface="Courier New" pitchFamily="34" charset="-122"/>
                <a:cs typeface="Courier New" pitchFamily="34" charset="-120"/>
              </a:rPr>
              <a:t>&lt;/ul&gt;</a:t>
            </a:r>
            <a:endParaRPr lang="en-US" sz="1200" dirty="0"/>
          </a:p>
        </p:txBody>
      </p:sp>
      <p:sp>
        <p:nvSpPr>
          <p:cNvPr id="16" name="Shape 12"/>
          <p:cNvSpPr/>
          <p:nvPr/>
        </p:nvSpPr>
        <p:spPr>
          <a:xfrm>
            <a:off x="457200" y="3200400"/>
            <a:ext cx="3931920" cy="1371600"/>
          </a:xfrm>
          <a:prstGeom prst="roundRect">
            <a:avLst>
              <a:gd name="adj" fmla="val 4000"/>
            </a:avLst>
          </a:prstGeom>
          <a:solidFill>
            <a:srgbClr val="E6F2EC"/>
          </a:solidFill>
          <a:ln w="12700">
            <a:solidFill>
              <a:srgbClr val="E6F2EC"/>
            </a:solidFill>
            <a:prstDash val="solid"/>
          </a:ln>
        </p:spPr>
      </p:sp>
      <p:sp>
        <p:nvSpPr>
          <p:cNvPr id="17" name="Text 13"/>
          <p:cNvSpPr txBox="1"/>
          <p:nvPr/>
        </p:nvSpPr>
        <p:spPr>
          <a:xfrm>
            <a:off x="594360" y="3246120"/>
            <a:ext cx="3657600" cy="228600"/>
          </a:xfrm>
          <a:prstGeom prst="rect">
            <a:avLst/>
          </a:prstGeom>
          <a:noFill/>
          <a:ln/>
        </p:spPr>
        <p:txBody>
          <a:bodyPr wrap="square" lIns="0" tIns="0" rIns="0" bIns="0" rtlCol="0" anchor="t"/>
          <a:lstStyle/>
          <a:p>
            <a:pPr indent="0" marL="0">
              <a:buNone/>
            </a:pPr>
            <a:r>
              <a:rPr lang="en-US" sz="1100" i="1" dirty="0">
                <a:solidFill>
                  <a:srgbClr val="5F6F68"/>
                </a:solidFill>
                <a:latin typeface="Calibri" pitchFamily="34" charset="0"/>
                <a:ea typeface="Calibri" pitchFamily="34" charset="-122"/>
                <a:cs typeface="Calibri" pitchFamily="34" charset="-120"/>
              </a:rPr>
              <a:t>Tampil di browser:</a:t>
            </a:r>
            <a:endParaRPr lang="en-US" sz="1100" dirty="0"/>
          </a:p>
        </p:txBody>
      </p:sp>
      <p:sp>
        <p:nvSpPr>
          <p:cNvPr id="18" name="Text 14"/>
          <p:cNvSpPr txBox="1"/>
          <p:nvPr/>
        </p:nvSpPr>
        <p:spPr>
          <a:xfrm>
            <a:off x="777240" y="3520440"/>
            <a:ext cx="3474720" cy="274320"/>
          </a:xfrm>
          <a:prstGeom prst="rect">
            <a:avLst/>
          </a:prstGeom>
          <a:noFill/>
          <a:ln/>
        </p:spPr>
        <p:txBody>
          <a:bodyPr wrap="square" lIns="0" tIns="0" rIns="0" bIns="0" rtlCol="0" anchor="t"/>
          <a:lstStyle/>
          <a:p>
            <a:pPr indent="0" marL="0">
              <a:buNone/>
            </a:pPr>
            <a:r>
              <a:rPr lang="en-US" sz="1300" dirty="0">
                <a:solidFill>
                  <a:srgbClr val="1E2A26"/>
                </a:solidFill>
                <a:latin typeface="Times New Roman" pitchFamily="34" charset="0"/>
                <a:ea typeface="Times New Roman" pitchFamily="34" charset="-122"/>
                <a:cs typeface="Times New Roman" pitchFamily="34" charset="-120"/>
              </a:rPr>
              <a:t>•  Membaca</a:t>
            </a:r>
            <a:endParaRPr lang="en-US" sz="1300" dirty="0"/>
          </a:p>
        </p:txBody>
      </p:sp>
      <p:sp>
        <p:nvSpPr>
          <p:cNvPr id="19" name="Text 15"/>
          <p:cNvSpPr txBox="1"/>
          <p:nvPr/>
        </p:nvSpPr>
        <p:spPr>
          <a:xfrm>
            <a:off x="777240" y="3813048"/>
            <a:ext cx="3474720" cy="274320"/>
          </a:xfrm>
          <a:prstGeom prst="rect">
            <a:avLst/>
          </a:prstGeom>
          <a:noFill/>
          <a:ln/>
        </p:spPr>
        <p:txBody>
          <a:bodyPr wrap="square" lIns="0" tIns="0" rIns="0" bIns="0" rtlCol="0" anchor="t"/>
          <a:lstStyle/>
          <a:p>
            <a:pPr indent="0" marL="0">
              <a:buNone/>
            </a:pPr>
            <a:r>
              <a:rPr lang="en-US" sz="1300" dirty="0">
                <a:solidFill>
                  <a:srgbClr val="1E2A26"/>
                </a:solidFill>
                <a:latin typeface="Times New Roman" pitchFamily="34" charset="0"/>
                <a:ea typeface="Times New Roman" pitchFamily="34" charset="-122"/>
                <a:cs typeface="Times New Roman" pitchFamily="34" charset="-120"/>
              </a:rPr>
              <a:t>•  Kaligrafi</a:t>
            </a:r>
            <a:endParaRPr lang="en-US" sz="1300" dirty="0"/>
          </a:p>
        </p:txBody>
      </p:sp>
      <p:sp>
        <p:nvSpPr>
          <p:cNvPr id="20" name="Text 16"/>
          <p:cNvSpPr txBox="1"/>
          <p:nvPr/>
        </p:nvSpPr>
        <p:spPr>
          <a:xfrm>
            <a:off x="777240" y="4105656"/>
            <a:ext cx="3474720" cy="274320"/>
          </a:xfrm>
          <a:prstGeom prst="rect">
            <a:avLst/>
          </a:prstGeom>
          <a:noFill/>
          <a:ln/>
        </p:spPr>
        <p:txBody>
          <a:bodyPr wrap="square" lIns="0" tIns="0" rIns="0" bIns="0" rtlCol="0" anchor="t"/>
          <a:lstStyle/>
          <a:p>
            <a:pPr indent="0" marL="0">
              <a:buNone/>
            </a:pPr>
            <a:r>
              <a:rPr lang="en-US" sz="1300" dirty="0">
                <a:solidFill>
                  <a:srgbClr val="1E2A26"/>
                </a:solidFill>
                <a:latin typeface="Times New Roman" pitchFamily="34" charset="0"/>
                <a:ea typeface="Times New Roman" pitchFamily="34" charset="-122"/>
                <a:cs typeface="Times New Roman" pitchFamily="34" charset="-120"/>
              </a:rPr>
              <a:t>•  Futsal</a:t>
            </a:r>
            <a:endParaRPr lang="en-US" sz="1300" dirty="0"/>
          </a:p>
        </p:txBody>
      </p:sp>
      <p:sp>
        <p:nvSpPr>
          <p:cNvPr id="21" name="Text 17"/>
          <p:cNvSpPr txBox="1"/>
          <p:nvPr/>
        </p:nvSpPr>
        <p:spPr>
          <a:xfrm>
            <a:off x="4754880" y="1097280"/>
            <a:ext cx="3931920" cy="320040"/>
          </a:xfrm>
          <a:prstGeom prst="rect">
            <a:avLst/>
          </a:prstGeom>
          <a:noFill/>
          <a:ln/>
        </p:spPr>
        <p:txBody>
          <a:bodyPr wrap="square" lIns="0" tIns="0" rIns="0" bIns="0" rtlCol="0" anchor="t"/>
          <a:lstStyle/>
          <a:p>
            <a:pPr indent="0" marL="0">
              <a:buNone/>
            </a:pPr>
            <a:r>
              <a:rPr lang="en-US" sz="1500" b="1" dirty="0">
                <a:solidFill>
                  <a:srgbClr val="0F4C3A"/>
                </a:solidFill>
                <a:latin typeface="Cambria" pitchFamily="34" charset="0"/>
                <a:ea typeface="Cambria" pitchFamily="34" charset="-122"/>
                <a:cs typeface="Cambria" pitchFamily="34" charset="-120"/>
              </a:rPr>
              <a:t>Daftar bernomor &lt;ol&gt;</a:t>
            </a:r>
            <a:endParaRPr lang="en-US" sz="1500" dirty="0"/>
          </a:p>
        </p:txBody>
      </p:sp>
      <p:sp>
        <p:nvSpPr>
          <p:cNvPr id="22" name="Shape 18"/>
          <p:cNvSpPr/>
          <p:nvPr/>
        </p:nvSpPr>
        <p:spPr>
          <a:xfrm>
            <a:off x="4754880" y="1463040"/>
            <a:ext cx="3931920" cy="1600200"/>
          </a:xfrm>
          <a:prstGeom prst="roundRect">
            <a:avLst>
              <a:gd name="adj" fmla="val 3429"/>
            </a:avLst>
          </a:prstGeom>
          <a:solidFill>
            <a:srgbClr val="FFFFFF"/>
          </a:solidFill>
          <a:ln w="12700">
            <a:solidFill>
              <a:srgbClr val="BBBBBB"/>
            </a:solidFill>
            <a:prstDash val="solid"/>
          </a:ln>
        </p:spPr>
      </p:sp>
      <p:sp>
        <p:nvSpPr>
          <p:cNvPr id="23" name="Text 19"/>
          <p:cNvSpPr txBox="1"/>
          <p:nvPr/>
        </p:nvSpPr>
        <p:spPr>
          <a:xfrm>
            <a:off x="4892040" y="1554480"/>
            <a:ext cx="3657600" cy="274320"/>
          </a:xfrm>
          <a:prstGeom prst="rect">
            <a:avLst/>
          </a:prstGeom>
          <a:noFill/>
          <a:ln/>
        </p:spPr>
        <p:txBody>
          <a:bodyPr wrap="square" lIns="0" tIns="0" rIns="0" bIns="0" rtlCol="0" anchor="ctr"/>
          <a:lstStyle/>
          <a:p>
            <a:pPr indent="0" marL="0">
              <a:buNone/>
            </a:pPr>
            <a:r>
              <a:rPr lang="en-US" sz="1200" dirty="0">
                <a:solidFill>
                  <a:srgbClr val="1A5FB4"/>
                </a:solidFill>
                <a:latin typeface="Courier New" pitchFamily="34" charset="0"/>
                <a:ea typeface="Courier New" pitchFamily="34" charset="-122"/>
                <a:cs typeface="Courier New" pitchFamily="34" charset="-120"/>
              </a:rPr>
              <a:t>&lt;ol&gt;</a:t>
            </a:r>
            <a:endParaRPr lang="en-US" sz="1200" dirty="0"/>
          </a:p>
        </p:txBody>
      </p:sp>
      <p:sp>
        <p:nvSpPr>
          <p:cNvPr id="24" name="Text 20"/>
          <p:cNvSpPr txBox="1"/>
          <p:nvPr/>
        </p:nvSpPr>
        <p:spPr>
          <a:xfrm>
            <a:off x="4892040" y="1847088"/>
            <a:ext cx="3657600" cy="274320"/>
          </a:xfrm>
          <a:prstGeom prst="rect">
            <a:avLst/>
          </a:prstGeom>
          <a:noFill/>
          <a:ln/>
        </p:spPr>
        <p:txBody>
          <a:bodyPr wrap="square" lIns="0" tIns="0" rIns="0" bIns="0" rtlCol="0" anchor="ctr"/>
          <a:lstStyle/>
          <a:p>
            <a:pPr indent="0" marL="0">
              <a:buNone/>
            </a:pPr>
            <a:r>
              <a:rPr lang="en-US" sz="1200" dirty="0">
                <a:solidFill>
                  <a:srgbClr val="1E2A26"/>
                </a:solidFill>
                <a:latin typeface="Courier New" pitchFamily="34" charset="0"/>
                <a:ea typeface="Courier New" pitchFamily="34" charset="-122"/>
                <a:cs typeface="Courier New" pitchFamily="34" charset="-120"/>
              </a:rPr>
              <a:t>  </a:t>
            </a:r>
            <a:pPr indent="0" marL="0">
              <a:buNone/>
            </a:pPr>
            <a:r>
              <a:rPr lang="en-US" sz="1200" dirty="0">
                <a:solidFill>
                  <a:srgbClr val="1A5FB4"/>
                </a:solidFill>
                <a:latin typeface="Courier New" pitchFamily="34" charset="0"/>
                <a:ea typeface="Courier New" pitchFamily="34" charset="-122"/>
                <a:cs typeface="Courier New" pitchFamily="34" charset="-120"/>
              </a:rPr>
              <a:t>&lt;li&gt;</a:t>
            </a:r>
            <a:pPr indent="0" marL="0">
              <a:buNone/>
            </a:pPr>
            <a:r>
              <a:rPr lang="en-US" sz="1200" dirty="0">
                <a:solidFill>
                  <a:srgbClr val="1E2A26"/>
                </a:solidFill>
                <a:latin typeface="Courier New" pitchFamily="34" charset="0"/>
                <a:ea typeface="Courier New" pitchFamily="34" charset="-122"/>
                <a:cs typeface="Courier New" pitchFamily="34" charset="-120"/>
              </a:rPr>
              <a:t>Ikhlas</a:t>
            </a:r>
            <a:pPr indent="0" marL="0">
              <a:buNone/>
            </a:pPr>
            <a:r>
              <a:rPr lang="en-US" sz="1200" dirty="0">
                <a:solidFill>
                  <a:srgbClr val="1A5FB4"/>
                </a:solidFill>
                <a:latin typeface="Courier New" pitchFamily="34" charset="0"/>
                <a:ea typeface="Courier New" pitchFamily="34" charset="-122"/>
                <a:cs typeface="Courier New" pitchFamily="34" charset="-120"/>
              </a:rPr>
              <a:t>&lt;/li&gt;</a:t>
            </a:r>
            <a:endParaRPr lang="en-US" sz="1200" dirty="0"/>
          </a:p>
        </p:txBody>
      </p:sp>
      <p:sp>
        <p:nvSpPr>
          <p:cNvPr id="25" name="Text 21"/>
          <p:cNvSpPr txBox="1"/>
          <p:nvPr/>
        </p:nvSpPr>
        <p:spPr>
          <a:xfrm>
            <a:off x="4892040" y="2139696"/>
            <a:ext cx="3657600" cy="274320"/>
          </a:xfrm>
          <a:prstGeom prst="rect">
            <a:avLst/>
          </a:prstGeom>
          <a:noFill/>
          <a:ln/>
        </p:spPr>
        <p:txBody>
          <a:bodyPr wrap="square" lIns="0" tIns="0" rIns="0" bIns="0" rtlCol="0" anchor="ctr"/>
          <a:lstStyle/>
          <a:p>
            <a:pPr indent="0" marL="0">
              <a:buNone/>
            </a:pPr>
            <a:r>
              <a:rPr lang="en-US" sz="1200" dirty="0">
                <a:solidFill>
                  <a:srgbClr val="1E2A26"/>
                </a:solidFill>
                <a:latin typeface="Courier New" pitchFamily="34" charset="0"/>
                <a:ea typeface="Courier New" pitchFamily="34" charset="-122"/>
                <a:cs typeface="Courier New" pitchFamily="34" charset="-120"/>
              </a:rPr>
              <a:t>  </a:t>
            </a:r>
            <a:pPr indent="0" marL="0">
              <a:buNone/>
            </a:pPr>
            <a:r>
              <a:rPr lang="en-US" sz="1200" dirty="0">
                <a:solidFill>
                  <a:srgbClr val="1A5FB4"/>
                </a:solidFill>
                <a:latin typeface="Courier New" pitchFamily="34" charset="0"/>
                <a:ea typeface="Courier New" pitchFamily="34" charset="-122"/>
                <a:cs typeface="Courier New" pitchFamily="34" charset="-120"/>
              </a:rPr>
              <a:t>&lt;li&gt;</a:t>
            </a:r>
            <a:pPr indent="0" marL="0">
              <a:buNone/>
            </a:pPr>
            <a:r>
              <a:rPr lang="en-US" sz="1200" dirty="0">
                <a:solidFill>
                  <a:srgbClr val="1E2A26"/>
                </a:solidFill>
                <a:latin typeface="Courier New" pitchFamily="34" charset="0"/>
                <a:ea typeface="Courier New" pitchFamily="34" charset="-122"/>
                <a:cs typeface="Courier New" pitchFamily="34" charset="-120"/>
              </a:rPr>
              <a:t>Hormati guru</a:t>
            </a:r>
            <a:pPr indent="0" marL="0">
              <a:buNone/>
            </a:pPr>
            <a:r>
              <a:rPr lang="en-US" sz="1200" dirty="0">
                <a:solidFill>
                  <a:srgbClr val="1A5FB4"/>
                </a:solidFill>
                <a:latin typeface="Courier New" pitchFamily="34" charset="0"/>
                <a:ea typeface="Courier New" pitchFamily="34" charset="-122"/>
                <a:cs typeface="Courier New" pitchFamily="34" charset="-120"/>
              </a:rPr>
              <a:t>&lt;/li&gt;</a:t>
            </a:r>
            <a:endParaRPr lang="en-US" sz="1200" dirty="0"/>
          </a:p>
        </p:txBody>
      </p:sp>
      <p:sp>
        <p:nvSpPr>
          <p:cNvPr id="26" name="Text 22"/>
          <p:cNvSpPr txBox="1"/>
          <p:nvPr/>
        </p:nvSpPr>
        <p:spPr>
          <a:xfrm>
            <a:off x="4892040" y="2432304"/>
            <a:ext cx="3657600" cy="274320"/>
          </a:xfrm>
          <a:prstGeom prst="rect">
            <a:avLst/>
          </a:prstGeom>
          <a:noFill/>
          <a:ln/>
        </p:spPr>
        <p:txBody>
          <a:bodyPr wrap="square" lIns="0" tIns="0" rIns="0" bIns="0" rtlCol="0" anchor="ctr"/>
          <a:lstStyle/>
          <a:p>
            <a:pPr indent="0" marL="0">
              <a:buNone/>
            </a:pPr>
            <a:r>
              <a:rPr lang="en-US" sz="1200" dirty="0">
                <a:solidFill>
                  <a:srgbClr val="1E2A26"/>
                </a:solidFill>
                <a:latin typeface="Courier New" pitchFamily="34" charset="0"/>
                <a:ea typeface="Courier New" pitchFamily="34" charset="-122"/>
                <a:cs typeface="Courier New" pitchFamily="34" charset="-120"/>
              </a:rPr>
              <a:t>  </a:t>
            </a:r>
            <a:pPr indent="0" marL="0">
              <a:buNone/>
            </a:pPr>
            <a:r>
              <a:rPr lang="en-US" sz="1200" dirty="0">
                <a:solidFill>
                  <a:srgbClr val="1A5FB4"/>
                </a:solidFill>
                <a:latin typeface="Courier New" pitchFamily="34" charset="0"/>
                <a:ea typeface="Courier New" pitchFamily="34" charset="-122"/>
                <a:cs typeface="Courier New" pitchFamily="34" charset="-120"/>
              </a:rPr>
              <a:t>&lt;li&gt;</a:t>
            </a:r>
            <a:pPr indent="0" marL="0">
              <a:buNone/>
            </a:pPr>
            <a:r>
              <a:rPr lang="en-US" sz="1200" dirty="0">
                <a:solidFill>
                  <a:srgbClr val="1E2A26"/>
                </a:solidFill>
                <a:latin typeface="Courier New" pitchFamily="34" charset="0"/>
                <a:ea typeface="Courier New" pitchFamily="34" charset="-122"/>
                <a:cs typeface="Courier New" pitchFamily="34" charset="-120"/>
              </a:rPr>
              <a:t>Tepat waktu</a:t>
            </a:r>
            <a:pPr indent="0" marL="0">
              <a:buNone/>
            </a:pPr>
            <a:r>
              <a:rPr lang="en-US" sz="1200" dirty="0">
                <a:solidFill>
                  <a:srgbClr val="1A5FB4"/>
                </a:solidFill>
                <a:latin typeface="Courier New" pitchFamily="34" charset="0"/>
                <a:ea typeface="Courier New" pitchFamily="34" charset="-122"/>
                <a:cs typeface="Courier New" pitchFamily="34" charset="-120"/>
              </a:rPr>
              <a:t>&lt;/li&gt;</a:t>
            </a:r>
            <a:endParaRPr lang="en-US" sz="1200" dirty="0"/>
          </a:p>
        </p:txBody>
      </p:sp>
      <p:sp>
        <p:nvSpPr>
          <p:cNvPr id="27" name="Text 23"/>
          <p:cNvSpPr txBox="1"/>
          <p:nvPr/>
        </p:nvSpPr>
        <p:spPr>
          <a:xfrm>
            <a:off x="4892040" y="2724912"/>
            <a:ext cx="3657600" cy="274320"/>
          </a:xfrm>
          <a:prstGeom prst="rect">
            <a:avLst/>
          </a:prstGeom>
          <a:noFill/>
          <a:ln/>
        </p:spPr>
        <p:txBody>
          <a:bodyPr wrap="square" lIns="0" tIns="0" rIns="0" bIns="0" rtlCol="0" anchor="ctr"/>
          <a:lstStyle/>
          <a:p>
            <a:pPr indent="0" marL="0">
              <a:buNone/>
            </a:pPr>
            <a:r>
              <a:rPr lang="en-US" sz="1200" dirty="0">
                <a:solidFill>
                  <a:srgbClr val="1A5FB4"/>
                </a:solidFill>
                <a:latin typeface="Courier New" pitchFamily="34" charset="0"/>
                <a:ea typeface="Courier New" pitchFamily="34" charset="-122"/>
                <a:cs typeface="Courier New" pitchFamily="34" charset="-120"/>
              </a:rPr>
              <a:t>&lt;/ol&gt;</a:t>
            </a:r>
            <a:endParaRPr lang="en-US" sz="1200" dirty="0"/>
          </a:p>
        </p:txBody>
      </p:sp>
      <p:sp>
        <p:nvSpPr>
          <p:cNvPr id="28" name="Shape 24"/>
          <p:cNvSpPr/>
          <p:nvPr/>
        </p:nvSpPr>
        <p:spPr>
          <a:xfrm>
            <a:off x="4754880" y="3200400"/>
            <a:ext cx="3931920" cy="1371600"/>
          </a:xfrm>
          <a:prstGeom prst="roundRect">
            <a:avLst>
              <a:gd name="adj" fmla="val 4000"/>
            </a:avLst>
          </a:prstGeom>
          <a:solidFill>
            <a:srgbClr val="E6F2EC"/>
          </a:solidFill>
          <a:ln w="12700">
            <a:solidFill>
              <a:srgbClr val="E6F2EC"/>
            </a:solidFill>
            <a:prstDash val="solid"/>
          </a:ln>
        </p:spPr>
      </p:sp>
      <p:sp>
        <p:nvSpPr>
          <p:cNvPr id="29" name="Text 25"/>
          <p:cNvSpPr txBox="1"/>
          <p:nvPr/>
        </p:nvSpPr>
        <p:spPr>
          <a:xfrm>
            <a:off x="4892040" y="3246120"/>
            <a:ext cx="3657600" cy="228600"/>
          </a:xfrm>
          <a:prstGeom prst="rect">
            <a:avLst/>
          </a:prstGeom>
          <a:noFill/>
          <a:ln/>
        </p:spPr>
        <p:txBody>
          <a:bodyPr wrap="square" lIns="0" tIns="0" rIns="0" bIns="0" rtlCol="0" anchor="t"/>
          <a:lstStyle/>
          <a:p>
            <a:pPr indent="0" marL="0">
              <a:buNone/>
            </a:pPr>
            <a:r>
              <a:rPr lang="en-US" sz="1100" i="1" dirty="0">
                <a:solidFill>
                  <a:srgbClr val="5F6F68"/>
                </a:solidFill>
                <a:latin typeface="Calibri" pitchFamily="34" charset="0"/>
                <a:ea typeface="Calibri" pitchFamily="34" charset="-122"/>
                <a:cs typeface="Calibri" pitchFamily="34" charset="-120"/>
              </a:rPr>
              <a:t>Tampil di browser:</a:t>
            </a:r>
            <a:endParaRPr lang="en-US" sz="1100" dirty="0"/>
          </a:p>
        </p:txBody>
      </p:sp>
      <p:sp>
        <p:nvSpPr>
          <p:cNvPr id="30" name="Text 26"/>
          <p:cNvSpPr txBox="1"/>
          <p:nvPr/>
        </p:nvSpPr>
        <p:spPr>
          <a:xfrm>
            <a:off x="5074920" y="3520440"/>
            <a:ext cx="3474720" cy="274320"/>
          </a:xfrm>
          <a:prstGeom prst="rect">
            <a:avLst/>
          </a:prstGeom>
          <a:noFill/>
          <a:ln/>
        </p:spPr>
        <p:txBody>
          <a:bodyPr wrap="square" lIns="0" tIns="0" rIns="0" bIns="0" rtlCol="0" anchor="t"/>
          <a:lstStyle/>
          <a:p>
            <a:pPr indent="0" marL="0">
              <a:buNone/>
            </a:pPr>
            <a:r>
              <a:rPr lang="en-US" sz="1300" dirty="0">
                <a:solidFill>
                  <a:srgbClr val="1E2A26"/>
                </a:solidFill>
                <a:latin typeface="Times New Roman" pitchFamily="34" charset="0"/>
                <a:ea typeface="Times New Roman" pitchFamily="34" charset="-122"/>
                <a:cs typeface="Times New Roman" pitchFamily="34" charset="-120"/>
              </a:rPr>
              <a:t>1. Ikhlas</a:t>
            </a:r>
            <a:endParaRPr lang="en-US" sz="1300" dirty="0"/>
          </a:p>
        </p:txBody>
      </p:sp>
      <p:sp>
        <p:nvSpPr>
          <p:cNvPr id="31" name="Text 27"/>
          <p:cNvSpPr txBox="1"/>
          <p:nvPr/>
        </p:nvSpPr>
        <p:spPr>
          <a:xfrm>
            <a:off x="5074920" y="3813048"/>
            <a:ext cx="3474720" cy="274320"/>
          </a:xfrm>
          <a:prstGeom prst="rect">
            <a:avLst/>
          </a:prstGeom>
          <a:noFill/>
          <a:ln/>
        </p:spPr>
        <p:txBody>
          <a:bodyPr wrap="square" lIns="0" tIns="0" rIns="0" bIns="0" rtlCol="0" anchor="t"/>
          <a:lstStyle/>
          <a:p>
            <a:pPr indent="0" marL="0">
              <a:buNone/>
            </a:pPr>
            <a:r>
              <a:rPr lang="en-US" sz="1300" dirty="0">
                <a:solidFill>
                  <a:srgbClr val="1E2A26"/>
                </a:solidFill>
                <a:latin typeface="Times New Roman" pitchFamily="34" charset="0"/>
                <a:ea typeface="Times New Roman" pitchFamily="34" charset="-122"/>
                <a:cs typeface="Times New Roman" pitchFamily="34" charset="-120"/>
              </a:rPr>
              <a:t>2. Hormati guru</a:t>
            </a:r>
            <a:endParaRPr lang="en-US" sz="1300" dirty="0"/>
          </a:p>
        </p:txBody>
      </p:sp>
      <p:sp>
        <p:nvSpPr>
          <p:cNvPr id="32" name="Text 28"/>
          <p:cNvSpPr txBox="1"/>
          <p:nvPr/>
        </p:nvSpPr>
        <p:spPr>
          <a:xfrm>
            <a:off x="5074920" y="4105656"/>
            <a:ext cx="3474720" cy="274320"/>
          </a:xfrm>
          <a:prstGeom prst="rect">
            <a:avLst/>
          </a:prstGeom>
          <a:noFill/>
          <a:ln/>
        </p:spPr>
        <p:txBody>
          <a:bodyPr wrap="square" lIns="0" tIns="0" rIns="0" bIns="0" rtlCol="0" anchor="t"/>
          <a:lstStyle/>
          <a:p>
            <a:pPr indent="0" marL="0">
              <a:buNone/>
            </a:pPr>
            <a:r>
              <a:rPr lang="en-US" sz="1300" dirty="0">
                <a:solidFill>
                  <a:srgbClr val="1E2A26"/>
                </a:solidFill>
                <a:latin typeface="Times New Roman" pitchFamily="34" charset="0"/>
                <a:ea typeface="Times New Roman" pitchFamily="34" charset="-122"/>
                <a:cs typeface="Times New Roman" pitchFamily="34" charset="-120"/>
              </a:rPr>
              <a:t>3. Tepat waktu</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Gambar dan Link: Memakai Atribut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8229600" cy="777240"/>
          </a:xfrm>
          <a:prstGeom prst="roundRect">
            <a:avLst>
              <a:gd name="adj" fmla="val 7059"/>
            </a:avLst>
          </a:prstGeom>
          <a:solidFill>
            <a:srgbClr val="FFFFFF"/>
          </a:solidFill>
          <a:ln w="12700">
            <a:solidFill>
              <a:srgbClr val="BBBBBB"/>
            </a:solidFill>
            <a:prstDash val="solid"/>
          </a:ln>
        </p:spPr>
      </p:sp>
      <p:sp>
        <p:nvSpPr>
          <p:cNvPr id="10" name="Text 6"/>
          <p:cNvSpPr txBox="1"/>
          <p:nvPr/>
        </p:nvSpPr>
        <p:spPr>
          <a:xfrm>
            <a:off x="640080" y="1143000"/>
            <a:ext cx="7863840" cy="777240"/>
          </a:xfrm>
          <a:prstGeom prst="rect">
            <a:avLst/>
          </a:prstGeom>
          <a:noFill/>
          <a:ln/>
        </p:spPr>
        <p:txBody>
          <a:bodyPr wrap="square" lIns="0" tIns="0" rIns="0" bIns="0" rtlCol="0" anchor="ctr"/>
          <a:lstStyle/>
          <a:p>
            <a:pPr indent="0" marL="0">
              <a:buNone/>
            </a:pPr>
            <a:r>
              <a:rPr lang="en-US" sz="1500" dirty="0">
                <a:solidFill>
                  <a:srgbClr val="1A5FB4"/>
                </a:solidFill>
                <a:latin typeface="Courier New" pitchFamily="34" charset="0"/>
                <a:ea typeface="Courier New" pitchFamily="34" charset="-122"/>
                <a:cs typeface="Courier New" pitchFamily="34" charset="-120"/>
              </a:rPr>
              <a:t>&lt;img </a:t>
            </a:r>
            <a:pPr indent="0" marL="0">
              <a:buNone/>
            </a:pPr>
            <a:r>
              <a:rPr lang="en-US" sz="1500" b="1" dirty="0">
                <a:solidFill>
                  <a:srgbClr val="E53935"/>
                </a:solidFill>
                <a:latin typeface="Courier New" pitchFamily="34" charset="0"/>
                <a:ea typeface="Courier New" pitchFamily="34" charset="-122"/>
                <a:cs typeface="Courier New" pitchFamily="34" charset="-120"/>
              </a:rPr>
              <a:t>src</a:t>
            </a:r>
            <a:pPr indent="0" marL="0">
              <a:buNone/>
            </a:pPr>
            <a:r>
              <a:rPr lang="en-US" sz="1500" dirty="0">
                <a:solidFill>
                  <a:srgbClr val="1E2A26"/>
                </a:solidFill>
                <a:latin typeface="Courier New" pitchFamily="34" charset="0"/>
                <a:ea typeface="Courier New" pitchFamily="34" charset="-122"/>
                <a:cs typeface="Courier New" pitchFamily="34" charset="-120"/>
              </a:rPr>
              <a:t>="pondok.jpg" </a:t>
            </a:r>
            <a:pPr indent="0" marL="0">
              <a:buNone/>
            </a:pPr>
            <a:r>
              <a:rPr lang="en-US" sz="1500" b="1" dirty="0">
                <a:solidFill>
                  <a:srgbClr val="E53935"/>
                </a:solidFill>
                <a:latin typeface="Courier New" pitchFamily="34" charset="0"/>
                <a:ea typeface="Courier New" pitchFamily="34" charset="-122"/>
                <a:cs typeface="Courier New" pitchFamily="34" charset="-120"/>
              </a:rPr>
              <a:t>alt</a:t>
            </a:r>
            <a:pPr indent="0" marL="0">
              <a:buNone/>
            </a:pPr>
            <a:r>
              <a:rPr lang="en-US" sz="1500" dirty="0">
                <a:solidFill>
                  <a:srgbClr val="1E2A26"/>
                </a:solidFill>
                <a:latin typeface="Courier New" pitchFamily="34" charset="0"/>
                <a:ea typeface="Courier New" pitchFamily="34" charset="-122"/>
                <a:cs typeface="Courier New" pitchFamily="34" charset="-120"/>
              </a:rPr>
              <a:t>="Gedung pondok" </a:t>
            </a:r>
            <a:pPr indent="0" marL="0">
              <a:buNone/>
            </a:pPr>
            <a:r>
              <a:rPr lang="en-US" sz="1500" b="1" dirty="0">
                <a:solidFill>
                  <a:srgbClr val="E53935"/>
                </a:solidFill>
                <a:latin typeface="Courier New" pitchFamily="34" charset="0"/>
                <a:ea typeface="Courier New" pitchFamily="34" charset="-122"/>
                <a:cs typeface="Courier New" pitchFamily="34" charset="-120"/>
              </a:rPr>
              <a:t>width</a:t>
            </a:r>
            <a:pPr indent="0" marL="0">
              <a:buNone/>
            </a:pPr>
            <a:r>
              <a:rPr lang="en-US" sz="1500" dirty="0">
                <a:solidFill>
                  <a:srgbClr val="1E2A26"/>
                </a:solidFill>
                <a:latin typeface="Courier New" pitchFamily="34" charset="0"/>
                <a:ea typeface="Courier New" pitchFamily="34" charset="-122"/>
                <a:cs typeface="Courier New" pitchFamily="34" charset="-120"/>
              </a:rPr>
              <a:t>="300"&gt;</a:t>
            </a:r>
            <a:endParaRPr lang="en-US" sz="1500" dirty="0"/>
          </a:p>
        </p:txBody>
      </p:sp>
      <p:sp>
        <p:nvSpPr>
          <p:cNvPr id="11" name="Text 7"/>
          <p:cNvSpPr txBox="1"/>
          <p:nvPr/>
        </p:nvSpPr>
        <p:spPr>
          <a:xfrm>
            <a:off x="457200" y="1947672"/>
            <a:ext cx="8229600" cy="320040"/>
          </a:xfrm>
          <a:prstGeom prst="rect">
            <a:avLst/>
          </a:prstGeom>
          <a:noFill/>
          <a:ln/>
        </p:spPr>
        <p:txBody>
          <a:bodyPr wrap="square" lIns="0" tIns="0" rIns="0" bIns="0" rtlCol="0" anchor="t"/>
          <a:lstStyle/>
          <a:p>
            <a:pPr indent="0" marL="0">
              <a:buNone/>
            </a:pPr>
            <a:r>
              <a:rPr lang="en-US" sz="1250" dirty="0">
                <a:solidFill>
                  <a:srgbClr val="5F6F68"/>
                </a:solidFill>
                <a:latin typeface="Calibri" pitchFamily="34" charset="0"/>
                <a:ea typeface="Calibri" pitchFamily="34" charset="-122"/>
                <a:cs typeface="Calibri" pitchFamily="34" charset="-120"/>
              </a:rPr>
              <a:t>src = nama file gambar · alt = keterangan gambar · width = lebar (piksel). Tag img tidak perlu penutup.</a:t>
            </a:r>
            <a:endParaRPr lang="en-US" sz="1250" dirty="0"/>
          </a:p>
        </p:txBody>
      </p:sp>
      <p:sp>
        <p:nvSpPr>
          <p:cNvPr id="12" name="Shape 8"/>
          <p:cNvSpPr/>
          <p:nvPr/>
        </p:nvSpPr>
        <p:spPr>
          <a:xfrm>
            <a:off x="457200" y="2423160"/>
            <a:ext cx="8229600" cy="777240"/>
          </a:xfrm>
          <a:prstGeom prst="roundRect">
            <a:avLst>
              <a:gd name="adj" fmla="val 7059"/>
            </a:avLst>
          </a:prstGeom>
          <a:solidFill>
            <a:srgbClr val="FFFFFF"/>
          </a:solidFill>
          <a:ln w="12700">
            <a:solidFill>
              <a:srgbClr val="BBBBBB"/>
            </a:solidFill>
            <a:prstDash val="solid"/>
          </a:ln>
        </p:spPr>
      </p:sp>
      <p:sp>
        <p:nvSpPr>
          <p:cNvPr id="13" name="Text 9"/>
          <p:cNvSpPr txBox="1"/>
          <p:nvPr/>
        </p:nvSpPr>
        <p:spPr>
          <a:xfrm>
            <a:off x="640080" y="2423160"/>
            <a:ext cx="7863840" cy="777240"/>
          </a:xfrm>
          <a:prstGeom prst="rect">
            <a:avLst/>
          </a:prstGeom>
          <a:noFill/>
          <a:ln/>
        </p:spPr>
        <p:txBody>
          <a:bodyPr wrap="square" lIns="0" tIns="0" rIns="0" bIns="0" rtlCol="0" anchor="ctr"/>
          <a:lstStyle/>
          <a:p>
            <a:pPr indent="0" marL="0">
              <a:buNone/>
            </a:pPr>
            <a:r>
              <a:rPr lang="en-US" sz="1500" dirty="0">
                <a:solidFill>
                  <a:srgbClr val="1A5FB4"/>
                </a:solidFill>
                <a:latin typeface="Courier New" pitchFamily="34" charset="0"/>
                <a:ea typeface="Courier New" pitchFamily="34" charset="-122"/>
                <a:cs typeface="Courier New" pitchFamily="34" charset="-120"/>
              </a:rPr>
              <a:t>&lt;a </a:t>
            </a:r>
            <a:pPr indent="0" marL="0">
              <a:buNone/>
            </a:pPr>
            <a:r>
              <a:rPr lang="en-US" sz="1500" b="1" dirty="0">
                <a:solidFill>
                  <a:srgbClr val="E53935"/>
                </a:solidFill>
                <a:latin typeface="Courier New" pitchFamily="34" charset="0"/>
                <a:ea typeface="Courier New" pitchFamily="34" charset="-122"/>
                <a:cs typeface="Courier New" pitchFamily="34" charset="-120"/>
              </a:rPr>
              <a:t>href</a:t>
            </a:r>
            <a:pPr indent="0" marL="0">
              <a:buNone/>
            </a:pPr>
            <a:r>
              <a:rPr lang="en-US" sz="1500" dirty="0">
                <a:solidFill>
                  <a:srgbClr val="1E2A26"/>
                </a:solidFill>
                <a:latin typeface="Courier New" pitchFamily="34" charset="0"/>
                <a:ea typeface="Courier New" pitchFamily="34" charset="-122"/>
                <a:cs typeface="Courier New" pitchFamily="34" charset="-120"/>
              </a:rPr>
              <a:t>="https://sites.google.com/view/kelas8a-wu"&gt;</a:t>
            </a:r>
            <a:pPr indent="0" marL="0">
              <a:buNone/>
            </a:pPr>
            <a:r>
              <a:rPr lang="en-US" sz="1500" b="1" dirty="0">
                <a:solidFill>
                  <a:srgbClr val="1E2A26"/>
                </a:solidFill>
                <a:latin typeface="Courier New" pitchFamily="34" charset="0"/>
                <a:ea typeface="Courier New" pitchFamily="34" charset="-122"/>
                <a:cs typeface="Courier New" pitchFamily="34" charset="-120"/>
              </a:rPr>
              <a:t>Website Kelas</a:t>
            </a:r>
            <a:pPr indent="0" marL="0">
              <a:buNone/>
            </a:pPr>
            <a:r>
              <a:rPr lang="en-US" sz="1500" dirty="0">
                <a:solidFill>
                  <a:srgbClr val="1A5FB4"/>
                </a:solidFill>
                <a:latin typeface="Courier New" pitchFamily="34" charset="0"/>
                <a:ea typeface="Courier New" pitchFamily="34" charset="-122"/>
                <a:cs typeface="Courier New" pitchFamily="34" charset="-120"/>
              </a:rPr>
              <a:t>&lt;/a&gt;</a:t>
            </a:r>
            <a:endParaRPr lang="en-US" sz="1500" dirty="0"/>
          </a:p>
        </p:txBody>
      </p:sp>
      <p:sp>
        <p:nvSpPr>
          <p:cNvPr id="14" name="Text 10"/>
          <p:cNvSpPr txBox="1"/>
          <p:nvPr/>
        </p:nvSpPr>
        <p:spPr>
          <a:xfrm>
            <a:off x="457200" y="3227832"/>
            <a:ext cx="8229600" cy="320040"/>
          </a:xfrm>
          <a:prstGeom prst="rect">
            <a:avLst/>
          </a:prstGeom>
          <a:noFill/>
          <a:ln/>
        </p:spPr>
        <p:txBody>
          <a:bodyPr wrap="square" lIns="0" tIns="0" rIns="0" bIns="0" rtlCol="0" anchor="t"/>
          <a:lstStyle/>
          <a:p>
            <a:pPr indent="0" marL="0">
              <a:buNone/>
            </a:pPr>
            <a:r>
              <a:rPr lang="en-US" sz="1250" dirty="0">
                <a:solidFill>
                  <a:srgbClr val="5F6F68"/>
                </a:solidFill>
                <a:latin typeface="Calibri" pitchFamily="34" charset="0"/>
                <a:ea typeface="Calibri" pitchFamily="34" charset="-122"/>
                <a:cs typeface="Calibri" pitchFamily="34" charset="-120"/>
              </a:rPr>
              <a:t>href = alamat tujuan · tulisan di antara &lt;a&gt; dan &lt;/a&gt; = teks yang diklik</a:t>
            </a:r>
            <a:endParaRPr lang="en-US" sz="1250" dirty="0"/>
          </a:p>
        </p:txBody>
      </p:sp>
      <p:sp>
        <p:nvSpPr>
          <p:cNvPr id="15" name="Shape 11"/>
          <p:cNvSpPr/>
          <p:nvPr/>
        </p:nvSpPr>
        <p:spPr>
          <a:xfrm>
            <a:off x="457200" y="3749040"/>
            <a:ext cx="8229600" cy="822960"/>
          </a:xfrm>
          <a:prstGeom prst="roundRect">
            <a:avLst>
              <a:gd name="adj" fmla="val 11111"/>
            </a:avLst>
          </a:prstGeom>
          <a:solidFill>
            <a:srgbClr val="FBF1D3"/>
          </a:solidFill>
          <a:ln w="12700">
            <a:solidFill>
              <a:srgbClr val="FBF1D3"/>
            </a:solidFill>
            <a:prstDash val="solid"/>
          </a:ln>
        </p:spPr>
      </p:sp>
      <p:sp>
        <p:nvSpPr>
          <p:cNvPr id="16" name="Text 12"/>
          <p:cNvSpPr txBox="1"/>
          <p:nvPr/>
        </p:nvSpPr>
        <p:spPr>
          <a:xfrm>
            <a:off x="640080" y="3749040"/>
            <a:ext cx="7863840" cy="82296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ATRIBUT ditulis di dalam tag pembuka: nama="nilai". Nilai selalu diapit tanda kutip.</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Melengkapi Halaman Profil</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Lanjutkan index.html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Judul, format teks, daftar</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Menyiapkan dan menyisipkan gambar</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Link dan pemeriksaan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Teks &amp; Daftar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&lt;!DOCTYPE html&gt;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&lt;html&gt;</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31" name="Shape 27"/>
          <p:cNvSpPr/>
          <p:nvPr/>
        </p:nvSpPr>
        <p:spPr>
          <a:xfrm>
            <a:off x="913668" y="2182760"/>
            <a:ext cx="4555175" cy="173736"/>
          </a:xfrm>
          <a:prstGeom prst="rect">
            <a:avLst/>
          </a:prstGeom>
          <a:solidFill>
            <a:srgbClr val="FFF59D"/>
          </a:solidFill>
          <a:ln w="12700">
            <a:solidFill>
              <a:srgbClr val="FFF59D"/>
            </a:solidFill>
            <a:prstDash val="solid"/>
          </a:ln>
        </p:spPr>
      </p:sp>
      <p:sp>
        <p:nvSpPr>
          <p:cNvPr id="32" name="Text 28"/>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3" name="Text 29"/>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&lt;meta charset="UTF-8"&gt;</a:t>
            </a:r>
            <a:endParaRPr lang="en-US" sz="900" dirty="0"/>
          </a:p>
        </p:txBody>
      </p:sp>
      <p:sp>
        <p:nvSpPr>
          <p:cNvPr id="34" name="Text 30"/>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5" name="Text 31"/>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pPr indent="0" marL="0">
              <a:buNone/>
            </a:pPr>
            <a:r>
              <a:rPr lang="en-US" sz="900" dirty="0">
                <a:solidFill>
                  <a:srgbClr val="222222"/>
                </a:solidFill>
                <a:latin typeface="Courier New" pitchFamily="34" charset="0"/>
                <a:ea typeface="Courier New" pitchFamily="34" charset="-122"/>
                <a:cs typeface="Courier New" pitchFamily="34" charset="-120"/>
              </a:rPr>
              <a:t>Profil Santri</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endParaRPr lang="en-US" sz="900" dirty="0"/>
          </a:p>
        </p:txBody>
      </p:sp>
      <p:sp>
        <p:nvSpPr>
          <p:cNvPr id="36" name="Text 32"/>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7" name="Text 33"/>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38" name="Text 34"/>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9" name="Text 35"/>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40" name="Text 36"/>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1" name="Text 37"/>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&lt;h1&gt;</a:t>
            </a:r>
            <a:pPr indent="0" marL="0">
              <a:buNone/>
            </a:pPr>
            <a:r>
              <a:rPr lang="en-US" sz="900" dirty="0">
                <a:solidFill>
                  <a:srgbClr val="222222"/>
                </a:solidFill>
                <a:latin typeface="Courier New" pitchFamily="34" charset="0"/>
                <a:ea typeface="Courier New" pitchFamily="34" charset="-122"/>
                <a:cs typeface="Courier New" pitchFamily="34" charset="-120"/>
              </a:rPr>
              <a:t>Assalamu'alaikum!</a:t>
            </a:r>
            <a:pPr indent="0" marL="0">
              <a:buNone/>
            </a:pPr>
            <a:r>
              <a:rPr lang="en-US" sz="900" dirty="0">
                <a:solidFill>
                  <a:srgbClr val="1A5FB4"/>
                </a:solidFill>
                <a:latin typeface="Courier New" pitchFamily="34" charset="0"/>
                <a:ea typeface="Courier New" pitchFamily="34" charset="-122"/>
                <a:cs typeface="Courier New" pitchFamily="34" charset="-120"/>
              </a:rPr>
              <a:t>&lt;/h1&gt;</a:t>
            </a:r>
            <a:endParaRPr lang="en-US" sz="900" dirty="0"/>
          </a:p>
        </p:txBody>
      </p:sp>
      <p:sp>
        <p:nvSpPr>
          <p:cNvPr id="42" name="Shape 38"/>
          <p:cNvSpPr/>
          <p:nvPr/>
        </p:nvSpPr>
        <p:spPr>
          <a:xfrm>
            <a:off x="913668" y="3051440"/>
            <a:ext cx="4555175" cy="173736"/>
          </a:xfrm>
          <a:prstGeom prst="rect">
            <a:avLst/>
          </a:prstGeom>
          <a:solidFill>
            <a:srgbClr val="FFF59D"/>
          </a:solidFill>
          <a:ln w="12700">
            <a:solidFill>
              <a:srgbClr val="FFF59D"/>
            </a:solidFill>
            <a:prstDash val="solid"/>
          </a:ln>
        </p:spPr>
      </p:sp>
      <p:sp>
        <p:nvSpPr>
          <p:cNvPr id="43" name="Text 39"/>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4" name="Text 40"/>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Nama saya </a:t>
            </a:r>
            <a:pPr indent="0" marL="0">
              <a:buNone/>
            </a:pPr>
            <a:r>
              <a:rPr lang="en-US" sz="900" dirty="0">
                <a:solidFill>
                  <a:srgbClr val="1A5FB4"/>
                </a:solidFill>
                <a:latin typeface="Courier New" pitchFamily="34" charset="0"/>
                <a:ea typeface="Courier New" pitchFamily="34" charset="-122"/>
                <a:cs typeface="Courier New" pitchFamily="34" charset="-120"/>
              </a:rPr>
              <a:t>&lt;b&gt;</a:t>
            </a:r>
            <a:pPr indent="0" marL="0">
              <a:buNone/>
            </a:pPr>
            <a:r>
              <a:rPr lang="en-US" sz="900" dirty="0">
                <a:solidFill>
                  <a:srgbClr val="222222"/>
                </a:solidFill>
                <a:latin typeface="Courier New" pitchFamily="34" charset="0"/>
                <a:ea typeface="Courier New" pitchFamily="34" charset="-122"/>
                <a:cs typeface="Courier New" pitchFamily="34" charset="-120"/>
              </a:rPr>
              <a:t>Ahmad</a:t>
            </a:r>
            <a:pPr indent="0" marL="0">
              <a:buNone/>
            </a:pPr>
            <a:r>
              <a:rPr lang="en-US" sz="900" dirty="0">
                <a:solidFill>
                  <a:srgbClr val="1A5FB4"/>
                </a:solidFill>
                <a:latin typeface="Courier New" pitchFamily="34" charset="0"/>
                <a:ea typeface="Courier New" pitchFamily="34" charset="-122"/>
                <a:cs typeface="Courier New" pitchFamily="34" charset="-120"/>
              </a:rPr>
              <a:t>&lt;/b&gt;</a:t>
            </a:r>
            <a:pPr indent="0" marL="0">
              <a:buNone/>
            </a:pPr>
            <a:r>
              <a:rPr lang="en-US" sz="900" dirty="0">
                <a:solidFill>
                  <a:srgbClr val="222222"/>
                </a:solidFill>
                <a:latin typeface="Courier New" pitchFamily="34" charset="0"/>
                <a:ea typeface="Courier New" pitchFamily="34" charset="-122"/>
                <a:cs typeface="Courier New" pitchFamily="34" charset="-120"/>
              </a:rPr>
              <a:t>, santri Kelas 8A.</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45" name="Text 41"/>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46" name="Text 42"/>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47" name="Text 43"/>
          <p:cNvSpPr txBox="1"/>
          <p:nvPr/>
        </p:nvSpPr>
        <p:spPr>
          <a:xfrm>
            <a:off x="639348" y="339891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11</a:t>
            </a:r>
            <a:endParaRPr lang="en-US" sz="800" dirty="0"/>
          </a:p>
        </p:txBody>
      </p:sp>
      <p:sp>
        <p:nvSpPr>
          <p:cNvPr id="48" name="Text 44"/>
          <p:cNvSpPr txBox="1"/>
          <p:nvPr/>
        </p:nvSpPr>
        <p:spPr>
          <a:xfrm>
            <a:off x="986820" y="339891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&lt;/html&gt;</a:t>
            </a:r>
            <a:endParaRPr lang="en-US" sz="900" dirty="0"/>
          </a:p>
        </p:txBody>
      </p:sp>
      <p:sp>
        <p:nvSpPr>
          <p:cNvPr id="49" name="Shape 45"/>
          <p:cNvSpPr/>
          <p:nvPr/>
        </p:nvSpPr>
        <p:spPr>
          <a:xfrm>
            <a:off x="913668" y="2164472"/>
            <a:ext cx="4555175" cy="210312"/>
          </a:xfrm>
          <a:prstGeom prst="roundRect">
            <a:avLst>
              <a:gd name="adj" fmla="val 21739"/>
            </a:avLst>
          </a:prstGeom>
          <a:solidFill>
            <a:srgbClr val="FFFFFF">
              <a:alpha val="0"/>
            </a:srgbClr>
          </a:solidFill>
          <a:ln w="31750">
            <a:solidFill>
              <a:srgbClr val="E53935"/>
            </a:solidFill>
            <a:prstDash val="solid"/>
          </a:ln>
        </p:spPr>
      </p:sp>
      <p:sp>
        <p:nvSpPr>
          <p:cNvPr id="50" name="Shape 46"/>
          <p:cNvSpPr/>
          <p:nvPr/>
        </p:nvSpPr>
        <p:spPr>
          <a:xfrm>
            <a:off x="5331684" y="2027312"/>
            <a:ext cx="274320" cy="274320"/>
          </a:xfrm>
          <a:prstGeom prst="ellipse">
            <a:avLst/>
          </a:prstGeom>
          <a:solidFill>
            <a:srgbClr val="E53935"/>
          </a:solidFill>
          <a:ln w="12700">
            <a:solidFill>
              <a:srgbClr val="FFFFFF"/>
            </a:solidFill>
            <a:prstDash val="solid"/>
          </a:ln>
        </p:spPr>
      </p:sp>
      <p:sp>
        <p:nvSpPr>
          <p:cNvPr id="51" name="Text 47"/>
          <p:cNvSpPr txBox="1"/>
          <p:nvPr/>
        </p:nvSpPr>
        <p:spPr>
          <a:xfrm>
            <a:off x="5331684" y="2027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2" name="Image 2" descr="preencoded.png">    </p:cNvPr>
          <p:cNvPicPr>
            <a:picLocks noChangeAspect="1"/>
          </p:cNvPicPr>
          <p:nvPr/>
        </p:nvPicPr>
        <p:blipFill>
          <a:blip r:embed="rId3"/>
          <a:stretch>
            <a:fillRect/>
          </a:stretch>
        </p:blipFill>
        <p:spPr>
          <a:xfrm>
            <a:off x="3417186" y="2278314"/>
            <a:ext cx="237744" cy="237744"/>
          </a:xfrm>
          <a:prstGeom prst="rect">
            <a:avLst/>
          </a:prstGeom>
        </p:spPr>
      </p:pic>
      <p:sp>
        <p:nvSpPr>
          <p:cNvPr id="53" name="Shape 48"/>
          <p:cNvSpPr/>
          <p:nvPr/>
        </p:nvSpPr>
        <p:spPr>
          <a:xfrm>
            <a:off x="913668" y="3033152"/>
            <a:ext cx="4555175" cy="210312"/>
          </a:xfrm>
          <a:prstGeom prst="roundRect">
            <a:avLst>
              <a:gd name="adj" fmla="val 21739"/>
            </a:avLst>
          </a:prstGeom>
          <a:solidFill>
            <a:srgbClr val="FFFFFF">
              <a:alpha val="0"/>
            </a:srgbClr>
          </a:solidFill>
          <a:ln w="31750">
            <a:solidFill>
              <a:srgbClr val="E53935"/>
            </a:solidFill>
            <a:prstDash val="solid"/>
          </a:ln>
        </p:spPr>
      </p:sp>
      <p:sp>
        <p:nvSpPr>
          <p:cNvPr id="54" name="Shape 49"/>
          <p:cNvSpPr/>
          <p:nvPr/>
        </p:nvSpPr>
        <p:spPr>
          <a:xfrm>
            <a:off x="5331684" y="2895992"/>
            <a:ext cx="274320" cy="274320"/>
          </a:xfrm>
          <a:prstGeom prst="ellipse">
            <a:avLst/>
          </a:prstGeom>
          <a:solidFill>
            <a:srgbClr val="E53935"/>
          </a:solidFill>
          <a:ln w="12700">
            <a:solidFill>
              <a:srgbClr val="FFFFFF"/>
            </a:solidFill>
            <a:prstDash val="solid"/>
          </a:ln>
        </p:spPr>
      </p:sp>
      <p:sp>
        <p:nvSpPr>
          <p:cNvPr id="55" name="Text 50"/>
          <p:cNvSpPr txBox="1"/>
          <p:nvPr/>
        </p:nvSpPr>
        <p:spPr>
          <a:xfrm>
            <a:off x="5331684" y="28959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6" name="Image 3" descr="preencoded.png">    </p:cNvPr>
          <p:cNvPicPr>
            <a:picLocks noChangeAspect="1"/>
          </p:cNvPicPr>
          <p:nvPr/>
        </p:nvPicPr>
        <p:blipFill>
          <a:blip r:embed="rId4"/>
          <a:stretch>
            <a:fillRect/>
          </a:stretch>
        </p:blipFill>
        <p:spPr>
          <a:xfrm>
            <a:off x="3417186" y="3146994"/>
            <a:ext cx="237744" cy="237744"/>
          </a:xfrm>
          <a:prstGeom prst="rect">
            <a:avLst/>
          </a:prstGeom>
        </p:spPr>
      </p:pic>
      <p:sp>
        <p:nvSpPr>
          <p:cNvPr id="57" name="Text 5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8" name="Text 5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 meta charset dan format tebal</a:t>
            </a:r>
            <a:endParaRPr lang="en-US" sz="1800" dirty="0"/>
          </a:p>
        </p:txBody>
      </p:sp>
      <p:sp>
        <p:nvSpPr>
          <p:cNvPr id="59" name="Text 5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dalam &lt;head&gt;, tambahkan &lt;meta charset="UTF-8"&gt;. Tebalkan nama dengan &lt;b&gt;.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Teks &amp; Daftar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a:t>
            </a:r>
            <a:endParaRPr lang="en-US" sz="631" dirty="0"/>
          </a:p>
        </p:txBody>
      </p:sp>
      <p:sp>
        <p:nvSpPr>
          <p:cNvPr id="26" name="Text 22"/>
          <p:cNvSpPr txBox="1"/>
          <p:nvPr/>
        </p:nvSpPr>
        <p:spPr>
          <a:xfrm>
            <a:off x="986820" y="1661552"/>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&lt;!DOCTYPE html&gt;</a:t>
            </a:r>
            <a:endParaRPr lang="en-US" sz="731" dirty="0"/>
          </a:p>
        </p:txBody>
      </p:sp>
      <p:sp>
        <p:nvSpPr>
          <p:cNvPr id="27" name="Text 23"/>
          <p:cNvSpPr txBox="1"/>
          <p:nvPr/>
        </p:nvSpPr>
        <p:spPr>
          <a:xfrm>
            <a:off x="639348" y="1800859"/>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2</a:t>
            </a:r>
            <a:endParaRPr lang="en-US" sz="631" dirty="0"/>
          </a:p>
        </p:txBody>
      </p:sp>
      <p:sp>
        <p:nvSpPr>
          <p:cNvPr id="28" name="Text 24"/>
          <p:cNvSpPr txBox="1"/>
          <p:nvPr/>
        </p:nvSpPr>
        <p:spPr>
          <a:xfrm>
            <a:off x="986820" y="1800859"/>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&lt;html&gt;</a:t>
            </a:r>
            <a:endParaRPr lang="en-US" sz="731" dirty="0"/>
          </a:p>
        </p:txBody>
      </p:sp>
      <p:sp>
        <p:nvSpPr>
          <p:cNvPr id="29" name="Text 25"/>
          <p:cNvSpPr txBox="1"/>
          <p:nvPr/>
        </p:nvSpPr>
        <p:spPr>
          <a:xfrm>
            <a:off x="639348" y="1940167"/>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3</a:t>
            </a:r>
            <a:endParaRPr lang="en-US" sz="631" dirty="0"/>
          </a:p>
        </p:txBody>
      </p:sp>
      <p:sp>
        <p:nvSpPr>
          <p:cNvPr id="30" name="Text 26"/>
          <p:cNvSpPr txBox="1"/>
          <p:nvPr/>
        </p:nvSpPr>
        <p:spPr>
          <a:xfrm>
            <a:off x="986820" y="1940167"/>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&lt;head&gt;</a:t>
            </a:r>
            <a:endParaRPr lang="en-US" sz="731" dirty="0"/>
          </a:p>
        </p:txBody>
      </p:sp>
      <p:sp>
        <p:nvSpPr>
          <p:cNvPr id="31" name="Text 27"/>
          <p:cNvSpPr txBox="1"/>
          <p:nvPr/>
        </p:nvSpPr>
        <p:spPr>
          <a:xfrm>
            <a:off x="639348" y="2079475"/>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4</a:t>
            </a:r>
            <a:endParaRPr lang="en-US" sz="631" dirty="0"/>
          </a:p>
        </p:txBody>
      </p:sp>
      <p:sp>
        <p:nvSpPr>
          <p:cNvPr id="32" name="Text 28"/>
          <p:cNvSpPr txBox="1"/>
          <p:nvPr/>
        </p:nvSpPr>
        <p:spPr>
          <a:xfrm>
            <a:off x="986820" y="2079475"/>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&lt;meta charset="UTF-8"&gt;</a:t>
            </a:r>
            <a:endParaRPr lang="en-US" sz="731" dirty="0"/>
          </a:p>
        </p:txBody>
      </p:sp>
      <p:sp>
        <p:nvSpPr>
          <p:cNvPr id="33" name="Text 29"/>
          <p:cNvSpPr txBox="1"/>
          <p:nvPr/>
        </p:nvSpPr>
        <p:spPr>
          <a:xfrm>
            <a:off x="639348" y="2218782"/>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5</a:t>
            </a:r>
            <a:endParaRPr lang="en-US" sz="631" dirty="0"/>
          </a:p>
        </p:txBody>
      </p:sp>
      <p:sp>
        <p:nvSpPr>
          <p:cNvPr id="34" name="Text 30"/>
          <p:cNvSpPr txBox="1"/>
          <p:nvPr/>
        </p:nvSpPr>
        <p:spPr>
          <a:xfrm>
            <a:off x="986820" y="2218782"/>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&lt;title&gt;</a:t>
            </a:r>
            <a:pPr indent="0" marL="0">
              <a:buNone/>
            </a:pPr>
            <a:r>
              <a:rPr lang="en-US" sz="731" dirty="0">
                <a:solidFill>
                  <a:srgbClr val="222222"/>
                </a:solidFill>
                <a:latin typeface="Courier New" pitchFamily="34" charset="0"/>
                <a:ea typeface="Courier New" pitchFamily="34" charset="-122"/>
                <a:cs typeface="Courier New" pitchFamily="34" charset="-120"/>
              </a:rPr>
              <a:t>Profil Santri</a:t>
            </a:r>
            <a:pPr indent="0" marL="0">
              <a:buNone/>
            </a:pPr>
            <a:r>
              <a:rPr lang="en-US" sz="731" dirty="0">
                <a:solidFill>
                  <a:srgbClr val="1A5FB4"/>
                </a:solidFill>
                <a:latin typeface="Courier New" pitchFamily="34" charset="0"/>
                <a:ea typeface="Courier New" pitchFamily="34" charset="-122"/>
                <a:cs typeface="Courier New" pitchFamily="34" charset="-120"/>
              </a:rPr>
              <a:t>&lt;/title&gt;</a:t>
            </a:r>
            <a:endParaRPr lang="en-US" sz="731" dirty="0"/>
          </a:p>
        </p:txBody>
      </p:sp>
      <p:sp>
        <p:nvSpPr>
          <p:cNvPr id="35" name="Text 31"/>
          <p:cNvSpPr txBox="1"/>
          <p:nvPr/>
        </p:nvSpPr>
        <p:spPr>
          <a:xfrm>
            <a:off x="639348" y="2358090"/>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6</a:t>
            </a:r>
            <a:endParaRPr lang="en-US" sz="631" dirty="0"/>
          </a:p>
        </p:txBody>
      </p:sp>
      <p:sp>
        <p:nvSpPr>
          <p:cNvPr id="36" name="Text 32"/>
          <p:cNvSpPr txBox="1"/>
          <p:nvPr/>
        </p:nvSpPr>
        <p:spPr>
          <a:xfrm>
            <a:off x="986820" y="2358090"/>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&lt;/head&gt;</a:t>
            </a:r>
            <a:endParaRPr lang="en-US" sz="731" dirty="0"/>
          </a:p>
        </p:txBody>
      </p:sp>
      <p:sp>
        <p:nvSpPr>
          <p:cNvPr id="37" name="Text 33"/>
          <p:cNvSpPr txBox="1"/>
          <p:nvPr/>
        </p:nvSpPr>
        <p:spPr>
          <a:xfrm>
            <a:off x="639348" y="2497398"/>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7</a:t>
            </a:r>
            <a:endParaRPr lang="en-US" sz="631" dirty="0"/>
          </a:p>
        </p:txBody>
      </p:sp>
      <p:sp>
        <p:nvSpPr>
          <p:cNvPr id="38" name="Text 34"/>
          <p:cNvSpPr txBox="1"/>
          <p:nvPr/>
        </p:nvSpPr>
        <p:spPr>
          <a:xfrm>
            <a:off x="986820" y="2497398"/>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&lt;body&gt;</a:t>
            </a:r>
            <a:endParaRPr lang="en-US" sz="731" dirty="0"/>
          </a:p>
        </p:txBody>
      </p:sp>
      <p:sp>
        <p:nvSpPr>
          <p:cNvPr id="39" name="Text 35"/>
          <p:cNvSpPr txBox="1"/>
          <p:nvPr/>
        </p:nvSpPr>
        <p:spPr>
          <a:xfrm>
            <a:off x="639348" y="2636706"/>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8</a:t>
            </a:r>
            <a:endParaRPr lang="en-US" sz="631" dirty="0"/>
          </a:p>
        </p:txBody>
      </p:sp>
      <p:sp>
        <p:nvSpPr>
          <p:cNvPr id="40" name="Text 36"/>
          <p:cNvSpPr txBox="1"/>
          <p:nvPr/>
        </p:nvSpPr>
        <p:spPr>
          <a:xfrm>
            <a:off x="986820" y="2636706"/>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&lt;h1&gt;</a:t>
            </a:r>
            <a:pPr indent="0" marL="0">
              <a:buNone/>
            </a:pPr>
            <a:r>
              <a:rPr lang="en-US" sz="731" dirty="0">
                <a:solidFill>
                  <a:srgbClr val="222222"/>
                </a:solidFill>
                <a:latin typeface="Courier New" pitchFamily="34" charset="0"/>
                <a:ea typeface="Courier New" pitchFamily="34" charset="-122"/>
                <a:cs typeface="Courier New" pitchFamily="34" charset="-120"/>
              </a:rPr>
              <a:t>Assalamu'alaikum!</a:t>
            </a:r>
            <a:pPr indent="0" marL="0">
              <a:buNone/>
            </a:pPr>
            <a:r>
              <a:rPr lang="en-US" sz="731" dirty="0">
                <a:solidFill>
                  <a:srgbClr val="1A5FB4"/>
                </a:solidFill>
                <a:latin typeface="Courier New" pitchFamily="34" charset="0"/>
                <a:ea typeface="Courier New" pitchFamily="34" charset="-122"/>
                <a:cs typeface="Courier New" pitchFamily="34" charset="-120"/>
              </a:rPr>
              <a:t>&lt;/h1&gt;</a:t>
            </a:r>
            <a:endParaRPr lang="en-US" sz="731" dirty="0"/>
          </a:p>
        </p:txBody>
      </p:sp>
      <p:sp>
        <p:nvSpPr>
          <p:cNvPr id="41" name="Text 37"/>
          <p:cNvSpPr txBox="1"/>
          <p:nvPr/>
        </p:nvSpPr>
        <p:spPr>
          <a:xfrm>
            <a:off x="639348" y="2776013"/>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9</a:t>
            </a:r>
            <a:endParaRPr lang="en-US" sz="631" dirty="0"/>
          </a:p>
        </p:txBody>
      </p:sp>
      <p:sp>
        <p:nvSpPr>
          <p:cNvPr id="42" name="Text 38"/>
          <p:cNvSpPr txBox="1"/>
          <p:nvPr/>
        </p:nvSpPr>
        <p:spPr>
          <a:xfrm>
            <a:off x="986820" y="2776013"/>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&lt;p&gt;</a:t>
            </a:r>
            <a:pPr indent="0" marL="0">
              <a:buNone/>
            </a:pPr>
            <a:r>
              <a:rPr lang="en-US" sz="731" dirty="0">
                <a:solidFill>
                  <a:srgbClr val="222222"/>
                </a:solidFill>
                <a:latin typeface="Courier New" pitchFamily="34" charset="0"/>
                <a:ea typeface="Courier New" pitchFamily="34" charset="-122"/>
                <a:cs typeface="Courier New" pitchFamily="34" charset="-120"/>
              </a:rPr>
              <a:t>Nama saya </a:t>
            </a:r>
            <a:pPr indent="0" marL="0">
              <a:buNone/>
            </a:pPr>
            <a:r>
              <a:rPr lang="en-US" sz="731" dirty="0">
                <a:solidFill>
                  <a:srgbClr val="1A5FB4"/>
                </a:solidFill>
                <a:latin typeface="Courier New" pitchFamily="34" charset="0"/>
                <a:ea typeface="Courier New" pitchFamily="34" charset="-122"/>
                <a:cs typeface="Courier New" pitchFamily="34" charset="-120"/>
              </a:rPr>
              <a:t>&lt;b&gt;</a:t>
            </a:r>
            <a:pPr indent="0" marL="0">
              <a:buNone/>
            </a:pPr>
            <a:r>
              <a:rPr lang="en-US" sz="731" dirty="0">
                <a:solidFill>
                  <a:srgbClr val="222222"/>
                </a:solidFill>
                <a:latin typeface="Courier New" pitchFamily="34" charset="0"/>
                <a:ea typeface="Courier New" pitchFamily="34" charset="-122"/>
                <a:cs typeface="Courier New" pitchFamily="34" charset="-120"/>
              </a:rPr>
              <a:t>Ahmad</a:t>
            </a:r>
            <a:pPr indent="0" marL="0">
              <a:buNone/>
            </a:pPr>
            <a:r>
              <a:rPr lang="en-US" sz="731" dirty="0">
                <a:solidFill>
                  <a:srgbClr val="1A5FB4"/>
                </a:solidFill>
                <a:latin typeface="Courier New" pitchFamily="34" charset="0"/>
                <a:ea typeface="Courier New" pitchFamily="34" charset="-122"/>
                <a:cs typeface="Courier New" pitchFamily="34" charset="-120"/>
              </a:rPr>
              <a:t>&lt;/b&gt;</a:t>
            </a:r>
            <a:pPr indent="0" marL="0">
              <a:buNone/>
            </a:pPr>
            <a:r>
              <a:rPr lang="en-US" sz="731" dirty="0">
                <a:solidFill>
                  <a:srgbClr val="222222"/>
                </a:solidFill>
                <a:latin typeface="Courier New" pitchFamily="34" charset="0"/>
                <a:ea typeface="Courier New" pitchFamily="34" charset="-122"/>
                <a:cs typeface="Courier New" pitchFamily="34" charset="-120"/>
              </a:rPr>
              <a:t>, santri Kelas 8A.</a:t>
            </a:r>
            <a:pPr indent="0" marL="0">
              <a:buNone/>
            </a:pPr>
            <a:r>
              <a:rPr lang="en-US" sz="731" dirty="0">
                <a:solidFill>
                  <a:srgbClr val="1A5FB4"/>
                </a:solidFill>
                <a:latin typeface="Courier New" pitchFamily="34" charset="0"/>
                <a:ea typeface="Courier New" pitchFamily="34" charset="-122"/>
                <a:cs typeface="Courier New" pitchFamily="34" charset="-120"/>
              </a:rPr>
              <a:t>&lt;/p&gt;</a:t>
            </a:r>
            <a:endParaRPr lang="en-US" sz="731" dirty="0"/>
          </a:p>
        </p:txBody>
      </p:sp>
      <p:sp>
        <p:nvSpPr>
          <p:cNvPr id="43" name="Shape 39"/>
          <p:cNvSpPr/>
          <p:nvPr/>
        </p:nvSpPr>
        <p:spPr>
          <a:xfrm>
            <a:off x="913668" y="2915321"/>
            <a:ext cx="4555175" cy="139308"/>
          </a:xfrm>
          <a:prstGeom prst="rect">
            <a:avLst/>
          </a:prstGeom>
          <a:solidFill>
            <a:srgbClr val="FFF59D"/>
          </a:solidFill>
          <a:ln w="12700">
            <a:solidFill>
              <a:srgbClr val="FFF59D"/>
            </a:solidFill>
            <a:prstDash val="solid"/>
          </a:ln>
        </p:spPr>
      </p:sp>
      <p:sp>
        <p:nvSpPr>
          <p:cNvPr id="44" name="Text 40"/>
          <p:cNvSpPr txBox="1"/>
          <p:nvPr/>
        </p:nvSpPr>
        <p:spPr>
          <a:xfrm>
            <a:off x="639348" y="2915321"/>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10</a:t>
            </a:r>
            <a:endParaRPr lang="en-US" sz="631" dirty="0"/>
          </a:p>
        </p:txBody>
      </p:sp>
      <p:sp>
        <p:nvSpPr>
          <p:cNvPr id="45" name="Text 41"/>
          <p:cNvSpPr txBox="1"/>
          <p:nvPr/>
        </p:nvSpPr>
        <p:spPr>
          <a:xfrm>
            <a:off x="986820" y="2915321"/>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&lt;h2&gt;</a:t>
            </a:r>
            <a:pPr indent="0" marL="0">
              <a:buNone/>
            </a:pPr>
            <a:r>
              <a:rPr lang="en-US" sz="731" dirty="0">
                <a:solidFill>
                  <a:srgbClr val="222222"/>
                </a:solidFill>
                <a:latin typeface="Courier New" pitchFamily="34" charset="0"/>
                <a:ea typeface="Courier New" pitchFamily="34" charset="-122"/>
                <a:cs typeface="Courier New" pitchFamily="34" charset="-120"/>
              </a:rPr>
              <a:t>Hobi Saya</a:t>
            </a:r>
            <a:pPr indent="0" marL="0">
              <a:buNone/>
            </a:pPr>
            <a:r>
              <a:rPr lang="en-US" sz="731" dirty="0">
                <a:solidFill>
                  <a:srgbClr val="1A5FB4"/>
                </a:solidFill>
                <a:latin typeface="Courier New" pitchFamily="34" charset="0"/>
                <a:ea typeface="Courier New" pitchFamily="34" charset="-122"/>
                <a:cs typeface="Courier New" pitchFamily="34" charset="-120"/>
              </a:rPr>
              <a:t>&lt;/h2&gt;</a:t>
            </a:r>
            <a:endParaRPr lang="en-US" sz="731" dirty="0"/>
          </a:p>
        </p:txBody>
      </p:sp>
      <p:sp>
        <p:nvSpPr>
          <p:cNvPr id="46" name="Shape 42"/>
          <p:cNvSpPr/>
          <p:nvPr/>
        </p:nvSpPr>
        <p:spPr>
          <a:xfrm>
            <a:off x="913668" y="3054629"/>
            <a:ext cx="4555175" cy="139308"/>
          </a:xfrm>
          <a:prstGeom prst="rect">
            <a:avLst/>
          </a:prstGeom>
          <a:solidFill>
            <a:srgbClr val="FFF59D"/>
          </a:solidFill>
          <a:ln w="12700">
            <a:solidFill>
              <a:srgbClr val="FFF59D"/>
            </a:solidFill>
            <a:prstDash val="solid"/>
          </a:ln>
        </p:spPr>
      </p:sp>
      <p:sp>
        <p:nvSpPr>
          <p:cNvPr id="47" name="Text 43"/>
          <p:cNvSpPr txBox="1"/>
          <p:nvPr/>
        </p:nvSpPr>
        <p:spPr>
          <a:xfrm>
            <a:off x="639348" y="3054629"/>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11</a:t>
            </a:r>
            <a:endParaRPr lang="en-US" sz="631" dirty="0"/>
          </a:p>
        </p:txBody>
      </p:sp>
      <p:sp>
        <p:nvSpPr>
          <p:cNvPr id="48" name="Text 44"/>
          <p:cNvSpPr txBox="1"/>
          <p:nvPr/>
        </p:nvSpPr>
        <p:spPr>
          <a:xfrm>
            <a:off x="986820" y="3054629"/>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&lt;ul&gt;</a:t>
            </a:r>
            <a:endParaRPr lang="en-US" sz="731" dirty="0"/>
          </a:p>
        </p:txBody>
      </p:sp>
      <p:sp>
        <p:nvSpPr>
          <p:cNvPr id="49" name="Shape 45"/>
          <p:cNvSpPr/>
          <p:nvPr/>
        </p:nvSpPr>
        <p:spPr>
          <a:xfrm>
            <a:off x="913668" y="3193936"/>
            <a:ext cx="4555175" cy="139308"/>
          </a:xfrm>
          <a:prstGeom prst="rect">
            <a:avLst/>
          </a:prstGeom>
          <a:solidFill>
            <a:srgbClr val="FFF59D"/>
          </a:solidFill>
          <a:ln w="12700">
            <a:solidFill>
              <a:srgbClr val="FFF59D"/>
            </a:solidFill>
            <a:prstDash val="solid"/>
          </a:ln>
        </p:spPr>
      </p:sp>
      <p:sp>
        <p:nvSpPr>
          <p:cNvPr id="50" name="Text 46"/>
          <p:cNvSpPr txBox="1"/>
          <p:nvPr/>
        </p:nvSpPr>
        <p:spPr>
          <a:xfrm>
            <a:off x="639348" y="3193936"/>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12</a:t>
            </a:r>
            <a:endParaRPr lang="en-US" sz="631" dirty="0"/>
          </a:p>
        </p:txBody>
      </p:sp>
      <p:sp>
        <p:nvSpPr>
          <p:cNvPr id="51" name="Text 47"/>
          <p:cNvSpPr txBox="1"/>
          <p:nvPr/>
        </p:nvSpPr>
        <p:spPr>
          <a:xfrm>
            <a:off x="986820" y="3193936"/>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&lt;li&gt;</a:t>
            </a:r>
            <a:pPr indent="0" marL="0">
              <a:buNone/>
            </a:pPr>
            <a:r>
              <a:rPr lang="en-US" sz="731" dirty="0">
                <a:solidFill>
                  <a:srgbClr val="222222"/>
                </a:solidFill>
                <a:latin typeface="Courier New" pitchFamily="34" charset="0"/>
                <a:ea typeface="Courier New" pitchFamily="34" charset="-122"/>
                <a:cs typeface="Courier New" pitchFamily="34" charset="-120"/>
              </a:rPr>
              <a:t>Membaca</a:t>
            </a:r>
            <a:pPr indent="0" marL="0">
              <a:buNone/>
            </a:pPr>
            <a:r>
              <a:rPr lang="en-US" sz="731" dirty="0">
                <a:solidFill>
                  <a:srgbClr val="1A5FB4"/>
                </a:solidFill>
                <a:latin typeface="Courier New" pitchFamily="34" charset="0"/>
                <a:ea typeface="Courier New" pitchFamily="34" charset="-122"/>
                <a:cs typeface="Courier New" pitchFamily="34" charset="-120"/>
              </a:rPr>
              <a:t>&lt;/li&gt;</a:t>
            </a:r>
            <a:endParaRPr lang="en-US" sz="731" dirty="0"/>
          </a:p>
        </p:txBody>
      </p:sp>
      <p:sp>
        <p:nvSpPr>
          <p:cNvPr id="52" name="Shape 48"/>
          <p:cNvSpPr/>
          <p:nvPr/>
        </p:nvSpPr>
        <p:spPr>
          <a:xfrm>
            <a:off x="913668" y="3333244"/>
            <a:ext cx="4555175" cy="139308"/>
          </a:xfrm>
          <a:prstGeom prst="rect">
            <a:avLst/>
          </a:prstGeom>
          <a:solidFill>
            <a:srgbClr val="FFF59D"/>
          </a:solidFill>
          <a:ln w="12700">
            <a:solidFill>
              <a:srgbClr val="FFF59D"/>
            </a:solidFill>
            <a:prstDash val="solid"/>
          </a:ln>
        </p:spPr>
      </p:sp>
      <p:sp>
        <p:nvSpPr>
          <p:cNvPr id="53" name="Text 49"/>
          <p:cNvSpPr txBox="1"/>
          <p:nvPr/>
        </p:nvSpPr>
        <p:spPr>
          <a:xfrm>
            <a:off x="639348" y="3333244"/>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13</a:t>
            </a:r>
            <a:endParaRPr lang="en-US" sz="631" dirty="0"/>
          </a:p>
        </p:txBody>
      </p:sp>
      <p:sp>
        <p:nvSpPr>
          <p:cNvPr id="54" name="Text 50"/>
          <p:cNvSpPr txBox="1"/>
          <p:nvPr/>
        </p:nvSpPr>
        <p:spPr>
          <a:xfrm>
            <a:off x="986820" y="3333244"/>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&lt;li&gt;</a:t>
            </a:r>
            <a:pPr indent="0" marL="0">
              <a:buNone/>
            </a:pPr>
            <a:r>
              <a:rPr lang="en-US" sz="731" dirty="0">
                <a:solidFill>
                  <a:srgbClr val="222222"/>
                </a:solidFill>
                <a:latin typeface="Courier New" pitchFamily="34" charset="0"/>
                <a:ea typeface="Courier New" pitchFamily="34" charset="-122"/>
                <a:cs typeface="Courier New" pitchFamily="34" charset="-120"/>
              </a:rPr>
              <a:t>Kaligrafi</a:t>
            </a:r>
            <a:pPr indent="0" marL="0">
              <a:buNone/>
            </a:pPr>
            <a:r>
              <a:rPr lang="en-US" sz="731" dirty="0">
                <a:solidFill>
                  <a:srgbClr val="1A5FB4"/>
                </a:solidFill>
                <a:latin typeface="Courier New" pitchFamily="34" charset="0"/>
                <a:ea typeface="Courier New" pitchFamily="34" charset="-122"/>
                <a:cs typeface="Courier New" pitchFamily="34" charset="-120"/>
              </a:rPr>
              <a:t>&lt;/li&gt;</a:t>
            </a:r>
            <a:endParaRPr lang="en-US" sz="731" dirty="0"/>
          </a:p>
        </p:txBody>
      </p:sp>
      <p:sp>
        <p:nvSpPr>
          <p:cNvPr id="55" name="Shape 51"/>
          <p:cNvSpPr/>
          <p:nvPr/>
        </p:nvSpPr>
        <p:spPr>
          <a:xfrm>
            <a:off x="913668" y="3472552"/>
            <a:ext cx="4555175" cy="139308"/>
          </a:xfrm>
          <a:prstGeom prst="rect">
            <a:avLst/>
          </a:prstGeom>
          <a:solidFill>
            <a:srgbClr val="FFF59D"/>
          </a:solidFill>
          <a:ln w="12700">
            <a:solidFill>
              <a:srgbClr val="FFF59D"/>
            </a:solidFill>
            <a:prstDash val="solid"/>
          </a:ln>
        </p:spPr>
      </p:sp>
      <p:sp>
        <p:nvSpPr>
          <p:cNvPr id="56" name="Text 52"/>
          <p:cNvSpPr txBox="1"/>
          <p:nvPr/>
        </p:nvSpPr>
        <p:spPr>
          <a:xfrm>
            <a:off x="639348" y="3472552"/>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14</a:t>
            </a:r>
            <a:endParaRPr lang="en-US" sz="631" dirty="0"/>
          </a:p>
        </p:txBody>
      </p:sp>
      <p:sp>
        <p:nvSpPr>
          <p:cNvPr id="57" name="Text 53"/>
          <p:cNvSpPr txBox="1"/>
          <p:nvPr/>
        </p:nvSpPr>
        <p:spPr>
          <a:xfrm>
            <a:off x="986820" y="3472552"/>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&lt;/ul&gt;</a:t>
            </a:r>
            <a:endParaRPr lang="en-US" sz="731" dirty="0"/>
          </a:p>
        </p:txBody>
      </p:sp>
      <p:sp>
        <p:nvSpPr>
          <p:cNvPr id="58" name="Text 54"/>
          <p:cNvSpPr txBox="1"/>
          <p:nvPr/>
        </p:nvSpPr>
        <p:spPr>
          <a:xfrm>
            <a:off x="639348" y="3611859"/>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15</a:t>
            </a:r>
            <a:endParaRPr lang="en-US" sz="631" dirty="0"/>
          </a:p>
        </p:txBody>
      </p:sp>
      <p:sp>
        <p:nvSpPr>
          <p:cNvPr id="59" name="Text 55"/>
          <p:cNvSpPr txBox="1"/>
          <p:nvPr/>
        </p:nvSpPr>
        <p:spPr>
          <a:xfrm>
            <a:off x="986820" y="3611859"/>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&lt;/body&gt;</a:t>
            </a:r>
            <a:endParaRPr lang="en-US" sz="731" dirty="0"/>
          </a:p>
        </p:txBody>
      </p:sp>
      <p:sp>
        <p:nvSpPr>
          <p:cNvPr id="60" name="Text 56"/>
          <p:cNvSpPr txBox="1"/>
          <p:nvPr/>
        </p:nvSpPr>
        <p:spPr>
          <a:xfrm>
            <a:off x="639348" y="3751167"/>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16</a:t>
            </a:r>
            <a:endParaRPr lang="en-US" sz="631" dirty="0"/>
          </a:p>
        </p:txBody>
      </p:sp>
      <p:sp>
        <p:nvSpPr>
          <p:cNvPr id="61" name="Text 57"/>
          <p:cNvSpPr txBox="1"/>
          <p:nvPr/>
        </p:nvSpPr>
        <p:spPr>
          <a:xfrm>
            <a:off x="986820" y="3751167"/>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&lt;/html&gt;</a:t>
            </a:r>
            <a:endParaRPr lang="en-US" sz="731" dirty="0"/>
          </a:p>
        </p:txBody>
      </p:sp>
      <p:sp>
        <p:nvSpPr>
          <p:cNvPr id="62" name="Shape 58"/>
          <p:cNvSpPr/>
          <p:nvPr/>
        </p:nvSpPr>
        <p:spPr>
          <a:xfrm>
            <a:off x="913668" y="2897033"/>
            <a:ext cx="4555175" cy="733114"/>
          </a:xfrm>
          <a:prstGeom prst="roundRect">
            <a:avLst>
              <a:gd name="adj" fmla="val 6236"/>
            </a:avLst>
          </a:prstGeom>
          <a:solidFill>
            <a:srgbClr val="FFFFFF">
              <a:alpha val="0"/>
            </a:srgbClr>
          </a:solidFill>
          <a:ln w="31750">
            <a:solidFill>
              <a:srgbClr val="E53935"/>
            </a:solidFill>
            <a:prstDash val="solid"/>
          </a:ln>
        </p:spPr>
      </p:sp>
      <p:sp>
        <p:nvSpPr>
          <p:cNvPr id="63" name="Shape 59"/>
          <p:cNvSpPr/>
          <p:nvPr/>
        </p:nvSpPr>
        <p:spPr>
          <a:xfrm>
            <a:off x="5331684" y="2759873"/>
            <a:ext cx="274320" cy="274320"/>
          </a:xfrm>
          <a:prstGeom prst="ellipse">
            <a:avLst/>
          </a:prstGeom>
          <a:solidFill>
            <a:srgbClr val="E53935"/>
          </a:solidFill>
          <a:ln w="12700">
            <a:solidFill>
              <a:srgbClr val="FFFFFF"/>
            </a:solidFill>
            <a:prstDash val="solid"/>
          </a:ln>
        </p:spPr>
      </p:sp>
      <p:sp>
        <p:nvSpPr>
          <p:cNvPr id="64" name="Text 60"/>
          <p:cNvSpPr txBox="1"/>
          <p:nvPr/>
        </p:nvSpPr>
        <p:spPr>
          <a:xfrm>
            <a:off x="5331684" y="27598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65" name="Image 2" descr="preencoded.png">    </p:cNvPr>
          <p:cNvPicPr>
            <a:picLocks noChangeAspect="1"/>
          </p:cNvPicPr>
          <p:nvPr/>
        </p:nvPicPr>
        <p:blipFill>
          <a:blip r:embed="rId3"/>
          <a:stretch>
            <a:fillRect/>
          </a:stretch>
        </p:blipFill>
        <p:spPr>
          <a:xfrm>
            <a:off x="3417186" y="3298417"/>
            <a:ext cx="237744" cy="237744"/>
          </a:xfrm>
          <a:prstGeom prst="rect">
            <a:avLst/>
          </a:prstGeom>
        </p:spPr>
      </p:pic>
      <p:sp>
        <p:nvSpPr>
          <p:cNvPr id="66" name="Text 6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67" name="Text 6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 subjudul dan daftar hobi</a:t>
            </a:r>
            <a:endParaRPr lang="en-US" sz="1800" dirty="0"/>
          </a:p>
        </p:txBody>
      </p:sp>
      <p:sp>
        <p:nvSpPr>
          <p:cNvPr id="68" name="Text 6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 &lt;h2&gt;Hobi Saya&lt;/h2&gt;, lalu daftar &lt;ul&gt; dengan 2–3 &lt;li&gt;.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Proyek  ›  Website_Saya</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index.html</a:t>
            </a:r>
            <a:endParaRPr lang="en-US" sz="700" dirty="0"/>
          </a:p>
        </p:txBody>
      </p:sp>
      <p:sp>
        <p:nvSpPr>
          <p:cNvPr id="38" name="Shape 28"/>
          <p:cNvSpPr/>
          <p:nvPr/>
        </p:nvSpPr>
        <p:spPr>
          <a:xfrm>
            <a:off x="2760025" y="1839613"/>
            <a:ext cx="786384" cy="603504"/>
          </a:xfrm>
          <a:prstGeom prst="roundRect">
            <a:avLst>
              <a:gd name="adj" fmla="val 6061"/>
            </a:avLst>
          </a:prstGeom>
          <a:solidFill>
            <a:srgbClr val="CCE4F7"/>
          </a:solidFill>
          <a:ln w="12700">
            <a:solidFill>
              <a:srgbClr val="CCE4F7"/>
            </a:solidFill>
            <a:prstDash val="solid"/>
          </a:ln>
        </p:spPr>
      </p:sp>
      <p:pic>
        <p:nvPicPr>
          <p:cNvPr id="39"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40" name="Text 29"/>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pondok.jpg</a:t>
            </a:r>
            <a:endParaRPr lang="en-US" sz="700" dirty="0"/>
          </a:p>
        </p:txBody>
      </p:sp>
      <p:sp>
        <p:nvSpPr>
          <p:cNvPr id="41" name="Shape 30"/>
          <p:cNvSpPr/>
          <p:nvPr/>
        </p:nvSpPr>
        <p:spPr>
          <a:xfrm>
            <a:off x="2723449" y="1803037"/>
            <a:ext cx="859536" cy="676656"/>
          </a:xfrm>
          <a:prstGeom prst="roundRect">
            <a:avLst>
              <a:gd name="adj" fmla="val 6757"/>
            </a:avLst>
          </a:prstGeom>
          <a:solidFill>
            <a:srgbClr val="FFFFFF">
              <a:alpha val="0"/>
            </a:srgbClr>
          </a:solidFill>
          <a:ln w="31750">
            <a:solidFill>
              <a:srgbClr val="E53935"/>
            </a:solidFill>
            <a:prstDash val="solid"/>
          </a:ln>
        </p:spPr>
      </p:sp>
      <p:sp>
        <p:nvSpPr>
          <p:cNvPr id="42" name="Shape 31"/>
          <p:cNvSpPr/>
          <p:nvPr/>
        </p:nvSpPr>
        <p:spPr>
          <a:xfrm>
            <a:off x="3445825" y="1665877"/>
            <a:ext cx="274320" cy="274320"/>
          </a:xfrm>
          <a:prstGeom prst="ellipse">
            <a:avLst/>
          </a:prstGeom>
          <a:solidFill>
            <a:srgbClr val="E53935"/>
          </a:solidFill>
          <a:ln w="12700">
            <a:solidFill>
              <a:srgbClr val="FFFFFF"/>
            </a:solidFill>
            <a:prstDash val="solid"/>
          </a:ln>
        </p:spPr>
      </p:sp>
      <p:sp>
        <p:nvSpPr>
          <p:cNvPr id="43" name="Text 32"/>
          <p:cNvSpPr txBox="1"/>
          <p:nvPr/>
        </p:nvSpPr>
        <p:spPr>
          <a:xfrm>
            <a:off x="344582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4" name="Image 9" descr="preencoded.png">    </p:cNvPr>
          <p:cNvPicPr>
            <a:picLocks noChangeAspect="1"/>
          </p:cNvPicPr>
          <p:nvPr/>
        </p:nvPicPr>
        <p:blipFill>
          <a:blip r:embed="rId10"/>
          <a:stretch>
            <a:fillRect/>
          </a:stretch>
        </p:blipFill>
        <p:spPr>
          <a:xfrm>
            <a:off x="3192536" y="2171540"/>
            <a:ext cx="237744" cy="237744"/>
          </a:xfrm>
          <a:prstGeom prst="rect">
            <a:avLst/>
          </a:prstGeom>
        </p:spPr>
      </p:pic>
      <p:sp>
        <p:nvSpPr>
          <p:cNvPr id="45"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6"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Salin gambar ke folder Website_Saya</a:t>
            </a:r>
            <a:endParaRPr lang="en-US" sz="1800" dirty="0"/>
          </a:p>
        </p:txBody>
      </p:sp>
      <p:sp>
        <p:nvSpPr>
          <p:cNvPr id="47"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Salin satu gambar (karya sendiri, misalnya poster dakwah dari Kelas VII) ke folder Website_Saya. Ganti namanya: pondok.jpg atau poster.png.</a:t>
            </a:r>
            <a:endParaRPr lang="en-US" sz="1300" dirty="0"/>
          </a:p>
        </p:txBody>
      </p:sp>
      <p:sp>
        <p:nvSpPr>
          <p:cNvPr id="48" name="Shape 36"/>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9"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50" name="Text 37"/>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Nama file gambar: huruf kecil, tanpa spasi.</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1</a:t>
            </a:r>
            <a:endParaRPr lang="en-US" sz="588" dirty="0"/>
          </a:p>
        </p:txBody>
      </p:sp>
      <p:sp>
        <p:nvSpPr>
          <p:cNvPr id="26" name="Text 22"/>
          <p:cNvSpPr txBox="1"/>
          <p:nvPr/>
        </p:nvSpPr>
        <p:spPr>
          <a:xfrm>
            <a:off x="986820" y="1661552"/>
            <a:ext cx="4436303" cy="131113"/>
          </a:xfrm>
          <a:prstGeom prst="rect">
            <a:avLst/>
          </a:prstGeom>
          <a:noFill/>
          <a:ln/>
        </p:spPr>
        <p:txBody>
          <a:bodyPr wrap="square" lIns="0" tIns="0" rIns="0" bIns="0" rtlCol="0" anchor="ctr"/>
          <a:lstStyle/>
          <a:p>
            <a:pPr indent="0" marL="0">
              <a:buNone/>
            </a:pPr>
            <a:r>
              <a:rPr lang="en-US" sz="688" dirty="0">
                <a:solidFill>
                  <a:srgbClr val="1A5FB4"/>
                </a:solidFill>
                <a:latin typeface="Courier New" pitchFamily="34" charset="0"/>
                <a:ea typeface="Courier New" pitchFamily="34" charset="-122"/>
                <a:cs typeface="Courier New" pitchFamily="34" charset="-120"/>
              </a:rPr>
              <a:t>&lt;!DOCTYPE html&gt;</a:t>
            </a:r>
            <a:endParaRPr lang="en-US" sz="688" dirty="0"/>
          </a:p>
        </p:txBody>
      </p:sp>
      <p:sp>
        <p:nvSpPr>
          <p:cNvPr id="27" name="Text 23"/>
          <p:cNvSpPr txBox="1"/>
          <p:nvPr/>
        </p:nvSpPr>
        <p:spPr>
          <a:xfrm>
            <a:off x="639348" y="1792665"/>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2</a:t>
            </a:r>
            <a:endParaRPr lang="en-US" sz="588" dirty="0"/>
          </a:p>
        </p:txBody>
      </p:sp>
      <p:sp>
        <p:nvSpPr>
          <p:cNvPr id="28" name="Text 24"/>
          <p:cNvSpPr txBox="1"/>
          <p:nvPr/>
        </p:nvSpPr>
        <p:spPr>
          <a:xfrm>
            <a:off x="986820" y="1792665"/>
            <a:ext cx="4436303" cy="131113"/>
          </a:xfrm>
          <a:prstGeom prst="rect">
            <a:avLst/>
          </a:prstGeom>
          <a:noFill/>
          <a:ln/>
        </p:spPr>
        <p:txBody>
          <a:bodyPr wrap="square" lIns="0" tIns="0" rIns="0" bIns="0" rtlCol="0" anchor="ctr"/>
          <a:lstStyle/>
          <a:p>
            <a:pPr indent="0" marL="0">
              <a:buNone/>
            </a:pPr>
            <a:r>
              <a:rPr lang="en-US" sz="688" dirty="0">
                <a:solidFill>
                  <a:srgbClr val="1A5FB4"/>
                </a:solidFill>
                <a:latin typeface="Courier New" pitchFamily="34" charset="0"/>
                <a:ea typeface="Courier New" pitchFamily="34" charset="-122"/>
                <a:cs typeface="Courier New" pitchFamily="34" charset="-120"/>
              </a:rPr>
              <a:t>&lt;html&gt;</a:t>
            </a:r>
            <a:endParaRPr lang="en-US" sz="688" dirty="0"/>
          </a:p>
        </p:txBody>
      </p:sp>
      <p:sp>
        <p:nvSpPr>
          <p:cNvPr id="29" name="Text 25"/>
          <p:cNvSpPr txBox="1"/>
          <p:nvPr/>
        </p:nvSpPr>
        <p:spPr>
          <a:xfrm>
            <a:off x="639348" y="1923778"/>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3</a:t>
            </a:r>
            <a:endParaRPr lang="en-US" sz="588" dirty="0"/>
          </a:p>
        </p:txBody>
      </p:sp>
      <p:sp>
        <p:nvSpPr>
          <p:cNvPr id="30" name="Text 26"/>
          <p:cNvSpPr txBox="1"/>
          <p:nvPr/>
        </p:nvSpPr>
        <p:spPr>
          <a:xfrm>
            <a:off x="986820" y="1923778"/>
            <a:ext cx="4436303" cy="131113"/>
          </a:xfrm>
          <a:prstGeom prst="rect">
            <a:avLst/>
          </a:prstGeom>
          <a:noFill/>
          <a:ln/>
        </p:spPr>
        <p:txBody>
          <a:bodyPr wrap="square" lIns="0" tIns="0" rIns="0" bIns="0" rtlCol="0" anchor="ctr"/>
          <a:lstStyle/>
          <a:p>
            <a:pPr indent="0" marL="0">
              <a:buNone/>
            </a:pPr>
            <a:r>
              <a:rPr lang="en-US" sz="688" dirty="0">
                <a:solidFill>
                  <a:srgbClr val="1A5FB4"/>
                </a:solidFill>
                <a:latin typeface="Courier New" pitchFamily="34" charset="0"/>
                <a:ea typeface="Courier New" pitchFamily="34" charset="-122"/>
                <a:cs typeface="Courier New" pitchFamily="34" charset="-120"/>
              </a:rPr>
              <a:t>&lt;head&gt;</a:t>
            </a:r>
            <a:endParaRPr lang="en-US" sz="688" dirty="0"/>
          </a:p>
        </p:txBody>
      </p:sp>
      <p:sp>
        <p:nvSpPr>
          <p:cNvPr id="31" name="Text 27"/>
          <p:cNvSpPr txBox="1"/>
          <p:nvPr/>
        </p:nvSpPr>
        <p:spPr>
          <a:xfrm>
            <a:off x="639348" y="2054891"/>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4</a:t>
            </a:r>
            <a:endParaRPr lang="en-US" sz="588" dirty="0"/>
          </a:p>
        </p:txBody>
      </p:sp>
      <p:sp>
        <p:nvSpPr>
          <p:cNvPr id="32" name="Text 28"/>
          <p:cNvSpPr txBox="1"/>
          <p:nvPr/>
        </p:nvSpPr>
        <p:spPr>
          <a:xfrm>
            <a:off x="986820" y="2054891"/>
            <a:ext cx="4436303" cy="131113"/>
          </a:xfrm>
          <a:prstGeom prst="rect">
            <a:avLst/>
          </a:prstGeom>
          <a:noFill/>
          <a:ln/>
        </p:spPr>
        <p:txBody>
          <a:bodyPr wrap="square" lIns="0" tIns="0" rIns="0" bIns="0" rtlCol="0" anchor="ctr"/>
          <a:lstStyle/>
          <a:p>
            <a:pPr indent="0" marL="0">
              <a:buNone/>
            </a:pPr>
            <a:r>
              <a:rPr lang="en-US" sz="688" dirty="0">
                <a:solidFill>
                  <a:srgbClr val="222222"/>
                </a:solidFill>
                <a:latin typeface="Courier New" pitchFamily="34" charset="0"/>
                <a:ea typeface="Courier New" pitchFamily="34" charset="-122"/>
                <a:cs typeface="Courier New" pitchFamily="34" charset="-120"/>
              </a:rPr>
              <a:t>  </a:t>
            </a:r>
            <a:pPr indent="0" marL="0">
              <a:buNone/>
            </a:pPr>
            <a:r>
              <a:rPr lang="en-US" sz="688" dirty="0">
                <a:solidFill>
                  <a:srgbClr val="1A5FB4"/>
                </a:solidFill>
                <a:latin typeface="Courier New" pitchFamily="34" charset="0"/>
                <a:ea typeface="Courier New" pitchFamily="34" charset="-122"/>
                <a:cs typeface="Courier New" pitchFamily="34" charset="-120"/>
              </a:rPr>
              <a:t>&lt;meta charset="UTF-8"&gt;</a:t>
            </a:r>
            <a:endParaRPr lang="en-US" sz="688" dirty="0"/>
          </a:p>
        </p:txBody>
      </p:sp>
      <p:sp>
        <p:nvSpPr>
          <p:cNvPr id="33" name="Text 29"/>
          <p:cNvSpPr txBox="1"/>
          <p:nvPr/>
        </p:nvSpPr>
        <p:spPr>
          <a:xfrm>
            <a:off x="639348" y="2186004"/>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5</a:t>
            </a:r>
            <a:endParaRPr lang="en-US" sz="588" dirty="0"/>
          </a:p>
        </p:txBody>
      </p:sp>
      <p:sp>
        <p:nvSpPr>
          <p:cNvPr id="34" name="Text 30"/>
          <p:cNvSpPr txBox="1"/>
          <p:nvPr/>
        </p:nvSpPr>
        <p:spPr>
          <a:xfrm>
            <a:off x="986820" y="2186004"/>
            <a:ext cx="4436303" cy="131113"/>
          </a:xfrm>
          <a:prstGeom prst="rect">
            <a:avLst/>
          </a:prstGeom>
          <a:noFill/>
          <a:ln/>
        </p:spPr>
        <p:txBody>
          <a:bodyPr wrap="square" lIns="0" tIns="0" rIns="0" bIns="0" rtlCol="0" anchor="ctr"/>
          <a:lstStyle/>
          <a:p>
            <a:pPr indent="0" marL="0">
              <a:buNone/>
            </a:pPr>
            <a:r>
              <a:rPr lang="en-US" sz="688" dirty="0">
                <a:solidFill>
                  <a:srgbClr val="222222"/>
                </a:solidFill>
                <a:latin typeface="Courier New" pitchFamily="34" charset="0"/>
                <a:ea typeface="Courier New" pitchFamily="34" charset="-122"/>
                <a:cs typeface="Courier New" pitchFamily="34" charset="-120"/>
              </a:rPr>
              <a:t>  </a:t>
            </a:r>
            <a:pPr indent="0" marL="0">
              <a:buNone/>
            </a:pPr>
            <a:r>
              <a:rPr lang="en-US" sz="688" dirty="0">
                <a:solidFill>
                  <a:srgbClr val="1A5FB4"/>
                </a:solidFill>
                <a:latin typeface="Courier New" pitchFamily="34" charset="0"/>
                <a:ea typeface="Courier New" pitchFamily="34" charset="-122"/>
                <a:cs typeface="Courier New" pitchFamily="34" charset="-120"/>
              </a:rPr>
              <a:t>&lt;title&gt;</a:t>
            </a:r>
            <a:pPr indent="0" marL="0">
              <a:buNone/>
            </a:pPr>
            <a:r>
              <a:rPr lang="en-US" sz="688" dirty="0">
                <a:solidFill>
                  <a:srgbClr val="222222"/>
                </a:solidFill>
                <a:latin typeface="Courier New" pitchFamily="34" charset="0"/>
                <a:ea typeface="Courier New" pitchFamily="34" charset="-122"/>
                <a:cs typeface="Courier New" pitchFamily="34" charset="-120"/>
              </a:rPr>
              <a:t>Profil Santri</a:t>
            </a:r>
            <a:pPr indent="0" marL="0">
              <a:buNone/>
            </a:pPr>
            <a:r>
              <a:rPr lang="en-US" sz="688" dirty="0">
                <a:solidFill>
                  <a:srgbClr val="1A5FB4"/>
                </a:solidFill>
                <a:latin typeface="Courier New" pitchFamily="34" charset="0"/>
                <a:ea typeface="Courier New" pitchFamily="34" charset="-122"/>
                <a:cs typeface="Courier New" pitchFamily="34" charset="-120"/>
              </a:rPr>
              <a:t>&lt;/title&gt;</a:t>
            </a:r>
            <a:endParaRPr lang="en-US" sz="688" dirty="0"/>
          </a:p>
        </p:txBody>
      </p:sp>
      <p:sp>
        <p:nvSpPr>
          <p:cNvPr id="35" name="Text 31"/>
          <p:cNvSpPr txBox="1"/>
          <p:nvPr/>
        </p:nvSpPr>
        <p:spPr>
          <a:xfrm>
            <a:off x="639348" y="2317117"/>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6</a:t>
            </a:r>
            <a:endParaRPr lang="en-US" sz="588" dirty="0"/>
          </a:p>
        </p:txBody>
      </p:sp>
      <p:sp>
        <p:nvSpPr>
          <p:cNvPr id="36" name="Text 32"/>
          <p:cNvSpPr txBox="1"/>
          <p:nvPr/>
        </p:nvSpPr>
        <p:spPr>
          <a:xfrm>
            <a:off x="986820" y="2317117"/>
            <a:ext cx="4436303" cy="131113"/>
          </a:xfrm>
          <a:prstGeom prst="rect">
            <a:avLst/>
          </a:prstGeom>
          <a:noFill/>
          <a:ln/>
        </p:spPr>
        <p:txBody>
          <a:bodyPr wrap="square" lIns="0" tIns="0" rIns="0" bIns="0" rtlCol="0" anchor="ctr"/>
          <a:lstStyle/>
          <a:p>
            <a:pPr indent="0" marL="0">
              <a:buNone/>
            </a:pPr>
            <a:r>
              <a:rPr lang="en-US" sz="688" dirty="0">
                <a:solidFill>
                  <a:srgbClr val="1A5FB4"/>
                </a:solidFill>
                <a:latin typeface="Courier New" pitchFamily="34" charset="0"/>
                <a:ea typeface="Courier New" pitchFamily="34" charset="-122"/>
                <a:cs typeface="Courier New" pitchFamily="34" charset="-120"/>
              </a:rPr>
              <a:t>&lt;/head&gt;</a:t>
            </a:r>
            <a:endParaRPr lang="en-US" sz="688" dirty="0"/>
          </a:p>
        </p:txBody>
      </p:sp>
      <p:sp>
        <p:nvSpPr>
          <p:cNvPr id="37" name="Text 33"/>
          <p:cNvSpPr txBox="1"/>
          <p:nvPr/>
        </p:nvSpPr>
        <p:spPr>
          <a:xfrm>
            <a:off x="639348" y="2448230"/>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7</a:t>
            </a:r>
            <a:endParaRPr lang="en-US" sz="588" dirty="0"/>
          </a:p>
        </p:txBody>
      </p:sp>
      <p:sp>
        <p:nvSpPr>
          <p:cNvPr id="38" name="Text 34"/>
          <p:cNvSpPr txBox="1"/>
          <p:nvPr/>
        </p:nvSpPr>
        <p:spPr>
          <a:xfrm>
            <a:off x="986820" y="2448230"/>
            <a:ext cx="4436303" cy="131113"/>
          </a:xfrm>
          <a:prstGeom prst="rect">
            <a:avLst/>
          </a:prstGeom>
          <a:noFill/>
          <a:ln/>
        </p:spPr>
        <p:txBody>
          <a:bodyPr wrap="square" lIns="0" tIns="0" rIns="0" bIns="0" rtlCol="0" anchor="ctr"/>
          <a:lstStyle/>
          <a:p>
            <a:pPr indent="0" marL="0">
              <a:buNone/>
            </a:pPr>
            <a:r>
              <a:rPr lang="en-US" sz="688" dirty="0">
                <a:solidFill>
                  <a:srgbClr val="1A5FB4"/>
                </a:solidFill>
                <a:latin typeface="Courier New" pitchFamily="34" charset="0"/>
                <a:ea typeface="Courier New" pitchFamily="34" charset="-122"/>
                <a:cs typeface="Courier New" pitchFamily="34" charset="-120"/>
              </a:rPr>
              <a:t>&lt;body&gt;</a:t>
            </a:r>
            <a:endParaRPr lang="en-US" sz="688" dirty="0"/>
          </a:p>
        </p:txBody>
      </p:sp>
      <p:sp>
        <p:nvSpPr>
          <p:cNvPr id="39" name="Text 35"/>
          <p:cNvSpPr txBox="1"/>
          <p:nvPr/>
        </p:nvSpPr>
        <p:spPr>
          <a:xfrm>
            <a:off x="639348" y="2579344"/>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8</a:t>
            </a:r>
            <a:endParaRPr lang="en-US" sz="588" dirty="0"/>
          </a:p>
        </p:txBody>
      </p:sp>
      <p:sp>
        <p:nvSpPr>
          <p:cNvPr id="40" name="Text 36"/>
          <p:cNvSpPr txBox="1"/>
          <p:nvPr/>
        </p:nvSpPr>
        <p:spPr>
          <a:xfrm>
            <a:off x="986820" y="2579344"/>
            <a:ext cx="4436303" cy="131113"/>
          </a:xfrm>
          <a:prstGeom prst="rect">
            <a:avLst/>
          </a:prstGeom>
          <a:noFill/>
          <a:ln/>
        </p:spPr>
        <p:txBody>
          <a:bodyPr wrap="square" lIns="0" tIns="0" rIns="0" bIns="0" rtlCol="0" anchor="ctr"/>
          <a:lstStyle/>
          <a:p>
            <a:pPr indent="0" marL="0">
              <a:buNone/>
            </a:pPr>
            <a:r>
              <a:rPr lang="en-US" sz="688" dirty="0">
                <a:solidFill>
                  <a:srgbClr val="222222"/>
                </a:solidFill>
                <a:latin typeface="Courier New" pitchFamily="34" charset="0"/>
                <a:ea typeface="Courier New" pitchFamily="34" charset="-122"/>
                <a:cs typeface="Courier New" pitchFamily="34" charset="-120"/>
              </a:rPr>
              <a:t>  </a:t>
            </a:r>
            <a:pPr indent="0" marL="0">
              <a:buNone/>
            </a:pPr>
            <a:r>
              <a:rPr lang="en-US" sz="688" dirty="0">
                <a:solidFill>
                  <a:srgbClr val="1A5FB4"/>
                </a:solidFill>
                <a:latin typeface="Courier New" pitchFamily="34" charset="0"/>
                <a:ea typeface="Courier New" pitchFamily="34" charset="-122"/>
                <a:cs typeface="Courier New" pitchFamily="34" charset="-120"/>
              </a:rPr>
              <a:t>&lt;h1&gt;</a:t>
            </a:r>
            <a:pPr indent="0" marL="0">
              <a:buNone/>
            </a:pPr>
            <a:r>
              <a:rPr lang="en-US" sz="688" dirty="0">
                <a:solidFill>
                  <a:srgbClr val="222222"/>
                </a:solidFill>
                <a:latin typeface="Courier New" pitchFamily="34" charset="0"/>
                <a:ea typeface="Courier New" pitchFamily="34" charset="-122"/>
                <a:cs typeface="Courier New" pitchFamily="34" charset="-120"/>
              </a:rPr>
              <a:t>Assalamu'alaikum!</a:t>
            </a:r>
            <a:pPr indent="0" marL="0">
              <a:buNone/>
            </a:pPr>
            <a:r>
              <a:rPr lang="en-US" sz="688" dirty="0">
                <a:solidFill>
                  <a:srgbClr val="1A5FB4"/>
                </a:solidFill>
                <a:latin typeface="Courier New" pitchFamily="34" charset="0"/>
                <a:ea typeface="Courier New" pitchFamily="34" charset="-122"/>
                <a:cs typeface="Courier New" pitchFamily="34" charset="-120"/>
              </a:rPr>
              <a:t>&lt;/h1&gt;</a:t>
            </a:r>
            <a:endParaRPr lang="en-US" sz="688" dirty="0"/>
          </a:p>
        </p:txBody>
      </p:sp>
      <p:sp>
        <p:nvSpPr>
          <p:cNvPr id="41" name="Text 37"/>
          <p:cNvSpPr txBox="1"/>
          <p:nvPr/>
        </p:nvSpPr>
        <p:spPr>
          <a:xfrm>
            <a:off x="639348" y="2710457"/>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9</a:t>
            </a:r>
            <a:endParaRPr lang="en-US" sz="588" dirty="0"/>
          </a:p>
        </p:txBody>
      </p:sp>
      <p:sp>
        <p:nvSpPr>
          <p:cNvPr id="42" name="Text 38"/>
          <p:cNvSpPr txBox="1"/>
          <p:nvPr/>
        </p:nvSpPr>
        <p:spPr>
          <a:xfrm>
            <a:off x="986820" y="2710457"/>
            <a:ext cx="4436303" cy="131113"/>
          </a:xfrm>
          <a:prstGeom prst="rect">
            <a:avLst/>
          </a:prstGeom>
          <a:noFill/>
          <a:ln/>
        </p:spPr>
        <p:txBody>
          <a:bodyPr wrap="square" lIns="0" tIns="0" rIns="0" bIns="0" rtlCol="0" anchor="ctr"/>
          <a:lstStyle/>
          <a:p>
            <a:pPr indent="0" marL="0">
              <a:buNone/>
            </a:pPr>
            <a:r>
              <a:rPr lang="en-US" sz="688" dirty="0">
                <a:solidFill>
                  <a:srgbClr val="222222"/>
                </a:solidFill>
                <a:latin typeface="Courier New" pitchFamily="34" charset="0"/>
                <a:ea typeface="Courier New" pitchFamily="34" charset="-122"/>
                <a:cs typeface="Courier New" pitchFamily="34" charset="-120"/>
              </a:rPr>
              <a:t>  </a:t>
            </a:r>
            <a:pPr indent="0" marL="0">
              <a:buNone/>
            </a:pPr>
            <a:r>
              <a:rPr lang="en-US" sz="688" dirty="0">
                <a:solidFill>
                  <a:srgbClr val="1A5FB4"/>
                </a:solidFill>
                <a:latin typeface="Courier New" pitchFamily="34" charset="0"/>
                <a:ea typeface="Courier New" pitchFamily="34" charset="-122"/>
                <a:cs typeface="Courier New" pitchFamily="34" charset="-120"/>
              </a:rPr>
              <a:t>&lt;p&gt;</a:t>
            </a:r>
            <a:pPr indent="0" marL="0">
              <a:buNone/>
            </a:pPr>
            <a:r>
              <a:rPr lang="en-US" sz="688" dirty="0">
                <a:solidFill>
                  <a:srgbClr val="222222"/>
                </a:solidFill>
                <a:latin typeface="Courier New" pitchFamily="34" charset="0"/>
                <a:ea typeface="Courier New" pitchFamily="34" charset="-122"/>
                <a:cs typeface="Courier New" pitchFamily="34" charset="-120"/>
              </a:rPr>
              <a:t>Nama saya </a:t>
            </a:r>
            <a:pPr indent="0" marL="0">
              <a:buNone/>
            </a:pPr>
            <a:r>
              <a:rPr lang="en-US" sz="688" dirty="0">
                <a:solidFill>
                  <a:srgbClr val="1A5FB4"/>
                </a:solidFill>
                <a:latin typeface="Courier New" pitchFamily="34" charset="0"/>
                <a:ea typeface="Courier New" pitchFamily="34" charset="-122"/>
                <a:cs typeface="Courier New" pitchFamily="34" charset="-120"/>
              </a:rPr>
              <a:t>&lt;b&gt;</a:t>
            </a:r>
            <a:pPr indent="0" marL="0">
              <a:buNone/>
            </a:pPr>
            <a:r>
              <a:rPr lang="en-US" sz="688" dirty="0">
                <a:solidFill>
                  <a:srgbClr val="222222"/>
                </a:solidFill>
                <a:latin typeface="Courier New" pitchFamily="34" charset="0"/>
                <a:ea typeface="Courier New" pitchFamily="34" charset="-122"/>
                <a:cs typeface="Courier New" pitchFamily="34" charset="-120"/>
              </a:rPr>
              <a:t>Ahmad</a:t>
            </a:r>
            <a:pPr indent="0" marL="0">
              <a:buNone/>
            </a:pPr>
            <a:r>
              <a:rPr lang="en-US" sz="688" dirty="0">
                <a:solidFill>
                  <a:srgbClr val="1A5FB4"/>
                </a:solidFill>
                <a:latin typeface="Courier New" pitchFamily="34" charset="0"/>
                <a:ea typeface="Courier New" pitchFamily="34" charset="-122"/>
                <a:cs typeface="Courier New" pitchFamily="34" charset="-120"/>
              </a:rPr>
              <a:t>&lt;/b&gt;</a:t>
            </a:r>
            <a:pPr indent="0" marL="0">
              <a:buNone/>
            </a:pPr>
            <a:r>
              <a:rPr lang="en-US" sz="688" dirty="0">
                <a:solidFill>
                  <a:srgbClr val="222222"/>
                </a:solidFill>
                <a:latin typeface="Courier New" pitchFamily="34" charset="0"/>
                <a:ea typeface="Courier New" pitchFamily="34" charset="-122"/>
                <a:cs typeface="Courier New" pitchFamily="34" charset="-120"/>
              </a:rPr>
              <a:t>, santri Kelas 8A.</a:t>
            </a:r>
            <a:pPr indent="0" marL="0">
              <a:buNone/>
            </a:pPr>
            <a:r>
              <a:rPr lang="en-US" sz="688" dirty="0">
                <a:solidFill>
                  <a:srgbClr val="1A5FB4"/>
                </a:solidFill>
                <a:latin typeface="Courier New" pitchFamily="34" charset="0"/>
                <a:ea typeface="Courier New" pitchFamily="34" charset="-122"/>
                <a:cs typeface="Courier New" pitchFamily="34" charset="-120"/>
              </a:rPr>
              <a:t>&lt;/p&gt;</a:t>
            </a:r>
            <a:endParaRPr lang="en-US" sz="688" dirty="0"/>
          </a:p>
        </p:txBody>
      </p:sp>
      <p:sp>
        <p:nvSpPr>
          <p:cNvPr id="43" name="Text 39"/>
          <p:cNvSpPr txBox="1"/>
          <p:nvPr/>
        </p:nvSpPr>
        <p:spPr>
          <a:xfrm>
            <a:off x="639348" y="2841570"/>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10</a:t>
            </a:r>
            <a:endParaRPr lang="en-US" sz="588" dirty="0"/>
          </a:p>
        </p:txBody>
      </p:sp>
      <p:sp>
        <p:nvSpPr>
          <p:cNvPr id="44" name="Text 40"/>
          <p:cNvSpPr txBox="1"/>
          <p:nvPr/>
        </p:nvSpPr>
        <p:spPr>
          <a:xfrm>
            <a:off x="986820" y="2841570"/>
            <a:ext cx="4436303" cy="131113"/>
          </a:xfrm>
          <a:prstGeom prst="rect">
            <a:avLst/>
          </a:prstGeom>
          <a:noFill/>
          <a:ln/>
        </p:spPr>
        <p:txBody>
          <a:bodyPr wrap="square" lIns="0" tIns="0" rIns="0" bIns="0" rtlCol="0" anchor="ctr"/>
          <a:lstStyle/>
          <a:p>
            <a:pPr indent="0" marL="0">
              <a:buNone/>
            </a:pPr>
            <a:r>
              <a:rPr lang="en-US" sz="688" dirty="0">
                <a:solidFill>
                  <a:srgbClr val="222222"/>
                </a:solidFill>
                <a:latin typeface="Courier New" pitchFamily="34" charset="0"/>
                <a:ea typeface="Courier New" pitchFamily="34" charset="-122"/>
                <a:cs typeface="Courier New" pitchFamily="34" charset="-120"/>
              </a:rPr>
              <a:t>  </a:t>
            </a:r>
            <a:pPr indent="0" marL="0">
              <a:buNone/>
            </a:pPr>
            <a:r>
              <a:rPr lang="en-US" sz="688" dirty="0">
                <a:solidFill>
                  <a:srgbClr val="1A5FB4"/>
                </a:solidFill>
                <a:latin typeface="Courier New" pitchFamily="34" charset="0"/>
                <a:ea typeface="Courier New" pitchFamily="34" charset="-122"/>
                <a:cs typeface="Courier New" pitchFamily="34" charset="-120"/>
              </a:rPr>
              <a:t>&lt;h2&gt;</a:t>
            </a:r>
            <a:pPr indent="0" marL="0">
              <a:buNone/>
            </a:pPr>
            <a:r>
              <a:rPr lang="en-US" sz="688" dirty="0">
                <a:solidFill>
                  <a:srgbClr val="222222"/>
                </a:solidFill>
                <a:latin typeface="Courier New" pitchFamily="34" charset="0"/>
                <a:ea typeface="Courier New" pitchFamily="34" charset="-122"/>
                <a:cs typeface="Courier New" pitchFamily="34" charset="-120"/>
              </a:rPr>
              <a:t>Hobi Saya</a:t>
            </a:r>
            <a:pPr indent="0" marL="0">
              <a:buNone/>
            </a:pPr>
            <a:r>
              <a:rPr lang="en-US" sz="688" dirty="0">
                <a:solidFill>
                  <a:srgbClr val="1A5FB4"/>
                </a:solidFill>
                <a:latin typeface="Courier New" pitchFamily="34" charset="0"/>
                <a:ea typeface="Courier New" pitchFamily="34" charset="-122"/>
                <a:cs typeface="Courier New" pitchFamily="34" charset="-120"/>
              </a:rPr>
              <a:t>&lt;/h2&gt;</a:t>
            </a:r>
            <a:endParaRPr lang="en-US" sz="688" dirty="0"/>
          </a:p>
        </p:txBody>
      </p:sp>
      <p:sp>
        <p:nvSpPr>
          <p:cNvPr id="45" name="Text 41"/>
          <p:cNvSpPr txBox="1"/>
          <p:nvPr/>
        </p:nvSpPr>
        <p:spPr>
          <a:xfrm>
            <a:off x="639348" y="2972683"/>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11</a:t>
            </a:r>
            <a:endParaRPr lang="en-US" sz="588" dirty="0"/>
          </a:p>
        </p:txBody>
      </p:sp>
      <p:sp>
        <p:nvSpPr>
          <p:cNvPr id="46" name="Text 42"/>
          <p:cNvSpPr txBox="1"/>
          <p:nvPr/>
        </p:nvSpPr>
        <p:spPr>
          <a:xfrm>
            <a:off x="986820" y="2972683"/>
            <a:ext cx="4436303" cy="131113"/>
          </a:xfrm>
          <a:prstGeom prst="rect">
            <a:avLst/>
          </a:prstGeom>
          <a:noFill/>
          <a:ln/>
        </p:spPr>
        <p:txBody>
          <a:bodyPr wrap="square" lIns="0" tIns="0" rIns="0" bIns="0" rtlCol="0" anchor="ctr"/>
          <a:lstStyle/>
          <a:p>
            <a:pPr indent="0" marL="0">
              <a:buNone/>
            </a:pPr>
            <a:r>
              <a:rPr lang="en-US" sz="688" dirty="0">
                <a:solidFill>
                  <a:srgbClr val="222222"/>
                </a:solidFill>
                <a:latin typeface="Courier New" pitchFamily="34" charset="0"/>
                <a:ea typeface="Courier New" pitchFamily="34" charset="-122"/>
                <a:cs typeface="Courier New" pitchFamily="34" charset="-120"/>
              </a:rPr>
              <a:t>  </a:t>
            </a:r>
            <a:pPr indent="0" marL="0">
              <a:buNone/>
            </a:pPr>
            <a:r>
              <a:rPr lang="en-US" sz="688" dirty="0">
                <a:solidFill>
                  <a:srgbClr val="1A5FB4"/>
                </a:solidFill>
                <a:latin typeface="Courier New" pitchFamily="34" charset="0"/>
                <a:ea typeface="Courier New" pitchFamily="34" charset="-122"/>
                <a:cs typeface="Courier New" pitchFamily="34" charset="-120"/>
              </a:rPr>
              <a:t>&lt;ul&gt;</a:t>
            </a:r>
            <a:endParaRPr lang="en-US" sz="688" dirty="0"/>
          </a:p>
        </p:txBody>
      </p:sp>
      <p:sp>
        <p:nvSpPr>
          <p:cNvPr id="47" name="Text 43"/>
          <p:cNvSpPr txBox="1"/>
          <p:nvPr/>
        </p:nvSpPr>
        <p:spPr>
          <a:xfrm>
            <a:off x="639348" y="3103796"/>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12</a:t>
            </a:r>
            <a:endParaRPr lang="en-US" sz="588" dirty="0"/>
          </a:p>
        </p:txBody>
      </p:sp>
      <p:sp>
        <p:nvSpPr>
          <p:cNvPr id="48" name="Text 44"/>
          <p:cNvSpPr txBox="1"/>
          <p:nvPr/>
        </p:nvSpPr>
        <p:spPr>
          <a:xfrm>
            <a:off x="986820" y="3103796"/>
            <a:ext cx="4436303" cy="131113"/>
          </a:xfrm>
          <a:prstGeom prst="rect">
            <a:avLst/>
          </a:prstGeom>
          <a:noFill/>
          <a:ln/>
        </p:spPr>
        <p:txBody>
          <a:bodyPr wrap="square" lIns="0" tIns="0" rIns="0" bIns="0" rtlCol="0" anchor="ctr"/>
          <a:lstStyle/>
          <a:p>
            <a:pPr indent="0" marL="0">
              <a:buNone/>
            </a:pPr>
            <a:r>
              <a:rPr lang="en-US" sz="688" dirty="0">
                <a:solidFill>
                  <a:srgbClr val="222222"/>
                </a:solidFill>
                <a:latin typeface="Courier New" pitchFamily="34" charset="0"/>
                <a:ea typeface="Courier New" pitchFamily="34" charset="-122"/>
                <a:cs typeface="Courier New" pitchFamily="34" charset="-120"/>
              </a:rPr>
              <a:t>    </a:t>
            </a:r>
            <a:pPr indent="0" marL="0">
              <a:buNone/>
            </a:pPr>
            <a:r>
              <a:rPr lang="en-US" sz="688" dirty="0">
                <a:solidFill>
                  <a:srgbClr val="1A5FB4"/>
                </a:solidFill>
                <a:latin typeface="Courier New" pitchFamily="34" charset="0"/>
                <a:ea typeface="Courier New" pitchFamily="34" charset="-122"/>
                <a:cs typeface="Courier New" pitchFamily="34" charset="-120"/>
              </a:rPr>
              <a:t>&lt;li&gt;</a:t>
            </a:r>
            <a:pPr indent="0" marL="0">
              <a:buNone/>
            </a:pPr>
            <a:r>
              <a:rPr lang="en-US" sz="688" dirty="0">
                <a:solidFill>
                  <a:srgbClr val="222222"/>
                </a:solidFill>
                <a:latin typeface="Courier New" pitchFamily="34" charset="0"/>
                <a:ea typeface="Courier New" pitchFamily="34" charset="-122"/>
                <a:cs typeface="Courier New" pitchFamily="34" charset="-120"/>
              </a:rPr>
              <a:t>Membaca</a:t>
            </a:r>
            <a:pPr indent="0" marL="0">
              <a:buNone/>
            </a:pPr>
            <a:r>
              <a:rPr lang="en-US" sz="688" dirty="0">
                <a:solidFill>
                  <a:srgbClr val="1A5FB4"/>
                </a:solidFill>
                <a:latin typeface="Courier New" pitchFamily="34" charset="0"/>
                <a:ea typeface="Courier New" pitchFamily="34" charset="-122"/>
                <a:cs typeface="Courier New" pitchFamily="34" charset="-120"/>
              </a:rPr>
              <a:t>&lt;/li&gt;</a:t>
            </a:r>
            <a:endParaRPr lang="en-US" sz="688" dirty="0"/>
          </a:p>
        </p:txBody>
      </p:sp>
      <p:sp>
        <p:nvSpPr>
          <p:cNvPr id="49" name="Text 45"/>
          <p:cNvSpPr txBox="1"/>
          <p:nvPr/>
        </p:nvSpPr>
        <p:spPr>
          <a:xfrm>
            <a:off x="639348" y="3234909"/>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13</a:t>
            </a:r>
            <a:endParaRPr lang="en-US" sz="588" dirty="0"/>
          </a:p>
        </p:txBody>
      </p:sp>
      <p:sp>
        <p:nvSpPr>
          <p:cNvPr id="50" name="Text 46"/>
          <p:cNvSpPr txBox="1"/>
          <p:nvPr/>
        </p:nvSpPr>
        <p:spPr>
          <a:xfrm>
            <a:off x="986820" y="3234909"/>
            <a:ext cx="4436303" cy="131113"/>
          </a:xfrm>
          <a:prstGeom prst="rect">
            <a:avLst/>
          </a:prstGeom>
          <a:noFill/>
          <a:ln/>
        </p:spPr>
        <p:txBody>
          <a:bodyPr wrap="square" lIns="0" tIns="0" rIns="0" bIns="0" rtlCol="0" anchor="ctr"/>
          <a:lstStyle/>
          <a:p>
            <a:pPr indent="0" marL="0">
              <a:buNone/>
            </a:pPr>
            <a:r>
              <a:rPr lang="en-US" sz="688" dirty="0">
                <a:solidFill>
                  <a:srgbClr val="222222"/>
                </a:solidFill>
                <a:latin typeface="Courier New" pitchFamily="34" charset="0"/>
                <a:ea typeface="Courier New" pitchFamily="34" charset="-122"/>
                <a:cs typeface="Courier New" pitchFamily="34" charset="-120"/>
              </a:rPr>
              <a:t>    </a:t>
            </a:r>
            <a:pPr indent="0" marL="0">
              <a:buNone/>
            </a:pPr>
            <a:r>
              <a:rPr lang="en-US" sz="688" dirty="0">
                <a:solidFill>
                  <a:srgbClr val="1A5FB4"/>
                </a:solidFill>
                <a:latin typeface="Courier New" pitchFamily="34" charset="0"/>
                <a:ea typeface="Courier New" pitchFamily="34" charset="-122"/>
                <a:cs typeface="Courier New" pitchFamily="34" charset="-120"/>
              </a:rPr>
              <a:t>&lt;li&gt;</a:t>
            </a:r>
            <a:pPr indent="0" marL="0">
              <a:buNone/>
            </a:pPr>
            <a:r>
              <a:rPr lang="en-US" sz="688" dirty="0">
                <a:solidFill>
                  <a:srgbClr val="222222"/>
                </a:solidFill>
                <a:latin typeface="Courier New" pitchFamily="34" charset="0"/>
                <a:ea typeface="Courier New" pitchFamily="34" charset="-122"/>
                <a:cs typeface="Courier New" pitchFamily="34" charset="-120"/>
              </a:rPr>
              <a:t>Kaligrafi</a:t>
            </a:r>
            <a:pPr indent="0" marL="0">
              <a:buNone/>
            </a:pPr>
            <a:r>
              <a:rPr lang="en-US" sz="688" dirty="0">
                <a:solidFill>
                  <a:srgbClr val="1A5FB4"/>
                </a:solidFill>
                <a:latin typeface="Courier New" pitchFamily="34" charset="0"/>
                <a:ea typeface="Courier New" pitchFamily="34" charset="-122"/>
                <a:cs typeface="Courier New" pitchFamily="34" charset="-120"/>
              </a:rPr>
              <a:t>&lt;/li&gt;</a:t>
            </a:r>
            <a:endParaRPr lang="en-US" sz="688" dirty="0"/>
          </a:p>
        </p:txBody>
      </p:sp>
      <p:sp>
        <p:nvSpPr>
          <p:cNvPr id="51" name="Text 47"/>
          <p:cNvSpPr txBox="1"/>
          <p:nvPr/>
        </p:nvSpPr>
        <p:spPr>
          <a:xfrm>
            <a:off x="639348" y="3366022"/>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14</a:t>
            </a:r>
            <a:endParaRPr lang="en-US" sz="588" dirty="0"/>
          </a:p>
        </p:txBody>
      </p:sp>
      <p:sp>
        <p:nvSpPr>
          <p:cNvPr id="52" name="Text 48"/>
          <p:cNvSpPr txBox="1"/>
          <p:nvPr/>
        </p:nvSpPr>
        <p:spPr>
          <a:xfrm>
            <a:off x="986820" y="3366022"/>
            <a:ext cx="4436303" cy="131113"/>
          </a:xfrm>
          <a:prstGeom prst="rect">
            <a:avLst/>
          </a:prstGeom>
          <a:noFill/>
          <a:ln/>
        </p:spPr>
        <p:txBody>
          <a:bodyPr wrap="square" lIns="0" tIns="0" rIns="0" bIns="0" rtlCol="0" anchor="ctr"/>
          <a:lstStyle/>
          <a:p>
            <a:pPr indent="0" marL="0">
              <a:buNone/>
            </a:pPr>
            <a:r>
              <a:rPr lang="en-US" sz="688" dirty="0">
                <a:solidFill>
                  <a:srgbClr val="222222"/>
                </a:solidFill>
                <a:latin typeface="Courier New" pitchFamily="34" charset="0"/>
                <a:ea typeface="Courier New" pitchFamily="34" charset="-122"/>
                <a:cs typeface="Courier New" pitchFamily="34" charset="-120"/>
              </a:rPr>
              <a:t>  </a:t>
            </a:r>
            <a:pPr indent="0" marL="0">
              <a:buNone/>
            </a:pPr>
            <a:r>
              <a:rPr lang="en-US" sz="688" dirty="0">
                <a:solidFill>
                  <a:srgbClr val="1A5FB4"/>
                </a:solidFill>
                <a:latin typeface="Courier New" pitchFamily="34" charset="0"/>
                <a:ea typeface="Courier New" pitchFamily="34" charset="-122"/>
                <a:cs typeface="Courier New" pitchFamily="34" charset="-120"/>
              </a:rPr>
              <a:t>&lt;/ul&gt;</a:t>
            </a:r>
            <a:endParaRPr lang="en-US" sz="688" dirty="0"/>
          </a:p>
        </p:txBody>
      </p:sp>
      <p:sp>
        <p:nvSpPr>
          <p:cNvPr id="53" name="Shape 49"/>
          <p:cNvSpPr/>
          <p:nvPr/>
        </p:nvSpPr>
        <p:spPr>
          <a:xfrm>
            <a:off x="913668" y="3497135"/>
            <a:ext cx="4555175" cy="131113"/>
          </a:xfrm>
          <a:prstGeom prst="rect">
            <a:avLst/>
          </a:prstGeom>
          <a:solidFill>
            <a:srgbClr val="FFF59D"/>
          </a:solidFill>
          <a:ln w="12700">
            <a:solidFill>
              <a:srgbClr val="FFF59D"/>
            </a:solidFill>
            <a:prstDash val="solid"/>
          </a:ln>
        </p:spPr>
      </p:sp>
      <p:sp>
        <p:nvSpPr>
          <p:cNvPr id="54" name="Text 50"/>
          <p:cNvSpPr txBox="1"/>
          <p:nvPr/>
        </p:nvSpPr>
        <p:spPr>
          <a:xfrm>
            <a:off x="639348" y="3497135"/>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15</a:t>
            </a:r>
            <a:endParaRPr lang="en-US" sz="588" dirty="0"/>
          </a:p>
        </p:txBody>
      </p:sp>
      <p:sp>
        <p:nvSpPr>
          <p:cNvPr id="55" name="Text 51"/>
          <p:cNvSpPr txBox="1"/>
          <p:nvPr/>
        </p:nvSpPr>
        <p:spPr>
          <a:xfrm>
            <a:off x="986820" y="3497135"/>
            <a:ext cx="4436303" cy="131113"/>
          </a:xfrm>
          <a:prstGeom prst="rect">
            <a:avLst/>
          </a:prstGeom>
          <a:noFill/>
          <a:ln/>
        </p:spPr>
        <p:txBody>
          <a:bodyPr wrap="square" lIns="0" tIns="0" rIns="0" bIns="0" rtlCol="0" anchor="ctr"/>
          <a:lstStyle/>
          <a:p>
            <a:pPr indent="0" marL="0">
              <a:buNone/>
            </a:pPr>
            <a:r>
              <a:rPr lang="en-US" sz="688" dirty="0">
                <a:solidFill>
                  <a:srgbClr val="222222"/>
                </a:solidFill>
                <a:latin typeface="Courier New" pitchFamily="34" charset="0"/>
                <a:ea typeface="Courier New" pitchFamily="34" charset="-122"/>
                <a:cs typeface="Courier New" pitchFamily="34" charset="-120"/>
              </a:rPr>
              <a:t>  </a:t>
            </a:r>
            <a:pPr indent="0" marL="0">
              <a:buNone/>
            </a:pPr>
            <a:r>
              <a:rPr lang="en-US" sz="688" dirty="0">
                <a:solidFill>
                  <a:srgbClr val="1A5FB4"/>
                </a:solidFill>
                <a:latin typeface="Courier New" pitchFamily="34" charset="0"/>
                <a:ea typeface="Courier New" pitchFamily="34" charset="-122"/>
                <a:cs typeface="Courier New" pitchFamily="34" charset="-120"/>
              </a:rPr>
              <a:t>&lt;img src="pondok.jpg" alt="Gedung pondok" width="300"&gt;</a:t>
            </a:r>
            <a:endParaRPr lang="en-US" sz="688" dirty="0"/>
          </a:p>
        </p:txBody>
      </p:sp>
      <p:sp>
        <p:nvSpPr>
          <p:cNvPr id="56" name="Text 52"/>
          <p:cNvSpPr txBox="1"/>
          <p:nvPr/>
        </p:nvSpPr>
        <p:spPr>
          <a:xfrm>
            <a:off x="639348" y="3628249"/>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16</a:t>
            </a:r>
            <a:endParaRPr lang="en-US" sz="588" dirty="0"/>
          </a:p>
        </p:txBody>
      </p:sp>
      <p:sp>
        <p:nvSpPr>
          <p:cNvPr id="57" name="Text 53"/>
          <p:cNvSpPr txBox="1"/>
          <p:nvPr/>
        </p:nvSpPr>
        <p:spPr>
          <a:xfrm>
            <a:off x="986820" y="3628249"/>
            <a:ext cx="4436303" cy="131113"/>
          </a:xfrm>
          <a:prstGeom prst="rect">
            <a:avLst/>
          </a:prstGeom>
          <a:noFill/>
          <a:ln/>
        </p:spPr>
        <p:txBody>
          <a:bodyPr wrap="square" lIns="0" tIns="0" rIns="0" bIns="0" rtlCol="0" anchor="ctr"/>
          <a:lstStyle/>
          <a:p>
            <a:pPr indent="0" marL="0">
              <a:buNone/>
            </a:pPr>
            <a:r>
              <a:rPr lang="en-US" sz="688" dirty="0">
                <a:solidFill>
                  <a:srgbClr val="1A5FB4"/>
                </a:solidFill>
                <a:latin typeface="Courier New" pitchFamily="34" charset="0"/>
                <a:ea typeface="Courier New" pitchFamily="34" charset="-122"/>
                <a:cs typeface="Courier New" pitchFamily="34" charset="-120"/>
              </a:rPr>
              <a:t>&lt;/body&gt;</a:t>
            </a:r>
            <a:endParaRPr lang="en-US" sz="688" dirty="0"/>
          </a:p>
        </p:txBody>
      </p:sp>
      <p:sp>
        <p:nvSpPr>
          <p:cNvPr id="58" name="Text 54"/>
          <p:cNvSpPr txBox="1"/>
          <p:nvPr/>
        </p:nvSpPr>
        <p:spPr>
          <a:xfrm>
            <a:off x="639348" y="3759362"/>
            <a:ext cx="228600" cy="131113"/>
          </a:xfrm>
          <a:prstGeom prst="rect">
            <a:avLst/>
          </a:prstGeom>
          <a:noFill/>
          <a:ln/>
        </p:spPr>
        <p:txBody>
          <a:bodyPr wrap="square" lIns="0" tIns="0" rIns="0" bIns="0" rtlCol="0" anchor="ctr"/>
          <a:lstStyle/>
          <a:p>
            <a:pPr algn="r" indent="0" marL="0">
              <a:buNone/>
            </a:pPr>
            <a:r>
              <a:rPr lang="en-US" sz="588" dirty="0">
                <a:solidFill>
                  <a:srgbClr val="999999"/>
                </a:solidFill>
                <a:latin typeface="Courier New" pitchFamily="34" charset="0"/>
                <a:ea typeface="Courier New" pitchFamily="34" charset="-122"/>
                <a:cs typeface="Courier New" pitchFamily="34" charset="-120"/>
              </a:rPr>
              <a:t>17</a:t>
            </a:r>
            <a:endParaRPr lang="en-US" sz="588" dirty="0"/>
          </a:p>
        </p:txBody>
      </p:sp>
      <p:sp>
        <p:nvSpPr>
          <p:cNvPr id="59" name="Text 55"/>
          <p:cNvSpPr txBox="1"/>
          <p:nvPr/>
        </p:nvSpPr>
        <p:spPr>
          <a:xfrm>
            <a:off x="986820" y="3759362"/>
            <a:ext cx="4436303" cy="131113"/>
          </a:xfrm>
          <a:prstGeom prst="rect">
            <a:avLst/>
          </a:prstGeom>
          <a:noFill/>
          <a:ln/>
        </p:spPr>
        <p:txBody>
          <a:bodyPr wrap="square" lIns="0" tIns="0" rIns="0" bIns="0" rtlCol="0" anchor="ctr"/>
          <a:lstStyle/>
          <a:p>
            <a:pPr indent="0" marL="0">
              <a:buNone/>
            </a:pPr>
            <a:r>
              <a:rPr lang="en-US" sz="688" dirty="0">
                <a:solidFill>
                  <a:srgbClr val="1A5FB4"/>
                </a:solidFill>
                <a:latin typeface="Courier New" pitchFamily="34" charset="0"/>
                <a:ea typeface="Courier New" pitchFamily="34" charset="-122"/>
                <a:cs typeface="Courier New" pitchFamily="34" charset="-120"/>
              </a:rPr>
              <a:t>&lt;/html&gt;</a:t>
            </a:r>
            <a:endParaRPr lang="en-US" sz="688" dirty="0"/>
          </a:p>
        </p:txBody>
      </p:sp>
      <p:sp>
        <p:nvSpPr>
          <p:cNvPr id="60" name="Shape 56"/>
          <p:cNvSpPr/>
          <p:nvPr/>
        </p:nvSpPr>
        <p:spPr>
          <a:xfrm>
            <a:off x="913668" y="3478847"/>
            <a:ext cx="4555175" cy="167689"/>
          </a:xfrm>
          <a:prstGeom prst="roundRect">
            <a:avLst>
              <a:gd name="adj" fmla="val 27265"/>
            </a:avLst>
          </a:prstGeom>
          <a:solidFill>
            <a:srgbClr val="FFFFFF">
              <a:alpha val="0"/>
            </a:srgbClr>
          </a:solidFill>
          <a:ln w="31750">
            <a:solidFill>
              <a:srgbClr val="E53935"/>
            </a:solidFill>
            <a:prstDash val="solid"/>
          </a:ln>
        </p:spPr>
      </p:sp>
      <p:sp>
        <p:nvSpPr>
          <p:cNvPr id="61" name="Shape 57"/>
          <p:cNvSpPr/>
          <p:nvPr/>
        </p:nvSpPr>
        <p:spPr>
          <a:xfrm>
            <a:off x="5331684" y="3341687"/>
            <a:ext cx="274320" cy="274320"/>
          </a:xfrm>
          <a:prstGeom prst="ellipse">
            <a:avLst/>
          </a:prstGeom>
          <a:solidFill>
            <a:srgbClr val="E53935"/>
          </a:solidFill>
          <a:ln w="12700">
            <a:solidFill>
              <a:srgbClr val="FFFFFF"/>
            </a:solidFill>
            <a:prstDash val="solid"/>
          </a:ln>
        </p:spPr>
      </p:sp>
      <p:sp>
        <p:nvSpPr>
          <p:cNvPr id="62" name="Text 58"/>
          <p:cNvSpPr txBox="1"/>
          <p:nvPr/>
        </p:nvSpPr>
        <p:spPr>
          <a:xfrm>
            <a:off x="5331684" y="334168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63" name="Image 2" descr="preencoded.png">    </p:cNvPr>
          <p:cNvPicPr>
            <a:picLocks noChangeAspect="1"/>
          </p:cNvPicPr>
          <p:nvPr/>
        </p:nvPicPr>
        <p:blipFill>
          <a:blip r:embed="rId3"/>
          <a:stretch>
            <a:fillRect/>
          </a:stretch>
        </p:blipFill>
        <p:spPr>
          <a:xfrm>
            <a:off x="3417186" y="3569248"/>
            <a:ext cx="237744" cy="237744"/>
          </a:xfrm>
          <a:prstGeom prst="rect">
            <a:avLst/>
          </a:prstGeom>
        </p:spPr>
      </p:pic>
      <p:sp>
        <p:nvSpPr>
          <p:cNvPr id="64" name="Text 5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5" name="Text 6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tag &lt;img&gt; dengan src, alt, width</a:t>
            </a:r>
            <a:endParaRPr lang="en-US" sz="1800" dirty="0"/>
          </a:p>
        </p:txBody>
      </p:sp>
      <p:sp>
        <p:nvSpPr>
          <p:cNvPr id="66" name="Text 6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&lt;img src="pondok.jpg" alt="Gedung pondok" width="300"&gt;. Nama di src harus persis sama dengan nama file.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Link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a:t>
            </a:r>
            <a:endParaRPr lang="en-US" sz="550" dirty="0"/>
          </a:p>
        </p:txBody>
      </p:sp>
      <p:sp>
        <p:nvSpPr>
          <p:cNvPr id="26" name="Text 22"/>
          <p:cNvSpPr txBox="1"/>
          <p:nvPr/>
        </p:nvSpPr>
        <p:spPr>
          <a:xfrm>
            <a:off x="986820" y="1661552"/>
            <a:ext cx="4436303" cy="123829"/>
          </a:xfrm>
          <a:prstGeom prst="rect">
            <a:avLst/>
          </a:prstGeom>
          <a:noFill/>
          <a:ln/>
        </p:spPr>
        <p:txBody>
          <a:bodyPr wrap="square" lIns="0" tIns="0" rIns="0" bIns="0" rtlCol="0" anchor="ctr"/>
          <a:lstStyle/>
          <a:p>
            <a:pPr indent="0" marL="0">
              <a:buNone/>
            </a:pPr>
            <a:r>
              <a:rPr lang="en-US" sz="650" dirty="0">
                <a:solidFill>
                  <a:srgbClr val="1A5FB4"/>
                </a:solidFill>
                <a:latin typeface="Courier New" pitchFamily="34" charset="0"/>
                <a:ea typeface="Courier New" pitchFamily="34" charset="-122"/>
                <a:cs typeface="Courier New" pitchFamily="34" charset="-120"/>
              </a:rPr>
              <a:t>&lt;!DOCTYPE html&gt;</a:t>
            </a:r>
            <a:endParaRPr lang="en-US" sz="650" dirty="0"/>
          </a:p>
        </p:txBody>
      </p:sp>
      <p:sp>
        <p:nvSpPr>
          <p:cNvPr id="27" name="Text 23"/>
          <p:cNvSpPr txBox="1"/>
          <p:nvPr/>
        </p:nvSpPr>
        <p:spPr>
          <a:xfrm>
            <a:off x="639348" y="1785381"/>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2</a:t>
            </a:r>
            <a:endParaRPr lang="en-US" sz="550" dirty="0"/>
          </a:p>
        </p:txBody>
      </p:sp>
      <p:sp>
        <p:nvSpPr>
          <p:cNvPr id="28" name="Text 24"/>
          <p:cNvSpPr txBox="1"/>
          <p:nvPr/>
        </p:nvSpPr>
        <p:spPr>
          <a:xfrm>
            <a:off x="986820" y="1785381"/>
            <a:ext cx="4436303" cy="123829"/>
          </a:xfrm>
          <a:prstGeom prst="rect">
            <a:avLst/>
          </a:prstGeom>
          <a:noFill/>
          <a:ln/>
        </p:spPr>
        <p:txBody>
          <a:bodyPr wrap="square" lIns="0" tIns="0" rIns="0" bIns="0" rtlCol="0" anchor="ctr"/>
          <a:lstStyle/>
          <a:p>
            <a:pPr indent="0" marL="0">
              <a:buNone/>
            </a:pPr>
            <a:r>
              <a:rPr lang="en-US" sz="650" dirty="0">
                <a:solidFill>
                  <a:srgbClr val="1A5FB4"/>
                </a:solidFill>
                <a:latin typeface="Courier New" pitchFamily="34" charset="0"/>
                <a:ea typeface="Courier New" pitchFamily="34" charset="-122"/>
                <a:cs typeface="Courier New" pitchFamily="34" charset="-120"/>
              </a:rPr>
              <a:t>&lt;html&gt;</a:t>
            </a:r>
            <a:endParaRPr lang="en-US" sz="650" dirty="0"/>
          </a:p>
        </p:txBody>
      </p:sp>
      <p:sp>
        <p:nvSpPr>
          <p:cNvPr id="29" name="Text 25"/>
          <p:cNvSpPr txBox="1"/>
          <p:nvPr/>
        </p:nvSpPr>
        <p:spPr>
          <a:xfrm>
            <a:off x="639348" y="1909210"/>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3</a:t>
            </a:r>
            <a:endParaRPr lang="en-US" sz="550" dirty="0"/>
          </a:p>
        </p:txBody>
      </p:sp>
      <p:sp>
        <p:nvSpPr>
          <p:cNvPr id="30" name="Text 26"/>
          <p:cNvSpPr txBox="1"/>
          <p:nvPr/>
        </p:nvSpPr>
        <p:spPr>
          <a:xfrm>
            <a:off x="986820" y="1909210"/>
            <a:ext cx="4436303" cy="123829"/>
          </a:xfrm>
          <a:prstGeom prst="rect">
            <a:avLst/>
          </a:prstGeom>
          <a:noFill/>
          <a:ln/>
        </p:spPr>
        <p:txBody>
          <a:bodyPr wrap="square" lIns="0" tIns="0" rIns="0" bIns="0" rtlCol="0" anchor="ctr"/>
          <a:lstStyle/>
          <a:p>
            <a:pPr indent="0" marL="0">
              <a:buNone/>
            </a:pPr>
            <a:r>
              <a:rPr lang="en-US" sz="650" dirty="0">
                <a:solidFill>
                  <a:srgbClr val="1A5FB4"/>
                </a:solidFill>
                <a:latin typeface="Courier New" pitchFamily="34" charset="0"/>
                <a:ea typeface="Courier New" pitchFamily="34" charset="-122"/>
                <a:cs typeface="Courier New" pitchFamily="34" charset="-120"/>
              </a:rPr>
              <a:t>&lt;head&gt;</a:t>
            </a:r>
            <a:endParaRPr lang="en-US" sz="650" dirty="0"/>
          </a:p>
        </p:txBody>
      </p:sp>
      <p:sp>
        <p:nvSpPr>
          <p:cNvPr id="31" name="Text 27"/>
          <p:cNvSpPr txBox="1"/>
          <p:nvPr/>
        </p:nvSpPr>
        <p:spPr>
          <a:xfrm>
            <a:off x="639348" y="2033039"/>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4</a:t>
            </a:r>
            <a:endParaRPr lang="en-US" sz="550" dirty="0"/>
          </a:p>
        </p:txBody>
      </p:sp>
      <p:sp>
        <p:nvSpPr>
          <p:cNvPr id="32" name="Text 28"/>
          <p:cNvSpPr txBox="1"/>
          <p:nvPr/>
        </p:nvSpPr>
        <p:spPr>
          <a:xfrm>
            <a:off x="986820" y="2033039"/>
            <a:ext cx="4436303" cy="123829"/>
          </a:xfrm>
          <a:prstGeom prst="rect">
            <a:avLst/>
          </a:prstGeom>
          <a:noFill/>
          <a:ln/>
        </p:spPr>
        <p:txBody>
          <a:bodyPr wrap="square" lIns="0" tIns="0" rIns="0" bIns="0" rtlCol="0" anchor="ctr"/>
          <a:lstStyle/>
          <a:p>
            <a:pPr indent="0" marL="0">
              <a:buNone/>
            </a:pPr>
            <a:r>
              <a:rPr lang="en-US" sz="650" dirty="0">
                <a:solidFill>
                  <a:srgbClr val="222222"/>
                </a:solidFill>
                <a:latin typeface="Courier New" pitchFamily="34" charset="0"/>
                <a:ea typeface="Courier New" pitchFamily="34" charset="-122"/>
                <a:cs typeface="Courier New" pitchFamily="34" charset="-120"/>
              </a:rPr>
              <a:t>  </a:t>
            </a:r>
            <a:pPr indent="0" marL="0">
              <a:buNone/>
            </a:pPr>
            <a:r>
              <a:rPr lang="en-US" sz="650" dirty="0">
                <a:solidFill>
                  <a:srgbClr val="1A5FB4"/>
                </a:solidFill>
                <a:latin typeface="Courier New" pitchFamily="34" charset="0"/>
                <a:ea typeface="Courier New" pitchFamily="34" charset="-122"/>
                <a:cs typeface="Courier New" pitchFamily="34" charset="-120"/>
              </a:rPr>
              <a:t>&lt;meta charset="UTF-8"&gt;</a:t>
            </a:r>
            <a:endParaRPr lang="en-US" sz="650" dirty="0"/>
          </a:p>
        </p:txBody>
      </p:sp>
      <p:sp>
        <p:nvSpPr>
          <p:cNvPr id="33" name="Text 29"/>
          <p:cNvSpPr txBox="1"/>
          <p:nvPr/>
        </p:nvSpPr>
        <p:spPr>
          <a:xfrm>
            <a:off x="639348" y="2156868"/>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5</a:t>
            </a:r>
            <a:endParaRPr lang="en-US" sz="550" dirty="0"/>
          </a:p>
        </p:txBody>
      </p:sp>
      <p:sp>
        <p:nvSpPr>
          <p:cNvPr id="34" name="Text 30"/>
          <p:cNvSpPr txBox="1"/>
          <p:nvPr/>
        </p:nvSpPr>
        <p:spPr>
          <a:xfrm>
            <a:off x="986820" y="2156868"/>
            <a:ext cx="4436303" cy="123829"/>
          </a:xfrm>
          <a:prstGeom prst="rect">
            <a:avLst/>
          </a:prstGeom>
          <a:noFill/>
          <a:ln/>
        </p:spPr>
        <p:txBody>
          <a:bodyPr wrap="square" lIns="0" tIns="0" rIns="0" bIns="0" rtlCol="0" anchor="ctr"/>
          <a:lstStyle/>
          <a:p>
            <a:pPr indent="0" marL="0">
              <a:buNone/>
            </a:pPr>
            <a:r>
              <a:rPr lang="en-US" sz="650" dirty="0">
                <a:solidFill>
                  <a:srgbClr val="222222"/>
                </a:solidFill>
                <a:latin typeface="Courier New" pitchFamily="34" charset="0"/>
                <a:ea typeface="Courier New" pitchFamily="34" charset="-122"/>
                <a:cs typeface="Courier New" pitchFamily="34" charset="-120"/>
              </a:rPr>
              <a:t>  </a:t>
            </a:r>
            <a:pPr indent="0" marL="0">
              <a:buNone/>
            </a:pPr>
            <a:r>
              <a:rPr lang="en-US" sz="650" dirty="0">
                <a:solidFill>
                  <a:srgbClr val="1A5FB4"/>
                </a:solidFill>
                <a:latin typeface="Courier New" pitchFamily="34" charset="0"/>
                <a:ea typeface="Courier New" pitchFamily="34" charset="-122"/>
                <a:cs typeface="Courier New" pitchFamily="34" charset="-120"/>
              </a:rPr>
              <a:t>&lt;title&gt;</a:t>
            </a:r>
            <a:pPr indent="0" marL="0">
              <a:buNone/>
            </a:pPr>
            <a:r>
              <a:rPr lang="en-US" sz="650" dirty="0">
                <a:solidFill>
                  <a:srgbClr val="222222"/>
                </a:solidFill>
                <a:latin typeface="Courier New" pitchFamily="34" charset="0"/>
                <a:ea typeface="Courier New" pitchFamily="34" charset="-122"/>
                <a:cs typeface="Courier New" pitchFamily="34" charset="-120"/>
              </a:rPr>
              <a:t>Profil Santri</a:t>
            </a:r>
            <a:pPr indent="0" marL="0">
              <a:buNone/>
            </a:pPr>
            <a:r>
              <a:rPr lang="en-US" sz="650" dirty="0">
                <a:solidFill>
                  <a:srgbClr val="1A5FB4"/>
                </a:solidFill>
                <a:latin typeface="Courier New" pitchFamily="34" charset="0"/>
                <a:ea typeface="Courier New" pitchFamily="34" charset="-122"/>
                <a:cs typeface="Courier New" pitchFamily="34" charset="-120"/>
              </a:rPr>
              <a:t>&lt;/title&gt;</a:t>
            </a:r>
            <a:endParaRPr lang="en-US" sz="650" dirty="0"/>
          </a:p>
        </p:txBody>
      </p:sp>
      <p:sp>
        <p:nvSpPr>
          <p:cNvPr id="35" name="Text 31"/>
          <p:cNvSpPr txBox="1"/>
          <p:nvPr/>
        </p:nvSpPr>
        <p:spPr>
          <a:xfrm>
            <a:off x="639348" y="2280697"/>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6</a:t>
            </a:r>
            <a:endParaRPr lang="en-US" sz="550" dirty="0"/>
          </a:p>
        </p:txBody>
      </p:sp>
      <p:sp>
        <p:nvSpPr>
          <p:cNvPr id="36" name="Text 32"/>
          <p:cNvSpPr txBox="1"/>
          <p:nvPr/>
        </p:nvSpPr>
        <p:spPr>
          <a:xfrm>
            <a:off x="986820" y="2280697"/>
            <a:ext cx="4436303" cy="123829"/>
          </a:xfrm>
          <a:prstGeom prst="rect">
            <a:avLst/>
          </a:prstGeom>
          <a:noFill/>
          <a:ln/>
        </p:spPr>
        <p:txBody>
          <a:bodyPr wrap="square" lIns="0" tIns="0" rIns="0" bIns="0" rtlCol="0" anchor="ctr"/>
          <a:lstStyle/>
          <a:p>
            <a:pPr indent="0" marL="0">
              <a:buNone/>
            </a:pPr>
            <a:r>
              <a:rPr lang="en-US" sz="650" dirty="0">
                <a:solidFill>
                  <a:srgbClr val="1A5FB4"/>
                </a:solidFill>
                <a:latin typeface="Courier New" pitchFamily="34" charset="0"/>
                <a:ea typeface="Courier New" pitchFamily="34" charset="-122"/>
                <a:cs typeface="Courier New" pitchFamily="34" charset="-120"/>
              </a:rPr>
              <a:t>&lt;/head&gt;</a:t>
            </a:r>
            <a:endParaRPr lang="en-US" sz="650" dirty="0"/>
          </a:p>
        </p:txBody>
      </p:sp>
      <p:sp>
        <p:nvSpPr>
          <p:cNvPr id="37" name="Text 33"/>
          <p:cNvSpPr txBox="1"/>
          <p:nvPr/>
        </p:nvSpPr>
        <p:spPr>
          <a:xfrm>
            <a:off x="639348" y="2404526"/>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7</a:t>
            </a:r>
            <a:endParaRPr lang="en-US" sz="550" dirty="0"/>
          </a:p>
        </p:txBody>
      </p:sp>
      <p:sp>
        <p:nvSpPr>
          <p:cNvPr id="38" name="Text 34"/>
          <p:cNvSpPr txBox="1"/>
          <p:nvPr/>
        </p:nvSpPr>
        <p:spPr>
          <a:xfrm>
            <a:off x="986820" y="2404526"/>
            <a:ext cx="4436303" cy="123829"/>
          </a:xfrm>
          <a:prstGeom prst="rect">
            <a:avLst/>
          </a:prstGeom>
          <a:noFill/>
          <a:ln/>
        </p:spPr>
        <p:txBody>
          <a:bodyPr wrap="square" lIns="0" tIns="0" rIns="0" bIns="0" rtlCol="0" anchor="ctr"/>
          <a:lstStyle/>
          <a:p>
            <a:pPr indent="0" marL="0">
              <a:buNone/>
            </a:pPr>
            <a:r>
              <a:rPr lang="en-US" sz="650" dirty="0">
                <a:solidFill>
                  <a:srgbClr val="1A5FB4"/>
                </a:solidFill>
                <a:latin typeface="Courier New" pitchFamily="34" charset="0"/>
                <a:ea typeface="Courier New" pitchFamily="34" charset="-122"/>
                <a:cs typeface="Courier New" pitchFamily="34" charset="-120"/>
              </a:rPr>
              <a:t>&lt;body&gt;</a:t>
            </a:r>
            <a:endParaRPr lang="en-US" sz="650" dirty="0"/>
          </a:p>
        </p:txBody>
      </p:sp>
      <p:sp>
        <p:nvSpPr>
          <p:cNvPr id="39" name="Text 35"/>
          <p:cNvSpPr txBox="1"/>
          <p:nvPr/>
        </p:nvSpPr>
        <p:spPr>
          <a:xfrm>
            <a:off x="639348" y="2528355"/>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8</a:t>
            </a:r>
            <a:endParaRPr lang="en-US" sz="550" dirty="0"/>
          </a:p>
        </p:txBody>
      </p:sp>
      <p:sp>
        <p:nvSpPr>
          <p:cNvPr id="40" name="Text 36"/>
          <p:cNvSpPr txBox="1"/>
          <p:nvPr/>
        </p:nvSpPr>
        <p:spPr>
          <a:xfrm>
            <a:off x="986820" y="2528355"/>
            <a:ext cx="4436303" cy="123829"/>
          </a:xfrm>
          <a:prstGeom prst="rect">
            <a:avLst/>
          </a:prstGeom>
          <a:noFill/>
          <a:ln/>
        </p:spPr>
        <p:txBody>
          <a:bodyPr wrap="square" lIns="0" tIns="0" rIns="0" bIns="0" rtlCol="0" anchor="ctr"/>
          <a:lstStyle/>
          <a:p>
            <a:pPr indent="0" marL="0">
              <a:buNone/>
            </a:pPr>
            <a:r>
              <a:rPr lang="en-US" sz="650" dirty="0">
                <a:solidFill>
                  <a:srgbClr val="222222"/>
                </a:solidFill>
                <a:latin typeface="Courier New" pitchFamily="34" charset="0"/>
                <a:ea typeface="Courier New" pitchFamily="34" charset="-122"/>
                <a:cs typeface="Courier New" pitchFamily="34" charset="-120"/>
              </a:rPr>
              <a:t>  </a:t>
            </a:r>
            <a:pPr indent="0" marL="0">
              <a:buNone/>
            </a:pPr>
            <a:r>
              <a:rPr lang="en-US" sz="650" dirty="0">
                <a:solidFill>
                  <a:srgbClr val="1A5FB4"/>
                </a:solidFill>
                <a:latin typeface="Courier New" pitchFamily="34" charset="0"/>
                <a:ea typeface="Courier New" pitchFamily="34" charset="-122"/>
                <a:cs typeface="Courier New" pitchFamily="34" charset="-120"/>
              </a:rPr>
              <a:t>&lt;h1&gt;</a:t>
            </a:r>
            <a:pPr indent="0" marL="0">
              <a:buNone/>
            </a:pPr>
            <a:r>
              <a:rPr lang="en-US" sz="650" dirty="0">
                <a:solidFill>
                  <a:srgbClr val="222222"/>
                </a:solidFill>
                <a:latin typeface="Courier New" pitchFamily="34" charset="0"/>
                <a:ea typeface="Courier New" pitchFamily="34" charset="-122"/>
                <a:cs typeface="Courier New" pitchFamily="34" charset="-120"/>
              </a:rPr>
              <a:t>Assalamu'alaikum!</a:t>
            </a:r>
            <a:pPr indent="0" marL="0">
              <a:buNone/>
            </a:pPr>
            <a:r>
              <a:rPr lang="en-US" sz="650" dirty="0">
                <a:solidFill>
                  <a:srgbClr val="1A5FB4"/>
                </a:solidFill>
                <a:latin typeface="Courier New" pitchFamily="34" charset="0"/>
                <a:ea typeface="Courier New" pitchFamily="34" charset="-122"/>
                <a:cs typeface="Courier New" pitchFamily="34" charset="-120"/>
              </a:rPr>
              <a:t>&lt;/h1&gt;</a:t>
            </a:r>
            <a:endParaRPr lang="en-US" sz="650" dirty="0"/>
          </a:p>
        </p:txBody>
      </p:sp>
      <p:sp>
        <p:nvSpPr>
          <p:cNvPr id="41" name="Text 37"/>
          <p:cNvSpPr txBox="1"/>
          <p:nvPr/>
        </p:nvSpPr>
        <p:spPr>
          <a:xfrm>
            <a:off x="639348" y="2652184"/>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9</a:t>
            </a:r>
            <a:endParaRPr lang="en-US" sz="550" dirty="0"/>
          </a:p>
        </p:txBody>
      </p:sp>
      <p:sp>
        <p:nvSpPr>
          <p:cNvPr id="42" name="Text 38"/>
          <p:cNvSpPr txBox="1"/>
          <p:nvPr/>
        </p:nvSpPr>
        <p:spPr>
          <a:xfrm>
            <a:off x="986820" y="2652184"/>
            <a:ext cx="4436303" cy="123829"/>
          </a:xfrm>
          <a:prstGeom prst="rect">
            <a:avLst/>
          </a:prstGeom>
          <a:noFill/>
          <a:ln/>
        </p:spPr>
        <p:txBody>
          <a:bodyPr wrap="square" lIns="0" tIns="0" rIns="0" bIns="0" rtlCol="0" anchor="ctr"/>
          <a:lstStyle/>
          <a:p>
            <a:pPr indent="0" marL="0">
              <a:buNone/>
            </a:pPr>
            <a:r>
              <a:rPr lang="en-US" sz="650" dirty="0">
                <a:solidFill>
                  <a:srgbClr val="222222"/>
                </a:solidFill>
                <a:latin typeface="Courier New" pitchFamily="34" charset="0"/>
                <a:ea typeface="Courier New" pitchFamily="34" charset="-122"/>
                <a:cs typeface="Courier New" pitchFamily="34" charset="-120"/>
              </a:rPr>
              <a:t>  </a:t>
            </a:r>
            <a:pPr indent="0" marL="0">
              <a:buNone/>
            </a:pPr>
            <a:r>
              <a:rPr lang="en-US" sz="650" dirty="0">
                <a:solidFill>
                  <a:srgbClr val="1A5FB4"/>
                </a:solidFill>
                <a:latin typeface="Courier New" pitchFamily="34" charset="0"/>
                <a:ea typeface="Courier New" pitchFamily="34" charset="-122"/>
                <a:cs typeface="Courier New" pitchFamily="34" charset="-120"/>
              </a:rPr>
              <a:t>&lt;p&gt;</a:t>
            </a:r>
            <a:pPr indent="0" marL="0">
              <a:buNone/>
            </a:pPr>
            <a:r>
              <a:rPr lang="en-US" sz="650" dirty="0">
                <a:solidFill>
                  <a:srgbClr val="222222"/>
                </a:solidFill>
                <a:latin typeface="Courier New" pitchFamily="34" charset="0"/>
                <a:ea typeface="Courier New" pitchFamily="34" charset="-122"/>
                <a:cs typeface="Courier New" pitchFamily="34" charset="-120"/>
              </a:rPr>
              <a:t>Nama saya </a:t>
            </a:r>
            <a:pPr indent="0" marL="0">
              <a:buNone/>
            </a:pPr>
            <a:r>
              <a:rPr lang="en-US" sz="650" dirty="0">
                <a:solidFill>
                  <a:srgbClr val="1A5FB4"/>
                </a:solidFill>
                <a:latin typeface="Courier New" pitchFamily="34" charset="0"/>
                <a:ea typeface="Courier New" pitchFamily="34" charset="-122"/>
                <a:cs typeface="Courier New" pitchFamily="34" charset="-120"/>
              </a:rPr>
              <a:t>&lt;b&gt;</a:t>
            </a:r>
            <a:pPr indent="0" marL="0">
              <a:buNone/>
            </a:pPr>
            <a:r>
              <a:rPr lang="en-US" sz="650" dirty="0">
                <a:solidFill>
                  <a:srgbClr val="222222"/>
                </a:solidFill>
                <a:latin typeface="Courier New" pitchFamily="34" charset="0"/>
                <a:ea typeface="Courier New" pitchFamily="34" charset="-122"/>
                <a:cs typeface="Courier New" pitchFamily="34" charset="-120"/>
              </a:rPr>
              <a:t>Ahmad</a:t>
            </a:r>
            <a:pPr indent="0" marL="0">
              <a:buNone/>
            </a:pPr>
            <a:r>
              <a:rPr lang="en-US" sz="650" dirty="0">
                <a:solidFill>
                  <a:srgbClr val="1A5FB4"/>
                </a:solidFill>
                <a:latin typeface="Courier New" pitchFamily="34" charset="0"/>
                <a:ea typeface="Courier New" pitchFamily="34" charset="-122"/>
                <a:cs typeface="Courier New" pitchFamily="34" charset="-120"/>
              </a:rPr>
              <a:t>&lt;/b&gt;</a:t>
            </a:r>
            <a:pPr indent="0" marL="0">
              <a:buNone/>
            </a:pPr>
            <a:r>
              <a:rPr lang="en-US" sz="650" dirty="0">
                <a:solidFill>
                  <a:srgbClr val="222222"/>
                </a:solidFill>
                <a:latin typeface="Courier New" pitchFamily="34" charset="0"/>
                <a:ea typeface="Courier New" pitchFamily="34" charset="-122"/>
                <a:cs typeface="Courier New" pitchFamily="34" charset="-120"/>
              </a:rPr>
              <a:t>, santri Kelas 8A.</a:t>
            </a:r>
            <a:pPr indent="0" marL="0">
              <a:buNone/>
            </a:pPr>
            <a:r>
              <a:rPr lang="en-US" sz="650" dirty="0">
                <a:solidFill>
                  <a:srgbClr val="1A5FB4"/>
                </a:solidFill>
                <a:latin typeface="Courier New" pitchFamily="34" charset="0"/>
                <a:ea typeface="Courier New" pitchFamily="34" charset="-122"/>
                <a:cs typeface="Courier New" pitchFamily="34" charset="-120"/>
              </a:rPr>
              <a:t>&lt;/p&gt;</a:t>
            </a:r>
            <a:endParaRPr lang="en-US" sz="650" dirty="0"/>
          </a:p>
        </p:txBody>
      </p:sp>
      <p:sp>
        <p:nvSpPr>
          <p:cNvPr id="43" name="Text 39"/>
          <p:cNvSpPr txBox="1"/>
          <p:nvPr/>
        </p:nvSpPr>
        <p:spPr>
          <a:xfrm>
            <a:off x="639348" y="2776013"/>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10</a:t>
            </a:r>
            <a:endParaRPr lang="en-US" sz="550" dirty="0"/>
          </a:p>
        </p:txBody>
      </p:sp>
      <p:sp>
        <p:nvSpPr>
          <p:cNvPr id="44" name="Text 40"/>
          <p:cNvSpPr txBox="1"/>
          <p:nvPr/>
        </p:nvSpPr>
        <p:spPr>
          <a:xfrm>
            <a:off x="986820" y="2776013"/>
            <a:ext cx="4436303" cy="123829"/>
          </a:xfrm>
          <a:prstGeom prst="rect">
            <a:avLst/>
          </a:prstGeom>
          <a:noFill/>
          <a:ln/>
        </p:spPr>
        <p:txBody>
          <a:bodyPr wrap="square" lIns="0" tIns="0" rIns="0" bIns="0" rtlCol="0" anchor="ctr"/>
          <a:lstStyle/>
          <a:p>
            <a:pPr indent="0" marL="0">
              <a:buNone/>
            </a:pPr>
            <a:r>
              <a:rPr lang="en-US" sz="650" dirty="0">
                <a:solidFill>
                  <a:srgbClr val="222222"/>
                </a:solidFill>
                <a:latin typeface="Courier New" pitchFamily="34" charset="0"/>
                <a:ea typeface="Courier New" pitchFamily="34" charset="-122"/>
                <a:cs typeface="Courier New" pitchFamily="34" charset="-120"/>
              </a:rPr>
              <a:t>  </a:t>
            </a:r>
            <a:pPr indent="0" marL="0">
              <a:buNone/>
            </a:pPr>
            <a:r>
              <a:rPr lang="en-US" sz="650" dirty="0">
                <a:solidFill>
                  <a:srgbClr val="1A5FB4"/>
                </a:solidFill>
                <a:latin typeface="Courier New" pitchFamily="34" charset="0"/>
                <a:ea typeface="Courier New" pitchFamily="34" charset="-122"/>
                <a:cs typeface="Courier New" pitchFamily="34" charset="-120"/>
              </a:rPr>
              <a:t>&lt;h2&gt;</a:t>
            </a:r>
            <a:pPr indent="0" marL="0">
              <a:buNone/>
            </a:pPr>
            <a:r>
              <a:rPr lang="en-US" sz="650" dirty="0">
                <a:solidFill>
                  <a:srgbClr val="222222"/>
                </a:solidFill>
                <a:latin typeface="Courier New" pitchFamily="34" charset="0"/>
                <a:ea typeface="Courier New" pitchFamily="34" charset="-122"/>
                <a:cs typeface="Courier New" pitchFamily="34" charset="-120"/>
              </a:rPr>
              <a:t>Hobi Saya</a:t>
            </a:r>
            <a:pPr indent="0" marL="0">
              <a:buNone/>
            </a:pPr>
            <a:r>
              <a:rPr lang="en-US" sz="650" dirty="0">
                <a:solidFill>
                  <a:srgbClr val="1A5FB4"/>
                </a:solidFill>
                <a:latin typeface="Courier New" pitchFamily="34" charset="0"/>
                <a:ea typeface="Courier New" pitchFamily="34" charset="-122"/>
                <a:cs typeface="Courier New" pitchFamily="34" charset="-120"/>
              </a:rPr>
              <a:t>&lt;/h2&gt;</a:t>
            </a:r>
            <a:endParaRPr lang="en-US" sz="650" dirty="0"/>
          </a:p>
        </p:txBody>
      </p:sp>
      <p:sp>
        <p:nvSpPr>
          <p:cNvPr id="45" name="Text 41"/>
          <p:cNvSpPr txBox="1"/>
          <p:nvPr/>
        </p:nvSpPr>
        <p:spPr>
          <a:xfrm>
            <a:off x="639348" y="2899842"/>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11</a:t>
            </a:r>
            <a:endParaRPr lang="en-US" sz="550" dirty="0"/>
          </a:p>
        </p:txBody>
      </p:sp>
      <p:sp>
        <p:nvSpPr>
          <p:cNvPr id="46" name="Text 42"/>
          <p:cNvSpPr txBox="1"/>
          <p:nvPr/>
        </p:nvSpPr>
        <p:spPr>
          <a:xfrm>
            <a:off x="986820" y="2899842"/>
            <a:ext cx="4436303" cy="123829"/>
          </a:xfrm>
          <a:prstGeom prst="rect">
            <a:avLst/>
          </a:prstGeom>
          <a:noFill/>
          <a:ln/>
        </p:spPr>
        <p:txBody>
          <a:bodyPr wrap="square" lIns="0" tIns="0" rIns="0" bIns="0" rtlCol="0" anchor="ctr"/>
          <a:lstStyle/>
          <a:p>
            <a:pPr indent="0" marL="0">
              <a:buNone/>
            </a:pPr>
            <a:r>
              <a:rPr lang="en-US" sz="650" dirty="0">
                <a:solidFill>
                  <a:srgbClr val="222222"/>
                </a:solidFill>
                <a:latin typeface="Courier New" pitchFamily="34" charset="0"/>
                <a:ea typeface="Courier New" pitchFamily="34" charset="-122"/>
                <a:cs typeface="Courier New" pitchFamily="34" charset="-120"/>
              </a:rPr>
              <a:t>  </a:t>
            </a:r>
            <a:pPr indent="0" marL="0">
              <a:buNone/>
            </a:pPr>
            <a:r>
              <a:rPr lang="en-US" sz="650" dirty="0">
                <a:solidFill>
                  <a:srgbClr val="1A5FB4"/>
                </a:solidFill>
                <a:latin typeface="Courier New" pitchFamily="34" charset="0"/>
                <a:ea typeface="Courier New" pitchFamily="34" charset="-122"/>
                <a:cs typeface="Courier New" pitchFamily="34" charset="-120"/>
              </a:rPr>
              <a:t>&lt;ul&gt;</a:t>
            </a:r>
            <a:endParaRPr lang="en-US" sz="650" dirty="0"/>
          </a:p>
        </p:txBody>
      </p:sp>
      <p:sp>
        <p:nvSpPr>
          <p:cNvPr id="47" name="Text 43"/>
          <p:cNvSpPr txBox="1"/>
          <p:nvPr/>
        </p:nvSpPr>
        <p:spPr>
          <a:xfrm>
            <a:off x="639348" y="3023671"/>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12</a:t>
            </a:r>
            <a:endParaRPr lang="en-US" sz="550" dirty="0"/>
          </a:p>
        </p:txBody>
      </p:sp>
      <p:sp>
        <p:nvSpPr>
          <p:cNvPr id="48" name="Text 44"/>
          <p:cNvSpPr txBox="1"/>
          <p:nvPr/>
        </p:nvSpPr>
        <p:spPr>
          <a:xfrm>
            <a:off x="986820" y="3023671"/>
            <a:ext cx="4436303" cy="123829"/>
          </a:xfrm>
          <a:prstGeom prst="rect">
            <a:avLst/>
          </a:prstGeom>
          <a:noFill/>
          <a:ln/>
        </p:spPr>
        <p:txBody>
          <a:bodyPr wrap="square" lIns="0" tIns="0" rIns="0" bIns="0" rtlCol="0" anchor="ctr"/>
          <a:lstStyle/>
          <a:p>
            <a:pPr indent="0" marL="0">
              <a:buNone/>
            </a:pPr>
            <a:r>
              <a:rPr lang="en-US" sz="650" dirty="0">
                <a:solidFill>
                  <a:srgbClr val="222222"/>
                </a:solidFill>
                <a:latin typeface="Courier New" pitchFamily="34" charset="0"/>
                <a:ea typeface="Courier New" pitchFamily="34" charset="-122"/>
                <a:cs typeface="Courier New" pitchFamily="34" charset="-120"/>
              </a:rPr>
              <a:t>    </a:t>
            </a:r>
            <a:pPr indent="0" marL="0">
              <a:buNone/>
            </a:pPr>
            <a:r>
              <a:rPr lang="en-US" sz="650" dirty="0">
                <a:solidFill>
                  <a:srgbClr val="1A5FB4"/>
                </a:solidFill>
                <a:latin typeface="Courier New" pitchFamily="34" charset="0"/>
                <a:ea typeface="Courier New" pitchFamily="34" charset="-122"/>
                <a:cs typeface="Courier New" pitchFamily="34" charset="-120"/>
              </a:rPr>
              <a:t>&lt;li&gt;</a:t>
            </a:r>
            <a:pPr indent="0" marL="0">
              <a:buNone/>
            </a:pPr>
            <a:r>
              <a:rPr lang="en-US" sz="650" dirty="0">
                <a:solidFill>
                  <a:srgbClr val="222222"/>
                </a:solidFill>
                <a:latin typeface="Courier New" pitchFamily="34" charset="0"/>
                <a:ea typeface="Courier New" pitchFamily="34" charset="-122"/>
                <a:cs typeface="Courier New" pitchFamily="34" charset="-120"/>
              </a:rPr>
              <a:t>Membaca</a:t>
            </a:r>
            <a:pPr indent="0" marL="0">
              <a:buNone/>
            </a:pPr>
            <a:r>
              <a:rPr lang="en-US" sz="650" dirty="0">
                <a:solidFill>
                  <a:srgbClr val="1A5FB4"/>
                </a:solidFill>
                <a:latin typeface="Courier New" pitchFamily="34" charset="0"/>
                <a:ea typeface="Courier New" pitchFamily="34" charset="-122"/>
                <a:cs typeface="Courier New" pitchFamily="34" charset="-120"/>
              </a:rPr>
              <a:t>&lt;/li&gt;</a:t>
            </a:r>
            <a:endParaRPr lang="en-US" sz="650" dirty="0"/>
          </a:p>
        </p:txBody>
      </p:sp>
      <p:sp>
        <p:nvSpPr>
          <p:cNvPr id="49" name="Text 45"/>
          <p:cNvSpPr txBox="1"/>
          <p:nvPr/>
        </p:nvSpPr>
        <p:spPr>
          <a:xfrm>
            <a:off x="639348" y="3147500"/>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13</a:t>
            </a:r>
            <a:endParaRPr lang="en-US" sz="550" dirty="0"/>
          </a:p>
        </p:txBody>
      </p:sp>
      <p:sp>
        <p:nvSpPr>
          <p:cNvPr id="50" name="Text 46"/>
          <p:cNvSpPr txBox="1"/>
          <p:nvPr/>
        </p:nvSpPr>
        <p:spPr>
          <a:xfrm>
            <a:off x="986820" y="3147500"/>
            <a:ext cx="4436303" cy="123829"/>
          </a:xfrm>
          <a:prstGeom prst="rect">
            <a:avLst/>
          </a:prstGeom>
          <a:noFill/>
          <a:ln/>
        </p:spPr>
        <p:txBody>
          <a:bodyPr wrap="square" lIns="0" tIns="0" rIns="0" bIns="0" rtlCol="0" anchor="ctr"/>
          <a:lstStyle/>
          <a:p>
            <a:pPr indent="0" marL="0">
              <a:buNone/>
            </a:pPr>
            <a:r>
              <a:rPr lang="en-US" sz="650" dirty="0">
                <a:solidFill>
                  <a:srgbClr val="222222"/>
                </a:solidFill>
                <a:latin typeface="Courier New" pitchFamily="34" charset="0"/>
                <a:ea typeface="Courier New" pitchFamily="34" charset="-122"/>
                <a:cs typeface="Courier New" pitchFamily="34" charset="-120"/>
              </a:rPr>
              <a:t>    </a:t>
            </a:r>
            <a:pPr indent="0" marL="0">
              <a:buNone/>
            </a:pPr>
            <a:r>
              <a:rPr lang="en-US" sz="650" dirty="0">
                <a:solidFill>
                  <a:srgbClr val="1A5FB4"/>
                </a:solidFill>
                <a:latin typeface="Courier New" pitchFamily="34" charset="0"/>
                <a:ea typeface="Courier New" pitchFamily="34" charset="-122"/>
                <a:cs typeface="Courier New" pitchFamily="34" charset="-120"/>
              </a:rPr>
              <a:t>&lt;li&gt;</a:t>
            </a:r>
            <a:pPr indent="0" marL="0">
              <a:buNone/>
            </a:pPr>
            <a:r>
              <a:rPr lang="en-US" sz="650" dirty="0">
                <a:solidFill>
                  <a:srgbClr val="222222"/>
                </a:solidFill>
                <a:latin typeface="Courier New" pitchFamily="34" charset="0"/>
                <a:ea typeface="Courier New" pitchFamily="34" charset="-122"/>
                <a:cs typeface="Courier New" pitchFamily="34" charset="-120"/>
              </a:rPr>
              <a:t>Kaligrafi</a:t>
            </a:r>
            <a:pPr indent="0" marL="0">
              <a:buNone/>
            </a:pPr>
            <a:r>
              <a:rPr lang="en-US" sz="650" dirty="0">
                <a:solidFill>
                  <a:srgbClr val="1A5FB4"/>
                </a:solidFill>
                <a:latin typeface="Courier New" pitchFamily="34" charset="0"/>
                <a:ea typeface="Courier New" pitchFamily="34" charset="-122"/>
                <a:cs typeface="Courier New" pitchFamily="34" charset="-120"/>
              </a:rPr>
              <a:t>&lt;/li&gt;</a:t>
            </a:r>
            <a:endParaRPr lang="en-US" sz="650" dirty="0"/>
          </a:p>
        </p:txBody>
      </p:sp>
      <p:sp>
        <p:nvSpPr>
          <p:cNvPr id="51" name="Text 47"/>
          <p:cNvSpPr txBox="1"/>
          <p:nvPr/>
        </p:nvSpPr>
        <p:spPr>
          <a:xfrm>
            <a:off x="639348" y="3271330"/>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14</a:t>
            </a:r>
            <a:endParaRPr lang="en-US" sz="550" dirty="0"/>
          </a:p>
        </p:txBody>
      </p:sp>
      <p:sp>
        <p:nvSpPr>
          <p:cNvPr id="52" name="Text 48"/>
          <p:cNvSpPr txBox="1"/>
          <p:nvPr/>
        </p:nvSpPr>
        <p:spPr>
          <a:xfrm>
            <a:off x="986820" y="3271330"/>
            <a:ext cx="4436303" cy="123829"/>
          </a:xfrm>
          <a:prstGeom prst="rect">
            <a:avLst/>
          </a:prstGeom>
          <a:noFill/>
          <a:ln/>
        </p:spPr>
        <p:txBody>
          <a:bodyPr wrap="square" lIns="0" tIns="0" rIns="0" bIns="0" rtlCol="0" anchor="ctr"/>
          <a:lstStyle/>
          <a:p>
            <a:pPr indent="0" marL="0">
              <a:buNone/>
            </a:pPr>
            <a:r>
              <a:rPr lang="en-US" sz="650" dirty="0">
                <a:solidFill>
                  <a:srgbClr val="222222"/>
                </a:solidFill>
                <a:latin typeface="Courier New" pitchFamily="34" charset="0"/>
                <a:ea typeface="Courier New" pitchFamily="34" charset="-122"/>
                <a:cs typeface="Courier New" pitchFamily="34" charset="-120"/>
              </a:rPr>
              <a:t>  </a:t>
            </a:r>
            <a:pPr indent="0" marL="0">
              <a:buNone/>
            </a:pPr>
            <a:r>
              <a:rPr lang="en-US" sz="650" dirty="0">
                <a:solidFill>
                  <a:srgbClr val="1A5FB4"/>
                </a:solidFill>
                <a:latin typeface="Courier New" pitchFamily="34" charset="0"/>
                <a:ea typeface="Courier New" pitchFamily="34" charset="-122"/>
                <a:cs typeface="Courier New" pitchFamily="34" charset="-120"/>
              </a:rPr>
              <a:t>&lt;/ul&gt;</a:t>
            </a:r>
            <a:endParaRPr lang="en-US" sz="650" dirty="0"/>
          </a:p>
        </p:txBody>
      </p:sp>
      <p:sp>
        <p:nvSpPr>
          <p:cNvPr id="53" name="Text 49"/>
          <p:cNvSpPr txBox="1"/>
          <p:nvPr/>
        </p:nvSpPr>
        <p:spPr>
          <a:xfrm>
            <a:off x="639348" y="3395159"/>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15</a:t>
            </a:r>
            <a:endParaRPr lang="en-US" sz="550" dirty="0"/>
          </a:p>
        </p:txBody>
      </p:sp>
      <p:sp>
        <p:nvSpPr>
          <p:cNvPr id="54" name="Text 50"/>
          <p:cNvSpPr txBox="1"/>
          <p:nvPr/>
        </p:nvSpPr>
        <p:spPr>
          <a:xfrm>
            <a:off x="986820" y="3395159"/>
            <a:ext cx="4436303" cy="123829"/>
          </a:xfrm>
          <a:prstGeom prst="rect">
            <a:avLst/>
          </a:prstGeom>
          <a:noFill/>
          <a:ln/>
        </p:spPr>
        <p:txBody>
          <a:bodyPr wrap="square" lIns="0" tIns="0" rIns="0" bIns="0" rtlCol="0" anchor="ctr"/>
          <a:lstStyle/>
          <a:p>
            <a:pPr indent="0" marL="0">
              <a:buNone/>
            </a:pPr>
            <a:r>
              <a:rPr lang="en-US" sz="650" dirty="0">
                <a:solidFill>
                  <a:srgbClr val="222222"/>
                </a:solidFill>
                <a:latin typeface="Courier New" pitchFamily="34" charset="0"/>
                <a:ea typeface="Courier New" pitchFamily="34" charset="-122"/>
                <a:cs typeface="Courier New" pitchFamily="34" charset="-120"/>
              </a:rPr>
              <a:t>  </a:t>
            </a:r>
            <a:pPr indent="0" marL="0">
              <a:buNone/>
            </a:pPr>
            <a:r>
              <a:rPr lang="en-US" sz="650" dirty="0">
                <a:solidFill>
                  <a:srgbClr val="1A5FB4"/>
                </a:solidFill>
                <a:latin typeface="Courier New" pitchFamily="34" charset="0"/>
                <a:ea typeface="Courier New" pitchFamily="34" charset="-122"/>
                <a:cs typeface="Courier New" pitchFamily="34" charset="-120"/>
              </a:rPr>
              <a:t>&lt;img src="pondok.jpg" alt="Gedung pondok" width="300"&gt;</a:t>
            </a:r>
            <a:endParaRPr lang="en-US" sz="650" dirty="0"/>
          </a:p>
        </p:txBody>
      </p:sp>
      <p:sp>
        <p:nvSpPr>
          <p:cNvPr id="55" name="Shape 51"/>
          <p:cNvSpPr/>
          <p:nvPr/>
        </p:nvSpPr>
        <p:spPr>
          <a:xfrm>
            <a:off x="913668" y="3518988"/>
            <a:ext cx="4555175" cy="123829"/>
          </a:xfrm>
          <a:prstGeom prst="rect">
            <a:avLst/>
          </a:prstGeom>
          <a:solidFill>
            <a:srgbClr val="FFF59D"/>
          </a:solidFill>
          <a:ln w="12700">
            <a:solidFill>
              <a:srgbClr val="FFF59D"/>
            </a:solidFill>
            <a:prstDash val="solid"/>
          </a:ln>
        </p:spPr>
      </p:sp>
      <p:sp>
        <p:nvSpPr>
          <p:cNvPr id="56" name="Text 52"/>
          <p:cNvSpPr txBox="1"/>
          <p:nvPr/>
        </p:nvSpPr>
        <p:spPr>
          <a:xfrm>
            <a:off x="639348" y="3518988"/>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16</a:t>
            </a:r>
            <a:endParaRPr lang="en-US" sz="550" dirty="0"/>
          </a:p>
        </p:txBody>
      </p:sp>
      <p:sp>
        <p:nvSpPr>
          <p:cNvPr id="57" name="Text 53"/>
          <p:cNvSpPr txBox="1"/>
          <p:nvPr/>
        </p:nvSpPr>
        <p:spPr>
          <a:xfrm>
            <a:off x="986820" y="3518988"/>
            <a:ext cx="4436303" cy="123829"/>
          </a:xfrm>
          <a:prstGeom prst="rect">
            <a:avLst/>
          </a:prstGeom>
          <a:noFill/>
          <a:ln/>
        </p:spPr>
        <p:txBody>
          <a:bodyPr wrap="square" lIns="0" tIns="0" rIns="0" bIns="0" rtlCol="0" anchor="ctr"/>
          <a:lstStyle/>
          <a:p>
            <a:pPr indent="0" marL="0">
              <a:buNone/>
            </a:pPr>
            <a:r>
              <a:rPr lang="en-US" sz="650" dirty="0">
                <a:solidFill>
                  <a:srgbClr val="222222"/>
                </a:solidFill>
                <a:latin typeface="Courier New" pitchFamily="34" charset="0"/>
                <a:ea typeface="Courier New" pitchFamily="34" charset="-122"/>
                <a:cs typeface="Courier New" pitchFamily="34" charset="-120"/>
              </a:rPr>
              <a:t>  </a:t>
            </a:r>
            <a:pPr indent="0" marL="0">
              <a:buNone/>
            </a:pPr>
            <a:r>
              <a:rPr lang="en-US" sz="650" dirty="0">
                <a:solidFill>
                  <a:srgbClr val="1A5FB4"/>
                </a:solidFill>
                <a:latin typeface="Courier New" pitchFamily="34" charset="0"/>
                <a:ea typeface="Courier New" pitchFamily="34" charset="-122"/>
                <a:cs typeface="Courier New" pitchFamily="34" charset="-120"/>
              </a:rPr>
              <a:t>&lt;p&gt;</a:t>
            </a:r>
            <a:pPr indent="0" marL="0">
              <a:buNone/>
            </a:pPr>
            <a:r>
              <a:rPr lang="en-US" sz="650" dirty="0">
                <a:solidFill>
                  <a:srgbClr val="1A5FB4"/>
                </a:solidFill>
                <a:latin typeface="Courier New" pitchFamily="34" charset="0"/>
                <a:ea typeface="Courier New" pitchFamily="34" charset="-122"/>
                <a:cs typeface="Courier New" pitchFamily="34" charset="-120"/>
              </a:rPr>
              <a:t>&lt;a href="https://sites.google.com/view/kelas8a-wu"&gt;</a:t>
            </a:r>
            <a:pPr indent="0" marL="0">
              <a:buNone/>
            </a:pPr>
            <a:r>
              <a:rPr lang="en-US" sz="650" dirty="0">
                <a:solidFill>
                  <a:srgbClr val="222222"/>
                </a:solidFill>
                <a:latin typeface="Courier New" pitchFamily="34" charset="0"/>
                <a:ea typeface="Courier New" pitchFamily="34" charset="-122"/>
                <a:cs typeface="Courier New" pitchFamily="34" charset="-120"/>
              </a:rPr>
              <a:t>Website Kelas</a:t>
            </a:r>
            <a:pPr indent="0" marL="0">
              <a:buNone/>
            </a:pPr>
            <a:r>
              <a:rPr lang="en-US" sz="650" dirty="0">
                <a:solidFill>
                  <a:srgbClr val="1A5FB4"/>
                </a:solidFill>
                <a:latin typeface="Courier New" pitchFamily="34" charset="0"/>
                <a:ea typeface="Courier New" pitchFamily="34" charset="-122"/>
                <a:cs typeface="Courier New" pitchFamily="34" charset="-120"/>
              </a:rPr>
              <a:t>&lt;/a&gt;</a:t>
            </a:r>
            <a:pPr indent="0" marL="0">
              <a:buNone/>
            </a:pPr>
            <a:r>
              <a:rPr lang="en-US" sz="650" dirty="0">
                <a:solidFill>
                  <a:srgbClr val="1A5FB4"/>
                </a:solidFill>
                <a:latin typeface="Courier New" pitchFamily="34" charset="0"/>
                <a:ea typeface="Courier New" pitchFamily="34" charset="-122"/>
                <a:cs typeface="Courier New" pitchFamily="34" charset="-120"/>
              </a:rPr>
              <a:t>&lt;/p&gt;</a:t>
            </a:r>
            <a:endParaRPr lang="en-US" sz="650" dirty="0"/>
          </a:p>
        </p:txBody>
      </p:sp>
      <p:sp>
        <p:nvSpPr>
          <p:cNvPr id="58" name="Text 54"/>
          <p:cNvSpPr txBox="1"/>
          <p:nvPr/>
        </p:nvSpPr>
        <p:spPr>
          <a:xfrm>
            <a:off x="639348" y="3642817"/>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17</a:t>
            </a:r>
            <a:endParaRPr lang="en-US" sz="550" dirty="0"/>
          </a:p>
        </p:txBody>
      </p:sp>
      <p:sp>
        <p:nvSpPr>
          <p:cNvPr id="59" name="Text 55"/>
          <p:cNvSpPr txBox="1"/>
          <p:nvPr/>
        </p:nvSpPr>
        <p:spPr>
          <a:xfrm>
            <a:off x="986820" y="3642817"/>
            <a:ext cx="4436303" cy="123829"/>
          </a:xfrm>
          <a:prstGeom prst="rect">
            <a:avLst/>
          </a:prstGeom>
          <a:noFill/>
          <a:ln/>
        </p:spPr>
        <p:txBody>
          <a:bodyPr wrap="square" lIns="0" tIns="0" rIns="0" bIns="0" rtlCol="0" anchor="ctr"/>
          <a:lstStyle/>
          <a:p>
            <a:pPr indent="0" marL="0">
              <a:buNone/>
            </a:pPr>
            <a:r>
              <a:rPr lang="en-US" sz="650" dirty="0">
                <a:solidFill>
                  <a:srgbClr val="1A5FB4"/>
                </a:solidFill>
                <a:latin typeface="Courier New" pitchFamily="34" charset="0"/>
                <a:ea typeface="Courier New" pitchFamily="34" charset="-122"/>
                <a:cs typeface="Courier New" pitchFamily="34" charset="-120"/>
              </a:rPr>
              <a:t>&lt;/body&gt;</a:t>
            </a:r>
            <a:endParaRPr lang="en-US" sz="650" dirty="0"/>
          </a:p>
        </p:txBody>
      </p:sp>
      <p:sp>
        <p:nvSpPr>
          <p:cNvPr id="60" name="Text 56"/>
          <p:cNvSpPr txBox="1"/>
          <p:nvPr/>
        </p:nvSpPr>
        <p:spPr>
          <a:xfrm>
            <a:off x="639348" y="3766646"/>
            <a:ext cx="228600" cy="123829"/>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18</a:t>
            </a:r>
            <a:endParaRPr lang="en-US" sz="550" dirty="0"/>
          </a:p>
        </p:txBody>
      </p:sp>
      <p:sp>
        <p:nvSpPr>
          <p:cNvPr id="61" name="Text 57"/>
          <p:cNvSpPr txBox="1"/>
          <p:nvPr/>
        </p:nvSpPr>
        <p:spPr>
          <a:xfrm>
            <a:off x="986820" y="3766646"/>
            <a:ext cx="4436303" cy="123829"/>
          </a:xfrm>
          <a:prstGeom prst="rect">
            <a:avLst/>
          </a:prstGeom>
          <a:noFill/>
          <a:ln/>
        </p:spPr>
        <p:txBody>
          <a:bodyPr wrap="square" lIns="0" tIns="0" rIns="0" bIns="0" rtlCol="0" anchor="ctr"/>
          <a:lstStyle/>
          <a:p>
            <a:pPr indent="0" marL="0">
              <a:buNone/>
            </a:pPr>
            <a:r>
              <a:rPr lang="en-US" sz="650" dirty="0">
                <a:solidFill>
                  <a:srgbClr val="1A5FB4"/>
                </a:solidFill>
                <a:latin typeface="Courier New" pitchFamily="34" charset="0"/>
                <a:ea typeface="Courier New" pitchFamily="34" charset="-122"/>
                <a:cs typeface="Courier New" pitchFamily="34" charset="-120"/>
              </a:rPr>
              <a:t>&lt;/html&gt;</a:t>
            </a:r>
            <a:endParaRPr lang="en-US" sz="650" dirty="0"/>
          </a:p>
        </p:txBody>
      </p:sp>
      <p:sp>
        <p:nvSpPr>
          <p:cNvPr id="62" name="Shape 58"/>
          <p:cNvSpPr/>
          <p:nvPr/>
        </p:nvSpPr>
        <p:spPr>
          <a:xfrm>
            <a:off x="913668" y="3500700"/>
            <a:ext cx="4555175" cy="160405"/>
          </a:xfrm>
          <a:prstGeom prst="roundRect">
            <a:avLst>
              <a:gd name="adj" fmla="val 28503"/>
            </a:avLst>
          </a:prstGeom>
          <a:solidFill>
            <a:srgbClr val="FFFFFF">
              <a:alpha val="0"/>
            </a:srgbClr>
          </a:solidFill>
          <a:ln w="31750">
            <a:solidFill>
              <a:srgbClr val="E53935"/>
            </a:solidFill>
            <a:prstDash val="solid"/>
          </a:ln>
        </p:spPr>
      </p:sp>
      <p:sp>
        <p:nvSpPr>
          <p:cNvPr id="63" name="Shape 59"/>
          <p:cNvSpPr/>
          <p:nvPr/>
        </p:nvSpPr>
        <p:spPr>
          <a:xfrm>
            <a:off x="5331684" y="3363540"/>
            <a:ext cx="274320" cy="274320"/>
          </a:xfrm>
          <a:prstGeom prst="ellipse">
            <a:avLst/>
          </a:prstGeom>
          <a:solidFill>
            <a:srgbClr val="E53935"/>
          </a:solidFill>
          <a:ln w="12700">
            <a:solidFill>
              <a:srgbClr val="FFFFFF"/>
            </a:solidFill>
            <a:prstDash val="solid"/>
          </a:ln>
        </p:spPr>
      </p:sp>
      <p:sp>
        <p:nvSpPr>
          <p:cNvPr id="64" name="Text 60"/>
          <p:cNvSpPr txBox="1"/>
          <p:nvPr/>
        </p:nvSpPr>
        <p:spPr>
          <a:xfrm>
            <a:off x="5331684" y="33635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65" name="Image 2" descr="preencoded.png">    </p:cNvPr>
          <p:cNvPicPr>
            <a:picLocks noChangeAspect="1"/>
          </p:cNvPicPr>
          <p:nvPr/>
        </p:nvPicPr>
        <p:blipFill>
          <a:blip r:embed="rId3"/>
          <a:stretch>
            <a:fillRect/>
          </a:stretch>
        </p:blipFill>
        <p:spPr>
          <a:xfrm>
            <a:off x="3417186" y="3587094"/>
            <a:ext cx="237744" cy="237744"/>
          </a:xfrm>
          <a:prstGeom prst="rect">
            <a:avLst/>
          </a:prstGeom>
        </p:spPr>
      </p:pic>
      <p:sp>
        <p:nvSpPr>
          <p:cNvPr id="66" name="Text 6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7" name="Text 6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 link ke website kelas</a:t>
            </a:r>
            <a:endParaRPr lang="en-US" sz="1800" dirty="0"/>
          </a:p>
        </p:txBody>
      </p:sp>
      <p:sp>
        <p:nvSpPr>
          <p:cNvPr id="68" name="Text 6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&lt;p&gt;&lt;a href="alamat-website-kelas"&gt;Website Kelas&lt;/a&gt;&lt;/p&gt;. Klik link di browser untuk menguji.</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Pemeriksaan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Profil Santri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file:///C:/Users/Santri/Documents/Website_Saya/index.html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Text 22"/>
          <p:cNvSpPr txBox="1"/>
          <p:nvPr/>
        </p:nvSpPr>
        <p:spPr>
          <a:xfrm>
            <a:off x="743224" y="1741685"/>
            <a:ext cx="4640031" cy="320040"/>
          </a:xfrm>
          <a:prstGeom prst="rect">
            <a:avLst/>
          </a:prstGeom>
          <a:noFill/>
          <a:ln/>
        </p:spPr>
        <p:txBody>
          <a:bodyPr wrap="square" lIns="0" tIns="0" rIns="0" bIns="0" rtlCol="0" anchor="t"/>
          <a:lstStyle/>
          <a:p>
            <a:pPr indent="0" marL="0">
              <a:buNone/>
            </a:pPr>
            <a:r>
              <a:rPr lang="en-US" sz="1600" b="1" dirty="0">
                <a:solidFill>
                  <a:srgbClr val="1E2A26"/>
                </a:solidFill>
                <a:latin typeface="Times New Roman" pitchFamily="34" charset="0"/>
                <a:ea typeface="Times New Roman" pitchFamily="34" charset="-122"/>
                <a:cs typeface="Times New Roman" pitchFamily="34" charset="-120"/>
              </a:rPr>
              <a:t>Assalamu'alaikum!</a:t>
            </a:r>
            <a:endParaRPr lang="en-US" sz="1600" dirty="0"/>
          </a:p>
        </p:txBody>
      </p:sp>
      <p:sp>
        <p:nvSpPr>
          <p:cNvPr id="30" name="Text 23"/>
          <p:cNvSpPr txBox="1"/>
          <p:nvPr/>
        </p:nvSpPr>
        <p:spPr>
          <a:xfrm>
            <a:off x="743224" y="2061725"/>
            <a:ext cx="4640031" cy="182880"/>
          </a:xfrm>
          <a:prstGeom prst="rect">
            <a:avLst/>
          </a:prstGeom>
          <a:noFill/>
          <a:ln/>
        </p:spPr>
        <p:txBody>
          <a:bodyPr wrap="square" lIns="0" tIns="0" rIns="0" bIns="0" rtlCol="0" anchor="t"/>
          <a:lstStyle/>
          <a:p>
            <a:pPr indent="0" marL="0">
              <a:buNone/>
            </a:pPr>
            <a:r>
              <a:rPr lang="en-US" sz="800" dirty="0">
                <a:solidFill>
                  <a:srgbClr val="1E2A26"/>
                </a:solidFill>
                <a:latin typeface="Times New Roman" pitchFamily="34" charset="0"/>
                <a:ea typeface="Times New Roman" pitchFamily="34" charset="-122"/>
                <a:cs typeface="Times New Roman" pitchFamily="34" charset="-120"/>
              </a:rPr>
              <a:t>Nama saya </a:t>
            </a:r>
            <a:pPr indent="0" marL="0">
              <a:buNone/>
            </a:pPr>
            <a:r>
              <a:rPr lang="en-US" sz="800" b="1" dirty="0">
                <a:solidFill>
                  <a:srgbClr val="1E2A26"/>
                </a:solidFill>
                <a:latin typeface="Times New Roman" pitchFamily="34" charset="0"/>
                <a:ea typeface="Times New Roman" pitchFamily="34" charset="-122"/>
                <a:cs typeface="Times New Roman" pitchFamily="34" charset="-120"/>
              </a:rPr>
              <a:t>Ahmad</a:t>
            </a:r>
            <a:pPr indent="0" marL="0">
              <a:buNone/>
            </a:pPr>
            <a:r>
              <a:rPr lang="en-US" sz="800" dirty="0">
                <a:solidFill>
                  <a:srgbClr val="1E2A26"/>
                </a:solidFill>
                <a:latin typeface="Times New Roman" pitchFamily="34" charset="0"/>
                <a:ea typeface="Times New Roman" pitchFamily="34" charset="-122"/>
                <a:cs typeface="Times New Roman" pitchFamily="34" charset="-120"/>
              </a:rPr>
              <a:t>, santri Kelas 8A.</a:t>
            </a:r>
            <a:endParaRPr lang="en-US" sz="800" dirty="0"/>
          </a:p>
        </p:txBody>
      </p:sp>
      <p:sp>
        <p:nvSpPr>
          <p:cNvPr id="31" name="Text 24"/>
          <p:cNvSpPr txBox="1"/>
          <p:nvPr/>
        </p:nvSpPr>
        <p:spPr>
          <a:xfrm>
            <a:off x="743224" y="2262893"/>
            <a:ext cx="4640031" cy="228600"/>
          </a:xfrm>
          <a:prstGeom prst="rect">
            <a:avLst/>
          </a:prstGeom>
          <a:noFill/>
          <a:ln/>
        </p:spPr>
        <p:txBody>
          <a:bodyPr wrap="square" lIns="0" tIns="0" rIns="0" bIns="0" rtlCol="0" anchor="t"/>
          <a:lstStyle/>
          <a:p>
            <a:pPr indent="0" marL="0">
              <a:buNone/>
            </a:pPr>
            <a:r>
              <a:rPr lang="en-US" sz="1200" b="1" dirty="0">
                <a:solidFill>
                  <a:srgbClr val="1E2A26"/>
                </a:solidFill>
                <a:latin typeface="Times New Roman" pitchFamily="34" charset="0"/>
                <a:ea typeface="Times New Roman" pitchFamily="34" charset="-122"/>
                <a:cs typeface="Times New Roman" pitchFamily="34" charset="-120"/>
              </a:rPr>
              <a:t>Hobi Saya</a:t>
            </a:r>
            <a:endParaRPr lang="en-US" sz="1200" dirty="0"/>
          </a:p>
        </p:txBody>
      </p:sp>
      <p:sp>
        <p:nvSpPr>
          <p:cNvPr id="32" name="Text 25"/>
          <p:cNvSpPr txBox="1"/>
          <p:nvPr/>
        </p:nvSpPr>
        <p:spPr>
          <a:xfrm>
            <a:off x="926104" y="2500637"/>
            <a:ext cx="4457151" cy="292608"/>
          </a:xfrm>
          <a:prstGeom prst="rect">
            <a:avLst/>
          </a:prstGeom>
          <a:noFill/>
          <a:ln/>
        </p:spPr>
        <p:txBody>
          <a:bodyPr wrap="square" lIns="0" tIns="0" rIns="0" bIns="0" rtlCol="0" anchor="t"/>
          <a:lstStyle/>
          <a:p>
            <a:pPr indent="0" marL="0">
              <a:buNone/>
            </a:pPr>
            <a:r>
              <a:rPr lang="en-US" sz="800" dirty="0">
                <a:solidFill>
                  <a:srgbClr val="1E2A26"/>
                </a:solidFill>
                <a:latin typeface="Times New Roman" pitchFamily="34" charset="0"/>
                <a:ea typeface="Times New Roman" pitchFamily="34" charset="-122"/>
                <a:cs typeface="Times New Roman" pitchFamily="34" charset="-120"/>
              </a:rPr>
              <a:t>•  Membaca</a:t>
            </a:r>
            <a:endParaRPr lang="en-US" sz="800" dirty="0"/>
          </a:p>
          <a:p>
            <a:pPr indent="0" marL="0">
              <a:buNone/>
            </a:pPr>
            <a:r>
              <a:rPr lang="en-US" sz="800" dirty="0">
                <a:solidFill>
                  <a:srgbClr val="1E2A26"/>
                </a:solidFill>
                <a:latin typeface="Times New Roman" pitchFamily="34" charset="0"/>
                <a:ea typeface="Times New Roman" pitchFamily="34" charset="-122"/>
                <a:cs typeface="Times New Roman" pitchFamily="34" charset="-120"/>
              </a:rPr>
              <a:t>•  Kaligrafi</a:t>
            </a:r>
            <a:endParaRPr lang="en-US" sz="800" dirty="0"/>
          </a:p>
        </p:txBody>
      </p:sp>
      <p:sp>
        <p:nvSpPr>
          <p:cNvPr id="33" name="Shape 26"/>
          <p:cNvSpPr/>
          <p:nvPr/>
        </p:nvSpPr>
        <p:spPr>
          <a:xfrm>
            <a:off x="743224" y="2829821"/>
            <a:ext cx="1280160" cy="502920"/>
          </a:xfrm>
          <a:prstGeom prst="rect">
            <a:avLst/>
          </a:prstGeom>
          <a:solidFill>
            <a:srgbClr val="A7CBEE"/>
          </a:solidFill>
          <a:ln w="12700">
            <a:solidFill>
              <a:srgbClr val="A7CBEE"/>
            </a:solidFill>
            <a:prstDash val="solid"/>
          </a:ln>
        </p:spPr>
      </p:sp>
      <p:sp>
        <p:nvSpPr>
          <p:cNvPr id="34" name="Shape 27"/>
          <p:cNvSpPr/>
          <p:nvPr/>
        </p:nvSpPr>
        <p:spPr>
          <a:xfrm>
            <a:off x="788944" y="3021845"/>
            <a:ext cx="731520" cy="310896"/>
          </a:xfrm>
          <a:prstGeom prst="triangle">
            <a:avLst/>
          </a:prstGeom>
          <a:solidFill>
            <a:srgbClr val="34A853"/>
          </a:solidFill>
          <a:ln/>
        </p:spPr>
      </p:sp>
      <p:sp>
        <p:nvSpPr>
          <p:cNvPr id="35" name="Text 28"/>
          <p:cNvSpPr txBox="1"/>
          <p:nvPr/>
        </p:nvSpPr>
        <p:spPr>
          <a:xfrm>
            <a:off x="743224" y="3360173"/>
            <a:ext cx="1371600" cy="164592"/>
          </a:xfrm>
          <a:prstGeom prst="rect">
            <a:avLst/>
          </a:prstGeom>
          <a:noFill/>
          <a:ln/>
        </p:spPr>
        <p:txBody>
          <a:bodyPr wrap="square" lIns="0" tIns="0" rIns="0" bIns="0" rtlCol="0" anchor="t"/>
          <a:lstStyle/>
          <a:p>
            <a:pPr indent="0" marL="0">
              <a:buNone/>
            </a:pPr>
            <a:r>
              <a:rPr lang="en-US" sz="800" u="sng" dirty="0">
                <a:solidFill>
                  <a:srgbClr val="0000EE"/>
                </a:solidFill>
                <a:latin typeface="Times New Roman" pitchFamily="34" charset="0"/>
                <a:ea typeface="Times New Roman" pitchFamily="34" charset="-122"/>
                <a:cs typeface="Times New Roman" pitchFamily="34" charset="-120"/>
              </a:rPr>
              <a:t>Website Kelas</a:t>
            </a:r>
            <a:endParaRPr lang="en-US" sz="800" dirty="0"/>
          </a:p>
        </p:txBody>
      </p:sp>
      <p:sp>
        <p:nvSpPr>
          <p:cNvPr id="36" name="Shape 29"/>
          <p:cNvSpPr/>
          <p:nvPr/>
        </p:nvSpPr>
        <p:spPr>
          <a:xfrm>
            <a:off x="679216" y="1695965"/>
            <a:ext cx="2985187" cy="2271987"/>
          </a:xfrm>
          <a:prstGeom prst="roundRect">
            <a:avLst>
              <a:gd name="adj" fmla="val 2012"/>
            </a:avLst>
          </a:prstGeom>
          <a:solidFill>
            <a:srgbClr val="FFFFFF">
              <a:alpha val="0"/>
            </a:srgbClr>
          </a:solidFill>
          <a:ln w="31750">
            <a:solidFill>
              <a:srgbClr val="E53935"/>
            </a:solidFill>
            <a:prstDash val="solid"/>
          </a:ln>
        </p:spPr>
      </p:sp>
      <p:sp>
        <p:nvSpPr>
          <p:cNvPr id="37" name="Shape 30"/>
          <p:cNvSpPr/>
          <p:nvPr/>
        </p:nvSpPr>
        <p:spPr>
          <a:xfrm>
            <a:off x="3527243" y="1558805"/>
            <a:ext cx="274320" cy="274320"/>
          </a:xfrm>
          <a:prstGeom prst="ellipse">
            <a:avLst/>
          </a:prstGeom>
          <a:solidFill>
            <a:srgbClr val="E53935"/>
          </a:solidFill>
          <a:ln w="12700">
            <a:solidFill>
              <a:srgbClr val="FFFFFF"/>
            </a:solidFill>
            <a:prstDash val="solid"/>
          </a:ln>
        </p:spPr>
      </p:sp>
      <p:sp>
        <p:nvSpPr>
          <p:cNvPr id="38" name="Text 31"/>
          <p:cNvSpPr txBox="1"/>
          <p:nvPr/>
        </p:nvSpPr>
        <p:spPr>
          <a:xfrm>
            <a:off x="3527243"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9" name="Text 3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0" name="Text 3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Periksa hasil di browser</a:t>
            </a:r>
            <a:endParaRPr lang="en-US" sz="1800" dirty="0"/>
          </a:p>
        </p:txBody>
      </p:sp>
      <p:sp>
        <p:nvSpPr>
          <p:cNvPr id="41" name="Text 3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Bandingkan dengan gambar. Jika ada yang tidak tampil, periksa: tag penutup, tanda kutip, dan nama file.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20</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Tambahkan ke halaman profilmu: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Daftar bernomor &lt;ol&gt;: 3 adab menuntut ilmu.</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Garis pemisah &lt;hr&gt; di antara bagian.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Satu kata miring dengan &lt;i&gt;.</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Ubah width gambar menjadi 200, lihat perbedaannya.</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h1, h2, dan p</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daftar ul atau ol</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Gambar tampil dengan alt</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Link dapat diklik</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fungsi atribut alt pada gambar?</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Tag mana yang paling sering kamu pakai?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Gunakan gambar milik sendiri atau yang diizinkan, dan tulis alt agar halaman ramah bagi semua pembaca.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Halaman Profil Santri dengan AI sebagai mentor.</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21</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Halaman Profil Santri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halaman web dengan AI sebagai mentor</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7: Pengenalan HTML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halaman web kalian error dan tidak tahu penyebabnya, apa yang bisa dilakukan?</a:t>
            </a:r>
            <a:endParaRPr lang="en-US" sz="2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21</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halaman profil yang lengkap dan rapi</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Meminta AI menjelaskan kode dan mencari kesalahan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Melihat kode sumber halaman (View Source)</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Bertanya kepada AI sebagai Mentor Kode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Prompt yang Baik</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"Jelaskan fungsi setiap baris kode ini."</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"Kode saya error. Jelaskan penyebabnya, jangan ganti semua."</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"Apa bedanya ul dan ol?"</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Prompt yang Buruk</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"Buatkan halaman profil lengkap."</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"Perbaiki kode ini" lalu langsung disalin</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Bertanya tanpa menyertakan kode</a:t>
            </a:r>
            <a:endParaRPr lang="en-US" sz="14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Pola Memperbaiki Error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Temukan</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Bagian mana yang tidak tampil sesuai harapan?</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Analisis</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Bandingkan dengan contoh: tag penutup, tanda kutip, nama file</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Tanya &amp; Perbaiki</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Tanya AI penyebabnya, pahami, perbaiki sendiri, uji lagi</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Gambar tidak muncul → periksa src → ternyata tertulis Pondok.JPG, file bernama pondok.jpg → perbaiki → muncul.</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Menyelesaikan Halaman Profil</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7 · AI dioperasikan guru</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Melengkapi isi profil</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AI menjelaskan dan mencari error</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View Source dan 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Isi Profil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&lt;h1&gt;</a:t>
            </a:r>
            <a:pPr indent="0" marL="0">
              <a:buNone/>
            </a:pPr>
            <a:r>
              <a:rPr lang="en-US" sz="900" dirty="0">
                <a:solidFill>
                  <a:srgbClr val="222222"/>
                </a:solidFill>
                <a:latin typeface="Courier New" pitchFamily="34" charset="0"/>
                <a:ea typeface="Courier New" pitchFamily="34" charset="-122"/>
                <a:cs typeface="Courier New" pitchFamily="34" charset="-120"/>
              </a:rPr>
              <a:t>Assalamu'alaikum!</a:t>
            </a:r>
            <a:pPr indent="0" marL="0">
              <a:buNone/>
            </a:pPr>
            <a:r>
              <a:rPr lang="en-US" sz="900" dirty="0">
                <a:solidFill>
                  <a:srgbClr val="1A5FB4"/>
                </a:solidFill>
                <a:latin typeface="Courier New" pitchFamily="34" charset="0"/>
                <a:ea typeface="Courier New" pitchFamily="34" charset="-122"/>
                <a:cs typeface="Courier New" pitchFamily="34" charset="-120"/>
              </a:rPr>
              <a:t>&lt;/h1&gt;</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Nama saya </a:t>
            </a:r>
            <a:pPr indent="0" marL="0">
              <a:buNone/>
            </a:pPr>
            <a:r>
              <a:rPr lang="en-US" sz="900" dirty="0">
                <a:solidFill>
                  <a:srgbClr val="1A5FB4"/>
                </a:solidFill>
                <a:latin typeface="Courier New" pitchFamily="34" charset="0"/>
                <a:ea typeface="Courier New" pitchFamily="34" charset="-122"/>
                <a:cs typeface="Courier New" pitchFamily="34" charset="-120"/>
              </a:rPr>
              <a:t>&lt;b&gt;</a:t>
            </a:r>
            <a:pPr indent="0" marL="0">
              <a:buNone/>
            </a:pPr>
            <a:r>
              <a:rPr lang="en-US" sz="900" dirty="0">
                <a:solidFill>
                  <a:srgbClr val="222222"/>
                </a:solidFill>
                <a:latin typeface="Courier New" pitchFamily="34" charset="0"/>
                <a:ea typeface="Courier New" pitchFamily="34" charset="-122"/>
                <a:cs typeface="Courier New" pitchFamily="34" charset="-120"/>
              </a:rPr>
              <a:t>Ahmad</a:t>
            </a:r>
            <a:pPr indent="0" marL="0">
              <a:buNone/>
            </a:pPr>
            <a:r>
              <a:rPr lang="en-US" sz="900" dirty="0">
                <a:solidFill>
                  <a:srgbClr val="1A5FB4"/>
                </a:solidFill>
                <a:latin typeface="Courier New" pitchFamily="34" charset="0"/>
                <a:ea typeface="Courier New" pitchFamily="34" charset="-122"/>
                <a:cs typeface="Courier New" pitchFamily="34" charset="-120"/>
              </a:rPr>
              <a:t>&lt;/b&gt;</a:t>
            </a:r>
            <a:pPr indent="0" marL="0">
              <a:buNone/>
            </a:pPr>
            <a:r>
              <a:rPr lang="en-US" sz="900" dirty="0">
                <a:solidFill>
                  <a:srgbClr val="222222"/>
                </a:solidFill>
                <a:latin typeface="Courier New" pitchFamily="34" charset="0"/>
                <a:ea typeface="Courier New" pitchFamily="34" charset="-122"/>
                <a:cs typeface="Courier New" pitchFamily="34" charset="-120"/>
              </a:rPr>
              <a:t>, santri Kelas 8A.</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31" name="Text 27"/>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2" name="Text 28"/>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&lt;h2&gt;</a:t>
            </a:r>
            <a:pPr indent="0" marL="0">
              <a:buNone/>
            </a:pPr>
            <a:r>
              <a:rPr lang="en-US" sz="900" dirty="0">
                <a:solidFill>
                  <a:srgbClr val="222222"/>
                </a:solidFill>
                <a:latin typeface="Courier New" pitchFamily="34" charset="0"/>
                <a:ea typeface="Courier New" pitchFamily="34" charset="-122"/>
                <a:cs typeface="Courier New" pitchFamily="34" charset="-120"/>
              </a:rPr>
              <a:t>Hobi Saya</a:t>
            </a:r>
            <a:pPr indent="0" marL="0">
              <a:buNone/>
            </a:pPr>
            <a:r>
              <a:rPr lang="en-US" sz="900" dirty="0">
                <a:solidFill>
                  <a:srgbClr val="1A5FB4"/>
                </a:solidFill>
                <a:latin typeface="Courier New" pitchFamily="34" charset="0"/>
                <a:ea typeface="Courier New" pitchFamily="34" charset="-122"/>
                <a:cs typeface="Courier New" pitchFamily="34" charset="-120"/>
              </a:rPr>
              <a:t>&lt;/h2&gt;</a:t>
            </a:r>
            <a:endParaRPr lang="en-US" sz="900" dirty="0"/>
          </a:p>
        </p:txBody>
      </p:sp>
      <p:sp>
        <p:nvSpPr>
          <p:cNvPr id="33" name="Text 29"/>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4" name="Text 30"/>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&lt;ul&gt;</a:t>
            </a:r>
            <a:pPr indent="0" marL="0">
              <a:buNone/>
            </a:pPr>
            <a:r>
              <a:rPr lang="en-US" sz="900" dirty="0">
                <a:solidFill>
                  <a:srgbClr val="222222"/>
                </a:solidFill>
                <a:latin typeface="Courier New" pitchFamily="34" charset="0"/>
                <a:ea typeface="Courier New" pitchFamily="34" charset="-122"/>
                <a:cs typeface="Courier New" pitchFamily="34" charset="-120"/>
              </a:rPr>
              <a:t> ... </a:t>
            </a:r>
            <a:pPr indent="0" marL="0">
              <a:buNone/>
            </a:pPr>
            <a:r>
              <a:rPr lang="en-US" sz="900" dirty="0">
                <a:solidFill>
                  <a:srgbClr val="1A5FB4"/>
                </a:solidFill>
                <a:latin typeface="Courier New" pitchFamily="34" charset="0"/>
                <a:ea typeface="Courier New" pitchFamily="34" charset="-122"/>
                <a:cs typeface="Courier New" pitchFamily="34" charset="-120"/>
              </a:rPr>
              <a:t>&lt;/ul&gt;</a:t>
            </a:r>
            <a:endParaRPr lang="en-US" sz="900" dirty="0"/>
          </a:p>
        </p:txBody>
      </p:sp>
      <p:sp>
        <p:nvSpPr>
          <p:cNvPr id="35" name="Text 31"/>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6" name="Text 32"/>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&lt;h2&gt;</a:t>
            </a:r>
            <a:pPr indent="0" marL="0">
              <a:buNone/>
            </a:pPr>
            <a:r>
              <a:rPr lang="en-US" sz="900" dirty="0">
                <a:solidFill>
                  <a:srgbClr val="222222"/>
                </a:solidFill>
                <a:latin typeface="Courier New" pitchFamily="34" charset="0"/>
                <a:ea typeface="Courier New" pitchFamily="34" charset="-122"/>
                <a:cs typeface="Courier New" pitchFamily="34" charset="-120"/>
              </a:rPr>
              <a:t>Cita-cita</a:t>
            </a:r>
            <a:pPr indent="0" marL="0">
              <a:buNone/>
            </a:pPr>
            <a:r>
              <a:rPr lang="en-US" sz="900" dirty="0">
                <a:solidFill>
                  <a:srgbClr val="1A5FB4"/>
                </a:solidFill>
                <a:latin typeface="Courier New" pitchFamily="34" charset="0"/>
                <a:ea typeface="Courier New" pitchFamily="34" charset="-122"/>
                <a:cs typeface="Courier New" pitchFamily="34" charset="-120"/>
              </a:rPr>
              <a:t>&lt;/h2&gt;</a:t>
            </a:r>
            <a:endParaRPr lang="en-US" sz="900" dirty="0"/>
          </a:p>
        </p:txBody>
      </p:sp>
      <p:sp>
        <p:nvSpPr>
          <p:cNvPr id="37" name="Text 33"/>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8" name="Text 34"/>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Menjadi dokter yang hafal Al-Qur'an.</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39" name="Text 35"/>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0" name="Text 36"/>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&lt;h2&gt;</a:t>
            </a:r>
            <a:pPr indent="0" marL="0">
              <a:buNone/>
            </a:pPr>
            <a:r>
              <a:rPr lang="en-US" sz="900" dirty="0">
                <a:solidFill>
                  <a:srgbClr val="222222"/>
                </a:solidFill>
                <a:latin typeface="Courier New" pitchFamily="34" charset="0"/>
                <a:ea typeface="Courier New" pitchFamily="34" charset="-122"/>
                <a:cs typeface="Courier New" pitchFamily="34" charset="-120"/>
              </a:rPr>
              <a:t>Adab Menuntut Ilmu</a:t>
            </a:r>
            <a:pPr indent="0" marL="0">
              <a:buNone/>
            </a:pPr>
            <a:r>
              <a:rPr lang="en-US" sz="900" dirty="0">
                <a:solidFill>
                  <a:srgbClr val="1A5FB4"/>
                </a:solidFill>
                <a:latin typeface="Courier New" pitchFamily="34" charset="0"/>
                <a:ea typeface="Courier New" pitchFamily="34" charset="-122"/>
                <a:cs typeface="Courier New" pitchFamily="34" charset="-120"/>
              </a:rPr>
              <a:t>&lt;/h2&gt;</a:t>
            </a:r>
            <a:endParaRPr lang="en-US" sz="900" dirty="0"/>
          </a:p>
        </p:txBody>
      </p:sp>
      <p:sp>
        <p:nvSpPr>
          <p:cNvPr id="41" name="Text 37"/>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2" name="Text 38"/>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&lt;ol&gt;</a:t>
            </a:r>
            <a:pPr indent="0" marL="0">
              <a:buNone/>
            </a:pPr>
            <a:r>
              <a:rPr lang="en-US" sz="900" dirty="0">
                <a:solidFill>
                  <a:srgbClr val="222222"/>
                </a:solidFill>
                <a:latin typeface="Courier New" pitchFamily="34" charset="0"/>
                <a:ea typeface="Courier New" pitchFamily="34" charset="-122"/>
                <a:cs typeface="Courier New" pitchFamily="34" charset="-120"/>
              </a:rPr>
              <a:t> ... </a:t>
            </a:r>
            <a:pPr indent="0" marL="0">
              <a:buNone/>
            </a:pPr>
            <a:r>
              <a:rPr lang="en-US" sz="900" dirty="0">
                <a:solidFill>
                  <a:srgbClr val="1A5FB4"/>
                </a:solidFill>
                <a:latin typeface="Courier New" pitchFamily="34" charset="0"/>
                <a:ea typeface="Courier New" pitchFamily="34" charset="-122"/>
                <a:cs typeface="Courier New" pitchFamily="34" charset="-120"/>
              </a:rPr>
              <a:t>&lt;/ol&gt;</a:t>
            </a:r>
            <a:endParaRPr lang="en-US" sz="900" dirty="0"/>
          </a:p>
        </p:txBody>
      </p:sp>
      <p:sp>
        <p:nvSpPr>
          <p:cNvPr id="43" name="Text 39"/>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44" name="Text 40"/>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&lt;img src="poster.png" alt="Poster dakwah"&gt;</a:t>
            </a:r>
            <a:endParaRPr lang="en-US" sz="900" dirty="0"/>
          </a:p>
        </p:txBody>
      </p:sp>
      <p:sp>
        <p:nvSpPr>
          <p:cNvPr id="45" name="Text 41"/>
          <p:cNvSpPr txBox="1"/>
          <p:nvPr/>
        </p:nvSpPr>
        <p:spPr>
          <a:xfrm>
            <a:off x="639348" y="339891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11</a:t>
            </a:r>
            <a:endParaRPr lang="en-US" sz="800" dirty="0"/>
          </a:p>
        </p:txBody>
      </p:sp>
      <p:sp>
        <p:nvSpPr>
          <p:cNvPr id="46" name="Text 42"/>
          <p:cNvSpPr txBox="1"/>
          <p:nvPr/>
        </p:nvSpPr>
        <p:spPr>
          <a:xfrm>
            <a:off x="986820" y="339891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1A5FB4"/>
                </a:solidFill>
                <a:latin typeface="Courier New" pitchFamily="34" charset="0"/>
                <a:ea typeface="Courier New" pitchFamily="34" charset="-122"/>
                <a:cs typeface="Courier New" pitchFamily="34" charset="-120"/>
              </a:rPr>
              <a:t>&lt;a href="..."&gt;</a:t>
            </a:r>
            <a:pPr indent="0" marL="0">
              <a:buNone/>
            </a:pPr>
            <a:r>
              <a:rPr lang="en-US" sz="900" dirty="0">
                <a:solidFill>
                  <a:srgbClr val="222222"/>
                </a:solidFill>
                <a:latin typeface="Courier New" pitchFamily="34" charset="0"/>
                <a:ea typeface="Courier New" pitchFamily="34" charset="-122"/>
                <a:cs typeface="Courier New" pitchFamily="34" charset="-120"/>
              </a:rPr>
              <a:t>Website Kelas</a:t>
            </a:r>
            <a:pPr indent="0" marL="0">
              <a:buNone/>
            </a:pPr>
            <a:r>
              <a:rPr lang="en-US" sz="900" dirty="0">
                <a:solidFill>
                  <a:srgbClr val="1A5FB4"/>
                </a:solidFill>
                <a:latin typeface="Courier New" pitchFamily="34" charset="0"/>
                <a:ea typeface="Courier New" pitchFamily="34" charset="-122"/>
                <a:cs typeface="Courier New" pitchFamily="34" charset="-120"/>
              </a:rPr>
              <a:t>&lt;/a&gt;</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47" name="Text 43"/>
          <p:cNvSpPr txBox="1"/>
          <p:nvPr/>
        </p:nvSpPr>
        <p:spPr>
          <a:xfrm>
            <a:off x="639348" y="357264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12</a:t>
            </a:r>
            <a:endParaRPr lang="en-US" sz="800" dirty="0"/>
          </a:p>
        </p:txBody>
      </p:sp>
      <p:sp>
        <p:nvSpPr>
          <p:cNvPr id="48" name="Text 44"/>
          <p:cNvSpPr txBox="1"/>
          <p:nvPr/>
        </p:nvSpPr>
        <p:spPr>
          <a:xfrm>
            <a:off x="986820" y="3572648"/>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49" name="Shape 45"/>
          <p:cNvSpPr/>
          <p:nvPr/>
        </p:nvSpPr>
        <p:spPr>
          <a:xfrm>
            <a:off x="913668" y="1817000"/>
            <a:ext cx="4555175" cy="1773936"/>
          </a:xfrm>
          <a:prstGeom prst="roundRect">
            <a:avLst>
              <a:gd name="adj" fmla="val 2577"/>
            </a:avLst>
          </a:prstGeom>
          <a:solidFill>
            <a:srgbClr val="FFFFFF">
              <a:alpha val="0"/>
            </a:srgbClr>
          </a:solidFill>
          <a:ln w="31750">
            <a:solidFill>
              <a:srgbClr val="E53935"/>
            </a:solidFill>
            <a:prstDash val="solid"/>
          </a:ln>
        </p:spPr>
      </p:sp>
      <p:sp>
        <p:nvSpPr>
          <p:cNvPr id="50" name="Shape 46"/>
          <p:cNvSpPr/>
          <p:nvPr/>
        </p:nvSpPr>
        <p:spPr>
          <a:xfrm>
            <a:off x="5331684" y="1679840"/>
            <a:ext cx="274320" cy="274320"/>
          </a:xfrm>
          <a:prstGeom prst="ellipse">
            <a:avLst/>
          </a:prstGeom>
          <a:solidFill>
            <a:srgbClr val="E53935"/>
          </a:solidFill>
          <a:ln w="12700">
            <a:solidFill>
              <a:srgbClr val="FFFFFF"/>
            </a:solidFill>
            <a:prstDash val="solid"/>
          </a:ln>
        </p:spPr>
      </p:sp>
      <p:sp>
        <p:nvSpPr>
          <p:cNvPr id="51" name="Text 47"/>
          <p:cNvSpPr txBox="1"/>
          <p:nvPr/>
        </p:nvSpPr>
        <p:spPr>
          <a:xfrm>
            <a:off x="5331684" y="1679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52" name="Image 2" descr="preencoded.png">    </p:cNvPr>
          <p:cNvPicPr>
            <a:picLocks noChangeAspect="1"/>
          </p:cNvPicPr>
          <p:nvPr/>
        </p:nvPicPr>
        <p:blipFill>
          <a:blip r:embed="rId3"/>
          <a:stretch>
            <a:fillRect/>
          </a:stretch>
        </p:blipFill>
        <p:spPr>
          <a:xfrm>
            <a:off x="3417186" y="2790836"/>
            <a:ext cx="237744" cy="237744"/>
          </a:xfrm>
          <a:prstGeom prst="rect">
            <a:avLst/>
          </a:prstGeom>
        </p:spPr>
      </p:pic>
      <p:sp>
        <p:nvSpPr>
          <p:cNvPr id="53" name="Text 4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4" name="Text 4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Susun bagian-bagian profil</a:t>
            </a:r>
            <a:endParaRPr lang="en-US" sz="1800" dirty="0"/>
          </a:p>
        </p:txBody>
      </p:sp>
      <p:sp>
        <p:nvSpPr>
          <p:cNvPr id="55" name="Text 5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Halaman berisi: h1 salam, paragraf perkenalan, h2 Hobi (ul), h2 Cita-cita (p), h2 Adab Menuntut Ilmu (ol), gambar karya, link website kelas.</a:t>
            </a:r>
            <a:endParaRPr lang="en-US" sz="1300" dirty="0"/>
          </a:p>
        </p:txBody>
      </p:sp>
      <p:sp>
        <p:nvSpPr>
          <p:cNvPr id="56" name="Shape 5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7" name="Image 3" descr="preencoded.png">    </p:cNvPr>
          <p:cNvPicPr>
            <a:picLocks noChangeAspect="1"/>
          </p:cNvPicPr>
          <p:nvPr/>
        </p:nvPicPr>
        <p:blipFill>
          <a:blip r:embed="rId4"/>
          <a:stretch>
            <a:fillRect/>
          </a:stretch>
        </p:blipFill>
        <p:spPr>
          <a:xfrm>
            <a:off x="6108192" y="3721608"/>
            <a:ext cx="201168" cy="201168"/>
          </a:xfrm>
          <a:prstGeom prst="rect">
            <a:avLst/>
          </a:prstGeom>
        </p:spPr>
      </p:pic>
      <p:sp>
        <p:nvSpPr>
          <p:cNvPr id="58" name="Text 5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Hanya nama panggilan dan kelas. Tanpa alamat, nomor HP, atau foto wajah.</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Isi Profil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Profil Santri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file:///C:/Users/Santri/Documents/Website_Saya/index.html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Text 22"/>
          <p:cNvSpPr txBox="1"/>
          <p:nvPr/>
        </p:nvSpPr>
        <p:spPr>
          <a:xfrm>
            <a:off x="743224" y="1741685"/>
            <a:ext cx="4640031" cy="320040"/>
          </a:xfrm>
          <a:prstGeom prst="rect">
            <a:avLst/>
          </a:prstGeom>
          <a:noFill/>
          <a:ln/>
        </p:spPr>
        <p:txBody>
          <a:bodyPr wrap="square" lIns="0" tIns="0" rIns="0" bIns="0" rtlCol="0" anchor="t"/>
          <a:lstStyle/>
          <a:p>
            <a:pPr indent="0" marL="0">
              <a:buNone/>
            </a:pPr>
            <a:r>
              <a:rPr lang="en-US" sz="1600" b="1" dirty="0">
                <a:solidFill>
                  <a:srgbClr val="1E2A26"/>
                </a:solidFill>
                <a:latin typeface="Times New Roman" pitchFamily="34" charset="0"/>
                <a:ea typeface="Times New Roman" pitchFamily="34" charset="-122"/>
                <a:cs typeface="Times New Roman" pitchFamily="34" charset="-120"/>
              </a:rPr>
              <a:t>Assalamu'alaikum!</a:t>
            </a:r>
            <a:endParaRPr lang="en-US" sz="1600" dirty="0"/>
          </a:p>
        </p:txBody>
      </p:sp>
      <p:sp>
        <p:nvSpPr>
          <p:cNvPr id="30" name="Text 23"/>
          <p:cNvSpPr txBox="1"/>
          <p:nvPr/>
        </p:nvSpPr>
        <p:spPr>
          <a:xfrm>
            <a:off x="743224" y="2061725"/>
            <a:ext cx="4640031" cy="182880"/>
          </a:xfrm>
          <a:prstGeom prst="rect">
            <a:avLst/>
          </a:prstGeom>
          <a:noFill/>
          <a:ln/>
        </p:spPr>
        <p:txBody>
          <a:bodyPr wrap="square" lIns="0" tIns="0" rIns="0" bIns="0" rtlCol="0" anchor="t"/>
          <a:lstStyle/>
          <a:p>
            <a:pPr indent="0" marL="0">
              <a:buNone/>
            </a:pPr>
            <a:r>
              <a:rPr lang="en-US" sz="800" dirty="0">
                <a:solidFill>
                  <a:srgbClr val="1E2A26"/>
                </a:solidFill>
                <a:latin typeface="Times New Roman" pitchFamily="34" charset="0"/>
                <a:ea typeface="Times New Roman" pitchFamily="34" charset="-122"/>
                <a:cs typeface="Times New Roman" pitchFamily="34" charset="-120"/>
              </a:rPr>
              <a:t>Nama saya </a:t>
            </a:r>
            <a:pPr indent="0" marL="0">
              <a:buNone/>
            </a:pPr>
            <a:r>
              <a:rPr lang="en-US" sz="800" b="1" dirty="0">
                <a:solidFill>
                  <a:srgbClr val="1E2A26"/>
                </a:solidFill>
                <a:latin typeface="Times New Roman" pitchFamily="34" charset="0"/>
                <a:ea typeface="Times New Roman" pitchFamily="34" charset="-122"/>
                <a:cs typeface="Times New Roman" pitchFamily="34" charset="-120"/>
              </a:rPr>
              <a:t>Ahmad</a:t>
            </a:r>
            <a:pPr indent="0" marL="0">
              <a:buNone/>
            </a:pPr>
            <a:r>
              <a:rPr lang="en-US" sz="800" dirty="0">
                <a:solidFill>
                  <a:srgbClr val="1E2A26"/>
                </a:solidFill>
                <a:latin typeface="Times New Roman" pitchFamily="34" charset="0"/>
                <a:ea typeface="Times New Roman" pitchFamily="34" charset="-122"/>
                <a:cs typeface="Times New Roman" pitchFamily="34" charset="-120"/>
              </a:rPr>
              <a:t>, santri Kelas 8A.</a:t>
            </a:r>
            <a:endParaRPr lang="en-US" sz="800" dirty="0"/>
          </a:p>
        </p:txBody>
      </p:sp>
      <p:sp>
        <p:nvSpPr>
          <p:cNvPr id="31" name="Text 24"/>
          <p:cNvSpPr txBox="1"/>
          <p:nvPr/>
        </p:nvSpPr>
        <p:spPr>
          <a:xfrm>
            <a:off x="743224" y="2262893"/>
            <a:ext cx="4640031" cy="228600"/>
          </a:xfrm>
          <a:prstGeom prst="rect">
            <a:avLst/>
          </a:prstGeom>
          <a:noFill/>
          <a:ln/>
        </p:spPr>
        <p:txBody>
          <a:bodyPr wrap="square" lIns="0" tIns="0" rIns="0" bIns="0" rtlCol="0" anchor="t"/>
          <a:lstStyle/>
          <a:p>
            <a:pPr indent="0" marL="0">
              <a:buNone/>
            </a:pPr>
            <a:r>
              <a:rPr lang="en-US" sz="1200" b="1" dirty="0">
                <a:solidFill>
                  <a:srgbClr val="1E2A26"/>
                </a:solidFill>
                <a:latin typeface="Times New Roman" pitchFamily="34" charset="0"/>
                <a:ea typeface="Times New Roman" pitchFamily="34" charset="-122"/>
                <a:cs typeface="Times New Roman" pitchFamily="34" charset="-120"/>
              </a:rPr>
              <a:t>Hobi Saya</a:t>
            </a:r>
            <a:endParaRPr lang="en-US" sz="1200" dirty="0"/>
          </a:p>
        </p:txBody>
      </p:sp>
      <p:sp>
        <p:nvSpPr>
          <p:cNvPr id="32" name="Text 25"/>
          <p:cNvSpPr txBox="1"/>
          <p:nvPr/>
        </p:nvSpPr>
        <p:spPr>
          <a:xfrm>
            <a:off x="926104" y="2500637"/>
            <a:ext cx="4457151" cy="292608"/>
          </a:xfrm>
          <a:prstGeom prst="rect">
            <a:avLst/>
          </a:prstGeom>
          <a:noFill/>
          <a:ln/>
        </p:spPr>
        <p:txBody>
          <a:bodyPr wrap="square" lIns="0" tIns="0" rIns="0" bIns="0" rtlCol="0" anchor="t"/>
          <a:lstStyle/>
          <a:p>
            <a:pPr indent="0" marL="0">
              <a:buNone/>
            </a:pPr>
            <a:r>
              <a:rPr lang="en-US" sz="800" dirty="0">
                <a:solidFill>
                  <a:srgbClr val="1E2A26"/>
                </a:solidFill>
                <a:latin typeface="Times New Roman" pitchFamily="34" charset="0"/>
                <a:ea typeface="Times New Roman" pitchFamily="34" charset="-122"/>
                <a:cs typeface="Times New Roman" pitchFamily="34" charset="-120"/>
              </a:rPr>
              <a:t>•  Membaca</a:t>
            </a:r>
            <a:endParaRPr lang="en-US" sz="800" dirty="0"/>
          </a:p>
          <a:p>
            <a:pPr indent="0" marL="0">
              <a:buNone/>
            </a:pPr>
            <a:r>
              <a:rPr lang="en-US" sz="800" dirty="0">
                <a:solidFill>
                  <a:srgbClr val="1E2A26"/>
                </a:solidFill>
                <a:latin typeface="Times New Roman" pitchFamily="34" charset="0"/>
                <a:ea typeface="Times New Roman" pitchFamily="34" charset="-122"/>
                <a:cs typeface="Times New Roman" pitchFamily="34" charset="-120"/>
              </a:rPr>
              <a:t>•  Kaligrafi</a:t>
            </a:r>
            <a:endParaRPr lang="en-US" sz="800" dirty="0"/>
          </a:p>
        </p:txBody>
      </p:sp>
      <p:sp>
        <p:nvSpPr>
          <p:cNvPr id="33" name="Shape 26"/>
          <p:cNvSpPr/>
          <p:nvPr/>
        </p:nvSpPr>
        <p:spPr>
          <a:xfrm>
            <a:off x="743224" y="2829821"/>
            <a:ext cx="1280160" cy="502920"/>
          </a:xfrm>
          <a:prstGeom prst="rect">
            <a:avLst/>
          </a:prstGeom>
          <a:solidFill>
            <a:srgbClr val="A7CBEE"/>
          </a:solidFill>
          <a:ln w="12700">
            <a:solidFill>
              <a:srgbClr val="A7CBEE"/>
            </a:solidFill>
            <a:prstDash val="solid"/>
          </a:ln>
        </p:spPr>
      </p:sp>
      <p:sp>
        <p:nvSpPr>
          <p:cNvPr id="34" name="Shape 27"/>
          <p:cNvSpPr/>
          <p:nvPr/>
        </p:nvSpPr>
        <p:spPr>
          <a:xfrm>
            <a:off x="788944" y="3021845"/>
            <a:ext cx="731520" cy="310896"/>
          </a:xfrm>
          <a:prstGeom prst="triangle">
            <a:avLst/>
          </a:prstGeom>
          <a:solidFill>
            <a:srgbClr val="34A853"/>
          </a:solidFill>
          <a:ln/>
        </p:spPr>
      </p:sp>
      <p:sp>
        <p:nvSpPr>
          <p:cNvPr id="35" name="Text 28"/>
          <p:cNvSpPr txBox="1"/>
          <p:nvPr/>
        </p:nvSpPr>
        <p:spPr>
          <a:xfrm>
            <a:off x="743224" y="3360173"/>
            <a:ext cx="1371600" cy="164592"/>
          </a:xfrm>
          <a:prstGeom prst="rect">
            <a:avLst/>
          </a:prstGeom>
          <a:noFill/>
          <a:ln/>
        </p:spPr>
        <p:txBody>
          <a:bodyPr wrap="square" lIns="0" tIns="0" rIns="0" bIns="0" rtlCol="0" anchor="t"/>
          <a:lstStyle/>
          <a:p>
            <a:pPr indent="0" marL="0">
              <a:buNone/>
            </a:pPr>
            <a:r>
              <a:rPr lang="en-US" sz="800" u="sng" dirty="0">
                <a:solidFill>
                  <a:srgbClr val="0000EE"/>
                </a:solidFill>
                <a:latin typeface="Times New Roman" pitchFamily="34" charset="0"/>
                <a:ea typeface="Times New Roman" pitchFamily="34" charset="-122"/>
                <a:cs typeface="Times New Roman" pitchFamily="34" charset="-120"/>
              </a:rPr>
              <a:t>Website Kelas</a:t>
            </a:r>
            <a:endParaRPr lang="en-US" sz="800" dirty="0"/>
          </a:p>
        </p:txBody>
      </p:sp>
      <p:sp>
        <p:nvSpPr>
          <p:cNvPr id="36" name="Shape 29"/>
          <p:cNvSpPr/>
          <p:nvPr/>
        </p:nvSpPr>
        <p:spPr>
          <a:xfrm>
            <a:off x="1035832" y="1430789"/>
            <a:ext cx="219456" cy="219456"/>
          </a:xfrm>
          <a:prstGeom prst="roundRect">
            <a:avLst>
              <a:gd name="adj" fmla="val 20833"/>
            </a:avLst>
          </a:prstGeom>
          <a:solidFill>
            <a:srgbClr val="FFFFFF">
              <a:alpha val="0"/>
            </a:srgbClr>
          </a:solidFill>
          <a:ln w="31750">
            <a:solidFill>
              <a:srgbClr val="E53935"/>
            </a:solidFill>
            <a:prstDash val="solid"/>
          </a:ln>
        </p:spPr>
      </p:sp>
      <p:sp>
        <p:nvSpPr>
          <p:cNvPr id="37" name="Shape 30"/>
          <p:cNvSpPr/>
          <p:nvPr/>
        </p:nvSpPr>
        <p:spPr>
          <a:xfrm>
            <a:off x="1118128" y="1293629"/>
            <a:ext cx="274320" cy="274320"/>
          </a:xfrm>
          <a:prstGeom prst="ellipse">
            <a:avLst/>
          </a:prstGeom>
          <a:solidFill>
            <a:srgbClr val="E53935"/>
          </a:solidFill>
          <a:ln w="12700">
            <a:solidFill>
              <a:srgbClr val="FFFFFF"/>
            </a:solidFill>
            <a:prstDash val="solid"/>
          </a:ln>
        </p:spPr>
      </p:sp>
      <p:sp>
        <p:nvSpPr>
          <p:cNvPr id="38" name="Text 31"/>
          <p:cNvSpPr txBox="1"/>
          <p:nvPr/>
        </p:nvSpPr>
        <p:spPr>
          <a:xfrm>
            <a:off x="1118128" y="129362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39" name="Image 5" descr="preencoded.png">    </p:cNvPr>
          <p:cNvPicPr>
            <a:picLocks noChangeAspect="1"/>
          </p:cNvPicPr>
          <p:nvPr/>
        </p:nvPicPr>
        <p:blipFill>
          <a:blip r:embed="rId6"/>
          <a:stretch>
            <a:fillRect/>
          </a:stretch>
        </p:blipFill>
        <p:spPr>
          <a:xfrm>
            <a:off x="1153790" y="1548747"/>
            <a:ext cx="237744" cy="237744"/>
          </a:xfrm>
          <a:prstGeom prst="rect">
            <a:avLst/>
          </a:prstGeom>
        </p:spPr>
      </p:pic>
      <p:sp>
        <p:nvSpPr>
          <p:cNvPr id="40" name="Shape 32"/>
          <p:cNvSpPr/>
          <p:nvPr/>
        </p:nvSpPr>
        <p:spPr>
          <a:xfrm>
            <a:off x="679216" y="1695965"/>
            <a:ext cx="2985187" cy="2271987"/>
          </a:xfrm>
          <a:prstGeom prst="roundRect">
            <a:avLst>
              <a:gd name="adj" fmla="val 2012"/>
            </a:avLst>
          </a:prstGeom>
          <a:solidFill>
            <a:srgbClr val="FFFFFF">
              <a:alpha val="0"/>
            </a:srgbClr>
          </a:solidFill>
          <a:ln w="31750">
            <a:solidFill>
              <a:srgbClr val="E53935"/>
            </a:solidFill>
            <a:prstDash val="solid"/>
          </a:ln>
        </p:spPr>
      </p:sp>
      <p:sp>
        <p:nvSpPr>
          <p:cNvPr id="41" name="Shape 33"/>
          <p:cNvSpPr/>
          <p:nvPr/>
        </p:nvSpPr>
        <p:spPr>
          <a:xfrm>
            <a:off x="3527243" y="1558805"/>
            <a:ext cx="274320" cy="274320"/>
          </a:xfrm>
          <a:prstGeom prst="ellipse">
            <a:avLst/>
          </a:prstGeom>
          <a:solidFill>
            <a:srgbClr val="E53935"/>
          </a:solidFill>
          <a:ln w="12700">
            <a:solidFill>
              <a:srgbClr val="FFFFFF"/>
            </a:solidFill>
            <a:prstDash val="solid"/>
          </a:ln>
        </p:spPr>
      </p:sp>
      <p:sp>
        <p:nvSpPr>
          <p:cNvPr id="42" name="Text 34"/>
          <p:cNvSpPr txBox="1"/>
          <p:nvPr/>
        </p:nvSpPr>
        <p:spPr>
          <a:xfrm>
            <a:off x="3527243"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43"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4"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Rapikan jarak dan periksa di browser</a:t>
            </a:r>
            <a:endParaRPr lang="en-US" sz="1800" dirty="0"/>
          </a:p>
        </p:txBody>
      </p:sp>
      <p:sp>
        <p:nvSpPr>
          <p:cNvPr id="45"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Pastikan setiap baris di dalam body menjorok 2 spasi. Simpan, refresh, periksa setiap bagian.</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AI Mentor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557784"/>
          </a:xfrm>
          <a:prstGeom prst="roundRect">
            <a:avLst>
              <a:gd name="adj" fmla="val 16393"/>
            </a:avLst>
          </a:prstGeom>
          <a:solidFill>
            <a:srgbClr val="E3E9F5"/>
          </a:solidFill>
          <a:ln w="12700">
            <a:solidFill>
              <a:srgbClr val="E3E9F5"/>
            </a:solidFill>
            <a:prstDash val="solid"/>
          </a:ln>
        </p:spPr>
      </p:sp>
      <p:sp>
        <p:nvSpPr>
          <p:cNvPr id="32" name="Text 25"/>
          <p:cNvSpPr txBox="1"/>
          <p:nvPr/>
        </p:nvSpPr>
        <p:spPr>
          <a:xfrm>
            <a:off x="2648468" y="1805693"/>
            <a:ext cx="2707356" cy="55778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Saya santri SMP belajar HTML. Jelaskan fungsi setiap baris kode berikut dengan bahasa sederhana: &lt;ul&gt;&lt;li&gt;Membaca&lt;/li&gt;&lt;li&gt;Kaligrafi&lt;/li&gt;&lt;/ul&gt;</a:t>
            </a:r>
            <a:endParaRPr lang="en-US" sz="750" dirty="0"/>
          </a:p>
        </p:txBody>
      </p:sp>
      <p:pic>
        <p:nvPicPr>
          <p:cNvPr id="33" name="Image 5" descr="preencoded.png">    </p:cNvPr>
          <p:cNvPicPr>
            <a:picLocks noChangeAspect="1"/>
          </p:cNvPicPr>
          <p:nvPr/>
        </p:nvPicPr>
        <p:blipFill>
          <a:blip r:embed="rId6"/>
          <a:stretch>
            <a:fillRect/>
          </a:stretch>
        </p:blipFill>
        <p:spPr>
          <a:xfrm>
            <a:off x="1593616" y="2454917"/>
            <a:ext cx="182880" cy="182880"/>
          </a:xfrm>
          <a:prstGeom prst="rect">
            <a:avLst/>
          </a:prstGeom>
        </p:spPr>
      </p:pic>
      <p:sp>
        <p:nvSpPr>
          <p:cNvPr id="34" name="Text 26"/>
          <p:cNvSpPr txBox="1"/>
          <p:nvPr/>
        </p:nvSpPr>
        <p:spPr>
          <a:xfrm>
            <a:off x="1849648" y="2454917"/>
            <a:ext cx="3533607" cy="82296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&lt;ul&gt; membuka daftar berbutir (tanpa nomor).</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&lt;li&gt;Membaca&lt;/li&gt; adalah satu butir daftar berisi "Membaca".</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&lt;li&gt;Kaligrafi&lt;/li&gt; adalah butir kedua.</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&lt;/ul&gt; menutup daftar. Hasilnya dua baris dengan tanda titik di depannya.</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427485"/>
            <a:ext cx="3588471" cy="877824"/>
          </a:xfrm>
          <a:prstGeom prst="roundRect">
            <a:avLst>
              <a:gd name="adj" fmla="val 5208"/>
            </a:avLst>
          </a:prstGeom>
          <a:solidFill>
            <a:srgbClr val="FFFFFF">
              <a:alpha val="0"/>
            </a:srgbClr>
          </a:solidFill>
          <a:ln w="31750">
            <a:solidFill>
              <a:srgbClr val="E53935"/>
            </a:solidFill>
            <a:prstDash val="solid"/>
          </a:ln>
        </p:spPr>
      </p:sp>
      <p:sp>
        <p:nvSpPr>
          <p:cNvPr id="41" name="Shape 32"/>
          <p:cNvSpPr/>
          <p:nvPr/>
        </p:nvSpPr>
        <p:spPr>
          <a:xfrm>
            <a:off x="5273528" y="229032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3" name="Image 7" descr="preencoded.png">    </p:cNvPr>
          <p:cNvPicPr>
            <a:picLocks noChangeAspect="1"/>
          </p:cNvPicPr>
          <p:nvPr/>
        </p:nvPicPr>
        <p:blipFill>
          <a:blip r:embed="rId8"/>
          <a:stretch>
            <a:fillRect/>
          </a:stretch>
        </p:blipFill>
        <p:spPr>
          <a:xfrm>
            <a:off x="3793132" y="2907545"/>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Guru: minta AI menjelaskan kode</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menempel potongan kode santri dan meminta: "Saya santri SMP belajar HTML. Jelaskan fungsi setiap baris kode berikut dengan bahasa sederhana."</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AI Mentor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&lt;h1&gt;</a:t>
            </a:r>
            <a:pPr indent="0" marL="0">
              <a:buNone/>
            </a:pPr>
            <a:r>
              <a:rPr lang="en-US" sz="900" dirty="0">
                <a:solidFill>
                  <a:srgbClr val="222222"/>
                </a:solidFill>
                <a:latin typeface="Courier New" pitchFamily="34" charset="0"/>
                <a:ea typeface="Courier New" pitchFamily="34" charset="-122"/>
                <a:cs typeface="Courier New" pitchFamily="34" charset="-120"/>
              </a:rPr>
              <a:t>Assalamu'alaikum!</a:t>
            </a:r>
            <a:pPr indent="0" marL="0">
              <a:buNone/>
            </a:pPr>
            <a:r>
              <a:rPr lang="en-US" sz="900" dirty="0">
                <a:solidFill>
                  <a:srgbClr val="1A5FB4"/>
                </a:solidFill>
                <a:latin typeface="Courier New" pitchFamily="34" charset="0"/>
                <a:ea typeface="Courier New" pitchFamily="34" charset="-122"/>
                <a:cs typeface="Courier New" pitchFamily="34" charset="-120"/>
              </a:rPr>
              <a:t>&lt;/h1&gt;</a:t>
            </a:r>
            <a:endParaRPr lang="en-US" sz="900" dirty="0"/>
          </a:p>
        </p:txBody>
      </p:sp>
      <p:sp>
        <p:nvSpPr>
          <p:cNvPr id="29" name="Shape 25"/>
          <p:cNvSpPr/>
          <p:nvPr/>
        </p:nvSpPr>
        <p:spPr>
          <a:xfrm>
            <a:off x="913668" y="2009024"/>
            <a:ext cx="4555175" cy="173736"/>
          </a:xfrm>
          <a:prstGeom prst="rect">
            <a:avLst/>
          </a:prstGeom>
          <a:solidFill>
            <a:srgbClr val="FDECEA"/>
          </a:solidFill>
          <a:ln w="12700">
            <a:solidFill>
              <a:srgbClr val="FDECEA"/>
            </a:solidFill>
            <a:prstDash val="solid"/>
          </a:ln>
        </p:spPr>
      </p:sp>
      <p:sp>
        <p:nvSpPr>
          <p:cNvPr id="30" name="Text 26"/>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1" name="Text 27"/>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&lt;h2&gt;</a:t>
            </a:r>
            <a:pPr indent="0" marL="0">
              <a:buNone/>
            </a:pPr>
            <a:r>
              <a:rPr lang="en-US" sz="900" dirty="0">
                <a:solidFill>
                  <a:srgbClr val="222222"/>
                </a:solidFill>
                <a:latin typeface="Courier New" pitchFamily="34" charset="0"/>
                <a:ea typeface="Courier New" pitchFamily="34" charset="-122"/>
                <a:cs typeface="Courier New" pitchFamily="34" charset="-120"/>
              </a:rPr>
              <a:t>Hobi Saya</a:t>
            </a:r>
            <a:endParaRPr lang="en-US" sz="900" dirty="0"/>
          </a:p>
        </p:txBody>
      </p:sp>
      <p:sp>
        <p:nvSpPr>
          <p:cNvPr id="32" name="Text 28"/>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3" name="Text 29"/>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&lt;ul&gt;</a:t>
            </a:r>
            <a:endParaRPr lang="en-US" sz="900" dirty="0"/>
          </a:p>
        </p:txBody>
      </p:sp>
      <p:sp>
        <p:nvSpPr>
          <p:cNvPr id="34" name="Text 30"/>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5" name="Text 31"/>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&lt;li&gt;</a:t>
            </a:r>
            <a:pPr indent="0" marL="0">
              <a:buNone/>
            </a:pPr>
            <a:r>
              <a:rPr lang="en-US" sz="900" dirty="0">
                <a:solidFill>
                  <a:srgbClr val="222222"/>
                </a:solidFill>
                <a:latin typeface="Courier New" pitchFamily="34" charset="0"/>
                <a:ea typeface="Courier New" pitchFamily="34" charset="-122"/>
                <a:cs typeface="Courier New" pitchFamily="34" charset="-120"/>
              </a:rPr>
              <a:t>Membaca</a:t>
            </a:r>
            <a:pPr indent="0" marL="0">
              <a:buNone/>
            </a:pPr>
            <a:r>
              <a:rPr lang="en-US" sz="900" dirty="0">
                <a:solidFill>
                  <a:srgbClr val="1A5FB4"/>
                </a:solidFill>
                <a:latin typeface="Courier New" pitchFamily="34" charset="0"/>
                <a:ea typeface="Courier New" pitchFamily="34" charset="-122"/>
                <a:cs typeface="Courier New" pitchFamily="34" charset="-120"/>
              </a:rPr>
              <a:t>&lt;/li&gt;</a:t>
            </a:r>
            <a:endParaRPr lang="en-US" sz="900" dirty="0"/>
          </a:p>
        </p:txBody>
      </p:sp>
      <p:sp>
        <p:nvSpPr>
          <p:cNvPr id="36" name="Text 32"/>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7" name="Text 33"/>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&lt;/ul&gt;</a:t>
            </a:r>
            <a:endParaRPr lang="en-US" sz="900" dirty="0"/>
          </a:p>
        </p:txBody>
      </p:sp>
      <p:sp>
        <p:nvSpPr>
          <p:cNvPr id="38" name="Text 34"/>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9" name="Text 35"/>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Cita-cita saya ...</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40" name="Text 36"/>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1" name="Text 37"/>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42" name="Shape 38"/>
          <p:cNvSpPr/>
          <p:nvPr/>
        </p:nvSpPr>
        <p:spPr>
          <a:xfrm>
            <a:off x="913668" y="1990736"/>
            <a:ext cx="4555175" cy="210312"/>
          </a:xfrm>
          <a:prstGeom prst="roundRect">
            <a:avLst>
              <a:gd name="adj" fmla="val 21739"/>
            </a:avLst>
          </a:prstGeom>
          <a:solidFill>
            <a:srgbClr val="FFFFFF">
              <a:alpha val="0"/>
            </a:srgbClr>
          </a:solidFill>
          <a:ln w="31750">
            <a:solidFill>
              <a:srgbClr val="E53935"/>
            </a:solidFill>
            <a:prstDash val="solid"/>
          </a:ln>
        </p:spPr>
      </p:sp>
      <p:sp>
        <p:nvSpPr>
          <p:cNvPr id="43" name="Shape 39"/>
          <p:cNvSpPr/>
          <p:nvPr/>
        </p:nvSpPr>
        <p:spPr>
          <a:xfrm>
            <a:off x="5331684" y="1853576"/>
            <a:ext cx="274320" cy="274320"/>
          </a:xfrm>
          <a:prstGeom prst="ellipse">
            <a:avLst/>
          </a:prstGeom>
          <a:solidFill>
            <a:srgbClr val="E53935"/>
          </a:solidFill>
          <a:ln w="12700">
            <a:solidFill>
              <a:srgbClr val="FFFFFF"/>
            </a:solidFill>
            <a:prstDash val="solid"/>
          </a:ln>
        </p:spPr>
      </p:sp>
      <p:sp>
        <p:nvSpPr>
          <p:cNvPr id="44" name="Text 40"/>
          <p:cNvSpPr txBox="1"/>
          <p:nvPr/>
        </p:nvSpPr>
        <p:spPr>
          <a:xfrm>
            <a:off x="5331684" y="18535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5" name="Image 2" descr="preencoded.png">    </p:cNvPr>
          <p:cNvPicPr>
            <a:picLocks noChangeAspect="1"/>
          </p:cNvPicPr>
          <p:nvPr/>
        </p:nvPicPr>
        <p:blipFill>
          <a:blip r:embed="rId3"/>
          <a:stretch>
            <a:fillRect/>
          </a:stretch>
        </p:blipFill>
        <p:spPr>
          <a:xfrm>
            <a:off x="3417186" y="2104578"/>
            <a:ext cx="237744" cy="237744"/>
          </a:xfrm>
          <a:prstGeom prst="rect">
            <a:avLst/>
          </a:prstGeom>
        </p:spPr>
      </p:pic>
      <p:sp>
        <p:nvSpPr>
          <p:cNvPr id="46" name="Text 4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7" name="Text 4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Latihan error: tag tidak ditutup</a:t>
            </a:r>
            <a:endParaRPr lang="en-US" sz="1800" dirty="0"/>
          </a:p>
        </p:txBody>
      </p:sp>
      <p:sp>
        <p:nvSpPr>
          <p:cNvPr id="48" name="Text 4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menampilkan kode error: &lt;h2&gt;Hobi Saya tanpa &lt;/h2&gt;. Akibatnya seluruh tulisan di bawahnya menjadi besar. Santri menebak penyebabnya.</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AI Mentor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557784"/>
          </a:xfrm>
          <a:prstGeom prst="roundRect">
            <a:avLst>
              <a:gd name="adj" fmla="val 16393"/>
            </a:avLst>
          </a:prstGeom>
          <a:solidFill>
            <a:srgbClr val="E3E9F5"/>
          </a:solidFill>
          <a:ln w="12700">
            <a:solidFill>
              <a:srgbClr val="E3E9F5"/>
            </a:solidFill>
            <a:prstDash val="solid"/>
          </a:ln>
        </p:spPr>
      </p:sp>
      <p:sp>
        <p:nvSpPr>
          <p:cNvPr id="32" name="Text 25"/>
          <p:cNvSpPr txBox="1"/>
          <p:nvPr/>
        </p:nvSpPr>
        <p:spPr>
          <a:xfrm>
            <a:off x="2648468" y="1805693"/>
            <a:ext cx="2707356" cy="55778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Semua tulisan setelah "Hobi Saya" menjadi besar. Jelaskan penyebabnya dan langkah perbaikan satu per satu. Jangan langsung mengganti seluruh kode.</a:t>
            </a:r>
            <a:endParaRPr lang="en-US" sz="750" dirty="0"/>
          </a:p>
        </p:txBody>
      </p:sp>
      <p:pic>
        <p:nvPicPr>
          <p:cNvPr id="33" name="Image 5" descr="preencoded.png">    </p:cNvPr>
          <p:cNvPicPr>
            <a:picLocks noChangeAspect="1"/>
          </p:cNvPicPr>
          <p:nvPr/>
        </p:nvPicPr>
        <p:blipFill>
          <a:blip r:embed="rId6"/>
          <a:stretch>
            <a:fillRect/>
          </a:stretch>
        </p:blipFill>
        <p:spPr>
          <a:xfrm>
            <a:off x="1593616" y="2454917"/>
            <a:ext cx="182880" cy="182880"/>
          </a:xfrm>
          <a:prstGeom prst="rect">
            <a:avLst/>
          </a:prstGeom>
        </p:spPr>
      </p:pic>
      <p:sp>
        <p:nvSpPr>
          <p:cNvPr id="34" name="Text 26"/>
          <p:cNvSpPr txBox="1"/>
          <p:nvPr/>
        </p:nvSpPr>
        <p:spPr>
          <a:xfrm>
            <a:off x="1849648" y="2454917"/>
            <a:ext cx="3533607" cy="8686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Penyebabnya: tag &lt;h2&gt; pada baris 3 belum ditutup. Browser menganggap semua isi setelahnya masih bagian dari judul h2.</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Langkah perbaikan:</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1. Cari baris &lt;h2&gt;Hobi Saya</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2. Tambahkan &lt;/h2&gt; di akhir baris itu.</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3. Simpan dan muat ulang browser.</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427485"/>
            <a:ext cx="3588471" cy="923544"/>
          </a:xfrm>
          <a:prstGeom prst="roundRect">
            <a:avLst>
              <a:gd name="adj" fmla="val 4950"/>
            </a:avLst>
          </a:prstGeom>
          <a:solidFill>
            <a:srgbClr val="FFFFFF">
              <a:alpha val="0"/>
            </a:srgbClr>
          </a:solidFill>
          <a:ln w="31750">
            <a:solidFill>
              <a:srgbClr val="E53935"/>
            </a:solidFill>
            <a:prstDash val="solid"/>
          </a:ln>
        </p:spPr>
      </p:sp>
      <p:sp>
        <p:nvSpPr>
          <p:cNvPr id="41" name="Shape 32"/>
          <p:cNvSpPr/>
          <p:nvPr/>
        </p:nvSpPr>
        <p:spPr>
          <a:xfrm>
            <a:off x="5273528" y="229032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3" name="Image 7" descr="preencoded.png">    </p:cNvPr>
          <p:cNvPicPr>
            <a:picLocks noChangeAspect="1"/>
          </p:cNvPicPr>
          <p:nvPr/>
        </p:nvPicPr>
        <p:blipFill>
          <a:blip r:embed="rId8"/>
          <a:stretch>
            <a:fillRect/>
          </a:stretch>
        </p:blipFill>
        <p:spPr>
          <a:xfrm>
            <a:off x="3793132" y="2932691"/>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Tanya AI: jelaskan penyebab, jangan ganti semua</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Prompt: "Halaman saya: semua tulisan setelah Hobi Saya menjadi besar. Ini kodenya: ... Jelaskan penyebabnya dan langkah perbaikan satu per satu. Jangan langsung mengganti seluruh kode."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View Source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view-source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view-source:file:///C:/.../index.html</a:t>
            </a:r>
            <a:endParaRPr lang="en-US" sz="800" dirty="0"/>
          </a:p>
        </p:txBody>
      </p:sp>
      <p:sp>
        <p:nvSpPr>
          <p:cNvPr id="28" name="Text 21"/>
          <p:cNvSpPr txBox="1"/>
          <p:nvPr/>
        </p:nvSpPr>
        <p:spPr>
          <a:xfrm>
            <a:off x="633496" y="1723397"/>
            <a:ext cx="228600" cy="155448"/>
          </a:xfrm>
          <a:prstGeom prst="rect">
            <a:avLst/>
          </a:prstGeom>
          <a:noFill/>
          <a:ln/>
        </p:spPr>
        <p:txBody>
          <a:bodyPr wrap="square" lIns="0" tIns="0" rIns="0" bIns="0" rtlCol="0" anchor="t"/>
          <a:lstStyle/>
          <a:p>
            <a:pPr algn="r" indent="0" marL="0">
              <a:buNone/>
            </a:pPr>
            <a:r>
              <a:rPr lang="en-US" sz="600" dirty="0">
                <a:solidFill>
                  <a:srgbClr val="999999"/>
                </a:solidFill>
                <a:latin typeface="Courier New" pitchFamily="34" charset="0"/>
                <a:ea typeface="Courier New" pitchFamily="34" charset="-122"/>
                <a:cs typeface="Courier New" pitchFamily="34" charset="-120"/>
              </a:rPr>
              <a:t>1</a:t>
            </a:r>
            <a:endParaRPr lang="en-US" sz="600" dirty="0"/>
          </a:p>
        </p:txBody>
      </p:sp>
      <p:sp>
        <p:nvSpPr>
          <p:cNvPr id="29" name="Text 22"/>
          <p:cNvSpPr txBox="1"/>
          <p:nvPr/>
        </p:nvSpPr>
        <p:spPr>
          <a:xfrm>
            <a:off x="953536" y="1723397"/>
            <a:ext cx="4493727" cy="155448"/>
          </a:xfrm>
          <a:prstGeom prst="rect">
            <a:avLst/>
          </a:prstGeom>
          <a:noFill/>
          <a:ln/>
        </p:spPr>
        <p:txBody>
          <a:bodyPr wrap="square" lIns="0" tIns="0" rIns="0" bIns="0" rtlCol="0" anchor="t"/>
          <a:lstStyle/>
          <a:p>
            <a:pPr indent="0" marL="0">
              <a:buNone/>
            </a:pPr>
            <a:r>
              <a:rPr lang="en-US" sz="650" dirty="0">
                <a:solidFill>
                  <a:srgbClr val="881280"/>
                </a:solidFill>
                <a:latin typeface="Courier New" pitchFamily="34" charset="0"/>
                <a:ea typeface="Courier New" pitchFamily="34" charset="-122"/>
                <a:cs typeface="Courier New" pitchFamily="34" charset="-120"/>
              </a:rPr>
              <a:t>&lt;!DOCTYPE html&gt;</a:t>
            </a:r>
            <a:endParaRPr lang="en-US" sz="650" dirty="0"/>
          </a:p>
        </p:txBody>
      </p:sp>
      <p:sp>
        <p:nvSpPr>
          <p:cNvPr id="30" name="Text 23"/>
          <p:cNvSpPr txBox="1"/>
          <p:nvPr/>
        </p:nvSpPr>
        <p:spPr>
          <a:xfrm>
            <a:off x="633496" y="1878845"/>
            <a:ext cx="228600" cy="155448"/>
          </a:xfrm>
          <a:prstGeom prst="rect">
            <a:avLst/>
          </a:prstGeom>
          <a:noFill/>
          <a:ln/>
        </p:spPr>
        <p:txBody>
          <a:bodyPr wrap="square" lIns="0" tIns="0" rIns="0" bIns="0" rtlCol="0" anchor="t"/>
          <a:lstStyle/>
          <a:p>
            <a:pPr algn="r" indent="0" marL="0">
              <a:buNone/>
            </a:pPr>
            <a:r>
              <a:rPr lang="en-US" sz="600" dirty="0">
                <a:solidFill>
                  <a:srgbClr val="999999"/>
                </a:solidFill>
                <a:latin typeface="Courier New" pitchFamily="34" charset="0"/>
                <a:ea typeface="Courier New" pitchFamily="34" charset="-122"/>
                <a:cs typeface="Courier New" pitchFamily="34" charset="-120"/>
              </a:rPr>
              <a:t>2</a:t>
            </a:r>
            <a:endParaRPr lang="en-US" sz="600" dirty="0"/>
          </a:p>
        </p:txBody>
      </p:sp>
      <p:sp>
        <p:nvSpPr>
          <p:cNvPr id="31" name="Text 24"/>
          <p:cNvSpPr txBox="1"/>
          <p:nvPr/>
        </p:nvSpPr>
        <p:spPr>
          <a:xfrm>
            <a:off x="953536" y="1878845"/>
            <a:ext cx="4493727" cy="155448"/>
          </a:xfrm>
          <a:prstGeom prst="rect">
            <a:avLst/>
          </a:prstGeom>
          <a:noFill/>
          <a:ln/>
        </p:spPr>
        <p:txBody>
          <a:bodyPr wrap="square" lIns="0" tIns="0" rIns="0" bIns="0" rtlCol="0" anchor="t"/>
          <a:lstStyle/>
          <a:p>
            <a:pPr indent="0" marL="0">
              <a:buNone/>
            </a:pPr>
            <a:r>
              <a:rPr lang="en-US" sz="650" dirty="0">
                <a:solidFill>
                  <a:srgbClr val="881280"/>
                </a:solidFill>
                <a:latin typeface="Courier New" pitchFamily="34" charset="0"/>
                <a:ea typeface="Courier New" pitchFamily="34" charset="-122"/>
                <a:cs typeface="Courier New" pitchFamily="34" charset="-120"/>
              </a:rPr>
              <a:t>&lt;html&gt;</a:t>
            </a:r>
            <a:endParaRPr lang="en-US" sz="650" dirty="0"/>
          </a:p>
        </p:txBody>
      </p:sp>
      <p:sp>
        <p:nvSpPr>
          <p:cNvPr id="32" name="Text 25"/>
          <p:cNvSpPr txBox="1"/>
          <p:nvPr/>
        </p:nvSpPr>
        <p:spPr>
          <a:xfrm>
            <a:off x="633496" y="2034293"/>
            <a:ext cx="228600" cy="155448"/>
          </a:xfrm>
          <a:prstGeom prst="rect">
            <a:avLst/>
          </a:prstGeom>
          <a:noFill/>
          <a:ln/>
        </p:spPr>
        <p:txBody>
          <a:bodyPr wrap="square" lIns="0" tIns="0" rIns="0" bIns="0" rtlCol="0" anchor="t"/>
          <a:lstStyle/>
          <a:p>
            <a:pPr algn="r" indent="0" marL="0">
              <a:buNone/>
            </a:pPr>
            <a:r>
              <a:rPr lang="en-US" sz="600" dirty="0">
                <a:solidFill>
                  <a:srgbClr val="999999"/>
                </a:solidFill>
                <a:latin typeface="Courier New" pitchFamily="34" charset="0"/>
                <a:ea typeface="Courier New" pitchFamily="34" charset="-122"/>
                <a:cs typeface="Courier New" pitchFamily="34" charset="-120"/>
              </a:rPr>
              <a:t>3</a:t>
            </a:r>
            <a:endParaRPr lang="en-US" sz="600" dirty="0"/>
          </a:p>
        </p:txBody>
      </p:sp>
      <p:sp>
        <p:nvSpPr>
          <p:cNvPr id="33" name="Text 26"/>
          <p:cNvSpPr txBox="1"/>
          <p:nvPr/>
        </p:nvSpPr>
        <p:spPr>
          <a:xfrm>
            <a:off x="953536" y="2034293"/>
            <a:ext cx="4493727" cy="155448"/>
          </a:xfrm>
          <a:prstGeom prst="rect">
            <a:avLst/>
          </a:prstGeom>
          <a:noFill/>
          <a:ln/>
        </p:spPr>
        <p:txBody>
          <a:bodyPr wrap="square" lIns="0" tIns="0" rIns="0" bIns="0" rtlCol="0" anchor="t"/>
          <a:lstStyle/>
          <a:p>
            <a:pPr indent="0" marL="0">
              <a:buNone/>
            </a:pPr>
            <a:r>
              <a:rPr lang="en-US" sz="650" dirty="0">
                <a:solidFill>
                  <a:srgbClr val="881280"/>
                </a:solidFill>
                <a:latin typeface="Courier New" pitchFamily="34" charset="0"/>
                <a:ea typeface="Courier New" pitchFamily="34" charset="-122"/>
                <a:cs typeface="Courier New" pitchFamily="34" charset="-120"/>
              </a:rPr>
              <a:t>&lt;head&gt;</a:t>
            </a:r>
            <a:endParaRPr lang="en-US" sz="650" dirty="0"/>
          </a:p>
        </p:txBody>
      </p:sp>
      <p:sp>
        <p:nvSpPr>
          <p:cNvPr id="34" name="Text 27"/>
          <p:cNvSpPr txBox="1"/>
          <p:nvPr/>
        </p:nvSpPr>
        <p:spPr>
          <a:xfrm>
            <a:off x="633496" y="2189741"/>
            <a:ext cx="228600" cy="155448"/>
          </a:xfrm>
          <a:prstGeom prst="rect">
            <a:avLst/>
          </a:prstGeom>
          <a:noFill/>
          <a:ln/>
        </p:spPr>
        <p:txBody>
          <a:bodyPr wrap="square" lIns="0" tIns="0" rIns="0" bIns="0" rtlCol="0" anchor="t"/>
          <a:lstStyle/>
          <a:p>
            <a:pPr algn="r" indent="0" marL="0">
              <a:buNone/>
            </a:pPr>
            <a:r>
              <a:rPr lang="en-US" sz="600" dirty="0">
                <a:solidFill>
                  <a:srgbClr val="999999"/>
                </a:solidFill>
                <a:latin typeface="Courier New" pitchFamily="34" charset="0"/>
                <a:ea typeface="Courier New" pitchFamily="34" charset="-122"/>
                <a:cs typeface="Courier New" pitchFamily="34" charset="-120"/>
              </a:rPr>
              <a:t>4</a:t>
            </a:r>
            <a:endParaRPr lang="en-US" sz="600" dirty="0"/>
          </a:p>
        </p:txBody>
      </p:sp>
      <p:sp>
        <p:nvSpPr>
          <p:cNvPr id="35" name="Text 28"/>
          <p:cNvSpPr txBox="1"/>
          <p:nvPr/>
        </p:nvSpPr>
        <p:spPr>
          <a:xfrm>
            <a:off x="953536" y="2189741"/>
            <a:ext cx="4493727" cy="155448"/>
          </a:xfrm>
          <a:prstGeom prst="rect">
            <a:avLst/>
          </a:prstGeom>
          <a:noFill/>
          <a:ln/>
        </p:spPr>
        <p:txBody>
          <a:bodyPr wrap="square" lIns="0" tIns="0" rIns="0" bIns="0" rtlCol="0" anchor="t"/>
          <a:lstStyle/>
          <a:p>
            <a:pPr indent="0" marL="0">
              <a:buNone/>
            </a:pPr>
            <a:r>
              <a:rPr lang="en-US" sz="650" dirty="0">
                <a:solidFill>
                  <a:srgbClr val="881280"/>
                </a:solidFill>
                <a:latin typeface="Courier New" pitchFamily="34" charset="0"/>
                <a:ea typeface="Courier New" pitchFamily="34" charset="-122"/>
                <a:cs typeface="Courier New" pitchFamily="34" charset="-120"/>
              </a:rPr>
              <a:t>  &lt;meta charset="UTF-8"&gt;</a:t>
            </a:r>
            <a:endParaRPr lang="en-US" sz="650" dirty="0"/>
          </a:p>
        </p:txBody>
      </p:sp>
      <p:sp>
        <p:nvSpPr>
          <p:cNvPr id="36" name="Text 29"/>
          <p:cNvSpPr txBox="1"/>
          <p:nvPr/>
        </p:nvSpPr>
        <p:spPr>
          <a:xfrm>
            <a:off x="633496" y="2345189"/>
            <a:ext cx="228600" cy="155448"/>
          </a:xfrm>
          <a:prstGeom prst="rect">
            <a:avLst/>
          </a:prstGeom>
          <a:noFill/>
          <a:ln/>
        </p:spPr>
        <p:txBody>
          <a:bodyPr wrap="square" lIns="0" tIns="0" rIns="0" bIns="0" rtlCol="0" anchor="t"/>
          <a:lstStyle/>
          <a:p>
            <a:pPr algn="r" indent="0" marL="0">
              <a:buNone/>
            </a:pPr>
            <a:r>
              <a:rPr lang="en-US" sz="600" dirty="0">
                <a:solidFill>
                  <a:srgbClr val="999999"/>
                </a:solidFill>
                <a:latin typeface="Courier New" pitchFamily="34" charset="0"/>
                <a:ea typeface="Courier New" pitchFamily="34" charset="-122"/>
                <a:cs typeface="Courier New" pitchFamily="34" charset="-120"/>
              </a:rPr>
              <a:t>5</a:t>
            </a:r>
            <a:endParaRPr lang="en-US" sz="600" dirty="0"/>
          </a:p>
        </p:txBody>
      </p:sp>
      <p:sp>
        <p:nvSpPr>
          <p:cNvPr id="37" name="Text 30"/>
          <p:cNvSpPr txBox="1"/>
          <p:nvPr/>
        </p:nvSpPr>
        <p:spPr>
          <a:xfrm>
            <a:off x="953536" y="2345189"/>
            <a:ext cx="4493727" cy="155448"/>
          </a:xfrm>
          <a:prstGeom prst="rect">
            <a:avLst/>
          </a:prstGeom>
          <a:noFill/>
          <a:ln/>
        </p:spPr>
        <p:txBody>
          <a:bodyPr wrap="square" lIns="0" tIns="0" rIns="0" bIns="0" rtlCol="0" anchor="t"/>
          <a:lstStyle/>
          <a:p>
            <a:pPr indent="0" marL="0">
              <a:buNone/>
            </a:pPr>
            <a:r>
              <a:rPr lang="en-US" sz="650" dirty="0">
                <a:solidFill>
                  <a:srgbClr val="881280"/>
                </a:solidFill>
                <a:latin typeface="Courier New" pitchFamily="34" charset="0"/>
                <a:ea typeface="Courier New" pitchFamily="34" charset="-122"/>
                <a:cs typeface="Courier New" pitchFamily="34" charset="-120"/>
              </a:rPr>
              <a:t>  &lt;title&gt;Profil Santri&lt;/title&gt;</a:t>
            </a:r>
            <a:endParaRPr lang="en-US" sz="650" dirty="0"/>
          </a:p>
        </p:txBody>
      </p:sp>
      <p:sp>
        <p:nvSpPr>
          <p:cNvPr id="38" name="Text 31"/>
          <p:cNvSpPr txBox="1"/>
          <p:nvPr/>
        </p:nvSpPr>
        <p:spPr>
          <a:xfrm>
            <a:off x="633496" y="2500637"/>
            <a:ext cx="228600" cy="155448"/>
          </a:xfrm>
          <a:prstGeom prst="rect">
            <a:avLst/>
          </a:prstGeom>
          <a:noFill/>
          <a:ln/>
        </p:spPr>
        <p:txBody>
          <a:bodyPr wrap="square" lIns="0" tIns="0" rIns="0" bIns="0" rtlCol="0" anchor="t"/>
          <a:lstStyle/>
          <a:p>
            <a:pPr algn="r" indent="0" marL="0">
              <a:buNone/>
            </a:pPr>
            <a:r>
              <a:rPr lang="en-US" sz="600" dirty="0">
                <a:solidFill>
                  <a:srgbClr val="999999"/>
                </a:solidFill>
                <a:latin typeface="Courier New" pitchFamily="34" charset="0"/>
                <a:ea typeface="Courier New" pitchFamily="34" charset="-122"/>
                <a:cs typeface="Courier New" pitchFamily="34" charset="-120"/>
              </a:rPr>
              <a:t>6</a:t>
            </a:r>
            <a:endParaRPr lang="en-US" sz="600" dirty="0"/>
          </a:p>
        </p:txBody>
      </p:sp>
      <p:sp>
        <p:nvSpPr>
          <p:cNvPr id="39" name="Text 32"/>
          <p:cNvSpPr txBox="1"/>
          <p:nvPr/>
        </p:nvSpPr>
        <p:spPr>
          <a:xfrm>
            <a:off x="953536" y="2500637"/>
            <a:ext cx="4493727" cy="155448"/>
          </a:xfrm>
          <a:prstGeom prst="rect">
            <a:avLst/>
          </a:prstGeom>
          <a:noFill/>
          <a:ln/>
        </p:spPr>
        <p:txBody>
          <a:bodyPr wrap="square" lIns="0" tIns="0" rIns="0" bIns="0" rtlCol="0" anchor="t"/>
          <a:lstStyle/>
          <a:p>
            <a:pPr indent="0" marL="0">
              <a:buNone/>
            </a:pPr>
            <a:r>
              <a:rPr lang="en-US" sz="650" dirty="0">
                <a:solidFill>
                  <a:srgbClr val="881280"/>
                </a:solidFill>
                <a:latin typeface="Courier New" pitchFamily="34" charset="0"/>
                <a:ea typeface="Courier New" pitchFamily="34" charset="-122"/>
                <a:cs typeface="Courier New" pitchFamily="34" charset="-120"/>
              </a:rPr>
              <a:t>&lt;/head&gt;</a:t>
            </a:r>
            <a:endParaRPr lang="en-US" sz="650" dirty="0"/>
          </a:p>
        </p:txBody>
      </p:sp>
      <p:sp>
        <p:nvSpPr>
          <p:cNvPr id="40" name="Text 33"/>
          <p:cNvSpPr txBox="1"/>
          <p:nvPr/>
        </p:nvSpPr>
        <p:spPr>
          <a:xfrm>
            <a:off x="633496" y="2656085"/>
            <a:ext cx="228600" cy="155448"/>
          </a:xfrm>
          <a:prstGeom prst="rect">
            <a:avLst/>
          </a:prstGeom>
          <a:noFill/>
          <a:ln/>
        </p:spPr>
        <p:txBody>
          <a:bodyPr wrap="square" lIns="0" tIns="0" rIns="0" bIns="0" rtlCol="0" anchor="t"/>
          <a:lstStyle/>
          <a:p>
            <a:pPr algn="r" indent="0" marL="0">
              <a:buNone/>
            </a:pPr>
            <a:r>
              <a:rPr lang="en-US" sz="600" dirty="0">
                <a:solidFill>
                  <a:srgbClr val="999999"/>
                </a:solidFill>
                <a:latin typeface="Courier New" pitchFamily="34" charset="0"/>
                <a:ea typeface="Courier New" pitchFamily="34" charset="-122"/>
                <a:cs typeface="Courier New" pitchFamily="34" charset="-120"/>
              </a:rPr>
              <a:t>7</a:t>
            </a:r>
            <a:endParaRPr lang="en-US" sz="600" dirty="0"/>
          </a:p>
        </p:txBody>
      </p:sp>
      <p:sp>
        <p:nvSpPr>
          <p:cNvPr id="41" name="Text 34"/>
          <p:cNvSpPr txBox="1"/>
          <p:nvPr/>
        </p:nvSpPr>
        <p:spPr>
          <a:xfrm>
            <a:off x="953536" y="2656085"/>
            <a:ext cx="4493727" cy="155448"/>
          </a:xfrm>
          <a:prstGeom prst="rect">
            <a:avLst/>
          </a:prstGeom>
          <a:noFill/>
          <a:ln/>
        </p:spPr>
        <p:txBody>
          <a:bodyPr wrap="square" lIns="0" tIns="0" rIns="0" bIns="0" rtlCol="0" anchor="t"/>
          <a:lstStyle/>
          <a:p>
            <a:pPr indent="0" marL="0">
              <a:buNone/>
            </a:pPr>
            <a:r>
              <a:rPr lang="en-US" sz="650" dirty="0">
                <a:solidFill>
                  <a:srgbClr val="881280"/>
                </a:solidFill>
                <a:latin typeface="Courier New" pitchFamily="34" charset="0"/>
                <a:ea typeface="Courier New" pitchFamily="34" charset="-122"/>
                <a:cs typeface="Courier New" pitchFamily="34" charset="-120"/>
              </a:rPr>
              <a:t>&lt;body&gt;</a:t>
            </a:r>
            <a:endParaRPr lang="en-US" sz="650" dirty="0"/>
          </a:p>
        </p:txBody>
      </p:sp>
      <p:sp>
        <p:nvSpPr>
          <p:cNvPr id="42" name="Text 35"/>
          <p:cNvSpPr txBox="1"/>
          <p:nvPr/>
        </p:nvSpPr>
        <p:spPr>
          <a:xfrm>
            <a:off x="633496" y="2811533"/>
            <a:ext cx="228600" cy="155448"/>
          </a:xfrm>
          <a:prstGeom prst="rect">
            <a:avLst/>
          </a:prstGeom>
          <a:noFill/>
          <a:ln/>
        </p:spPr>
        <p:txBody>
          <a:bodyPr wrap="square" lIns="0" tIns="0" rIns="0" bIns="0" rtlCol="0" anchor="t"/>
          <a:lstStyle/>
          <a:p>
            <a:pPr algn="r" indent="0" marL="0">
              <a:buNone/>
            </a:pPr>
            <a:r>
              <a:rPr lang="en-US" sz="600" dirty="0">
                <a:solidFill>
                  <a:srgbClr val="999999"/>
                </a:solidFill>
                <a:latin typeface="Courier New" pitchFamily="34" charset="0"/>
                <a:ea typeface="Courier New" pitchFamily="34" charset="-122"/>
                <a:cs typeface="Courier New" pitchFamily="34" charset="-120"/>
              </a:rPr>
              <a:t>8</a:t>
            </a:r>
            <a:endParaRPr lang="en-US" sz="600" dirty="0"/>
          </a:p>
        </p:txBody>
      </p:sp>
      <p:sp>
        <p:nvSpPr>
          <p:cNvPr id="43" name="Text 36"/>
          <p:cNvSpPr txBox="1"/>
          <p:nvPr/>
        </p:nvSpPr>
        <p:spPr>
          <a:xfrm>
            <a:off x="953536" y="2811533"/>
            <a:ext cx="4493727" cy="155448"/>
          </a:xfrm>
          <a:prstGeom prst="rect">
            <a:avLst/>
          </a:prstGeom>
          <a:noFill/>
          <a:ln/>
        </p:spPr>
        <p:txBody>
          <a:bodyPr wrap="square" lIns="0" tIns="0" rIns="0" bIns="0" rtlCol="0" anchor="t"/>
          <a:lstStyle/>
          <a:p>
            <a:pPr indent="0" marL="0">
              <a:buNone/>
            </a:pPr>
            <a:r>
              <a:rPr lang="en-US" sz="650" dirty="0">
                <a:solidFill>
                  <a:srgbClr val="881280"/>
                </a:solidFill>
                <a:latin typeface="Courier New" pitchFamily="34" charset="0"/>
                <a:ea typeface="Courier New" pitchFamily="34" charset="-122"/>
                <a:cs typeface="Courier New" pitchFamily="34" charset="-120"/>
              </a:rPr>
              <a:t>  &lt;h1&gt;Assalamu'alaikum!&lt;/h1&gt;</a:t>
            </a:r>
            <a:endParaRPr lang="en-US" sz="650" dirty="0"/>
          </a:p>
        </p:txBody>
      </p:sp>
      <p:sp>
        <p:nvSpPr>
          <p:cNvPr id="44" name="Text 37"/>
          <p:cNvSpPr txBox="1"/>
          <p:nvPr/>
        </p:nvSpPr>
        <p:spPr>
          <a:xfrm>
            <a:off x="633496" y="2966981"/>
            <a:ext cx="228600" cy="155448"/>
          </a:xfrm>
          <a:prstGeom prst="rect">
            <a:avLst/>
          </a:prstGeom>
          <a:noFill/>
          <a:ln/>
        </p:spPr>
        <p:txBody>
          <a:bodyPr wrap="square" lIns="0" tIns="0" rIns="0" bIns="0" rtlCol="0" anchor="t"/>
          <a:lstStyle/>
          <a:p>
            <a:pPr algn="r" indent="0" marL="0">
              <a:buNone/>
            </a:pPr>
            <a:r>
              <a:rPr lang="en-US" sz="600" dirty="0">
                <a:solidFill>
                  <a:srgbClr val="999999"/>
                </a:solidFill>
                <a:latin typeface="Courier New" pitchFamily="34" charset="0"/>
                <a:ea typeface="Courier New" pitchFamily="34" charset="-122"/>
                <a:cs typeface="Courier New" pitchFamily="34" charset="-120"/>
              </a:rPr>
              <a:t>9</a:t>
            </a:r>
            <a:endParaRPr lang="en-US" sz="600" dirty="0"/>
          </a:p>
        </p:txBody>
      </p:sp>
      <p:sp>
        <p:nvSpPr>
          <p:cNvPr id="45" name="Text 38"/>
          <p:cNvSpPr txBox="1"/>
          <p:nvPr/>
        </p:nvSpPr>
        <p:spPr>
          <a:xfrm>
            <a:off x="953536" y="2966981"/>
            <a:ext cx="4493727" cy="155448"/>
          </a:xfrm>
          <a:prstGeom prst="rect">
            <a:avLst/>
          </a:prstGeom>
          <a:noFill/>
          <a:ln/>
        </p:spPr>
        <p:txBody>
          <a:bodyPr wrap="square" lIns="0" tIns="0" rIns="0" bIns="0" rtlCol="0" anchor="t"/>
          <a:lstStyle/>
          <a:p>
            <a:pPr indent="0" marL="0">
              <a:buNone/>
            </a:pPr>
            <a:r>
              <a:rPr lang="en-US" sz="650" dirty="0">
                <a:solidFill>
                  <a:srgbClr val="881280"/>
                </a:solidFill>
                <a:latin typeface="Courier New" pitchFamily="34" charset="0"/>
                <a:ea typeface="Courier New" pitchFamily="34" charset="-122"/>
                <a:cs typeface="Courier New" pitchFamily="34" charset="-120"/>
              </a:rPr>
              <a:t>  &lt;p&gt;Nama saya &lt;b&gt;Ahmad&lt;/b&gt;, santri Kelas 8A.&lt;/p&gt;</a:t>
            </a:r>
            <a:endParaRPr lang="en-US" sz="650" dirty="0"/>
          </a:p>
        </p:txBody>
      </p:sp>
      <p:sp>
        <p:nvSpPr>
          <p:cNvPr id="46" name="Text 39"/>
          <p:cNvSpPr txBox="1"/>
          <p:nvPr/>
        </p:nvSpPr>
        <p:spPr>
          <a:xfrm>
            <a:off x="633496" y="3122429"/>
            <a:ext cx="228600" cy="155448"/>
          </a:xfrm>
          <a:prstGeom prst="rect">
            <a:avLst/>
          </a:prstGeom>
          <a:noFill/>
          <a:ln/>
        </p:spPr>
        <p:txBody>
          <a:bodyPr wrap="square" lIns="0" tIns="0" rIns="0" bIns="0" rtlCol="0" anchor="t"/>
          <a:lstStyle/>
          <a:p>
            <a:pPr algn="r" indent="0" marL="0">
              <a:buNone/>
            </a:pPr>
            <a:r>
              <a:rPr lang="en-US" sz="600" dirty="0">
                <a:solidFill>
                  <a:srgbClr val="999999"/>
                </a:solidFill>
                <a:latin typeface="Courier New" pitchFamily="34" charset="0"/>
                <a:ea typeface="Courier New" pitchFamily="34" charset="-122"/>
                <a:cs typeface="Courier New" pitchFamily="34" charset="-120"/>
              </a:rPr>
              <a:t>10</a:t>
            </a:r>
            <a:endParaRPr lang="en-US" sz="600" dirty="0"/>
          </a:p>
        </p:txBody>
      </p:sp>
      <p:sp>
        <p:nvSpPr>
          <p:cNvPr id="47" name="Text 40"/>
          <p:cNvSpPr txBox="1"/>
          <p:nvPr/>
        </p:nvSpPr>
        <p:spPr>
          <a:xfrm>
            <a:off x="953536" y="3122429"/>
            <a:ext cx="4493727" cy="155448"/>
          </a:xfrm>
          <a:prstGeom prst="rect">
            <a:avLst/>
          </a:prstGeom>
          <a:noFill/>
          <a:ln/>
        </p:spPr>
        <p:txBody>
          <a:bodyPr wrap="square" lIns="0" tIns="0" rIns="0" bIns="0" rtlCol="0" anchor="t"/>
          <a:lstStyle/>
          <a:p>
            <a:pPr indent="0" marL="0">
              <a:buNone/>
            </a:pPr>
            <a:r>
              <a:rPr lang="en-US" sz="650" dirty="0">
                <a:solidFill>
                  <a:srgbClr val="881280"/>
                </a:solidFill>
                <a:latin typeface="Courier New" pitchFamily="34" charset="0"/>
                <a:ea typeface="Courier New" pitchFamily="34" charset="-122"/>
                <a:cs typeface="Courier New" pitchFamily="34" charset="-120"/>
              </a:rPr>
              <a:t>  &lt;h2&gt;Hobi Saya&lt;/h2&gt;</a:t>
            </a:r>
            <a:endParaRPr lang="en-US" sz="650" dirty="0"/>
          </a:p>
        </p:txBody>
      </p:sp>
      <p:sp>
        <p:nvSpPr>
          <p:cNvPr id="48" name="Text 41"/>
          <p:cNvSpPr txBox="1"/>
          <p:nvPr/>
        </p:nvSpPr>
        <p:spPr>
          <a:xfrm>
            <a:off x="633496" y="3277877"/>
            <a:ext cx="228600" cy="155448"/>
          </a:xfrm>
          <a:prstGeom prst="rect">
            <a:avLst/>
          </a:prstGeom>
          <a:noFill/>
          <a:ln/>
        </p:spPr>
        <p:txBody>
          <a:bodyPr wrap="square" lIns="0" tIns="0" rIns="0" bIns="0" rtlCol="0" anchor="t"/>
          <a:lstStyle/>
          <a:p>
            <a:pPr algn="r" indent="0" marL="0">
              <a:buNone/>
            </a:pPr>
            <a:r>
              <a:rPr lang="en-US" sz="600" dirty="0">
                <a:solidFill>
                  <a:srgbClr val="999999"/>
                </a:solidFill>
                <a:latin typeface="Courier New" pitchFamily="34" charset="0"/>
                <a:ea typeface="Courier New" pitchFamily="34" charset="-122"/>
                <a:cs typeface="Courier New" pitchFamily="34" charset="-120"/>
              </a:rPr>
              <a:t>11</a:t>
            </a:r>
            <a:endParaRPr lang="en-US" sz="600" dirty="0"/>
          </a:p>
        </p:txBody>
      </p:sp>
      <p:sp>
        <p:nvSpPr>
          <p:cNvPr id="49" name="Text 42"/>
          <p:cNvSpPr txBox="1"/>
          <p:nvPr/>
        </p:nvSpPr>
        <p:spPr>
          <a:xfrm>
            <a:off x="953536" y="3277877"/>
            <a:ext cx="4493727" cy="155448"/>
          </a:xfrm>
          <a:prstGeom prst="rect">
            <a:avLst/>
          </a:prstGeom>
          <a:noFill/>
          <a:ln/>
        </p:spPr>
        <p:txBody>
          <a:bodyPr wrap="square" lIns="0" tIns="0" rIns="0" bIns="0" rtlCol="0" anchor="t"/>
          <a:lstStyle/>
          <a:p>
            <a:pPr indent="0" marL="0">
              <a:buNone/>
            </a:pPr>
            <a:r>
              <a:rPr lang="en-US" sz="650" dirty="0">
                <a:solidFill>
                  <a:srgbClr val="881280"/>
                </a:solidFill>
                <a:latin typeface="Courier New" pitchFamily="34" charset="0"/>
                <a:ea typeface="Courier New" pitchFamily="34" charset="-122"/>
                <a:cs typeface="Courier New" pitchFamily="34" charset="-120"/>
              </a:rPr>
              <a:t>  &lt;ul&gt;</a:t>
            </a:r>
            <a:endParaRPr lang="en-US" sz="650" dirty="0"/>
          </a:p>
        </p:txBody>
      </p:sp>
      <p:sp>
        <p:nvSpPr>
          <p:cNvPr id="50" name="Text 43"/>
          <p:cNvSpPr txBox="1"/>
          <p:nvPr/>
        </p:nvSpPr>
        <p:spPr>
          <a:xfrm>
            <a:off x="633496" y="3433325"/>
            <a:ext cx="228600" cy="155448"/>
          </a:xfrm>
          <a:prstGeom prst="rect">
            <a:avLst/>
          </a:prstGeom>
          <a:noFill/>
          <a:ln/>
        </p:spPr>
        <p:txBody>
          <a:bodyPr wrap="square" lIns="0" tIns="0" rIns="0" bIns="0" rtlCol="0" anchor="t"/>
          <a:lstStyle/>
          <a:p>
            <a:pPr algn="r" indent="0" marL="0">
              <a:buNone/>
            </a:pPr>
            <a:r>
              <a:rPr lang="en-US" sz="600" dirty="0">
                <a:solidFill>
                  <a:srgbClr val="999999"/>
                </a:solidFill>
                <a:latin typeface="Courier New" pitchFamily="34" charset="0"/>
                <a:ea typeface="Courier New" pitchFamily="34" charset="-122"/>
                <a:cs typeface="Courier New" pitchFamily="34" charset="-120"/>
              </a:rPr>
              <a:t>12</a:t>
            </a:r>
            <a:endParaRPr lang="en-US" sz="600" dirty="0"/>
          </a:p>
        </p:txBody>
      </p:sp>
      <p:sp>
        <p:nvSpPr>
          <p:cNvPr id="51" name="Text 44"/>
          <p:cNvSpPr txBox="1"/>
          <p:nvPr/>
        </p:nvSpPr>
        <p:spPr>
          <a:xfrm>
            <a:off x="953536" y="3433325"/>
            <a:ext cx="4493727" cy="155448"/>
          </a:xfrm>
          <a:prstGeom prst="rect">
            <a:avLst/>
          </a:prstGeom>
          <a:noFill/>
          <a:ln/>
        </p:spPr>
        <p:txBody>
          <a:bodyPr wrap="square" lIns="0" tIns="0" rIns="0" bIns="0" rtlCol="0" anchor="t"/>
          <a:lstStyle/>
          <a:p>
            <a:pPr indent="0" marL="0">
              <a:buNone/>
            </a:pPr>
            <a:r>
              <a:rPr lang="en-US" sz="650" dirty="0">
                <a:solidFill>
                  <a:srgbClr val="881280"/>
                </a:solidFill>
                <a:latin typeface="Courier New" pitchFamily="34" charset="0"/>
                <a:ea typeface="Courier New" pitchFamily="34" charset="-122"/>
                <a:cs typeface="Courier New" pitchFamily="34" charset="-120"/>
              </a:rPr>
              <a:t>    &lt;li&gt;Membaca&lt;/li&gt;</a:t>
            </a:r>
            <a:endParaRPr lang="en-US" sz="650" dirty="0"/>
          </a:p>
        </p:txBody>
      </p:sp>
      <p:sp>
        <p:nvSpPr>
          <p:cNvPr id="52" name="Shape 45"/>
          <p:cNvSpPr/>
          <p:nvPr/>
        </p:nvSpPr>
        <p:spPr>
          <a:xfrm>
            <a:off x="1301008" y="1421645"/>
            <a:ext cx="4073103" cy="237744"/>
          </a:xfrm>
          <a:prstGeom prst="roundRect">
            <a:avLst>
              <a:gd name="adj" fmla="val 19231"/>
            </a:avLst>
          </a:prstGeom>
          <a:solidFill>
            <a:srgbClr val="FFFFFF">
              <a:alpha val="0"/>
            </a:srgbClr>
          </a:solidFill>
          <a:ln w="31750">
            <a:solidFill>
              <a:srgbClr val="E53935"/>
            </a:solidFill>
            <a:prstDash val="solid"/>
          </a:ln>
        </p:spPr>
      </p:sp>
      <p:sp>
        <p:nvSpPr>
          <p:cNvPr id="53" name="Shape 46"/>
          <p:cNvSpPr/>
          <p:nvPr/>
        </p:nvSpPr>
        <p:spPr>
          <a:xfrm>
            <a:off x="5236952" y="1284485"/>
            <a:ext cx="274320" cy="274320"/>
          </a:xfrm>
          <a:prstGeom prst="ellipse">
            <a:avLst/>
          </a:prstGeom>
          <a:solidFill>
            <a:srgbClr val="E53935"/>
          </a:solidFill>
          <a:ln w="12700">
            <a:solidFill>
              <a:srgbClr val="FFFFFF"/>
            </a:solidFill>
            <a:prstDash val="solid"/>
          </a:ln>
        </p:spPr>
      </p:sp>
      <p:sp>
        <p:nvSpPr>
          <p:cNvPr id="54" name="Text 47"/>
          <p:cNvSpPr txBox="1"/>
          <p:nvPr/>
        </p:nvSpPr>
        <p:spPr>
          <a:xfrm>
            <a:off x="5236952" y="12844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55" name="Image 5" descr="preencoded.png">    </p:cNvPr>
          <p:cNvPicPr>
            <a:picLocks noChangeAspect="1"/>
          </p:cNvPicPr>
          <p:nvPr/>
        </p:nvPicPr>
        <p:blipFill>
          <a:blip r:embed="rId6"/>
          <a:stretch>
            <a:fillRect/>
          </a:stretch>
        </p:blipFill>
        <p:spPr>
          <a:xfrm>
            <a:off x="3539386" y="1550576"/>
            <a:ext cx="237744" cy="237744"/>
          </a:xfrm>
          <a:prstGeom prst="rect">
            <a:avLst/>
          </a:prstGeom>
        </p:spPr>
      </p:pic>
      <p:sp>
        <p:nvSpPr>
          <p:cNvPr id="56" name="Text 4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57" name="Text 4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Ctrl+U: lihat kode sumber halaman</a:t>
            </a:r>
            <a:endParaRPr lang="en-US" sz="1800" dirty="0"/>
          </a:p>
        </p:txBody>
      </p:sp>
      <p:sp>
        <p:nvSpPr>
          <p:cNvPr id="58" name="Text 5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browser, tekan Ctrl+U. Muncul kode HTML halaman. Coba juga pada website lain: semua website memakai HTML.</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Halaman Profil Santri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Halaman profil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Struktur lengkap: DOCTYPE, html, head (meta, title), body.</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Memuat h1, h2, p, ul atau ol, img dengan alt, dan a href.</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Tanpa data pribadi; tersimpan di folder Website_Saya.</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Santri mampu menjelaskan fungsi setiap tag di halamannya.</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7: Pengenalan HTML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Halaman profil lengkap</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Satu error berhasil diperbaiki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setiap tag</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Tidak ada data pribadi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kamu pelajari dari penjelasan AI?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Bagian kode mana yang paling kamu pahami sekarang?</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Data pribadi tidak ditampilkan di halaman web. Cukup nama panggilan, kelas, dan hal-hal yang baik.</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8: CSS, memperindah halaman web.</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2 Modul 7 - Pengenalan HTML</dc:title>
  <dc:subject>PptxGenJS Presentation</dc:subject>
  <dc:creator>PptxGenJS</dc:creator>
  <cp:lastModifiedBy>PptxGenJS</cp:lastModifiedBy>
  <cp:revision>1</cp:revision>
  <dcterms:created xsi:type="dcterms:W3CDTF">2026-10-01T21:37:42Z</dcterms:created>
  <dcterms:modified xsi:type="dcterms:W3CDTF">2026-10-01T21:37:42Z</dcterms:modified>
</cp:coreProperties>
</file>