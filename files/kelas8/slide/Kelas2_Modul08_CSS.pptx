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8: CSS — Proyek: Landing Page Pesantren
Terdiri dari 3 pertemuan (Pertemuan 22–24 Kelas VIII),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Lanjutan Modul 7: santri memakai file index.html di folder Website_Saya.
- Kode warna memakai format HEX, misalnya #0F4C3A (hijau tua pondok) dan #D4A017 (emas).
- Pertemuan 24: landing page memuat profil singkat pondok. Pakai informasi umum yang sudah publik (nama pondok, program). Jangan memuat nomor HP pribadi, alamat rumah, atau data santri. Publikasi atas nama pondok menunggu persetujuan pimpinan (dibahas di Modul 10).
CATATAN
CSS sangat peka terhadap tanda baca: setiap aturan diakhiri titik koma ( ; ) dan setiap blok diapit kurung kurawal { }. Kesalahan paling sering: lupa titik koma atau kurung kurawal.
Chrome DevTools: tekan F12, lalu klik ikon HP/tablet (Toggle device toolbar) untuk melihat tampilan layar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ke-22, dengan judul "Mengenal CSS". Kita akan belajar memberi warna dan gaya pada halaman web.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menyelesaikan halaman profil dengan HTML. Siapa yang ingat, tag apa untuk judul paling besar?
(Tunggu jawaban: h1.)
Sekarang pertanyaan hari ini. Coba pikirkan sejenak:
"Halaman profil kalian sudah lengkap, tetapi masih polos hitam-putih. Bagaimana cara memberinya warna?"
(Beri waktu 1 menit. Minta 2–3 santri menjawab. Hargai semua jawaban.)
Dengan CSS. Jika HTML adalah tiang dan dinding bangunan, CSS adalah cat, hiasan, dan tata ruangnya. Hari ini halaman profil kalian akan berubah menjadi jauh lebih indah.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 adalah singkatan dari Cascading Style Sheets. CSS adalah bahasa untuk mengatur tampilan halaman web: warna, jenis huruf, ukuran, jarak, dan tata letak.
HTML dan CSS bekerja bersama. HTML mengatur ISI dan kerangka: ini judul, ini paragraf. CSS mengatur GAYA: judulnya berwarna hijau, di tengah, dengan huruf Arial.
Kelebihan CSS: satu aturan bisa mengubah banyak elemen sekaligus. Misalnya satu aturan untuk h2 akan mengubah semua subjudul h2 di halaman. Prinsip pengulangan dari Modul Desain Kelas VII diterapkan otomatis.
Hari ini CSS kita tulis di dalam tag style, di bagian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aturan CSS memiliki bagian-bagian berikut. Perhatikan contoh di layar: h1, kurung kurawal buka, color titik dua pagar 0F4C3A titik koma, kurung kurawal tutup.
Bagian pertama, berwarna merah: SELEKTOR, yaitu elemen yang diatur. Di sini h1.
Bagian kedua, berwarna biru: PROPERTI, yaitu apa yang diubah. Color artinya warna huruf.
Bagian ketiga, berwarna hijau: NILAI, yaitu menjadi apa. Pagar 0F4C3A adalah kode warna hijau tua, warna khas pondok kita.
Bagian keempat, berwarna kuning: tanda baca. Kurung kurawal membungkus aturan, dan setiap aturan WAJIB diakhiri titik koma.
Jadi artinya: semua h1 berwarna hijau tua. Kode warna seperti pagar 0F4C3A disebut kode HEX.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enam properti CSS pertama yang akan kita pakai.
color: warna huruf.
background-color: warna latar.
font-family: jenis huruf. Kita tulis dua pilihan: Arial, lalu sans-serif sebagai cadangan jika Arial tidak ada.
font-size: ukuran huruf, misalnya 18px. Px artinya piksel, titik-titik kecil di layar.
text-align: perataan teks: left, center, atau right.
line-height: jarak antar baris. Nilai 1,6 membuat paragraf lebih lapang dan nyaman dibaca.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index.html di Notepad dan di browser. Kita beri gaya langkah demi langkah. Setiap selesai satu langkah: simpan, lalu muat ulang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index.html dengan Notepad. Di dalam head, setelah baris title, ketik tag style pembuka, tekan Enter dua kali, lalu ketik tag style penutup.
Semua aturan CSS akan kita tulis di antara kedua tag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Di antara tag style, ketik aturan untuk body: body, kurung kurawal buka, lalu di baris berikutnya background-color titik dua pagar F3F8F5 titik koma, dan font-family titik dua Arial koma sans-serif titik koma. Tutup dengan kurung kurawal.
Simpan dan muat ulang browser. Latar halaman berubah menjadi hijau sangat muda, dan hurufnya berubah menjadi Arial.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Di bawah aturan body, tambahkan aturan untuk h1: color pagar 0F4C3A dan text-align center.
Simpan dan muat ulang. Judul kini berwarna hijau tua dan berada di tengah.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Lihat hasilnya di browser. Bandingkan dengan halaman sebelum diberi CSS. Isinya sama persis, hanya tampilannya yang berubah. Inilah peran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Tambahkan dua aturan lagi. Aturan pendek boleh ditulis dalam satu baris.
h2 dengan color pagar 1F7A5C, hijau yang lebih terang. Dan p dengan font-size 16px dan line-height 1,6.
Simpan dan muat ulang. Semua subjudul h2 berubah warna sekaligus, dan paragraf menjadi lebih lapang.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Latihan mencari error. Hapus titik koma di akhir baris color pada aturan h1. Simpan dan muat ulang.
Apa yang terjadi? Warna dan perataan judul tidak berlaku. Perhatikan: CSS tidak menampilkan pesan error seperti spreadsheet. Gayanya hanya tidak berlaku. Karena itu kita harus teliti memeriksa titik koma dan kurung kurawal.
Kembalikan titik komanya, simpan, dan muat ulang.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Tambahkan ke CSS: aturan untuk daftar, aturan untuk link dengan warna emas, ubah ukuran h1 menjadi 32px, dan tulis di buku fungsi selektor, properti, dan nilai.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ada tag style di dalam head?
- latar dan warna judul berubah?
- jenis huruf diganti?
- tidak ada titik koma yang hilang?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perbedaan peran HTML dan CSS?
Pertanyaan kedua: warna apa yang kamu pilih dan mengapa?
(Minta 2–3 santri menjawab secara bergantian.)
Pesan adab kita hari ini: hiasi karya dengan indah dan sederhana. Keindahan yang berlebihan, terlalu banyak warna dan huruf, justru mengganggu pesan. Ingat prinsip desain dari Kelas VII.
Pekan depan: kotak, jarak, kartu, dan tombol dengan CSS.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ke-23, dengan judul "Kotak, Jarak &amp; Kartu". Kita akan belajar menata halaman dengan kotak-kotak yang rapi.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mengenal CSS. Siapa yang ingat, tanda baca apa yang wajib ada di akhir setiap aturan CSS?
(Tunggu jawaban: titik koma.)
Sekarang pertanyaan hari ini. Coba pikirkan sejenak:
"Mengapa tampilan website modern terlihat rapi seperti tersusun dalam kotak-kotak?"
(Beri waktu 1 menit. Minta 2–3 santri menjawab. Hargai semua jawaban.)
Karena memang begitu cara kerjanya. Bagi browser, setiap elemen adalah sebuah KOTAK. Dengan mengatur ukuran, jarak, dan garis tepi kotak-kotak itu, halaman menjadi rapi. Hari ini kita mempelajarinya.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 browser, setiap elemen HTML adalah sebuah KOTAK. Kotak ini memiliki empat lapis, disebut BOX MODEL. Perhatikan gambar di layar dari dalam ke luar.
Paling dalam, ISI: teks atau gambar.
Lapis kedua, PADDING berwarna hijau muda: jarak antara isi dan garis tepi. Seperti jarak antara tulisan dan bingkai.
Lapis ketiga, BORDER: garis tepi kotak. Ditulis dengan tebal, jenis garis, dan warna, misalnya 1px solid pagar ddd.
Lapis terluar, MARGIN berwarna kuning: jarak antara kotak ini dan kotak lain di sekitarnya.
Ditambah satu properti istimewa: border-radius, untuk membuat sudut kotak membulat, seperti tombol dan kartu di aplikasi HP.
Mudah diingat: padding itu jarak ke dalam, margin itu jarak ke luar.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Bagaimana jika kita ingin memberi gaya hanya pada elemen tertentu, bukan semua h2 atau semua p? Kita memakai CLASS.
Di sebelah kiri, di HTML: kita membungkus beberapa elemen dengan tag div. Div adalah kotak pembungkus yang tidak tampil apa-apa sendiri. Lalu kita beri atribut class sama dengan "card". Card artinya kartu. Nama class bebas, asal tanpa spasi.
Di sebelah kanan, di CSS: kita tulis TITIK diikuti nama class: titik card. Tanda titik inilah yang menunjukkan bahwa ini class. Lalu atur gayanya: latar putih, padding 16px, sudut membulat 12px.
Semua elemen dengan class card akan memiliki gaya ini. Satu class bisa dipakai berkali-kali.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index.html di Notepad dan browser. Kita ubah bagian Hobi menjadi kartu, dan link menjadi tombol.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bagian body, tambahkan tag div class sama dengan "card" tepat sebelum subjudul Hobi Saya, tanda a. Lalu tambahkan tag penutup div setelah tag penutup ul, tanda b.
Rapikan agar isi di dalam div menjorok lebih ke dalam.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Di dalam tag style, tambahkan aturan titik card dengan:
background-color white, latar putih.
padding 16px, jarak dalam.
margin 20px auto, artinya jarak atas-bawah 20 piksel, dan kiri-kanan auto, sehingga kartu berada di tengah.
border 1px solid pagar dddddd, garis tepi abu-abu tipis.
border-radius 12px, sudut membulat.
max-width 500px, lebar maksimal 500 piksel agar tidak terlalu lebar di layar besar.
Simpan dan muat ulang.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Lihat hasilnya: bagian Hobi kini tampil sebagai kartu putih dengan sudut membulat, berada di tengah halaman. Persis seperti kartu-kartu di aplikasi HP.
Coba bungkus juga bagian Cita-cita dan Adab dengan div class card. Kalian tidak perlu menulis CSS lagi, karena class card sudah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Kita ubah link biasa menjadi tombol. Tambahkan atribut class sama dengan "tombol" pada tag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Di CSS, tambahkan aturan titik tombol:
display inline-block, agar link bisa diberi padding seperti kotak.
background-color pagar D4A017, warna emas.
color white, huruf putih.
padding 8px 16px, artinya jarak atas-bawah 8 dan kiri-kanan 16 piksel.
border-radius 20px, agar ujungnya bulat seperti kapsul.
text-decoration none, untuk menghilangkan garis bawah link.
Simpan dan muat ulang. Link kini tampil sebagai tombol 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Kita tambahkan efek saat kursor berada di atas tombol. Tulis aturan titik tombol titik dua hover, dengan background-color pagar 0F4C3A, hijau tua.
Hover artinya melayang di atas. Simpan, muat ulang, lalu arahkan kursor ke tombol. Warnanya berubah menjadi hijau tua. Halaman kalian terasa hidup.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Kerjakan: bungkus semua bagian dengan div class card, ubah padding menjadi 24px dan lihat perbedaannya, buat satu class baru sendiri, dan tulis di buku perbedaan padding dan margin.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ada elemen div dengan class card?
- card memiliki padding, border, dan radius?
- tombol link sudah bergaya?
- halaman tetap rapi?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beda padding dan margin?
Pertanyaan kedua: mengapa class memudahkan pekerjaan?
(Minta 2–3 santri menjawab secara bergantian.)
Pesan adab kita hari ini: rapi dan tertata adalah cerminan jiwa yang tertib. Rapikan karya kalian seperti merapikan shaf dalam sholat: lurus, rapat, dan teratur.
Pekan depan: proyek Landing Page Pesantren yang menyesuaikan layar HP.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ke-24, dengan judul "Landing Page Pesantren". Hari ini kita menyelesaikan proyek Modul 8: landing page pondok yang rapi di komputer dan HP.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kartu dan tombol. Siapa yang ingat, tanda apa yang menandai class di CSS?
(Tunggu jawaban: titik, misalnya .card.)
Sekarang pertanyaan hari ini. Coba pikirkan sejenak:
"Lebih banyak orang membuka website dari HP atau komputer?"
(Beri waktu 1 menit. Minta 2–3 santri menjawab. Hargai semua jawaban.)
Saat ini kebanyakan orang membuka website dari HP. Karena itu website harus RESPONSIF, artinya menyesuaikan diri dengan ukuran layar. Hari ini kita membuat LANDING PAGE, yaitu halaman perkenalan, untuk pondok kita, yang rapi di komputer maupun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LANDING PAGE adalah halaman perkenalan, halaman pertama yang dilihat pengunjung. Perhatikan contoh landing page pondok di layar. Ada empat bagian.
Nomor 1, HEADER: logo pondok, nama pondok, dan slogan, dengan latar hijau tua.
Nomor 2, KARTU PROGRAM: tiga kartu berdampingan yang memperkenalkan program unggulan pondok, misalnya Tahfidz, Diniyah, dan Teknologi.
Nomor 3, TOMBOL menuju website kelas.
Nomor 4, FOOTER di bagian bawah: dibuat oleh kelas berapa dan tahunnya.
Isi landing page memakai informasi umum tentang pondok yang memang sudah diketahui publik. Tidak ada data santri atau nomor HP pribadi.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tiga kunci membuat tata letak responsif.
Pertama, META VIEWPORT. Satu baris di dalam head yang memberi tahu HP agar menampilkan halaman sesuai lebar layarnya. Tanpa baris ini, HP akan memperkecil halaman sehingga tulisan sangat kecil.
Kedua, DISPLAY FLEX. Jika diberikan pada kotak pembungkus, elemen-elemen di dalamnya tersusun berdampingan ke samping, misalnya tiga kartu sejajar.
Ketiga, FLEX-WRAP WRAP. Jika layar terlalu sempit, misalnya di HP, kartu-kartu yang tidak muat akan turun ke baris berikutnya, sehingga tersusun bertumpuk dengan rapi.
Dengan tiga kunci ini, satu halaman bisa tampil bagus di komputer dan di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Kita membuat file baru bernama pondok.html di folder Website Saya. Boleh dikerjakan berpasangan. Ingat: AI bisa membantu menjelaskan jika ada error, dioperasikan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Notepad, klik File, New, untuk membuat file baru. Ketik struktur dasar HTML seperti biasa, ditambah satu baris penting di dalam head: meta name sama dengan viewport, content sama dengan width sama dengan device-width koma initial-scale sama dengan 1.
Simpan dengan nama pondok.html di folder Website Saya. Ingat: Save as type All files, Encoding UTF-8.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Salin file logo pondok ke folder Website Saya dan beri nama logo.png. Logo bisa diminta dari guru.
Di dalam body, tulis tag header, tanda a, berisi gambar logo, judul h1 nama pondok, dan paragraf slogan.
Lalu di dalam style, tulis aturan header, tanda b: latar hijau tua, huruf putih, padding 24px, dan rata tengah.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Di bawah header, tulis div dengan class "program" sebagai pembungkus. Di dalamnya, tiga div dengan class "card", masing-masing berisi h2 nama program dan satu paragraf penjelasan singkat. Contoh: Tahfidz, Diniyah, dan Teknologi.
Salin aturan titik card dari pekan lalu ke dalam style file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Inilah bagian terpenting. Tulis aturan titik program, tanda a: display flex agar kartu berdampingan, flex-wrap wrap agar kartu turun jika layar sempit, gap 16px untuk jarak antar kartu, dan padding 16px.
Lalu tambahkan pada titik card, tanda b: flex 1, artinya semua kartu sama lebar, dan min-width 220px, artinya kartu tidak boleh lebih sempit dari 220 piksel. Jika layar tidak cukup untuk tiga kartu selebar itu, kartu akan turun ke bawah.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Simpan dan buka pondok.html di browser. Tiga kartu tampil berdampingan di bawah header, sama lebar, dengan jarak yang rapi.
Tambahkan juga tombol menuju website kelas dengan class tombol dari pekan lalu, dan footer di bagian bawah: tag footer berisi tulisan Dibuat oleh Kelas 8A,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Kita uji tampilan HP tanpa HP sungguhan. Di browser, tekan F12. Terbuka panel DevTools, yaitu alat pengembang, di sisi kanan.
Di pojok kiri atas panel ada ikon HP dan tablet, yang ditandai kotak merah. Klik ikon itu. Cara cepatnya: Ctrl, Shift,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Halaman kini tampil seukuran layar HP. Perhatikan: kartu-kartu program otomatis tersusun ke bawah, satu per baris, dengan rapi. Inilah tampilan responsif.
Jika kartu tidak turun, periksa dua hal: apakah baris meta viewport sudah ada di head, dan apakah flex-wrap wrap sudah ditulis di titik program.
Alhamdulillah, landing page pondok kalian sudah jadi. Tekan F12 lagi untuk menutup DevTools.
(Minta beberapa santri menampilkan landing page-nya di layar komputer dan tampilan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Landing page dinyatakan selesai jika: memiliki meta viewport, header berlogo, tiga kartu program, tombol, dan footer; kartu berdampingan di komputer; bertumpuk rapi di tampilan HP; dan isinya benar serta santun, dengan santri mampu menjelaskan CSS-nya.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ada header dan 3 kartu program?
- kartu berdampingan di layar lebar?
- kartu bertumpuk rapi di layar HP?
- diuji dengan DevTools?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website harus nyaman dibuka di HP?
Pertanyaan kedua: bagian mana dari landing page yang paling kamu banggakan?
(Minta 2–3 santri menjawab secara bergantian.)
Pesan adab kita hari ini: landing page membawa nama pondok. Isinya harus benar, santun, dan tidak berlebihan. Jangan menulis klaim yang tidak benar hanya agar terlihat hebat.
Pekan depan: kita masuk Modul 9: GitHub, menyimpan kode di repository. Alhamdulillah, Modul 8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2.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1.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1.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2.png"/><Relationship Id="rId7" Type="http://schemas.openxmlformats.org/officeDocument/2006/relationships/image" Target="../media/image-43-7.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2.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slideLayout" Target="../slideLayouts/slideLayout1.xml"/><Relationship Id="rId11"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2.png"/><Relationship Id="rId7" Type="http://schemas.openxmlformats.org/officeDocument/2006/relationships/slideLayout" Target="../slideLayouts/slideLayout1.xml"/><Relationship Id="rId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2 WUSTHA  ·  SEMESTER 2  ·  MODUL 8</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CSS</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Landing Page Pesantren</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memperindah halaman web dengan CSS: warna, huruf, jarak, kotak kartu, tombol, tata letak berdampingan, dan tampilan yang menyesuaikan layar HP (responsive).</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22</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Mengenal CSS</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23</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Kotak, Jarak &amp; Kartu</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24</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Landing Page Pesantren</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Notepad, browser Chrome/Edge (DevTools), folder Website_Saya, layanan AI (dioperasikan guru)</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22</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Mengenal CSS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Warna, huruf, dan perataan</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8: CSS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Halaman profil kalian sudah lengkap, tetapi masih polos hitam-putih. Bagaimana cara memberinya warna?</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22</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fungsi CSS dan bagian-bagian aturannya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Menulis CSS di dalam tag style</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Mengatur warna, latar, jenis huruf, ukuran, dan perataan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CSS?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Cascading Style Sheets</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CSS adalah bahasa untuk mengatur tampilan halaman web: warna, huruf, jarak, dan tata letak.</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HTML = isi dan kerangka, CSS = gaya dan tampilan</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Satu aturan CSS bisa mengubah banyak elemen sekaligus</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Ditulis di dalam tag &lt;style&gt; di bagian head</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Bagian-bagian Aturan CSS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8229600" cy="1234440"/>
          </a:xfrm>
          <a:prstGeom prst="roundRect">
            <a:avLst>
              <a:gd name="adj" fmla="val 5926"/>
            </a:avLst>
          </a:prstGeom>
          <a:solidFill>
            <a:srgbClr val="FFFFFF"/>
          </a:solidFill>
          <a:ln w="19050">
            <a:solidFill>
              <a:srgbClr val="1F7A5C"/>
            </a:solidFill>
            <a:prstDash val="solid"/>
          </a:ln>
        </p:spPr>
      </p:sp>
      <p:sp>
        <p:nvSpPr>
          <p:cNvPr id="10" name="Text 6"/>
          <p:cNvSpPr txBox="1"/>
          <p:nvPr/>
        </p:nvSpPr>
        <p:spPr>
          <a:xfrm>
            <a:off x="548640" y="1188720"/>
            <a:ext cx="8046720" cy="1143000"/>
          </a:xfrm>
          <a:prstGeom prst="rect">
            <a:avLst/>
          </a:prstGeom>
          <a:noFill/>
          <a:ln/>
        </p:spPr>
        <p:txBody>
          <a:bodyPr wrap="square" lIns="0" tIns="0" rIns="0" bIns="0" rtlCol="0" anchor="ctr"/>
          <a:lstStyle/>
          <a:p>
            <a:pPr algn="ctr" indent="0" marL="0">
              <a:buNone/>
            </a:pPr>
            <a:r>
              <a:rPr lang="en-US" sz="3400" b="1" dirty="0">
                <a:solidFill>
                  <a:srgbClr val="E53935"/>
                </a:solidFill>
                <a:latin typeface="Courier New" pitchFamily="34" charset="0"/>
                <a:ea typeface="Courier New" pitchFamily="34" charset="-122"/>
                <a:cs typeface="Courier New" pitchFamily="34" charset="-120"/>
              </a:rPr>
              <a:t>h1</a:t>
            </a:r>
            <a:pPr algn="ctr" indent="0" marL="0">
              <a:buNone/>
            </a:pPr>
            <a:r>
              <a:rPr lang="en-US" sz="3400" dirty="0">
                <a:solidFill>
                  <a:srgbClr val="1E2A26"/>
                </a:solidFill>
                <a:latin typeface="Courier New" pitchFamily="34" charset="0"/>
                <a:ea typeface="Courier New" pitchFamily="34" charset="-122"/>
                <a:cs typeface="Courier New" pitchFamily="34" charset="-120"/>
              </a:rPr>
              <a:t> { </a:t>
            </a:r>
            <a:pPr algn="ctr" indent="0" marL="0">
              <a:buNone/>
            </a:pPr>
            <a:r>
              <a:rPr lang="en-US" sz="3400" b="1" dirty="0">
                <a:solidFill>
                  <a:srgbClr val="0078D4"/>
                </a:solidFill>
                <a:latin typeface="Courier New" pitchFamily="34" charset="0"/>
                <a:ea typeface="Courier New" pitchFamily="34" charset="-122"/>
                <a:cs typeface="Courier New" pitchFamily="34" charset="-120"/>
              </a:rPr>
              <a:t>color</a:t>
            </a:r>
            <a:pPr algn="ctr" indent="0" marL="0">
              <a:buNone/>
            </a:pPr>
            <a:r>
              <a:rPr lang="en-US" sz="3400" dirty="0">
                <a:solidFill>
                  <a:srgbClr val="1E2A26"/>
                </a:solidFill>
                <a:latin typeface="Courier New" pitchFamily="34" charset="0"/>
                <a:ea typeface="Courier New" pitchFamily="34" charset="-122"/>
                <a:cs typeface="Courier New" pitchFamily="34" charset="-120"/>
              </a:rPr>
              <a:t>: </a:t>
            </a:r>
            <a:pPr algn="ctr" indent="0" marL="0">
              <a:buNone/>
            </a:pPr>
            <a:r>
              <a:rPr lang="en-US" sz="3400" b="1" dirty="0">
                <a:solidFill>
                  <a:srgbClr val="1F7A5C"/>
                </a:solidFill>
                <a:latin typeface="Courier New" pitchFamily="34" charset="0"/>
                <a:ea typeface="Courier New" pitchFamily="34" charset="-122"/>
                <a:cs typeface="Courier New" pitchFamily="34" charset="-120"/>
              </a:rPr>
              <a:t>#0F4C3A</a:t>
            </a:r>
            <a:pPr algn="ctr" indent="0" marL="0">
              <a:buNone/>
            </a:pPr>
            <a:r>
              <a:rPr lang="en-US" sz="3400" b="1" dirty="0">
                <a:solidFill>
                  <a:srgbClr val="D4A017"/>
                </a:solidFill>
                <a:latin typeface="Courier New" pitchFamily="34" charset="0"/>
                <a:ea typeface="Courier New" pitchFamily="34" charset="-122"/>
                <a:cs typeface="Courier New" pitchFamily="34" charset="-120"/>
              </a:rPr>
              <a:t>;</a:t>
            </a:r>
            <a:pPr algn="ctr" indent="0" marL="0">
              <a:buNone/>
            </a:pPr>
            <a:r>
              <a:rPr lang="en-US" sz="3400" dirty="0">
                <a:solidFill>
                  <a:srgbClr val="1E2A26"/>
                </a:solidFill>
                <a:latin typeface="Courier New" pitchFamily="34" charset="0"/>
                <a:ea typeface="Courier New" pitchFamily="34" charset="-122"/>
                <a:cs typeface="Courier New" pitchFamily="34" charset="-120"/>
              </a:rPr>
              <a:t> }</a:t>
            </a:r>
            <a:endParaRPr lang="en-US" sz="3400" dirty="0"/>
          </a:p>
        </p:txBody>
      </p:sp>
      <p:sp>
        <p:nvSpPr>
          <p:cNvPr id="11" name="Shape 7"/>
          <p:cNvSpPr/>
          <p:nvPr/>
        </p:nvSpPr>
        <p:spPr>
          <a:xfrm>
            <a:off x="457200" y="2606040"/>
            <a:ext cx="1965960" cy="1143000"/>
          </a:xfrm>
          <a:prstGeom prst="roundRect">
            <a:avLst>
              <a:gd name="adj" fmla="val 8000"/>
            </a:avLst>
          </a:prstGeom>
          <a:solidFill>
            <a:srgbClr val="E6F2EC"/>
          </a:solidFill>
          <a:ln w="12700">
            <a:solidFill>
              <a:srgbClr val="E6F2EC"/>
            </a:solidFill>
            <a:prstDash val="solid"/>
          </a:ln>
        </p:spPr>
      </p:sp>
      <p:sp>
        <p:nvSpPr>
          <p:cNvPr id="12" name="Text 8"/>
          <p:cNvSpPr txBox="1"/>
          <p:nvPr/>
        </p:nvSpPr>
        <p:spPr>
          <a:xfrm>
            <a:off x="566928" y="2670048"/>
            <a:ext cx="1783080" cy="365760"/>
          </a:xfrm>
          <a:prstGeom prst="rect">
            <a:avLst/>
          </a:prstGeom>
          <a:noFill/>
          <a:ln/>
        </p:spPr>
        <p:txBody>
          <a:bodyPr wrap="square" lIns="0" tIns="0" rIns="0" bIns="0" rtlCol="0" anchor="t"/>
          <a:lstStyle/>
          <a:p>
            <a:pPr indent="0" marL="0">
              <a:buNone/>
            </a:pPr>
            <a:r>
              <a:rPr lang="en-US" sz="1500" b="1" dirty="0">
                <a:solidFill>
                  <a:srgbClr val="E53935"/>
                </a:solidFill>
                <a:latin typeface="Courier New" pitchFamily="34" charset="0"/>
                <a:ea typeface="Courier New" pitchFamily="34" charset="-122"/>
                <a:cs typeface="Courier New" pitchFamily="34" charset="-120"/>
              </a:rPr>
              <a:t>h1</a:t>
            </a:r>
            <a:endParaRPr lang="en-US" sz="1500" dirty="0"/>
          </a:p>
        </p:txBody>
      </p:sp>
      <p:sp>
        <p:nvSpPr>
          <p:cNvPr id="13" name="Text 9"/>
          <p:cNvSpPr txBox="1"/>
          <p:nvPr/>
        </p:nvSpPr>
        <p:spPr>
          <a:xfrm>
            <a:off x="566928" y="3063240"/>
            <a:ext cx="1783080" cy="64008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Selektor: elemen yang diatur</a:t>
            </a:r>
            <a:endParaRPr lang="en-US" sz="1200" dirty="0"/>
          </a:p>
        </p:txBody>
      </p:sp>
      <p:sp>
        <p:nvSpPr>
          <p:cNvPr id="14" name="Shape 10"/>
          <p:cNvSpPr/>
          <p:nvPr/>
        </p:nvSpPr>
        <p:spPr>
          <a:xfrm>
            <a:off x="2542032" y="2606040"/>
            <a:ext cx="1965960" cy="1143000"/>
          </a:xfrm>
          <a:prstGeom prst="roundRect">
            <a:avLst>
              <a:gd name="adj" fmla="val 8000"/>
            </a:avLst>
          </a:prstGeom>
          <a:solidFill>
            <a:srgbClr val="E6F2EC"/>
          </a:solidFill>
          <a:ln w="12700">
            <a:solidFill>
              <a:srgbClr val="E6F2EC"/>
            </a:solidFill>
            <a:prstDash val="solid"/>
          </a:ln>
        </p:spPr>
      </p:sp>
      <p:sp>
        <p:nvSpPr>
          <p:cNvPr id="15" name="Text 11"/>
          <p:cNvSpPr txBox="1"/>
          <p:nvPr/>
        </p:nvSpPr>
        <p:spPr>
          <a:xfrm>
            <a:off x="2651760" y="2670048"/>
            <a:ext cx="1783080" cy="365760"/>
          </a:xfrm>
          <a:prstGeom prst="rect">
            <a:avLst/>
          </a:prstGeom>
          <a:noFill/>
          <a:ln/>
        </p:spPr>
        <p:txBody>
          <a:bodyPr wrap="square" lIns="0" tIns="0" rIns="0" bIns="0" rtlCol="0" anchor="t"/>
          <a:lstStyle/>
          <a:p>
            <a:pPr indent="0" marL="0">
              <a:buNone/>
            </a:pPr>
            <a:r>
              <a:rPr lang="en-US" sz="1500" b="1" dirty="0">
                <a:solidFill>
                  <a:srgbClr val="0078D4"/>
                </a:solidFill>
                <a:latin typeface="Courier New" pitchFamily="34" charset="0"/>
                <a:ea typeface="Courier New" pitchFamily="34" charset="-122"/>
                <a:cs typeface="Courier New" pitchFamily="34" charset="-120"/>
              </a:rPr>
              <a:t>color</a:t>
            </a:r>
            <a:endParaRPr lang="en-US" sz="1500" dirty="0"/>
          </a:p>
        </p:txBody>
      </p:sp>
      <p:sp>
        <p:nvSpPr>
          <p:cNvPr id="16" name="Text 12"/>
          <p:cNvSpPr txBox="1"/>
          <p:nvPr/>
        </p:nvSpPr>
        <p:spPr>
          <a:xfrm>
            <a:off x="2651760" y="3063240"/>
            <a:ext cx="1783080" cy="64008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Properti: apa yang diubah</a:t>
            </a:r>
            <a:endParaRPr lang="en-US" sz="1200" dirty="0"/>
          </a:p>
        </p:txBody>
      </p:sp>
      <p:sp>
        <p:nvSpPr>
          <p:cNvPr id="17" name="Shape 13"/>
          <p:cNvSpPr/>
          <p:nvPr/>
        </p:nvSpPr>
        <p:spPr>
          <a:xfrm>
            <a:off x="4626864" y="2606040"/>
            <a:ext cx="1965960" cy="1143000"/>
          </a:xfrm>
          <a:prstGeom prst="roundRect">
            <a:avLst>
              <a:gd name="adj" fmla="val 8000"/>
            </a:avLst>
          </a:prstGeom>
          <a:solidFill>
            <a:srgbClr val="E6F2EC"/>
          </a:solidFill>
          <a:ln w="12700">
            <a:solidFill>
              <a:srgbClr val="E6F2EC"/>
            </a:solidFill>
            <a:prstDash val="solid"/>
          </a:ln>
        </p:spPr>
      </p:sp>
      <p:sp>
        <p:nvSpPr>
          <p:cNvPr id="18" name="Text 14"/>
          <p:cNvSpPr txBox="1"/>
          <p:nvPr/>
        </p:nvSpPr>
        <p:spPr>
          <a:xfrm>
            <a:off x="4736592" y="2670048"/>
            <a:ext cx="1783080" cy="365760"/>
          </a:xfrm>
          <a:prstGeom prst="rect">
            <a:avLst/>
          </a:prstGeom>
          <a:noFill/>
          <a:ln/>
        </p:spPr>
        <p:txBody>
          <a:bodyPr wrap="square" lIns="0" tIns="0" rIns="0" bIns="0" rtlCol="0" anchor="t"/>
          <a:lstStyle/>
          <a:p>
            <a:pPr indent="0" marL="0">
              <a:buNone/>
            </a:pPr>
            <a:r>
              <a:rPr lang="en-US" sz="1500" b="1" dirty="0">
                <a:solidFill>
                  <a:srgbClr val="1F7A5C"/>
                </a:solidFill>
                <a:latin typeface="Courier New" pitchFamily="34" charset="0"/>
                <a:ea typeface="Courier New" pitchFamily="34" charset="-122"/>
                <a:cs typeface="Courier New" pitchFamily="34" charset="-120"/>
              </a:rPr>
              <a:t>#0F4C3A</a:t>
            </a:r>
            <a:endParaRPr lang="en-US" sz="1500" dirty="0"/>
          </a:p>
        </p:txBody>
      </p:sp>
      <p:sp>
        <p:nvSpPr>
          <p:cNvPr id="19" name="Text 15"/>
          <p:cNvSpPr txBox="1"/>
          <p:nvPr/>
        </p:nvSpPr>
        <p:spPr>
          <a:xfrm>
            <a:off x="4736592" y="3063240"/>
            <a:ext cx="1783080" cy="64008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Nilai: menjadi apa</a:t>
            </a:r>
            <a:endParaRPr lang="en-US" sz="1200" dirty="0"/>
          </a:p>
        </p:txBody>
      </p:sp>
      <p:sp>
        <p:nvSpPr>
          <p:cNvPr id="20" name="Shape 16"/>
          <p:cNvSpPr/>
          <p:nvPr/>
        </p:nvSpPr>
        <p:spPr>
          <a:xfrm>
            <a:off x="6711696" y="2606040"/>
            <a:ext cx="1965960" cy="1143000"/>
          </a:xfrm>
          <a:prstGeom prst="roundRect">
            <a:avLst>
              <a:gd name="adj" fmla="val 8000"/>
            </a:avLst>
          </a:prstGeom>
          <a:solidFill>
            <a:srgbClr val="E6F2EC"/>
          </a:solidFill>
          <a:ln w="12700">
            <a:solidFill>
              <a:srgbClr val="E6F2EC"/>
            </a:solidFill>
            <a:prstDash val="solid"/>
          </a:ln>
        </p:spPr>
      </p:sp>
      <p:sp>
        <p:nvSpPr>
          <p:cNvPr id="21" name="Text 17"/>
          <p:cNvSpPr txBox="1"/>
          <p:nvPr/>
        </p:nvSpPr>
        <p:spPr>
          <a:xfrm>
            <a:off x="6821424" y="2670048"/>
            <a:ext cx="1783080" cy="365760"/>
          </a:xfrm>
          <a:prstGeom prst="rect">
            <a:avLst/>
          </a:prstGeom>
          <a:noFill/>
          <a:ln/>
        </p:spPr>
        <p:txBody>
          <a:bodyPr wrap="square" lIns="0" tIns="0" rIns="0" bIns="0" rtlCol="0" anchor="t"/>
          <a:lstStyle/>
          <a:p>
            <a:pPr indent="0" marL="0">
              <a:buNone/>
            </a:pPr>
            <a:r>
              <a:rPr lang="en-US" sz="1500" b="1" dirty="0">
                <a:solidFill>
                  <a:srgbClr val="D4A017"/>
                </a:solidFill>
                <a:latin typeface="Courier New" pitchFamily="34" charset="0"/>
                <a:ea typeface="Courier New" pitchFamily="34" charset="-122"/>
                <a:cs typeface="Courier New" pitchFamily="34" charset="-120"/>
              </a:rPr>
              <a:t>{ ; }</a:t>
            </a:r>
            <a:endParaRPr lang="en-US" sz="1500" dirty="0"/>
          </a:p>
        </p:txBody>
      </p:sp>
      <p:sp>
        <p:nvSpPr>
          <p:cNvPr id="22" name="Text 18"/>
          <p:cNvSpPr txBox="1"/>
          <p:nvPr/>
        </p:nvSpPr>
        <p:spPr>
          <a:xfrm>
            <a:off x="6821424" y="3063240"/>
            <a:ext cx="1783080" cy="64008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Kurung kurawal dan titik koma</a:t>
            </a:r>
            <a:endParaRPr lang="en-US" sz="1200" dirty="0"/>
          </a:p>
        </p:txBody>
      </p:sp>
      <p:sp>
        <p:nvSpPr>
          <p:cNvPr id="23" name="Shape 19"/>
          <p:cNvSpPr/>
          <p:nvPr/>
        </p:nvSpPr>
        <p:spPr>
          <a:xfrm>
            <a:off x="457200" y="3931920"/>
            <a:ext cx="8229600" cy="640080"/>
          </a:xfrm>
          <a:prstGeom prst="roundRect">
            <a:avLst>
              <a:gd name="adj" fmla="val 14286"/>
            </a:avLst>
          </a:prstGeom>
          <a:solidFill>
            <a:srgbClr val="FBF1D3"/>
          </a:solidFill>
          <a:ln w="12700">
            <a:solidFill>
              <a:srgbClr val="FBF1D3"/>
            </a:solidFill>
            <a:prstDash val="solid"/>
          </a:ln>
        </p:spPr>
      </p:sp>
      <p:sp>
        <p:nvSpPr>
          <p:cNvPr id="24" name="Text 20"/>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Artinya: semua h1 berwarna hijau tua. Setiap aturan WAJIB diakhiri titik koma.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Properti CSS Pertama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color</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Warna huruf. color: #0F4C3A;</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background-color</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Warna latar. background-color: #F3F8F5;</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font-family</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Jenis huruf. font-family: Arial, sans-serif;</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font-size</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Ukuran huruf. font-size: 18px;</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text-align</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Perataan. text-align: center;</a:t>
            </a:r>
            <a:endParaRPr lang="en-US" sz="1250" dirty="0"/>
          </a:p>
        </p:txBody>
      </p:sp>
      <p:sp>
        <p:nvSpPr>
          <p:cNvPr id="34" name="Shape 25"/>
          <p:cNvSpPr/>
          <p:nvPr/>
        </p:nvSpPr>
        <p:spPr>
          <a:xfrm>
            <a:off x="6096000" y="2948940"/>
            <a:ext cx="2590800" cy="1668780"/>
          </a:xfrm>
          <a:prstGeom prst="roundRect">
            <a:avLst>
              <a:gd name="adj" fmla="val 6575"/>
            </a:avLst>
          </a:prstGeom>
          <a:solidFill>
            <a:srgbClr val="E6F2EC"/>
          </a:solidFill>
          <a:ln w="12700">
            <a:solidFill>
              <a:srgbClr val="E6F2EC"/>
            </a:solidFill>
            <a:prstDash val="solid"/>
          </a:ln>
        </p:spPr>
      </p:sp>
      <p:sp>
        <p:nvSpPr>
          <p:cNvPr id="35" name="Shape 26"/>
          <p:cNvSpPr/>
          <p:nvPr/>
        </p:nvSpPr>
        <p:spPr>
          <a:xfrm>
            <a:off x="6278880" y="3131820"/>
            <a:ext cx="548640" cy="548640"/>
          </a:xfrm>
          <a:prstGeom prst="ellipse">
            <a:avLst/>
          </a:prstGeom>
          <a:solidFill>
            <a:srgbClr val="0F4C3A"/>
          </a:solidFill>
          <a:ln/>
        </p:spPr>
      </p:sp>
      <p:pic>
        <p:nvPicPr>
          <p:cNvPr id="36" name="Image 7" descr="preencoded.png">    </p:cNvPr>
          <p:cNvPicPr>
            <a:picLocks noChangeAspect="1"/>
          </p:cNvPicPr>
          <p:nvPr/>
        </p:nvPicPr>
        <p:blipFill>
          <a:blip r:embed="rId8"/>
          <a:stretch>
            <a:fillRect/>
          </a:stretch>
        </p:blipFill>
        <p:spPr>
          <a:xfrm>
            <a:off x="6416040" y="3268980"/>
            <a:ext cx="274320" cy="274320"/>
          </a:xfrm>
          <a:prstGeom prst="rect">
            <a:avLst/>
          </a:prstGeom>
        </p:spPr>
      </p:pic>
      <p:sp>
        <p:nvSpPr>
          <p:cNvPr id="37" name="Text 27"/>
          <p:cNvSpPr txBox="1"/>
          <p:nvPr/>
        </p:nvSpPr>
        <p:spPr>
          <a:xfrm>
            <a:off x="69646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line-height</a:t>
            </a:r>
            <a:endParaRPr lang="en-US" sz="1600" dirty="0"/>
          </a:p>
        </p:txBody>
      </p:sp>
      <p:sp>
        <p:nvSpPr>
          <p:cNvPr id="38" name="Text 28"/>
          <p:cNvSpPr txBox="1"/>
          <p:nvPr/>
        </p:nvSpPr>
        <p:spPr>
          <a:xfrm>
            <a:off x="62788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Jarak antar baris. line-height: 1.6;</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Memberi Gaya pada Halaman Profil</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Lanjutkan index.html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Menambahkan tag style</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Warna, huruf, perataan</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Mencari kesalahan CSS</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Tag Style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&lt;head&gt;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&lt;meta charset="UTF-8"&gt;</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&lt;title&gt;</a:t>
            </a:r>
            <a:pPr indent="0" marL="0">
              <a:buNone/>
            </a:pPr>
            <a:r>
              <a:rPr lang="en-US" sz="900" dirty="0">
                <a:solidFill>
                  <a:srgbClr val="222222"/>
                </a:solidFill>
                <a:latin typeface="Courier New" pitchFamily="34" charset="0"/>
                <a:ea typeface="Courier New" pitchFamily="34" charset="-122"/>
                <a:cs typeface="Courier New" pitchFamily="34" charset="-120"/>
              </a:rPr>
              <a:t>Profil Santri</a:t>
            </a:r>
            <a:pPr indent="0" marL="0">
              <a:buNone/>
            </a:pPr>
            <a:r>
              <a:rPr lang="en-US" sz="900" dirty="0">
                <a:solidFill>
                  <a:srgbClr val="1A5FB4"/>
                </a:solidFill>
                <a:latin typeface="Courier New" pitchFamily="34" charset="0"/>
                <a:ea typeface="Courier New" pitchFamily="34" charset="-122"/>
                <a:cs typeface="Courier New" pitchFamily="34" charset="-120"/>
              </a:rPr>
              <a:t>&lt;/title&gt;</a:t>
            </a:r>
            <a:endParaRPr lang="en-US" sz="900" dirty="0"/>
          </a:p>
        </p:txBody>
      </p:sp>
      <p:sp>
        <p:nvSpPr>
          <p:cNvPr id="31" name="Shape 27"/>
          <p:cNvSpPr/>
          <p:nvPr/>
        </p:nvSpPr>
        <p:spPr>
          <a:xfrm>
            <a:off x="913668" y="2182760"/>
            <a:ext cx="4555175" cy="173736"/>
          </a:xfrm>
          <a:prstGeom prst="rect">
            <a:avLst/>
          </a:prstGeom>
          <a:solidFill>
            <a:srgbClr val="FFF59D"/>
          </a:solidFill>
          <a:ln w="12700">
            <a:solidFill>
              <a:srgbClr val="FFF59D"/>
            </a:solidFill>
            <a:prstDash val="solid"/>
          </a:ln>
        </p:spPr>
      </p:sp>
      <p:sp>
        <p:nvSpPr>
          <p:cNvPr id="32" name="Text 28"/>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3" name="Text 29"/>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&lt;style&gt;</a:t>
            </a:r>
            <a:endParaRPr lang="en-US" sz="900" dirty="0"/>
          </a:p>
        </p:txBody>
      </p:sp>
      <p:sp>
        <p:nvSpPr>
          <p:cNvPr id="34" name="Shape 30"/>
          <p:cNvSpPr/>
          <p:nvPr/>
        </p:nvSpPr>
        <p:spPr>
          <a:xfrm>
            <a:off x="913668" y="2356496"/>
            <a:ext cx="4555175" cy="173736"/>
          </a:xfrm>
          <a:prstGeom prst="rect">
            <a:avLst/>
          </a:prstGeom>
          <a:solidFill>
            <a:srgbClr val="FFF59D"/>
          </a:solidFill>
          <a:ln w="12700">
            <a:solidFill>
              <a:srgbClr val="FFF59D"/>
            </a:solidFill>
            <a:prstDash val="solid"/>
          </a:ln>
        </p:spPr>
      </p:sp>
      <p:sp>
        <p:nvSpPr>
          <p:cNvPr id="35" name="Text 31"/>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6" name="Text 32"/>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1E2A26"/>
                </a:solidFill>
                <a:latin typeface="Courier New" pitchFamily="34" charset="0"/>
                <a:ea typeface="Courier New" pitchFamily="34" charset="-122"/>
                <a:cs typeface="Courier New" pitchFamily="34" charset="-120"/>
              </a:rPr>
              <a:t> </a:t>
            </a:r>
            <a:endParaRPr lang="en-US" sz="900" dirty="0"/>
          </a:p>
        </p:txBody>
      </p:sp>
      <p:sp>
        <p:nvSpPr>
          <p:cNvPr id="37" name="Shape 33"/>
          <p:cNvSpPr/>
          <p:nvPr/>
        </p:nvSpPr>
        <p:spPr>
          <a:xfrm>
            <a:off x="913668" y="2530232"/>
            <a:ext cx="4555175" cy="173736"/>
          </a:xfrm>
          <a:prstGeom prst="rect">
            <a:avLst/>
          </a:prstGeom>
          <a:solidFill>
            <a:srgbClr val="FFF59D"/>
          </a:solidFill>
          <a:ln w="12700">
            <a:solidFill>
              <a:srgbClr val="FFF59D"/>
            </a:solidFill>
            <a:prstDash val="solid"/>
          </a:ln>
        </p:spPr>
      </p:sp>
      <p:sp>
        <p:nvSpPr>
          <p:cNvPr id="38" name="Text 34"/>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9" name="Text 35"/>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&lt;/style&gt;</a:t>
            </a:r>
            <a:endParaRPr lang="en-US" sz="900" dirty="0"/>
          </a:p>
        </p:txBody>
      </p:sp>
      <p:sp>
        <p:nvSpPr>
          <p:cNvPr id="40" name="Text 36"/>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1" name="Text 37"/>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&lt;/head&gt;</a:t>
            </a:r>
            <a:endParaRPr lang="en-US" sz="900" dirty="0"/>
          </a:p>
        </p:txBody>
      </p:sp>
      <p:sp>
        <p:nvSpPr>
          <p:cNvPr id="42" name="Text 38"/>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3" name="Text 39"/>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44" name="Text 40"/>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5" name="Text 41"/>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&lt;h1&gt;</a:t>
            </a:r>
            <a:pPr indent="0" marL="0">
              <a:buNone/>
            </a:pPr>
            <a:r>
              <a:rPr lang="en-US" sz="900" dirty="0">
                <a:solidFill>
                  <a:srgbClr val="222222"/>
                </a:solidFill>
                <a:latin typeface="Courier New" pitchFamily="34" charset="0"/>
                <a:ea typeface="Courier New" pitchFamily="34" charset="-122"/>
                <a:cs typeface="Courier New" pitchFamily="34" charset="-120"/>
              </a:rPr>
              <a:t>Assalamu'alaikum!</a:t>
            </a:r>
            <a:pPr indent="0" marL="0">
              <a:buNone/>
            </a:pPr>
            <a:r>
              <a:rPr lang="en-US" sz="900" dirty="0">
                <a:solidFill>
                  <a:srgbClr val="1A5FB4"/>
                </a:solidFill>
                <a:latin typeface="Courier New" pitchFamily="34" charset="0"/>
                <a:ea typeface="Courier New" pitchFamily="34" charset="-122"/>
                <a:cs typeface="Courier New" pitchFamily="34" charset="-120"/>
              </a:rPr>
              <a:t>&lt;/h1&gt;</a:t>
            </a:r>
            <a:endParaRPr lang="en-US" sz="900" dirty="0"/>
          </a:p>
        </p:txBody>
      </p:sp>
      <p:sp>
        <p:nvSpPr>
          <p:cNvPr id="46" name="Shape 42"/>
          <p:cNvSpPr/>
          <p:nvPr/>
        </p:nvSpPr>
        <p:spPr>
          <a:xfrm>
            <a:off x="913668" y="2164472"/>
            <a:ext cx="4555175" cy="557784"/>
          </a:xfrm>
          <a:prstGeom prst="roundRect">
            <a:avLst>
              <a:gd name="adj" fmla="val 8197"/>
            </a:avLst>
          </a:prstGeom>
          <a:solidFill>
            <a:srgbClr val="FFFFFF">
              <a:alpha val="0"/>
            </a:srgbClr>
          </a:solidFill>
          <a:ln w="31750">
            <a:solidFill>
              <a:srgbClr val="E53935"/>
            </a:solidFill>
            <a:prstDash val="solid"/>
          </a:ln>
        </p:spPr>
      </p:sp>
      <p:sp>
        <p:nvSpPr>
          <p:cNvPr id="47" name="Shape 43"/>
          <p:cNvSpPr/>
          <p:nvPr/>
        </p:nvSpPr>
        <p:spPr>
          <a:xfrm>
            <a:off x="5331684" y="2027312"/>
            <a:ext cx="274320" cy="274320"/>
          </a:xfrm>
          <a:prstGeom prst="ellipse">
            <a:avLst/>
          </a:prstGeom>
          <a:solidFill>
            <a:srgbClr val="E53935"/>
          </a:solidFill>
          <a:ln w="12700">
            <a:solidFill>
              <a:srgbClr val="FFFFFF"/>
            </a:solidFill>
            <a:prstDash val="solid"/>
          </a:ln>
        </p:spPr>
      </p:sp>
      <p:sp>
        <p:nvSpPr>
          <p:cNvPr id="48" name="Text 44"/>
          <p:cNvSpPr txBox="1"/>
          <p:nvPr/>
        </p:nvSpPr>
        <p:spPr>
          <a:xfrm>
            <a:off x="5331684" y="2027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49" name="Image 2" descr="preencoded.png">    </p:cNvPr>
          <p:cNvPicPr>
            <a:picLocks noChangeAspect="1"/>
          </p:cNvPicPr>
          <p:nvPr/>
        </p:nvPicPr>
        <p:blipFill>
          <a:blip r:embed="rId3"/>
          <a:stretch>
            <a:fillRect/>
          </a:stretch>
        </p:blipFill>
        <p:spPr>
          <a:xfrm>
            <a:off x="3417186" y="2469424"/>
            <a:ext cx="237744" cy="237744"/>
          </a:xfrm>
          <a:prstGeom prst="rect">
            <a:avLst/>
          </a:prstGeom>
        </p:spPr>
      </p:pic>
      <p:sp>
        <p:nvSpPr>
          <p:cNvPr id="50" name="Text 4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1" name="Text 4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Tambahkan &lt;style&gt;&lt;/style&gt; di dalam head</a:t>
            </a:r>
            <a:endParaRPr lang="en-US" sz="1800" dirty="0"/>
          </a:p>
        </p:txBody>
      </p:sp>
      <p:sp>
        <p:nvSpPr>
          <p:cNvPr id="52" name="Text 4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dalam &lt;head&gt;, setelah &lt;title&gt;, ketik &lt;style&gt; lalu Enter dua kali, lalu &lt;/style&gt;.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Tag Style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&lt;head&gt;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&lt;meta charset="UTF-8"&gt;</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&lt;title&gt;</a:t>
            </a:r>
            <a:pPr indent="0" marL="0">
              <a:buNone/>
            </a:pPr>
            <a:r>
              <a:rPr lang="en-US" sz="900" dirty="0">
                <a:solidFill>
                  <a:srgbClr val="222222"/>
                </a:solidFill>
                <a:latin typeface="Courier New" pitchFamily="34" charset="0"/>
                <a:ea typeface="Courier New" pitchFamily="34" charset="-122"/>
                <a:cs typeface="Courier New" pitchFamily="34" charset="-120"/>
              </a:rPr>
              <a:t>Profil Santri</a:t>
            </a:r>
            <a:pPr indent="0" marL="0">
              <a:buNone/>
            </a:pPr>
            <a:r>
              <a:rPr lang="en-US" sz="900" dirty="0">
                <a:solidFill>
                  <a:srgbClr val="1A5FB4"/>
                </a:solidFill>
                <a:latin typeface="Courier New" pitchFamily="34" charset="0"/>
                <a:ea typeface="Courier New" pitchFamily="34" charset="-122"/>
                <a:cs typeface="Courier New" pitchFamily="34" charset="-120"/>
              </a:rPr>
              <a:t>&lt;/title&gt;</a:t>
            </a:r>
            <a:endParaRPr lang="en-US" sz="900" dirty="0"/>
          </a:p>
        </p:txBody>
      </p:sp>
      <p:sp>
        <p:nvSpPr>
          <p:cNvPr id="31" name="Text 27"/>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2" name="Text 28"/>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&lt;style&gt;</a:t>
            </a:r>
            <a:endParaRPr lang="en-US" sz="900" dirty="0"/>
          </a:p>
        </p:txBody>
      </p:sp>
      <p:sp>
        <p:nvSpPr>
          <p:cNvPr id="33" name="Shape 29"/>
          <p:cNvSpPr/>
          <p:nvPr/>
        </p:nvSpPr>
        <p:spPr>
          <a:xfrm>
            <a:off x="913668" y="2356496"/>
            <a:ext cx="4555175" cy="173736"/>
          </a:xfrm>
          <a:prstGeom prst="rect">
            <a:avLst/>
          </a:prstGeom>
          <a:solidFill>
            <a:srgbClr val="FFF59D"/>
          </a:solidFill>
          <a:ln w="12700">
            <a:solidFill>
              <a:srgbClr val="FFF59D"/>
            </a:solidFill>
            <a:prstDash val="solid"/>
          </a:ln>
        </p:spPr>
      </p:sp>
      <p:sp>
        <p:nvSpPr>
          <p:cNvPr id="34" name="Text 30"/>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5" name="Text 31"/>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body {</a:t>
            </a:r>
            <a:endParaRPr lang="en-US" sz="900" dirty="0"/>
          </a:p>
        </p:txBody>
      </p:sp>
      <p:sp>
        <p:nvSpPr>
          <p:cNvPr id="36" name="Shape 32"/>
          <p:cNvSpPr/>
          <p:nvPr/>
        </p:nvSpPr>
        <p:spPr>
          <a:xfrm>
            <a:off x="913668" y="2530232"/>
            <a:ext cx="4555175" cy="173736"/>
          </a:xfrm>
          <a:prstGeom prst="rect">
            <a:avLst/>
          </a:prstGeom>
          <a:solidFill>
            <a:srgbClr val="FFF59D"/>
          </a:solidFill>
          <a:ln w="12700">
            <a:solidFill>
              <a:srgbClr val="FFF59D"/>
            </a:solidFill>
            <a:prstDash val="solid"/>
          </a:ln>
        </p:spPr>
      </p:sp>
      <p:sp>
        <p:nvSpPr>
          <p:cNvPr id="37" name="Text 33"/>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8" name="Text 34"/>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background-color: #F3F8F5;</a:t>
            </a:r>
            <a:endParaRPr lang="en-US" sz="900" dirty="0"/>
          </a:p>
        </p:txBody>
      </p:sp>
      <p:sp>
        <p:nvSpPr>
          <p:cNvPr id="39" name="Shape 35"/>
          <p:cNvSpPr/>
          <p:nvPr/>
        </p:nvSpPr>
        <p:spPr>
          <a:xfrm>
            <a:off x="913668" y="2703968"/>
            <a:ext cx="4555175" cy="173736"/>
          </a:xfrm>
          <a:prstGeom prst="rect">
            <a:avLst/>
          </a:prstGeom>
          <a:solidFill>
            <a:srgbClr val="FFF59D"/>
          </a:solidFill>
          <a:ln w="12700">
            <a:solidFill>
              <a:srgbClr val="FFF59D"/>
            </a:solidFill>
            <a:prstDash val="solid"/>
          </a:ln>
        </p:spPr>
      </p:sp>
      <p:sp>
        <p:nvSpPr>
          <p:cNvPr id="40" name="Text 36"/>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1" name="Text 37"/>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font-family: Arial, sans-serif;</a:t>
            </a:r>
            <a:endParaRPr lang="en-US" sz="900" dirty="0"/>
          </a:p>
        </p:txBody>
      </p:sp>
      <p:sp>
        <p:nvSpPr>
          <p:cNvPr id="42" name="Shape 38"/>
          <p:cNvSpPr/>
          <p:nvPr/>
        </p:nvSpPr>
        <p:spPr>
          <a:xfrm>
            <a:off x="913668" y="2877704"/>
            <a:ext cx="4555175" cy="173736"/>
          </a:xfrm>
          <a:prstGeom prst="rect">
            <a:avLst/>
          </a:prstGeom>
          <a:solidFill>
            <a:srgbClr val="FFF59D"/>
          </a:solidFill>
          <a:ln w="12700">
            <a:solidFill>
              <a:srgbClr val="FFF59D"/>
            </a:solidFill>
            <a:prstDash val="solid"/>
          </a:ln>
        </p:spPr>
      </p:sp>
      <p:sp>
        <p:nvSpPr>
          <p:cNvPr id="43" name="Text 39"/>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4" name="Text 40"/>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45" name="Text 41"/>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6" name="Text 42"/>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&lt;/style&gt;</a:t>
            </a:r>
            <a:endParaRPr lang="en-US" sz="900" dirty="0"/>
          </a:p>
        </p:txBody>
      </p:sp>
      <p:sp>
        <p:nvSpPr>
          <p:cNvPr id="47" name="Text 43"/>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48" name="Text 44"/>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&lt;/head&gt;</a:t>
            </a:r>
            <a:endParaRPr lang="en-US" sz="900" dirty="0"/>
          </a:p>
        </p:txBody>
      </p:sp>
      <p:sp>
        <p:nvSpPr>
          <p:cNvPr id="49" name="Shape 45"/>
          <p:cNvSpPr/>
          <p:nvPr/>
        </p:nvSpPr>
        <p:spPr>
          <a:xfrm>
            <a:off x="913668" y="2338208"/>
            <a:ext cx="4555175" cy="731520"/>
          </a:xfrm>
          <a:prstGeom prst="roundRect">
            <a:avLst>
              <a:gd name="adj" fmla="val 6250"/>
            </a:avLst>
          </a:prstGeom>
          <a:solidFill>
            <a:srgbClr val="FFFFFF">
              <a:alpha val="0"/>
            </a:srgbClr>
          </a:solidFill>
          <a:ln w="31750">
            <a:solidFill>
              <a:srgbClr val="E53935"/>
            </a:solidFill>
            <a:prstDash val="solid"/>
          </a:ln>
        </p:spPr>
      </p:sp>
      <p:sp>
        <p:nvSpPr>
          <p:cNvPr id="50" name="Shape 46"/>
          <p:cNvSpPr/>
          <p:nvPr/>
        </p:nvSpPr>
        <p:spPr>
          <a:xfrm>
            <a:off x="5331684" y="2201048"/>
            <a:ext cx="274320" cy="274320"/>
          </a:xfrm>
          <a:prstGeom prst="ellipse">
            <a:avLst/>
          </a:prstGeom>
          <a:solidFill>
            <a:srgbClr val="E53935"/>
          </a:solidFill>
          <a:ln w="12700">
            <a:solidFill>
              <a:srgbClr val="FFFFFF"/>
            </a:solidFill>
            <a:prstDash val="solid"/>
          </a:ln>
        </p:spPr>
      </p:sp>
      <p:sp>
        <p:nvSpPr>
          <p:cNvPr id="51" name="Text 47"/>
          <p:cNvSpPr txBox="1"/>
          <p:nvPr/>
        </p:nvSpPr>
        <p:spPr>
          <a:xfrm>
            <a:off x="5331684" y="22010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52" name="Image 2" descr="preencoded.png">    </p:cNvPr>
          <p:cNvPicPr>
            <a:picLocks noChangeAspect="1"/>
          </p:cNvPicPr>
          <p:nvPr/>
        </p:nvPicPr>
        <p:blipFill>
          <a:blip r:embed="rId3"/>
          <a:stretch>
            <a:fillRect/>
          </a:stretch>
        </p:blipFill>
        <p:spPr>
          <a:xfrm>
            <a:off x="3417186" y="2738715"/>
            <a:ext cx="237744" cy="237744"/>
          </a:xfrm>
          <a:prstGeom prst="rect">
            <a:avLst/>
          </a:prstGeom>
        </p:spPr>
      </p:pic>
      <p:sp>
        <p:nvSpPr>
          <p:cNvPr id="53" name="Text 4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54" name="Text 4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Aturan body: latar dan jenis huruf</a:t>
            </a:r>
            <a:endParaRPr lang="en-US" sz="1800" dirty="0"/>
          </a:p>
        </p:txBody>
      </p:sp>
      <p:sp>
        <p:nvSpPr>
          <p:cNvPr id="55" name="Text 5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aturan body dengan background-color dan font-family. Simpan, refresh.</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Gaya Teks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a:t>
            </a:r>
            <a:endParaRPr lang="en-US" sz="736" dirty="0"/>
          </a:p>
        </p:txBody>
      </p:sp>
      <p:sp>
        <p:nvSpPr>
          <p:cNvPr id="26" name="Text 22"/>
          <p:cNvSpPr txBox="1"/>
          <p:nvPr/>
        </p:nvSpPr>
        <p:spPr>
          <a:xfrm>
            <a:off x="986820" y="1661552"/>
            <a:ext cx="4436303" cy="159209"/>
          </a:xfrm>
          <a:prstGeom prst="rect">
            <a:avLst/>
          </a:prstGeom>
          <a:noFill/>
          <a:ln/>
        </p:spPr>
        <p:txBody>
          <a:bodyPr wrap="square" lIns="0" tIns="0" rIns="0" bIns="0" rtlCol="0" anchor="ctr"/>
          <a:lstStyle/>
          <a:p>
            <a:pPr indent="0" marL="0">
              <a:buNone/>
            </a:pPr>
            <a:r>
              <a:rPr lang="en-US" sz="836" dirty="0">
                <a:solidFill>
                  <a:srgbClr val="1A5FB4"/>
                </a:solidFill>
                <a:latin typeface="Courier New" pitchFamily="34" charset="0"/>
                <a:ea typeface="Courier New" pitchFamily="34" charset="-122"/>
                <a:cs typeface="Courier New" pitchFamily="34" charset="-120"/>
              </a:rPr>
              <a:t>&lt;head&gt;</a:t>
            </a:r>
            <a:endParaRPr lang="en-US" sz="836" dirty="0"/>
          </a:p>
        </p:txBody>
      </p:sp>
      <p:sp>
        <p:nvSpPr>
          <p:cNvPr id="27" name="Text 23"/>
          <p:cNvSpPr txBox="1"/>
          <p:nvPr/>
        </p:nvSpPr>
        <p:spPr>
          <a:xfrm>
            <a:off x="639348" y="1820760"/>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2</a:t>
            </a:r>
            <a:endParaRPr lang="en-US" sz="736" dirty="0"/>
          </a:p>
        </p:txBody>
      </p:sp>
      <p:sp>
        <p:nvSpPr>
          <p:cNvPr id="28" name="Text 24"/>
          <p:cNvSpPr txBox="1"/>
          <p:nvPr/>
        </p:nvSpPr>
        <p:spPr>
          <a:xfrm>
            <a:off x="986820" y="1820760"/>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a:t>
            </a:r>
            <a:pPr indent="0" marL="0">
              <a:buNone/>
            </a:pPr>
            <a:r>
              <a:rPr lang="en-US" sz="836" dirty="0">
                <a:solidFill>
                  <a:srgbClr val="1A5FB4"/>
                </a:solidFill>
                <a:latin typeface="Courier New" pitchFamily="34" charset="0"/>
                <a:ea typeface="Courier New" pitchFamily="34" charset="-122"/>
                <a:cs typeface="Courier New" pitchFamily="34" charset="-120"/>
              </a:rPr>
              <a:t>&lt;meta charset="UTF-8"&gt;</a:t>
            </a:r>
            <a:endParaRPr lang="en-US" sz="836" dirty="0"/>
          </a:p>
        </p:txBody>
      </p:sp>
      <p:sp>
        <p:nvSpPr>
          <p:cNvPr id="29" name="Text 25"/>
          <p:cNvSpPr txBox="1"/>
          <p:nvPr/>
        </p:nvSpPr>
        <p:spPr>
          <a:xfrm>
            <a:off x="639348" y="1979969"/>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3</a:t>
            </a:r>
            <a:endParaRPr lang="en-US" sz="736" dirty="0"/>
          </a:p>
        </p:txBody>
      </p:sp>
      <p:sp>
        <p:nvSpPr>
          <p:cNvPr id="30" name="Text 26"/>
          <p:cNvSpPr txBox="1"/>
          <p:nvPr/>
        </p:nvSpPr>
        <p:spPr>
          <a:xfrm>
            <a:off x="986820" y="1979969"/>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a:t>
            </a:r>
            <a:pPr indent="0" marL="0">
              <a:buNone/>
            </a:pPr>
            <a:r>
              <a:rPr lang="en-US" sz="836" dirty="0">
                <a:solidFill>
                  <a:srgbClr val="1A5FB4"/>
                </a:solidFill>
                <a:latin typeface="Courier New" pitchFamily="34" charset="0"/>
                <a:ea typeface="Courier New" pitchFamily="34" charset="-122"/>
                <a:cs typeface="Courier New" pitchFamily="34" charset="-120"/>
              </a:rPr>
              <a:t>&lt;title&gt;</a:t>
            </a:r>
            <a:pPr indent="0" marL="0">
              <a:buNone/>
            </a:pPr>
            <a:r>
              <a:rPr lang="en-US" sz="836" dirty="0">
                <a:solidFill>
                  <a:srgbClr val="222222"/>
                </a:solidFill>
                <a:latin typeface="Courier New" pitchFamily="34" charset="0"/>
                <a:ea typeface="Courier New" pitchFamily="34" charset="-122"/>
                <a:cs typeface="Courier New" pitchFamily="34" charset="-120"/>
              </a:rPr>
              <a:t>Profil Santri</a:t>
            </a:r>
            <a:pPr indent="0" marL="0">
              <a:buNone/>
            </a:pPr>
            <a:r>
              <a:rPr lang="en-US" sz="836" dirty="0">
                <a:solidFill>
                  <a:srgbClr val="1A5FB4"/>
                </a:solidFill>
                <a:latin typeface="Courier New" pitchFamily="34" charset="0"/>
                <a:ea typeface="Courier New" pitchFamily="34" charset="-122"/>
                <a:cs typeface="Courier New" pitchFamily="34" charset="-120"/>
              </a:rPr>
              <a:t>&lt;/title&gt;</a:t>
            </a:r>
            <a:endParaRPr lang="en-US" sz="836" dirty="0"/>
          </a:p>
        </p:txBody>
      </p:sp>
      <p:sp>
        <p:nvSpPr>
          <p:cNvPr id="31" name="Text 27"/>
          <p:cNvSpPr txBox="1"/>
          <p:nvPr/>
        </p:nvSpPr>
        <p:spPr>
          <a:xfrm>
            <a:off x="639348" y="2139178"/>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4</a:t>
            </a:r>
            <a:endParaRPr lang="en-US" sz="736" dirty="0"/>
          </a:p>
        </p:txBody>
      </p:sp>
      <p:sp>
        <p:nvSpPr>
          <p:cNvPr id="32" name="Text 28"/>
          <p:cNvSpPr txBox="1"/>
          <p:nvPr/>
        </p:nvSpPr>
        <p:spPr>
          <a:xfrm>
            <a:off x="986820" y="2139178"/>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a:t>
            </a:r>
            <a:pPr indent="0" marL="0">
              <a:buNone/>
            </a:pPr>
            <a:r>
              <a:rPr lang="en-US" sz="836" dirty="0">
                <a:solidFill>
                  <a:srgbClr val="1A5FB4"/>
                </a:solidFill>
                <a:latin typeface="Courier New" pitchFamily="34" charset="0"/>
                <a:ea typeface="Courier New" pitchFamily="34" charset="-122"/>
                <a:cs typeface="Courier New" pitchFamily="34" charset="-120"/>
              </a:rPr>
              <a:t>&lt;style&gt;</a:t>
            </a:r>
            <a:endParaRPr lang="en-US" sz="836" dirty="0"/>
          </a:p>
        </p:txBody>
      </p:sp>
      <p:sp>
        <p:nvSpPr>
          <p:cNvPr id="33" name="Text 29"/>
          <p:cNvSpPr txBox="1"/>
          <p:nvPr/>
        </p:nvSpPr>
        <p:spPr>
          <a:xfrm>
            <a:off x="639348" y="2298387"/>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5</a:t>
            </a:r>
            <a:endParaRPr lang="en-US" sz="736" dirty="0"/>
          </a:p>
        </p:txBody>
      </p:sp>
      <p:sp>
        <p:nvSpPr>
          <p:cNvPr id="34" name="Text 30"/>
          <p:cNvSpPr txBox="1"/>
          <p:nvPr/>
        </p:nvSpPr>
        <p:spPr>
          <a:xfrm>
            <a:off x="986820" y="2298387"/>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body {</a:t>
            </a:r>
            <a:endParaRPr lang="en-US" sz="836" dirty="0"/>
          </a:p>
        </p:txBody>
      </p:sp>
      <p:sp>
        <p:nvSpPr>
          <p:cNvPr id="35" name="Text 31"/>
          <p:cNvSpPr txBox="1"/>
          <p:nvPr/>
        </p:nvSpPr>
        <p:spPr>
          <a:xfrm>
            <a:off x="639348" y="2457596"/>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6</a:t>
            </a:r>
            <a:endParaRPr lang="en-US" sz="736" dirty="0"/>
          </a:p>
        </p:txBody>
      </p:sp>
      <p:sp>
        <p:nvSpPr>
          <p:cNvPr id="36" name="Text 32"/>
          <p:cNvSpPr txBox="1"/>
          <p:nvPr/>
        </p:nvSpPr>
        <p:spPr>
          <a:xfrm>
            <a:off x="986820" y="2457596"/>
            <a:ext cx="4436303" cy="159209"/>
          </a:xfrm>
          <a:prstGeom prst="rect">
            <a:avLst/>
          </a:prstGeom>
          <a:noFill/>
          <a:ln/>
        </p:spPr>
        <p:txBody>
          <a:bodyPr wrap="square" lIns="0" tIns="0" rIns="0" bIns="0" rtlCol="0" anchor="ctr"/>
          <a:lstStyle/>
          <a:p>
            <a:pPr indent="0" marL="0">
              <a:buNone/>
            </a:pPr>
            <a:r>
              <a:rPr lang="en-US" sz="836" dirty="0">
                <a:solidFill>
                  <a:srgbClr val="A0522D"/>
                </a:solidFill>
                <a:latin typeface="Courier New" pitchFamily="34" charset="0"/>
                <a:ea typeface="Courier New" pitchFamily="34" charset="-122"/>
                <a:cs typeface="Courier New" pitchFamily="34" charset="-120"/>
              </a:rPr>
              <a:t>      background-color: #F3F8F5;</a:t>
            </a:r>
            <a:endParaRPr lang="en-US" sz="836" dirty="0"/>
          </a:p>
        </p:txBody>
      </p:sp>
      <p:sp>
        <p:nvSpPr>
          <p:cNvPr id="37" name="Text 33"/>
          <p:cNvSpPr txBox="1"/>
          <p:nvPr/>
        </p:nvSpPr>
        <p:spPr>
          <a:xfrm>
            <a:off x="639348" y="2616804"/>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7</a:t>
            </a:r>
            <a:endParaRPr lang="en-US" sz="736" dirty="0"/>
          </a:p>
        </p:txBody>
      </p:sp>
      <p:sp>
        <p:nvSpPr>
          <p:cNvPr id="38" name="Text 34"/>
          <p:cNvSpPr txBox="1"/>
          <p:nvPr/>
        </p:nvSpPr>
        <p:spPr>
          <a:xfrm>
            <a:off x="986820" y="2616804"/>
            <a:ext cx="4436303" cy="159209"/>
          </a:xfrm>
          <a:prstGeom prst="rect">
            <a:avLst/>
          </a:prstGeom>
          <a:noFill/>
          <a:ln/>
        </p:spPr>
        <p:txBody>
          <a:bodyPr wrap="square" lIns="0" tIns="0" rIns="0" bIns="0" rtlCol="0" anchor="ctr"/>
          <a:lstStyle/>
          <a:p>
            <a:pPr indent="0" marL="0">
              <a:buNone/>
            </a:pPr>
            <a:r>
              <a:rPr lang="en-US" sz="836" dirty="0">
                <a:solidFill>
                  <a:srgbClr val="A0522D"/>
                </a:solidFill>
                <a:latin typeface="Courier New" pitchFamily="34" charset="0"/>
                <a:ea typeface="Courier New" pitchFamily="34" charset="-122"/>
                <a:cs typeface="Courier New" pitchFamily="34" charset="-120"/>
              </a:rPr>
              <a:t>      font-family: Arial, sans-serif;</a:t>
            </a:r>
            <a:endParaRPr lang="en-US" sz="836" dirty="0"/>
          </a:p>
        </p:txBody>
      </p:sp>
      <p:sp>
        <p:nvSpPr>
          <p:cNvPr id="39" name="Text 35"/>
          <p:cNvSpPr txBox="1"/>
          <p:nvPr/>
        </p:nvSpPr>
        <p:spPr>
          <a:xfrm>
            <a:off x="639348" y="2776013"/>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8</a:t>
            </a:r>
            <a:endParaRPr lang="en-US" sz="736" dirty="0"/>
          </a:p>
        </p:txBody>
      </p:sp>
      <p:sp>
        <p:nvSpPr>
          <p:cNvPr id="40" name="Text 36"/>
          <p:cNvSpPr txBox="1"/>
          <p:nvPr/>
        </p:nvSpPr>
        <p:spPr>
          <a:xfrm>
            <a:off x="986820" y="2776013"/>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a:t>
            </a:r>
            <a:endParaRPr lang="en-US" sz="836" dirty="0"/>
          </a:p>
        </p:txBody>
      </p:sp>
      <p:sp>
        <p:nvSpPr>
          <p:cNvPr id="41" name="Shape 37"/>
          <p:cNvSpPr/>
          <p:nvPr/>
        </p:nvSpPr>
        <p:spPr>
          <a:xfrm>
            <a:off x="913668" y="2935222"/>
            <a:ext cx="4555175" cy="159209"/>
          </a:xfrm>
          <a:prstGeom prst="rect">
            <a:avLst/>
          </a:prstGeom>
          <a:solidFill>
            <a:srgbClr val="FFF59D"/>
          </a:solidFill>
          <a:ln w="12700">
            <a:solidFill>
              <a:srgbClr val="FFF59D"/>
            </a:solidFill>
            <a:prstDash val="solid"/>
          </a:ln>
        </p:spPr>
      </p:sp>
      <p:sp>
        <p:nvSpPr>
          <p:cNvPr id="42" name="Text 38"/>
          <p:cNvSpPr txBox="1"/>
          <p:nvPr/>
        </p:nvSpPr>
        <p:spPr>
          <a:xfrm>
            <a:off x="639348" y="2935222"/>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9</a:t>
            </a:r>
            <a:endParaRPr lang="en-US" sz="736" dirty="0"/>
          </a:p>
        </p:txBody>
      </p:sp>
      <p:sp>
        <p:nvSpPr>
          <p:cNvPr id="43" name="Text 39"/>
          <p:cNvSpPr txBox="1"/>
          <p:nvPr/>
        </p:nvSpPr>
        <p:spPr>
          <a:xfrm>
            <a:off x="986820" y="2935222"/>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h1 {</a:t>
            </a:r>
            <a:endParaRPr lang="en-US" sz="836" dirty="0"/>
          </a:p>
        </p:txBody>
      </p:sp>
      <p:sp>
        <p:nvSpPr>
          <p:cNvPr id="44" name="Shape 40"/>
          <p:cNvSpPr/>
          <p:nvPr/>
        </p:nvSpPr>
        <p:spPr>
          <a:xfrm>
            <a:off x="913668" y="3094431"/>
            <a:ext cx="4555175" cy="159209"/>
          </a:xfrm>
          <a:prstGeom prst="rect">
            <a:avLst/>
          </a:prstGeom>
          <a:solidFill>
            <a:srgbClr val="FFF59D"/>
          </a:solidFill>
          <a:ln w="12700">
            <a:solidFill>
              <a:srgbClr val="FFF59D"/>
            </a:solidFill>
            <a:prstDash val="solid"/>
          </a:ln>
        </p:spPr>
      </p:sp>
      <p:sp>
        <p:nvSpPr>
          <p:cNvPr id="45" name="Text 41"/>
          <p:cNvSpPr txBox="1"/>
          <p:nvPr/>
        </p:nvSpPr>
        <p:spPr>
          <a:xfrm>
            <a:off x="639348" y="3094431"/>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10</a:t>
            </a:r>
            <a:endParaRPr lang="en-US" sz="736" dirty="0"/>
          </a:p>
        </p:txBody>
      </p:sp>
      <p:sp>
        <p:nvSpPr>
          <p:cNvPr id="46" name="Text 42"/>
          <p:cNvSpPr txBox="1"/>
          <p:nvPr/>
        </p:nvSpPr>
        <p:spPr>
          <a:xfrm>
            <a:off x="986820" y="3094431"/>
            <a:ext cx="4436303" cy="159209"/>
          </a:xfrm>
          <a:prstGeom prst="rect">
            <a:avLst/>
          </a:prstGeom>
          <a:noFill/>
          <a:ln/>
        </p:spPr>
        <p:txBody>
          <a:bodyPr wrap="square" lIns="0" tIns="0" rIns="0" bIns="0" rtlCol="0" anchor="ctr"/>
          <a:lstStyle/>
          <a:p>
            <a:pPr indent="0" marL="0">
              <a:buNone/>
            </a:pPr>
            <a:r>
              <a:rPr lang="en-US" sz="836" dirty="0">
                <a:solidFill>
                  <a:srgbClr val="A0522D"/>
                </a:solidFill>
                <a:latin typeface="Courier New" pitchFamily="34" charset="0"/>
                <a:ea typeface="Courier New" pitchFamily="34" charset="-122"/>
                <a:cs typeface="Courier New" pitchFamily="34" charset="-120"/>
              </a:rPr>
              <a:t>      color: #0F4C3A;</a:t>
            </a:r>
            <a:endParaRPr lang="en-US" sz="836" dirty="0"/>
          </a:p>
        </p:txBody>
      </p:sp>
      <p:sp>
        <p:nvSpPr>
          <p:cNvPr id="47" name="Shape 43"/>
          <p:cNvSpPr/>
          <p:nvPr/>
        </p:nvSpPr>
        <p:spPr>
          <a:xfrm>
            <a:off x="913668" y="3253640"/>
            <a:ext cx="4555175" cy="159209"/>
          </a:xfrm>
          <a:prstGeom prst="rect">
            <a:avLst/>
          </a:prstGeom>
          <a:solidFill>
            <a:srgbClr val="FFF59D"/>
          </a:solidFill>
          <a:ln w="12700">
            <a:solidFill>
              <a:srgbClr val="FFF59D"/>
            </a:solidFill>
            <a:prstDash val="solid"/>
          </a:ln>
        </p:spPr>
      </p:sp>
      <p:sp>
        <p:nvSpPr>
          <p:cNvPr id="48" name="Text 44"/>
          <p:cNvSpPr txBox="1"/>
          <p:nvPr/>
        </p:nvSpPr>
        <p:spPr>
          <a:xfrm>
            <a:off x="639348" y="3253640"/>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11</a:t>
            </a:r>
            <a:endParaRPr lang="en-US" sz="736" dirty="0"/>
          </a:p>
        </p:txBody>
      </p:sp>
      <p:sp>
        <p:nvSpPr>
          <p:cNvPr id="49" name="Text 45"/>
          <p:cNvSpPr txBox="1"/>
          <p:nvPr/>
        </p:nvSpPr>
        <p:spPr>
          <a:xfrm>
            <a:off x="986820" y="3253640"/>
            <a:ext cx="4436303" cy="159209"/>
          </a:xfrm>
          <a:prstGeom prst="rect">
            <a:avLst/>
          </a:prstGeom>
          <a:noFill/>
          <a:ln/>
        </p:spPr>
        <p:txBody>
          <a:bodyPr wrap="square" lIns="0" tIns="0" rIns="0" bIns="0" rtlCol="0" anchor="ctr"/>
          <a:lstStyle/>
          <a:p>
            <a:pPr indent="0" marL="0">
              <a:buNone/>
            </a:pPr>
            <a:r>
              <a:rPr lang="en-US" sz="836" dirty="0">
                <a:solidFill>
                  <a:srgbClr val="A0522D"/>
                </a:solidFill>
                <a:latin typeface="Courier New" pitchFamily="34" charset="0"/>
                <a:ea typeface="Courier New" pitchFamily="34" charset="-122"/>
                <a:cs typeface="Courier New" pitchFamily="34" charset="-120"/>
              </a:rPr>
              <a:t>      text-align: center;</a:t>
            </a:r>
            <a:endParaRPr lang="en-US" sz="836" dirty="0"/>
          </a:p>
        </p:txBody>
      </p:sp>
      <p:sp>
        <p:nvSpPr>
          <p:cNvPr id="50" name="Shape 46"/>
          <p:cNvSpPr/>
          <p:nvPr/>
        </p:nvSpPr>
        <p:spPr>
          <a:xfrm>
            <a:off x="913668" y="3412848"/>
            <a:ext cx="4555175" cy="159209"/>
          </a:xfrm>
          <a:prstGeom prst="rect">
            <a:avLst/>
          </a:prstGeom>
          <a:solidFill>
            <a:srgbClr val="FFF59D"/>
          </a:solidFill>
          <a:ln w="12700">
            <a:solidFill>
              <a:srgbClr val="FFF59D"/>
            </a:solidFill>
            <a:prstDash val="solid"/>
          </a:ln>
        </p:spPr>
      </p:sp>
      <p:sp>
        <p:nvSpPr>
          <p:cNvPr id="51" name="Text 47"/>
          <p:cNvSpPr txBox="1"/>
          <p:nvPr/>
        </p:nvSpPr>
        <p:spPr>
          <a:xfrm>
            <a:off x="639348" y="3412848"/>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12</a:t>
            </a:r>
            <a:endParaRPr lang="en-US" sz="736" dirty="0"/>
          </a:p>
        </p:txBody>
      </p:sp>
      <p:sp>
        <p:nvSpPr>
          <p:cNvPr id="52" name="Text 48"/>
          <p:cNvSpPr txBox="1"/>
          <p:nvPr/>
        </p:nvSpPr>
        <p:spPr>
          <a:xfrm>
            <a:off x="986820" y="3412848"/>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a:t>
            </a:r>
            <a:endParaRPr lang="en-US" sz="836" dirty="0"/>
          </a:p>
        </p:txBody>
      </p:sp>
      <p:sp>
        <p:nvSpPr>
          <p:cNvPr id="53" name="Text 49"/>
          <p:cNvSpPr txBox="1"/>
          <p:nvPr/>
        </p:nvSpPr>
        <p:spPr>
          <a:xfrm>
            <a:off x="639348" y="3572057"/>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13</a:t>
            </a:r>
            <a:endParaRPr lang="en-US" sz="736" dirty="0"/>
          </a:p>
        </p:txBody>
      </p:sp>
      <p:sp>
        <p:nvSpPr>
          <p:cNvPr id="54" name="Text 50"/>
          <p:cNvSpPr txBox="1"/>
          <p:nvPr/>
        </p:nvSpPr>
        <p:spPr>
          <a:xfrm>
            <a:off x="986820" y="3572057"/>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a:t>
            </a:r>
            <a:pPr indent="0" marL="0">
              <a:buNone/>
            </a:pPr>
            <a:r>
              <a:rPr lang="en-US" sz="836" dirty="0">
                <a:solidFill>
                  <a:srgbClr val="1A5FB4"/>
                </a:solidFill>
                <a:latin typeface="Courier New" pitchFamily="34" charset="0"/>
                <a:ea typeface="Courier New" pitchFamily="34" charset="-122"/>
                <a:cs typeface="Courier New" pitchFamily="34" charset="-120"/>
              </a:rPr>
              <a:t>&lt;/style&gt;</a:t>
            </a:r>
            <a:endParaRPr lang="en-US" sz="836" dirty="0"/>
          </a:p>
        </p:txBody>
      </p:sp>
      <p:sp>
        <p:nvSpPr>
          <p:cNvPr id="55" name="Text 51"/>
          <p:cNvSpPr txBox="1"/>
          <p:nvPr/>
        </p:nvSpPr>
        <p:spPr>
          <a:xfrm>
            <a:off x="639348" y="3731266"/>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14</a:t>
            </a:r>
            <a:endParaRPr lang="en-US" sz="736" dirty="0"/>
          </a:p>
        </p:txBody>
      </p:sp>
      <p:sp>
        <p:nvSpPr>
          <p:cNvPr id="56" name="Text 52"/>
          <p:cNvSpPr txBox="1"/>
          <p:nvPr/>
        </p:nvSpPr>
        <p:spPr>
          <a:xfrm>
            <a:off x="986820" y="3731266"/>
            <a:ext cx="4436303" cy="159209"/>
          </a:xfrm>
          <a:prstGeom prst="rect">
            <a:avLst/>
          </a:prstGeom>
          <a:noFill/>
          <a:ln/>
        </p:spPr>
        <p:txBody>
          <a:bodyPr wrap="square" lIns="0" tIns="0" rIns="0" bIns="0" rtlCol="0" anchor="ctr"/>
          <a:lstStyle/>
          <a:p>
            <a:pPr indent="0" marL="0">
              <a:buNone/>
            </a:pPr>
            <a:r>
              <a:rPr lang="en-US" sz="836" dirty="0">
                <a:solidFill>
                  <a:srgbClr val="1A5FB4"/>
                </a:solidFill>
                <a:latin typeface="Courier New" pitchFamily="34" charset="0"/>
                <a:ea typeface="Courier New" pitchFamily="34" charset="-122"/>
                <a:cs typeface="Courier New" pitchFamily="34" charset="-120"/>
              </a:rPr>
              <a:t>&lt;/head&gt;</a:t>
            </a:r>
            <a:endParaRPr lang="en-US" sz="836" dirty="0"/>
          </a:p>
        </p:txBody>
      </p:sp>
      <p:sp>
        <p:nvSpPr>
          <p:cNvPr id="57" name="Shape 53"/>
          <p:cNvSpPr/>
          <p:nvPr/>
        </p:nvSpPr>
        <p:spPr>
          <a:xfrm>
            <a:off x="913668" y="2916934"/>
            <a:ext cx="4555175" cy="673411"/>
          </a:xfrm>
          <a:prstGeom prst="roundRect">
            <a:avLst>
              <a:gd name="adj" fmla="val 6789"/>
            </a:avLst>
          </a:prstGeom>
          <a:solidFill>
            <a:srgbClr val="FFFFFF">
              <a:alpha val="0"/>
            </a:srgbClr>
          </a:solidFill>
          <a:ln w="31750">
            <a:solidFill>
              <a:srgbClr val="E53935"/>
            </a:solidFill>
            <a:prstDash val="solid"/>
          </a:ln>
        </p:spPr>
      </p:sp>
      <p:sp>
        <p:nvSpPr>
          <p:cNvPr id="58" name="Shape 54"/>
          <p:cNvSpPr/>
          <p:nvPr/>
        </p:nvSpPr>
        <p:spPr>
          <a:xfrm>
            <a:off x="5331684" y="2779774"/>
            <a:ext cx="274320" cy="274320"/>
          </a:xfrm>
          <a:prstGeom prst="ellipse">
            <a:avLst/>
          </a:prstGeom>
          <a:solidFill>
            <a:srgbClr val="E53935"/>
          </a:solidFill>
          <a:ln w="12700">
            <a:solidFill>
              <a:srgbClr val="FFFFFF"/>
            </a:solidFill>
            <a:prstDash val="solid"/>
          </a:ln>
        </p:spPr>
      </p:sp>
      <p:sp>
        <p:nvSpPr>
          <p:cNvPr id="59" name="Text 55"/>
          <p:cNvSpPr txBox="1"/>
          <p:nvPr/>
        </p:nvSpPr>
        <p:spPr>
          <a:xfrm>
            <a:off x="5331684" y="277977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60" name="Image 2" descr="preencoded.png">    </p:cNvPr>
          <p:cNvPicPr>
            <a:picLocks noChangeAspect="1"/>
          </p:cNvPicPr>
          <p:nvPr/>
        </p:nvPicPr>
        <p:blipFill>
          <a:blip r:embed="rId3"/>
          <a:stretch>
            <a:fillRect/>
          </a:stretch>
        </p:blipFill>
        <p:spPr>
          <a:xfrm>
            <a:off x="3417186" y="3285481"/>
            <a:ext cx="237744" cy="237744"/>
          </a:xfrm>
          <a:prstGeom prst="rect">
            <a:avLst/>
          </a:prstGeom>
        </p:spPr>
      </p:pic>
      <p:sp>
        <p:nvSpPr>
          <p:cNvPr id="61" name="Text 5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62" name="Text 5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Aturan h1: warna dan rata tengah</a:t>
            </a:r>
            <a:endParaRPr lang="en-US" sz="1800" dirty="0"/>
          </a:p>
        </p:txBody>
      </p:sp>
      <p:sp>
        <p:nvSpPr>
          <p:cNvPr id="63" name="Text 5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Tambahkan aturan h1 dengan color #0F4C3A dan text-align center.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Gaya Teks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Profil Santri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file:///C:/Users/Santri/Documents/Website_Saya/index.html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Text 23"/>
          <p:cNvSpPr txBox="1"/>
          <p:nvPr/>
        </p:nvSpPr>
        <p:spPr>
          <a:xfrm>
            <a:off x="606064" y="1769117"/>
            <a:ext cx="4914351" cy="320040"/>
          </a:xfrm>
          <a:prstGeom prst="rect">
            <a:avLst/>
          </a:prstGeom>
          <a:noFill/>
          <a:ln/>
        </p:spPr>
        <p:txBody>
          <a:bodyPr wrap="square" lIns="0" tIns="0" rIns="0" bIns="0" rtlCol="0" anchor="t"/>
          <a:lstStyle/>
          <a:p>
            <a:pPr algn="ctr" indent="0" marL="0">
              <a:buNone/>
            </a:pPr>
            <a:r>
              <a:rPr lang="en-US" sz="1500" b="1" dirty="0">
                <a:solidFill>
                  <a:srgbClr val="0F4C3A"/>
                </a:solidFill>
                <a:latin typeface="Arial" pitchFamily="34" charset="0"/>
                <a:ea typeface="Arial" pitchFamily="34" charset="-122"/>
                <a:cs typeface="Arial" pitchFamily="34" charset="-120"/>
              </a:rPr>
              <a:t>Assalamu'alaikum!</a:t>
            </a:r>
            <a:endParaRPr lang="en-US" sz="1500" dirty="0"/>
          </a:p>
        </p:txBody>
      </p:sp>
      <p:sp>
        <p:nvSpPr>
          <p:cNvPr id="31" name="Text 24"/>
          <p:cNvSpPr txBox="1"/>
          <p:nvPr/>
        </p:nvSpPr>
        <p:spPr>
          <a:xfrm>
            <a:off x="788944" y="2153165"/>
            <a:ext cx="2948611" cy="182880"/>
          </a:xfrm>
          <a:prstGeom prst="rect">
            <a:avLst/>
          </a:prstGeom>
          <a:noFill/>
          <a:ln/>
        </p:spPr>
        <p:txBody>
          <a:bodyPr wrap="square" lIns="0" tIns="0" rIns="0" bIns="0" rtlCol="0" anchor="t"/>
          <a:lstStyle/>
          <a:p>
            <a:pPr indent="0" marL="0">
              <a:buNone/>
            </a:pPr>
            <a:r>
              <a:rPr lang="en-US" sz="800" dirty="0">
                <a:solidFill>
                  <a:srgbClr val="1E2A26"/>
                </a:solidFill>
                <a:latin typeface="Arial" pitchFamily="34" charset="0"/>
                <a:ea typeface="Arial" pitchFamily="34" charset="-122"/>
                <a:cs typeface="Arial" pitchFamily="34" charset="-120"/>
              </a:rPr>
              <a:t>Nama saya </a:t>
            </a:r>
            <a:pPr indent="0" marL="0">
              <a:buNone/>
            </a:pPr>
            <a:r>
              <a:rPr lang="en-US" sz="800" b="1" dirty="0">
                <a:solidFill>
                  <a:srgbClr val="1E2A26"/>
                </a:solidFill>
                <a:latin typeface="Arial" pitchFamily="34" charset="0"/>
                <a:ea typeface="Arial" pitchFamily="34" charset="-122"/>
                <a:cs typeface="Arial" pitchFamily="34" charset="-120"/>
              </a:rPr>
              <a:t>Ahmad</a:t>
            </a:r>
            <a:pPr indent="0" marL="0">
              <a:buNone/>
            </a:pPr>
            <a:r>
              <a:rPr lang="en-US" sz="800" dirty="0">
                <a:solidFill>
                  <a:srgbClr val="1E2A26"/>
                </a:solidFill>
                <a:latin typeface="Arial" pitchFamily="34" charset="0"/>
                <a:ea typeface="Arial" pitchFamily="34" charset="-122"/>
                <a:cs typeface="Arial" pitchFamily="34" charset="-120"/>
              </a:rPr>
              <a:t>, santri Kelas 8A.</a:t>
            </a:r>
            <a:endParaRPr lang="en-US" sz="800" dirty="0"/>
          </a:p>
        </p:txBody>
      </p:sp>
      <p:sp>
        <p:nvSpPr>
          <p:cNvPr id="32" name="Shape 25"/>
          <p:cNvSpPr/>
          <p:nvPr/>
        </p:nvSpPr>
        <p:spPr>
          <a:xfrm>
            <a:off x="679216" y="1723397"/>
            <a:ext cx="4768047" cy="676656"/>
          </a:xfrm>
          <a:prstGeom prst="roundRect">
            <a:avLst>
              <a:gd name="adj" fmla="val 6757"/>
            </a:avLst>
          </a:prstGeom>
          <a:solidFill>
            <a:srgbClr val="FFFFFF">
              <a:alpha val="0"/>
            </a:srgbClr>
          </a:solidFill>
          <a:ln w="31750">
            <a:solidFill>
              <a:srgbClr val="E53935"/>
            </a:solidFill>
            <a:prstDash val="solid"/>
          </a:ln>
        </p:spPr>
      </p:sp>
      <p:sp>
        <p:nvSpPr>
          <p:cNvPr id="33" name="Shape 26"/>
          <p:cNvSpPr/>
          <p:nvPr/>
        </p:nvSpPr>
        <p:spPr>
          <a:xfrm>
            <a:off x="5310104" y="1586237"/>
            <a:ext cx="274320" cy="274320"/>
          </a:xfrm>
          <a:prstGeom prst="ellipse">
            <a:avLst/>
          </a:prstGeom>
          <a:solidFill>
            <a:srgbClr val="E53935"/>
          </a:solidFill>
          <a:ln w="12700">
            <a:solidFill>
              <a:srgbClr val="FFFFFF"/>
            </a:solidFill>
            <a:prstDash val="solid"/>
          </a:ln>
        </p:spPr>
      </p:sp>
      <p:sp>
        <p:nvSpPr>
          <p:cNvPr id="34" name="Text 27"/>
          <p:cNvSpPr txBox="1"/>
          <p:nvPr/>
        </p:nvSpPr>
        <p:spPr>
          <a:xfrm>
            <a:off x="5310104" y="15862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35" name="Image 5" descr="preencoded.png">    </p:cNvPr>
          <p:cNvPicPr>
            <a:picLocks noChangeAspect="1"/>
          </p:cNvPicPr>
          <p:nvPr/>
        </p:nvPicPr>
        <p:blipFill>
          <a:blip r:embed="rId6"/>
          <a:stretch>
            <a:fillRect/>
          </a:stretch>
        </p:blipFill>
        <p:spPr>
          <a:xfrm>
            <a:off x="3299814" y="2093729"/>
            <a:ext cx="237744" cy="237744"/>
          </a:xfrm>
          <a:prstGeom prst="rect">
            <a:avLst/>
          </a:prstGeom>
        </p:spPr>
      </p:pic>
      <p:sp>
        <p:nvSpPr>
          <p:cNvPr id="36" name="Text 2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37" name="Text 2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Lihat hasilnya di browser</a:t>
            </a:r>
            <a:endParaRPr lang="en-US" sz="1800" dirty="0"/>
          </a:p>
        </p:txBody>
      </p:sp>
      <p:sp>
        <p:nvSpPr>
          <p:cNvPr id="38" name="Text 3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Simpan (Ctrl+S) dan muat ulang (F5). Bandingkan dengan halaman sebelum diberi CSS.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Gaya Teks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a:t>
            </a:r>
            <a:endParaRPr lang="en-US" sz="631" dirty="0"/>
          </a:p>
        </p:txBody>
      </p:sp>
      <p:sp>
        <p:nvSpPr>
          <p:cNvPr id="26" name="Text 22"/>
          <p:cNvSpPr txBox="1"/>
          <p:nvPr/>
        </p:nvSpPr>
        <p:spPr>
          <a:xfrm>
            <a:off x="986820" y="1661552"/>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&lt;head&gt;</a:t>
            </a:r>
            <a:endParaRPr lang="en-US" sz="731" dirty="0"/>
          </a:p>
        </p:txBody>
      </p:sp>
      <p:sp>
        <p:nvSpPr>
          <p:cNvPr id="27" name="Text 23"/>
          <p:cNvSpPr txBox="1"/>
          <p:nvPr/>
        </p:nvSpPr>
        <p:spPr>
          <a:xfrm>
            <a:off x="639348" y="1800859"/>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2</a:t>
            </a:r>
            <a:endParaRPr lang="en-US" sz="631" dirty="0"/>
          </a:p>
        </p:txBody>
      </p:sp>
      <p:sp>
        <p:nvSpPr>
          <p:cNvPr id="28" name="Text 24"/>
          <p:cNvSpPr txBox="1"/>
          <p:nvPr/>
        </p:nvSpPr>
        <p:spPr>
          <a:xfrm>
            <a:off x="986820" y="1800859"/>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&lt;meta charset="UTF-8"&gt;</a:t>
            </a:r>
            <a:endParaRPr lang="en-US" sz="731" dirty="0"/>
          </a:p>
        </p:txBody>
      </p:sp>
      <p:sp>
        <p:nvSpPr>
          <p:cNvPr id="29" name="Text 25"/>
          <p:cNvSpPr txBox="1"/>
          <p:nvPr/>
        </p:nvSpPr>
        <p:spPr>
          <a:xfrm>
            <a:off x="639348" y="1940167"/>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3</a:t>
            </a:r>
            <a:endParaRPr lang="en-US" sz="631" dirty="0"/>
          </a:p>
        </p:txBody>
      </p:sp>
      <p:sp>
        <p:nvSpPr>
          <p:cNvPr id="30" name="Text 26"/>
          <p:cNvSpPr txBox="1"/>
          <p:nvPr/>
        </p:nvSpPr>
        <p:spPr>
          <a:xfrm>
            <a:off x="986820" y="1940167"/>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&lt;title&gt;</a:t>
            </a:r>
            <a:pPr indent="0" marL="0">
              <a:buNone/>
            </a:pPr>
            <a:r>
              <a:rPr lang="en-US" sz="731" dirty="0">
                <a:solidFill>
                  <a:srgbClr val="222222"/>
                </a:solidFill>
                <a:latin typeface="Courier New" pitchFamily="34" charset="0"/>
                <a:ea typeface="Courier New" pitchFamily="34" charset="-122"/>
                <a:cs typeface="Courier New" pitchFamily="34" charset="-120"/>
              </a:rPr>
              <a:t>Profil Santri</a:t>
            </a:r>
            <a:pPr indent="0" marL="0">
              <a:buNone/>
            </a:pPr>
            <a:r>
              <a:rPr lang="en-US" sz="731" dirty="0">
                <a:solidFill>
                  <a:srgbClr val="1A5FB4"/>
                </a:solidFill>
                <a:latin typeface="Courier New" pitchFamily="34" charset="0"/>
                <a:ea typeface="Courier New" pitchFamily="34" charset="-122"/>
                <a:cs typeface="Courier New" pitchFamily="34" charset="-120"/>
              </a:rPr>
              <a:t>&lt;/title&gt;</a:t>
            </a:r>
            <a:endParaRPr lang="en-US" sz="731" dirty="0"/>
          </a:p>
        </p:txBody>
      </p:sp>
      <p:sp>
        <p:nvSpPr>
          <p:cNvPr id="31" name="Text 27"/>
          <p:cNvSpPr txBox="1"/>
          <p:nvPr/>
        </p:nvSpPr>
        <p:spPr>
          <a:xfrm>
            <a:off x="639348" y="2079475"/>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4</a:t>
            </a:r>
            <a:endParaRPr lang="en-US" sz="631" dirty="0"/>
          </a:p>
        </p:txBody>
      </p:sp>
      <p:sp>
        <p:nvSpPr>
          <p:cNvPr id="32" name="Text 28"/>
          <p:cNvSpPr txBox="1"/>
          <p:nvPr/>
        </p:nvSpPr>
        <p:spPr>
          <a:xfrm>
            <a:off x="986820" y="2079475"/>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&lt;style&gt;</a:t>
            </a:r>
            <a:endParaRPr lang="en-US" sz="731" dirty="0"/>
          </a:p>
        </p:txBody>
      </p:sp>
      <p:sp>
        <p:nvSpPr>
          <p:cNvPr id="33" name="Text 29"/>
          <p:cNvSpPr txBox="1"/>
          <p:nvPr/>
        </p:nvSpPr>
        <p:spPr>
          <a:xfrm>
            <a:off x="639348" y="2218782"/>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5</a:t>
            </a:r>
            <a:endParaRPr lang="en-US" sz="631" dirty="0"/>
          </a:p>
        </p:txBody>
      </p:sp>
      <p:sp>
        <p:nvSpPr>
          <p:cNvPr id="34" name="Text 30"/>
          <p:cNvSpPr txBox="1"/>
          <p:nvPr/>
        </p:nvSpPr>
        <p:spPr>
          <a:xfrm>
            <a:off x="986820" y="2218782"/>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body {</a:t>
            </a:r>
            <a:endParaRPr lang="en-US" sz="731" dirty="0"/>
          </a:p>
        </p:txBody>
      </p:sp>
      <p:sp>
        <p:nvSpPr>
          <p:cNvPr id="35" name="Text 31"/>
          <p:cNvSpPr txBox="1"/>
          <p:nvPr/>
        </p:nvSpPr>
        <p:spPr>
          <a:xfrm>
            <a:off x="639348" y="2358090"/>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6</a:t>
            </a:r>
            <a:endParaRPr lang="en-US" sz="631" dirty="0"/>
          </a:p>
        </p:txBody>
      </p:sp>
      <p:sp>
        <p:nvSpPr>
          <p:cNvPr id="36" name="Text 32"/>
          <p:cNvSpPr txBox="1"/>
          <p:nvPr/>
        </p:nvSpPr>
        <p:spPr>
          <a:xfrm>
            <a:off x="986820" y="2358090"/>
            <a:ext cx="4436303" cy="139308"/>
          </a:xfrm>
          <a:prstGeom prst="rect">
            <a:avLst/>
          </a:prstGeom>
          <a:noFill/>
          <a:ln/>
        </p:spPr>
        <p:txBody>
          <a:bodyPr wrap="square" lIns="0" tIns="0" rIns="0" bIns="0" rtlCol="0" anchor="ctr"/>
          <a:lstStyle/>
          <a:p>
            <a:pPr indent="0" marL="0">
              <a:buNone/>
            </a:pPr>
            <a:r>
              <a:rPr lang="en-US" sz="731" dirty="0">
                <a:solidFill>
                  <a:srgbClr val="A0522D"/>
                </a:solidFill>
                <a:latin typeface="Courier New" pitchFamily="34" charset="0"/>
                <a:ea typeface="Courier New" pitchFamily="34" charset="-122"/>
                <a:cs typeface="Courier New" pitchFamily="34" charset="-120"/>
              </a:rPr>
              <a:t>      background-color: #F3F8F5;</a:t>
            </a:r>
            <a:endParaRPr lang="en-US" sz="731" dirty="0"/>
          </a:p>
        </p:txBody>
      </p:sp>
      <p:sp>
        <p:nvSpPr>
          <p:cNvPr id="37" name="Text 33"/>
          <p:cNvSpPr txBox="1"/>
          <p:nvPr/>
        </p:nvSpPr>
        <p:spPr>
          <a:xfrm>
            <a:off x="639348" y="2497398"/>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7</a:t>
            </a:r>
            <a:endParaRPr lang="en-US" sz="631" dirty="0"/>
          </a:p>
        </p:txBody>
      </p:sp>
      <p:sp>
        <p:nvSpPr>
          <p:cNvPr id="38" name="Text 34"/>
          <p:cNvSpPr txBox="1"/>
          <p:nvPr/>
        </p:nvSpPr>
        <p:spPr>
          <a:xfrm>
            <a:off x="986820" y="2497398"/>
            <a:ext cx="4436303" cy="139308"/>
          </a:xfrm>
          <a:prstGeom prst="rect">
            <a:avLst/>
          </a:prstGeom>
          <a:noFill/>
          <a:ln/>
        </p:spPr>
        <p:txBody>
          <a:bodyPr wrap="square" lIns="0" tIns="0" rIns="0" bIns="0" rtlCol="0" anchor="ctr"/>
          <a:lstStyle/>
          <a:p>
            <a:pPr indent="0" marL="0">
              <a:buNone/>
            </a:pPr>
            <a:r>
              <a:rPr lang="en-US" sz="731" dirty="0">
                <a:solidFill>
                  <a:srgbClr val="A0522D"/>
                </a:solidFill>
                <a:latin typeface="Courier New" pitchFamily="34" charset="0"/>
                <a:ea typeface="Courier New" pitchFamily="34" charset="-122"/>
                <a:cs typeface="Courier New" pitchFamily="34" charset="-120"/>
              </a:rPr>
              <a:t>      font-family: Arial, sans-serif;</a:t>
            </a:r>
            <a:endParaRPr lang="en-US" sz="731" dirty="0"/>
          </a:p>
        </p:txBody>
      </p:sp>
      <p:sp>
        <p:nvSpPr>
          <p:cNvPr id="39" name="Text 35"/>
          <p:cNvSpPr txBox="1"/>
          <p:nvPr/>
        </p:nvSpPr>
        <p:spPr>
          <a:xfrm>
            <a:off x="639348" y="2636706"/>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8</a:t>
            </a:r>
            <a:endParaRPr lang="en-US" sz="631" dirty="0"/>
          </a:p>
        </p:txBody>
      </p:sp>
      <p:sp>
        <p:nvSpPr>
          <p:cNvPr id="40" name="Text 36"/>
          <p:cNvSpPr txBox="1"/>
          <p:nvPr/>
        </p:nvSpPr>
        <p:spPr>
          <a:xfrm>
            <a:off x="986820" y="2636706"/>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endParaRPr lang="en-US" sz="731" dirty="0"/>
          </a:p>
        </p:txBody>
      </p:sp>
      <p:sp>
        <p:nvSpPr>
          <p:cNvPr id="41" name="Text 37"/>
          <p:cNvSpPr txBox="1"/>
          <p:nvPr/>
        </p:nvSpPr>
        <p:spPr>
          <a:xfrm>
            <a:off x="639348" y="2776013"/>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9</a:t>
            </a:r>
            <a:endParaRPr lang="en-US" sz="631" dirty="0"/>
          </a:p>
        </p:txBody>
      </p:sp>
      <p:sp>
        <p:nvSpPr>
          <p:cNvPr id="42" name="Text 38"/>
          <p:cNvSpPr txBox="1"/>
          <p:nvPr/>
        </p:nvSpPr>
        <p:spPr>
          <a:xfrm>
            <a:off x="986820" y="2776013"/>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h1 {</a:t>
            </a:r>
            <a:endParaRPr lang="en-US" sz="731" dirty="0"/>
          </a:p>
        </p:txBody>
      </p:sp>
      <p:sp>
        <p:nvSpPr>
          <p:cNvPr id="43" name="Text 39"/>
          <p:cNvSpPr txBox="1"/>
          <p:nvPr/>
        </p:nvSpPr>
        <p:spPr>
          <a:xfrm>
            <a:off x="639348" y="2915321"/>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10</a:t>
            </a:r>
            <a:endParaRPr lang="en-US" sz="631" dirty="0"/>
          </a:p>
        </p:txBody>
      </p:sp>
      <p:sp>
        <p:nvSpPr>
          <p:cNvPr id="44" name="Text 40"/>
          <p:cNvSpPr txBox="1"/>
          <p:nvPr/>
        </p:nvSpPr>
        <p:spPr>
          <a:xfrm>
            <a:off x="986820" y="2915321"/>
            <a:ext cx="4436303" cy="139308"/>
          </a:xfrm>
          <a:prstGeom prst="rect">
            <a:avLst/>
          </a:prstGeom>
          <a:noFill/>
          <a:ln/>
        </p:spPr>
        <p:txBody>
          <a:bodyPr wrap="square" lIns="0" tIns="0" rIns="0" bIns="0" rtlCol="0" anchor="ctr"/>
          <a:lstStyle/>
          <a:p>
            <a:pPr indent="0" marL="0">
              <a:buNone/>
            </a:pPr>
            <a:r>
              <a:rPr lang="en-US" sz="731" dirty="0">
                <a:solidFill>
                  <a:srgbClr val="A0522D"/>
                </a:solidFill>
                <a:latin typeface="Courier New" pitchFamily="34" charset="0"/>
                <a:ea typeface="Courier New" pitchFamily="34" charset="-122"/>
                <a:cs typeface="Courier New" pitchFamily="34" charset="-120"/>
              </a:rPr>
              <a:t>      color: #0F4C3A;</a:t>
            </a:r>
            <a:endParaRPr lang="en-US" sz="731" dirty="0"/>
          </a:p>
        </p:txBody>
      </p:sp>
      <p:sp>
        <p:nvSpPr>
          <p:cNvPr id="45" name="Text 41"/>
          <p:cNvSpPr txBox="1"/>
          <p:nvPr/>
        </p:nvSpPr>
        <p:spPr>
          <a:xfrm>
            <a:off x="639348" y="3054629"/>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11</a:t>
            </a:r>
            <a:endParaRPr lang="en-US" sz="631" dirty="0"/>
          </a:p>
        </p:txBody>
      </p:sp>
      <p:sp>
        <p:nvSpPr>
          <p:cNvPr id="46" name="Text 42"/>
          <p:cNvSpPr txBox="1"/>
          <p:nvPr/>
        </p:nvSpPr>
        <p:spPr>
          <a:xfrm>
            <a:off x="986820" y="3054629"/>
            <a:ext cx="4436303" cy="139308"/>
          </a:xfrm>
          <a:prstGeom prst="rect">
            <a:avLst/>
          </a:prstGeom>
          <a:noFill/>
          <a:ln/>
        </p:spPr>
        <p:txBody>
          <a:bodyPr wrap="square" lIns="0" tIns="0" rIns="0" bIns="0" rtlCol="0" anchor="ctr"/>
          <a:lstStyle/>
          <a:p>
            <a:pPr indent="0" marL="0">
              <a:buNone/>
            </a:pPr>
            <a:r>
              <a:rPr lang="en-US" sz="731" dirty="0">
                <a:solidFill>
                  <a:srgbClr val="A0522D"/>
                </a:solidFill>
                <a:latin typeface="Courier New" pitchFamily="34" charset="0"/>
                <a:ea typeface="Courier New" pitchFamily="34" charset="-122"/>
                <a:cs typeface="Courier New" pitchFamily="34" charset="-120"/>
              </a:rPr>
              <a:t>      text-align: center;</a:t>
            </a:r>
            <a:endParaRPr lang="en-US" sz="731" dirty="0"/>
          </a:p>
        </p:txBody>
      </p:sp>
      <p:sp>
        <p:nvSpPr>
          <p:cNvPr id="47" name="Text 43"/>
          <p:cNvSpPr txBox="1"/>
          <p:nvPr/>
        </p:nvSpPr>
        <p:spPr>
          <a:xfrm>
            <a:off x="639348" y="3193936"/>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12</a:t>
            </a:r>
            <a:endParaRPr lang="en-US" sz="631" dirty="0"/>
          </a:p>
        </p:txBody>
      </p:sp>
      <p:sp>
        <p:nvSpPr>
          <p:cNvPr id="48" name="Text 44"/>
          <p:cNvSpPr txBox="1"/>
          <p:nvPr/>
        </p:nvSpPr>
        <p:spPr>
          <a:xfrm>
            <a:off x="986820" y="3193936"/>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endParaRPr lang="en-US" sz="731" dirty="0"/>
          </a:p>
        </p:txBody>
      </p:sp>
      <p:sp>
        <p:nvSpPr>
          <p:cNvPr id="49" name="Shape 45"/>
          <p:cNvSpPr/>
          <p:nvPr/>
        </p:nvSpPr>
        <p:spPr>
          <a:xfrm>
            <a:off x="913668" y="3333244"/>
            <a:ext cx="4555175" cy="139308"/>
          </a:xfrm>
          <a:prstGeom prst="rect">
            <a:avLst/>
          </a:prstGeom>
          <a:solidFill>
            <a:srgbClr val="FFF59D"/>
          </a:solidFill>
          <a:ln w="12700">
            <a:solidFill>
              <a:srgbClr val="FFF59D"/>
            </a:solidFill>
            <a:prstDash val="solid"/>
          </a:ln>
        </p:spPr>
      </p:sp>
      <p:sp>
        <p:nvSpPr>
          <p:cNvPr id="50" name="Text 46"/>
          <p:cNvSpPr txBox="1"/>
          <p:nvPr/>
        </p:nvSpPr>
        <p:spPr>
          <a:xfrm>
            <a:off x="639348" y="3333244"/>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13</a:t>
            </a:r>
            <a:endParaRPr lang="en-US" sz="631" dirty="0"/>
          </a:p>
        </p:txBody>
      </p:sp>
      <p:sp>
        <p:nvSpPr>
          <p:cNvPr id="51" name="Text 47"/>
          <p:cNvSpPr txBox="1"/>
          <p:nvPr/>
        </p:nvSpPr>
        <p:spPr>
          <a:xfrm>
            <a:off x="986820" y="3333244"/>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h2 { color: #1F7A5C; }</a:t>
            </a:r>
            <a:endParaRPr lang="en-US" sz="731" dirty="0"/>
          </a:p>
        </p:txBody>
      </p:sp>
      <p:sp>
        <p:nvSpPr>
          <p:cNvPr id="52" name="Shape 48"/>
          <p:cNvSpPr/>
          <p:nvPr/>
        </p:nvSpPr>
        <p:spPr>
          <a:xfrm>
            <a:off x="913668" y="3472552"/>
            <a:ext cx="4555175" cy="139308"/>
          </a:xfrm>
          <a:prstGeom prst="rect">
            <a:avLst/>
          </a:prstGeom>
          <a:solidFill>
            <a:srgbClr val="FFF59D"/>
          </a:solidFill>
          <a:ln w="12700">
            <a:solidFill>
              <a:srgbClr val="FFF59D"/>
            </a:solidFill>
            <a:prstDash val="solid"/>
          </a:ln>
        </p:spPr>
      </p:sp>
      <p:sp>
        <p:nvSpPr>
          <p:cNvPr id="53" name="Text 49"/>
          <p:cNvSpPr txBox="1"/>
          <p:nvPr/>
        </p:nvSpPr>
        <p:spPr>
          <a:xfrm>
            <a:off x="639348" y="3472552"/>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14</a:t>
            </a:r>
            <a:endParaRPr lang="en-US" sz="631" dirty="0"/>
          </a:p>
        </p:txBody>
      </p:sp>
      <p:sp>
        <p:nvSpPr>
          <p:cNvPr id="54" name="Text 50"/>
          <p:cNvSpPr txBox="1"/>
          <p:nvPr/>
        </p:nvSpPr>
        <p:spPr>
          <a:xfrm>
            <a:off x="986820" y="3472552"/>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p { font-size: 16px; line-height: 1.6; }</a:t>
            </a:r>
            <a:endParaRPr lang="en-US" sz="731" dirty="0"/>
          </a:p>
        </p:txBody>
      </p:sp>
      <p:sp>
        <p:nvSpPr>
          <p:cNvPr id="55" name="Text 51"/>
          <p:cNvSpPr txBox="1"/>
          <p:nvPr/>
        </p:nvSpPr>
        <p:spPr>
          <a:xfrm>
            <a:off x="639348" y="3611859"/>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15</a:t>
            </a:r>
            <a:endParaRPr lang="en-US" sz="631" dirty="0"/>
          </a:p>
        </p:txBody>
      </p:sp>
      <p:sp>
        <p:nvSpPr>
          <p:cNvPr id="56" name="Text 52"/>
          <p:cNvSpPr txBox="1"/>
          <p:nvPr/>
        </p:nvSpPr>
        <p:spPr>
          <a:xfrm>
            <a:off x="986820" y="3611859"/>
            <a:ext cx="4436303" cy="139308"/>
          </a:xfrm>
          <a:prstGeom prst="rect">
            <a:avLst/>
          </a:prstGeom>
          <a:noFill/>
          <a:ln/>
        </p:spPr>
        <p:txBody>
          <a:bodyPr wrap="square" lIns="0" tIns="0" rIns="0" bIns="0" rtlCol="0" anchor="ctr"/>
          <a:lstStyle/>
          <a:p>
            <a:pPr indent="0" marL="0">
              <a:buNone/>
            </a:pPr>
            <a:r>
              <a:rPr lang="en-US" sz="731" dirty="0">
                <a:solidFill>
                  <a:srgbClr val="222222"/>
                </a:solidFill>
                <a:latin typeface="Courier New" pitchFamily="34" charset="0"/>
                <a:ea typeface="Courier New" pitchFamily="34" charset="-122"/>
                <a:cs typeface="Courier New" pitchFamily="34" charset="-120"/>
              </a:rPr>
              <a:t>  </a:t>
            </a:r>
            <a:pPr indent="0" marL="0">
              <a:buNone/>
            </a:pPr>
            <a:r>
              <a:rPr lang="en-US" sz="731" dirty="0">
                <a:solidFill>
                  <a:srgbClr val="1A5FB4"/>
                </a:solidFill>
                <a:latin typeface="Courier New" pitchFamily="34" charset="0"/>
                <a:ea typeface="Courier New" pitchFamily="34" charset="-122"/>
                <a:cs typeface="Courier New" pitchFamily="34" charset="-120"/>
              </a:rPr>
              <a:t>&lt;/style&gt;</a:t>
            </a:r>
            <a:endParaRPr lang="en-US" sz="731" dirty="0"/>
          </a:p>
        </p:txBody>
      </p:sp>
      <p:sp>
        <p:nvSpPr>
          <p:cNvPr id="57" name="Text 53"/>
          <p:cNvSpPr txBox="1"/>
          <p:nvPr/>
        </p:nvSpPr>
        <p:spPr>
          <a:xfrm>
            <a:off x="639348" y="3751167"/>
            <a:ext cx="228600" cy="139308"/>
          </a:xfrm>
          <a:prstGeom prst="rect">
            <a:avLst/>
          </a:prstGeom>
          <a:noFill/>
          <a:ln/>
        </p:spPr>
        <p:txBody>
          <a:bodyPr wrap="square" lIns="0" tIns="0" rIns="0" bIns="0" rtlCol="0" anchor="ctr"/>
          <a:lstStyle/>
          <a:p>
            <a:pPr algn="r" indent="0" marL="0">
              <a:buNone/>
            </a:pPr>
            <a:r>
              <a:rPr lang="en-US" sz="631" dirty="0">
                <a:solidFill>
                  <a:srgbClr val="999999"/>
                </a:solidFill>
                <a:latin typeface="Courier New" pitchFamily="34" charset="0"/>
                <a:ea typeface="Courier New" pitchFamily="34" charset="-122"/>
                <a:cs typeface="Courier New" pitchFamily="34" charset="-120"/>
              </a:rPr>
              <a:t>16</a:t>
            </a:r>
            <a:endParaRPr lang="en-US" sz="631" dirty="0"/>
          </a:p>
        </p:txBody>
      </p:sp>
      <p:sp>
        <p:nvSpPr>
          <p:cNvPr id="58" name="Text 54"/>
          <p:cNvSpPr txBox="1"/>
          <p:nvPr/>
        </p:nvSpPr>
        <p:spPr>
          <a:xfrm>
            <a:off x="986820" y="3751167"/>
            <a:ext cx="4436303" cy="139308"/>
          </a:xfrm>
          <a:prstGeom prst="rect">
            <a:avLst/>
          </a:prstGeom>
          <a:noFill/>
          <a:ln/>
        </p:spPr>
        <p:txBody>
          <a:bodyPr wrap="square" lIns="0" tIns="0" rIns="0" bIns="0" rtlCol="0" anchor="ctr"/>
          <a:lstStyle/>
          <a:p>
            <a:pPr indent="0" marL="0">
              <a:buNone/>
            </a:pPr>
            <a:r>
              <a:rPr lang="en-US" sz="731" dirty="0">
                <a:solidFill>
                  <a:srgbClr val="1A5FB4"/>
                </a:solidFill>
                <a:latin typeface="Courier New" pitchFamily="34" charset="0"/>
                <a:ea typeface="Courier New" pitchFamily="34" charset="-122"/>
                <a:cs typeface="Courier New" pitchFamily="34" charset="-120"/>
              </a:rPr>
              <a:t>&lt;/head&gt;</a:t>
            </a:r>
            <a:endParaRPr lang="en-US" sz="731" dirty="0"/>
          </a:p>
        </p:txBody>
      </p:sp>
      <p:sp>
        <p:nvSpPr>
          <p:cNvPr id="59" name="Shape 55"/>
          <p:cNvSpPr/>
          <p:nvPr/>
        </p:nvSpPr>
        <p:spPr>
          <a:xfrm>
            <a:off x="913668" y="3314956"/>
            <a:ext cx="4555175" cy="315191"/>
          </a:xfrm>
          <a:prstGeom prst="roundRect">
            <a:avLst>
              <a:gd name="adj" fmla="val 14505"/>
            </a:avLst>
          </a:prstGeom>
          <a:solidFill>
            <a:srgbClr val="FFFFFF">
              <a:alpha val="0"/>
            </a:srgbClr>
          </a:solidFill>
          <a:ln w="31750">
            <a:solidFill>
              <a:srgbClr val="E53935"/>
            </a:solidFill>
            <a:prstDash val="solid"/>
          </a:ln>
        </p:spPr>
      </p:sp>
      <p:sp>
        <p:nvSpPr>
          <p:cNvPr id="60" name="Shape 56"/>
          <p:cNvSpPr/>
          <p:nvPr/>
        </p:nvSpPr>
        <p:spPr>
          <a:xfrm>
            <a:off x="5331684" y="3177796"/>
            <a:ext cx="274320" cy="274320"/>
          </a:xfrm>
          <a:prstGeom prst="ellipse">
            <a:avLst/>
          </a:prstGeom>
          <a:solidFill>
            <a:srgbClr val="E53935"/>
          </a:solidFill>
          <a:ln w="12700">
            <a:solidFill>
              <a:srgbClr val="FFFFFF"/>
            </a:solidFill>
            <a:prstDash val="solid"/>
          </a:ln>
        </p:spPr>
      </p:sp>
      <p:sp>
        <p:nvSpPr>
          <p:cNvPr id="61" name="Text 57"/>
          <p:cNvSpPr txBox="1"/>
          <p:nvPr/>
        </p:nvSpPr>
        <p:spPr>
          <a:xfrm>
            <a:off x="5331684" y="31777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62" name="Image 2" descr="preencoded.png">    </p:cNvPr>
          <p:cNvPicPr>
            <a:picLocks noChangeAspect="1"/>
          </p:cNvPicPr>
          <p:nvPr/>
        </p:nvPicPr>
        <p:blipFill>
          <a:blip r:embed="rId3"/>
          <a:stretch>
            <a:fillRect/>
          </a:stretch>
        </p:blipFill>
        <p:spPr>
          <a:xfrm>
            <a:off x="3417186" y="3486482"/>
            <a:ext cx="237744" cy="237744"/>
          </a:xfrm>
          <a:prstGeom prst="rect">
            <a:avLst/>
          </a:prstGeom>
        </p:spPr>
      </p:pic>
      <p:sp>
        <p:nvSpPr>
          <p:cNvPr id="63" name="Text 5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64" name="Text 5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Aturan h2 dan p: warna dan jarak baris</a:t>
            </a:r>
            <a:endParaRPr lang="en-US" sz="1800" dirty="0"/>
          </a:p>
        </p:txBody>
      </p:sp>
      <p:sp>
        <p:nvSpPr>
          <p:cNvPr id="65" name="Text 6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Tambahkan: h2 { color: #1F7A5C; } dan p { font-size: 16px; line-height: 1.6; }</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Error CSS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a:t>
            </a:r>
            <a:endParaRPr lang="en-US" sz="736" dirty="0"/>
          </a:p>
        </p:txBody>
      </p:sp>
      <p:sp>
        <p:nvSpPr>
          <p:cNvPr id="26" name="Text 22"/>
          <p:cNvSpPr txBox="1"/>
          <p:nvPr/>
        </p:nvSpPr>
        <p:spPr>
          <a:xfrm>
            <a:off x="986820" y="1661552"/>
            <a:ext cx="4436303" cy="159209"/>
          </a:xfrm>
          <a:prstGeom prst="rect">
            <a:avLst/>
          </a:prstGeom>
          <a:noFill/>
          <a:ln/>
        </p:spPr>
        <p:txBody>
          <a:bodyPr wrap="square" lIns="0" tIns="0" rIns="0" bIns="0" rtlCol="0" anchor="ctr"/>
          <a:lstStyle/>
          <a:p>
            <a:pPr indent="0" marL="0">
              <a:buNone/>
            </a:pPr>
            <a:r>
              <a:rPr lang="en-US" sz="836" dirty="0">
                <a:solidFill>
                  <a:srgbClr val="1A5FB4"/>
                </a:solidFill>
                <a:latin typeface="Courier New" pitchFamily="34" charset="0"/>
                <a:ea typeface="Courier New" pitchFamily="34" charset="-122"/>
                <a:cs typeface="Courier New" pitchFamily="34" charset="-120"/>
              </a:rPr>
              <a:t>&lt;head&gt;</a:t>
            </a:r>
            <a:endParaRPr lang="en-US" sz="836" dirty="0"/>
          </a:p>
        </p:txBody>
      </p:sp>
      <p:sp>
        <p:nvSpPr>
          <p:cNvPr id="27" name="Text 23"/>
          <p:cNvSpPr txBox="1"/>
          <p:nvPr/>
        </p:nvSpPr>
        <p:spPr>
          <a:xfrm>
            <a:off x="639348" y="1820760"/>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2</a:t>
            </a:r>
            <a:endParaRPr lang="en-US" sz="736" dirty="0"/>
          </a:p>
        </p:txBody>
      </p:sp>
      <p:sp>
        <p:nvSpPr>
          <p:cNvPr id="28" name="Text 24"/>
          <p:cNvSpPr txBox="1"/>
          <p:nvPr/>
        </p:nvSpPr>
        <p:spPr>
          <a:xfrm>
            <a:off x="986820" y="1820760"/>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a:t>
            </a:r>
            <a:pPr indent="0" marL="0">
              <a:buNone/>
            </a:pPr>
            <a:r>
              <a:rPr lang="en-US" sz="836" dirty="0">
                <a:solidFill>
                  <a:srgbClr val="1A5FB4"/>
                </a:solidFill>
                <a:latin typeface="Courier New" pitchFamily="34" charset="0"/>
                <a:ea typeface="Courier New" pitchFamily="34" charset="-122"/>
                <a:cs typeface="Courier New" pitchFamily="34" charset="-120"/>
              </a:rPr>
              <a:t>&lt;meta charset="UTF-8"&gt;</a:t>
            </a:r>
            <a:endParaRPr lang="en-US" sz="836" dirty="0"/>
          </a:p>
        </p:txBody>
      </p:sp>
      <p:sp>
        <p:nvSpPr>
          <p:cNvPr id="29" name="Text 25"/>
          <p:cNvSpPr txBox="1"/>
          <p:nvPr/>
        </p:nvSpPr>
        <p:spPr>
          <a:xfrm>
            <a:off x="639348" y="1979969"/>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3</a:t>
            </a:r>
            <a:endParaRPr lang="en-US" sz="736" dirty="0"/>
          </a:p>
        </p:txBody>
      </p:sp>
      <p:sp>
        <p:nvSpPr>
          <p:cNvPr id="30" name="Text 26"/>
          <p:cNvSpPr txBox="1"/>
          <p:nvPr/>
        </p:nvSpPr>
        <p:spPr>
          <a:xfrm>
            <a:off x="986820" y="1979969"/>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a:t>
            </a:r>
            <a:pPr indent="0" marL="0">
              <a:buNone/>
            </a:pPr>
            <a:r>
              <a:rPr lang="en-US" sz="836" dirty="0">
                <a:solidFill>
                  <a:srgbClr val="1A5FB4"/>
                </a:solidFill>
                <a:latin typeface="Courier New" pitchFamily="34" charset="0"/>
                <a:ea typeface="Courier New" pitchFamily="34" charset="-122"/>
                <a:cs typeface="Courier New" pitchFamily="34" charset="-120"/>
              </a:rPr>
              <a:t>&lt;title&gt;</a:t>
            </a:r>
            <a:pPr indent="0" marL="0">
              <a:buNone/>
            </a:pPr>
            <a:r>
              <a:rPr lang="en-US" sz="836" dirty="0">
                <a:solidFill>
                  <a:srgbClr val="222222"/>
                </a:solidFill>
                <a:latin typeface="Courier New" pitchFamily="34" charset="0"/>
                <a:ea typeface="Courier New" pitchFamily="34" charset="-122"/>
                <a:cs typeface="Courier New" pitchFamily="34" charset="-120"/>
              </a:rPr>
              <a:t>Profil Santri</a:t>
            </a:r>
            <a:pPr indent="0" marL="0">
              <a:buNone/>
            </a:pPr>
            <a:r>
              <a:rPr lang="en-US" sz="836" dirty="0">
                <a:solidFill>
                  <a:srgbClr val="1A5FB4"/>
                </a:solidFill>
                <a:latin typeface="Courier New" pitchFamily="34" charset="0"/>
                <a:ea typeface="Courier New" pitchFamily="34" charset="-122"/>
                <a:cs typeface="Courier New" pitchFamily="34" charset="-120"/>
              </a:rPr>
              <a:t>&lt;/title&gt;</a:t>
            </a:r>
            <a:endParaRPr lang="en-US" sz="836" dirty="0"/>
          </a:p>
        </p:txBody>
      </p:sp>
      <p:sp>
        <p:nvSpPr>
          <p:cNvPr id="31" name="Text 27"/>
          <p:cNvSpPr txBox="1"/>
          <p:nvPr/>
        </p:nvSpPr>
        <p:spPr>
          <a:xfrm>
            <a:off x="639348" y="2139178"/>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4</a:t>
            </a:r>
            <a:endParaRPr lang="en-US" sz="736" dirty="0"/>
          </a:p>
        </p:txBody>
      </p:sp>
      <p:sp>
        <p:nvSpPr>
          <p:cNvPr id="32" name="Text 28"/>
          <p:cNvSpPr txBox="1"/>
          <p:nvPr/>
        </p:nvSpPr>
        <p:spPr>
          <a:xfrm>
            <a:off x="986820" y="2139178"/>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a:t>
            </a:r>
            <a:pPr indent="0" marL="0">
              <a:buNone/>
            </a:pPr>
            <a:r>
              <a:rPr lang="en-US" sz="836" dirty="0">
                <a:solidFill>
                  <a:srgbClr val="1A5FB4"/>
                </a:solidFill>
                <a:latin typeface="Courier New" pitchFamily="34" charset="0"/>
                <a:ea typeface="Courier New" pitchFamily="34" charset="-122"/>
                <a:cs typeface="Courier New" pitchFamily="34" charset="-120"/>
              </a:rPr>
              <a:t>&lt;style&gt;</a:t>
            </a:r>
            <a:endParaRPr lang="en-US" sz="836" dirty="0"/>
          </a:p>
        </p:txBody>
      </p:sp>
      <p:sp>
        <p:nvSpPr>
          <p:cNvPr id="33" name="Text 29"/>
          <p:cNvSpPr txBox="1"/>
          <p:nvPr/>
        </p:nvSpPr>
        <p:spPr>
          <a:xfrm>
            <a:off x="639348" y="2298387"/>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5</a:t>
            </a:r>
            <a:endParaRPr lang="en-US" sz="736" dirty="0"/>
          </a:p>
        </p:txBody>
      </p:sp>
      <p:sp>
        <p:nvSpPr>
          <p:cNvPr id="34" name="Text 30"/>
          <p:cNvSpPr txBox="1"/>
          <p:nvPr/>
        </p:nvSpPr>
        <p:spPr>
          <a:xfrm>
            <a:off x="986820" y="2298387"/>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body {</a:t>
            </a:r>
            <a:endParaRPr lang="en-US" sz="836" dirty="0"/>
          </a:p>
        </p:txBody>
      </p:sp>
      <p:sp>
        <p:nvSpPr>
          <p:cNvPr id="35" name="Text 31"/>
          <p:cNvSpPr txBox="1"/>
          <p:nvPr/>
        </p:nvSpPr>
        <p:spPr>
          <a:xfrm>
            <a:off x="639348" y="2457596"/>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6</a:t>
            </a:r>
            <a:endParaRPr lang="en-US" sz="736" dirty="0"/>
          </a:p>
        </p:txBody>
      </p:sp>
      <p:sp>
        <p:nvSpPr>
          <p:cNvPr id="36" name="Text 32"/>
          <p:cNvSpPr txBox="1"/>
          <p:nvPr/>
        </p:nvSpPr>
        <p:spPr>
          <a:xfrm>
            <a:off x="986820" y="2457596"/>
            <a:ext cx="4436303" cy="159209"/>
          </a:xfrm>
          <a:prstGeom prst="rect">
            <a:avLst/>
          </a:prstGeom>
          <a:noFill/>
          <a:ln/>
        </p:spPr>
        <p:txBody>
          <a:bodyPr wrap="square" lIns="0" tIns="0" rIns="0" bIns="0" rtlCol="0" anchor="ctr"/>
          <a:lstStyle/>
          <a:p>
            <a:pPr indent="0" marL="0">
              <a:buNone/>
            </a:pPr>
            <a:r>
              <a:rPr lang="en-US" sz="836" dirty="0">
                <a:solidFill>
                  <a:srgbClr val="A0522D"/>
                </a:solidFill>
                <a:latin typeface="Courier New" pitchFamily="34" charset="0"/>
                <a:ea typeface="Courier New" pitchFamily="34" charset="-122"/>
                <a:cs typeface="Courier New" pitchFamily="34" charset="-120"/>
              </a:rPr>
              <a:t>      background-color: #F3F8F5;</a:t>
            </a:r>
            <a:endParaRPr lang="en-US" sz="836" dirty="0"/>
          </a:p>
        </p:txBody>
      </p:sp>
      <p:sp>
        <p:nvSpPr>
          <p:cNvPr id="37" name="Text 33"/>
          <p:cNvSpPr txBox="1"/>
          <p:nvPr/>
        </p:nvSpPr>
        <p:spPr>
          <a:xfrm>
            <a:off x="639348" y="2616804"/>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7</a:t>
            </a:r>
            <a:endParaRPr lang="en-US" sz="736" dirty="0"/>
          </a:p>
        </p:txBody>
      </p:sp>
      <p:sp>
        <p:nvSpPr>
          <p:cNvPr id="38" name="Text 34"/>
          <p:cNvSpPr txBox="1"/>
          <p:nvPr/>
        </p:nvSpPr>
        <p:spPr>
          <a:xfrm>
            <a:off x="986820" y="2616804"/>
            <a:ext cx="4436303" cy="159209"/>
          </a:xfrm>
          <a:prstGeom prst="rect">
            <a:avLst/>
          </a:prstGeom>
          <a:noFill/>
          <a:ln/>
        </p:spPr>
        <p:txBody>
          <a:bodyPr wrap="square" lIns="0" tIns="0" rIns="0" bIns="0" rtlCol="0" anchor="ctr"/>
          <a:lstStyle/>
          <a:p>
            <a:pPr indent="0" marL="0">
              <a:buNone/>
            </a:pPr>
            <a:r>
              <a:rPr lang="en-US" sz="836" dirty="0">
                <a:solidFill>
                  <a:srgbClr val="A0522D"/>
                </a:solidFill>
                <a:latin typeface="Courier New" pitchFamily="34" charset="0"/>
                <a:ea typeface="Courier New" pitchFamily="34" charset="-122"/>
                <a:cs typeface="Courier New" pitchFamily="34" charset="-120"/>
              </a:rPr>
              <a:t>      font-family: Arial, sans-serif;</a:t>
            </a:r>
            <a:endParaRPr lang="en-US" sz="836" dirty="0"/>
          </a:p>
        </p:txBody>
      </p:sp>
      <p:sp>
        <p:nvSpPr>
          <p:cNvPr id="39" name="Text 35"/>
          <p:cNvSpPr txBox="1"/>
          <p:nvPr/>
        </p:nvSpPr>
        <p:spPr>
          <a:xfrm>
            <a:off x="639348" y="2776013"/>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8</a:t>
            </a:r>
            <a:endParaRPr lang="en-US" sz="736" dirty="0"/>
          </a:p>
        </p:txBody>
      </p:sp>
      <p:sp>
        <p:nvSpPr>
          <p:cNvPr id="40" name="Text 36"/>
          <p:cNvSpPr txBox="1"/>
          <p:nvPr/>
        </p:nvSpPr>
        <p:spPr>
          <a:xfrm>
            <a:off x="986820" y="2776013"/>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a:t>
            </a:r>
            <a:endParaRPr lang="en-US" sz="836" dirty="0"/>
          </a:p>
        </p:txBody>
      </p:sp>
      <p:sp>
        <p:nvSpPr>
          <p:cNvPr id="41" name="Text 37"/>
          <p:cNvSpPr txBox="1"/>
          <p:nvPr/>
        </p:nvSpPr>
        <p:spPr>
          <a:xfrm>
            <a:off x="639348" y="2935222"/>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9</a:t>
            </a:r>
            <a:endParaRPr lang="en-US" sz="736" dirty="0"/>
          </a:p>
        </p:txBody>
      </p:sp>
      <p:sp>
        <p:nvSpPr>
          <p:cNvPr id="42" name="Text 38"/>
          <p:cNvSpPr txBox="1"/>
          <p:nvPr/>
        </p:nvSpPr>
        <p:spPr>
          <a:xfrm>
            <a:off x="986820" y="2935222"/>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h1 {</a:t>
            </a:r>
            <a:endParaRPr lang="en-US" sz="836" dirty="0"/>
          </a:p>
        </p:txBody>
      </p:sp>
      <p:sp>
        <p:nvSpPr>
          <p:cNvPr id="43" name="Shape 39"/>
          <p:cNvSpPr/>
          <p:nvPr/>
        </p:nvSpPr>
        <p:spPr>
          <a:xfrm>
            <a:off x="913668" y="3094431"/>
            <a:ext cx="4555175" cy="159209"/>
          </a:xfrm>
          <a:prstGeom prst="rect">
            <a:avLst/>
          </a:prstGeom>
          <a:solidFill>
            <a:srgbClr val="FDECEA"/>
          </a:solidFill>
          <a:ln w="12700">
            <a:solidFill>
              <a:srgbClr val="FDECEA"/>
            </a:solidFill>
            <a:prstDash val="solid"/>
          </a:ln>
        </p:spPr>
      </p:sp>
      <p:sp>
        <p:nvSpPr>
          <p:cNvPr id="44" name="Text 40"/>
          <p:cNvSpPr txBox="1"/>
          <p:nvPr/>
        </p:nvSpPr>
        <p:spPr>
          <a:xfrm>
            <a:off x="639348" y="3094431"/>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10</a:t>
            </a:r>
            <a:endParaRPr lang="en-US" sz="736" dirty="0"/>
          </a:p>
        </p:txBody>
      </p:sp>
      <p:sp>
        <p:nvSpPr>
          <p:cNvPr id="45" name="Text 41"/>
          <p:cNvSpPr txBox="1"/>
          <p:nvPr/>
        </p:nvSpPr>
        <p:spPr>
          <a:xfrm>
            <a:off x="986820" y="3094431"/>
            <a:ext cx="4436303" cy="159209"/>
          </a:xfrm>
          <a:prstGeom prst="rect">
            <a:avLst/>
          </a:prstGeom>
          <a:noFill/>
          <a:ln/>
        </p:spPr>
        <p:txBody>
          <a:bodyPr wrap="square" lIns="0" tIns="0" rIns="0" bIns="0" rtlCol="0" anchor="ctr"/>
          <a:lstStyle/>
          <a:p>
            <a:pPr indent="0" marL="0">
              <a:buNone/>
            </a:pPr>
            <a:r>
              <a:rPr lang="en-US" sz="836" dirty="0">
                <a:solidFill>
                  <a:srgbClr val="A0522D"/>
                </a:solidFill>
                <a:latin typeface="Courier New" pitchFamily="34" charset="0"/>
                <a:ea typeface="Courier New" pitchFamily="34" charset="-122"/>
                <a:cs typeface="Courier New" pitchFamily="34" charset="-120"/>
              </a:rPr>
              <a:t>      color: #0F4C3A</a:t>
            </a:r>
            <a:endParaRPr lang="en-US" sz="836" dirty="0"/>
          </a:p>
        </p:txBody>
      </p:sp>
      <p:sp>
        <p:nvSpPr>
          <p:cNvPr id="46" name="Text 42"/>
          <p:cNvSpPr txBox="1"/>
          <p:nvPr/>
        </p:nvSpPr>
        <p:spPr>
          <a:xfrm>
            <a:off x="639348" y="3253640"/>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11</a:t>
            </a:r>
            <a:endParaRPr lang="en-US" sz="736" dirty="0"/>
          </a:p>
        </p:txBody>
      </p:sp>
      <p:sp>
        <p:nvSpPr>
          <p:cNvPr id="47" name="Text 43"/>
          <p:cNvSpPr txBox="1"/>
          <p:nvPr/>
        </p:nvSpPr>
        <p:spPr>
          <a:xfrm>
            <a:off x="986820" y="3253640"/>
            <a:ext cx="4436303" cy="159209"/>
          </a:xfrm>
          <a:prstGeom prst="rect">
            <a:avLst/>
          </a:prstGeom>
          <a:noFill/>
          <a:ln/>
        </p:spPr>
        <p:txBody>
          <a:bodyPr wrap="square" lIns="0" tIns="0" rIns="0" bIns="0" rtlCol="0" anchor="ctr"/>
          <a:lstStyle/>
          <a:p>
            <a:pPr indent="0" marL="0">
              <a:buNone/>
            </a:pPr>
            <a:r>
              <a:rPr lang="en-US" sz="836" dirty="0">
                <a:solidFill>
                  <a:srgbClr val="A0522D"/>
                </a:solidFill>
                <a:latin typeface="Courier New" pitchFamily="34" charset="0"/>
                <a:ea typeface="Courier New" pitchFamily="34" charset="-122"/>
                <a:cs typeface="Courier New" pitchFamily="34" charset="-120"/>
              </a:rPr>
              <a:t>      text-align: center;</a:t>
            </a:r>
            <a:endParaRPr lang="en-US" sz="836" dirty="0"/>
          </a:p>
        </p:txBody>
      </p:sp>
      <p:sp>
        <p:nvSpPr>
          <p:cNvPr id="48" name="Text 44"/>
          <p:cNvSpPr txBox="1"/>
          <p:nvPr/>
        </p:nvSpPr>
        <p:spPr>
          <a:xfrm>
            <a:off x="639348" y="3412848"/>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12</a:t>
            </a:r>
            <a:endParaRPr lang="en-US" sz="736" dirty="0"/>
          </a:p>
        </p:txBody>
      </p:sp>
      <p:sp>
        <p:nvSpPr>
          <p:cNvPr id="49" name="Text 45"/>
          <p:cNvSpPr txBox="1"/>
          <p:nvPr/>
        </p:nvSpPr>
        <p:spPr>
          <a:xfrm>
            <a:off x="986820" y="3412848"/>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a:t>
            </a:r>
            <a:endParaRPr lang="en-US" sz="836" dirty="0"/>
          </a:p>
        </p:txBody>
      </p:sp>
      <p:sp>
        <p:nvSpPr>
          <p:cNvPr id="50" name="Text 46"/>
          <p:cNvSpPr txBox="1"/>
          <p:nvPr/>
        </p:nvSpPr>
        <p:spPr>
          <a:xfrm>
            <a:off x="639348" y="3572057"/>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13</a:t>
            </a:r>
            <a:endParaRPr lang="en-US" sz="736" dirty="0"/>
          </a:p>
        </p:txBody>
      </p:sp>
      <p:sp>
        <p:nvSpPr>
          <p:cNvPr id="51" name="Text 47"/>
          <p:cNvSpPr txBox="1"/>
          <p:nvPr/>
        </p:nvSpPr>
        <p:spPr>
          <a:xfrm>
            <a:off x="986820" y="3572057"/>
            <a:ext cx="4436303" cy="159209"/>
          </a:xfrm>
          <a:prstGeom prst="rect">
            <a:avLst/>
          </a:prstGeom>
          <a:noFill/>
          <a:ln/>
        </p:spPr>
        <p:txBody>
          <a:bodyPr wrap="square" lIns="0" tIns="0" rIns="0" bIns="0" rtlCol="0" anchor="ctr"/>
          <a:lstStyle/>
          <a:p>
            <a:pPr indent="0" marL="0">
              <a:buNone/>
            </a:pPr>
            <a:r>
              <a:rPr lang="en-US" sz="836" dirty="0">
                <a:solidFill>
                  <a:srgbClr val="222222"/>
                </a:solidFill>
                <a:latin typeface="Courier New" pitchFamily="34" charset="0"/>
                <a:ea typeface="Courier New" pitchFamily="34" charset="-122"/>
                <a:cs typeface="Courier New" pitchFamily="34" charset="-120"/>
              </a:rPr>
              <a:t>  </a:t>
            </a:r>
            <a:pPr indent="0" marL="0">
              <a:buNone/>
            </a:pPr>
            <a:r>
              <a:rPr lang="en-US" sz="836" dirty="0">
                <a:solidFill>
                  <a:srgbClr val="1A5FB4"/>
                </a:solidFill>
                <a:latin typeface="Courier New" pitchFamily="34" charset="0"/>
                <a:ea typeface="Courier New" pitchFamily="34" charset="-122"/>
                <a:cs typeface="Courier New" pitchFamily="34" charset="-120"/>
              </a:rPr>
              <a:t>&lt;/style&gt;</a:t>
            </a:r>
            <a:endParaRPr lang="en-US" sz="836" dirty="0"/>
          </a:p>
        </p:txBody>
      </p:sp>
      <p:sp>
        <p:nvSpPr>
          <p:cNvPr id="52" name="Text 48"/>
          <p:cNvSpPr txBox="1"/>
          <p:nvPr/>
        </p:nvSpPr>
        <p:spPr>
          <a:xfrm>
            <a:off x="639348" y="3731266"/>
            <a:ext cx="228600" cy="159209"/>
          </a:xfrm>
          <a:prstGeom prst="rect">
            <a:avLst/>
          </a:prstGeom>
          <a:noFill/>
          <a:ln/>
        </p:spPr>
        <p:txBody>
          <a:bodyPr wrap="square" lIns="0" tIns="0" rIns="0" bIns="0" rtlCol="0" anchor="ctr"/>
          <a:lstStyle/>
          <a:p>
            <a:pPr algn="r" indent="0" marL="0">
              <a:buNone/>
            </a:pPr>
            <a:r>
              <a:rPr lang="en-US" sz="736" dirty="0">
                <a:solidFill>
                  <a:srgbClr val="999999"/>
                </a:solidFill>
                <a:latin typeface="Courier New" pitchFamily="34" charset="0"/>
                <a:ea typeface="Courier New" pitchFamily="34" charset="-122"/>
                <a:cs typeface="Courier New" pitchFamily="34" charset="-120"/>
              </a:rPr>
              <a:t>14</a:t>
            </a:r>
            <a:endParaRPr lang="en-US" sz="736" dirty="0"/>
          </a:p>
        </p:txBody>
      </p:sp>
      <p:sp>
        <p:nvSpPr>
          <p:cNvPr id="53" name="Text 49"/>
          <p:cNvSpPr txBox="1"/>
          <p:nvPr/>
        </p:nvSpPr>
        <p:spPr>
          <a:xfrm>
            <a:off x="986820" y="3731266"/>
            <a:ext cx="4436303" cy="159209"/>
          </a:xfrm>
          <a:prstGeom prst="rect">
            <a:avLst/>
          </a:prstGeom>
          <a:noFill/>
          <a:ln/>
        </p:spPr>
        <p:txBody>
          <a:bodyPr wrap="square" lIns="0" tIns="0" rIns="0" bIns="0" rtlCol="0" anchor="ctr"/>
          <a:lstStyle/>
          <a:p>
            <a:pPr indent="0" marL="0">
              <a:buNone/>
            </a:pPr>
            <a:r>
              <a:rPr lang="en-US" sz="836" dirty="0">
                <a:solidFill>
                  <a:srgbClr val="1A5FB4"/>
                </a:solidFill>
                <a:latin typeface="Courier New" pitchFamily="34" charset="0"/>
                <a:ea typeface="Courier New" pitchFamily="34" charset="-122"/>
                <a:cs typeface="Courier New" pitchFamily="34" charset="-120"/>
              </a:rPr>
              <a:t>&lt;/head&gt;</a:t>
            </a:r>
            <a:endParaRPr lang="en-US" sz="836" dirty="0"/>
          </a:p>
        </p:txBody>
      </p:sp>
      <p:sp>
        <p:nvSpPr>
          <p:cNvPr id="54" name="Shape 50"/>
          <p:cNvSpPr/>
          <p:nvPr/>
        </p:nvSpPr>
        <p:spPr>
          <a:xfrm>
            <a:off x="913668" y="3076143"/>
            <a:ext cx="4555175" cy="195785"/>
          </a:xfrm>
          <a:prstGeom prst="roundRect">
            <a:avLst>
              <a:gd name="adj" fmla="val 23352"/>
            </a:avLst>
          </a:prstGeom>
          <a:solidFill>
            <a:srgbClr val="FFFFFF">
              <a:alpha val="0"/>
            </a:srgbClr>
          </a:solidFill>
          <a:ln w="31750">
            <a:solidFill>
              <a:srgbClr val="E53935"/>
            </a:solidFill>
            <a:prstDash val="solid"/>
          </a:ln>
        </p:spPr>
      </p:sp>
      <p:sp>
        <p:nvSpPr>
          <p:cNvPr id="55" name="Shape 51"/>
          <p:cNvSpPr/>
          <p:nvPr/>
        </p:nvSpPr>
        <p:spPr>
          <a:xfrm>
            <a:off x="5331684" y="2938983"/>
            <a:ext cx="274320" cy="274320"/>
          </a:xfrm>
          <a:prstGeom prst="ellipse">
            <a:avLst/>
          </a:prstGeom>
          <a:solidFill>
            <a:srgbClr val="E53935"/>
          </a:solidFill>
          <a:ln w="12700">
            <a:solidFill>
              <a:srgbClr val="FFFFFF"/>
            </a:solidFill>
            <a:prstDash val="solid"/>
          </a:ln>
        </p:spPr>
      </p:sp>
      <p:sp>
        <p:nvSpPr>
          <p:cNvPr id="56" name="Text 52"/>
          <p:cNvSpPr txBox="1"/>
          <p:nvPr/>
        </p:nvSpPr>
        <p:spPr>
          <a:xfrm>
            <a:off x="5331684" y="293898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57" name="Image 2" descr="preencoded.png">    </p:cNvPr>
          <p:cNvPicPr>
            <a:picLocks noChangeAspect="1"/>
          </p:cNvPicPr>
          <p:nvPr/>
        </p:nvPicPr>
        <p:blipFill>
          <a:blip r:embed="rId3"/>
          <a:stretch>
            <a:fillRect/>
          </a:stretch>
        </p:blipFill>
        <p:spPr>
          <a:xfrm>
            <a:off x="3417186" y="3181996"/>
            <a:ext cx="237744" cy="237744"/>
          </a:xfrm>
          <a:prstGeom prst="rect">
            <a:avLst/>
          </a:prstGeom>
        </p:spPr>
      </p:pic>
      <p:sp>
        <p:nvSpPr>
          <p:cNvPr id="58" name="Text 5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59" name="Text 5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Latihan: titik koma yang hilang</a:t>
            </a:r>
            <a:endParaRPr lang="en-US" sz="1800" dirty="0"/>
          </a:p>
        </p:txBody>
      </p:sp>
      <p:sp>
        <p:nvSpPr>
          <p:cNvPr id="60" name="Text 5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Hapus satu titik koma di aturan h1. Simpan, lihat akibatnya. Perbaiki. Kesalahan CSS tidak memunculkan pesan, gaya hanya tidak berlaku.</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22</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Tambahkan ke CSS halaman profilmu: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Aturan ul atau ol: ubah warna huruf daftar.</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Aturan a: ubah warna link menjadi emas #D4A017.</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Ubah font-size h1 menjadi 32px.</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di buku: apa fungsi selektor, properti, dan nilai.</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tag style di dalam head</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Latar dan warna judul berubah</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Jenis huruf diganti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Tidak ada titik koma yang hilang</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perbedaan peran HTML dan CSS?</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Warna apa yang kamu pilih dan mengapa?</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Hiasi karya dengan indah dan sederhana. Keindahan yang berlebihan justru mengganggu pesan.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Kotak, jarak, kartu, dan tombol dengan CSS.</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23</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Kotak, Jarak &amp; Kartu</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Box model, class, kartu, dan tombol</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8: CSS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Mengapa tampilan website modern terlihat rapi seperti tersusun dalam kotak-kotak?</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23</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box model: padding, border, margin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Memakai class untuk memberi gaya pada elemen tertentu</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kartu dan tombol dengan sudut membulat</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Box Model: Setiap Elemen adalah Kotak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4389120" cy="3383280"/>
          </a:xfrm>
          <a:prstGeom prst="rect">
            <a:avLst/>
          </a:prstGeom>
          <a:solidFill>
            <a:srgbClr val="FDF3D7"/>
          </a:solidFill>
          <a:ln w="12700">
            <a:solidFill>
              <a:srgbClr val="D4A017"/>
            </a:solidFill>
            <a:prstDash val="dash"/>
          </a:ln>
        </p:spPr>
      </p:sp>
      <p:sp>
        <p:nvSpPr>
          <p:cNvPr id="10" name="Text 6"/>
          <p:cNvSpPr txBox="1"/>
          <p:nvPr/>
        </p:nvSpPr>
        <p:spPr>
          <a:xfrm>
            <a:off x="548640" y="1234440"/>
            <a:ext cx="2743200" cy="274320"/>
          </a:xfrm>
          <a:prstGeom prst="rect">
            <a:avLst/>
          </a:prstGeom>
          <a:noFill/>
          <a:ln/>
        </p:spPr>
        <p:txBody>
          <a:bodyPr wrap="square" lIns="0" tIns="0" rIns="0" bIns="0" rtlCol="0" anchor="t"/>
          <a:lstStyle/>
          <a:p>
            <a:pPr indent="0" marL="0">
              <a:buNone/>
            </a:pPr>
            <a:r>
              <a:rPr lang="en-US" sz="1200" b="1" dirty="0">
                <a:solidFill>
                  <a:srgbClr val="9A7300"/>
                </a:solidFill>
                <a:latin typeface="Calibri" pitchFamily="34" charset="0"/>
                <a:ea typeface="Calibri" pitchFamily="34" charset="-122"/>
                <a:cs typeface="Calibri" pitchFamily="34" charset="-120"/>
              </a:rPr>
              <a:t>margin (jarak luar)</a:t>
            </a:r>
            <a:endParaRPr lang="en-US" sz="1200" dirty="0"/>
          </a:p>
        </p:txBody>
      </p:sp>
      <p:sp>
        <p:nvSpPr>
          <p:cNvPr id="11" name="Shape 7"/>
          <p:cNvSpPr/>
          <p:nvPr/>
        </p:nvSpPr>
        <p:spPr>
          <a:xfrm>
            <a:off x="960120" y="1645920"/>
            <a:ext cx="3383280" cy="2468880"/>
          </a:xfrm>
          <a:prstGeom prst="rect">
            <a:avLst/>
          </a:prstGeom>
          <a:solidFill>
            <a:srgbClr val="FFFFFF"/>
          </a:solidFill>
          <a:ln w="38100">
            <a:solidFill>
              <a:srgbClr val="0F4C3A"/>
            </a:solidFill>
            <a:prstDash val="solid"/>
          </a:ln>
        </p:spPr>
      </p:sp>
      <p:sp>
        <p:nvSpPr>
          <p:cNvPr id="12" name="Text 8"/>
          <p:cNvSpPr txBox="1"/>
          <p:nvPr/>
        </p:nvSpPr>
        <p:spPr>
          <a:xfrm>
            <a:off x="1051560" y="1673352"/>
            <a:ext cx="2743200" cy="274320"/>
          </a:xfrm>
          <a:prstGeom prst="rect">
            <a:avLst/>
          </a:prstGeom>
          <a:noFill/>
          <a:ln/>
        </p:spPr>
        <p:txBody>
          <a:bodyPr wrap="square" lIns="0" tIns="0" rIns="0" bIns="0" rtlCol="0" anchor="t"/>
          <a:lstStyle/>
          <a:p>
            <a:pPr indent="0" marL="0">
              <a:buNone/>
            </a:pPr>
            <a:r>
              <a:rPr lang="en-US" sz="1200" b="1" dirty="0">
                <a:solidFill>
                  <a:srgbClr val="0F4C3A"/>
                </a:solidFill>
                <a:latin typeface="Calibri" pitchFamily="34" charset="0"/>
                <a:ea typeface="Calibri" pitchFamily="34" charset="-122"/>
                <a:cs typeface="Calibri" pitchFamily="34" charset="-120"/>
              </a:rPr>
              <a:t>border (garis tepi)</a:t>
            </a:r>
            <a:endParaRPr lang="en-US" sz="1200" dirty="0"/>
          </a:p>
        </p:txBody>
      </p:sp>
      <p:sp>
        <p:nvSpPr>
          <p:cNvPr id="13" name="Shape 9"/>
          <p:cNvSpPr/>
          <p:nvPr/>
        </p:nvSpPr>
        <p:spPr>
          <a:xfrm>
            <a:off x="1188720" y="1965960"/>
            <a:ext cx="2926080" cy="1920240"/>
          </a:xfrm>
          <a:prstGeom prst="rect">
            <a:avLst/>
          </a:prstGeom>
          <a:solidFill>
            <a:srgbClr val="D6EEDF"/>
          </a:solidFill>
          <a:ln w="12700">
            <a:solidFill>
              <a:srgbClr val="D6EEDF"/>
            </a:solidFill>
            <a:prstDash val="solid"/>
          </a:ln>
        </p:spPr>
      </p:sp>
      <p:sp>
        <p:nvSpPr>
          <p:cNvPr id="14" name="Text 10"/>
          <p:cNvSpPr txBox="1"/>
          <p:nvPr/>
        </p:nvSpPr>
        <p:spPr>
          <a:xfrm>
            <a:off x="1280160" y="1993392"/>
            <a:ext cx="2743200" cy="274320"/>
          </a:xfrm>
          <a:prstGeom prst="rect">
            <a:avLst/>
          </a:prstGeom>
          <a:noFill/>
          <a:ln/>
        </p:spPr>
        <p:txBody>
          <a:bodyPr wrap="square" lIns="0" tIns="0" rIns="0" bIns="0" rtlCol="0" anchor="t"/>
          <a:lstStyle/>
          <a:p>
            <a:pPr indent="0" marL="0">
              <a:buNone/>
            </a:pPr>
            <a:r>
              <a:rPr lang="en-US" sz="1200" b="1" dirty="0">
                <a:solidFill>
                  <a:srgbClr val="1F7A5C"/>
                </a:solidFill>
                <a:latin typeface="Calibri" pitchFamily="34" charset="0"/>
                <a:ea typeface="Calibri" pitchFamily="34" charset="-122"/>
                <a:cs typeface="Calibri" pitchFamily="34" charset="-120"/>
              </a:rPr>
              <a:t>padding (jarak dalam)</a:t>
            </a:r>
            <a:endParaRPr lang="en-US" sz="1200" dirty="0"/>
          </a:p>
        </p:txBody>
      </p:sp>
      <p:sp>
        <p:nvSpPr>
          <p:cNvPr id="15" name="Shape 11"/>
          <p:cNvSpPr/>
          <p:nvPr/>
        </p:nvSpPr>
        <p:spPr>
          <a:xfrm>
            <a:off x="1737360" y="2468880"/>
            <a:ext cx="1828800" cy="914400"/>
          </a:xfrm>
          <a:prstGeom prst="rect">
            <a:avLst/>
          </a:prstGeom>
          <a:solidFill>
            <a:srgbClr val="FFFFFF"/>
          </a:solidFill>
          <a:ln w="12700">
            <a:solidFill>
              <a:srgbClr val="0078D4"/>
            </a:solidFill>
            <a:prstDash val="solid"/>
          </a:ln>
        </p:spPr>
      </p:sp>
      <p:sp>
        <p:nvSpPr>
          <p:cNvPr id="16" name="Text 12"/>
          <p:cNvSpPr txBox="1"/>
          <p:nvPr/>
        </p:nvSpPr>
        <p:spPr>
          <a:xfrm>
            <a:off x="1737360" y="2468880"/>
            <a:ext cx="1828800" cy="914400"/>
          </a:xfrm>
          <a:prstGeom prst="rect">
            <a:avLst/>
          </a:prstGeom>
          <a:noFill/>
          <a:ln/>
        </p:spPr>
        <p:txBody>
          <a:bodyPr wrap="square" lIns="0" tIns="0" rIns="0" bIns="0" rtlCol="0" anchor="ctr"/>
          <a:lstStyle/>
          <a:p>
            <a:pPr algn="ctr" indent="0" marL="0">
              <a:buNone/>
            </a:pPr>
            <a:r>
              <a:rPr lang="en-US" sz="1300" b="1" dirty="0">
                <a:solidFill>
                  <a:srgbClr val="0078D4"/>
                </a:solidFill>
                <a:latin typeface="Calibri" pitchFamily="34" charset="0"/>
                <a:ea typeface="Calibri" pitchFamily="34" charset="-122"/>
                <a:cs typeface="Calibri" pitchFamily="34" charset="-120"/>
              </a:rPr>
              <a:t>ISI</a:t>
            </a:r>
            <a:endParaRPr lang="en-US" sz="1300" dirty="0"/>
          </a:p>
          <a:p>
            <a:pPr algn="ctr" indent="0" marL="0">
              <a:buNone/>
            </a:pPr>
            <a:r>
              <a:rPr lang="en-US" sz="1300" b="1" dirty="0">
                <a:solidFill>
                  <a:srgbClr val="0078D4"/>
                </a:solidFill>
                <a:latin typeface="Calibri" pitchFamily="34" charset="0"/>
                <a:ea typeface="Calibri" pitchFamily="34" charset="-122"/>
                <a:cs typeface="Calibri" pitchFamily="34" charset="-120"/>
              </a:rPr>
              <a:t>(teks)</a:t>
            </a:r>
            <a:endParaRPr lang="en-US" sz="1300" dirty="0"/>
          </a:p>
        </p:txBody>
      </p:sp>
      <p:sp>
        <p:nvSpPr>
          <p:cNvPr id="17" name="Text 13"/>
          <p:cNvSpPr txBox="1"/>
          <p:nvPr/>
        </p:nvSpPr>
        <p:spPr>
          <a:xfrm>
            <a:off x="5212080" y="1188720"/>
            <a:ext cx="3474720" cy="320040"/>
          </a:xfrm>
          <a:prstGeom prst="rect">
            <a:avLst/>
          </a:prstGeom>
          <a:noFill/>
          <a:ln/>
        </p:spPr>
        <p:txBody>
          <a:bodyPr wrap="square" lIns="0" tIns="0" rIns="0" bIns="0" rtlCol="0" anchor="t"/>
          <a:lstStyle/>
          <a:p>
            <a:pPr indent="0" marL="0">
              <a:buNone/>
            </a:pPr>
            <a:r>
              <a:rPr lang="en-US" sz="1300" b="1" dirty="0">
                <a:solidFill>
                  <a:srgbClr val="1F7A5C"/>
                </a:solidFill>
                <a:latin typeface="Courier New" pitchFamily="34" charset="0"/>
                <a:ea typeface="Courier New" pitchFamily="34" charset="-122"/>
                <a:cs typeface="Courier New" pitchFamily="34" charset="-120"/>
              </a:rPr>
              <a:t>padding: 16px;</a:t>
            </a:r>
            <a:endParaRPr lang="en-US" sz="1300" dirty="0"/>
          </a:p>
        </p:txBody>
      </p:sp>
      <p:sp>
        <p:nvSpPr>
          <p:cNvPr id="18" name="Text 14"/>
          <p:cNvSpPr txBox="1"/>
          <p:nvPr/>
        </p:nvSpPr>
        <p:spPr>
          <a:xfrm>
            <a:off x="5212080" y="1508760"/>
            <a:ext cx="3474720" cy="3657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jarak antara isi dan garis tepi</a:t>
            </a:r>
            <a:endParaRPr lang="en-US" sz="1250" dirty="0"/>
          </a:p>
        </p:txBody>
      </p:sp>
      <p:sp>
        <p:nvSpPr>
          <p:cNvPr id="19" name="Text 15"/>
          <p:cNvSpPr txBox="1"/>
          <p:nvPr/>
        </p:nvSpPr>
        <p:spPr>
          <a:xfrm>
            <a:off x="5212080" y="2029968"/>
            <a:ext cx="3474720" cy="320040"/>
          </a:xfrm>
          <a:prstGeom prst="rect">
            <a:avLst/>
          </a:prstGeom>
          <a:noFill/>
          <a:ln/>
        </p:spPr>
        <p:txBody>
          <a:bodyPr wrap="square" lIns="0" tIns="0" rIns="0" bIns="0" rtlCol="0" anchor="t"/>
          <a:lstStyle/>
          <a:p>
            <a:pPr indent="0" marL="0">
              <a:buNone/>
            </a:pPr>
            <a:r>
              <a:rPr lang="en-US" sz="1300" b="1" dirty="0">
                <a:solidFill>
                  <a:srgbClr val="0F4C3A"/>
                </a:solidFill>
                <a:latin typeface="Courier New" pitchFamily="34" charset="0"/>
                <a:ea typeface="Courier New" pitchFamily="34" charset="-122"/>
                <a:cs typeface="Courier New" pitchFamily="34" charset="-120"/>
              </a:rPr>
              <a:t>border: 1px solid #ddd;</a:t>
            </a:r>
            <a:endParaRPr lang="en-US" sz="1300" dirty="0"/>
          </a:p>
        </p:txBody>
      </p:sp>
      <p:sp>
        <p:nvSpPr>
          <p:cNvPr id="20" name="Text 16"/>
          <p:cNvSpPr txBox="1"/>
          <p:nvPr/>
        </p:nvSpPr>
        <p:spPr>
          <a:xfrm>
            <a:off x="5212080" y="2350008"/>
            <a:ext cx="3474720" cy="3657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garis tepi: tebal, jenis, warna</a:t>
            </a:r>
            <a:endParaRPr lang="en-US" sz="1250" dirty="0"/>
          </a:p>
        </p:txBody>
      </p:sp>
      <p:sp>
        <p:nvSpPr>
          <p:cNvPr id="21" name="Text 17"/>
          <p:cNvSpPr txBox="1"/>
          <p:nvPr/>
        </p:nvSpPr>
        <p:spPr>
          <a:xfrm>
            <a:off x="5212080" y="2871216"/>
            <a:ext cx="3474720" cy="320040"/>
          </a:xfrm>
          <a:prstGeom prst="rect">
            <a:avLst/>
          </a:prstGeom>
          <a:noFill/>
          <a:ln/>
        </p:spPr>
        <p:txBody>
          <a:bodyPr wrap="square" lIns="0" tIns="0" rIns="0" bIns="0" rtlCol="0" anchor="t"/>
          <a:lstStyle/>
          <a:p>
            <a:pPr indent="0" marL="0">
              <a:buNone/>
            </a:pPr>
            <a:r>
              <a:rPr lang="en-US" sz="1300" b="1" dirty="0">
                <a:solidFill>
                  <a:srgbClr val="9A7300"/>
                </a:solidFill>
                <a:latin typeface="Courier New" pitchFamily="34" charset="0"/>
                <a:ea typeface="Courier New" pitchFamily="34" charset="-122"/>
                <a:cs typeface="Courier New" pitchFamily="34" charset="-120"/>
              </a:rPr>
              <a:t>margin: 20px;</a:t>
            </a:r>
            <a:endParaRPr lang="en-US" sz="1300" dirty="0"/>
          </a:p>
        </p:txBody>
      </p:sp>
      <p:sp>
        <p:nvSpPr>
          <p:cNvPr id="22" name="Text 18"/>
          <p:cNvSpPr txBox="1"/>
          <p:nvPr/>
        </p:nvSpPr>
        <p:spPr>
          <a:xfrm>
            <a:off x="5212080" y="3191256"/>
            <a:ext cx="3474720" cy="3657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jarak dengan elemen lain</a:t>
            </a:r>
            <a:endParaRPr lang="en-US" sz="1250" dirty="0"/>
          </a:p>
        </p:txBody>
      </p:sp>
      <p:sp>
        <p:nvSpPr>
          <p:cNvPr id="23" name="Text 19"/>
          <p:cNvSpPr txBox="1"/>
          <p:nvPr/>
        </p:nvSpPr>
        <p:spPr>
          <a:xfrm>
            <a:off x="5212080" y="3712464"/>
            <a:ext cx="3474720" cy="320040"/>
          </a:xfrm>
          <a:prstGeom prst="rect">
            <a:avLst/>
          </a:prstGeom>
          <a:noFill/>
          <a:ln/>
        </p:spPr>
        <p:txBody>
          <a:bodyPr wrap="square" lIns="0" tIns="0" rIns="0" bIns="0" rtlCol="0" anchor="t"/>
          <a:lstStyle/>
          <a:p>
            <a:pPr indent="0" marL="0">
              <a:buNone/>
            </a:pPr>
            <a:r>
              <a:rPr lang="en-US" sz="1300" b="1" dirty="0">
                <a:solidFill>
                  <a:srgbClr val="E53935"/>
                </a:solidFill>
                <a:latin typeface="Courier New" pitchFamily="34" charset="0"/>
                <a:ea typeface="Courier New" pitchFamily="34" charset="-122"/>
                <a:cs typeface="Courier New" pitchFamily="34" charset="-120"/>
              </a:rPr>
              <a:t>border-radius: 12px;</a:t>
            </a:r>
            <a:endParaRPr lang="en-US" sz="1300" dirty="0"/>
          </a:p>
        </p:txBody>
      </p:sp>
      <p:sp>
        <p:nvSpPr>
          <p:cNvPr id="24" name="Text 20"/>
          <p:cNvSpPr txBox="1"/>
          <p:nvPr/>
        </p:nvSpPr>
        <p:spPr>
          <a:xfrm>
            <a:off x="5212080" y="4032504"/>
            <a:ext cx="3474720" cy="3657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sudut membulat</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Class: Memberi Gaya pada Elemen Tertentu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3931920" cy="320040"/>
          </a:xfrm>
          <a:prstGeom prst="rect">
            <a:avLst/>
          </a:prstGeom>
          <a:noFill/>
          <a:ln/>
        </p:spPr>
        <p:txBody>
          <a:bodyPr wrap="square" lIns="0" tIns="0" rIns="0" bIns="0" rtlCol="0" anchor="t"/>
          <a:lstStyle/>
          <a:p>
            <a:pPr indent="0" marL="0">
              <a:buNone/>
            </a:pPr>
            <a:r>
              <a:rPr lang="en-US" sz="1500" b="1" dirty="0">
                <a:solidFill>
                  <a:srgbClr val="0078D4"/>
                </a:solidFill>
                <a:latin typeface="Cambria" pitchFamily="34" charset="0"/>
                <a:ea typeface="Cambria" pitchFamily="34" charset="-122"/>
                <a:cs typeface="Cambria" pitchFamily="34" charset="-120"/>
              </a:rPr>
              <a:t>Di HTML: beri nama class</a:t>
            </a:r>
            <a:endParaRPr lang="en-US" sz="1500" dirty="0"/>
          </a:p>
        </p:txBody>
      </p:sp>
      <p:sp>
        <p:nvSpPr>
          <p:cNvPr id="10" name="Shape 6"/>
          <p:cNvSpPr/>
          <p:nvPr/>
        </p:nvSpPr>
        <p:spPr>
          <a:xfrm>
            <a:off x="457200" y="1463040"/>
            <a:ext cx="3931920" cy="2103120"/>
          </a:xfrm>
          <a:prstGeom prst="roundRect">
            <a:avLst>
              <a:gd name="adj" fmla="val 2609"/>
            </a:avLst>
          </a:prstGeom>
          <a:solidFill>
            <a:srgbClr val="FFFFFF"/>
          </a:solidFill>
          <a:ln w="12700">
            <a:solidFill>
              <a:srgbClr val="BBBBBB"/>
            </a:solidFill>
            <a:prstDash val="solid"/>
          </a:ln>
        </p:spPr>
      </p:sp>
      <p:sp>
        <p:nvSpPr>
          <p:cNvPr id="11" name="Text 7"/>
          <p:cNvSpPr txBox="1"/>
          <p:nvPr/>
        </p:nvSpPr>
        <p:spPr>
          <a:xfrm>
            <a:off x="594360" y="1572768"/>
            <a:ext cx="3703320" cy="292608"/>
          </a:xfrm>
          <a:prstGeom prst="rect">
            <a:avLst/>
          </a:prstGeom>
          <a:noFill/>
          <a:ln/>
        </p:spPr>
        <p:txBody>
          <a:bodyPr wrap="square" lIns="0" tIns="0" rIns="0" bIns="0"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&lt;div class="card"&gt;</a:t>
            </a:r>
            <a:endParaRPr lang="en-US" sz="1200" dirty="0"/>
          </a:p>
        </p:txBody>
      </p:sp>
      <p:sp>
        <p:nvSpPr>
          <p:cNvPr id="12" name="Text 8"/>
          <p:cNvSpPr txBox="1"/>
          <p:nvPr/>
        </p:nvSpPr>
        <p:spPr>
          <a:xfrm>
            <a:off x="594360" y="1874520"/>
            <a:ext cx="3703320" cy="292608"/>
          </a:xfrm>
          <a:prstGeom prst="rect">
            <a:avLst/>
          </a:prstGeom>
          <a:noFill/>
          <a:ln/>
        </p:spPr>
        <p:txBody>
          <a:bodyPr wrap="square" lIns="0" tIns="0" rIns="0" bIns="0"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  &lt;h2&gt;Hobi Saya&lt;/h2&gt;</a:t>
            </a:r>
            <a:endParaRPr lang="en-US" sz="1200" dirty="0"/>
          </a:p>
        </p:txBody>
      </p:sp>
      <p:sp>
        <p:nvSpPr>
          <p:cNvPr id="13" name="Text 9"/>
          <p:cNvSpPr txBox="1"/>
          <p:nvPr/>
        </p:nvSpPr>
        <p:spPr>
          <a:xfrm>
            <a:off x="594360" y="2176272"/>
            <a:ext cx="3703320" cy="292608"/>
          </a:xfrm>
          <a:prstGeom prst="rect">
            <a:avLst/>
          </a:prstGeom>
          <a:noFill/>
          <a:ln/>
        </p:spPr>
        <p:txBody>
          <a:bodyPr wrap="square" lIns="0" tIns="0" rIns="0" bIns="0"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  &lt;ul&gt;...&lt;/ul&gt;</a:t>
            </a:r>
            <a:endParaRPr lang="en-US" sz="1200" dirty="0"/>
          </a:p>
        </p:txBody>
      </p:sp>
      <p:sp>
        <p:nvSpPr>
          <p:cNvPr id="14" name="Text 10"/>
          <p:cNvSpPr txBox="1"/>
          <p:nvPr/>
        </p:nvSpPr>
        <p:spPr>
          <a:xfrm>
            <a:off x="594360" y="2478024"/>
            <a:ext cx="3703320" cy="292608"/>
          </a:xfrm>
          <a:prstGeom prst="rect">
            <a:avLst/>
          </a:prstGeom>
          <a:noFill/>
          <a:ln/>
        </p:spPr>
        <p:txBody>
          <a:bodyPr wrap="square" lIns="0" tIns="0" rIns="0" bIns="0"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&lt;/div&gt;</a:t>
            </a:r>
            <a:endParaRPr lang="en-US" sz="1200" dirty="0"/>
          </a:p>
        </p:txBody>
      </p:sp>
      <p:sp>
        <p:nvSpPr>
          <p:cNvPr id="15" name="Text 11"/>
          <p:cNvSpPr txBox="1"/>
          <p:nvPr/>
        </p:nvSpPr>
        <p:spPr>
          <a:xfrm>
            <a:off x="594360" y="2779776"/>
            <a:ext cx="3703320" cy="292608"/>
          </a:xfrm>
          <a:prstGeom prst="rect">
            <a:avLst/>
          </a:prstGeom>
          <a:noFill/>
          <a:ln/>
        </p:spPr>
        <p:txBody>
          <a:bodyPr wrap="square" lIns="0" tIns="0" rIns="0" bIns="0"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&lt;a class="tombol" href=...&gt;</a:t>
            </a:r>
            <a:endParaRPr lang="en-US" sz="1200" dirty="0"/>
          </a:p>
        </p:txBody>
      </p:sp>
      <p:sp>
        <p:nvSpPr>
          <p:cNvPr id="16" name="Text 12"/>
          <p:cNvSpPr txBox="1"/>
          <p:nvPr/>
        </p:nvSpPr>
        <p:spPr>
          <a:xfrm>
            <a:off x="4754880" y="1097280"/>
            <a:ext cx="3931920" cy="320040"/>
          </a:xfrm>
          <a:prstGeom prst="rect">
            <a:avLst/>
          </a:prstGeom>
          <a:noFill/>
          <a:ln/>
        </p:spPr>
        <p:txBody>
          <a:bodyPr wrap="square" lIns="0" tIns="0" rIns="0" bIns="0" rtlCol="0" anchor="t"/>
          <a:lstStyle/>
          <a:p>
            <a:pPr indent="0" marL="0">
              <a:buNone/>
            </a:pPr>
            <a:r>
              <a:rPr lang="en-US" sz="1500" b="1" dirty="0">
                <a:solidFill>
                  <a:srgbClr val="E53935"/>
                </a:solidFill>
                <a:latin typeface="Cambria" pitchFamily="34" charset="0"/>
                <a:ea typeface="Cambria" pitchFamily="34" charset="-122"/>
                <a:cs typeface="Cambria" pitchFamily="34" charset="-120"/>
              </a:rPr>
              <a:t>Di CSS: titik + nama class</a:t>
            </a:r>
            <a:endParaRPr lang="en-US" sz="1500" dirty="0"/>
          </a:p>
        </p:txBody>
      </p:sp>
      <p:sp>
        <p:nvSpPr>
          <p:cNvPr id="17" name="Shape 13"/>
          <p:cNvSpPr/>
          <p:nvPr/>
        </p:nvSpPr>
        <p:spPr>
          <a:xfrm>
            <a:off x="4754880" y="1463040"/>
            <a:ext cx="3931920" cy="2103120"/>
          </a:xfrm>
          <a:prstGeom prst="roundRect">
            <a:avLst>
              <a:gd name="adj" fmla="val 2609"/>
            </a:avLst>
          </a:prstGeom>
          <a:solidFill>
            <a:srgbClr val="FFFFFF"/>
          </a:solidFill>
          <a:ln w="12700">
            <a:solidFill>
              <a:srgbClr val="BBBBBB"/>
            </a:solidFill>
            <a:prstDash val="solid"/>
          </a:ln>
        </p:spPr>
      </p:sp>
      <p:sp>
        <p:nvSpPr>
          <p:cNvPr id="18" name="Text 14"/>
          <p:cNvSpPr txBox="1"/>
          <p:nvPr/>
        </p:nvSpPr>
        <p:spPr>
          <a:xfrm>
            <a:off x="4892040" y="1572768"/>
            <a:ext cx="3703320" cy="292608"/>
          </a:xfrm>
          <a:prstGeom prst="rect">
            <a:avLst/>
          </a:prstGeom>
          <a:noFill/>
          <a:ln/>
        </p:spPr>
        <p:txBody>
          <a:bodyPr wrap="square" lIns="0" tIns="0" rIns="0" bIns="0"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.card {</a:t>
            </a:r>
            <a:endParaRPr lang="en-US" sz="1200" dirty="0"/>
          </a:p>
        </p:txBody>
      </p:sp>
      <p:sp>
        <p:nvSpPr>
          <p:cNvPr id="19" name="Text 15"/>
          <p:cNvSpPr txBox="1"/>
          <p:nvPr/>
        </p:nvSpPr>
        <p:spPr>
          <a:xfrm>
            <a:off x="4892040" y="1874520"/>
            <a:ext cx="3703320" cy="292608"/>
          </a:xfrm>
          <a:prstGeom prst="rect">
            <a:avLst/>
          </a:prstGeom>
          <a:noFill/>
          <a:ln/>
        </p:spPr>
        <p:txBody>
          <a:bodyPr wrap="square" lIns="0" tIns="0" rIns="0" bIns="0"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  background-color: white;</a:t>
            </a:r>
            <a:endParaRPr lang="en-US" sz="1200" dirty="0"/>
          </a:p>
        </p:txBody>
      </p:sp>
      <p:sp>
        <p:nvSpPr>
          <p:cNvPr id="20" name="Text 16"/>
          <p:cNvSpPr txBox="1"/>
          <p:nvPr/>
        </p:nvSpPr>
        <p:spPr>
          <a:xfrm>
            <a:off x="4892040" y="2176272"/>
            <a:ext cx="3703320" cy="292608"/>
          </a:xfrm>
          <a:prstGeom prst="rect">
            <a:avLst/>
          </a:prstGeom>
          <a:noFill/>
          <a:ln/>
        </p:spPr>
        <p:txBody>
          <a:bodyPr wrap="square" lIns="0" tIns="0" rIns="0" bIns="0"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  padding: 16px;</a:t>
            </a:r>
            <a:endParaRPr lang="en-US" sz="1200" dirty="0"/>
          </a:p>
        </p:txBody>
      </p:sp>
      <p:sp>
        <p:nvSpPr>
          <p:cNvPr id="21" name="Text 17"/>
          <p:cNvSpPr txBox="1"/>
          <p:nvPr/>
        </p:nvSpPr>
        <p:spPr>
          <a:xfrm>
            <a:off x="4892040" y="2478024"/>
            <a:ext cx="3703320" cy="292608"/>
          </a:xfrm>
          <a:prstGeom prst="rect">
            <a:avLst/>
          </a:prstGeom>
          <a:noFill/>
          <a:ln/>
        </p:spPr>
        <p:txBody>
          <a:bodyPr wrap="square" lIns="0" tIns="0" rIns="0" bIns="0"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  border-radius: 12px;</a:t>
            </a:r>
            <a:endParaRPr lang="en-US" sz="1200" dirty="0"/>
          </a:p>
        </p:txBody>
      </p:sp>
      <p:sp>
        <p:nvSpPr>
          <p:cNvPr id="22" name="Text 18"/>
          <p:cNvSpPr txBox="1"/>
          <p:nvPr/>
        </p:nvSpPr>
        <p:spPr>
          <a:xfrm>
            <a:off x="4892040" y="2779776"/>
            <a:ext cx="3703320" cy="292608"/>
          </a:xfrm>
          <a:prstGeom prst="rect">
            <a:avLst/>
          </a:prstGeom>
          <a:noFill/>
          <a:ln/>
        </p:spPr>
        <p:txBody>
          <a:bodyPr wrap="square" lIns="0" tIns="0" rIns="0" bIns="0"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a:t>
            </a:r>
            <a:endParaRPr lang="en-US" sz="1200" dirty="0"/>
          </a:p>
        </p:txBody>
      </p:sp>
      <p:sp>
        <p:nvSpPr>
          <p:cNvPr id="23" name="Shape 19"/>
          <p:cNvSpPr/>
          <p:nvPr/>
        </p:nvSpPr>
        <p:spPr>
          <a:xfrm>
            <a:off x="457200" y="3794760"/>
            <a:ext cx="8229600" cy="777240"/>
          </a:xfrm>
          <a:prstGeom prst="roundRect">
            <a:avLst>
              <a:gd name="adj" fmla="val 11765"/>
            </a:avLst>
          </a:prstGeom>
          <a:solidFill>
            <a:srgbClr val="FBF1D3"/>
          </a:solidFill>
          <a:ln w="12700">
            <a:solidFill>
              <a:srgbClr val="FBF1D3"/>
            </a:solidFill>
            <a:prstDash val="solid"/>
          </a:ln>
        </p:spPr>
      </p:sp>
      <p:sp>
        <p:nvSpPr>
          <p:cNvPr id="24" name="Text 20"/>
          <p:cNvSpPr txBox="1"/>
          <p:nvPr/>
        </p:nvSpPr>
        <p:spPr>
          <a:xfrm>
            <a:off x="640080" y="3794760"/>
            <a:ext cx="7863840" cy="77724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&lt;div&gt; adalah kotak pembungkus. class="card" memberi nama. Di CSS, .card (diawali titik) mengatur semua elemen bernama card.</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Kartu dan Tombol</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Lanjutkan index.html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Kartu dengan div dan class</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Tombol dari link</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Efek hover</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Kartu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&lt;h1&gt;</a:t>
            </a:r>
            <a:pPr indent="0" marL="0">
              <a:buNone/>
            </a:pPr>
            <a:r>
              <a:rPr lang="en-US" sz="900" dirty="0">
                <a:solidFill>
                  <a:srgbClr val="222222"/>
                </a:solidFill>
                <a:latin typeface="Courier New" pitchFamily="34" charset="0"/>
                <a:ea typeface="Courier New" pitchFamily="34" charset="-122"/>
                <a:cs typeface="Courier New" pitchFamily="34" charset="-120"/>
              </a:rPr>
              <a:t>Assalamu'alaikum!</a:t>
            </a:r>
            <a:pPr indent="0" marL="0">
              <a:buNone/>
            </a:pPr>
            <a:r>
              <a:rPr lang="en-US" sz="900" dirty="0">
                <a:solidFill>
                  <a:srgbClr val="1A5FB4"/>
                </a:solidFill>
                <a:latin typeface="Courier New" pitchFamily="34" charset="0"/>
                <a:ea typeface="Courier New" pitchFamily="34" charset="-122"/>
                <a:cs typeface="Courier New" pitchFamily="34" charset="-120"/>
              </a:rPr>
              <a:t>&lt;/h1&gt;</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222222"/>
                </a:solidFill>
                <a:latin typeface="Courier New" pitchFamily="34" charset="0"/>
                <a:ea typeface="Courier New" pitchFamily="34" charset="-122"/>
                <a:cs typeface="Courier New" pitchFamily="34" charset="-120"/>
              </a:rPr>
              <a:t>Nama saya </a:t>
            </a:r>
            <a:pPr indent="0" marL="0">
              <a:buNone/>
            </a:pPr>
            <a:r>
              <a:rPr lang="en-US" sz="900" dirty="0">
                <a:solidFill>
                  <a:srgbClr val="1A5FB4"/>
                </a:solidFill>
                <a:latin typeface="Courier New" pitchFamily="34" charset="0"/>
                <a:ea typeface="Courier New" pitchFamily="34" charset="-122"/>
                <a:cs typeface="Courier New" pitchFamily="34" charset="-120"/>
              </a:rPr>
              <a:t>&lt;b&gt;</a:t>
            </a:r>
            <a:pPr indent="0" marL="0">
              <a:buNone/>
            </a:pPr>
            <a:r>
              <a:rPr lang="en-US" sz="900" dirty="0">
                <a:solidFill>
                  <a:srgbClr val="222222"/>
                </a:solidFill>
                <a:latin typeface="Courier New" pitchFamily="34" charset="0"/>
                <a:ea typeface="Courier New" pitchFamily="34" charset="-122"/>
                <a:cs typeface="Courier New" pitchFamily="34" charset="-120"/>
              </a:rPr>
              <a:t>Ahmad</a:t>
            </a:r>
            <a:pPr indent="0" marL="0">
              <a:buNone/>
            </a:pPr>
            <a:r>
              <a:rPr lang="en-US" sz="900" dirty="0">
                <a:solidFill>
                  <a:srgbClr val="1A5FB4"/>
                </a:solidFill>
                <a:latin typeface="Courier New" pitchFamily="34" charset="0"/>
                <a:ea typeface="Courier New" pitchFamily="34" charset="-122"/>
                <a:cs typeface="Courier New" pitchFamily="34" charset="-120"/>
              </a:rPr>
              <a:t>&lt;/b&gt;</a:t>
            </a:r>
            <a:pPr indent="0" marL="0">
              <a:buNone/>
            </a:pPr>
            <a:r>
              <a:rPr lang="en-US" sz="900" dirty="0">
                <a:solidFill>
                  <a:srgbClr val="222222"/>
                </a:solidFill>
                <a:latin typeface="Courier New" pitchFamily="34" charset="0"/>
                <a:ea typeface="Courier New" pitchFamily="34" charset="-122"/>
                <a:cs typeface="Courier New" pitchFamily="34" charset="-120"/>
              </a:rPr>
              <a:t>, santri Kelas 8A.</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31" name="Shape 27"/>
          <p:cNvSpPr/>
          <p:nvPr/>
        </p:nvSpPr>
        <p:spPr>
          <a:xfrm>
            <a:off x="913668" y="2182760"/>
            <a:ext cx="4555175" cy="173736"/>
          </a:xfrm>
          <a:prstGeom prst="rect">
            <a:avLst/>
          </a:prstGeom>
          <a:solidFill>
            <a:srgbClr val="FFF59D"/>
          </a:solidFill>
          <a:ln w="12700">
            <a:solidFill>
              <a:srgbClr val="FFF59D"/>
            </a:solidFill>
            <a:prstDash val="solid"/>
          </a:ln>
        </p:spPr>
      </p:sp>
      <p:sp>
        <p:nvSpPr>
          <p:cNvPr id="32" name="Text 28"/>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3" name="Text 29"/>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&lt;div class="card"&gt;</a:t>
            </a:r>
            <a:endParaRPr lang="en-US" sz="900" dirty="0"/>
          </a:p>
        </p:txBody>
      </p:sp>
      <p:sp>
        <p:nvSpPr>
          <p:cNvPr id="34" name="Text 30"/>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5" name="Text 31"/>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&lt;h2&gt;</a:t>
            </a:r>
            <a:pPr indent="0" marL="0">
              <a:buNone/>
            </a:pPr>
            <a:r>
              <a:rPr lang="en-US" sz="900" dirty="0">
                <a:solidFill>
                  <a:srgbClr val="222222"/>
                </a:solidFill>
                <a:latin typeface="Courier New" pitchFamily="34" charset="0"/>
                <a:ea typeface="Courier New" pitchFamily="34" charset="-122"/>
                <a:cs typeface="Courier New" pitchFamily="34" charset="-120"/>
              </a:rPr>
              <a:t>Hobi Saya</a:t>
            </a:r>
            <a:pPr indent="0" marL="0">
              <a:buNone/>
            </a:pPr>
            <a:r>
              <a:rPr lang="en-US" sz="900" dirty="0">
                <a:solidFill>
                  <a:srgbClr val="1A5FB4"/>
                </a:solidFill>
                <a:latin typeface="Courier New" pitchFamily="34" charset="0"/>
                <a:ea typeface="Courier New" pitchFamily="34" charset="-122"/>
                <a:cs typeface="Courier New" pitchFamily="34" charset="-120"/>
              </a:rPr>
              <a:t>&lt;/h2&gt;</a:t>
            </a:r>
            <a:endParaRPr lang="en-US" sz="900" dirty="0"/>
          </a:p>
        </p:txBody>
      </p:sp>
      <p:sp>
        <p:nvSpPr>
          <p:cNvPr id="36" name="Text 32"/>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7" name="Text 33"/>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&lt;ul&gt;</a:t>
            </a:r>
            <a:endParaRPr lang="en-US" sz="900" dirty="0"/>
          </a:p>
        </p:txBody>
      </p:sp>
      <p:sp>
        <p:nvSpPr>
          <p:cNvPr id="38" name="Text 34"/>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39" name="Text 35"/>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&lt;li&gt;</a:t>
            </a:r>
            <a:pPr indent="0" marL="0">
              <a:buNone/>
            </a:pPr>
            <a:r>
              <a:rPr lang="en-US" sz="900" dirty="0">
                <a:solidFill>
                  <a:srgbClr val="222222"/>
                </a:solidFill>
                <a:latin typeface="Courier New" pitchFamily="34" charset="0"/>
                <a:ea typeface="Courier New" pitchFamily="34" charset="-122"/>
                <a:cs typeface="Courier New" pitchFamily="34" charset="-120"/>
              </a:rPr>
              <a:t>Membaca</a:t>
            </a:r>
            <a:pPr indent="0" marL="0">
              <a:buNone/>
            </a:pPr>
            <a:r>
              <a:rPr lang="en-US" sz="900" dirty="0">
                <a:solidFill>
                  <a:srgbClr val="1A5FB4"/>
                </a:solidFill>
                <a:latin typeface="Courier New" pitchFamily="34" charset="0"/>
                <a:ea typeface="Courier New" pitchFamily="34" charset="-122"/>
                <a:cs typeface="Courier New" pitchFamily="34" charset="-120"/>
              </a:rPr>
              <a:t>&lt;/li&gt;</a:t>
            </a:r>
            <a:endParaRPr lang="en-US" sz="900" dirty="0"/>
          </a:p>
        </p:txBody>
      </p:sp>
      <p:sp>
        <p:nvSpPr>
          <p:cNvPr id="40" name="Text 36"/>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1" name="Text 37"/>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&lt;li&gt;</a:t>
            </a:r>
            <a:pPr indent="0" marL="0">
              <a:buNone/>
            </a:pPr>
            <a:r>
              <a:rPr lang="en-US" sz="900" dirty="0">
                <a:solidFill>
                  <a:srgbClr val="222222"/>
                </a:solidFill>
                <a:latin typeface="Courier New" pitchFamily="34" charset="0"/>
                <a:ea typeface="Courier New" pitchFamily="34" charset="-122"/>
                <a:cs typeface="Courier New" pitchFamily="34" charset="-120"/>
              </a:rPr>
              <a:t>Kaligrafi</a:t>
            </a:r>
            <a:pPr indent="0" marL="0">
              <a:buNone/>
            </a:pPr>
            <a:r>
              <a:rPr lang="en-US" sz="900" dirty="0">
                <a:solidFill>
                  <a:srgbClr val="1A5FB4"/>
                </a:solidFill>
                <a:latin typeface="Courier New" pitchFamily="34" charset="0"/>
                <a:ea typeface="Courier New" pitchFamily="34" charset="-122"/>
                <a:cs typeface="Courier New" pitchFamily="34" charset="-120"/>
              </a:rPr>
              <a:t>&lt;/li&gt;</a:t>
            </a:r>
            <a:endParaRPr lang="en-US" sz="900" dirty="0"/>
          </a:p>
        </p:txBody>
      </p:sp>
      <p:sp>
        <p:nvSpPr>
          <p:cNvPr id="42" name="Text 38"/>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3" name="Text 39"/>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&lt;/ul&gt;</a:t>
            </a:r>
            <a:endParaRPr lang="en-US" sz="900" dirty="0"/>
          </a:p>
        </p:txBody>
      </p:sp>
      <p:sp>
        <p:nvSpPr>
          <p:cNvPr id="44" name="Shape 40"/>
          <p:cNvSpPr/>
          <p:nvPr/>
        </p:nvSpPr>
        <p:spPr>
          <a:xfrm>
            <a:off x="913668" y="3225176"/>
            <a:ext cx="4555175" cy="173736"/>
          </a:xfrm>
          <a:prstGeom prst="rect">
            <a:avLst/>
          </a:prstGeom>
          <a:solidFill>
            <a:srgbClr val="FFF59D"/>
          </a:solidFill>
          <a:ln w="12700">
            <a:solidFill>
              <a:srgbClr val="FFF59D"/>
            </a:solidFill>
            <a:prstDash val="solid"/>
          </a:ln>
        </p:spPr>
      </p:sp>
      <p:sp>
        <p:nvSpPr>
          <p:cNvPr id="45" name="Text 41"/>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46" name="Text 42"/>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&lt;/div&gt;</a:t>
            </a:r>
            <a:endParaRPr lang="en-US" sz="900" dirty="0"/>
          </a:p>
        </p:txBody>
      </p:sp>
      <p:sp>
        <p:nvSpPr>
          <p:cNvPr id="47" name="Text 43"/>
          <p:cNvSpPr txBox="1"/>
          <p:nvPr/>
        </p:nvSpPr>
        <p:spPr>
          <a:xfrm>
            <a:off x="639348" y="339891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11</a:t>
            </a:r>
            <a:endParaRPr lang="en-US" sz="800" dirty="0"/>
          </a:p>
        </p:txBody>
      </p:sp>
      <p:sp>
        <p:nvSpPr>
          <p:cNvPr id="48" name="Text 44"/>
          <p:cNvSpPr txBox="1"/>
          <p:nvPr/>
        </p:nvSpPr>
        <p:spPr>
          <a:xfrm>
            <a:off x="986820" y="339891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49" name="Shape 45"/>
          <p:cNvSpPr/>
          <p:nvPr/>
        </p:nvSpPr>
        <p:spPr>
          <a:xfrm>
            <a:off x="913668" y="2164472"/>
            <a:ext cx="4555175" cy="210312"/>
          </a:xfrm>
          <a:prstGeom prst="roundRect">
            <a:avLst>
              <a:gd name="adj" fmla="val 21739"/>
            </a:avLst>
          </a:prstGeom>
          <a:solidFill>
            <a:srgbClr val="FFFFFF">
              <a:alpha val="0"/>
            </a:srgbClr>
          </a:solidFill>
          <a:ln w="31750">
            <a:solidFill>
              <a:srgbClr val="E53935"/>
            </a:solidFill>
            <a:prstDash val="solid"/>
          </a:ln>
        </p:spPr>
      </p:sp>
      <p:sp>
        <p:nvSpPr>
          <p:cNvPr id="50" name="Shape 46"/>
          <p:cNvSpPr/>
          <p:nvPr/>
        </p:nvSpPr>
        <p:spPr>
          <a:xfrm>
            <a:off x="5331684" y="2027312"/>
            <a:ext cx="274320" cy="274320"/>
          </a:xfrm>
          <a:prstGeom prst="ellipse">
            <a:avLst/>
          </a:prstGeom>
          <a:solidFill>
            <a:srgbClr val="E53935"/>
          </a:solidFill>
          <a:ln w="12700">
            <a:solidFill>
              <a:srgbClr val="FFFFFF"/>
            </a:solidFill>
            <a:prstDash val="solid"/>
          </a:ln>
        </p:spPr>
      </p:sp>
      <p:sp>
        <p:nvSpPr>
          <p:cNvPr id="51" name="Text 47"/>
          <p:cNvSpPr txBox="1"/>
          <p:nvPr/>
        </p:nvSpPr>
        <p:spPr>
          <a:xfrm>
            <a:off x="5331684" y="2027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2" name="Image 2" descr="preencoded.png">    </p:cNvPr>
          <p:cNvPicPr>
            <a:picLocks noChangeAspect="1"/>
          </p:cNvPicPr>
          <p:nvPr/>
        </p:nvPicPr>
        <p:blipFill>
          <a:blip r:embed="rId3"/>
          <a:stretch>
            <a:fillRect/>
          </a:stretch>
        </p:blipFill>
        <p:spPr>
          <a:xfrm>
            <a:off x="3417186" y="2278314"/>
            <a:ext cx="237744" cy="237744"/>
          </a:xfrm>
          <a:prstGeom prst="rect">
            <a:avLst/>
          </a:prstGeom>
        </p:spPr>
      </p:pic>
      <p:sp>
        <p:nvSpPr>
          <p:cNvPr id="53" name="Shape 48"/>
          <p:cNvSpPr/>
          <p:nvPr/>
        </p:nvSpPr>
        <p:spPr>
          <a:xfrm>
            <a:off x="913668" y="3206888"/>
            <a:ext cx="4555175" cy="210312"/>
          </a:xfrm>
          <a:prstGeom prst="roundRect">
            <a:avLst>
              <a:gd name="adj" fmla="val 21739"/>
            </a:avLst>
          </a:prstGeom>
          <a:solidFill>
            <a:srgbClr val="FFFFFF">
              <a:alpha val="0"/>
            </a:srgbClr>
          </a:solidFill>
          <a:ln w="31750">
            <a:solidFill>
              <a:srgbClr val="E53935"/>
            </a:solidFill>
            <a:prstDash val="solid"/>
          </a:ln>
        </p:spPr>
      </p:sp>
      <p:sp>
        <p:nvSpPr>
          <p:cNvPr id="54" name="Shape 49"/>
          <p:cNvSpPr/>
          <p:nvPr/>
        </p:nvSpPr>
        <p:spPr>
          <a:xfrm>
            <a:off x="5331684" y="3069728"/>
            <a:ext cx="274320" cy="274320"/>
          </a:xfrm>
          <a:prstGeom prst="ellipse">
            <a:avLst/>
          </a:prstGeom>
          <a:solidFill>
            <a:srgbClr val="E53935"/>
          </a:solidFill>
          <a:ln w="12700">
            <a:solidFill>
              <a:srgbClr val="FFFFFF"/>
            </a:solidFill>
            <a:prstDash val="solid"/>
          </a:ln>
        </p:spPr>
      </p:sp>
      <p:sp>
        <p:nvSpPr>
          <p:cNvPr id="55" name="Text 50"/>
          <p:cNvSpPr txBox="1"/>
          <p:nvPr/>
        </p:nvSpPr>
        <p:spPr>
          <a:xfrm>
            <a:off x="5331684" y="30697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6" name="Image 3" descr="preencoded.png">    </p:cNvPr>
          <p:cNvPicPr>
            <a:picLocks noChangeAspect="1"/>
          </p:cNvPicPr>
          <p:nvPr/>
        </p:nvPicPr>
        <p:blipFill>
          <a:blip r:embed="rId4"/>
          <a:stretch>
            <a:fillRect/>
          </a:stretch>
        </p:blipFill>
        <p:spPr>
          <a:xfrm>
            <a:off x="3417186" y="3320730"/>
            <a:ext cx="237744" cy="237744"/>
          </a:xfrm>
          <a:prstGeom prst="rect">
            <a:avLst/>
          </a:prstGeom>
        </p:spPr>
      </p:pic>
      <p:sp>
        <p:nvSpPr>
          <p:cNvPr id="57" name="Text 5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8" name="Text 5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Bungkus bagian Hobi dengan &lt;div class="card"&gt;</a:t>
            </a:r>
            <a:endParaRPr lang="en-US" sz="1800" dirty="0"/>
          </a:p>
        </p:txBody>
      </p:sp>
      <p:sp>
        <p:nvSpPr>
          <p:cNvPr id="59" name="Text 5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HTML, tambahkan &lt;div class="card"&gt; sebelum &lt;h2&gt;Hobi Saya&lt;/h2&gt;, dan &lt;/div&gt; setelah &lt;/ul&gt;.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Kartu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&lt;style&gt;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29" name="Shape 25"/>
          <p:cNvSpPr/>
          <p:nvPr/>
        </p:nvSpPr>
        <p:spPr>
          <a:xfrm>
            <a:off x="913668" y="2009024"/>
            <a:ext cx="4555175" cy="173736"/>
          </a:xfrm>
          <a:prstGeom prst="rect">
            <a:avLst/>
          </a:prstGeom>
          <a:solidFill>
            <a:srgbClr val="FFF59D"/>
          </a:solidFill>
          <a:ln w="12700">
            <a:solidFill>
              <a:srgbClr val="FFF59D"/>
            </a:solidFill>
            <a:prstDash val="solid"/>
          </a:ln>
        </p:spPr>
      </p:sp>
      <p:sp>
        <p:nvSpPr>
          <p:cNvPr id="30" name="Text 26"/>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1" name="Text 27"/>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.card {</a:t>
            </a:r>
            <a:endParaRPr lang="en-US" sz="900" dirty="0"/>
          </a:p>
        </p:txBody>
      </p:sp>
      <p:sp>
        <p:nvSpPr>
          <p:cNvPr id="32" name="Shape 28"/>
          <p:cNvSpPr/>
          <p:nvPr/>
        </p:nvSpPr>
        <p:spPr>
          <a:xfrm>
            <a:off x="913668" y="2182760"/>
            <a:ext cx="4555175" cy="173736"/>
          </a:xfrm>
          <a:prstGeom prst="rect">
            <a:avLst/>
          </a:prstGeom>
          <a:solidFill>
            <a:srgbClr val="FFF59D"/>
          </a:solidFill>
          <a:ln w="12700">
            <a:solidFill>
              <a:srgbClr val="FFF59D"/>
            </a:solidFill>
            <a:prstDash val="solid"/>
          </a:ln>
        </p:spPr>
      </p:sp>
      <p:sp>
        <p:nvSpPr>
          <p:cNvPr id="33" name="Text 29"/>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4" name="Text 30"/>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background-color: white;</a:t>
            </a:r>
            <a:endParaRPr lang="en-US" sz="900" dirty="0"/>
          </a:p>
        </p:txBody>
      </p:sp>
      <p:sp>
        <p:nvSpPr>
          <p:cNvPr id="35" name="Shape 31"/>
          <p:cNvSpPr/>
          <p:nvPr/>
        </p:nvSpPr>
        <p:spPr>
          <a:xfrm>
            <a:off x="913668" y="2356496"/>
            <a:ext cx="4555175" cy="173736"/>
          </a:xfrm>
          <a:prstGeom prst="rect">
            <a:avLst/>
          </a:prstGeom>
          <a:solidFill>
            <a:srgbClr val="FFF59D"/>
          </a:solidFill>
          <a:ln w="12700">
            <a:solidFill>
              <a:srgbClr val="FFF59D"/>
            </a:solidFill>
            <a:prstDash val="solid"/>
          </a:ln>
        </p:spPr>
      </p:sp>
      <p:sp>
        <p:nvSpPr>
          <p:cNvPr id="36" name="Text 32"/>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7" name="Text 33"/>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padding: 16px;</a:t>
            </a:r>
            <a:endParaRPr lang="en-US" sz="900" dirty="0"/>
          </a:p>
        </p:txBody>
      </p:sp>
      <p:sp>
        <p:nvSpPr>
          <p:cNvPr id="38" name="Shape 34"/>
          <p:cNvSpPr/>
          <p:nvPr/>
        </p:nvSpPr>
        <p:spPr>
          <a:xfrm>
            <a:off x="913668" y="2530232"/>
            <a:ext cx="4555175" cy="173736"/>
          </a:xfrm>
          <a:prstGeom prst="rect">
            <a:avLst/>
          </a:prstGeom>
          <a:solidFill>
            <a:srgbClr val="FFF59D"/>
          </a:solidFill>
          <a:ln w="12700">
            <a:solidFill>
              <a:srgbClr val="FFF59D"/>
            </a:solidFill>
            <a:prstDash val="solid"/>
          </a:ln>
        </p:spPr>
      </p:sp>
      <p:sp>
        <p:nvSpPr>
          <p:cNvPr id="39" name="Text 35"/>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40" name="Text 36"/>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margin: 20px auto;</a:t>
            </a:r>
            <a:endParaRPr lang="en-US" sz="900" dirty="0"/>
          </a:p>
        </p:txBody>
      </p:sp>
      <p:sp>
        <p:nvSpPr>
          <p:cNvPr id="41" name="Shape 37"/>
          <p:cNvSpPr/>
          <p:nvPr/>
        </p:nvSpPr>
        <p:spPr>
          <a:xfrm>
            <a:off x="913668" y="2703968"/>
            <a:ext cx="4555175" cy="173736"/>
          </a:xfrm>
          <a:prstGeom prst="rect">
            <a:avLst/>
          </a:prstGeom>
          <a:solidFill>
            <a:srgbClr val="FFF59D"/>
          </a:solidFill>
          <a:ln w="12700">
            <a:solidFill>
              <a:srgbClr val="FFF59D"/>
            </a:solidFill>
            <a:prstDash val="solid"/>
          </a:ln>
        </p:spPr>
      </p:sp>
      <p:sp>
        <p:nvSpPr>
          <p:cNvPr id="42" name="Text 38"/>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3" name="Text 39"/>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border: 1px solid #dddddd;</a:t>
            </a:r>
            <a:endParaRPr lang="en-US" sz="900" dirty="0"/>
          </a:p>
        </p:txBody>
      </p:sp>
      <p:sp>
        <p:nvSpPr>
          <p:cNvPr id="44" name="Shape 40"/>
          <p:cNvSpPr/>
          <p:nvPr/>
        </p:nvSpPr>
        <p:spPr>
          <a:xfrm>
            <a:off x="913668" y="2877704"/>
            <a:ext cx="4555175" cy="173736"/>
          </a:xfrm>
          <a:prstGeom prst="rect">
            <a:avLst/>
          </a:prstGeom>
          <a:solidFill>
            <a:srgbClr val="FFF59D"/>
          </a:solidFill>
          <a:ln w="12700">
            <a:solidFill>
              <a:srgbClr val="FFF59D"/>
            </a:solidFill>
            <a:prstDash val="solid"/>
          </a:ln>
        </p:spPr>
      </p:sp>
      <p:sp>
        <p:nvSpPr>
          <p:cNvPr id="45" name="Text 41"/>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6" name="Text 42"/>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border-radius: 12px;</a:t>
            </a:r>
            <a:endParaRPr lang="en-US" sz="900" dirty="0"/>
          </a:p>
        </p:txBody>
      </p:sp>
      <p:sp>
        <p:nvSpPr>
          <p:cNvPr id="47" name="Shape 43"/>
          <p:cNvSpPr/>
          <p:nvPr/>
        </p:nvSpPr>
        <p:spPr>
          <a:xfrm>
            <a:off x="913668" y="3051440"/>
            <a:ext cx="4555175" cy="173736"/>
          </a:xfrm>
          <a:prstGeom prst="rect">
            <a:avLst/>
          </a:prstGeom>
          <a:solidFill>
            <a:srgbClr val="FFF59D"/>
          </a:solidFill>
          <a:ln w="12700">
            <a:solidFill>
              <a:srgbClr val="FFF59D"/>
            </a:solidFill>
            <a:prstDash val="solid"/>
          </a:ln>
        </p:spPr>
      </p:sp>
      <p:sp>
        <p:nvSpPr>
          <p:cNvPr id="48" name="Text 44"/>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9" name="Text 45"/>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max-width: 500px;</a:t>
            </a:r>
            <a:endParaRPr lang="en-US" sz="900" dirty="0"/>
          </a:p>
        </p:txBody>
      </p:sp>
      <p:sp>
        <p:nvSpPr>
          <p:cNvPr id="50" name="Shape 46"/>
          <p:cNvSpPr/>
          <p:nvPr/>
        </p:nvSpPr>
        <p:spPr>
          <a:xfrm>
            <a:off x="913668" y="3225176"/>
            <a:ext cx="4555175" cy="173736"/>
          </a:xfrm>
          <a:prstGeom prst="rect">
            <a:avLst/>
          </a:prstGeom>
          <a:solidFill>
            <a:srgbClr val="FFF59D"/>
          </a:solidFill>
          <a:ln w="12700">
            <a:solidFill>
              <a:srgbClr val="FFF59D"/>
            </a:solidFill>
            <a:prstDash val="solid"/>
          </a:ln>
        </p:spPr>
      </p:sp>
      <p:sp>
        <p:nvSpPr>
          <p:cNvPr id="51" name="Text 47"/>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52" name="Text 48"/>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53" name="Text 49"/>
          <p:cNvSpPr txBox="1"/>
          <p:nvPr/>
        </p:nvSpPr>
        <p:spPr>
          <a:xfrm>
            <a:off x="639348" y="339891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11</a:t>
            </a:r>
            <a:endParaRPr lang="en-US" sz="800" dirty="0"/>
          </a:p>
        </p:txBody>
      </p:sp>
      <p:sp>
        <p:nvSpPr>
          <p:cNvPr id="54" name="Text 50"/>
          <p:cNvSpPr txBox="1"/>
          <p:nvPr/>
        </p:nvSpPr>
        <p:spPr>
          <a:xfrm>
            <a:off x="986820" y="339891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&lt;/style&gt;</a:t>
            </a:r>
            <a:endParaRPr lang="en-US" sz="900" dirty="0"/>
          </a:p>
        </p:txBody>
      </p:sp>
      <p:sp>
        <p:nvSpPr>
          <p:cNvPr id="55" name="Shape 51"/>
          <p:cNvSpPr/>
          <p:nvPr/>
        </p:nvSpPr>
        <p:spPr>
          <a:xfrm>
            <a:off x="913668" y="1990736"/>
            <a:ext cx="4555175" cy="1426464"/>
          </a:xfrm>
          <a:prstGeom prst="roundRect">
            <a:avLst>
              <a:gd name="adj" fmla="val 3205"/>
            </a:avLst>
          </a:prstGeom>
          <a:solidFill>
            <a:srgbClr val="FFFFFF">
              <a:alpha val="0"/>
            </a:srgbClr>
          </a:solidFill>
          <a:ln w="31750">
            <a:solidFill>
              <a:srgbClr val="E53935"/>
            </a:solidFill>
            <a:prstDash val="solid"/>
          </a:ln>
        </p:spPr>
      </p:sp>
      <p:sp>
        <p:nvSpPr>
          <p:cNvPr id="56" name="Shape 52"/>
          <p:cNvSpPr/>
          <p:nvPr/>
        </p:nvSpPr>
        <p:spPr>
          <a:xfrm>
            <a:off x="5331684" y="1853576"/>
            <a:ext cx="274320" cy="274320"/>
          </a:xfrm>
          <a:prstGeom prst="ellipse">
            <a:avLst/>
          </a:prstGeom>
          <a:solidFill>
            <a:srgbClr val="E53935"/>
          </a:solidFill>
          <a:ln w="12700">
            <a:solidFill>
              <a:srgbClr val="FFFFFF"/>
            </a:solidFill>
            <a:prstDash val="solid"/>
          </a:ln>
        </p:spPr>
      </p:sp>
      <p:sp>
        <p:nvSpPr>
          <p:cNvPr id="57" name="Text 53"/>
          <p:cNvSpPr txBox="1"/>
          <p:nvPr/>
        </p:nvSpPr>
        <p:spPr>
          <a:xfrm>
            <a:off x="5331684" y="18535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58" name="Image 2" descr="preencoded.png">    </p:cNvPr>
          <p:cNvPicPr>
            <a:picLocks noChangeAspect="1"/>
          </p:cNvPicPr>
          <p:nvPr/>
        </p:nvPicPr>
        <p:blipFill>
          <a:blip r:embed="rId3"/>
          <a:stretch>
            <a:fillRect/>
          </a:stretch>
        </p:blipFill>
        <p:spPr>
          <a:xfrm>
            <a:off x="3417186" y="2773462"/>
            <a:ext cx="237744" cy="237744"/>
          </a:xfrm>
          <a:prstGeom prst="rect">
            <a:avLst/>
          </a:prstGeom>
        </p:spPr>
      </p:pic>
      <p:sp>
        <p:nvSpPr>
          <p:cNvPr id="59" name="Text 5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60" name="Text 5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aturan .card di CSS</a:t>
            </a:r>
            <a:endParaRPr lang="en-US" sz="1800" dirty="0"/>
          </a:p>
        </p:txBody>
      </p:sp>
      <p:sp>
        <p:nvSpPr>
          <p:cNvPr id="61" name="Text 5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dalam &lt;style&gt;, tambahkan aturan .card dengan background-color, padding, margin, border, border-radius, dan max-width.</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Kartu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Profil Santri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file:///C:/Users/Santri/Documents/Website_Saya/index.html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Text 23"/>
          <p:cNvSpPr txBox="1"/>
          <p:nvPr/>
        </p:nvSpPr>
        <p:spPr>
          <a:xfrm>
            <a:off x="606064" y="1769117"/>
            <a:ext cx="4914351" cy="320040"/>
          </a:xfrm>
          <a:prstGeom prst="rect">
            <a:avLst/>
          </a:prstGeom>
          <a:noFill/>
          <a:ln/>
        </p:spPr>
        <p:txBody>
          <a:bodyPr wrap="square" lIns="0" tIns="0" rIns="0" bIns="0" rtlCol="0" anchor="t"/>
          <a:lstStyle/>
          <a:p>
            <a:pPr algn="ctr" indent="0" marL="0">
              <a:buNone/>
            </a:pPr>
            <a:r>
              <a:rPr lang="en-US" sz="1500" b="1" dirty="0">
                <a:solidFill>
                  <a:srgbClr val="0F4C3A"/>
                </a:solidFill>
                <a:latin typeface="Arial" pitchFamily="34" charset="0"/>
                <a:ea typeface="Arial" pitchFamily="34" charset="-122"/>
                <a:cs typeface="Arial" pitchFamily="34" charset="-120"/>
              </a:rPr>
              <a:t>Assalamu'alaikum!</a:t>
            </a:r>
            <a:endParaRPr lang="en-US" sz="1500" dirty="0"/>
          </a:p>
        </p:txBody>
      </p:sp>
      <p:sp>
        <p:nvSpPr>
          <p:cNvPr id="31" name="Text 24"/>
          <p:cNvSpPr txBox="1"/>
          <p:nvPr/>
        </p:nvSpPr>
        <p:spPr>
          <a:xfrm>
            <a:off x="788944" y="2153165"/>
            <a:ext cx="2948611" cy="182880"/>
          </a:xfrm>
          <a:prstGeom prst="rect">
            <a:avLst/>
          </a:prstGeom>
          <a:noFill/>
          <a:ln/>
        </p:spPr>
        <p:txBody>
          <a:bodyPr wrap="square" lIns="0" tIns="0" rIns="0" bIns="0" rtlCol="0" anchor="t"/>
          <a:lstStyle/>
          <a:p>
            <a:pPr indent="0" marL="0">
              <a:buNone/>
            </a:pPr>
            <a:r>
              <a:rPr lang="en-US" sz="800" dirty="0">
                <a:solidFill>
                  <a:srgbClr val="1E2A26"/>
                </a:solidFill>
                <a:latin typeface="Arial" pitchFamily="34" charset="0"/>
                <a:ea typeface="Arial" pitchFamily="34" charset="-122"/>
                <a:cs typeface="Arial" pitchFamily="34" charset="-120"/>
              </a:rPr>
              <a:t>Nama saya </a:t>
            </a:r>
            <a:pPr indent="0" marL="0">
              <a:buNone/>
            </a:pPr>
            <a:r>
              <a:rPr lang="en-US" sz="800" b="1" dirty="0">
                <a:solidFill>
                  <a:srgbClr val="1E2A26"/>
                </a:solidFill>
                <a:latin typeface="Arial" pitchFamily="34" charset="0"/>
                <a:ea typeface="Arial" pitchFamily="34" charset="-122"/>
                <a:cs typeface="Arial" pitchFamily="34" charset="-120"/>
              </a:rPr>
              <a:t>Ahmad</a:t>
            </a:r>
            <a:pPr indent="0" marL="0">
              <a:buNone/>
            </a:pPr>
            <a:r>
              <a:rPr lang="en-US" sz="800" dirty="0">
                <a:solidFill>
                  <a:srgbClr val="1E2A26"/>
                </a:solidFill>
                <a:latin typeface="Arial" pitchFamily="34" charset="0"/>
                <a:ea typeface="Arial" pitchFamily="34" charset="-122"/>
                <a:cs typeface="Arial" pitchFamily="34" charset="-120"/>
              </a:rPr>
              <a:t>, santri Kelas 8A.</a:t>
            </a:r>
            <a:endParaRPr lang="en-US" sz="800" dirty="0"/>
          </a:p>
        </p:txBody>
      </p:sp>
      <p:sp>
        <p:nvSpPr>
          <p:cNvPr id="32" name="Shape 25"/>
          <p:cNvSpPr/>
          <p:nvPr/>
        </p:nvSpPr>
        <p:spPr>
          <a:xfrm>
            <a:off x="1588935" y="2427485"/>
            <a:ext cx="2948611" cy="868680"/>
          </a:xfrm>
          <a:prstGeom prst="roundRect">
            <a:avLst>
              <a:gd name="adj" fmla="val 8421"/>
            </a:avLst>
          </a:prstGeom>
          <a:solidFill>
            <a:srgbClr val="FFFFFF"/>
          </a:solidFill>
          <a:ln w="9525">
            <a:solidFill>
              <a:srgbClr val="DDDDDD"/>
            </a:solidFill>
            <a:prstDash val="solid"/>
          </a:ln>
        </p:spPr>
      </p:sp>
      <p:sp>
        <p:nvSpPr>
          <p:cNvPr id="33" name="Text 26"/>
          <p:cNvSpPr txBox="1"/>
          <p:nvPr/>
        </p:nvSpPr>
        <p:spPr>
          <a:xfrm>
            <a:off x="1698663" y="2473205"/>
            <a:ext cx="2948611" cy="228600"/>
          </a:xfrm>
          <a:prstGeom prst="rect">
            <a:avLst/>
          </a:prstGeom>
          <a:noFill/>
          <a:ln/>
        </p:spPr>
        <p:txBody>
          <a:bodyPr wrap="square" lIns="0" tIns="0" rIns="0" bIns="0" rtlCol="0" anchor="t"/>
          <a:lstStyle/>
          <a:p>
            <a:pPr indent="0" marL="0">
              <a:buNone/>
            </a:pPr>
            <a:r>
              <a:rPr lang="en-US" sz="1000" b="1" dirty="0">
                <a:solidFill>
                  <a:srgbClr val="1F7A5C"/>
                </a:solidFill>
                <a:latin typeface="Arial" pitchFamily="34" charset="0"/>
                <a:ea typeface="Arial" pitchFamily="34" charset="-122"/>
                <a:cs typeface="Arial" pitchFamily="34" charset="-120"/>
              </a:rPr>
              <a:t>Hobi Saya</a:t>
            </a:r>
            <a:endParaRPr lang="en-US" sz="1000" dirty="0"/>
          </a:p>
        </p:txBody>
      </p:sp>
      <p:sp>
        <p:nvSpPr>
          <p:cNvPr id="34" name="Text 27"/>
          <p:cNvSpPr txBox="1"/>
          <p:nvPr/>
        </p:nvSpPr>
        <p:spPr>
          <a:xfrm>
            <a:off x="1771815" y="2720093"/>
            <a:ext cx="2674291" cy="365760"/>
          </a:xfrm>
          <a:prstGeom prst="rect">
            <a:avLst/>
          </a:prstGeom>
          <a:noFill/>
          <a:ln/>
        </p:spPr>
        <p:txBody>
          <a:bodyPr wrap="square" lIns="0" tIns="0" rIns="0" bIns="0" rtlCol="0" anchor="t"/>
          <a:lstStyle/>
          <a:p>
            <a:pPr indent="0" marL="0">
              <a:buNone/>
            </a:pPr>
            <a:r>
              <a:rPr lang="en-US" sz="750" dirty="0">
                <a:solidFill>
                  <a:srgbClr val="1E2A26"/>
                </a:solidFill>
                <a:latin typeface="Arial" pitchFamily="34" charset="0"/>
                <a:ea typeface="Arial" pitchFamily="34" charset="-122"/>
                <a:cs typeface="Arial" pitchFamily="34" charset="-120"/>
              </a:rPr>
              <a:t>•  Membaca</a:t>
            </a:r>
            <a:endParaRPr lang="en-US" sz="750" dirty="0"/>
          </a:p>
          <a:p>
            <a:pPr indent="0" marL="0">
              <a:buNone/>
            </a:pPr>
            <a:r>
              <a:rPr lang="en-US" sz="750" dirty="0">
                <a:solidFill>
                  <a:srgbClr val="1E2A26"/>
                </a:solidFill>
                <a:latin typeface="Arial" pitchFamily="34" charset="0"/>
                <a:ea typeface="Arial" pitchFamily="34" charset="-122"/>
                <a:cs typeface="Arial" pitchFamily="34" charset="-120"/>
              </a:rPr>
              <a:t>•  Kaligrafi</a:t>
            </a:r>
            <a:endParaRPr lang="en-US" sz="750" dirty="0"/>
          </a:p>
        </p:txBody>
      </p:sp>
      <p:sp>
        <p:nvSpPr>
          <p:cNvPr id="35" name="Shape 28"/>
          <p:cNvSpPr/>
          <p:nvPr/>
        </p:nvSpPr>
        <p:spPr>
          <a:xfrm>
            <a:off x="1524927" y="2363477"/>
            <a:ext cx="3076627" cy="996696"/>
          </a:xfrm>
          <a:prstGeom prst="roundRect">
            <a:avLst>
              <a:gd name="adj" fmla="val 4587"/>
            </a:avLst>
          </a:prstGeom>
          <a:solidFill>
            <a:srgbClr val="FFFFFF">
              <a:alpha val="0"/>
            </a:srgbClr>
          </a:solidFill>
          <a:ln w="31750">
            <a:solidFill>
              <a:srgbClr val="E53935"/>
            </a:solidFill>
            <a:prstDash val="solid"/>
          </a:ln>
        </p:spPr>
      </p:sp>
      <p:sp>
        <p:nvSpPr>
          <p:cNvPr id="36" name="Shape 29"/>
          <p:cNvSpPr/>
          <p:nvPr/>
        </p:nvSpPr>
        <p:spPr>
          <a:xfrm>
            <a:off x="4464393" y="2226317"/>
            <a:ext cx="274320" cy="274320"/>
          </a:xfrm>
          <a:prstGeom prst="ellipse">
            <a:avLst/>
          </a:prstGeom>
          <a:solidFill>
            <a:srgbClr val="E53935"/>
          </a:solidFill>
          <a:ln w="12700">
            <a:solidFill>
              <a:srgbClr val="FFFFFF"/>
            </a:solidFill>
            <a:prstDash val="solid"/>
          </a:ln>
        </p:spPr>
      </p:sp>
      <p:sp>
        <p:nvSpPr>
          <p:cNvPr id="37" name="Text 30"/>
          <p:cNvSpPr txBox="1"/>
          <p:nvPr/>
        </p:nvSpPr>
        <p:spPr>
          <a:xfrm>
            <a:off x="4464393" y="22263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38" name="Image 5" descr="preencoded.png">    </p:cNvPr>
          <p:cNvPicPr>
            <a:picLocks noChangeAspect="1"/>
          </p:cNvPicPr>
          <p:nvPr/>
        </p:nvPicPr>
        <p:blipFill>
          <a:blip r:embed="rId6"/>
          <a:stretch>
            <a:fillRect/>
          </a:stretch>
        </p:blipFill>
        <p:spPr>
          <a:xfrm>
            <a:off x="3215243" y="2909831"/>
            <a:ext cx="237744" cy="237744"/>
          </a:xfrm>
          <a:prstGeom prst="rect">
            <a:avLst/>
          </a:prstGeom>
        </p:spPr>
      </p:pic>
      <p:sp>
        <p:nvSpPr>
          <p:cNvPr id="39" name="Text 3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0" name="Text 3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Lihat kartu di browser</a:t>
            </a:r>
            <a:endParaRPr lang="en-US" sz="1800" dirty="0"/>
          </a:p>
        </p:txBody>
      </p:sp>
      <p:sp>
        <p:nvSpPr>
          <p:cNvPr id="41" name="Text 3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Bagian Hobi kini tampil sebagai kartu putih bersudut bulat di tengah halaman.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Tombol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&lt;div class="card"&gt;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&lt;h2&gt;</a:t>
            </a:r>
            <a:pPr indent="0" marL="0">
              <a:buNone/>
            </a:pPr>
            <a:r>
              <a:rPr lang="en-US" sz="900" dirty="0">
                <a:solidFill>
                  <a:srgbClr val="222222"/>
                </a:solidFill>
                <a:latin typeface="Courier New" pitchFamily="34" charset="0"/>
                <a:ea typeface="Courier New" pitchFamily="34" charset="-122"/>
                <a:cs typeface="Courier New" pitchFamily="34" charset="-120"/>
              </a:rPr>
              <a:t>Hobi Saya</a:t>
            </a:r>
            <a:pPr indent="0" marL="0">
              <a:buNone/>
            </a:pPr>
            <a:r>
              <a:rPr lang="en-US" sz="900" dirty="0">
                <a:solidFill>
                  <a:srgbClr val="1A5FB4"/>
                </a:solidFill>
                <a:latin typeface="Courier New" pitchFamily="34" charset="0"/>
                <a:ea typeface="Courier New" pitchFamily="34" charset="-122"/>
                <a:cs typeface="Courier New" pitchFamily="34" charset="-120"/>
              </a:rPr>
              <a:t>&lt;/h2&gt;</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&lt;ul&gt;</a:t>
            </a:r>
            <a:pPr indent="0" marL="0">
              <a:buNone/>
            </a:pPr>
            <a:r>
              <a:rPr lang="en-US" sz="900" dirty="0">
                <a:solidFill>
                  <a:srgbClr val="222222"/>
                </a:solidFill>
                <a:latin typeface="Courier New" pitchFamily="34" charset="0"/>
                <a:ea typeface="Courier New" pitchFamily="34" charset="-122"/>
                <a:cs typeface="Courier New" pitchFamily="34" charset="-120"/>
              </a:rPr>
              <a:t> ... </a:t>
            </a:r>
            <a:pPr indent="0" marL="0">
              <a:buNone/>
            </a:pPr>
            <a:r>
              <a:rPr lang="en-US" sz="900" dirty="0">
                <a:solidFill>
                  <a:srgbClr val="1A5FB4"/>
                </a:solidFill>
                <a:latin typeface="Courier New" pitchFamily="34" charset="0"/>
                <a:ea typeface="Courier New" pitchFamily="34" charset="-122"/>
                <a:cs typeface="Courier New" pitchFamily="34" charset="-120"/>
              </a:rPr>
              <a:t>&lt;/ul&gt;</a:t>
            </a:r>
            <a:endParaRPr lang="en-US" sz="900" dirty="0"/>
          </a:p>
        </p:txBody>
      </p:sp>
      <p:sp>
        <p:nvSpPr>
          <p:cNvPr id="31" name="Shape 27"/>
          <p:cNvSpPr/>
          <p:nvPr/>
        </p:nvSpPr>
        <p:spPr>
          <a:xfrm>
            <a:off x="913668" y="2182760"/>
            <a:ext cx="4555175" cy="173736"/>
          </a:xfrm>
          <a:prstGeom prst="rect">
            <a:avLst/>
          </a:prstGeom>
          <a:solidFill>
            <a:srgbClr val="FFF59D"/>
          </a:solidFill>
          <a:ln w="12700">
            <a:solidFill>
              <a:srgbClr val="FFF59D"/>
            </a:solidFill>
            <a:prstDash val="solid"/>
          </a:ln>
        </p:spPr>
      </p:sp>
      <p:sp>
        <p:nvSpPr>
          <p:cNvPr id="32" name="Text 28"/>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3" name="Text 29"/>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&lt;a class="tombol" href="https://sites.google.com/view/kelas8a-wu"&gt;</a:t>
            </a:r>
            <a:pPr indent="0" marL="0">
              <a:buNone/>
            </a:pPr>
            <a:r>
              <a:rPr lang="en-US" sz="900" dirty="0">
                <a:solidFill>
                  <a:srgbClr val="222222"/>
                </a:solidFill>
                <a:latin typeface="Courier New" pitchFamily="34" charset="0"/>
                <a:ea typeface="Courier New" pitchFamily="34" charset="-122"/>
                <a:cs typeface="Courier New" pitchFamily="34" charset="-120"/>
              </a:rPr>
              <a:t>Website Kelas</a:t>
            </a:r>
            <a:pPr indent="0" marL="0">
              <a:buNone/>
            </a:pPr>
            <a:r>
              <a:rPr lang="en-US" sz="900" dirty="0">
                <a:solidFill>
                  <a:srgbClr val="1A5FB4"/>
                </a:solidFill>
                <a:latin typeface="Courier New" pitchFamily="34" charset="0"/>
                <a:ea typeface="Courier New" pitchFamily="34" charset="-122"/>
                <a:cs typeface="Courier New" pitchFamily="34" charset="-120"/>
              </a:rPr>
              <a:t>&lt;/a&gt;</a:t>
            </a:r>
            <a:endParaRPr lang="en-US" sz="900" dirty="0"/>
          </a:p>
        </p:txBody>
      </p:sp>
      <p:sp>
        <p:nvSpPr>
          <p:cNvPr id="34" name="Text 30"/>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5" name="Text 31"/>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&lt;/div&gt;</a:t>
            </a:r>
            <a:endParaRPr lang="en-US" sz="900" dirty="0"/>
          </a:p>
        </p:txBody>
      </p:sp>
      <p:sp>
        <p:nvSpPr>
          <p:cNvPr id="36" name="Shape 32"/>
          <p:cNvSpPr/>
          <p:nvPr/>
        </p:nvSpPr>
        <p:spPr>
          <a:xfrm>
            <a:off x="913668" y="2164472"/>
            <a:ext cx="4555175" cy="210312"/>
          </a:xfrm>
          <a:prstGeom prst="roundRect">
            <a:avLst>
              <a:gd name="adj" fmla="val 21739"/>
            </a:avLst>
          </a:prstGeom>
          <a:solidFill>
            <a:srgbClr val="FFFFFF">
              <a:alpha val="0"/>
            </a:srgbClr>
          </a:solidFill>
          <a:ln w="31750">
            <a:solidFill>
              <a:srgbClr val="E53935"/>
            </a:solidFill>
            <a:prstDash val="solid"/>
          </a:ln>
        </p:spPr>
      </p:sp>
      <p:sp>
        <p:nvSpPr>
          <p:cNvPr id="37" name="Shape 33"/>
          <p:cNvSpPr/>
          <p:nvPr/>
        </p:nvSpPr>
        <p:spPr>
          <a:xfrm>
            <a:off x="5331684" y="2027312"/>
            <a:ext cx="274320" cy="274320"/>
          </a:xfrm>
          <a:prstGeom prst="ellipse">
            <a:avLst/>
          </a:prstGeom>
          <a:solidFill>
            <a:srgbClr val="E53935"/>
          </a:solidFill>
          <a:ln w="12700">
            <a:solidFill>
              <a:srgbClr val="FFFFFF"/>
            </a:solidFill>
            <a:prstDash val="solid"/>
          </a:ln>
        </p:spPr>
      </p:sp>
      <p:sp>
        <p:nvSpPr>
          <p:cNvPr id="38" name="Text 34"/>
          <p:cNvSpPr txBox="1"/>
          <p:nvPr/>
        </p:nvSpPr>
        <p:spPr>
          <a:xfrm>
            <a:off x="5331684" y="2027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39" name="Image 2" descr="preencoded.png">    </p:cNvPr>
          <p:cNvPicPr>
            <a:picLocks noChangeAspect="1"/>
          </p:cNvPicPr>
          <p:nvPr/>
        </p:nvPicPr>
        <p:blipFill>
          <a:blip r:embed="rId3"/>
          <a:stretch>
            <a:fillRect/>
          </a:stretch>
        </p:blipFill>
        <p:spPr>
          <a:xfrm>
            <a:off x="3417186" y="2278314"/>
            <a:ext cx="237744" cy="237744"/>
          </a:xfrm>
          <a:prstGeom prst="rect">
            <a:avLst/>
          </a:prstGeom>
        </p:spPr>
      </p:pic>
      <p:sp>
        <p:nvSpPr>
          <p:cNvPr id="40"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1"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Beri class tombol pada link</a:t>
            </a:r>
            <a:endParaRPr lang="en-US" sz="1800" dirty="0"/>
          </a:p>
        </p:txBody>
      </p:sp>
      <p:sp>
        <p:nvSpPr>
          <p:cNvPr id="42"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Ubah link menjadi &lt;a class="tombol" href="..."&gt;Website Kelas&lt;/a&gt;.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Tombol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Shape 21"/>
          <p:cNvSpPr/>
          <p:nvPr/>
        </p:nvSpPr>
        <p:spPr>
          <a:xfrm>
            <a:off x="913668" y="1661552"/>
            <a:ext cx="4555175" cy="173736"/>
          </a:xfrm>
          <a:prstGeom prst="rect">
            <a:avLst/>
          </a:prstGeom>
          <a:solidFill>
            <a:srgbClr val="FFF59D"/>
          </a:solidFill>
          <a:ln w="12700">
            <a:solidFill>
              <a:srgbClr val="FFF59D"/>
            </a:solidFill>
            <a:prstDash val="solid"/>
          </a:ln>
        </p:spPr>
      </p:sp>
      <p:sp>
        <p:nvSpPr>
          <p:cNvPr id="26" name="Text 22"/>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7" name="Text 23"/>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.tombol {</a:t>
            </a:r>
            <a:endParaRPr lang="en-US" sz="900" dirty="0"/>
          </a:p>
        </p:txBody>
      </p:sp>
      <p:sp>
        <p:nvSpPr>
          <p:cNvPr id="28" name="Shape 24"/>
          <p:cNvSpPr/>
          <p:nvPr/>
        </p:nvSpPr>
        <p:spPr>
          <a:xfrm>
            <a:off x="913668" y="1835288"/>
            <a:ext cx="4555175" cy="173736"/>
          </a:xfrm>
          <a:prstGeom prst="rect">
            <a:avLst/>
          </a:prstGeom>
          <a:solidFill>
            <a:srgbClr val="FFF59D"/>
          </a:solidFill>
          <a:ln w="12700">
            <a:solidFill>
              <a:srgbClr val="FFF59D"/>
            </a:solidFill>
            <a:prstDash val="solid"/>
          </a:ln>
        </p:spPr>
      </p:sp>
      <p:sp>
        <p:nvSpPr>
          <p:cNvPr id="29" name="Text 25"/>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30" name="Text 26"/>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display: inline-block;</a:t>
            </a:r>
            <a:endParaRPr lang="en-US" sz="900" dirty="0"/>
          </a:p>
        </p:txBody>
      </p:sp>
      <p:sp>
        <p:nvSpPr>
          <p:cNvPr id="31" name="Shape 27"/>
          <p:cNvSpPr/>
          <p:nvPr/>
        </p:nvSpPr>
        <p:spPr>
          <a:xfrm>
            <a:off x="913668" y="2009024"/>
            <a:ext cx="4555175" cy="173736"/>
          </a:xfrm>
          <a:prstGeom prst="rect">
            <a:avLst/>
          </a:prstGeom>
          <a:solidFill>
            <a:srgbClr val="FFF59D"/>
          </a:solidFill>
          <a:ln w="12700">
            <a:solidFill>
              <a:srgbClr val="FFF59D"/>
            </a:solidFill>
            <a:prstDash val="solid"/>
          </a:ln>
        </p:spPr>
      </p:sp>
      <p:sp>
        <p:nvSpPr>
          <p:cNvPr id="32" name="Text 28"/>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3" name="Text 29"/>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background-color: #D4A017;</a:t>
            </a:r>
            <a:endParaRPr lang="en-US" sz="900" dirty="0"/>
          </a:p>
        </p:txBody>
      </p:sp>
      <p:sp>
        <p:nvSpPr>
          <p:cNvPr id="34" name="Shape 30"/>
          <p:cNvSpPr/>
          <p:nvPr/>
        </p:nvSpPr>
        <p:spPr>
          <a:xfrm>
            <a:off x="913668" y="2182760"/>
            <a:ext cx="4555175" cy="173736"/>
          </a:xfrm>
          <a:prstGeom prst="rect">
            <a:avLst/>
          </a:prstGeom>
          <a:solidFill>
            <a:srgbClr val="FFF59D"/>
          </a:solidFill>
          <a:ln w="12700">
            <a:solidFill>
              <a:srgbClr val="FFF59D"/>
            </a:solidFill>
            <a:prstDash val="solid"/>
          </a:ln>
        </p:spPr>
      </p:sp>
      <p:sp>
        <p:nvSpPr>
          <p:cNvPr id="35" name="Text 31"/>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6" name="Text 32"/>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color: white;</a:t>
            </a:r>
            <a:endParaRPr lang="en-US" sz="900" dirty="0"/>
          </a:p>
        </p:txBody>
      </p:sp>
      <p:sp>
        <p:nvSpPr>
          <p:cNvPr id="37" name="Shape 33"/>
          <p:cNvSpPr/>
          <p:nvPr/>
        </p:nvSpPr>
        <p:spPr>
          <a:xfrm>
            <a:off x="913668" y="2356496"/>
            <a:ext cx="4555175" cy="173736"/>
          </a:xfrm>
          <a:prstGeom prst="rect">
            <a:avLst/>
          </a:prstGeom>
          <a:solidFill>
            <a:srgbClr val="FFF59D"/>
          </a:solidFill>
          <a:ln w="12700">
            <a:solidFill>
              <a:srgbClr val="FFF59D"/>
            </a:solidFill>
            <a:prstDash val="solid"/>
          </a:ln>
        </p:spPr>
      </p:sp>
      <p:sp>
        <p:nvSpPr>
          <p:cNvPr id="38" name="Text 34"/>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9" name="Text 35"/>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padding: 8px 16px;</a:t>
            </a:r>
            <a:endParaRPr lang="en-US" sz="900" dirty="0"/>
          </a:p>
        </p:txBody>
      </p:sp>
      <p:sp>
        <p:nvSpPr>
          <p:cNvPr id="40" name="Shape 36"/>
          <p:cNvSpPr/>
          <p:nvPr/>
        </p:nvSpPr>
        <p:spPr>
          <a:xfrm>
            <a:off x="913668" y="2530232"/>
            <a:ext cx="4555175" cy="173736"/>
          </a:xfrm>
          <a:prstGeom prst="rect">
            <a:avLst/>
          </a:prstGeom>
          <a:solidFill>
            <a:srgbClr val="FFF59D"/>
          </a:solidFill>
          <a:ln w="12700">
            <a:solidFill>
              <a:srgbClr val="FFF59D"/>
            </a:solidFill>
            <a:prstDash val="solid"/>
          </a:ln>
        </p:spPr>
      </p:sp>
      <p:sp>
        <p:nvSpPr>
          <p:cNvPr id="41" name="Text 37"/>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42" name="Text 38"/>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border-radius: 20px;</a:t>
            </a:r>
            <a:endParaRPr lang="en-US" sz="900" dirty="0"/>
          </a:p>
        </p:txBody>
      </p:sp>
      <p:sp>
        <p:nvSpPr>
          <p:cNvPr id="43" name="Shape 39"/>
          <p:cNvSpPr/>
          <p:nvPr/>
        </p:nvSpPr>
        <p:spPr>
          <a:xfrm>
            <a:off x="913668" y="2703968"/>
            <a:ext cx="4555175" cy="173736"/>
          </a:xfrm>
          <a:prstGeom prst="rect">
            <a:avLst/>
          </a:prstGeom>
          <a:solidFill>
            <a:srgbClr val="FFF59D"/>
          </a:solidFill>
          <a:ln w="12700">
            <a:solidFill>
              <a:srgbClr val="FFF59D"/>
            </a:solidFill>
            <a:prstDash val="solid"/>
          </a:ln>
        </p:spPr>
      </p:sp>
      <p:sp>
        <p:nvSpPr>
          <p:cNvPr id="44" name="Text 40"/>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5" name="Text 41"/>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text-decoration: none;</a:t>
            </a:r>
            <a:endParaRPr lang="en-US" sz="900" dirty="0"/>
          </a:p>
        </p:txBody>
      </p:sp>
      <p:sp>
        <p:nvSpPr>
          <p:cNvPr id="46" name="Shape 42"/>
          <p:cNvSpPr/>
          <p:nvPr/>
        </p:nvSpPr>
        <p:spPr>
          <a:xfrm>
            <a:off x="913668" y="2877704"/>
            <a:ext cx="4555175" cy="173736"/>
          </a:xfrm>
          <a:prstGeom prst="rect">
            <a:avLst/>
          </a:prstGeom>
          <a:solidFill>
            <a:srgbClr val="FFF59D"/>
          </a:solidFill>
          <a:ln w="12700">
            <a:solidFill>
              <a:srgbClr val="FFF59D"/>
            </a:solidFill>
            <a:prstDash val="solid"/>
          </a:ln>
        </p:spPr>
      </p:sp>
      <p:sp>
        <p:nvSpPr>
          <p:cNvPr id="47" name="Text 43"/>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8" name="Text 44"/>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49" name="Shape 45"/>
          <p:cNvSpPr/>
          <p:nvPr/>
        </p:nvSpPr>
        <p:spPr>
          <a:xfrm>
            <a:off x="913668" y="1643264"/>
            <a:ext cx="4555175" cy="1426464"/>
          </a:xfrm>
          <a:prstGeom prst="roundRect">
            <a:avLst>
              <a:gd name="adj" fmla="val 3205"/>
            </a:avLst>
          </a:prstGeom>
          <a:solidFill>
            <a:srgbClr val="FFFFFF">
              <a:alpha val="0"/>
            </a:srgbClr>
          </a:solidFill>
          <a:ln w="31750">
            <a:solidFill>
              <a:srgbClr val="E53935"/>
            </a:solidFill>
            <a:prstDash val="solid"/>
          </a:ln>
        </p:spPr>
      </p:sp>
      <p:sp>
        <p:nvSpPr>
          <p:cNvPr id="50" name="Shape 46"/>
          <p:cNvSpPr/>
          <p:nvPr/>
        </p:nvSpPr>
        <p:spPr>
          <a:xfrm>
            <a:off x="5331684" y="1506104"/>
            <a:ext cx="274320" cy="274320"/>
          </a:xfrm>
          <a:prstGeom prst="ellipse">
            <a:avLst/>
          </a:prstGeom>
          <a:solidFill>
            <a:srgbClr val="E53935"/>
          </a:solidFill>
          <a:ln w="12700">
            <a:solidFill>
              <a:srgbClr val="FFFFFF"/>
            </a:solidFill>
            <a:prstDash val="solid"/>
          </a:ln>
        </p:spPr>
      </p:sp>
      <p:sp>
        <p:nvSpPr>
          <p:cNvPr id="51" name="Text 47"/>
          <p:cNvSpPr txBox="1"/>
          <p:nvPr/>
        </p:nvSpPr>
        <p:spPr>
          <a:xfrm>
            <a:off x="5331684" y="15061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2" name="Image 2" descr="preencoded.png">    </p:cNvPr>
          <p:cNvPicPr>
            <a:picLocks noChangeAspect="1"/>
          </p:cNvPicPr>
          <p:nvPr/>
        </p:nvPicPr>
        <p:blipFill>
          <a:blip r:embed="rId3"/>
          <a:stretch>
            <a:fillRect/>
          </a:stretch>
        </p:blipFill>
        <p:spPr>
          <a:xfrm>
            <a:off x="3417186" y="2425990"/>
            <a:ext cx="237744" cy="237744"/>
          </a:xfrm>
          <a:prstGeom prst="rect">
            <a:avLst/>
          </a:prstGeom>
        </p:spPr>
      </p:pic>
      <p:sp>
        <p:nvSpPr>
          <p:cNvPr id="53" name="Text 4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4" name="Text 4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aturan .tombol</a:t>
            </a:r>
            <a:endParaRPr lang="en-US" sz="1800" dirty="0"/>
          </a:p>
        </p:txBody>
      </p:sp>
      <p:sp>
        <p:nvSpPr>
          <p:cNvPr id="55" name="Text 5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display: inline-block; background-color: #D4A017; color: white; padding: 8px 16px; border-radius: 20px; text-decoration: none;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Hover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Profil Santri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file:///C:/Users/Santri/Documents/Website_Saya/index.html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Text 23"/>
          <p:cNvSpPr txBox="1"/>
          <p:nvPr/>
        </p:nvSpPr>
        <p:spPr>
          <a:xfrm>
            <a:off x="606064" y="1769117"/>
            <a:ext cx="4914351" cy="320040"/>
          </a:xfrm>
          <a:prstGeom prst="rect">
            <a:avLst/>
          </a:prstGeom>
          <a:noFill/>
          <a:ln/>
        </p:spPr>
        <p:txBody>
          <a:bodyPr wrap="square" lIns="0" tIns="0" rIns="0" bIns="0" rtlCol="0" anchor="t"/>
          <a:lstStyle/>
          <a:p>
            <a:pPr algn="ctr" indent="0" marL="0">
              <a:buNone/>
            </a:pPr>
            <a:r>
              <a:rPr lang="en-US" sz="1500" b="1" dirty="0">
                <a:solidFill>
                  <a:srgbClr val="0F4C3A"/>
                </a:solidFill>
                <a:latin typeface="Arial" pitchFamily="34" charset="0"/>
                <a:ea typeface="Arial" pitchFamily="34" charset="-122"/>
                <a:cs typeface="Arial" pitchFamily="34" charset="-120"/>
              </a:rPr>
              <a:t>Assalamu'alaikum!</a:t>
            </a:r>
            <a:endParaRPr lang="en-US" sz="1500" dirty="0"/>
          </a:p>
        </p:txBody>
      </p:sp>
      <p:sp>
        <p:nvSpPr>
          <p:cNvPr id="31" name="Text 24"/>
          <p:cNvSpPr txBox="1"/>
          <p:nvPr/>
        </p:nvSpPr>
        <p:spPr>
          <a:xfrm>
            <a:off x="788944" y="2153165"/>
            <a:ext cx="2948611" cy="182880"/>
          </a:xfrm>
          <a:prstGeom prst="rect">
            <a:avLst/>
          </a:prstGeom>
          <a:noFill/>
          <a:ln/>
        </p:spPr>
        <p:txBody>
          <a:bodyPr wrap="square" lIns="0" tIns="0" rIns="0" bIns="0" rtlCol="0" anchor="t"/>
          <a:lstStyle/>
          <a:p>
            <a:pPr indent="0" marL="0">
              <a:buNone/>
            </a:pPr>
            <a:r>
              <a:rPr lang="en-US" sz="800" dirty="0">
                <a:solidFill>
                  <a:srgbClr val="1E2A26"/>
                </a:solidFill>
                <a:latin typeface="Arial" pitchFamily="34" charset="0"/>
                <a:ea typeface="Arial" pitchFamily="34" charset="-122"/>
                <a:cs typeface="Arial" pitchFamily="34" charset="-120"/>
              </a:rPr>
              <a:t>Nama saya </a:t>
            </a:r>
            <a:pPr indent="0" marL="0">
              <a:buNone/>
            </a:pPr>
            <a:r>
              <a:rPr lang="en-US" sz="800" b="1" dirty="0">
                <a:solidFill>
                  <a:srgbClr val="1E2A26"/>
                </a:solidFill>
                <a:latin typeface="Arial" pitchFamily="34" charset="0"/>
                <a:ea typeface="Arial" pitchFamily="34" charset="-122"/>
                <a:cs typeface="Arial" pitchFamily="34" charset="-120"/>
              </a:rPr>
              <a:t>Ahmad</a:t>
            </a:r>
            <a:pPr indent="0" marL="0">
              <a:buNone/>
            </a:pPr>
            <a:r>
              <a:rPr lang="en-US" sz="800" dirty="0">
                <a:solidFill>
                  <a:srgbClr val="1E2A26"/>
                </a:solidFill>
                <a:latin typeface="Arial" pitchFamily="34" charset="0"/>
                <a:ea typeface="Arial" pitchFamily="34" charset="-122"/>
                <a:cs typeface="Arial" pitchFamily="34" charset="-120"/>
              </a:rPr>
              <a:t>, santri Kelas 8A.</a:t>
            </a:r>
            <a:endParaRPr lang="en-US" sz="800" dirty="0"/>
          </a:p>
        </p:txBody>
      </p:sp>
      <p:sp>
        <p:nvSpPr>
          <p:cNvPr id="32" name="Shape 25"/>
          <p:cNvSpPr/>
          <p:nvPr/>
        </p:nvSpPr>
        <p:spPr>
          <a:xfrm>
            <a:off x="1588935" y="2427485"/>
            <a:ext cx="2948611" cy="868680"/>
          </a:xfrm>
          <a:prstGeom prst="roundRect">
            <a:avLst>
              <a:gd name="adj" fmla="val 8421"/>
            </a:avLst>
          </a:prstGeom>
          <a:solidFill>
            <a:srgbClr val="FFFFFF"/>
          </a:solidFill>
          <a:ln w="9525">
            <a:solidFill>
              <a:srgbClr val="DDDDDD"/>
            </a:solidFill>
            <a:prstDash val="solid"/>
          </a:ln>
        </p:spPr>
      </p:sp>
      <p:sp>
        <p:nvSpPr>
          <p:cNvPr id="33" name="Text 26"/>
          <p:cNvSpPr txBox="1"/>
          <p:nvPr/>
        </p:nvSpPr>
        <p:spPr>
          <a:xfrm>
            <a:off x="1698663" y="2473205"/>
            <a:ext cx="2948611" cy="228600"/>
          </a:xfrm>
          <a:prstGeom prst="rect">
            <a:avLst/>
          </a:prstGeom>
          <a:noFill/>
          <a:ln/>
        </p:spPr>
        <p:txBody>
          <a:bodyPr wrap="square" lIns="0" tIns="0" rIns="0" bIns="0" rtlCol="0" anchor="t"/>
          <a:lstStyle/>
          <a:p>
            <a:pPr indent="0" marL="0">
              <a:buNone/>
            </a:pPr>
            <a:r>
              <a:rPr lang="en-US" sz="1000" b="1" dirty="0">
                <a:solidFill>
                  <a:srgbClr val="1F7A5C"/>
                </a:solidFill>
                <a:latin typeface="Arial" pitchFamily="34" charset="0"/>
                <a:ea typeface="Arial" pitchFamily="34" charset="-122"/>
                <a:cs typeface="Arial" pitchFamily="34" charset="-120"/>
              </a:rPr>
              <a:t>Hobi Saya</a:t>
            </a:r>
            <a:endParaRPr lang="en-US" sz="1000" dirty="0"/>
          </a:p>
        </p:txBody>
      </p:sp>
      <p:sp>
        <p:nvSpPr>
          <p:cNvPr id="34" name="Text 27"/>
          <p:cNvSpPr txBox="1"/>
          <p:nvPr/>
        </p:nvSpPr>
        <p:spPr>
          <a:xfrm>
            <a:off x="1771815" y="2720093"/>
            <a:ext cx="2674291" cy="365760"/>
          </a:xfrm>
          <a:prstGeom prst="rect">
            <a:avLst/>
          </a:prstGeom>
          <a:noFill/>
          <a:ln/>
        </p:spPr>
        <p:txBody>
          <a:bodyPr wrap="square" lIns="0" tIns="0" rIns="0" bIns="0" rtlCol="0" anchor="t"/>
          <a:lstStyle/>
          <a:p>
            <a:pPr indent="0" marL="0">
              <a:buNone/>
            </a:pPr>
            <a:r>
              <a:rPr lang="en-US" sz="750" dirty="0">
                <a:solidFill>
                  <a:srgbClr val="1E2A26"/>
                </a:solidFill>
                <a:latin typeface="Arial" pitchFamily="34" charset="0"/>
                <a:ea typeface="Arial" pitchFamily="34" charset="-122"/>
                <a:cs typeface="Arial" pitchFamily="34" charset="-120"/>
              </a:rPr>
              <a:t>•  Membaca</a:t>
            </a:r>
            <a:endParaRPr lang="en-US" sz="750" dirty="0"/>
          </a:p>
          <a:p>
            <a:pPr indent="0" marL="0">
              <a:buNone/>
            </a:pPr>
            <a:r>
              <a:rPr lang="en-US" sz="750" dirty="0">
                <a:solidFill>
                  <a:srgbClr val="1E2A26"/>
                </a:solidFill>
                <a:latin typeface="Arial" pitchFamily="34" charset="0"/>
                <a:ea typeface="Arial" pitchFamily="34" charset="-122"/>
                <a:cs typeface="Arial" pitchFamily="34" charset="-120"/>
              </a:rPr>
              <a:t>•  Kaligrafi</a:t>
            </a:r>
            <a:endParaRPr lang="en-US" sz="750" dirty="0"/>
          </a:p>
        </p:txBody>
      </p:sp>
      <p:sp>
        <p:nvSpPr>
          <p:cNvPr id="35" name="Shape 28"/>
          <p:cNvSpPr/>
          <p:nvPr/>
        </p:nvSpPr>
        <p:spPr>
          <a:xfrm>
            <a:off x="1698663" y="3049277"/>
            <a:ext cx="822960" cy="182880"/>
          </a:xfrm>
          <a:prstGeom prst="roundRect">
            <a:avLst>
              <a:gd name="adj" fmla="val 50000"/>
            </a:avLst>
          </a:prstGeom>
          <a:solidFill>
            <a:srgbClr val="D4A017"/>
          </a:solidFill>
          <a:ln w="12700">
            <a:solidFill>
              <a:srgbClr val="D4A017"/>
            </a:solidFill>
            <a:prstDash val="solid"/>
          </a:ln>
        </p:spPr>
      </p:sp>
      <p:sp>
        <p:nvSpPr>
          <p:cNvPr id="36" name="Text 29"/>
          <p:cNvSpPr txBox="1"/>
          <p:nvPr/>
        </p:nvSpPr>
        <p:spPr>
          <a:xfrm>
            <a:off x="1698663" y="3049277"/>
            <a:ext cx="822960"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Website Kelas</a:t>
            </a:r>
            <a:endParaRPr lang="en-US" sz="650" dirty="0"/>
          </a:p>
        </p:txBody>
      </p:sp>
      <p:sp>
        <p:nvSpPr>
          <p:cNvPr id="37" name="Shape 30"/>
          <p:cNvSpPr/>
          <p:nvPr/>
        </p:nvSpPr>
        <p:spPr>
          <a:xfrm>
            <a:off x="1671231" y="3021845"/>
            <a:ext cx="877824" cy="237744"/>
          </a:xfrm>
          <a:prstGeom prst="roundRect">
            <a:avLst>
              <a:gd name="adj" fmla="val 19231"/>
            </a:avLst>
          </a:prstGeom>
          <a:solidFill>
            <a:srgbClr val="FFFFFF">
              <a:alpha val="0"/>
            </a:srgbClr>
          </a:solidFill>
          <a:ln w="31750">
            <a:solidFill>
              <a:srgbClr val="E53935"/>
            </a:solidFill>
            <a:prstDash val="solid"/>
          </a:ln>
        </p:spPr>
      </p:sp>
      <p:sp>
        <p:nvSpPr>
          <p:cNvPr id="38" name="Shape 31"/>
          <p:cNvSpPr/>
          <p:nvPr/>
        </p:nvSpPr>
        <p:spPr>
          <a:xfrm>
            <a:off x="2411895" y="2884685"/>
            <a:ext cx="274320" cy="274320"/>
          </a:xfrm>
          <a:prstGeom prst="ellipse">
            <a:avLst/>
          </a:prstGeom>
          <a:solidFill>
            <a:srgbClr val="E53935"/>
          </a:solidFill>
          <a:ln w="12700">
            <a:solidFill>
              <a:srgbClr val="FFFFFF"/>
            </a:solidFill>
            <a:prstDash val="solid"/>
          </a:ln>
        </p:spPr>
      </p:sp>
      <p:sp>
        <p:nvSpPr>
          <p:cNvPr id="39" name="Text 32"/>
          <p:cNvSpPr txBox="1"/>
          <p:nvPr/>
        </p:nvSpPr>
        <p:spPr>
          <a:xfrm>
            <a:off x="2411895" y="28846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40" name="Image 5" descr="preencoded.png">    </p:cNvPr>
          <p:cNvPicPr>
            <a:picLocks noChangeAspect="1"/>
          </p:cNvPicPr>
          <p:nvPr/>
        </p:nvPicPr>
        <p:blipFill>
          <a:blip r:embed="rId6"/>
          <a:stretch>
            <a:fillRect/>
          </a:stretch>
        </p:blipFill>
        <p:spPr>
          <a:xfrm>
            <a:off x="2151291" y="3149861"/>
            <a:ext cx="237744" cy="237744"/>
          </a:xfrm>
          <a:prstGeom prst="rect">
            <a:avLst/>
          </a:prstGeom>
        </p:spPr>
      </p:pic>
      <p:sp>
        <p:nvSpPr>
          <p:cNvPr id="41"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2"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Efek saat kursor di atas tombol</a:t>
            </a:r>
            <a:endParaRPr lang="en-US" sz="1800" dirty="0"/>
          </a:p>
        </p:txBody>
      </p:sp>
      <p:sp>
        <p:nvSpPr>
          <p:cNvPr id="43"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Tambahkan .tombol:hover { background-color: #0F4C3A; } Arahkan kursor ke tombol: warnanya berubah.</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23</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Kerjakan dan tunjukkan kepada guru: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Bungkus semua bagian (Hobi, Cita-cita, Adab) dengan div class card.</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Ubah padding .card menjadi 24px, lihat perbedaannya.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Buat class baru .judul-kartu untuk h2 di dalam kartu.</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di buku: beda padding dan margin.</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elemen div dengan class card</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Card memiliki padding, border, dan radius</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Tombol link sudah bergaya</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Halaman tetap rapi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beda padding dan margin?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class memudahkan pekerjaan?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Rapi dan tertata adalah cerminan jiwa yang tertib. Rapikan karya seperti merapikan barisan sholat.</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Landing Page Pesantren yang responsif.</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24</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Landing Page Pesantren</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tata letak berdampingan dan responsif</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8: CSS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Lebih banyak orang membuka website dari HP atau komputer?</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24</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bagian berdampingan dengan display: flex</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halaman responsif dengan meta viewport dan flex-wrap</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Menguji tampilan HP dengan DevTools dan menyelesaikan landing page</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Struktur Landing Page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5120640" cy="3520440"/>
          </a:xfrm>
          <a:prstGeom prst="rect">
            <a:avLst/>
          </a:prstGeom>
          <a:solidFill>
            <a:srgbClr val="FFFFFF"/>
          </a:solidFill>
          <a:ln w="12700">
            <a:solidFill>
              <a:srgbClr val="BBBBBB"/>
            </a:solidFill>
            <a:prstDash val="solid"/>
          </a:ln>
        </p:spPr>
      </p:sp>
      <p:sp>
        <p:nvSpPr>
          <p:cNvPr id="10" name="Shape 6"/>
          <p:cNvSpPr/>
          <p:nvPr/>
        </p:nvSpPr>
        <p:spPr>
          <a:xfrm>
            <a:off x="548640" y="1188720"/>
            <a:ext cx="4937760" cy="685800"/>
          </a:xfrm>
          <a:prstGeom prst="rect">
            <a:avLst/>
          </a:prstGeom>
          <a:solidFill>
            <a:srgbClr val="0F4C3A"/>
          </a:solidFill>
          <a:ln w="12700">
            <a:solidFill>
              <a:srgbClr val="0F4C3A"/>
            </a:solidFill>
            <a:prstDash val="solid"/>
          </a:ln>
        </p:spPr>
      </p:sp>
      <p:pic>
        <p:nvPicPr>
          <p:cNvPr id="11" name="Image 2" descr="/home/claude/logo.png">    </p:cNvPr>
          <p:cNvPicPr>
            <a:picLocks noChangeAspect="1"/>
          </p:cNvPicPr>
          <p:nvPr/>
        </p:nvPicPr>
        <p:blipFill>
          <a:blip r:embed="rId3"/>
          <a:stretch>
            <a:fillRect/>
          </a:stretch>
        </p:blipFill>
        <p:spPr>
          <a:xfrm>
            <a:off x="621792" y="1261872"/>
            <a:ext cx="228600" cy="228600"/>
          </a:xfrm>
          <a:prstGeom prst="rect">
            <a:avLst/>
          </a:prstGeom>
        </p:spPr>
      </p:pic>
      <p:sp>
        <p:nvSpPr>
          <p:cNvPr id="12" name="Text 7"/>
          <p:cNvSpPr txBox="1"/>
          <p:nvPr/>
        </p:nvSpPr>
        <p:spPr>
          <a:xfrm>
            <a:off x="914400" y="1280160"/>
            <a:ext cx="4480560" cy="228600"/>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Pondok Pesantren Wihdatul Ummah</a:t>
            </a:r>
            <a:endParaRPr lang="en-US" sz="1000" dirty="0"/>
          </a:p>
        </p:txBody>
      </p:sp>
      <p:sp>
        <p:nvSpPr>
          <p:cNvPr id="13" name="Text 8"/>
          <p:cNvSpPr txBox="1"/>
          <p:nvPr/>
        </p:nvSpPr>
        <p:spPr>
          <a:xfrm>
            <a:off x="914400" y="1536192"/>
            <a:ext cx="4480560" cy="182880"/>
          </a:xfrm>
          <a:prstGeom prst="rect">
            <a:avLst/>
          </a:prstGeom>
          <a:noFill/>
          <a:ln/>
        </p:spPr>
        <p:txBody>
          <a:bodyPr wrap="square" lIns="0" tIns="0" rIns="0" bIns="0" rtlCol="0" anchor="t"/>
          <a:lstStyle/>
          <a:p>
            <a:pPr indent="0" marL="0">
              <a:buNone/>
            </a:pPr>
            <a:r>
              <a:rPr lang="en-US" sz="700" dirty="0">
                <a:solidFill>
                  <a:srgbClr val="BFE3D3"/>
                </a:solidFill>
                <a:latin typeface="Arial" pitchFamily="34" charset="0"/>
                <a:ea typeface="Arial" pitchFamily="34" charset="-122"/>
                <a:cs typeface="Arial" pitchFamily="34" charset="-120"/>
              </a:rPr>
              <a:t>Mencetak generasi Qur'ani yang berakhlak dan cerdas</a:t>
            </a:r>
            <a:endParaRPr lang="en-US" sz="700" dirty="0"/>
          </a:p>
        </p:txBody>
      </p:sp>
      <p:sp>
        <p:nvSpPr>
          <p:cNvPr id="14" name="Shape 9"/>
          <p:cNvSpPr/>
          <p:nvPr/>
        </p:nvSpPr>
        <p:spPr>
          <a:xfrm>
            <a:off x="621792" y="2011680"/>
            <a:ext cx="1548384" cy="566928"/>
          </a:xfrm>
          <a:prstGeom prst="roundRect">
            <a:avLst>
              <a:gd name="adj" fmla="val 9677"/>
            </a:avLst>
          </a:prstGeom>
          <a:solidFill>
            <a:srgbClr val="FFFFFF"/>
          </a:solidFill>
          <a:ln w="9525">
            <a:solidFill>
              <a:srgbClr val="DDDDDD"/>
            </a:solidFill>
            <a:prstDash val="solid"/>
          </a:ln>
        </p:spPr>
      </p:sp>
      <p:sp>
        <p:nvSpPr>
          <p:cNvPr id="15" name="Shape 10"/>
          <p:cNvSpPr/>
          <p:nvPr/>
        </p:nvSpPr>
        <p:spPr>
          <a:xfrm>
            <a:off x="621792" y="2011680"/>
            <a:ext cx="1548384" cy="54864"/>
          </a:xfrm>
          <a:prstGeom prst="rect">
            <a:avLst/>
          </a:prstGeom>
          <a:solidFill>
            <a:srgbClr val="D4A017"/>
          </a:solidFill>
          <a:ln w="12700">
            <a:solidFill>
              <a:srgbClr val="D4A017"/>
            </a:solidFill>
            <a:prstDash val="solid"/>
          </a:ln>
        </p:spPr>
      </p:sp>
      <p:sp>
        <p:nvSpPr>
          <p:cNvPr id="16" name="Text 11"/>
          <p:cNvSpPr txBox="1"/>
          <p:nvPr/>
        </p:nvSpPr>
        <p:spPr>
          <a:xfrm>
            <a:off x="694944" y="2103120"/>
            <a:ext cx="1456944" cy="182880"/>
          </a:xfrm>
          <a:prstGeom prst="rect">
            <a:avLst/>
          </a:prstGeom>
          <a:noFill/>
          <a:ln/>
        </p:spPr>
        <p:txBody>
          <a:bodyPr wrap="square" lIns="0" tIns="0" rIns="0" bIns="0" rtlCol="0" anchor="t"/>
          <a:lstStyle/>
          <a:p>
            <a:pPr indent="0" marL="0">
              <a:buNone/>
            </a:pPr>
            <a:r>
              <a:rPr lang="en-US" sz="800" b="1" dirty="0">
                <a:solidFill>
                  <a:srgbClr val="0F4C3A"/>
                </a:solidFill>
                <a:latin typeface="Arial" pitchFamily="34" charset="0"/>
                <a:ea typeface="Arial" pitchFamily="34" charset="-122"/>
                <a:cs typeface="Arial" pitchFamily="34" charset="-120"/>
              </a:rPr>
              <a:t>Tahfidz</a:t>
            </a:r>
            <a:endParaRPr lang="en-US" sz="800" dirty="0"/>
          </a:p>
        </p:txBody>
      </p:sp>
      <p:sp>
        <p:nvSpPr>
          <p:cNvPr id="17" name="Text 12"/>
          <p:cNvSpPr txBox="1"/>
          <p:nvPr/>
        </p:nvSpPr>
        <p:spPr>
          <a:xfrm>
            <a:off x="694944" y="2286000"/>
            <a:ext cx="1411224" cy="256032"/>
          </a:xfrm>
          <a:prstGeom prst="rect">
            <a:avLst/>
          </a:prstGeom>
          <a:noFill/>
          <a:ln/>
        </p:spPr>
        <p:txBody>
          <a:bodyPr wrap="square" lIns="0" tIns="0" rIns="0" bIns="0" rtlCol="0" anchor="t"/>
          <a:lstStyle/>
          <a:p>
            <a:pPr indent="0" marL="0">
              <a:buNone/>
            </a:pPr>
            <a:r>
              <a:rPr lang="en-US" sz="550" dirty="0">
                <a:solidFill>
                  <a:srgbClr val="1E2A26"/>
                </a:solidFill>
                <a:latin typeface="Arial" pitchFamily="34" charset="0"/>
                <a:ea typeface="Arial" pitchFamily="34" charset="-122"/>
                <a:cs typeface="Arial" pitchFamily="34" charset="-120"/>
              </a:rPr>
              <a:t>Program unggulan pondok untuk santri.</a:t>
            </a:r>
            <a:endParaRPr lang="en-US" sz="550" dirty="0"/>
          </a:p>
        </p:txBody>
      </p:sp>
      <p:sp>
        <p:nvSpPr>
          <p:cNvPr id="18" name="Shape 13"/>
          <p:cNvSpPr/>
          <p:nvPr/>
        </p:nvSpPr>
        <p:spPr>
          <a:xfrm>
            <a:off x="2243328" y="2011680"/>
            <a:ext cx="1548384" cy="566928"/>
          </a:xfrm>
          <a:prstGeom prst="roundRect">
            <a:avLst>
              <a:gd name="adj" fmla="val 9677"/>
            </a:avLst>
          </a:prstGeom>
          <a:solidFill>
            <a:srgbClr val="FFFFFF"/>
          </a:solidFill>
          <a:ln w="9525">
            <a:solidFill>
              <a:srgbClr val="DDDDDD"/>
            </a:solidFill>
            <a:prstDash val="solid"/>
          </a:ln>
        </p:spPr>
      </p:sp>
      <p:sp>
        <p:nvSpPr>
          <p:cNvPr id="19" name="Shape 14"/>
          <p:cNvSpPr/>
          <p:nvPr/>
        </p:nvSpPr>
        <p:spPr>
          <a:xfrm>
            <a:off x="2243328" y="2011680"/>
            <a:ext cx="1548384" cy="54864"/>
          </a:xfrm>
          <a:prstGeom prst="rect">
            <a:avLst/>
          </a:prstGeom>
          <a:solidFill>
            <a:srgbClr val="D4A017"/>
          </a:solidFill>
          <a:ln w="12700">
            <a:solidFill>
              <a:srgbClr val="D4A017"/>
            </a:solidFill>
            <a:prstDash val="solid"/>
          </a:ln>
        </p:spPr>
      </p:sp>
      <p:sp>
        <p:nvSpPr>
          <p:cNvPr id="20" name="Text 15"/>
          <p:cNvSpPr txBox="1"/>
          <p:nvPr/>
        </p:nvSpPr>
        <p:spPr>
          <a:xfrm>
            <a:off x="2316480" y="2103120"/>
            <a:ext cx="1456944" cy="182880"/>
          </a:xfrm>
          <a:prstGeom prst="rect">
            <a:avLst/>
          </a:prstGeom>
          <a:noFill/>
          <a:ln/>
        </p:spPr>
        <p:txBody>
          <a:bodyPr wrap="square" lIns="0" tIns="0" rIns="0" bIns="0" rtlCol="0" anchor="t"/>
          <a:lstStyle/>
          <a:p>
            <a:pPr indent="0" marL="0">
              <a:buNone/>
            </a:pPr>
            <a:r>
              <a:rPr lang="en-US" sz="800" b="1" dirty="0">
                <a:solidFill>
                  <a:srgbClr val="0F4C3A"/>
                </a:solidFill>
                <a:latin typeface="Arial" pitchFamily="34" charset="0"/>
                <a:ea typeface="Arial" pitchFamily="34" charset="-122"/>
                <a:cs typeface="Arial" pitchFamily="34" charset="-120"/>
              </a:rPr>
              <a:t>Diniyah</a:t>
            </a:r>
            <a:endParaRPr lang="en-US" sz="800" dirty="0"/>
          </a:p>
        </p:txBody>
      </p:sp>
      <p:sp>
        <p:nvSpPr>
          <p:cNvPr id="21" name="Text 16"/>
          <p:cNvSpPr txBox="1"/>
          <p:nvPr/>
        </p:nvSpPr>
        <p:spPr>
          <a:xfrm>
            <a:off x="2316480" y="2286000"/>
            <a:ext cx="1411224" cy="256032"/>
          </a:xfrm>
          <a:prstGeom prst="rect">
            <a:avLst/>
          </a:prstGeom>
          <a:noFill/>
          <a:ln/>
        </p:spPr>
        <p:txBody>
          <a:bodyPr wrap="square" lIns="0" tIns="0" rIns="0" bIns="0" rtlCol="0" anchor="t"/>
          <a:lstStyle/>
          <a:p>
            <a:pPr indent="0" marL="0">
              <a:buNone/>
            </a:pPr>
            <a:r>
              <a:rPr lang="en-US" sz="550" dirty="0">
                <a:solidFill>
                  <a:srgbClr val="1E2A26"/>
                </a:solidFill>
                <a:latin typeface="Arial" pitchFamily="34" charset="0"/>
                <a:ea typeface="Arial" pitchFamily="34" charset="-122"/>
                <a:cs typeface="Arial" pitchFamily="34" charset="-120"/>
              </a:rPr>
              <a:t>Program unggulan pondok untuk santri.</a:t>
            </a:r>
            <a:endParaRPr lang="en-US" sz="550" dirty="0"/>
          </a:p>
        </p:txBody>
      </p:sp>
      <p:sp>
        <p:nvSpPr>
          <p:cNvPr id="22" name="Shape 17"/>
          <p:cNvSpPr/>
          <p:nvPr/>
        </p:nvSpPr>
        <p:spPr>
          <a:xfrm>
            <a:off x="3864864" y="2011680"/>
            <a:ext cx="1548384" cy="566928"/>
          </a:xfrm>
          <a:prstGeom prst="roundRect">
            <a:avLst>
              <a:gd name="adj" fmla="val 9677"/>
            </a:avLst>
          </a:prstGeom>
          <a:solidFill>
            <a:srgbClr val="FFFFFF"/>
          </a:solidFill>
          <a:ln w="9525">
            <a:solidFill>
              <a:srgbClr val="DDDDDD"/>
            </a:solidFill>
            <a:prstDash val="solid"/>
          </a:ln>
        </p:spPr>
      </p:sp>
      <p:sp>
        <p:nvSpPr>
          <p:cNvPr id="23" name="Shape 18"/>
          <p:cNvSpPr/>
          <p:nvPr/>
        </p:nvSpPr>
        <p:spPr>
          <a:xfrm>
            <a:off x="3864864" y="2011680"/>
            <a:ext cx="1548384" cy="54864"/>
          </a:xfrm>
          <a:prstGeom prst="rect">
            <a:avLst/>
          </a:prstGeom>
          <a:solidFill>
            <a:srgbClr val="D4A017"/>
          </a:solidFill>
          <a:ln w="12700">
            <a:solidFill>
              <a:srgbClr val="D4A017"/>
            </a:solidFill>
            <a:prstDash val="solid"/>
          </a:ln>
        </p:spPr>
      </p:sp>
      <p:sp>
        <p:nvSpPr>
          <p:cNvPr id="24" name="Text 19"/>
          <p:cNvSpPr txBox="1"/>
          <p:nvPr/>
        </p:nvSpPr>
        <p:spPr>
          <a:xfrm>
            <a:off x="3938016" y="2103120"/>
            <a:ext cx="1456944" cy="182880"/>
          </a:xfrm>
          <a:prstGeom prst="rect">
            <a:avLst/>
          </a:prstGeom>
          <a:noFill/>
          <a:ln/>
        </p:spPr>
        <p:txBody>
          <a:bodyPr wrap="square" lIns="0" tIns="0" rIns="0" bIns="0" rtlCol="0" anchor="t"/>
          <a:lstStyle/>
          <a:p>
            <a:pPr indent="0" marL="0">
              <a:buNone/>
            </a:pPr>
            <a:r>
              <a:rPr lang="en-US" sz="800" b="1" dirty="0">
                <a:solidFill>
                  <a:srgbClr val="0F4C3A"/>
                </a:solidFill>
                <a:latin typeface="Arial" pitchFamily="34" charset="0"/>
                <a:ea typeface="Arial" pitchFamily="34" charset="-122"/>
                <a:cs typeface="Arial" pitchFamily="34" charset="-120"/>
              </a:rPr>
              <a:t>Teknologi</a:t>
            </a:r>
            <a:endParaRPr lang="en-US" sz="800" dirty="0"/>
          </a:p>
        </p:txBody>
      </p:sp>
      <p:sp>
        <p:nvSpPr>
          <p:cNvPr id="25" name="Text 20"/>
          <p:cNvSpPr txBox="1"/>
          <p:nvPr/>
        </p:nvSpPr>
        <p:spPr>
          <a:xfrm>
            <a:off x="3938016" y="2286000"/>
            <a:ext cx="1411224" cy="256032"/>
          </a:xfrm>
          <a:prstGeom prst="rect">
            <a:avLst/>
          </a:prstGeom>
          <a:noFill/>
          <a:ln/>
        </p:spPr>
        <p:txBody>
          <a:bodyPr wrap="square" lIns="0" tIns="0" rIns="0" bIns="0" rtlCol="0" anchor="t"/>
          <a:lstStyle/>
          <a:p>
            <a:pPr indent="0" marL="0">
              <a:buNone/>
            </a:pPr>
            <a:r>
              <a:rPr lang="en-US" sz="550" dirty="0">
                <a:solidFill>
                  <a:srgbClr val="1E2A26"/>
                </a:solidFill>
                <a:latin typeface="Arial" pitchFamily="34" charset="0"/>
                <a:ea typeface="Arial" pitchFamily="34" charset="-122"/>
                <a:cs typeface="Arial" pitchFamily="34" charset="-120"/>
              </a:rPr>
              <a:t>Program unggulan pondok untuk santri.</a:t>
            </a:r>
            <a:endParaRPr lang="en-US" sz="550" dirty="0"/>
          </a:p>
        </p:txBody>
      </p:sp>
      <p:sp>
        <p:nvSpPr>
          <p:cNvPr id="26" name="Shape 21"/>
          <p:cNvSpPr/>
          <p:nvPr/>
        </p:nvSpPr>
        <p:spPr>
          <a:xfrm>
            <a:off x="2514600" y="2670048"/>
            <a:ext cx="1005840" cy="201168"/>
          </a:xfrm>
          <a:prstGeom prst="roundRect">
            <a:avLst>
              <a:gd name="adj" fmla="val 50000"/>
            </a:avLst>
          </a:prstGeom>
          <a:solidFill>
            <a:srgbClr val="D4A017"/>
          </a:solidFill>
          <a:ln w="12700">
            <a:solidFill>
              <a:srgbClr val="D4A017"/>
            </a:solidFill>
            <a:prstDash val="solid"/>
          </a:ln>
        </p:spPr>
      </p:sp>
      <p:sp>
        <p:nvSpPr>
          <p:cNvPr id="27" name="Text 22"/>
          <p:cNvSpPr txBox="1"/>
          <p:nvPr/>
        </p:nvSpPr>
        <p:spPr>
          <a:xfrm>
            <a:off x="2514600" y="2670048"/>
            <a:ext cx="100584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Lihat Website Kelas</a:t>
            </a:r>
            <a:endParaRPr lang="en-US" sz="650" dirty="0"/>
          </a:p>
        </p:txBody>
      </p:sp>
      <p:sp>
        <p:nvSpPr>
          <p:cNvPr id="28" name="Shape 23"/>
          <p:cNvSpPr/>
          <p:nvPr/>
        </p:nvSpPr>
        <p:spPr>
          <a:xfrm>
            <a:off x="5852160" y="1298448"/>
            <a:ext cx="329184" cy="329184"/>
          </a:xfrm>
          <a:prstGeom prst="ellipse">
            <a:avLst/>
          </a:prstGeom>
          <a:solidFill>
            <a:srgbClr val="E53935"/>
          </a:solidFill>
          <a:ln/>
        </p:spPr>
      </p:sp>
      <p:sp>
        <p:nvSpPr>
          <p:cNvPr id="29" name="Text 24"/>
          <p:cNvSpPr txBox="1"/>
          <p:nvPr/>
        </p:nvSpPr>
        <p:spPr>
          <a:xfrm>
            <a:off x="5852160" y="12984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Text 25"/>
          <p:cNvSpPr txBox="1"/>
          <p:nvPr/>
        </p:nvSpPr>
        <p:spPr>
          <a:xfrm>
            <a:off x="6309360" y="1188720"/>
            <a:ext cx="2377440" cy="54864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Header: logo, nama, slogan</a:t>
            </a:r>
            <a:endParaRPr lang="en-US" sz="1300" dirty="0"/>
          </a:p>
        </p:txBody>
      </p:sp>
      <p:sp>
        <p:nvSpPr>
          <p:cNvPr id="31" name="Shape 26"/>
          <p:cNvSpPr/>
          <p:nvPr/>
        </p:nvSpPr>
        <p:spPr>
          <a:xfrm>
            <a:off x="5852160" y="2304288"/>
            <a:ext cx="329184" cy="329184"/>
          </a:xfrm>
          <a:prstGeom prst="ellipse">
            <a:avLst/>
          </a:prstGeom>
          <a:solidFill>
            <a:srgbClr val="E53935"/>
          </a:solidFill>
          <a:ln/>
        </p:spPr>
      </p:sp>
      <p:sp>
        <p:nvSpPr>
          <p:cNvPr id="32" name="Text 27"/>
          <p:cNvSpPr txBox="1"/>
          <p:nvPr/>
        </p:nvSpPr>
        <p:spPr>
          <a:xfrm>
            <a:off x="5852160" y="23042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28"/>
          <p:cNvSpPr txBox="1"/>
          <p:nvPr/>
        </p:nvSpPr>
        <p:spPr>
          <a:xfrm>
            <a:off x="6309360" y="2194560"/>
            <a:ext cx="2377440" cy="54864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Kartu program (berdampingan)</a:t>
            </a:r>
            <a:endParaRPr lang="en-US" sz="1300" dirty="0"/>
          </a:p>
        </p:txBody>
      </p:sp>
      <p:sp>
        <p:nvSpPr>
          <p:cNvPr id="34" name="Shape 29"/>
          <p:cNvSpPr/>
          <p:nvPr/>
        </p:nvSpPr>
        <p:spPr>
          <a:xfrm>
            <a:off x="5852160" y="3401568"/>
            <a:ext cx="329184" cy="329184"/>
          </a:xfrm>
          <a:prstGeom prst="ellipse">
            <a:avLst/>
          </a:prstGeom>
          <a:solidFill>
            <a:srgbClr val="E53935"/>
          </a:solidFill>
          <a:ln/>
        </p:spPr>
      </p:sp>
      <p:sp>
        <p:nvSpPr>
          <p:cNvPr id="35" name="Text 30"/>
          <p:cNvSpPr txBox="1"/>
          <p:nvPr/>
        </p:nvSpPr>
        <p:spPr>
          <a:xfrm>
            <a:off x="5852160" y="34015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6" name="Text 31"/>
          <p:cNvSpPr txBox="1"/>
          <p:nvPr/>
        </p:nvSpPr>
        <p:spPr>
          <a:xfrm>
            <a:off x="6309360" y="3291840"/>
            <a:ext cx="2377440" cy="54864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Tombol menuju website kelas</a:t>
            </a:r>
            <a:endParaRPr lang="en-US" sz="1300" dirty="0"/>
          </a:p>
        </p:txBody>
      </p:sp>
      <p:sp>
        <p:nvSpPr>
          <p:cNvPr id="37" name="Shape 32"/>
          <p:cNvSpPr/>
          <p:nvPr/>
        </p:nvSpPr>
        <p:spPr>
          <a:xfrm>
            <a:off x="5852160" y="4041648"/>
            <a:ext cx="329184" cy="329184"/>
          </a:xfrm>
          <a:prstGeom prst="ellipse">
            <a:avLst/>
          </a:prstGeom>
          <a:solidFill>
            <a:srgbClr val="E53935"/>
          </a:solidFill>
          <a:ln/>
        </p:spPr>
      </p:sp>
      <p:sp>
        <p:nvSpPr>
          <p:cNvPr id="38" name="Text 33"/>
          <p:cNvSpPr txBox="1"/>
          <p:nvPr/>
        </p:nvSpPr>
        <p:spPr>
          <a:xfrm>
            <a:off x="5852160"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9" name="Text 34"/>
          <p:cNvSpPr txBox="1"/>
          <p:nvPr/>
        </p:nvSpPr>
        <p:spPr>
          <a:xfrm>
            <a:off x="6309360" y="3931920"/>
            <a:ext cx="2377440" cy="54864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Footer: kelas pembuat, tahun</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Tiga Kunci Tata Letak Responsif</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meta viewport</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&lt;meta name="viewport" content="width=device-width, initial-scale=1"&gt; di head. Wajib agar HP tidak memperkecil halaman.</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display: flex</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Elemen di dalam kotak tersusun BERDAMPINGAN ke samping.</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flex-wrap: wrap</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Jika layar sempit, kartu turun ke baris berikutnya (bertumpuk).</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Membangun Landing Page Pesantren</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8 · file baru: pondok.html</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Header dan kartu program</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Flex dan responsif</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Uji di tampilan HP</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Struktur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pondok.html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&lt;!DOCTYPE html&gt;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&lt;html&gt;</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&lt;head&gt;</a:t>
            </a:r>
            <a:endParaRPr lang="en-US" sz="900" dirty="0"/>
          </a:p>
        </p:txBody>
      </p:sp>
      <p:sp>
        <p:nvSpPr>
          <p:cNvPr id="31" name="Text 27"/>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2" name="Text 28"/>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&lt;meta charset="UTF-8"&gt;</a:t>
            </a:r>
            <a:endParaRPr lang="en-US" sz="900" dirty="0"/>
          </a:p>
        </p:txBody>
      </p:sp>
      <p:sp>
        <p:nvSpPr>
          <p:cNvPr id="33" name="Shape 29"/>
          <p:cNvSpPr/>
          <p:nvPr/>
        </p:nvSpPr>
        <p:spPr>
          <a:xfrm>
            <a:off x="913668" y="2356496"/>
            <a:ext cx="4555175" cy="173736"/>
          </a:xfrm>
          <a:prstGeom prst="rect">
            <a:avLst/>
          </a:prstGeom>
          <a:solidFill>
            <a:srgbClr val="FFF59D"/>
          </a:solidFill>
          <a:ln w="12700">
            <a:solidFill>
              <a:srgbClr val="FFF59D"/>
            </a:solidFill>
            <a:prstDash val="solid"/>
          </a:ln>
        </p:spPr>
      </p:sp>
      <p:sp>
        <p:nvSpPr>
          <p:cNvPr id="34" name="Text 30"/>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5" name="Text 31"/>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&lt;meta name="viewport" content="width=device-width, initial-scale=1"&gt;</a:t>
            </a:r>
            <a:endParaRPr lang="en-US" sz="900" dirty="0"/>
          </a:p>
        </p:txBody>
      </p:sp>
      <p:sp>
        <p:nvSpPr>
          <p:cNvPr id="36" name="Text 32"/>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7" name="Text 33"/>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&lt;title&gt;</a:t>
            </a:r>
            <a:pPr indent="0" marL="0">
              <a:buNone/>
            </a:pPr>
            <a:r>
              <a:rPr lang="en-US" sz="900" dirty="0">
                <a:solidFill>
                  <a:srgbClr val="222222"/>
                </a:solidFill>
                <a:latin typeface="Courier New" pitchFamily="34" charset="0"/>
                <a:ea typeface="Courier New" pitchFamily="34" charset="-122"/>
                <a:cs typeface="Courier New" pitchFamily="34" charset="-120"/>
              </a:rPr>
              <a:t>PP Wihdatul Ummah</a:t>
            </a:r>
            <a:pPr indent="0" marL="0">
              <a:buNone/>
            </a:pPr>
            <a:r>
              <a:rPr lang="en-US" sz="900" dirty="0">
                <a:solidFill>
                  <a:srgbClr val="1A5FB4"/>
                </a:solidFill>
                <a:latin typeface="Courier New" pitchFamily="34" charset="0"/>
                <a:ea typeface="Courier New" pitchFamily="34" charset="-122"/>
                <a:cs typeface="Courier New" pitchFamily="34" charset="-120"/>
              </a:rPr>
              <a:t>&lt;/title&gt;</a:t>
            </a:r>
            <a:endParaRPr lang="en-US" sz="900" dirty="0"/>
          </a:p>
        </p:txBody>
      </p:sp>
      <p:sp>
        <p:nvSpPr>
          <p:cNvPr id="38" name="Text 34"/>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39" name="Text 35"/>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&lt;style&gt;</a:t>
            </a:r>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&lt;/style&gt;</a:t>
            </a:r>
            <a:endParaRPr lang="en-US" sz="900" dirty="0"/>
          </a:p>
        </p:txBody>
      </p:sp>
      <p:sp>
        <p:nvSpPr>
          <p:cNvPr id="40" name="Text 36"/>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1" name="Text 37"/>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&lt;/head&gt;</a:t>
            </a:r>
            <a:endParaRPr lang="en-US" sz="900" dirty="0"/>
          </a:p>
        </p:txBody>
      </p:sp>
      <p:sp>
        <p:nvSpPr>
          <p:cNvPr id="42" name="Text 38"/>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3" name="Text 39"/>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44" name="Text 40"/>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45" name="Text 41"/>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46" name="Text 42"/>
          <p:cNvSpPr txBox="1"/>
          <p:nvPr/>
        </p:nvSpPr>
        <p:spPr>
          <a:xfrm>
            <a:off x="639348" y="339891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11</a:t>
            </a:r>
            <a:endParaRPr lang="en-US" sz="800" dirty="0"/>
          </a:p>
        </p:txBody>
      </p:sp>
      <p:sp>
        <p:nvSpPr>
          <p:cNvPr id="47" name="Text 43"/>
          <p:cNvSpPr txBox="1"/>
          <p:nvPr/>
        </p:nvSpPr>
        <p:spPr>
          <a:xfrm>
            <a:off x="986820" y="339891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&lt;/html&gt;</a:t>
            </a:r>
            <a:endParaRPr lang="en-US" sz="900" dirty="0"/>
          </a:p>
        </p:txBody>
      </p:sp>
      <p:sp>
        <p:nvSpPr>
          <p:cNvPr id="48" name="Shape 44"/>
          <p:cNvSpPr/>
          <p:nvPr/>
        </p:nvSpPr>
        <p:spPr>
          <a:xfrm>
            <a:off x="913668" y="2338208"/>
            <a:ext cx="4555175" cy="210312"/>
          </a:xfrm>
          <a:prstGeom prst="roundRect">
            <a:avLst>
              <a:gd name="adj" fmla="val 21739"/>
            </a:avLst>
          </a:prstGeom>
          <a:solidFill>
            <a:srgbClr val="FFFFFF">
              <a:alpha val="0"/>
            </a:srgbClr>
          </a:solidFill>
          <a:ln w="31750">
            <a:solidFill>
              <a:srgbClr val="E53935"/>
            </a:solidFill>
            <a:prstDash val="solid"/>
          </a:ln>
        </p:spPr>
      </p:sp>
      <p:sp>
        <p:nvSpPr>
          <p:cNvPr id="49" name="Shape 45"/>
          <p:cNvSpPr/>
          <p:nvPr/>
        </p:nvSpPr>
        <p:spPr>
          <a:xfrm>
            <a:off x="5331684" y="2201048"/>
            <a:ext cx="274320" cy="274320"/>
          </a:xfrm>
          <a:prstGeom prst="ellipse">
            <a:avLst/>
          </a:prstGeom>
          <a:solidFill>
            <a:srgbClr val="E53935"/>
          </a:solidFill>
          <a:ln w="12700">
            <a:solidFill>
              <a:srgbClr val="FFFFFF"/>
            </a:solidFill>
            <a:prstDash val="solid"/>
          </a:ln>
        </p:spPr>
      </p:sp>
      <p:sp>
        <p:nvSpPr>
          <p:cNvPr id="50" name="Text 46"/>
          <p:cNvSpPr txBox="1"/>
          <p:nvPr/>
        </p:nvSpPr>
        <p:spPr>
          <a:xfrm>
            <a:off x="5331684" y="22010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51" name="Image 2" descr="preencoded.png">    </p:cNvPr>
          <p:cNvPicPr>
            <a:picLocks noChangeAspect="1"/>
          </p:cNvPicPr>
          <p:nvPr/>
        </p:nvPicPr>
        <p:blipFill>
          <a:blip r:embed="rId3"/>
          <a:stretch>
            <a:fillRect/>
          </a:stretch>
        </p:blipFill>
        <p:spPr>
          <a:xfrm>
            <a:off x="3417186" y="2452050"/>
            <a:ext cx="237744" cy="237744"/>
          </a:xfrm>
          <a:prstGeom prst="rect">
            <a:avLst/>
          </a:prstGeom>
        </p:spPr>
      </p:pic>
      <p:sp>
        <p:nvSpPr>
          <p:cNvPr id="52" name="Text 4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3" name="Text 4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File baru pondok.html dengan meta viewport</a:t>
            </a:r>
            <a:endParaRPr lang="en-US" sz="1800" dirty="0"/>
          </a:p>
        </p:txBody>
      </p:sp>
      <p:sp>
        <p:nvSpPr>
          <p:cNvPr id="54" name="Text 4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Notepad › File › New. Ketik struktur dasar dengan meta charset dan meta viewport. Simpan sebagai pondok.html (All files, UTF-8).</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Struktur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pondok.html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27" name="Shape 23"/>
          <p:cNvSpPr/>
          <p:nvPr/>
        </p:nvSpPr>
        <p:spPr>
          <a:xfrm>
            <a:off x="913668" y="1835288"/>
            <a:ext cx="4555175" cy="173736"/>
          </a:xfrm>
          <a:prstGeom prst="rect">
            <a:avLst/>
          </a:prstGeom>
          <a:solidFill>
            <a:srgbClr val="FFF59D"/>
          </a:solidFill>
          <a:ln w="12700">
            <a:solidFill>
              <a:srgbClr val="FFF59D"/>
            </a:solidFill>
            <a:prstDash val="solid"/>
          </a:ln>
        </p:spPr>
      </p:sp>
      <p:sp>
        <p:nvSpPr>
          <p:cNvPr id="28" name="Text 24"/>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9" name="Text 25"/>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&lt;header&gt;</a:t>
            </a:r>
            <a:endParaRPr lang="en-US" sz="900" dirty="0"/>
          </a:p>
        </p:txBody>
      </p:sp>
      <p:sp>
        <p:nvSpPr>
          <p:cNvPr id="30" name="Shape 26"/>
          <p:cNvSpPr/>
          <p:nvPr/>
        </p:nvSpPr>
        <p:spPr>
          <a:xfrm>
            <a:off x="913668" y="2009024"/>
            <a:ext cx="4555175" cy="173736"/>
          </a:xfrm>
          <a:prstGeom prst="rect">
            <a:avLst/>
          </a:prstGeom>
          <a:solidFill>
            <a:srgbClr val="FFF59D"/>
          </a:solidFill>
          <a:ln w="12700">
            <a:solidFill>
              <a:srgbClr val="FFF59D"/>
            </a:solidFill>
            <a:prstDash val="solid"/>
          </a:ln>
        </p:spPr>
      </p:sp>
      <p:sp>
        <p:nvSpPr>
          <p:cNvPr id="31" name="Text 27"/>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2" name="Text 28"/>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&lt;img src="logo.png" alt="Logo pondok" width="60"&gt;</a:t>
            </a:r>
            <a:endParaRPr lang="en-US" sz="900" dirty="0"/>
          </a:p>
        </p:txBody>
      </p:sp>
      <p:sp>
        <p:nvSpPr>
          <p:cNvPr id="33" name="Shape 29"/>
          <p:cNvSpPr/>
          <p:nvPr/>
        </p:nvSpPr>
        <p:spPr>
          <a:xfrm>
            <a:off x="913668" y="2182760"/>
            <a:ext cx="4555175" cy="173736"/>
          </a:xfrm>
          <a:prstGeom prst="rect">
            <a:avLst/>
          </a:prstGeom>
          <a:solidFill>
            <a:srgbClr val="FFF59D"/>
          </a:solidFill>
          <a:ln w="12700">
            <a:solidFill>
              <a:srgbClr val="FFF59D"/>
            </a:solidFill>
            <a:prstDash val="solid"/>
          </a:ln>
        </p:spPr>
      </p:sp>
      <p:sp>
        <p:nvSpPr>
          <p:cNvPr id="34" name="Text 30"/>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5" name="Text 31"/>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&lt;h1&gt;</a:t>
            </a:r>
            <a:pPr indent="0" marL="0">
              <a:buNone/>
            </a:pPr>
            <a:r>
              <a:rPr lang="en-US" sz="900" dirty="0">
                <a:solidFill>
                  <a:srgbClr val="222222"/>
                </a:solidFill>
                <a:latin typeface="Courier New" pitchFamily="34" charset="0"/>
                <a:ea typeface="Courier New" pitchFamily="34" charset="-122"/>
                <a:cs typeface="Courier New" pitchFamily="34" charset="-120"/>
              </a:rPr>
              <a:t>Pondok Pesantren Wihdatul Ummah</a:t>
            </a:r>
            <a:pPr indent="0" marL="0">
              <a:buNone/>
            </a:pPr>
            <a:r>
              <a:rPr lang="en-US" sz="900" dirty="0">
                <a:solidFill>
                  <a:srgbClr val="1A5FB4"/>
                </a:solidFill>
                <a:latin typeface="Courier New" pitchFamily="34" charset="0"/>
                <a:ea typeface="Courier New" pitchFamily="34" charset="-122"/>
                <a:cs typeface="Courier New" pitchFamily="34" charset="-120"/>
              </a:rPr>
              <a:t>&lt;/h1&gt;</a:t>
            </a:r>
            <a:endParaRPr lang="en-US" sz="900" dirty="0"/>
          </a:p>
        </p:txBody>
      </p:sp>
      <p:sp>
        <p:nvSpPr>
          <p:cNvPr id="36" name="Shape 32"/>
          <p:cNvSpPr/>
          <p:nvPr/>
        </p:nvSpPr>
        <p:spPr>
          <a:xfrm>
            <a:off x="913668" y="2356496"/>
            <a:ext cx="4555175" cy="173736"/>
          </a:xfrm>
          <a:prstGeom prst="rect">
            <a:avLst/>
          </a:prstGeom>
          <a:solidFill>
            <a:srgbClr val="FFF59D"/>
          </a:solidFill>
          <a:ln w="12700">
            <a:solidFill>
              <a:srgbClr val="FFF59D"/>
            </a:solidFill>
            <a:prstDash val="solid"/>
          </a:ln>
        </p:spPr>
      </p:sp>
      <p:sp>
        <p:nvSpPr>
          <p:cNvPr id="37" name="Text 33"/>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8" name="Text 34"/>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222222"/>
                </a:solidFill>
                <a:latin typeface="Courier New" pitchFamily="34" charset="0"/>
                <a:ea typeface="Courier New" pitchFamily="34" charset="-122"/>
                <a:cs typeface="Courier New" pitchFamily="34" charset="-120"/>
              </a:rPr>
              <a:t>Mencetak generasi Qur'ani yang berakhlak dan cerdas</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39" name="Shape 35"/>
          <p:cNvSpPr/>
          <p:nvPr/>
        </p:nvSpPr>
        <p:spPr>
          <a:xfrm>
            <a:off x="913668" y="2530232"/>
            <a:ext cx="4555175" cy="173736"/>
          </a:xfrm>
          <a:prstGeom prst="rect">
            <a:avLst/>
          </a:prstGeom>
          <a:solidFill>
            <a:srgbClr val="FFF59D"/>
          </a:solidFill>
          <a:ln w="12700">
            <a:solidFill>
              <a:srgbClr val="FFF59D"/>
            </a:solidFill>
            <a:prstDash val="solid"/>
          </a:ln>
        </p:spPr>
      </p:sp>
      <p:sp>
        <p:nvSpPr>
          <p:cNvPr id="40" name="Text 36"/>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41" name="Text 37"/>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&lt;/header&gt;</a:t>
            </a:r>
            <a:endParaRPr lang="en-US" sz="900" dirty="0"/>
          </a:p>
        </p:txBody>
      </p:sp>
      <p:sp>
        <p:nvSpPr>
          <p:cNvPr id="42" name="Text 38"/>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3" name="Text 39"/>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1E2A26"/>
                </a:solidFill>
                <a:latin typeface="Courier New" pitchFamily="34" charset="0"/>
                <a:ea typeface="Courier New" pitchFamily="34" charset="-122"/>
                <a:cs typeface="Courier New" pitchFamily="34" charset="-120"/>
              </a:rPr>
              <a:t> </a:t>
            </a:r>
            <a:endParaRPr lang="en-US" sz="900" dirty="0"/>
          </a:p>
        </p:txBody>
      </p:sp>
      <p:sp>
        <p:nvSpPr>
          <p:cNvPr id="44" name="Text 40"/>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5" name="Text 41"/>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header { background-color: #0F4C3A;</a:t>
            </a:r>
            <a:endParaRPr lang="en-US" sz="900" dirty="0"/>
          </a:p>
        </p:txBody>
      </p:sp>
      <p:sp>
        <p:nvSpPr>
          <p:cNvPr id="46" name="Text 42"/>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7" name="Text 43"/>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color: white; padding: 24px;</a:t>
            </a:r>
            <a:endParaRPr lang="en-US" sz="900" dirty="0"/>
          </a:p>
        </p:txBody>
      </p:sp>
      <p:sp>
        <p:nvSpPr>
          <p:cNvPr id="48" name="Text 44"/>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49" name="Text 45"/>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text-align: center; }</a:t>
            </a:r>
            <a:endParaRPr lang="en-US" sz="900" dirty="0"/>
          </a:p>
        </p:txBody>
      </p:sp>
      <p:sp>
        <p:nvSpPr>
          <p:cNvPr id="50" name="Shape 46"/>
          <p:cNvSpPr/>
          <p:nvPr/>
        </p:nvSpPr>
        <p:spPr>
          <a:xfrm>
            <a:off x="913668" y="1817000"/>
            <a:ext cx="4555175" cy="905256"/>
          </a:xfrm>
          <a:prstGeom prst="roundRect">
            <a:avLst>
              <a:gd name="adj" fmla="val 5051"/>
            </a:avLst>
          </a:prstGeom>
          <a:solidFill>
            <a:srgbClr val="FFFFFF">
              <a:alpha val="0"/>
            </a:srgbClr>
          </a:solidFill>
          <a:ln w="31750">
            <a:solidFill>
              <a:srgbClr val="E53935"/>
            </a:solidFill>
            <a:prstDash val="solid"/>
          </a:ln>
        </p:spPr>
      </p:sp>
      <p:sp>
        <p:nvSpPr>
          <p:cNvPr id="51" name="Shape 47"/>
          <p:cNvSpPr/>
          <p:nvPr/>
        </p:nvSpPr>
        <p:spPr>
          <a:xfrm>
            <a:off x="5331684" y="1679840"/>
            <a:ext cx="274320" cy="274320"/>
          </a:xfrm>
          <a:prstGeom prst="ellipse">
            <a:avLst/>
          </a:prstGeom>
          <a:solidFill>
            <a:srgbClr val="E53935"/>
          </a:solidFill>
          <a:ln w="12700">
            <a:solidFill>
              <a:srgbClr val="FFFFFF"/>
            </a:solidFill>
            <a:prstDash val="solid"/>
          </a:ln>
        </p:spPr>
      </p:sp>
      <p:sp>
        <p:nvSpPr>
          <p:cNvPr id="52" name="Text 48"/>
          <p:cNvSpPr txBox="1"/>
          <p:nvPr/>
        </p:nvSpPr>
        <p:spPr>
          <a:xfrm>
            <a:off x="5331684" y="1679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3" name="Image 2" descr="preencoded.png">    </p:cNvPr>
          <p:cNvPicPr>
            <a:picLocks noChangeAspect="1"/>
          </p:cNvPicPr>
          <p:nvPr/>
        </p:nvPicPr>
        <p:blipFill>
          <a:blip r:embed="rId3"/>
          <a:stretch>
            <a:fillRect/>
          </a:stretch>
        </p:blipFill>
        <p:spPr>
          <a:xfrm>
            <a:off x="3417186" y="2313062"/>
            <a:ext cx="237744" cy="237744"/>
          </a:xfrm>
          <a:prstGeom prst="rect">
            <a:avLst/>
          </a:prstGeom>
        </p:spPr>
      </p:pic>
      <p:sp>
        <p:nvSpPr>
          <p:cNvPr id="54" name="Shape 49"/>
          <p:cNvSpPr/>
          <p:nvPr/>
        </p:nvSpPr>
        <p:spPr>
          <a:xfrm>
            <a:off x="913668" y="2859416"/>
            <a:ext cx="4555175" cy="557784"/>
          </a:xfrm>
          <a:prstGeom prst="roundRect">
            <a:avLst>
              <a:gd name="adj" fmla="val 8197"/>
            </a:avLst>
          </a:prstGeom>
          <a:solidFill>
            <a:srgbClr val="FFFFFF">
              <a:alpha val="0"/>
            </a:srgbClr>
          </a:solidFill>
          <a:ln w="31750">
            <a:solidFill>
              <a:srgbClr val="E53935"/>
            </a:solidFill>
            <a:prstDash val="solid"/>
          </a:ln>
        </p:spPr>
      </p:sp>
      <p:sp>
        <p:nvSpPr>
          <p:cNvPr id="55" name="Shape 50"/>
          <p:cNvSpPr/>
          <p:nvPr/>
        </p:nvSpPr>
        <p:spPr>
          <a:xfrm>
            <a:off x="5331684" y="2722256"/>
            <a:ext cx="274320" cy="274320"/>
          </a:xfrm>
          <a:prstGeom prst="ellipse">
            <a:avLst/>
          </a:prstGeom>
          <a:solidFill>
            <a:srgbClr val="E53935"/>
          </a:solidFill>
          <a:ln w="12700">
            <a:solidFill>
              <a:srgbClr val="FFFFFF"/>
            </a:solidFill>
            <a:prstDash val="solid"/>
          </a:ln>
        </p:spPr>
      </p:sp>
      <p:sp>
        <p:nvSpPr>
          <p:cNvPr id="56" name="Text 51"/>
          <p:cNvSpPr txBox="1"/>
          <p:nvPr/>
        </p:nvSpPr>
        <p:spPr>
          <a:xfrm>
            <a:off x="5331684" y="27222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7" name="Image 3" descr="preencoded.png">    </p:cNvPr>
          <p:cNvPicPr>
            <a:picLocks noChangeAspect="1"/>
          </p:cNvPicPr>
          <p:nvPr/>
        </p:nvPicPr>
        <p:blipFill>
          <a:blip r:embed="rId4"/>
          <a:stretch>
            <a:fillRect/>
          </a:stretch>
        </p:blipFill>
        <p:spPr>
          <a:xfrm>
            <a:off x="3417186" y="3164368"/>
            <a:ext cx="237744" cy="237744"/>
          </a:xfrm>
          <a:prstGeom prst="rect">
            <a:avLst/>
          </a:prstGeom>
        </p:spPr>
      </p:pic>
      <p:sp>
        <p:nvSpPr>
          <p:cNvPr id="58" name="Text 5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59" name="Text 5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Header dengan logo, nama, slogan</a:t>
            </a:r>
            <a:endParaRPr lang="en-US" sz="1800" dirty="0"/>
          </a:p>
        </p:txBody>
      </p:sp>
      <p:sp>
        <p:nvSpPr>
          <p:cNvPr id="60" name="Text 5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Salin logo pondok ke folder (logo.png). Tulis &lt;header&gt; berisi &lt;img&gt;, &lt;h1&gt;, dan &lt;p&gt;. Beri CSS: latar hijau tua, huruf putih, padding.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Struktur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pondok.html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Shape 21"/>
          <p:cNvSpPr/>
          <p:nvPr/>
        </p:nvSpPr>
        <p:spPr>
          <a:xfrm>
            <a:off x="913668" y="1661552"/>
            <a:ext cx="4555175" cy="173736"/>
          </a:xfrm>
          <a:prstGeom prst="rect">
            <a:avLst/>
          </a:prstGeom>
          <a:solidFill>
            <a:srgbClr val="FFF59D"/>
          </a:solidFill>
          <a:ln w="12700">
            <a:solidFill>
              <a:srgbClr val="FFF59D"/>
            </a:solidFill>
            <a:prstDash val="solid"/>
          </a:ln>
        </p:spPr>
      </p:sp>
      <p:sp>
        <p:nvSpPr>
          <p:cNvPr id="26" name="Text 22"/>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7" name="Text 23"/>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&lt;div class="program"&gt;</a:t>
            </a:r>
            <a:endParaRPr lang="en-US" sz="900" dirty="0"/>
          </a:p>
        </p:txBody>
      </p:sp>
      <p:sp>
        <p:nvSpPr>
          <p:cNvPr id="28" name="Text 24"/>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9" name="Text 25"/>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&lt;div class="card"&gt;</a:t>
            </a:r>
            <a:endParaRPr lang="en-US" sz="900" dirty="0"/>
          </a:p>
        </p:txBody>
      </p:sp>
      <p:sp>
        <p:nvSpPr>
          <p:cNvPr id="30" name="Text 26"/>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1" name="Text 27"/>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&lt;h2&gt;</a:t>
            </a:r>
            <a:pPr indent="0" marL="0">
              <a:buNone/>
            </a:pPr>
            <a:r>
              <a:rPr lang="en-US" sz="900" dirty="0">
                <a:solidFill>
                  <a:srgbClr val="222222"/>
                </a:solidFill>
                <a:latin typeface="Courier New" pitchFamily="34" charset="0"/>
                <a:ea typeface="Courier New" pitchFamily="34" charset="-122"/>
                <a:cs typeface="Courier New" pitchFamily="34" charset="-120"/>
              </a:rPr>
              <a:t>Tahfidz</a:t>
            </a:r>
            <a:pPr indent="0" marL="0">
              <a:buNone/>
            </a:pPr>
            <a:r>
              <a:rPr lang="en-US" sz="900" dirty="0">
                <a:solidFill>
                  <a:srgbClr val="1A5FB4"/>
                </a:solidFill>
                <a:latin typeface="Courier New" pitchFamily="34" charset="0"/>
                <a:ea typeface="Courier New" pitchFamily="34" charset="-122"/>
                <a:cs typeface="Courier New" pitchFamily="34" charset="-120"/>
              </a:rPr>
              <a:t>&lt;/h2&gt;</a:t>
            </a:r>
            <a:endParaRPr lang="en-US" sz="900" dirty="0"/>
          </a:p>
        </p:txBody>
      </p:sp>
      <p:sp>
        <p:nvSpPr>
          <p:cNvPr id="32" name="Text 28"/>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3" name="Text 29"/>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222222"/>
                </a:solidFill>
                <a:latin typeface="Courier New" pitchFamily="34" charset="0"/>
                <a:ea typeface="Courier New" pitchFamily="34" charset="-122"/>
                <a:cs typeface="Courier New" pitchFamily="34" charset="-120"/>
              </a:rPr>
              <a:t>Menghafal Al-Qur'an dengan bimbingan.</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34" name="Text 30"/>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5" name="Text 31"/>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&lt;/div&gt;</a:t>
            </a:r>
            <a:endParaRPr lang="en-US" sz="900" dirty="0"/>
          </a:p>
        </p:txBody>
      </p:sp>
      <p:sp>
        <p:nvSpPr>
          <p:cNvPr id="36" name="Text 32"/>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7" name="Text 33"/>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&lt;div class="card"&gt;</a:t>
            </a:r>
            <a:endParaRPr lang="en-US" sz="900" dirty="0"/>
          </a:p>
        </p:txBody>
      </p:sp>
      <p:sp>
        <p:nvSpPr>
          <p:cNvPr id="38" name="Text 34"/>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39" name="Text 35"/>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&lt;h2&gt;</a:t>
            </a:r>
            <a:pPr indent="0" marL="0">
              <a:buNone/>
            </a:pPr>
            <a:r>
              <a:rPr lang="en-US" sz="900" dirty="0">
                <a:solidFill>
                  <a:srgbClr val="222222"/>
                </a:solidFill>
                <a:latin typeface="Courier New" pitchFamily="34" charset="0"/>
                <a:ea typeface="Courier New" pitchFamily="34" charset="-122"/>
                <a:cs typeface="Courier New" pitchFamily="34" charset="-120"/>
              </a:rPr>
              <a:t>Diniyah</a:t>
            </a:r>
            <a:pPr indent="0" marL="0">
              <a:buNone/>
            </a:pPr>
            <a:r>
              <a:rPr lang="en-US" sz="900" dirty="0">
                <a:solidFill>
                  <a:srgbClr val="1A5FB4"/>
                </a:solidFill>
                <a:latin typeface="Courier New" pitchFamily="34" charset="0"/>
                <a:ea typeface="Courier New" pitchFamily="34" charset="-122"/>
                <a:cs typeface="Courier New" pitchFamily="34" charset="-120"/>
              </a:rPr>
              <a:t>&lt;/h2&gt;</a:t>
            </a:r>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222222"/>
                </a:solidFill>
                <a:latin typeface="Courier New" pitchFamily="34" charset="0"/>
                <a:ea typeface="Courier New" pitchFamily="34" charset="-122"/>
                <a:cs typeface="Courier New" pitchFamily="34" charset="-120"/>
              </a:rPr>
              <a:t>...</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40" name="Text 36"/>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1" name="Text 37"/>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&lt;/div&gt;</a:t>
            </a:r>
            <a:endParaRPr lang="en-US" sz="900" dirty="0"/>
          </a:p>
        </p:txBody>
      </p:sp>
      <p:sp>
        <p:nvSpPr>
          <p:cNvPr id="42" name="Text 38"/>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3" name="Text 39"/>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&lt;div class="card"&gt;</a:t>
            </a:r>
            <a:endParaRPr lang="en-US" sz="900" dirty="0"/>
          </a:p>
        </p:txBody>
      </p:sp>
      <p:sp>
        <p:nvSpPr>
          <p:cNvPr id="44" name="Text 40"/>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45" name="Text 41"/>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&lt;h2&gt;</a:t>
            </a:r>
            <a:pPr indent="0" marL="0">
              <a:buNone/>
            </a:pPr>
            <a:r>
              <a:rPr lang="en-US" sz="900" dirty="0">
                <a:solidFill>
                  <a:srgbClr val="222222"/>
                </a:solidFill>
                <a:latin typeface="Courier New" pitchFamily="34" charset="0"/>
                <a:ea typeface="Courier New" pitchFamily="34" charset="-122"/>
                <a:cs typeface="Courier New" pitchFamily="34" charset="-120"/>
              </a:rPr>
              <a:t>Teknologi</a:t>
            </a:r>
            <a:pPr indent="0" marL="0">
              <a:buNone/>
            </a:pPr>
            <a:r>
              <a:rPr lang="en-US" sz="900" dirty="0">
                <a:solidFill>
                  <a:srgbClr val="1A5FB4"/>
                </a:solidFill>
                <a:latin typeface="Courier New" pitchFamily="34" charset="0"/>
                <a:ea typeface="Courier New" pitchFamily="34" charset="-122"/>
                <a:cs typeface="Courier New" pitchFamily="34" charset="-120"/>
              </a:rPr>
              <a:t>&lt;/h2&gt;</a:t>
            </a:r>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222222"/>
                </a:solidFill>
                <a:latin typeface="Courier New" pitchFamily="34" charset="0"/>
                <a:ea typeface="Courier New" pitchFamily="34" charset="-122"/>
                <a:cs typeface="Courier New" pitchFamily="34" charset="-120"/>
              </a:rPr>
              <a:t>...</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46" name="Text 42"/>
          <p:cNvSpPr txBox="1"/>
          <p:nvPr/>
        </p:nvSpPr>
        <p:spPr>
          <a:xfrm>
            <a:off x="639348" y="339891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11</a:t>
            </a:r>
            <a:endParaRPr lang="en-US" sz="800" dirty="0"/>
          </a:p>
        </p:txBody>
      </p:sp>
      <p:sp>
        <p:nvSpPr>
          <p:cNvPr id="47" name="Text 43"/>
          <p:cNvSpPr txBox="1"/>
          <p:nvPr/>
        </p:nvSpPr>
        <p:spPr>
          <a:xfrm>
            <a:off x="986820" y="339891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&lt;/div&gt;</a:t>
            </a:r>
            <a:endParaRPr lang="en-US" sz="900" dirty="0"/>
          </a:p>
        </p:txBody>
      </p:sp>
      <p:sp>
        <p:nvSpPr>
          <p:cNvPr id="48" name="Shape 44"/>
          <p:cNvSpPr/>
          <p:nvPr/>
        </p:nvSpPr>
        <p:spPr>
          <a:xfrm>
            <a:off x="913668" y="3572648"/>
            <a:ext cx="4555175" cy="173736"/>
          </a:xfrm>
          <a:prstGeom prst="rect">
            <a:avLst/>
          </a:prstGeom>
          <a:solidFill>
            <a:srgbClr val="FFF59D"/>
          </a:solidFill>
          <a:ln w="12700">
            <a:solidFill>
              <a:srgbClr val="FFF59D"/>
            </a:solidFill>
            <a:prstDash val="solid"/>
          </a:ln>
        </p:spPr>
      </p:sp>
      <p:sp>
        <p:nvSpPr>
          <p:cNvPr id="49" name="Text 45"/>
          <p:cNvSpPr txBox="1"/>
          <p:nvPr/>
        </p:nvSpPr>
        <p:spPr>
          <a:xfrm>
            <a:off x="639348" y="357264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12</a:t>
            </a:r>
            <a:endParaRPr lang="en-US" sz="800" dirty="0"/>
          </a:p>
        </p:txBody>
      </p:sp>
      <p:sp>
        <p:nvSpPr>
          <p:cNvPr id="50" name="Text 46"/>
          <p:cNvSpPr txBox="1"/>
          <p:nvPr/>
        </p:nvSpPr>
        <p:spPr>
          <a:xfrm>
            <a:off x="986820" y="357264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&lt;/div&gt;</a:t>
            </a:r>
            <a:endParaRPr lang="en-US" sz="900" dirty="0"/>
          </a:p>
        </p:txBody>
      </p:sp>
      <p:sp>
        <p:nvSpPr>
          <p:cNvPr id="51" name="Shape 47"/>
          <p:cNvSpPr/>
          <p:nvPr/>
        </p:nvSpPr>
        <p:spPr>
          <a:xfrm>
            <a:off x="913668" y="1643264"/>
            <a:ext cx="4555175" cy="2121408"/>
          </a:xfrm>
          <a:prstGeom prst="roundRect">
            <a:avLst>
              <a:gd name="adj" fmla="val 2155"/>
            </a:avLst>
          </a:prstGeom>
          <a:solidFill>
            <a:srgbClr val="FFFFFF">
              <a:alpha val="0"/>
            </a:srgbClr>
          </a:solidFill>
          <a:ln w="31750">
            <a:solidFill>
              <a:srgbClr val="E53935"/>
            </a:solidFill>
            <a:prstDash val="solid"/>
          </a:ln>
        </p:spPr>
      </p:sp>
      <p:sp>
        <p:nvSpPr>
          <p:cNvPr id="52" name="Shape 48"/>
          <p:cNvSpPr/>
          <p:nvPr/>
        </p:nvSpPr>
        <p:spPr>
          <a:xfrm>
            <a:off x="5331684" y="1506104"/>
            <a:ext cx="274320" cy="274320"/>
          </a:xfrm>
          <a:prstGeom prst="ellipse">
            <a:avLst/>
          </a:prstGeom>
          <a:solidFill>
            <a:srgbClr val="E53935"/>
          </a:solidFill>
          <a:ln w="12700">
            <a:solidFill>
              <a:srgbClr val="FFFFFF"/>
            </a:solidFill>
            <a:prstDash val="solid"/>
          </a:ln>
        </p:spPr>
      </p:sp>
      <p:sp>
        <p:nvSpPr>
          <p:cNvPr id="53" name="Text 49"/>
          <p:cNvSpPr txBox="1"/>
          <p:nvPr/>
        </p:nvSpPr>
        <p:spPr>
          <a:xfrm>
            <a:off x="5331684" y="15061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54" name="Image 2" descr="preencoded.png">    </p:cNvPr>
          <p:cNvPicPr>
            <a:picLocks noChangeAspect="1"/>
          </p:cNvPicPr>
          <p:nvPr/>
        </p:nvPicPr>
        <p:blipFill>
          <a:blip r:embed="rId3"/>
          <a:stretch>
            <a:fillRect/>
          </a:stretch>
        </p:blipFill>
        <p:spPr>
          <a:xfrm>
            <a:off x="3417186" y="2808209"/>
            <a:ext cx="237744" cy="237744"/>
          </a:xfrm>
          <a:prstGeom prst="rect">
            <a:avLst/>
          </a:prstGeom>
        </p:spPr>
      </p:pic>
      <p:sp>
        <p:nvSpPr>
          <p:cNvPr id="55" name="Text 5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6" name="Text 5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Tiga kartu program di dalam div.program</a:t>
            </a:r>
            <a:endParaRPr lang="en-US" sz="1800" dirty="0"/>
          </a:p>
        </p:txBody>
      </p:sp>
      <p:sp>
        <p:nvSpPr>
          <p:cNvPr id="57" name="Text 5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&lt;div class="program"&gt; berisi tiga &lt;div class="card"&gt;, masing-masing h2 dan p.</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Flex</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pondok.html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.program {</a:t>
            </a:r>
            <a:endParaRPr lang="en-US" sz="900" dirty="0"/>
          </a:p>
        </p:txBody>
      </p:sp>
      <p:sp>
        <p:nvSpPr>
          <p:cNvPr id="27" name="Shape 23"/>
          <p:cNvSpPr/>
          <p:nvPr/>
        </p:nvSpPr>
        <p:spPr>
          <a:xfrm>
            <a:off x="913668" y="1835288"/>
            <a:ext cx="4555175" cy="173736"/>
          </a:xfrm>
          <a:prstGeom prst="rect">
            <a:avLst/>
          </a:prstGeom>
          <a:solidFill>
            <a:srgbClr val="FFF59D"/>
          </a:solidFill>
          <a:ln w="12700">
            <a:solidFill>
              <a:srgbClr val="FFF59D"/>
            </a:solidFill>
            <a:prstDash val="solid"/>
          </a:ln>
        </p:spPr>
      </p:sp>
      <p:sp>
        <p:nvSpPr>
          <p:cNvPr id="28" name="Text 24"/>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9" name="Text 25"/>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display: flex;</a:t>
            </a:r>
            <a:endParaRPr lang="en-US" sz="900" dirty="0"/>
          </a:p>
        </p:txBody>
      </p:sp>
      <p:sp>
        <p:nvSpPr>
          <p:cNvPr id="30" name="Shape 26"/>
          <p:cNvSpPr/>
          <p:nvPr/>
        </p:nvSpPr>
        <p:spPr>
          <a:xfrm>
            <a:off x="913668" y="2009024"/>
            <a:ext cx="4555175" cy="173736"/>
          </a:xfrm>
          <a:prstGeom prst="rect">
            <a:avLst/>
          </a:prstGeom>
          <a:solidFill>
            <a:srgbClr val="FFF59D"/>
          </a:solidFill>
          <a:ln w="12700">
            <a:solidFill>
              <a:srgbClr val="FFF59D"/>
            </a:solidFill>
            <a:prstDash val="solid"/>
          </a:ln>
        </p:spPr>
      </p:sp>
      <p:sp>
        <p:nvSpPr>
          <p:cNvPr id="31" name="Text 27"/>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2" name="Text 28"/>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flex-wrap: wrap;</a:t>
            </a:r>
            <a:endParaRPr lang="en-US" sz="900" dirty="0"/>
          </a:p>
        </p:txBody>
      </p:sp>
      <p:sp>
        <p:nvSpPr>
          <p:cNvPr id="33" name="Shape 29"/>
          <p:cNvSpPr/>
          <p:nvPr/>
        </p:nvSpPr>
        <p:spPr>
          <a:xfrm>
            <a:off x="913668" y="2182760"/>
            <a:ext cx="4555175" cy="173736"/>
          </a:xfrm>
          <a:prstGeom prst="rect">
            <a:avLst/>
          </a:prstGeom>
          <a:solidFill>
            <a:srgbClr val="FFF59D"/>
          </a:solidFill>
          <a:ln w="12700">
            <a:solidFill>
              <a:srgbClr val="FFF59D"/>
            </a:solidFill>
            <a:prstDash val="solid"/>
          </a:ln>
        </p:spPr>
      </p:sp>
      <p:sp>
        <p:nvSpPr>
          <p:cNvPr id="34" name="Text 30"/>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5" name="Text 31"/>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gap: 16px;</a:t>
            </a:r>
            <a:endParaRPr lang="en-US" sz="900" dirty="0"/>
          </a:p>
        </p:txBody>
      </p:sp>
      <p:sp>
        <p:nvSpPr>
          <p:cNvPr id="36" name="Text 32"/>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7" name="Text 33"/>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padding: 16px;</a:t>
            </a:r>
            <a:endParaRPr lang="en-US" sz="900" dirty="0"/>
          </a:p>
        </p:txBody>
      </p:sp>
      <p:sp>
        <p:nvSpPr>
          <p:cNvPr id="38" name="Text 34"/>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9" name="Text 35"/>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40" name="Text 36"/>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1" name="Text 37"/>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.card {</a:t>
            </a:r>
            <a:endParaRPr lang="en-US" sz="900" dirty="0"/>
          </a:p>
        </p:txBody>
      </p:sp>
      <p:sp>
        <p:nvSpPr>
          <p:cNvPr id="42" name="Shape 38"/>
          <p:cNvSpPr/>
          <p:nvPr/>
        </p:nvSpPr>
        <p:spPr>
          <a:xfrm>
            <a:off x="913668" y="2877704"/>
            <a:ext cx="4555175" cy="173736"/>
          </a:xfrm>
          <a:prstGeom prst="rect">
            <a:avLst/>
          </a:prstGeom>
          <a:solidFill>
            <a:srgbClr val="FFF59D"/>
          </a:solidFill>
          <a:ln w="12700">
            <a:solidFill>
              <a:srgbClr val="FFF59D"/>
            </a:solidFill>
            <a:prstDash val="solid"/>
          </a:ln>
        </p:spPr>
      </p:sp>
      <p:sp>
        <p:nvSpPr>
          <p:cNvPr id="43" name="Text 39"/>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4" name="Text 40"/>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flex: 1;</a:t>
            </a:r>
            <a:endParaRPr lang="en-US" sz="900" dirty="0"/>
          </a:p>
        </p:txBody>
      </p:sp>
      <p:sp>
        <p:nvSpPr>
          <p:cNvPr id="45" name="Shape 41"/>
          <p:cNvSpPr/>
          <p:nvPr/>
        </p:nvSpPr>
        <p:spPr>
          <a:xfrm>
            <a:off x="913668" y="3051440"/>
            <a:ext cx="4555175" cy="173736"/>
          </a:xfrm>
          <a:prstGeom prst="rect">
            <a:avLst/>
          </a:prstGeom>
          <a:solidFill>
            <a:srgbClr val="FFF59D"/>
          </a:solidFill>
          <a:ln w="12700">
            <a:solidFill>
              <a:srgbClr val="FFF59D"/>
            </a:solidFill>
            <a:prstDash val="solid"/>
          </a:ln>
        </p:spPr>
      </p:sp>
      <p:sp>
        <p:nvSpPr>
          <p:cNvPr id="46" name="Text 42"/>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7" name="Text 43"/>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min-width: 220px;</a:t>
            </a:r>
            <a:endParaRPr lang="en-US" sz="900" dirty="0"/>
          </a:p>
        </p:txBody>
      </p:sp>
      <p:sp>
        <p:nvSpPr>
          <p:cNvPr id="48" name="Text 44"/>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49" name="Text 45"/>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50" name="Text 46"/>
          <p:cNvSpPr txBox="1"/>
          <p:nvPr/>
        </p:nvSpPr>
        <p:spPr>
          <a:xfrm>
            <a:off x="639348" y="339891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11</a:t>
            </a:r>
            <a:endParaRPr lang="en-US" sz="800" dirty="0"/>
          </a:p>
        </p:txBody>
      </p:sp>
      <p:sp>
        <p:nvSpPr>
          <p:cNvPr id="51" name="Text 47"/>
          <p:cNvSpPr txBox="1"/>
          <p:nvPr/>
        </p:nvSpPr>
        <p:spPr>
          <a:xfrm>
            <a:off x="986820" y="339891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52" name="Shape 48"/>
          <p:cNvSpPr/>
          <p:nvPr/>
        </p:nvSpPr>
        <p:spPr>
          <a:xfrm>
            <a:off x="913668" y="1643264"/>
            <a:ext cx="4555175" cy="1078992"/>
          </a:xfrm>
          <a:prstGeom prst="roundRect">
            <a:avLst>
              <a:gd name="adj" fmla="val 4237"/>
            </a:avLst>
          </a:prstGeom>
          <a:solidFill>
            <a:srgbClr val="FFFFFF">
              <a:alpha val="0"/>
            </a:srgbClr>
          </a:solidFill>
          <a:ln w="31750">
            <a:solidFill>
              <a:srgbClr val="E53935"/>
            </a:solidFill>
            <a:prstDash val="solid"/>
          </a:ln>
        </p:spPr>
      </p:sp>
      <p:sp>
        <p:nvSpPr>
          <p:cNvPr id="53" name="Shape 49"/>
          <p:cNvSpPr/>
          <p:nvPr/>
        </p:nvSpPr>
        <p:spPr>
          <a:xfrm>
            <a:off x="5331684" y="1506104"/>
            <a:ext cx="274320" cy="274320"/>
          </a:xfrm>
          <a:prstGeom prst="ellipse">
            <a:avLst/>
          </a:prstGeom>
          <a:solidFill>
            <a:srgbClr val="E53935"/>
          </a:solidFill>
          <a:ln w="12700">
            <a:solidFill>
              <a:srgbClr val="FFFFFF"/>
            </a:solidFill>
            <a:prstDash val="solid"/>
          </a:ln>
        </p:spPr>
      </p:sp>
      <p:sp>
        <p:nvSpPr>
          <p:cNvPr id="54" name="Text 50"/>
          <p:cNvSpPr txBox="1"/>
          <p:nvPr/>
        </p:nvSpPr>
        <p:spPr>
          <a:xfrm>
            <a:off x="5331684" y="15061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5" name="Image 2" descr="preencoded.png">    </p:cNvPr>
          <p:cNvPicPr>
            <a:picLocks noChangeAspect="1"/>
          </p:cNvPicPr>
          <p:nvPr/>
        </p:nvPicPr>
        <p:blipFill>
          <a:blip r:embed="rId3"/>
          <a:stretch>
            <a:fillRect/>
          </a:stretch>
        </p:blipFill>
        <p:spPr>
          <a:xfrm>
            <a:off x="3417186" y="2234880"/>
            <a:ext cx="237744" cy="237744"/>
          </a:xfrm>
          <a:prstGeom prst="rect">
            <a:avLst/>
          </a:prstGeom>
        </p:spPr>
      </p:pic>
      <p:sp>
        <p:nvSpPr>
          <p:cNvPr id="56" name="Shape 51"/>
          <p:cNvSpPr/>
          <p:nvPr/>
        </p:nvSpPr>
        <p:spPr>
          <a:xfrm>
            <a:off x="913668" y="2859416"/>
            <a:ext cx="4555175" cy="384048"/>
          </a:xfrm>
          <a:prstGeom prst="roundRect">
            <a:avLst>
              <a:gd name="adj" fmla="val 11905"/>
            </a:avLst>
          </a:prstGeom>
          <a:solidFill>
            <a:srgbClr val="FFFFFF">
              <a:alpha val="0"/>
            </a:srgbClr>
          </a:solidFill>
          <a:ln w="31750">
            <a:solidFill>
              <a:srgbClr val="E53935"/>
            </a:solidFill>
            <a:prstDash val="solid"/>
          </a:ln>
        </p:spPr>
      </p:sp>
      <p:sp>
        <p:nvSpPr>
          <p:cNvPr id="57" name="Shape 52"/>
          <p:cNvSpPr/>
          <p:nvPr/>
        </p:nvSpPr>
        <p:spPr>
          <a:xfrm>
            <a:off x="5331684" y="2722256"/>
            <a:ext cx="274320" cy="274320"/>
          </a:xfrm>
          <a:prstGeom prst="ellipse">
            <a:avLst/>
          </a:prstGeom>
          <a:solidFill>
            <a:srgbClr val="E53935"/>
          </a:solidFill>
          <a:ln w="12700">
            <a:solidFill>
              <a:srgbClr val="FFFFFF"/>
            </a:solidFill>
            <a:prstDash val="solid"/>
          </a:ln>
        </p:spPr>
      </p:sp>
      <p:sp>
        <p:nvSpPr>
          <p:cNvPr id="58" name="Text 53"/>
          <p:cNvSpPr txBox="1"/>
          <p:nvPr/>
        </p:nvSpPr>
        <p:spPr>
          <a:xfrm>
            <a:off x="5331684" y="27222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9" name="Image 3" descr="preencoded.png">    </p:cNvPr>
          <p:cNvPicPr>
            <a:picLocks noChangeAspect="1"/>
          </p:cNvPicPr>
          <p:nvPr/>
        </p:nvPicPr>
        <p:blipFill>
          <a:blip r:embed="rId4"/>
          <a:stretch>
            <a:fillRect/>
          </a:stretch>
        </p:blipFill>
        <p:spPr>
          <a:xfrm>
            <a:off x="3417186" y="3068813"/>
            <a:ext cx="237744" cy="237744"/>
          </a:xfrm>
          <a:prstGeom prst="rect">
            <a:avLst/>
          </a:prstGeom>
        </p:spPr>
      </p:pic>
      <p:sp>
        <p:nvSpPr>
          <p:cNvPr id="60" name="Text 5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61" name="Text 5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CSS .program: display flex, wrap, gap</a:t>
            </a:r>
            <a:endParaRPr lang="en-US" sz="1800" dirty="0"/>
          </a:p>
        </p:txBody>
      </p:sp>
      <p:sp>
        <p:nvSpPr>
          <p:cNvPr id="62" name="Text 5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.program { display: flex; flex-wrap: wrap; gap: 16px; padding: 16px; } dan .card { flex: 1; min-width: 220px; }</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Flex</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PP Wihdatul Ummah</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file:///C:/.../Website_Saya/pondok.html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685800"/>
          </a:xfrm>
          <a:prstGeom prst="rect">
            <a:avLst/>
          </a:prstGeom>
          <a:solidFill>
            <a:srgbClr val="0F4C3A"/>
          </a:solidFill>
          <a:ln w="12700">
            <a:solidFill>
              <a:srgbClr val="0F4C3A"/>
            </a:solidFill>
            <a:prstDash val="solid"/>
          </a:ln>
        </p:spPr>
      </p:sp>
      <p:pic>
        <p:nvPicPr>
          <p:cNvPr id="30" name="Image 5" descr="/home/claude/logo.png">    </p:cNvPr>
          <p:cNvPicPr>
            <a:picLocks noChangeAspect="1"/>
          </p:cNvPicPr>
          <p:nvPr/>
        </p:nvPicPr>
        <p:blipFill>
          <a:blip r:embed="rId6"/>
          <a:stretch>
            <a:fillRect/>
          </a:stretch>
        </p:blipFill>
        <p:spPr>
          <a:xfrm>
            <a:off x="679216" y="1769117"/>
            <a:ext cx="228600" cy="228600"/>
          </a:xfrm>
          <a:prstGeom prst="rect">
            <a:avLst/>
          </a:prstGeom>
        </p:spPr>
      </p:pic>
      <p:sp>
        <p:nvSpPr>
          <p:cNvPr id="31" name="Text 23"/>
          <p:cNvSpPr txBox="1"/>
          <p:nvPr/>
        </p:nvSpPr>
        <p:spPr>
          <a:xfrm>
            <a:off x="971824" y="1787405"/>
            <a:ext cx="4457151" cy="228600"/>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Pondok Pesantren Wihdatul Ummah</a:t>
            </a:r>
            <a:endParaRPr lang="en-US" sz="1000" dirty="0"/>
          </a:p>
        </p:txBody>
      </p:sp>
      <p:sp>
        <p:nvSpPr>
          <p:cNvPr id="32" name="Text 24"/>
          <p:cNvSpPr txBox="1"/>
          <p:nvPr/>
        </p:nvSpPr>
        <p:spPr>
          <a:xfrm>
            <a:off x="971824" y="2043437"/>
            <a:ext cx="4457151" cy="182880"/>
          </a:xfrm>
          <a:prstGeom prst="rect">
            <a:avLst/>
          </a:prstGeom>
          <a:noFill/>
          <a:ln/>
        </p:spPr>
        <p:txBody>
          <a:bodyPr wrap="square" lIns="0" tIns="0" rIns="0" bIns="0" rtlCol="0" anchor="t"/>
          <a:lstStyle/>
          <a:p>
            <a:pPr indent="0" marL="0">
              <a:buNone/>
            </a:pPr>
            <a:r>
              <a:rPr lang="en-US" sz="700" dirty="0">
                <a:solidFill>
                  <a:srgbClr val="BFE3D3"/>
                </a:solidFill>
                <a:latin typeface="Arial" pitchFamily="34" charset="0"/>
                <a:ea typeface="Arial" pitchFamily="34" charset="-122"/>
                <a:cs typeface="Arial" pitchFamily="34" charset="-120"/>
              </a:rPr>
              <a:t>Mencetak generasi Qur'ani yang berakhlak dan cerdas</a:t>
            </a:r>
            <a:endParaRPr lang="en-US" sz="700" dirty="0"/>
          </a:p>
        </p:txBody>
      </p:sp>
      <p:sp>
        <p:nvSpPr>
          <p:cNvPr id="33" name="Shape 25"/>
          <p:cNvSpPr/>
          <p:nvPr/>
        </p:nvSpPr>
        <p:spPr>
          <a:xfrm>
            <a:off x="679216" y="2518925"/>
            <a:ext cx="1540581" cy="566928"/>
          </a:xfrm>
          <a:prstGeom prst="roundRect">
            <a:avLst>
              <a:gd name="adj" fmla="val 9677"/>
            </a:avLst>
          </a:prstGeom>
          <a:solidFill>
            <a:srgbClr val="FFFFFF"/>
          </a:solidFill>
          <a:ln w="9525">
            <a:solidFill>
              <a:srgbClr val="DDDDDD"/>
            </a:solidFill>
            <a:prstDash val="solid"/>
          </a:ln>
        </p:spPr>
      </p:sp>
      <p:sp>
        <p:nvSpPr>
          <p:cNvPr id="34" name="Shape 26"/>
          <p:cNvSpPr/>
          <p:nvPr/>
        </p:nvSpPr>
        <p:spPr>
          <a:xfrm>
            <a:off x="679216" y="2518925"/>
            <a:ext cx="1540581" cy="54864"/>
          </a:xfrm>
          <a:prstGeom prst="rect">
            <a:avLst/>
          </a:prstGeom>
          <a:solidFill>
            <a:srgbClr val="D4A017"/>
          </a:solidFill>
          <a:ln w="12700">
            <a:solidFill>
              <a:srgbClr val="D4A017"/>
            </a:solidFill>
            <a:prstDash val="solid"/>
          </a:ln>
        </p:spPr>
      </p:sp>
      <p:sp>
        <p:nvSpPr>
          <p:cNvPr id="35" name="Text 27"/>
          <p:cNvSpPr txBox="1"/>
          <p:nvPr/>
        </p:nvSpPr>
        <p:spPr>
          <a:xfrm>
            <a:off x="752368" y="2610365"/>
            <a:ext cx="1449141" cy="182880"/>
          </a:xfrm>
          <a:prstGeom prst="rect">
            <a:avLst/>
          </a:prstGeom>
          <a:noFill/>
          <a:ln/>
        </p:spPr>
        <p:txBody>
          <a:bodyPr wrap="square" lIns="0" tIns="0" rIns="0" bIns="0" rtlCol="0" anchor="t"/>
          <a:lstStyle/>
          <a:p>
            <a:pPr indent="0" marL="0">
              <a:buNone/>
            </a:pPr>
            <a:r>
              <a:rPr lang="en-US" sz="800" b="1" dirty="0">
                <a:solidFill>
                  <a:srgbClr val="0F4C3A"/>
                </a:solidFill>
                <a:latin typeface="Arial" pitchFamily="34" charset="0"/>
                <a:ea typeface="Arial" pitchFamily="34" charset="-122"/>
                <a:cs typeface="Arial" pitchFamily="34" charset="-120"/>
              </a:rPr>
              <a:t>Tahfidz</a:t>
            </a:r>
            <a:endParaRPr lang="en-US" sz="800" dirty="0"/>
          </a:p>
        </p:txBody>
      </p:sp>
      <p:sp>
        <p:nvSpPr>
          <p:cNvPr id="36" name="Text 28"/>
          <p:cNvSpPr txBox="1"/>
          <p:nvPr/>
        </p:nvSpPr>
        <p:spPr>
          <a:xfrm>
            <a:off x="752368" y="2793245"/>
            <a:ext cx="1403421" cy="256032"/>
          </a:xfrm>
          <a:prstGeom prst="rect">
            <a:avLst/>
          </a:prstGeom>
          <a:noFill/>
          <a:ln/>
        </p:spPr>
        <p:txBody>
          <a:bodyPr wrap="square" lIns="0" tIns="0" rIns="0" bIns="0" rtlCol="0" anchor="t"/>
          <a:lstStyle/>
          <a:p>
            <a:pPr indent="0" marL="0">
              <a:buNone/>
            </a:pPr>
            <a:r>
              <a:rPr lang="en-US" sz="550" dirty="0">
                <a:solidFill>
                  <a:srgbClr val="1E2A26"/>
                </a:solidFill>
                <a:latin typeface="Arial" pitchFamily="34" charset="0"/>
                <a:ea typeface="Arial" pitchFamily="34" charset="-122"/>
                <a:cs typeface="Arial" pitchFamily="34" charset="-120"/>
              </a:rPr>
              <a:t>Program unggulan pondok untuk santri.</a:t>
            </a:r>
            <a:endParaRPr lang="en-US" sz="550" dirty="0"/>
          </a:p>
        </p:txBody>
      </p:sp>
      <p:sp>
        <p:nvSpPr>
          <p:cNvPr id="37" name="Shape 29"/>
          <p:cNvSpPr/>
          <p:nvPr/>
        </p:nvSpPr>
        <p:spPr>
          <a:xfrm>
            <a:off x="2292949" y="2518925"/>
            <a:ext cx="1540581" cy="566928"/>
          </a:xfrm>
          <a:prstGeom prst="roundRect">
            <a:avLst>
              <a:gd name="adj" fmla="val 9677"/>
            </a:avLst>
          </a:prstGeom>
          <a:solidFill>
            <a:srgbClr val="FFFFFF"/>
          </a:solidFill>
          <a:ln w="9525">
            <a:solidFill>
              <a:srgbClr val="DDDDDD"/>
            </a:solidFill>
            <a:prstDash val="solid"/>
          </a:ln>
        </p:spPr>
      </p:sp>
      <p:sp>
        <p:nvSpPr>
          <p:cNvPr id="38" name="Shape 30"/>
          <p:cNvSpPr/>
          <p:nvPr/>
        </p:nvSpPr>
        <p:spPr>
          <a:xfrm>
            <a:off x="2292949" y="2518925"/>
            <a:ext cx="1540581" cy="54864"/>
          </a:xfrm>
          <a:prstGeom prst="rect">
            <a:avLst/>
          </a:prstGeom>
          <a:solidFill>
            <a:srgbClr val="D4A017"/>
          </a:solidFill>
          <a:ln w="12700">
            <a:solidFill>
              <a:srgbClr val="D4A017"/>
            </a:solidFill>
            <a:prstDash val="solid"/>
          </a:ln>
        </p:spPr>
      </p:sp>
      <p:sp>
        <p:nvSpPr>
          <p:cNvPr id="39" name="Text 31"/>
          <p:cNvSpPr txBox="1"/>
          <p:nvPr/>
        </p:nvSpPr>
        <p:spPr>
          <a:xfrm>
            <a:off x="2366101" y="2610365"/>
            <a:ext cx="1449141" cy="182880"/>
          </a:xfrm>
          <a:prstGeom prst="rect">
            <a:avLst/>
          </a:prstGeom>
          <a:noFill/>
          <a:ln/>
        </p:spPr>
        <p:txBody>
          <a:bodyPr wrap="square" lIns="0" tIns="0" rIns="0" bIns="0" rtlCol="0" anchor="t"/>
          <a:lstStyle/>
          <a:p>
            <a:pPr indent="0" marL="0">
              <a:buNone/>
            </a:pPr>
            <a:r>
              <a:rPr lang="en-US" sz="800" b="1" dirty="0">
                <a:solidFill>
                  <a:srgbClr val="0F4C3A"/>
                </a:solidFill>
                <a:latin typeface="Arial" pitchFamily="34" charset="0"/>
                <a:ea typeface="Arial" pitchFamily="34" charset="-122"/>
                <a:cs typeface="Arial" pitchFamily="34" charset="-120"/>
              </a:rPr>
              <a:t>Diniyah</a:t>
            </a:r>
            <a:endParaRPr lang="en-US" sz="800" dirty="0"/>
          </a:p>
        </p:txBody>
      </p:sp>
      <p:sp>
        <p:nvSpPr>
          <p:cNvPr id="40" name="Text 32"/>
          <p:cNvSpPr txBox="1"/>
          <p:nvPr/>
        </p:nvSpPr>
        <p:spPr>
          <a:xfrm>
            <a:off x="2366101" y="2793245"/>
            <a:ext cx="1403421" cy="256032"/>
          </a:xfrm>
          <a:prstGeom prst="rect">
            <a:avLst/>
          </a:prstGeom>
          <a:noFill/>
          <a:ln/>
        </p:spPr>
        <p:txBody>
          <a:bodyPr wrap="square" lIns="0" tIns="0" rIns="0" bIns="0" rtlCol="0" anchor="t"/>
          <a:lstStyle/>
          <a:p>
            <a:pPr indent="0" marL="0">
              <a:buNone/>
            </a:pPr>
            <a:r>
              <a:rPr lang="en-US" sz="550" dirty="0">
                <a:solidFill>
                  <a:srgbClr val="1E2A26"/>
                </a:solidFill>
                <a:latin typeface="Arial" pitchFamily="34" charset="0"/>
                <a:ea typeface="Arial" pitchFamily="34" charset="-122"/>
                <a:cs typeface="Arial" pitchFamily="34" charset="-120"/>
              </a:rPr>
              <a:t>Program unggulan pondok untuk santri.</a:t>
            </a:r>
            <a:endParaRPr lang="en-US" sz="550" dirty="0"/>
          </a:p>
        </p:txBody>
      </p:sp>
      <p:sp>
        <p:nvSpPr>
          <p:cNvPr id="41" name="Shape 33"/>
          <p:cNvSpPr/>
          <p:nvPr/>
        </p:nvSpPr>
        <p:spPr>
          <a:xfrm>
            <a:off x="3906683" y="2518925"/>
            <a:ext cx="1540581" cy="566928"/>
          </a:xfrm>
          <a:prstGeom prst="roundRect">
            <a:avLst>
              <a:gd name="adj" fmla="val 9677"/>
            </a:avLst>
          </a:prstGeom>
          <a:solidFill>
            <a:srgbClr val="FFFFFF"/>
          </a:solidFill>
          <a:ln w="9525">
            <a:solidFill>
              <a:srgbClr val="DDDDDD"/>
            </a:solidFill>
            <a:prstDash val="solid"/>
          </a:ln>
        </p:spPr>
      </p:sp>
      <p:sp>
        <p:nvSpPr>
          <p:cNvPr id="42" name="Shape 34"/>
          <p:cNvSpPr/>
          <p:nvPr/>
        </p:nvSpPr>
        <p:spPr>
          <a:xfrm>
            <a:off x="3906683" y="2518925"/>
            <a:ext cx="1540581" cy="54864"/>
          </a:xfrm>
          <a:prstGeom prst="rect">
            <a:avLst/>
          </a:prstGeom>
          <a:solidFill>
            <a:srgbClr val="D4A017"/>
          </a:solidFill>
          <a:ln w="12700">
            <a:solidFill>
              <a:srgbClr val="D4A017"/>
            </a:solidFill>
            <a:prstDash val="solid"/>
          </a:ln>
        </p:spPr>
      </p:sp>
      <p:sp>
        <p:nvSpPr>
          <p:cNvPr id="43" name="Text 35"/>
          <p:cNvSpPr txBox="1"/>
          <p:nvPr/>
        </p:nvSpPr>
        <p:spPr>
          <a:xfrm>
            <a:off x="3979835" y="2610365"/>
            <a:ext cx="1449141" cy="182880"/>
          </a:xfrm>
          <a:prstGeom prst="rect">
            <a:avLst/>
          </a:prstGeom>
          <a:noFill/>
          <a:ln/>
        </p:spPr>
        <p:txBody>
          <a:bodyPr wrap="square" lIns="0" tIns="0" rIns="0" bIns="0" rtlCol="0" anchor="t"/>
          <a:lstStyle/>
          <a:p>
            <a:pPr indent="0" marL="0">
              <a:buNone/>
            </a:pPr>
            <a:r>
              <a:rPr lang="en-US" sz="800" b="1" dirty="0">
                <a:solidFill>
                  <a:srgbClr val="0F4C3A"/>
                </a:solidFill>
                <a:latin typeface="Arial" pitchFamily="34" charset="0"/>
                <a:ea typeface="Arial" pitchFamily="34" charset="-122"/>
                <a:cs typeface="Arial" pitchFamily="34" charset="-120"/>
              </a:rPr>
              <a:t>Teknologi</a:t>
            </a:r>
            <a:endParaRPr lang="en-US" sz="800" dirty="0"/>
          </a:p>
        </p:txBody>
      </p:sp>
      <p:sp>
        <p:nvSpPr>
          <p:cNvPr id="44" name="Text 36"/>
          <p:cNvSpPr txBox="1"/>
          <p:nvPr/>
        </p:nvSpPr>
        <p:spPr>
          <a:xfrm>
            <a:off x="3979835" y="2793245"/>
            <a:ext cx="1403421" cy="256032"/>
          </a:xfrm>
          <a:prstGeom prst="rect">
            <a:avLst/>
          </a:prstGeom>
          <a:noFill/>
          <a:ln/>
        </p:spPr>
        <p:txBody>
          <a:bodyPr wrap="square" lIns="0" tIns="0" rIns="0" bIns="0" rtlCol="0" anchor="t"/>
          <a:lstStyle/>
          <a:p>
            <a:pPr indent="0" marL="0">
              <a:buNone/>
            </a:pPr>
            <a:r>
              <a:rPr lang="en-US" sz="550" dirty="0">
                <a:solidFill>
                  <a:srgbClr val="1E2A26"/>
                </a:solidFill>
                <a:latin typeface="Arial" pitchFamily="34" charset="0"/>
                <a:ea typeface="Arial" pitchFamily="34" charset="-122"/>
                <a:cs typeface="Arial" pitchFamily="34" charset="-120"/>
              </a:rPr>
              <a:t>Program unggulan pondok untuk santri.</a:t>
            </a:r>
            <a:endParaRPr lang="en-US" sz="550" dirty="0"/>
          </a:p>
        </p:txBody>
      </p:sp>
      <p:sp>
        <p:nvSpPr>
          <p:cNvPr id="45" name="Shape 37"/>
          <p:cNvSpPr/>
          <p:nvPr/>
        </p:nvSpPr>
        <p:spPr>
          <a:xfrm>
            <a:off x="2560320" y="3177293"/>
            <a:ext cx="1005840" cy="201168"/>
          </a:xfrm>
          <a:prstGeom prst="roundRect">
            <a:avLst>
              <a:gd name="adj" fmla="val 50000"/>
            </a:avLst>
          </a:prstGeom>
          <a:solidFill>
            <a:srgbClr val="D4A017"/>
          </a:solidFill>
          <a:ln w="12700">
            <a:solidFill>
              <a:srgbClr val="D4A017"/>
            </a:solidFill>
            <a:prstDash val="solid"/>
          </a:ln>
        </p:spPr>
      </p:sp>
      <p:sp>
        <p:nvSpPr>
          <p:cNvPr id="46" name="Text 38"/>
          <p:cNvSpPr txBox="1"/>
          <p:nvPr/>
        </p:nvSpPr>
        <p:spPr>
          <a:xfrm>
            <a:off x="2560320" y="3177293"/>
            <a:ext cx="100584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Lihat Website Kelas</a:t>
            </a:r>
            <a:endParaRPr lang="en-US" sz="650" dirty="0"/>
          </a:p>
        </p:txBody>
      </p:sp>
      <p:sp>
        <p:nvSpPr>
          <p:cNvPr id="47" name="Shape 39"/>
          <p:cNvSpPr/>
          <p:nvPr/>
        </p:nvSpPr>
        <p:spPr>
          <a:xfrm>
            <a:off x="633496" y="2454917"/>
            <a:ext cx="4859487" cy="676656"/>
          </a:xfrm>
          <a:prstGeom prst="roundRect">
            <a:avLst>
              <a:gd name="adj" fmla="val 6757"/>
            </a:avLst>
          </a:prstGeom>
          <a:solidFill>
            <a:srgbClr val="FFFFFF">
              <a:alpha val="0"/>
            </a:srgbClr>
          </a:solidFill>
          <a:ln w="31750">
            <a:solidFill>
              <a:srgbClr val="E53935"/>
            </a:solidFill>
            <a:prstDash val="solid"/>
          </a:ln>
        </p:spPr>
      </p:sp>
      <p:sp>
        <p:nvSpPr>
          <p:cNvPr id="48" name="Shape 40"/>
          <p:cNvSpPr/>
          <p:nvPr/>
        </p:nvSpPr>
        <p:spPr>
          <a:xfrm>
            <a:off x="5355824" y="2317757"/>
            <a:ext cx="274320" cy="274320"/>
          </a:xfrm>
          <a:prstGeom prst="ellipse">
            <a:avLst/>
          </a:prstGeom>
          <a:solidFill>
            <a:srgbClr val="E53935"/>
          </a:solidFill>
          <a:ln w="12700">
            <a:solidFill>
              <a:srgbClr val="FFFFFF"/>
            </a:solidFill>
            <a:prstDash val="solid"/>
          </a:ln>
        </p:spPr>
      </p:sp>
      <p:sp>
        <p:nvSpPr>
          <p:cNvPr id="49" name="Text 41"/>
          <p:cNvSpPr txBox="1"/>
          <p:nvPr/>
        </p:nvSpPr>
        <p:spPr>
          <a:xfrm>
            <a:off x="5355824" y="231775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0" name="Image 6" descr="preencoded.png">    </p:cNvPr>
          <p:cNvPicPr>
            <a:picLocks noChangeAspect="1"/>
          </p:cNvPicPr>
          <p:nvPr/>
        </p:nvPicPr>
        <p:blipFill>
          <a:blip r:embed="rId7"/>
          <a:stretch>
            <a:fillRect/>
          </a:stretch>
        </p:blipFill>
        <p:spPr>
          <a:xfrm>
            <a:off x="3304386" y="2825249"/>
            <a:ext cx="237744" cy="237744"/>
          </a:xfrm>
          <a:prstGeom prst="rect">
            <a:avLst/>
          </a:prstGeom>
        </p:spPr>
      </p:pic>
      <p:sp>
        <p:nvSpPr>
          <p:cNvPr id="51" name="Text 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2" name="Text 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Lihat hasil di layar komputer</a:t>
            </a:r>
            <a:endParaRPr lang="en-US" sz="1800" dirty="0"/>
          </a:p>
        </p:txBody>
      </p:sp>
      <p:sp>
        <p:nvSpPr>
          <p:cNvPr id="53" name="Text 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Simpan, buka pondok.html di browser. Tiga kartu tampil berdampingan di bawah header. Tambahkan tombol dan footer.</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 HP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PP Wihdatul Ummah</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file:///C:/.../Website_Saya/pondok.html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2948611" cy="685800"/>
          </a:xfrm>
          <a:prstGeom prst="rect">
            <a:avLst/>
          </a:prstGeom>
          <a:solidFill>
            <a:srgbClr val="0F4C3A"/>
          </a:solidFill>
          <a:ln w="12700">
            <a:solidFill>
              <a:srgbClr val="0F4C3A"/>
            </a:solidFill>
            <a:prstDash val="solid"/>
          </a:ln>
        </p:spPr>
      </p:sp>
      <p:pic>
        <p:nvPicPr>
          <p:cNvPr id="30" name="Image 5" descr="/home/claude/logo.png">    </p:cNvPr>
          <p:cNvPicPr>
            <a:picLocks noChangeAspect="1"/>
          </p:cNvPicPr>
          <p:nvPr/>
        </p:nvPicPr>
        <p:blipFill>
          <a:blip r:embed="rId6"/>
          <a:stretch>
            <a:fillRect/>
          </a:stretch>
        </p:blipFill>
        <p:spPr>
          <a:xfrm>
            <a:off x="679216" y="1769117"/>
            <a:ext cx="228600" cy="228600"/>
          </a:xfrm>
          <a:prstGeom prst="rect">
            <a:avLst/>
          </a:prstGeom>
        </p:spPr>
      </p:pic>
      <p:sp>
        <p:nvSpPr>
          <p:cNvPr id="31" name="Text 23"/>
          <p:cNvSpPr txBox="1"/>
          <p:nvPr/>
        </p:nvSpPr>
        <p:spPr>
          <a:xfrm>
            <a:off x="971824" y="1787405"/>
            <a:ext cx="2491411" cy="228600"/>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Pondok Pesantren Wihdatul Ummah</a:t>
            </a:r>
            <a:endParaRPr lang="en-US" sz="1000" dirty="0"/>
          </a:p>
        </p:txBody>
      </p:sp>
      <p:sp>
        <p:nvSpPr>
          <p:cNvPr id="32" name="Text 24"/>
          <p:cNvSpPr txBox="1"/>
          <p:nvPr/>
        </p:nvSpPr>
        <p:spPr>
          <a:xfrm>
            <a:off x="971824" y="2043437"/>
            <a:ext cx="2491411" cy="182880"/>
          </a:xfrm>
          <a:prstGeom prst="rect">
            <a:avLst/>
          </a:prstGeom>
          <a:noFill/>
          <a:ln/>
        </p:spPr>
        <p:txBody>
          <a:bodyPr wrap="square" lIns="0" tIns="0" rIns="0" bIns="0" rtlCol="0" anchor="t"/>
          <a:lstStyle/>
          <a:p>
            <a:pPr indent="0" marL="0">
              <a:buNone/>
            </a:pPr>
            <a:r>
              <a:rPr lang="en-US" sz="700" dirty="0">
                <a:solidFill>
                  <a:srgbClr val="BFE3D3"/>
                </a:solidFill>
                <a:latin typeface="Arial" pitchFamily="34" charset="0"/>
                <a:ea typeface="Arial" pitchFamily="34" charset="-122"/>
                <a:cs typeface="Arial" pitchFamily="34" charset="-120"/>
              </a:rPr>
              <a:t>Mencetak generasi Qur'ani yang berakhlak dan cerdas</a:t>
            </a:r>
            <a:endParaRPr lang="en-US" sz="700" dirty="0"/>
          </a:p>
        </p:txBody>
      </p:sp>
      <p:sp>
        <p:nvSpPr>
          <p:cNvPr id="33" name="Shape 25"/>
          <p:cNvSpPr/>
          <p:nvPr/>
        </p:nvSpPr>
        <p:spPr>
          <a:xfrm>
            <a:off x="679216" y="2518925"/>
            <a:ext cx="885334" cy="566928"/>
          </a:xfrm>
          <a:prstGeom prst="roundRect">
            <a:avLst>
              <a:gd name="adj" fmla="val 9677"/>
            </a:avLst>
          </a:prstGeom>
          <a:solidFill>
            <a:srgbClr val="FFFFFF"/>
          </a:solidFill>
          <a:ln w="9525">
            <a:solidFill>
              <a:srgbClr val="DDDDDD"/>
            </a:solidFill>
            <a:prstDash val="solid"/>
          </a:ln>
        </p:spPr>
      </p:sp>
      <p:sp>
        <p:nvSpPr>
          <p:cNvPr id="34" name="Shape 26"/>
          <p:cNvSpPr/>
          <p:nvPr/>
        </p:nvSpPr>
        <p:spPr>
          <a:xfrm>
            <a:off x="679216" y="2518925"/>
            <a:ext cx="885334" cy="54864"/>
          </a:xfrm>
          <a:prstGeom prst="rect">
            <a:avLst/>
          </a:prstGeom>
          <a:solidFill>
            <a:srgbClr val="D4A017"/>
          </a:solidFill>
          <a:ln w="12700">
            <a:solidFill>
              <a:srgbClr val="D4A017"/>
            </a:solidFill>
            <a:prstDash val="solid"/>
          </a:ln>
        </p:spPr>
      </p:sp>
      <p:sp>
        <p:nvSpPr>
          <p:cNvPr id="35" name="Text 27"/>
          <p:cNvSpPr txBox="1"/>
          <p:nvPr/>
        </p:nvSpPr>
        <p:spPr>
          <a:xfrm>
            <a:off x="752368" y="2610365"/>
            <a:ext cx="793894" cy="182880"/>
          </a:xfrm>
          <a:prstGeom prst="rect">
            <a:avLst/>
          </a:prstGeom>
          <a:noFill/>
          <a:ln/>
        </p:spPr>
        <p:txBody>
          <a:bodyPr wrap="square" lIns="0" tIns="0" rIns="0" bIns="0" rtlCol="0" anchor="t"/>
          <a:lstStyle/>
          <a:p>
            <a:pPr indent="0" marL="0">
              <a:buNone/>
            </a:pPr>
            <a:r>
              <a:rPr lang="en-US" sz="800" b="1" dirty="0">
                <a:solidFill>
                  <a:srgbClr val="0F4C3A"/>
                </a:solidFill>
                <a:latin typeface="Arial" pitchFamily="34" charset="0"/>
                <a:ea typeface="Arial" pitchFamily="34" charset="-122"/>
                <a:cs typeface="Arial" pitchFamily="34" charset="-120"/>
              </a:rPr>
              <a:t>Tahfidz</a:t>
            </a:r>
            <a:endParaRPr lang="en-US" sz="800" dirty="0"/>
          </a:p>
        </p:txBody>
      </p:sp>
      <p:sp>
        <p:nvSpPr>
          <p:cNvPr id="36" name="Text 28"/>
          <p:cNvSpPr txBox="1"/>
          <p:nvPr/>
        </p:nvSpPr>
        <p:spPr>
          <a:xfrm>
            <a:off x="752368" y="2793245"/>
            <a:ext cx="748174" cy="256032"/>
          </a:xfrm>
          <a:prstGeom prst="rect">
            <a:avLst/>
          </a:prstGeom>
          <a:noFill/>
          <a:ln/>
        </p:spPr>
        <p:txBody>
          <a:bodyPr wrap="square" lIns="0" tIns="0" rIns="0" bIns="0" rtlCol="0" anchor="t"/>
          <a:lstStyle/>
          <a:p>
            <a:pPr indent="0" marL="0">
              <a:buNone/>
            </a:pPr>
            <a:r>
              <a:rPr lang="en-US" sz="550" dirty="0">
                <a:solidFill>
                  <a:srgbClr val="1E2A26"/>
                </a:solidFill>
                <a:latin typeface="Arial" pitchFamily="34" charset="0"/>
                <a:ea typeface="Arial" pitchFamily="34" charset="-122"/>
                <a:cs typeface="Arial" pitchFamily="34" charset="-120"/>
              </a:rPr>
              <a:t>Program unggulan pondok untuk santri.</a:t>
            </a:r>
            <a:endParaRPr lang="en-US" sz="550" dirty="0"/>
          </a:p>
        </p:txBody>
      </p:sp>
      <p:sp>
        <p:nvSpPr>
          <p:cNvPr id="37" name="Shape 29"/>
          <p:cNvSpPr/>
          <p:nvPr/>
        </p:nvSpPr>
        <p:spPr>
          <a:xfrm>
            <a:off x="1637703" y="2518925"/>
            <a:ext cx="885334" cy="566928"/>
          </a:xfrm>
          <a:prstGeom prst="roundRect">
            <a:avLst>
              <a:gd name="adj" fmla="val 9677"/>
            </a:avLst>
          </a:prstGeom>
          <a:solidFill>
            <a:srgbClr val="FFFFFF"/>
          </a:solidFill>
          <a:ln w="9525">
            <a:solidFill>
              <a:srgbClr val="DDDDDD"/>
            </a:solidFill>
            <a:prstDash val="solid"/>
          </a:ln>
        </p:spPr>
      </p:sp>
      <p:sp>
        <p:nvSpPr>
          <p:cNvPr id="38" name="Shape 30"/>
          <p:cNvSpPr/>
          <p:nvPr/>
        </p:nvSpPr>
        <p:spPr>
          <a:xfrm>
            <a:off x="1637703" y="2518925"/>
            <a:ext cx="885334" cy="54864"/>
          </a:xfrm>
          <a:prstGeom prst="rect">
            <a:avLst/>
          </a:prstGeom>
          <a:solidFill>
            <a:srgbClr val="D4A017"/>
          </a:solidFill>
          <a:ln w="12700">
            <a:solidFill>
              <a:srgbClr val="D4A017"/>
            </a:solidFill>
            <a:prstDash val="solid"/>
          </a:ln>
        </p:spPr>
      </p:sp>
      <p:sp>
        <p:nvSpPr>
          <p:cNvPr id="39" name="Text 31"/>
          <p:cNvSpPr txBox="1"/>
          <p:nvPr/>
        </p:nvSpPr>
        <p:spPr>
          <a:xfrm>
            <a:off x="1710855" y="2610365"/>
            <a:ext cx="793894" cy="182880"/>
          </a:xfrm>
          <a:prstGeom prst="rect">
            <a:avLst/>
          </a:prstGeom>
          <a:noFill/>
          <a:ln/>
        </p:spPr>
        <p:txBody>
          <a:bodyPr wrap="square" lIns="0" tIns="0" rIns="0" bIns="0" rtlCol="0" anchor="t"/>
          <a:lstStyle/>
          <a:p>
            <a:pPr indent="0" marL="0">
              <a:buNone/>
            </a:pPr>
            <a:r>
              <a:rPr lang="en-US" sz="800" b="1" dirty="0">
                <a:solidFill>
                  <a:srgbClr val="0F4C3A"/>
                </a:solidFill>
                <a:latin typeface="Arial" pitchFamily="34" charset="0"/>
                <a:ea typeface="Arial" pitchFamily="34" charset="-122"/>
                <a:cs typeface="Arial" pitchFamily="34" charset="-120"/>
              </a:rPr>
              <a:t>Diniyah</a:t>
            </a:r>
            <a:endParaRPr lang="en-US" sz="800" dirty="0"/>
          </a:p>
        </p:txBody>
      </p:sp>
      <p:sp>
        <p:nvSpPr>
          <p:cNvPr id="40" name="Text 32"/>
          <p:cNvSpPr txBox="1"/>
          <p:nvPr/>
        </p:nvSpPr>
        <p:spPr>
          <a:xfrm>
            <a:off x="1710855" y="2793245"/>
            <a:ext cx="748174" cy="256032"/>
          </a:xfrm>
          <a:prstGeom prst="rect">
            <a:avLst/>
          </a:prstGeom>
          <a:noFill/>
          <a:ln/>
        </p:spPr>
        <p:txBody>
          <a:bodyPr wrap="square" lIns="0" tIns="0" rIns="0" bIns="0" rtlCol="0" anchor="t"/>
          <a:lstStyle/>
          <a:p>
            <a:pPr indent="0" marL="0">
              <a:buNone/>
            </a:pPr>
            <a:r>
              <a:rPr lang="en-US" sz="550" dirty="0">
                <a:solidFill>
                  <a:srgbClr val="1E2A26"/>
                </a:solidFill>
                <a:latin typeface="Arial" pitchFamily="34" charset="0"/>
                <a:ea typeface="Arial" pitchFamily="34" charset="-122"/>
                <a:cs typeface="Arial" pitchFamily="34" charset="-120"/>
              </a:rPr>
              <a:t>Program unggulan pondok untuk santri.</a:t>
            </a:r>
            <a:endParaRPr lang="en-US" sz="550" dirty="0"/>
          </a:p>
        </p:txBody>
      </p:sp>
      <p:sp>
        <p:nvSpPr>
          <p:cNvPr id="41" name="Shape 33"/>
          <p:cNvSpPr/>
          <p:nvPr/>
        </p:nvSpPr>
        <p:spPr>
          <a:xfrm>
            <a:off x="2596189" y="2518925"/>
            <a:ext cx="885334" cy="566928"/>
          </a:xfrm>
          <a:prstGeom prst="roundRect">
            <a:avLst>
              <a:gd name="adj" fmla="val 9677"/>
            </a:avLst>
          </a:prstGeom>
          <a:solidFill>
            <a:srgbClr val="FFFFFF"/>
          </a:solidFill>
          <a:ln w="9525">
            <a:solidFill>
              <a:srgbClr val="DDDDDD"/>
            </a:solidFill>
            <a:prstDash val="solid"/>
          </a:ln>
        </p:spPr>
      </p:sp>
      <p:sp>
        <p:nvSpPr>
          <p:cNvPr id="42" name="Shape 34"/>
          <p:cNvSpPr/>
          <p:nvPr/>
        </p:nvSpPr>
        <p:spPr>
          <a:xfrm>
            <a:off x="2596189" y="2518925"/>
            <a:ext cx="885334" cy="54864"/>
          </a:xfrm>
          <a:prstGeom prst="rect">
            <a:avLst/>
          </a:prstGeom>
          <a:solidFill>
            <a:srgbClr val="D4A017"/>
          </a:solidFill>
          <a:ln w="12700">
            <a:solidFill>
              <a:srgbClr val="D4A017"/>
            </a:solidFill>
            <a:prstDash val="solid"/>
          </a:ln>
        </p:spPr>
      </p:sp>
      <p:sp>
        <p:nvSpPr>
          <p:cNvPr id="43" name="Text 35"/>
          <p:cNvSpPr txBox="1"/>
          <p:nvPr/>
        </p:nvSpPr>
        <p:spPr>
          <a:xfrm>
            <a:off x="2669341" y="2610365"/>
            <a:ext cx="793894" cy="182880"/>
          </a:xfrm>
          <a:prstGeom prst="rect">
            <a:avLst/>
          </a:prstGeom>
          <a:noFill/>
          <a:ln/>
        </p:spPr>
        <p:txBody>
          <a:bodyPr wrap="square" lIns="0" tIns="0" rIns="0" bIns="0" rtlCol="0" anchor="t"/>
          <a:lstStyle/>
          <a:p>
            <a:pPr indent="0" marL="0">
              <a:buNone/>
            </a:pPr>
            <a:r>
              <a:rPr lang="en-US" sz="800" b="1" dirty="0">
                <a:solidFill>
                  <a:srgbClr val="0F4C3A"/>
                </a:solidFill>
                <a:latin typeface="Arial" pitchFamily="34" charset="0"/>
                <a:ea typeface="Arial" pitchFamily="34" charset="-122"/>
                <a:cs typeface="Arial" pitchFamily="34" charset="-120"/>
              </a:rPr>
              <a:t>Teknologi</a:t>
            </a:r>
            <a:endParaRPr lang="en-US" sz="800" dirty="0"/>
          </a:p>
        </p:txBody>
      </p:sp>
      <p:sp>
        <p:nvSpPr>
          <p:cNvPr id="44" name="Text 36"/>
          <p:cNvSpPr txBox="1"/>
          <p:nvPr/>
        </p:nvSpPr>
        <p:spPr>
          <a:xfrm>
            <a:off x="2669341" y="2793245"/>
            <a:ext cx="748174" cy="256032"/>
          </a:xfrm>
          <a:prstGeom prst="rect">
            <a:avLst/>
          </a:prstGeom>
          <a:noFill/>
          <a:ln/>
        </p:spPr>
        <p:txBody>
          <a:bodyPr wrap="square" lIns="0" tIns="0" rIns="0" bIns="0" rtlCol="0" anchor="t"/>
          <a:lstStyle/>
          <a:p>
            <a:pPr indent="0" marL="0">
              <a:buNone/>
            </a:pPr>
            <a:r>
              <a:rPr lang="en-US" sz="550" dirty="0">
                <a:solidFill>
                  <a:srgbClr val="1E2A26"/>
                </a:solidFill>
                <a:latin typeface="Arial" pitchFamily="34" charset="0"/>
                <a:ea typeface="Arial" pitchFamily="34" charset="-122"/>
                <a:cs typeface="Arial" pitchFamily="34" charset="-120"/>
              </a:rPr>
              <a:t>Program unggulan pondok untuk santri.</a:t>
            </a:r>
            <a:endParaRPr lang="en-US" sz="550" dirty="0"/>
          </a:p>
        </p:txBody>
      </p:sp>
      <p:sp>
        <p:nvSpPr>
          <p:cNvPr id="45" name="Shape 37"/>
          <p:cNvSpPr/>
          <p:nvPr/>
        </p:nvSpPr>
        <p:spPr>
          <a:xfrm>
            <a:off x="1577450" y="3177293"/>
            <a:ext cx="1005840" cy="201168"/>
          </a:xfrm>
          <a:prstGeom prst="roundRect">
            <a:avLst>
              <a:gd name="adj" fmla="val 50000"/>
            </a:avLst>
          </a:prstGeom>
          <a:solidFill>
            <a:srgbClr val="D4A017"/>
          </a:solidFill>
          <a:ln w="12700">
            <a:solidFill>
              <a:srgbClr val="D4A017"/>
            </a:solidFill>
            <a:prstDash val="solid"/>
          </a:ln>
        </p:spPr>
      </p:sp>
      <p:sp>
        <p:nvSpPr>
          <p:cNvPr id="46" name="Text 38"/>
          <p:cNvSpPr txBox="1"/>
          <p:nvPr/>
        </p:nvSpPr>
        <p:spPr>
          <a:xfrm>
            <a:off x="1577450" y="3177293"/>
            <a:ext cx="100584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Lihat Website Kelas</a:t>
            </a:r>
            <a:endParaRPr lang="en-US" sz="650" dirty="0"/>
          </a:p>
        </p:txBody>
      </p:sp>
      <p:sp>
        <p:nvSpPr>
          <p:cNvPr id="47" name="Shape 39"/>
          <p:cNvSpPr/>
          <p:nvPr/>
        </p:nvSpPr>
        <p:spPr>
          <a:xfrm>
            <a:off x="3652962" y="1695965"/>
            <a:ext cx="1867454" cy="2281131"/>
          </a:xfrm>
          <a:prstGeom prst="rect">
            <a:avLst/>
          </a:prstGeom>
          <a:solidFill>
            <a:srgbClr val="F8F9FA"/>
          </a:solidFill>
          <a:ln w="6350">
            <a:solidFill>
              <a:srgbClr val="CCCCCC"/>
            </a:solidFill>
            <a:prstDash val="solid"/>
          </a:ln>
        </p:spPr>
      </p:sp>
      <p:sp>
        <p:nvSpPr>
          <p:cNvPr id="48" name="Text 40"/>
          <p:cNvSpPr txBox="1"/>
          <p:nvPr/>
        </p:nvSpPr>
        <p:spPr>
          <a:xfrm>
            <a:off x="3698682" y="1723397"/>
            <a:ext cx="1867454" cy="164592"/>
          </a:xfrm>
          <a:prstGeom prst="rect">
            <a:avLst/>
          </a:prstGeom>
          <a:noFill/>
          <a:ln/>
        </p:spPr>
        <p:txBody>
          <a:bodyPr wrap="square" lIns="0" tIns="0" rIns="0" bIns="0" rtlCol="0" anchor="t"/>
          <a:lstStyle/>
          <a:p>
            <a:pPr indent="0" marL="0">
              <a:buNone/>
            </a:pPr>
            <a:r>
              <a:rPr lang="en-US" sz="600" dirty="0">
                <a:solidFill>
                  <a:srgbClr val="555555"/>
                </a:solidFill>
                <a:latin typeface="Calibri" pitchFamily="34" charset="0"/>
                <a:ea typeface="Calibri" pitchFamily="34" charset="-122"/>
                <a:cs typeface="Calibri" pitchFamily="34" charset="-120"/>
              </a:rPr>
              <a:t>Elements   Console   Sources</a:t>
            </a:r>
            <a:endParaRPr lang="en-US" sz="600" dirty="0"/>
          </a:p>
        </p:txBody>
      </p:sp>
      <p:pic>
        <p:nvPicPr>
          <p:cNvPr id="49" name="Image 6" descr="preencoded.png">    </p:cNvPr>
          <p:cNvPicPr>
            <a:picLocks noChangeAspect="1"/>
          </p:cNvPicPr>
          <p:nvPr/>
        </p:nvPicPr>
        <p:blipFill>
          <a:blip r:embed="rId7"/>
          <a:stretch>
            <a:fillRect/>
          </a:stretch>
        </p:blipFill>
        <p:spPr>
          <a:xfrm>
            <a:off x="3735258" y="1915421"/>
            <a:ext cx="128016" cy="128016"/>
          </a:xfrm>
          <a:prstGeom prst="rect">
            <a:avLst/>
          </a:prstGeom>
        </p:spPr>
      </p:pic>
      <p:sp>
        <p:nvSpPr>
          <p:cNvPr id="50" name="Shape 41"/>
          <p:cNvSpPr/>
          <p:nvPr/>
        </p:nvSpPr>
        <p:spPr>
          <a:xfrm>
            <a:off x="3671250" y="1869701"/>
            <a:ext cx="256032" cy="237744"/>
          </a:xfrm>
          <a:prstGeom prst="roundRect">
            <a:avLst>
              <a:gd name="adj" fmla="val 19231"/>
            </a:avLst>
          </a:prstGeom>
          <a:solidFill>
            <a:srgbClr val="FFFFFF">
              <a:alpha val="0"/>
            </a:srgbClr>
          </a:solidFill>
          <a:ln w="31750">
            <a:solidFill>
              <a:srgbClr val="E53935"/>
            </a:solidFill>
            <a:prstDash val="solid"/>
          </a:ln>
        </p:spPr>
      </p:sp>
      <p:sp>
        <p:nvSpPr>
          <p:cNvPr id="51" name="Shape 42"/>
          <p:cNvSpPr/>
          <p:nvPr/>
        </p:nvSpPr>
        <p:spPr>
          <a:xfrm>
            <a:off x="3790122" y="1732541"/>
            <a:ext cx="274320" cy="274320"/>
          </a:xfrm>
          <a:prstGeom prst="ellipse">
            <a:avLst/>
          </a:prstGeom>
          <a:solidFill>
            <a:srgbClr val="E53935"/>
          </a:solidFill>
          <a:ln w="12700">
            <a:solidFill>
              <a:srgbClr val="FFFFFF"/>
            </a:solidFill>
            <a:prstDash val="solid"/>
          </a:ln>
        </p:spPr>
      </p:sp>
      <p:sp>
        <p:nvSpPr>
          <p:cNvPr id="52" name="Text 43"/>
          <p:cNvSpPr txBox="1"/>
          <p:nvPr/>
        </p:nvSpPr>
        <p:spPr>
          <a:xfrm>
            <a:off x="3790122" y="17325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53" name="Image 7" descr="preencoded.png">    </p:cNvPr>
          <p:cNvPicPr>
            <a:picLocks noChangeAspect="1"/>
          </p:cNvPicPr>
          <p:nvPr/>
        </p:nvPicPr>
        <p:blipFill>
          <a:blip r:embed="rId8"/>
          <a:stretch>
            <a:fillRect/>
          </a:stretch>
        </p:blipFill>
        <p:spPr>
          <a:xfrm>
            <a:off x="3809325" y="1997717"/>
            <a:ext cx="237744" cy="237744"/>
          </a:xfrm>
          <a:prstGeom prst="rect">
            <a:avLst/>
          </a:prstGeom>
        </p:spPr>
      </p:pic>
      <p:sp>
        <p:nvSpPr>
          <p:cNvPr id="54" name="Text 4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55" name="Text 4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F12 › ikon perangkat (Toggle device)</a:t>
            </a:r>
            <a:endParaRPr lang="en-US" sz="1800" dirty="0"/>
          </a:p>
        </p:txBody>
      </p:sp>
      <p:sp>
        <p:nvSpPr>
          <p:cNvPr id="56" name="Text 4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browser tekan F12. Klik ikon HP/tablet di pojok kiri atas panel DevTools. Pilih ukuran HP.</a:t>
            </a:r>
            <a:endParaRPr lang="en-US" sz="1300" dirty="0"/>
          </a:p>
        </p:txBody>
      </p:sp>
      <p:sp>
        <p:nvSpPr>
          <p:cNvPr id="57" name="Shape 4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8"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59" name="Text 4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Ctrl+Shift+M juga membuka tampilan perangkat.</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 HP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PP Wihdatul Ummah</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file:///C:/.../Website_Saya/pondok.html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EEEEEE"/>
          </a:solidFill>
          <a:ln w="12700">
            <a:solidFill>
              <a:srgbClr val="EEEEEE"/>
            </a:solidFill>
            <a:prstDash val="solid"/>
          </a:ln>
        </p:spPr>
      </p:sp>
      <p:sp>
        <p:nvSpPr>
          <p:cNvPr id="30" name="Shape 23"/>
          <p:cNvSpPr/>
          <p:nvPr/>
        </p:nvSpPr>
        <p:spPr>
          <a:xfrm>
            <a:off x="2377440" y="1695965"/>
            <a:ext cx="1371600" cy="685800"/>
          </a:xfrm>
          <a:prstGeom prst="rect">
            <a:avLst/>
          </a:prstGeom>
          <a:solidFill>
            <a:srgbClr val="0F4C3A"/>
          </a:solidFill>
          <a:ln w="12700">
            <a:solidFill>
              <a:srgbClr val="0F4C3A"/>
            </a:solidFill>
            <a:prstDash val="solid"/>
          </a:ln>
        </p:spPr>
      </p:sp>
      <p:pic>
        <p:nvPicPr>
          <p:cNvPr id="31" name="Image 5" descr="/home/claude/logo.png">    </p:cNvPr>
          <p:cNvPicPr>
            <a:picLocks noChangeAspect="1"/>
          </p:cNvPicPr>
          <p:nvPr/>
        </p:nvPicPr>
        <p:blipFill>
          <a:blip r:embed="rId6"/>
          <a:stretch>
            <a:fillRect/>
          </a:stretch>
        </p:blipFill>
        <p:spPr>
          <a:xfrm>
            <a:off x="2450592" y="1769117"/>
            <a:ext cx="228600" cy="228600"/>
          </a:xfrm>
          <a:prstGeom prst="rect">
            <a:avLst/>
          </a:prstGeom>
        </p:spPr>
      </p:pic>
      <p:sp>
        <p:nvSpPr>
          <p:cNvPr id="32" name="Text 24"/>
          <p:cNvSpPr txBox="1"/>
          <p:nvPr/>
        </p:nvSpPr>
        <p:spPr>
          <a:xfrm>
            <a:off x="2423160" y="2016005"/>
            <a:ext cx="914400" cy="228600"/>
          </a:xfrm>
          <a:prstGeom prst="rect">
            <a:avLst/>
          </a:prstGeom>
          <a:noFill/>
          <a:ln/>
        </p:spPr>
        <p:txBody>
          <a:bodyPr wrap="square" lIns="0" tIns="0" rIns="0" bIns="0" rtlCol="0" anchor="t"/>
          <a:lstStyle/>
          <a:p>
            <a:pPr indent="0" marL="0">
              <a:buNone/>
            </a:pPr>
            <a:r>
              <a:rPr lang="en-US" sz="700" b="1" dirty="0">
                <a:solidFill>
                  <a:srgbClr val="FFFFFF"/>
                </a:solidFill>
                <a:latin typeface="Arial" pitchFamily="34" charset="0"/>
                <a:ea typeface="Arial" pitchFamily="34" charset="-122"/>
                <a:cs typeface="Arial" pitchFamily="34" charset="-120"/>
              </a:rPr>
              <a:t>Pondok Pesantren Wihdatul Ummah</a:t>
            </a:r>
            <a:endParaRPr lang="en-US" sz="700" dirty="0"/>
          </a:p>
        </p:txBody>
      </p:sp>
      <p:sp>
        <p:nvSpPr>
          <p:cNvPr id="33" name="Text 25"/>
          <p:cNvSpPr txBox="1"/>
          <p:nvPr/>
        </p:nvSpPr>
        <p:spPr>
          <a:xfrm>
            <a:off x="2423160" y="2198885"/>
            <a:ext cx="914400" cy="182880"/>
          </a:xfrm>
          <a:prstGeom prst="rect">
            <a:avLst/>
          </a:prstGeom>
          <a:noFill/>
          <a:ln/>
        </p:spPr>
        <p:txBody>
          <a:bodyPr wrap="square" lIns="0" tIns="0" rIns="0" bIns="0" rtlCol="0" anchor="t"/>
          <a:lstStyle/>
          <a:p>
            <a:pPr indent="0" marL="0">
              <a:buNone/>
            </a:pPr>
            <a:r>
              <a:rPr lang="en-US" sz="500" dirty="0">
                <a:solidFill>
                  <a:srgbClr val="BFE3D3"/>
                </a:solidFill>
                <a:latin typeface="Arial" pitchFamily="34" charset="0"/>
                <a:ea typeface="Arial" pitchFamily="34" charset="-122"/>
                <a:cs typeface="Arial" pitchFamily="34" charset="-120"/>
              </a:rPr>
              <a:t>Mencetak generasi Qur'ani yang berakhlak dan cerdas</a:t>
            </a:r>
            <a:endParaRPr lang="en-US" sz="500" dirty="0"/>
          </a:p>
        </p:txBody>
      </p:sp>
      <p:sp>
        <p:nvSpPr>
          <p:cNvPr id="34" name="Shape 26"/>
          <p:cNvSpPr/>
          <p:nvPr/>
        </p:nvSpPr>
        <p:spPr>
          <a:xfrm>
            <a:off x="2450592" y="2473205"/>
            <a:ext cx="1225296" cy="566928"/>
          </a:xfrm>
          <a:prstGeom prst="roundRect">
            <a:avLst>
              <a:gd name="adj" fmla="val 9677"/>
            </a:avLst>
          </a:prstGeom>
          <a:solidFill>
            <a:srgbClr val="FFFFFF"/>
          </a:solidFill>
          <a:ln w="9525">
            <a:solidFill>
              <a:srgbClr val="DDDDDD"/>
            </a:solidFill>
            <a:prstDash val="solid"/>
          </a:ln>
        </p:spPr>
      </p:sp>
      <p:sp>
        <p:nvSpPr>
          <p:cNvPr id="35" name="Shape 27"/>
          <p:cNvSpPr/>
          <p:nvPr/>
        </p:nvSpPr>
        <p:spPr>
          <a:xfrm>
            <a:off x="2450592" y="2473205"/>
            <a:ext cx="1225296" cy="54864"/>
          </a:xfrm>
          <a:prstGeom prst="rect">
            <a:avLst/>
          </a:prstGeom>
          <a:solidFill>
            <a:srgbClr val="D4A017"/>
          </a:solidFill>
          <a:ln w="12700">
            <a:solidFill>
              <a:srgbClr val="D4A017"/>
            </a:solidFill>
            <a:prstDash val="solid"/>
          </a:ln>
        </p:spPr>
      </p:sp>
      <p:sp>
        <p:nvSpPr>
          <p:cNvPr id="36" name="Text 28"/>
          <p:cNvSpPr txBox="1"/>
          <p:nvPr/>
        </p:nvSpPr>
        <p:spPr>
          <a:xfrm>
            <a:off x="2523744" y="2564645"/>
            <a:ext cx="1133856" cy="182880"/>
          </a:xfrm>
          <a:prstGeom prst="rect">
            <a:avLst/>
          </a:prstGeom>
          <a:noFill/>
          <a:ln/>
        </p:spPr>
        <p:txBody>
          <a:bodyPr wrap="square" lIns="0" tIns="0" rIns="0" bIns="0" rtlCol="0" anchor="t"/>
          <a:lstStyle/>
          <a:p>
            <a:pPr indent="0" marL="0">
              <a:buNone/>
            </a:pPr>
            <a:r>
              <a:rPr lang="en-US" sz="800" b="1" dirty="0">
                <a:solidFill>
                  <a:srgbClr val="0F4C3A"/>
                </a:solidFill>
                <a:latin typeface="Arial" pitchFamily="34" charset="0"/>
                <a:ea typeface="Arial" pitchFamily="34" charset="-122"/>
                <a:cs typeface="Arial" pitchFamily="34" charset="-120"/>
              </a:rPr>
              <a:t>Tahfidz</a:t>
            </a:r>
            <a:endParaRPr lang="en-US" sz="800" dirty="0"/>
          </a:p>
        </p:txBody>
      </p:sp>
      <p:sp>
        <p:nvSpPr>
          <p:cNvPr id="37" name="Text 29"/>
          <p:cNvSpPr txBox="1"/>
          <p:nvPr/>
        </p:nvSpPr>
        <p:spPr>
          <a:xfrm>
            <a:off x="2523744" y="2747525"/>
            <a:ext cx="1088136" cy="256032"/>
          </a:xfrm>
          <a:prstGeom prst="rect">
            <a:avLst/>
          </a:prstGeom>
          <a:noFill/>
          <a:ln/>
        </p:spPr>
        <p:txBody>
          <a:bodyPr wrap="square" lIns="0" tIns="0" rIns="0" bIns="0" rtlCol="0" anchor="t"/>
          <a:lstStyle/>
          <a:p>
            <a:pPr indent="0" marL="0">
              <a:buNone/>
            </a:pPr>
            <a:r>
              <a:rPr lang="en-US" sz="550" dirty="0">
                <a:solidFill>
                  <a:srgbClr val="1E2A26"/>
                </a:solidFill>
                <a:latin typeface="Arial" pitchFamily="34" charset="0"/>
                <a:ea typeface="Arial" pitchFamily="34" charset="-122"/>
                <a:cs typeface="Arial" pitchFamily="34" charset="-120"/>
              </a:rPr>
              <a:t>Program unggulan pondok untuk santri.</a:t>
            </a:r>
            <a:endParaRPr lang="en-US" sz="550" dirty="0"/>
          </a:p>
        </p:txBody>
      </p:sp>
      <p:sp>
        <p:nvSpPr>
          <p:cNvPr id="38" name="Shape 30"/>
          <p:cNvSpPr/>
          <p:nvPr/>
        </p:nvSpPr>
        <p:spPr>
          <a:xfrm>
            <a:off x="2450592" y="3094997"/>
            <a:ext cx="1225296" cy="566928"/>
          </a:xfrm>
          <a:prstGeom prst="roundRect">
            <a:avLst>
              <a:gd name="adj" fmla="val 9677"/>
            </a:avLst>
          </a:prstGeom>
          <a:solidFill>
            <a:srgbClr val="FFFFFF"/>
          </a:solidFill>
          <a:ln w="9525">
            <a:solidFill>
              <a:srgbClr val="DDDDDD"/>
            </a:solidFill>
            <a:prstDash val="solid"/>
          </a:ln>
        </p:spPr>
      </p:sp>
      <p:sp>
        <p:nvSpPr>
          <p:cNvPr id="39" name="Shape 31"/>
          <p:cNvSpPr/>
          <p:nvPr/>
        </p:nvSpPr>
        <p:spPr>
          <a:xfrm>
            <a:off x="2450592" y="3094997"/>
            <a:ext cx="1225296" cy="54864"/>
          </a:xfrm>
          <a:prstGeom prst="rect">
            <a:avLst/>
          </a:prstGeom>
          <a:solidFill>
            <a:srgbClr val="D4A017"/>
          </a:solidFill>
          <a:ln w="12700">
            <a:solidFill>
              <a:srgbClr val="D4A017"/>
            </a:solidFill>
            <a:prstDash val="solid"/>
          </a:ln>
        </p:spPr>
      </p:sp>
      <p:sp>
        <p:nvSpPr>
          <p:cNvPr id="40" name="Text 32"/>
          <p:cNvSpPr txBox="1"/>
          <p:nvPr/>
        </p:nvSpPr>
        <p:spPr>
          <a:xfrm>
            <a:off x="2523744" y="3186437"/>
            <a:ext cx="1133856" cy="182880"/>
          </a:xfrm>
          <a:prstGeom prst="rect">
            <a:avLst/>
          </a:prstGeom>
          <a:noFill/>
          <a:ln/>
        </p:spPr>
        <p:txBody>
          <a:bodyPr wrap="square" lIns="0" tIns="0" rIns="0" bIns="0" rtlCol="0" anchor="t"/>
          <a:lstStyle/>
          <a:p>
            <a:pPr indent="0" marL="0">
              <a:buNone/>
            </a:pPr>
            <a:r>
              <a:rPr lang="en-US" sz="800" b="1" dirty="0">
                <a:solidFill>
                  <a:srgbClr val="0F4C3A"/>
                </a:solidFill>
                <a:latin typeface="Arial" pitchFamily="34" charset="0"/>
                <a:ea typeface="Arial" pitchFamily="34" charset="-122"/>
                <a:cs typeface="Arial" pitchFamily="34" charset="-120"/>
              </a:rPr>
              <a:t>Diniyah</a:t>
            </a:r>
            <a:endParaRPr lang="en-US" sz="800" dirty="0"/>
          </a:p>
        </p:txBody>
      </p:sp>
      <p:sp>
        <p:nvSpPr>
          <p:cNvPr id="41" name="Text 33"/>
          <p:cNvSpPr txBox="1"/>
          <p:nvPr/>
        </p:nvSpPr>
        <p:spPr>
          <a:xfrm>
            <a:off x="2523744" y="3369317"/>
            <a:ext cx="1088136" cy="256032"/>
          </a:xfrm>
          <a:prstGeom prst="rect">
            <a:avLst/>
          </a:prstGeom>
          <a:noFill/>
          <a:ln/>
        </p:spPr>
        <p:txBody>
          <a:bodyPr wrap="square" lIns="0" tIns="0" rIns="0" bIns="0" rtlCol="0" anchor="t"/>
          <a:lstStyle/>
          <a:p>
            <a:pPr indent="0" marL="0">
              <a:buNone/>
            </a:pPr>
            <a:r>
              <a:rPr lang="en-US" sz="550" dirty="0">
                <a:solidFill>
                  <a:srgbClr val="1E2A26"/>
                </a:solidFill>
                <a:latin typeface="Arial" pitchFamily="34" charset="0"/>
                <a:ea typeface="Arial" pitchFamily="34" charset="-122"/>
                <a:cs typeface="Arial" pitchFamily="34" charset="-120"/>
              </a:rPr>
              <a:t>Program unggulan pondok untuk santri.</a:t>
            </a:r>
            <a:endParaRPr lang="en-US" sz="550" dirty="0"/>
          </a:p>
        </p:txBody>
      </p:sp>
      <p:sp>
        <p:nvSpPr>
          <p:cNvPr id="42" name="Shape 34"/>
          <p:cNvSpPr/>
          <p:nvPr/>
        </p:nvSpPr>
        <p:spPr>
          <a:xfrm>
            <a:off x="2313432" y="1695965"/>
            <a:ext cx="1499616" cy="2281131"/>
          </a:xfrm>
          <a:prstGeom prst="roundRect">
            <a:avLst>
              <a:gd name="adj" fmla="val 3049"/>
            </a:avLst>
          </a:prstGeom>
          <a:solidFill>
            <a:srgbClr val="FFFFFF">
              <a:alpha val="0"/>
            </a:srgbClr>
          </a:solidFill>
          <a:ln w="31750">
            <a:solidFill>
              <a:srgbClr val="E53935"/>
            </a:solidFill>
            <a:prstDash val="solid"/>
          </a:ln>
        </p:spPr>
      </p:sp>
      <p:sp>
        <p:nvSpPr>
          <p:cNvPr id="43" name="Shape 35"/>
          <p:cNvSpPr/>
          <p:nvPr/>
        </p:nvSpPr>
        <p:spPr>
          <a:xfrm>
            <a:off x="3675888" y="1558805"/>
            <a:ext cx="274320" cy="274320"/>
          </a:xfrm>
          <a:prstGeom prst="ellipse">
            <a:avLst/>
          </a:prstGeom>
          <a:solidFill>
            <a:srgbClr val="E53935"/>
          </a:solidFill>
          <a:ln w="12700">
            <a:solidFill>
              <a:srgbClr val="FFFFFF"/>
            </a:solidFill>
            <a:prstDash val="solid"/>
          </a:ln>
        </p:spPr>
      </p:sp>
      <p:sp>
        <p:nvSpPr>
          <p:cNvPr id="44" name="Text 36"/>
          <p:cNvSpPr txBox="1"/>
          <p:nvPr/>
        </p:nvSpPr>
        <p:spPr>
          <a:xfrm>
            <a:off x="3675888"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5" name="Text 3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46" name="Text 3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Kartu bertumpuk rapi di layar HP</a:t>
            </a:r>
            <a:endParaRPr lang="en-US" sz="1800" dirty="0"/>
          </a:p>
        </p:txBody>
      </p:sp>
      <p:sp>
        <p:nvSpPr>
          <p:cNvPr id="47" name="Text 3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Halaman tampil seukuran HP. Kartu otomatis tersusun ke bawah. Jika tidak, periksa meta viewport dan flex-wrap.</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Landing Page Pesantren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Landing page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Ada meta viewport, header berlogo, 3 kartu program, tombol, dan footer.</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Kartu berdampingan di layar komputer (display flex).</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Kartu bertumpuk rapi di tampilan HP (flex-wrap), diuji dengan DevTools.</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Isi benar dan santun, tanpa data pribadi; santri bisa menjelaskan CSS-nya.</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8: CSS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header dan 3 kartu program</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Kartu berdampingan di layar lebar</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Kartu bertumpuk rapi di layar HP</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Diuji dengan DevTools</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website harus nyaman dibuka di HP?</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Bagian mana dari landing page yang paling kamu banggakan?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Landing page membawa nama pondok. Isinya harus benar, santun, dan tidak berlebihan.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9: GitHub, menyimpan kode di repository.</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2 Modul 8 - CSS</dc:title>
  <dc:subject>PptxGenJS Presentation</dc:subject>
  <dc:creator>PptxGenJS</dc:creator>
  <cp:lastModifiedBy>PptxGenJS</cp:lastModifiedBy>
  <cp:revision>1</cp:revision>
  <dcterms:created xsi:type="dcterms:W3CDTF">2026-10-01T21:42:11Z</dcterms:created>
  <dcterms:modified xsi:type="dcterms:W3CDTF">2026-10-01T21:42:11Z</dcterms:modified>
</cp:coreProperties>
</file>