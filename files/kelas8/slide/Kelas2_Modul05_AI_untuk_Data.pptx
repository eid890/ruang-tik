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5: AI untuk Data — Proyek: Dashboard Prestasi Kelas
Terdiri dari 3 pertemuan (Pertemuan 13–15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AI DIOPERASIKAN OLEH GURU di layar proyektor dengan akun pesantren (batas usia minimal pengguna layanan AI). Santri menulis prompt di kertas atau Google Docs, guru mengetikkannya.
- HANYA data fiktif yang boleh ditempel ke AI. Tegaskan: data asli santri tidak boleh dimasukkan ke AI.
- Coba prompt contoh sebelum kelas. Rumus yang diberikan AI kadang memakai pemisah titik koma (;) atau koma (,), sesuaikan dengan pengaturan Google Sheets di komputer pondok.
CATATAN
Ingatkan rumus kerja di Kelas VII: AI adalah alat bantu. Setiap rumus dari AI WAJIB diuji di Sheets dan santri harus mampu menjelaskan cara kerjanya.
Fungsi baru di modul ini: IF (jika ... maka ... jika tidak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ke-13, dengan judul "AI Menjelaskan Rumus". Kita kembali bertemu dengan AI, kali ini sebagai teman belajar mengolah data.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Di Kelas VII, Modul 9 dan 10, kita sudah belajar memakai AI dengan bijak. Siapa yang ingat empat rambu memakai AI?
(Tunggu jawaban: jujur, paham, aman, periksa.)
Hari ini AI kita jadikan teman belajar mengolah data.
Sekarang pertanyaan hari ini. Coba pikirkan sejenak:
"Pernahkah kalian melihat rumus panjang di spreadsheet dan bingung artinya?"
(Beri waktu 1 menit. Minta 2–3 santri menjawab. Hargai semua jawaban.)
Rumus seperti AVERAGEIF dengan tiga bagian memang bisa membingungkan. AI dapat membantu menjelaskannya bagian demi bagian. Tetapi ingat rambu PAHAM dan PERIKSA: penjelasan AI kita uji, lalu kita jelaskan ulang dengan kata-kata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dapat menjadi mentor ketika belajar spreadsheet. Ada empat cara memakainya.
Pertama, MENJELASKAN RUMUS: meminta AI menguraikan rumus bagian demi bagian. Inilah yang kita latih hari ini.
Kedua, MEMBANTU MENYUSUN RUMUS: kita menjelaskan tujuan, AI memberi usulan rumus. Kita latih pekan depan.
Ketiga, MENCARI ERROR: ketika rumus menampilkan pesan kesalahan seperti #NAME? atau #VALUE!, AI bisa membantu mencari penyebabnya.
Keempat, IDE ANALISIS: meminta saran grafik atau cara membaca data.
Dalam semua cara itu, kita yang menguji, memahami, dan memutuskan. AI hanya membantu.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memakai AI untuk data, ingat aturan keamanan ini.
Yang BOLEH: menempel rumus untuk dijelaskan, menempel data FIKTIF atau karangan seperti database latihan kita, dan menjelaskan tujuan dengan kata-kata.
Yang DILARANG: menempel data asli santri, nilai rapor, alamat, nomor HP, atau kata sandi dan link file pribadi. Data yang kita ketik ke AI bisa tersimpan di server perusahaan pembuat AI. Data asli santri adalah amanah pondok yang tidak boleh keluar.
Jika suatu saat kalian membantu mengolah data asli, tanyakan AI dengan contoh karangan, lalu terapkan rumusnya sendiri pada data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(Guru membuka layanan AI di proyektor dengan akun pesantren. Santri membuka file database kelompok di komputer.)
Hari ini AI menjelaskan rumus, lalu kalian membuktikannya sendiri di Google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Setiap kelompok menulis prompt di Google Docs. Ingat resep prompt dari Kelas VII: konteks, tugas, dan format.
Contoh: Saya santri SMP yang belajar Google Sheets. Jelaskan rumus berikut bagian demi bagian dengan bahasa sederhana. Lalu tempel rumus AVERAGEIF dari lembar Ringkasan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Saya mengetikkan prompt salah satu kelompok ke AI di layar:
"Saya santri SMP yang belajar Google Sheets. Jelaskan rumus berikut bagian demi bagian dengan bahasa sederhana: =AVERAGEIF(Data!C2:C30,"8A",Data!F2:F30)"
Lalu kirim.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Bacakan penjelasan AI di layar.
(Bacakan jawaban AI yang muncul.)
AI menguraikan rumus menjadi tiga bagian: kolom yang diperiksa, syaratnya, dan kolom yang dirata-rata. Bandingkan dengan penjelasan di Modul 4. Apakah sama?
Tanyakan kepada santri: bagian mana yang masih belum jelas? Jika ada, kita bisa bertanya lagi kepada AI dengan pertanyaan 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buktikan penjelasan AI. Di Google Sheets, di lembar Ringkasan, salin rumus AVERAGEIF ke sel lain, lalu ubah syaratnya menjadi 8B, tanda a.
Jika penjelasan AI benar, hasilnya adalah rata-rata juz santri kelas 8B, tanda b.
Cocokkan dengan menghitung manual: buka lembar Data, jumlahkan juz semua santri 8B, lalu bagi dengan banyaknya santri 8B. Apakah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bisa bertanya lanjutan. Misalnya: apa beda AVERAGE dan AVERAGEIF?
(Ketik pertanyaan lanjutan dari santri, lalu bacakan jawabannya.)
Lalu santri mengujinya: tulis rumus AVERAGE dan AVERAGEIF di sel kosong, dan bandingkan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Ini ujian sesungguhnya. Tanpa melihat jawaban AI, tulis di Google Docs penjelasan rumus AVERAGEIF dan COUNTIF dengan bahasa kalian sendiri.
Lalu jelaskan kepada teman sebangku. Jika kalian bisa menjelaskannya, berarti kalian benar-benar paham.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kelompok berisi empat hal: prompt penjelasan rumus, hasil uji di Sheets, penjelasan dengan kata-kata sendiri, dan satu pertanyaan lanjutan.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prompt penjelasan rumus lengkap?
- penjelasan AI sudah diuji di Sheets?
- bisa menjelaskan rumus sendiri?
- tidak ada data asli di prompt?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apakah penjelasan AI mudah dipahami?
Pertanyaan kedua: mengapa penjelasan AI tetap harus diuji di Sheets?
(Minta 2–3 santri menjawab secara bergantian.)
Pesan adab kita hari ini: bertanyalah untuk memahami, bukan untuk menyalin. Ilmu yang dipahami akan melekat dan bisa diajarkan kepada orang lain.
Pekan depan: AI membantu membuat rumus baru dan mencari penyebab error.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ke-14, dengan judul "AI Membantu Menyusun Rumus". Kita akan belajar rumus IF dengan bantuan AI, dan cara memperbaiki rumus yang error.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AI menjelaskan rumus AVERAGEIF. Siapa yang ingat tiga bagian rumus AVERAGEIF?
(Tunggu jawaban: kolom yang diperiksa, syarat, kolom yang dirata-rata.)
Sekarang pertanyaan hari ini. Coba pikirkan sejenak:
"Pembina ingin kolom Status: "Tercapai" jika hafalan 3 juz ke atas, "Bimbingan" jika kurang. Bagaimana caranya?"
(Beri waktu 1 menit. Minta 2–3 santri menjawab. Hargai semua jawaban.)
Kita belum mempelajari rumusnya. Hari ini kita minta bantuan AI, dengan menjelaskan tujuan sejelas mungkin. Lalu kita uji dan pahami rumus yang diberikan.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IF artinya JIKA. Fungsi ini membuat keputusan: jika syarat terpenuhi, maka tulis sesuatu, jika tidak, tulis yang lain.
Perhatikan rumus di layar. Sama dengan IF, kurung buka, lalu tiga bagian.
Bagian pertama, berwarna ungu: E2 lebih besar atau sama dengan 3. Ini syaratnya: JIKA juz di sel E2 tiga atau lebih.
Bagian kedua, berwarna hijau: "Tercapai". Ini yang ditulis jika syarat BENAR.
Bagian ketiga, berwarna merah: "Bimbingan". Ini yang ditulis jika syarat SALAH.
Di bawah ada tanda pembanding yang bisa dipakai: lebih dari sama dengan, kurang dari sama dengan, lebih dari, kurang dari, sama dengan, dan tidak sama dengan.
Fungsi IF sangat berguna: menentukan tuntas atau belum, lulus atau remedial, dan sebagainya.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membuat rumus, kadang muncul pesan error. Jangan panik. Setiap pesan memberi petunjuk.
#NAME?: biasanya nama fungsi salah ketik, misalnya AVERGE tanpa huruf A, atau teks yang lupa diberi tanda kutip.
#VALUE!: jenis data salah, misalnya mencoba menghitung tulisan seperti angka. Ingat kasus "satu" di Modul 3.
#DIV/0!: membagi dengan nol. Misalnya menghitung rata-rata dari kolom yang masih kosong.
#REF!: rumus menunjuk ke sel atau lembar yang sudah dihapus atau diganti namanya.
Jika bingung, kita bisa bertanya kepada AI: rumus saya menampilkan error ini, apa penyebabnya? Tetapi minta AI menjelaskan, bukan sekadar mengganti rumus.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database kelompok. Kita akan menambahkan kolom Status dengan bantuan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Kunci mendapat rumus yang tepat dari AI adalah menjelaskan tujuan dengan rinci.
Tulis di Google Docs: aplikasi yang dipakai, kolom mana yang berisi data, apa syaratnya, hasil apa yang diinginkan, dan di sel mana rumusnya. Minta juga AI menjelaskan cara kerjanya, bukan hanya memberi rumus.
Contoh di layar: Saya memakai Google Sheets. Kolom E berisi jumlah juz hafalan. Di kolom F saya ingin tulisan Tercapai jika juz 3 atau lebih, dan Bimbingan jika kurang dari 3. Berikan rumusnya untuk sel F2 dan jelaskan cara kerjanya.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Saya mengetikkan prompt salah satu kelompok ke AI, lalu kirim.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Bacakan jawaban AI.
(Bacakan rumus dan penjelasan yang muncul.)
AI memberi rumus: sama dengan IF, E2 lebih besar sama dengan 3, Tercapai, Bimbingan. Cocokkan dengan slide materi tadi. Sama, bukan?
Perhatikan, AI juga menyarankan menyalin rumus ke bawah dengan fill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Di lembar Data, tambahkan kolom baru dengan judul Status. Ketik rumus dari AI di sel pertama, tanda a, lalu salin ke bawah dengan fill handle, tanda b.
Jika Google Sheets menolak rumus karena pemisahnya, ganti koma dengan titik koma, atau sebaliknya, tergantung pengaturan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Uji rumus dengan nilai-nilai batas. Ini cara seorang pembuat program menguji.
Santri dengan 2 juz harus Bimbingan, tanda a. Santri dengan 3 juz harus Tercapai, tanda b, karena syaratnya lebih dari ATAU SAMA DENGAN 3. Santri dengan 4 juz harus Tercapai.
Coba ubah nilai Bilal dari 2 menjadi 3. Apakah statusnya otomatis berubah menjadi Tercapai? Lalu kembalikan dengan Ctrl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Sekarang kita belajar dari kesalahan. Saya mengetik rumus yang sedikit berbeda, tanda a: sama dengan IF, E2 lebih besar sama dengan 3, Tercapai tanpa tanda kutip, Bimbingan dengan tanda kutip.
Hasilnya error #NAME?, tanda b. Coba tebak, apa yang salah?
(Tunggu jawaban santri.)
Jika belum ada yang tahu, kita tanyakan kepada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Saya bertanya kepada AI: rumus ini menampilkan #NAME?. Jelaskan penyebabnya, jangan langsung beri rumus jadi.
Perhatikan, kita sengaja meminta penjelasan, bukan jawaban jadi, agar kita belajar.
(Bacakan jawaban AI.)
AI menjelaskan: kata Tercapai tidak diberi tanda kutip, sehingga Sheets mengira itu nama fungsi. Teks di dalam rumus harus selalu diapit tanda kutip.
Sekarang perbaiki sendiri di Sheets. Inilah pola debugging yang akan banyak kalian pakai di kelas IX: error, analisis, tanya AI, pahami, perbaiki, 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bersama kelompok: kolom Status sudah terisi, catat hasil uji batas, buat satu rumus IF lain sendiri, dan catat satu error yang kalian temui beserta penyebab dan perbaikannya.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kolom Status memakai rumus IF?
- rumus diuji dengan beberapa nilai?
- bisa menjelaskan bagian IF?
- satu error berhasil diperbaiki?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tujuan harus dijelaskan dengan rinci kepada AI?
Pertanyaan kedua: apa yang kamu pelajari dari error?
(Minta 2–3 santri menjawab secara bergantian.)
Pesan adab kita hari ini: kesalahan adalah guru yang baik. Jangan malu salah, tetapi malulah jika tidak mau memperbaiki. Setiap error yang berhasil kita pahami membuat kita lebih pandai.
Pekan depan: proyek Dashboard Prestasi Kelas.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ke-15, dengan judul "Dashboard Prestasi Kelas". Hari ini kita menyelesaikan proyek Modul 5: dashboard prestasi dengan analisis yang dibantu AI.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kolom Status dengan IF. Siapa yang ingat, mengapa teks di dalam rumus harus diberi tanda kutip?
(Tunggu jawaban: agar Sheets tahu itu teks, bukan nama fungsi.)
Sekarang pertanyaan hari ini. Coba pikirkan sejenak:
"Dari database kelas, informasi apa yang paling dibutuhkan pembina untuk membantu santri?"
(Beri waktu 1 menit. Minta 2–3 santri menjawab. Hargai semua jawaban.)
Misalnya: berapa santri yang sudah tercapai target hafalannya, berapa yang perlu bimbingan, dan di kelas mana bimbingan paling dibutuhkan. Hari ini kita menambahkan informasi itu ke dashboard, dan memakai AI untuk menggali ide analisis.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AI membantu kita menggali ide analisis. Caranya bertanggung jawab, dengan tiga langkah.
Pertama, MINTA IDE. Kita berikan ringkasan data FIKTIF, bukan seluruh database, lalu meminta ide analisis dan grafik yang cocok.
Kedua, VERIFIKASI. AI bisa salah membaca data. Setiap klaim AI kita cek sendiri dengan rumus di Google Sheets.
Ketiga, SIMPULKAN SENDIRI. Kesimpulan ditulis dengan kata-kata kita, hanya dari hal yang sudah terbukti.
Contoh di bawah: AI mengatakan kelas 8B tampaknya lebih banyak perlu bimbingan. Kita cek dengan rumus. Jika benar, baru kita tulis sebagai kesimpulan.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dashboard prestasi, kita memakai rumus-rumus ini.
Jumlah Tercapai: COUNTIF kolom Status dengan syarat Tercapai.
Jumlah Bimbingan: COUNTIF dengan syarat Bimbingan.
Persen Tercapai: jumlah tercapai dibagi jumlah santri, lalu diformat menjadi persen dengan tombol persen di toolbar.
Dan satu fungsi baru: COUNTIFS dengan S di akhir, untuk menghitung dengan DUA syarat atau lebih. Contoh: berapa santri kelas 8B yang statusnya Bimbingan. Syarat pertama kelas 8B, syarat kedua status Bimbingan.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database kelompok. Pastikan kolom Status dari pekan lalu sudah lengkap.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 lembar Dashboard, tambahkan tiga kartu angka baru: Tercapai dengan COUNTIF status Tercapai, Perlu bimbingan dengan COUNTIF status Bimbingan, dan Persen tercapai.
Untuk persen: ketik rumus jumlah tercapai dibagi jumlah santri, lalu klik tombol persen di toolbar.
Beri warna hijau untuk Tercapai dan merah lembut untuk Bimbingan, agar langsung terbaca.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lembar Ringkasan, buat tabel kecil: baris 8A dan 8B, kolom Tercapai dan Bimbingan. Isi dengan COUNTIFS, tanda a. Contoh untuk 8B Bimbingan: COUNTIFS, kolom kelas sama dengan A3, dan kolom status sama dengan Bimbingan.
Buat grafik batang dari tabel itu, tanda b, lalu pindahkan ke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Tulis prompt di Google Docs. Salin hanya RINGKASAN data, bukan seluruh database. Tulis dengan jelas bahwa datanya fiktif.
Contoh: Ini ringkasan data fiktif hafalan kelas. 8A: 4 tercapai, 0 bimbingan, rata-rata 4,5 juz. 8B: 1 tercapai, 3 bimbingan, rata-rata 2,0 juz. Berikan tiga ide analisis dan satu saran grafik untuk pembina, dalam bahasa sederhana.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Saya kirim prompt salah satu kelompok ke AI.
(Bacakan jawaban AI.)
Catat ide-ide dari AI. Tetapi ingat: semua ini masih DUGAAN. Kita belum tahu benar atau salah sampai kita cek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Buat tabel verifikasi di Google Docs: klaim AI, cara mengecek, dan hasilnya.
Contoh: klaim pertama, 8B lebih butuh bimbingan. Cek dengan COUNTIFS: 8B ada 3 santri bimbingan, 8A tidak ada. Benar.
Klaim kedua, selisih rata-rata 2,5 juz. Cek dengan AVERAGEIF: 4,5 dikurangi 2,0 sama dengan 2,5. Benar.
Jika ada klaim yang salah, catat juga. Itu temuan penting yang membuktikan bahwa AI bisa keliru.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Di bagian bawah atau samping dashboard, tulis tiga kesimpulan yang SUDAH terverifikasi, dengan kata-kata sendiri. Boleh juga menambahkan satu usulan tindakan.
Lalu setiap kelompok mempresentasikan dashboard prestasinya dalam tiga menit: kartu angka, grafik, kesimpulan, dan bagaimana kalian memverifikasi ide dari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ada kolom Status dan tiga kartu indikator, grafik status per kelas, tabel verifikasi klaim AI dengan tiga kesimpulan, dan hanya data fiktif yang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kartu jumlah Tercapai dan Bimbingan?
- ada grafik status?
- 3 kesimpulan tertulis dan terverifikasi?
- tidak ada data asli yang dipakai?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ide analisis AI mana yang terbukti benar?
Pertanyaan kedua: bagaimana dashboard ini membantu pembina?
(Minta 2–3 santri menjawab secara bergantian.)
Pesan adab kita hari ini: data tentang kekurangan seseorang dipakai untuk membantunya, bukan untuk mempermalukannya. Santri yang perlu bimbingan bukan untuk diejek, tetapi untuk dibantu dengan kasih sayang. Seorang mukmin menutupi aib saudaranya.
Pekan depan: kita masuk Modul 6: Website Tanpa Coding dengan Google Sites. Alhamdulillah, Modul 5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1.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slideLayout" Target="../slideLayouts/slideLayout1.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slideLayout" Target="../slideLayouts/slideLayout1.xml"/><Relationship Id="rId1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image" Target="../media/image-43-10.png"/><Relationship Id="rId11" Type="http://schemas.openxmlformats.org/officeDocument/2006/relationships/slideLayout" Target="../slideLayouts/slideLayout1.xml"/><Relationship Id="rId1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1  ·  MODUL 5</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 untuk Data</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Dashboard Prestasi Kelas</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memanfaatkan AI untuk memahami rumus, membantu menyusun rumus baru seperti IF, mencari penyebab error, dan menggali ide analisis, sambil tetap menguji dan memahami setiap hasil.</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13</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AI Menjelaskan Rumus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14</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AI Membantu Menyusun Rumus</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15</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Dashboard Prestasi Kelas</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Layanan AI gratis (dioperasikan guru di proyektor), Google Sheets dengan database dari Modul 3–4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AI Menjelaskan Rumus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Memahami rumus dengan bantuan AI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AI untuk Data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Pernahkah kalian melihat rumus panjang di spreadsheet dan bingung artinya?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Meminta AI menjelaskan rumus bagian demi bagian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Menguji penjelasan AI langsung di Google Sheets</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ulang rumus dengan kata-kata sendiri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AI sebagai Mentor Spreadsheet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Menjelaskan Rumus</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"Jelaskan rumus ini bagian demi bagian."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Membantu Menyusun Rumus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"Saya ingin ... Rumus apa yang bisa saya pakai?"</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Mencari Error</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"Rumus saya menampilkan #NAME?. Apa penyebabnya?"</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Ide Analisis</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"Grafik apa yang cocok untuk data ini?"</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Aman Memakai AI untuk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Boleh</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Menempel rumus untuk dijelaskan</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Menempel data FIKTIF (karangan)</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Menjelaskan tujuan dengan kata-kata</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Dilarang</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Menempel data asli santri</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Menempel nilai rapor, alamat, nomor HP</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Menempel kata sandi atau link file pribadi</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Belajar Rumus Bersama AI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Guru mengoperasikan AI · santri menguji di Sheets</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AI menjelaskan rumus AVERAGEIF</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Menguji penjelasan di Sheets</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Menjelaskan ulang</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Penjelasan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Prompt_Rumus_Kel1 -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Prompt_Rumus_Kel1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Penjelasan Rumus</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Saya santri SMP yang belajar Google Sheets.</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Jelaskan rumus berikut bagian demi bagian</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dengan bahasa sederhana:</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=AVERAGEIF(Data!C2:C30,"8A",Data!F2:F30)</a:t>
            </a:r>
            <a:endParaRPr lang="en-US" sz="800" dirty="0"/>
          </a:p>
        </p:txBody>
      </p:sp>
      <p:sp>
        <p:nvSpPr>
          <p:cNvPr id="74" name="Shape 63"/>
          <p:cNvSpPr/>
          <p:nvPr/>
        </p:nvSpPr>
        <p:spPr>
          <a:xfrm>
            <a:off x="1527048" y="2849506"/>
            <a:ext cx="3072384" cy="781304"/>
          </a:xfrm>
          <a:prstGeom prst="roundRect">
            <a:avLst>
              <a:gd name="adj" fmla="val 585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7" name="Image 9" descr="preencoded.png">    </p:cNvPr>
          <p:cNvPicPr>
            <a:picLocks noChangeAspect="1"/>
          </p:cNvPicPr>
          <p:nvPr/>
        </p:nvPicPr>
        <p:blipFill>
          <a:blip r:embed="rId10"/>
          <a:stretch>
            <a:fillRect/>
          </a:stretch>
        </p:blipFill>
        <p:spPr>
          <a:xfrm>
            <a:off x="3214116" y="3276480"/>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Santri menulis prompt penjelasan rumus</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prompt dengan konteks, tugas, dan format: siapa kamu, rumus apa, minta dijelaskan bagian demi bagian.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Penjelasan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2" name="Text 25"/>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Saya santri SMP yang belajar Google Sheets. Jelaskan rumus berik...</a:t>
            </a:r>
            <a:endParaRPr lang="en-US" sz="750" dirty="0"/>
          </a:p>
        </p:txBody>
      </p:sp>
      <p:sp>
        <p:nvSpPr>
          <p:cNvPr id="33" name="Shape 26"/>
          <p:cNvSpPr/>
          <p:nvPr/>
        </p:nvSpPr>
        <p:spPr>
          <a:xfrm>
            <a:off x="5127224" y="3620480"/>
            <a:ext cx="219456" cy="219456"/>
          </a:xfrm>
          <a:prstGeom prst="ellipse">
            <a:avLst/>
          </a:prstGeom>
          <a:solidFill>
            <a:srgbClr val="0B57D0"/>
          </a:solidFill>
          <a:ln/>
        </p:spPr>
      </p:sp>
      <p:pic>
        <p:nvPicPr>
          <p:cNvPr id="34" name="Image 5" descr="preencoded.png">    </p:cNvPr>
          <p:cNvPicPr>
            <a:picLocks noChangeAspect="1"/>
          </p:cNvPicPr>
          <p:nvPr/>
        </p:nvPicPr>
        <p:blipFill>
          <a:blip r:embed="rId6"/>
          <a:stretch>
            <a:fillRect/>
          </a:stretch>
        </p:blipFill>
        <p:spPr>
          <a:xfrm>
            <a:off x="5182088" y="3675344"/>
            <a:ext cx="109728" cy="109728"/>
          </a:xfrm>
          <a:prstGeom prst="rect">
            <a:avLst/>
          </a:prstGeom>
        </p:spPr>
      </p:pic>
      <p:sp>
        <p:nvSpPr>
          <p:cNvPr id="35" name="Text 27"/>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6" name="Shape 28"/>
          <p:cNvSpPr/>
          <p:nvPr/>
        </p:nvSpPr>
        <p:spPr>
          <a:xfrm>
            <a:off x="1566184" y="3556472"/>
            <a:ext cx="3862791" cy="347472"/>
          </a:xfrm>
          <a:prstGeom prst="roundRect">
            <a:avLst>
              <a:gd name="adj" fmla="val 13158"/>
            </a:avLst>
          </a:prstGeom>
          <a:solidFill>
            <a:srgbClr val="FFFFFF">
              <a:alpha val="0"/>
            </a:srgbClr>
          </a:solidFill>
          <a:ln w="31750">
            <a:solidFill>
              <a:srgbClr val="E53935"/>
            </a:solidFill>
            <a:prstDash val="solid"/>
          </a:ln>
        </p:spPr>
      </p:sp>
      <p:sp>
        <p:nvSpPr>
          <p:cNvPr id="37" name="Shape 29"/>
          <p:cNvSpPr/>
          <p:nvPr/>
        </p:nvSpPr>
        <p:spPr>
          <a:xfrm>
            <a:off x="5291816" y="3419312"/>
            <a:ext cx="274320" cy="274320"/>
          </a:xfrm>
          <a:prstGeom prst="ellipse">
            <a:avLst/>
          </a:prstGeom>
          <a:solidFill>
            <a:srgbClr val="E53935"/>
          </a:solidFill>
          <a:ln w="12700">
            <a:solidFill>
              <a:srgbClr val="FFFFFF"/>
            </a:solidFill>
            <a:prstDash val="solid"/>
          </a:ln>
        </p:spPr>
      </p:sp>
      <p:sp>
        <p:nvSpPr>
          <p:cNvPr id="38" name="Text 30"/>
          <p:cNvSpPr txBox="1"/>
          <p:nvPr/>
        </p:nvSpPr>
        <p:spPr>
          <a:xfrm>
            <a:off x="5291816"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39" name="Image 6" descr="preencoded.png">    </p:cNvPr>
          <p:cNvPicPr>
            <a:picLocks noChangeAspect="1"/>
          </p:cNvPicPr>
          <p:nvPr/>
        </p:nvPicPr>
        <p:blipFill>
          <a:blip r:embed="rId7"/>
          <a:stretch>
            <a:fillRect/>
          </a:stretch>
        </p:blipFill>
        <p:spPr>
          <a:xfrm>
            <a:off x="3687976" y="3744838"/>
            <a:ext cx="237744" cy="237744"/>
          </a:xfrm>
          <a:prstGeom prst="rect">
            <a:avLst/>
          </a:prstGeom>
        </p:spPr>
      </p:pic>
      <p:sp>
        <p:nvSpPr>
          <p:cNvPr id="40"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1"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mengetik prompt ke AI</a:t>
            </a:r>
            <a:endParaRPr lang="en-US" sz="1800" dirty="0"/>
          </a:p>
        </p:txBody>
      </p:sp>
      <p:sp>
        <p:nvSpPr>
          <p:cNvPr id="42"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mengetikkan prompt salah satu kelompok di layar, lalu mengirimnya.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Penjelasan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557784"/>
          </a:xfrm>
          <a:prstGeom prst="roundRect">
            <a:avLst>
              <a:gd name="adj" fmla="val 16393"/>
            </a:avLst>
          </a:prstGeom>
          <a:solidFill>
            <a:srgbClr val="E3E9F5"/>
          </a:solidFill>
          <a:ln w="12700">
            <a:solidFill>
              <a:srgbClr val="E3E9F5"/>
            </a:solidFill>
            <a:prstDash val="solid"/>
          </a:ln>
        </p:spPr>
      </p:sp>
      <p:sp>
        <p:nvSpPr>
          <p:cNvPr id="32" name="Text 25"/>
          <p:cNvSpPr txBox="1"/>
          <p:nvPr/>
        </p:nvSpPr>
        <p:spPr>
          <a:xfrm>
            <a:off x="2648468" y="1805693"/>
            <a:ext cx="2707356" cy="55778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Saya santri SMP yang belajar Google Sheets. Jelaskan rumus berikut bagian demi bagian dengan bahasa sederhana: =AVERAGEIF(Data!C2:C30,"8A",Data!F2:F30)</a:t>
            </a:r>
            <a:endParaRPr lang="en-US" sz="750" dirty="0"/>
          </a:p>
        </p:txBody>
      </p:sp>
      <p:pic>
        <p:nvPicPr>
          <p:cNvPr id="33" name="Image 5" descr="preencoded.png">    </p:cNvPr>
          <p:cNvPicPr>
            <a:picLocks noChangeAspect="1"/>
          </p:cNvPicPr>
          <p:nvPr/>
        </p:nvPicPr>
        <p:blipFill>
          <a:blip r:embed="rId6"/>
          <a:stretch>
            <a:fillRect/>
          </a:stretch>
        </p:blipFill>
        <p:spPr>
          <a:xfrm>
            <a:off x="1593616" y="2454917"/>
            <a:ext cx="182880" cy="182880"/>
          </a:xfrm>
          <a:prstGeom prst="rect">
            <a:avLst/>
          </a:prstGeom>
        </p:spPr>
      </p:pic>
      <p:sp>
        <p:nvSpPr>
          <p:cNvPr id="34" name="Text 26"/>
          <p:cNvSpPr txBox="1"/>
          <p:nvPr/>
        </p:nvSpPr>
        <p:spPr>
          <a:xfrm>
            <a:off x="1849648" y="2454917"/>
            <a:ext cx="3533607" cy="105156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Rumus ini menghitung rata-rata, tetapi hanya untuk data yang memenuhi syarat.</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1. Data!C2:C30 → kolom yang diperiksa (Kelas).</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"8A" → syaratnya: hanya baris dengan kelas 8A.</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Data!F2:F30 → kolom yang dihitung rata-ratanya (Juz).</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Jadi hasilnya: rata-rata juz santri kelas 8A.</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427485"/>
            <a:ext cx="3588471" cy="1106424"/>
          </a:xfrm>
          <a:prstGeom prst="roundRect">
            <a:avLst>
              <a:gd name="adj" fmla="val 4132"/>
            </a:avLst>
          </a:prstGeom>
          <a:solidFill>
            <a:srgbClr val="FFFFFF">
              <a:alpha val="0"/>
            </a:srgbClr>
          </a:solidFill>
          <a:ln w="31750">
            <a:solidFill>
              <a:srgbClr val="E53935"/>
            </a:solidFill>
            <a:prstDash val="solid"/>
          </a:ln>
        </p:spPr>
      </p:sp>
      <p:sp>
        <p:nvSpPr>
          <p:cNvPr id="41" name="Shape 32"/>
          <p:cNvSpPr/>
          <p:nvPr/>
        </p:nvSpPr>
        <p:spPr>
          <a:xfrm>
            <a:off x="5273528" y="229032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3033275"/>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penjelasan AI bersama</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AI menguraikan setiap bagian rumus. Tandai bagian yang belum dipahami.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E3</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=AVERAGEIF(Data!C2:C30,"8B",Data!E2:E30)</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7772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621048" y="2573789"/>
            <a:ext cx="777240" cy="119299"/>
          </a:xfrm>
          <a:prstGeom prst="rect">
            <a:avLst/>
          </a:prstGeom>
          <a:solidFill>
            <a:srgbClr val="F8F9FA"/>
          </a:solidFill>
          <a:ln w="6350">
            <a:solidFill>
              <a:srgbClr val="DDDDDD"/>
            </a:solidFill>
            <a:prstDash val="solid"/>
          </a:ln>
        </p:spPr>
      </p:sp>
      <p:sp>
        <p:nvSpPr>
          <p:cNvPr id="64" name="Text 56"/>
          <p:cNvSpPr txBox="1"/>
          <p:nvPr/>
        </p:nvSpPr>
        <p:spPr>
          <a:xfrm>
            <a:off x="162104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398288" y="2573789"/>
            <a:ext cx="182880" cy="119299"/>
          </a:xfrm>
          <a:prstGeom prst="rect">
            <a:avLst/>
          </a:prstGeom>
          <a:solidFill>
            <a:srgbClr val="F8F9FA"/>
          </a:solidFill>
          <a:ln w="6350">
            <a:solidFill>
              <a:srgbClr val="DDDDDD"/>
            </a:solidFill>
            <a:prstDash val="solid"/>
          </a:ln>
        </p:spPr>
      </p:sp>
      <p:sp>
        <p:nvSpPr>
          <p:cNvPr id="66" name="Text 58"/>
          <p:cNvSpPr txBox="1"/>
          <p:nvPr/>
        </p:nvSpPr>
        <p:spPr>
          <a:xfrm>
            <a:off x="2398288" y="2573789"/>
            <a:ext cx="1828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581168" y="2573789"/>
            <a:ext cx="548640" cy="119299"/>
          </a:xfrm>
          <a:prstGeom prst="rect">
            <a:avLst/>
          </a:prstGeom>
          <a:solidFill>
            <a:srgbClr val="F8F9FA"/>
          </a:solidFill>
          <a:ln w="6350">
            <a:solidFill>
              <a:srgbClr val="DDDDDD"/>
            </a:solidFill>
            <a:prstDash val="solid"/>
          </a:ln>
        </p:spPr>
      </p:sp>
      <p:sp>
        <p:nvSpPr>
          <p:cNvPr id="68" name="Text 60"/>
          <p:cNvSpPr txBox="1"/>
          <p:nvPr/>
        </p:nvSpPr>
        <p:spPr>
          <a:xfrm>
            <a:off x="25811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129808" y="2573789"/>
            <a:ext cx="868680" cy="119299"/>
          </a:xfrm>
          <a:prstGeom prst="rect">
            <a:avLst/>
          </a:prstGeom>
          <a:solidFill>
            <a:srgbClr val="F8F9FA"/>
          </a:solidFill>
          <a:ln w="6350">
            <a:solidFill>
              <a:srgbClr val="DDDDDD"/>
            </a:solidFill>
            <a:prstDash val="solid"/>
          </a:ln>
        </p:spPr>
      </p:sp>
      <p:sp>
        <p:nvSpPr>
          <p:cNvPr id="70" name="Text 62"/>
          <p:cNvSpPr txBox="1"/>
          <p:nvPr/>
        </p:nvSpPr>
        <p:spPr>
          <a:xfrm>
            <a:off x="312980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587776" y="2693089"/>
            <a:ext cx="256032" cy="119299"/>
          </a:xfrm>
          <a:prstGeom prst="rect">
            <a:avLst/>
          </a:prstGeom>
          <a:solidFill>
            <a:srgbClr val="F8F9FA"/>
          </a:solidFill>
          <a:ln w="6350">
            <a:solidFill>
              <a:srgbClr val="DDDDDD"/>
            </a:solidFill>
            <a:prstDash val="solid"/>
          </a:ln>
        </p:spPr>
      </p:sp>
      <p:sp>
        <p:nvSpPr>
          <p:cNvPr id="72" name="Text 64"/>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3" name="Shape 65"/>
          <p:cNvSpPr/>
          <p:nvPr/>
        </p:nvSpPr>
        <p:spPr>
          <a:xfrm>
            <a:off x="843808" y="2693089"/>
            <a:ext cx="777240" cy="119299"/>
          </a:xfrm>
          <a:prstGeom prst="rect">
            <a:avLst/>
          </a:prstGeom>
          <a:solidFill>
            <a:srgbClr val="0F4C3A"/>
          </a:solidFill>
          <a:ln w="6350">
            <a:solidFill>
              <a:srgbClr val="E2E2E2"/>
            </a:solidFill>
            <a:prstDash val="solid"/>
          </a:ln>
        </p:spPr>
      </p:sp>
      <p:sp>
        <p:nvSpPr>
          <p:cNvPr id="74" name="Text 66"/>
          <p:cNvSpPr txBox="1"/>
          <p:nvPr/>
        </p:nvSpPr>
        <p:spPr>
          <a:xfrm>
            <a:off x="87124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5" name="Shape 67"/>
          <p:cNvSpPr/>
          <p:nvPr/>
        </p:nvSpPr>
        <p:spPr>
          <a:xfrm>
            <a:off x="1621048" y="2693089"/>
            <a:ext cx="777240" cy="119299"/>
          </a:xfrm>
          <a:prstGeom prst="rect">
            <a:avLst/>
          </a:prstGeom>
          <a:solidFill>
            <a:srgbClr val="0F4C3A"/>
          </a:solidFill>
          <a:ln w="6350">
            <a:solidFill>
              <a:srgbClr val="E2E2E2"/>
            </a:solidFill>
            <a:prstDash val="solid"/>
          </a:ln>
        </p:spPr>
      </p:sp>
      <p:sp>
        <p:nvSpPr>
          <p:cNvPr id="76" name="Text 68"/>
          <p:cNvSpPr txBox="1"/>
          <p:nvPr/>
        </p:nvSpPr>
        <p:spPr>
          <a:xfrm>
            <a:off x="164848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a:t>
            </a:r>
            <a:endParaRPr lang="en-US" sz="600" dirty="0"/>
          </a:p>
        </p:txBody>
      </p:sp>
      <p:sp>
        <p:nvSpPr>
          <p:cNvPr id="77" name="Shape 69"/>
          <p:cNvSpPr/>
          <p:nvPr/>
        </p:nvSpPr>
        <p:spPr>
          <a:xfrm>
            <a:off x="2398288" y="2693089"/>
            <a:ext cx="182880" cy="119299"/>
          </a:xfrm>
          <a:prstGeom prst="rect">
            <a:avLst/>
          </a:prstGeom>
          <a:solidFill>
            <a:srgbClr val="0F4C3A"/>
          </a:solidFill>
          <a:ln w="6350">
            <a:solidFill>
              <a:srgbClr val="E2E2E2"/>
            </a:solidFill>
            <a:prstDash val="solid"/>
          </a:ln>
        </p:spPr>
      </p:sp>
      <p:sp>
        <p:nvSpPr>
          <p:cNvPr id="78" name="Shape 70"/>
          <p:cNvSpPr/>
          <p:nvPr/>
        </p:nvSpPr>
        <p:spPr>
          <a:xfrm>
            <a:off x="2581168" y="2693089"/>
            <a:ext cx="548640" cy="119299"/>
          </a:xfrm>
          <a:prstGeom prst="rect">
            <a:avLst/>
          </a:prstGeom>
          <a:solidFill>
            <a:srgbClr val="0F4C3A"/>
          </a:solidFill>
          <a:ln w="6350">
            <a:solidFill>
              <a:srgbClr val="E2E2E2"/>
            </a:solidFill>
            <a:prstDash val="solid"/>
          </a:ln>
        </p:spPr>
      </p:sp>
      <p:sp>
        <p:nvSpPr>
          <p:cNvPr id="79" name="Text 71"/>
          <p:cNvSpPr txBox="1"/>
          <p:nvPr/>
        </p:nvSpPr>
        <p:spPr>
          <a:xfrm>
            <a:off x="260860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0" name="Shape 72"/>
          <p:cNvSpPr/>
          <p:nvPr/>
        </p:nvSpPr>
        <p:spPr>
          <a:xfrm>
            <a:off x="3129808" y="2693089"/>
            <a:ext cx="868680" cy="119299"/>
          </a:xfrm>
          <a:prstGeom prst="rect">
            <a:avLst/>
          </a:prstGeom>
          <a:solidFill>
            <a:srgbClr val="0F4C3A"/>
          </a:solidFill>
          <a:ln w="6350">
            <a:solidFill>
              <a:srgbClr val="E2E2E2"/>
            </a:solidFill>
            <a:prstDash val="solid"/>
          </a:ln>
        </p:spPr>
      </p:sp>
      <p:sp>
        <p:nvSpPr>
          <p:cNvPr id="81" name="Text 73"/>
          <p:cNvSpPr txBox="1"/>
          <p:nvPr/>
        </p:nvSpPr>
        <p:spPr>
          <a:xfrm>
            <a:off x="315724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Rata-rata Juz</a:t>
            </a:r>
            <a:endParaRPr lang="en-US" sz="600" dirty="0"/>
          </a:p>
        </p:txBody>
      </p:sp>
      <p:sp>
        <p:nvSpPr>
          <p:cNvPr id="82" name="Shape 74"/>
          <p:cNvSpPr/>
          <p:nvPr/>
        </p:nvSpPr>
        <p:spPr>
          <a:xfrm>
            <a:off x="587776" y="2812388"/>
            <a:ext cx="256032" cy="119299"/>
          </a:xfrm>
          <a:prstGeom prst="rect">
            <a:avLst/>
          </a:prstGeom>
          <a:solidFill>
            <a:srgbClr val="F8F9FA"/>
          </a:solidFill>
          <a:ln w="6350">
            <a:solidFill>
              <a:srgbClr val="DDDDDD"/>
            </a:solidFill>
            <a:prstDash val="solid"/>
          </a:ln>
        </p:spPr>
      </p:sp>
      <p:sp>
        <p:nvSpPr>
          <p:cNvPr id="83" name="Text 75"/>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4" name="Shape 76"/>
          <p:cNvSpPr/>
          <p:nvPr/>
        </p:nvSpPr>
        <p:spPr>
          <a:xfrm>
            <a:off x="843808" y="2812388"/>
            <a:ext cx="777240" cy="119299"/>
          </a:xfrm>
          <a:prstGeom prst="rect">
            <a:avLst/>
          </a:prstGeom>
          <a:solidFill>
            <a:srgbClr val="FFFFFF"/>
          </a:solidFill>
          <a:ln w="6350">
            <a:solidFill>
              <a:srgbClr val="E2E2E2"/>
            </a:solidFill>
            <a:prstDash val="solid"/>
          </a:ln>
        </p:spPr>
      </p:sp>
      <p:sp>
        <p:nvSpPr>
          <p:cNvPr id="85" name="Text 77"/>
          <p:cNvSpPr txBox="1"/>
          <p:nvPr/>
        </p:nvSpPr>
        <p:spPr>
          <a:xfrm>
            <a:off x="87124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6" name="Shape 78"/>
          <p:cNvSpPr/>
          <p:nvPr/>
        </p:nvSpPr>
        <p:spPr>
          <a:xfrm>
            <a:off x="1621048" y="2812388"/>
            <a:ext cx="777240" cy="119299"/>
          </a:xfrm>
          <a:prstGeom prst="rect">
            <a:avLst/>
          </a:prstGeom>
          <a:solidFill>
            <a:srgbClr val="FFFFFF"/>
          </a:solidFill>
          <a:ln w="6350">
            <a:solidFill>
              <a:srgbClr val="E2E2E2"/>
            </a:solidFill>
            <a:prstDash val="solid"/>
          </a:ln>
        </p:spPr>
      </p:sp>
      <p:sp>
        <p:nvSpPr>
          <p:cNvPr id="87" name="Text 79"/>
          <p:cNvSpPr txBox="1"/>
          <p:nvPr/>
        </p:nvSpPr>
        <p:spPr>
          <a:xfrm>
            <a:off x="1648480" y="28123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88" name="Shape 80"/>
          <p:cNvSpPr/>
          <p:nvPr/>
        </p:nvSpPr>
        <p:spPr>
          <a:xfrm>
            <a:off x="2398288" y="2812388"/>
            <a:ext cx="182880" cy="119299"/>
          </a:xfrm>
          <a:prstGeom prst="rect">
            <a:avLst/>
          </a:prstGeom>
          <a:solidFill>
            <a:srgbClr val="FFFFFF"/>
          </a:solidFill>
          <a:ln w="6350">
            <a:solidFill>
              <a:srgbClr val="E2E2E2"/>
            </a:solidFill>
            <a:prstDash val="solid"/>
          </a:ln>
        </p:spPr>
      </p:sp>
      <p:sp>
        <p:nvSpPr>
          <p:cNvPr id="89" name="Shape 81"/>
          <p:cNvSpPr/>
          <p:nvPr/>
        </p:nvSpPr>
        <p:spPr>
          <a:xfrm>
            <a:off x="2581168" y="2812388"/>
            <a:ext cx="548640" cy="119299"/>
          </a:xfrm>
          <a:prstGeom prst="rect">
            <a:avLst/>
          </a:prstGeom>
          <a:solidFill>
            <a:srgbClr val="FFFFFF"/>
          </a:solidFill>
          <a:ln w="6350">
            <a:solidFill>
              <a:srgbClr val="E2E2E2"/>
            </a:solidFill>
            <a:prstDash val="solid"/>
          </a:ln>
        </p:spPr>
      </p:sp>
      <p:sp>
        <p:nvSpPr>
          <p:cNvPr id="90" name="Text 82"/>
          <p:cNvSpPr txBox="1"/>
          <p:nvPr/>
        </p:nvSpPr>
        <p:spPr>
          <a:xfrm>
            <a:off x="260860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1" name="Shape 83"/>
          <p:cNvSpPr/>
          <p:nvPr/>
        </p:nvSpPr>
        <p:spPr>
          <a:xfrm>
            <a:off x="3129808" y="2812388"/>
            <a:ext cx="868680" cy="119299"/>
          </a:xfrm>
          <a:prstGeom prst="rect">
            <a:avLst/>
          </a:prstGeom>
          <a:solidFill>
            <a:srgbClr val="FFFFFF"/>
          </a:solidFill>
          <a:ln w="6350">
            <a:solidFill>
              <a:srgbClr val="E2E2E2"/>
            </a:solidFill>
            <a:prstDash val="solid"/>
          </a:ln>
        </p:spPr>
      </p:sp>
      <p:sp>
        <p:nvSpPr>
          <p:cNvPr id="92" name="Text 84"/>
          <p:cNvSpPr txBox="1"/>
          <p:nvPr/>
        </p:nvSpPr>
        <p:spPr>
          <a:xfrm>
            <a:off x="3157240" y="2812388"/>
            <a:ext cx="8138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4.5</a:t>
            </a:r>
            <a:endParaRPr lang="en-US" sz="600" dirty="0"/>
          </a:p>
        </p:txBody>
      </p:sp>
      <p:sp>
        <p:nvSpPr>
          <p:cNvPr id="93" name="Shape 85"/>
          <p:cNvSpPr/>
          <p:nvPr/>
        </p:nvSpPr>
        <p:spPr>
          <a:xfrm>
            <a:off x="587776" y="2931688"/>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5" name="Shape 87"/>
          <p:cNvSpPr/>
          <p:nvPr/>
        </p:nvSpPr>
        <p:spPr>
          <a:xfrm>
            <a:off x="843808" y="2931688"/>
            <a:ext cx="777240" cy="119299"/>
          </a:xfrm>
          <a:prstGeom prst="rect">
            <a:avLst/>
          </a:prstGeom>
          <a:solidFill>
            <a:srgbClr val="FFFFFF"/>
          </a:solidFill>
          <a:ln w="6350">
            <a:solidFill>
              <a:srgbClr val="E2E2E2"/>
            </a:solidFill>
            <a:prstDash val="solid"/>
          </a:ln>
        </p:spPr>
      </p:sp>
      <p:sp>
        <p:nvSpPr>
          <p:cNvPr id="96" name="Text 88"/>
          <p:cNvSpPr txBox="1"/>
          <p:nvPr/>
        </p:nvSpPr>
        <p:spPr>
          <a:xfrm>
            <a:off x="87124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97" name="Shape 89"/>
          <p:cNvSpPr/>
          <p:nvPr/>
        </p:nvSpPr>
        <p:spPr>
          <a:xfrm>
            <a:off x="1621048" y="2931688"/>
            <a:ext cx="777240" cy="119299"/>
          </a:xfrm>
          <a:prstGeom prst="rect">
            <a:avLst/>
          </a:prstGeom>
          <a:solidFill>
            <a:srgbClr val="FFFFFF"/>
          </a:solidFill>
          <a:ln w="6350">
            <a:solidFill>
              <a:srgbClr val="E2E2E2"/>
            </a:solidFill>
            <a:prstDash val="solid"/>
          </a:ln>
        </p:spPr>
      </p:sp>
      <p:sp>
        <p:nvSpPr>
          <p:cNvPr id="98" name="Text 90"/>
          <p:cNvSpPr txBox="1"/>
          <p:nvPr/>
        </p:nvSpPr>
        <p:spPr>
          <a:xfrm>
            <a:off x="1648480" y="29316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99" name="Shape 91"/>
          <p:cNvSpPr/>
          <p:nvPr/>
        </p:nvSpPr>
        <p:spPr>
          <a:xfrm>
            <a:off x="2398288" y="2931688"/>
            <a:ext cx="182880" cy="119299"/>
          </a:xfrm>
          <a:prstGeom prst="rect">
            <a:avLst/>
          </a:prstGeom>
          <a:solidFill>
            <a:srgbClr val="FFFFFF"/>
          </a:solidFill>
          <a:ln w="6350">
            <a:solidFill>
              <a:srgbClr val="E2E2E2"/>
            </a:solidFill>
            <a:prstDash val="solid"/>
          </a:ln>
        </p:spPr>
      </p:sp>
      <p:sp>
        <p:nvSpPr>
          <p:cNvPr id="100" name="Shape 92"/>
          <p:cNvSpPr/>
          <p:nvPr/>
        </p:nvSpPr>
        <p:spPr>
          <a:xfrm>
            <a:off x="2581168" y="2931688"/>
            <a:ext cx="548640" cy="119299"/>
          </a:xfrm>
          <a:prstGeom prst="rect">
            <a:avLst/>
          </a:prstGeom>
          <a:solidFill>
            <a:srgbClr val="FFFFFF"/>
          </a:solidFill>
          <a:ln w="6350">
            <a:solidFill>
              <a:srgbClr val="E2E2E2"/>
            </a:solidFill>
            <a:prstDash val="solid"/>
          </a:ln>
        </p:spPr>
      </p:sp>
      <p:sp>
        <p:nvSpPr>
          <p:cNvPr id="101" name="Text 93"/>
          <p:cNvSpPr txBox="1"/>
          <p:nvPr/>
        </p:nvSpPr>
        <p:spPr>
          <a:xfrm>
            <a:off x="260860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2" name="Shape 94"/>
          <p:cNvSpPr/>
          <p:nvPr/>
        </p:nvSpPr>
        <p:spPr>
          <a:xfrm>
            <a:off x="3129808" y="2931688"/>
            <a:ext cx="868680" cy="119299"/>
          </a:xfrm>
          <a:prstGeom prst="rect">
            <a:avLst/>
          </a:prstGeom>
          <a:solidFill>
            <a:srgbClr val="FFFFFF"/>
          </a:solidFill>
          <a:ln w="6350">
            <a:solidFill>
              <a:srgbClr val="E2E2E2"/>
            </a:solidFill>
            <a:prstDash val="solid"/>
          </a:ln>
        </p:spPr>
      </p:sp>
      <p:sp>
        <p:nvSpPr>
          <p:cNvPr id="103" name="Text 95"/>
          <p:cNvSpPr txBox="1"/>
          <p:nvPr/>
        </p:nvSpPr>
        <p:spPr>
          <a:xfrm>
            <a:off x="3157240" y="2931688"/>
            <a:ext cx="8138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2.0</a:t>
            </a:r>
            <a:endParaRPr lang="en-US" sz="600" dirty="0"/>
          </a:p>
        </p:txBody>
      </p:sp>
      <p:sp>
        <p:nvSpPr>
          <p:cNvPr id="104" name="Shape 96"/>
          <p:cNvSpPr/>
          <p:nvPr/>
        </p:nvSpPr>
        <p:spPr>
          <a:xfrm>
            <a:off x="587776" y="3050987"/>
            <a:ext cx="256032" cy="119299"/>
          </a:xfrm>
          <a:prstGeom prst="rect">
            <a:avLst/>
          </a:prstGeom>
          <a:solidFill>
            <a:srgbClr val="F8F9FA"/>
          </a:solidFill>
          <a:ln w="6350">
            <a:solidFill>
              <a:srgbClr val="DDDDDD"/>
            </a:solidFill>
            <a:prstDash val="solid"/>
          </a:ln>
        </p:spPr>
      </p:sp>
      <p:sp>
        <p:nvSpPr>
          <p:cNvPr id="105" name="Text 97"/>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6" name="Shape 98"/>
          <p:cNvSpPr/>
          <p:nvPr/>
        </p:nvSpPr>
        <p:spPr>
          <a:xfrm>
            <a:off x="843808" y="3050987"/>
            <a:ext cx="777240" cy="119299"/>
          </a:xfrm>
          <a:prstGeom prst="rect">
            <a:avLst/>
          </a:prstGeom>
          <a:solidFill>
            <a:srgbClr val="FFFFFF"/>
          </a:solidFill>
          <a:ln w="6350">
            <a:solidFill>
              <a:srgbClr val="E2E2E2"/>
            </a:solidFill>
            <a:prstDash val="solid"/>
          </a:ln>
        </p:spPr>
      </p:sp>
      <p:sp>
        <p:nvSpPr>
          <p:cNvPr id="107" name="Shape 99"/>
          <p:cNvSpPr/>
          <p:nvPr/>
        </p:nvSpPr>
        <p:spPr>
          <a:xfrm>
            <a:off x="1621048" y="3050987"/>
            <a:ext cx="777240" cy="119299"/>
          </a:xfrm>
          <a:prstGeom prst="rect">
            <a:avLst/>
          </a:prstGeom>
          <a:solidFill>
            <a:srgbClr val="FFFFFF"/>
          </a:solidFill>
          <a:ln w="6350">
            <a:solidFill>
              <a:srgbClr val="E2E2E2"/>
            </a:solidFill>
            <a:prstDash val="solid"/>
          </a:ln>
        </p:spPr>
      </p:sp>
      <p:sp>
        <p:nvSpPr>
          <p:cNvPr id="108" name="Shape 100"/>
          <p:cNvSpPr/>
          <p:nvPr/>
        </p:nvSpPr>
        <p:spPr>
          <a:xfrm>
            <a:off x="2398288" y="3050987"/>
            <a:ext cx="182880" cy="119299"/>
          </a:xfrm>
          <a:prstGeom prst="rect">
            <a:avLst/>
          </a:prstGeom>
          <a:solidFill>
            <a:srgbClr val="FFFFFF"/>
          </a:solidFill>
          <a:ln w="6350">
            <a:solidFill>
              <a:srgbClr val="E2E2E2"/>
            </a:solidFill>
            <a:prstDash val="solid"/>
          </a:ln>
        </p:spPr>
      </p:sp>
      <p:sp>
        <p:nvSpPr>
          <p:cNvPr id="109" name="Shape 101"/>
          <p:cNvSpPr/>
          <p:nvPr/>
        </p:nvSpPr>
        <p:spPr>
          <a:xfrm>
            <a:off x="2581168" y="3050987"/>
            <a:ext cx="548640" cy="119299"/>
          </a:xfrm>
          <a:prstGeom prst="rect">
            <a:avLst/>
          </a:prstGeom>
          <a:solidFill>
            <a:srgbClr val="FFFFFF"/>
          </a:solidFill>
          <a:ln w="6350">
            <a:solidFill>
              <a:srgbClr val="E2E2E2"/>
            </a:solidFill>
            <a:prstDash val="solid"/>
          </a:ln>
        </p:spPr>
      </p:sp>
      <p:sp>
        <p:nvSpPr>
          <p:cNvPr id="110" name="Shape 102"/>
          <p:cNvSpPr/>
          <p:nvPr/>
        </p:nvSpPr>
        <p:spPr>
          <a:xfrm>
            <a:off x="3129808" y="3050987"/>
            <a:ext cx="868680" cy="119299"/>
          </a:xfrm>
          <a:prstGeom prst="rect">
            <a:avLst/>
          </a:prstGeom>
          <a:solidFill>
            <a:srgbClr val="FFFFFF"/>
          </a:solidFill>
          <a:ln w="6350">
            <a:solidFill>
              <a:srgbClr val="E2E2E2"/>
            </a:solidFill>
            <a:prstDash val="solid"/>
          </a:ln>
        </p:spPr>
      </p:sp>
      <p:sp>
        <p:nvSpPr>
          <p:cNvPr id="111" name="Shape 103"/>
          <p:cNvSpPr/>
          <p:nvPr/>
        </p:nvSpPr>
        <p:spPr>
          <a:xfrm>
            <a:off x="587776" y="3170287"/>
            <a:ext cx="256032" cy="119299"/>
          </a:xfrm>
          <a:prstGeom prst="rect">
            <a:avLst/>
          </a:prstGeom>
          <a:solidFill>
            <a:srgbClr val="F8F9FA"/>
          </a:solidFill>
          <a:ln w="6350">
            <a:solidFill>
              <a:srgbClr val="DDDDDD"/>
            </a:solidFill>
            <a:prstDash val="solid"/>
          </a:ln>
        </p:spPr>
      </p:sp>
      <p:sp>
        <p:nvSpPr>
          <p:cNvPr id="112" name="Text 10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3" name="Shape 105"/>
          <p:cNvSpPr/>
          <p:nvPr/>
        </p:nvSpPr>
        <p:spPr>
          <a:xfrm>
            <a:off x="843808" y="3170287"/>
            <a:ext cx="777240" cy="119299"/>
          </a:xfrm>
          <a:prstGeom prst="rect">
            <a:avLst/>
          </a:prstGeom>
          <a:solidFill>
            <a:srgbClr val="FFFFFF"/>
          </a:solidFill>
          <a:ln w="6350">
            <a:solidFill>
              <a:srgbClr val="E2E2E2"/>
            </a:solidFill>
            <a:prstDash val="solid"/>
          </a:ln>
        </p:spPr>
      </p:sp>
      <p:sp>
        <p:nvSpPr>
          <p:cNvPr id="114" name="Shape 106"/>
          <p:cNvSpPr/>
          <p:nvPr/>
        </p:nvSpPr>
        <p:spPr>
          <a:xfrm>
            <a:off x="1621048" y="3170287"/>
            <a:ext cx="777240" cy="119299"/>
          </a:xfrm>
          <a:prstGeom prst="rect">
            <a:avLst/>
          </a:prstGeom>
          <a:solidFill>
            <a:srgbClr val="FFFFFF"/>
          </a:solidFill>
          <a:ln w="6350">
            <a:solidFill>
              <a:srgbClr val="E2E2E2"/>
            </a:solidFill>
            <a:prstDash val="solid"/>
          </a:ln>
        </p:spPr>
      </p:sp>
      <p:sp>
        <p:nvSpPr>
          <p:cNvPr id="115" name="Shape 107"/>
          <p:cNvSpPr/>
          <p:nvPr/>
        </p:nvSpPr>
        <p:spPr>
          <a:xfrm>
            <a:off x="2398288" y="3170287"/>
            <a:ext cx="182880" cy="119299"/>
          </a:xfrm>
          <a:prstGeom prst="rect">
            <a:avLst/>
          </a:prstGeom>
          <a:solidFill>
            <a:srgbClr val="FFFFFF"/>
          </a:solidFill>
          <a:ln w="6350">
            <a:solidFill>
              <a:srgbClr val="E2E2E2"/>
            </a:solidFill>
            <a:prstDash val="solid"/>
          </a:ln>
        </p:spPr>
      </p:sp>
      <p:sp>
        <p:nvSpPr>
          <p:cNvPr id="116" name="Shape 108"/>
          <p:cNvSpPr/>
          <p:nvPr/>
        </p:nvSpPr>
        <p:spPr>
          <a:xfrm>
            <a:off x="2581168" y="3170287"/>
            <a:ext cx="548640" cy="119299"/>
          </a:xfrm>
          <a:prstGeom prst="rect">
            <a:avLst/>
          </a:prstGeom>
          <a:solidFill>
            <a:srgbClr val="FFFFFF"/>
          </a:solidFill>
          <a:ln w="6350">
            <a:solidFill>
              <a:srgbClr val="E2E2E2"/>
            </a:solidFill>
            <a:prstDash val="solid"/>
          </a:ln>
        </p:spPr>
      </p:sp>
      <p:sp>
        <p:nvSpPr>
          <p:cNvPr id="117" name="Shape 109"/>
          <p:cNvSpPr/>
          <p:nvPr/>
        </p:nvSpPr>
        <p:spPr>
          <a:xfrm>
            <a:off x="3129808" y="3170287"/>
            <a:ext cx="868680" cy="119299"/>
          </a:xfrm>
          <a:prstGeom prst="rect">
            <a:avLst/>
          </a:prstGeom>
          <a:solidFill>
            <a:srgbClr val="FFFFFF"/>
          </a:solidFill>
          <a:ln w="6350">
            <a:solidFill>
              <a:srgbClr val="E2E2E2"/>
            </a:solidFill>
            <a:prstDash val="solid"/>
          </a:ln>
        </p:spPr>
      </p:sp>
      <p:sp>
        <p:nvSpPr>
          <p:cNvPr id="118" name="Shape 110"/>
          <p:cNvSpPr/>
          <p:nvPr/>
        </p:nvSpPr>
        <p:spPr>
          <a:xfrm>
            <a:off x="587776" y="3289586"/>
            <a:ext cx="256032" cy="119299"/>
          </a:xfrm>
          <a:prstGeom prst="rect">
            <a:avLst/>
          </a:prstGeom>
          <a:solidFill>
            <a:srgbClr val="F8F9FA"/>
          </a:solidFill>
          <a:ln w="6350">
            <a:solidFill>
              <a:srgbClr val="DDDDDD"/>
            </a:solidFill>
            <a:prstDash val="solid"/>
          </a:ln>
        </p:spPr>
      </p:sp>
      <p:sp>
        <p:nvSpPr>
          <p:cNvPr id="119" name="Text 111"/>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0" name="Shape 112"/>
          <p:cNvSpPr/>
          <p:nvPr/>
        </p:nvSpPr>
        <p:spPr>
          <a:xfrm>
            <a:off x="843808" y="3289586"/>
            <a:ext cx="777240" cy="119299"/>
          </a:xfrm>
          <a:prstGeom prst="rect">
            <a:avLst/>
          </a:prstGeom>
          <a:solidFill>
            <a:srgbClr val="FFFFFF"/>
          </a:solidFill>
          <a:ln w="6350">
            <a:solidFill>
              <a:srgbClr val="E2E2E2"/>
            </a:solidFill>
            <a:prstDash val="solid"/>
          </a:ln>
        </p:spPr>
      </p:sp>
      <p:sp>
        <p:nvSpPr>
          <p:cNvPr id="121" name="Shape 113"/>
          <p:cNvSpPr/>
          <p:nvPr/>
        </p:nvSpPr>
        <p:spPr>
          <a:xfrm>
            <a:off x="1621048" y="3289586"/>
            <a:ext cx="777240" cy="119299"/>
          </a:xfrm>
          <a:prstGeom prst="rect">
            <a:avLst/>
          </a:prstGeom>
          <a:solidFill>
            <a:srgbClr val="FFFFFF"/>
          </a:solidFill>
          <a:ln w="6350">
            <a:solidFill>
              <a:srgbClr val="E2E2E2"/>
            </a:solidFill>
            <a:prstDash val="solid"/>
          </a:ln>
        </p:spPr>
      </p:sp>
      <p:sp>
        <p:nvSpPr>
          <p:cNvPr id="122" name="Shape 114"/>
          <p:cNvSpPr/>
          <p:nvPr/>
        </p:nvSpPr>
        <p:spPr>
          <a:xfrm>
            <a:off x="2398288" y="3289586"/>
            <a:ext cx="182880" cy="119299"/>
          </a:xfrm>
          <a:prstGeom prst="rect">
            <a:avLst/>
          </a:prstGeom>
          <a:solidFill>
            <a:srgbClr val="FFFFFF"/>
          </a:solidFill>
          <a:ln w="6350">
            <a:solidFill>
              <a:srgbClr val="E2E2E2"/>
            </a:solidFill>
            <a:prstDash val="solid"/>
          </a:ln>
        </p:spPr>
      </p:sp>
      <p:sp>
        <p:nvSpPr>
          <p:cNvPr id="123" name="Shape 115"/>
          <p:cNvSpPr/>
          <p:nvPr/>
        </p:nvSpPr>
        <p:spPr>
          <a:xfrm>
            <a:off x="2581168" y="3289586"/>
            <a:ext cx="548640" cy="119299"/>
          </a:xfrm>
          <a:prstGeom prst="rect">
            <a:avLst/>
          </a:prstGeom>
          <a:solidFill>
            <a:srgbClr val="FFFFFF"/>
          </a:solidFill>
          <a:ln w="6350">
            <a:solidFill>
              <a:srgbClr val="E2E2E2"/>
            </a:solidFill>
            <a:prstDash val="solid"/>
          </a:ln>
        </p:spPr>
      </p:sp>
      <p:sp>
        <p:nvSpPr>
          <p:cNvPr id="124" name="Shape 116"/>
          <p:cNvSpPr/>
          <p:nvPr/>
        </p:nvSpPr>
        <p:spPr>
          <a:xfrm>
            <a:off x="3129808" y="3289586"/>
            <a:ext cx="868680" cy="119299"/>
          </a:xfrm>
          <a:prstGeom prst="rect">
            <a:avLst/>
          </a:prstGeom>
          <a:solidFill>
            <a:srgbClr val="FFFFFF"/>
          </a:solidFill>
          <a:ln w="6350">
            <a:solidFill>
              <a:srgbClr val="E2E2E2"/>
            </a:solidFill>
            <a:prstDash val="solid"/>
          </a:ln>
        </p:spPr>
      </p:sp>
      <p:sp>
        <p:nvSpPr>
          <p:cNvPr id="125" name="Shape 117"/>
          <p:cNvSpPr/>
          <p:nvPr/>
        </p:nvSpPr>
        <p:spPr>
          <a:xfrm>
            <a:off x="587776" y="3408885"/>
            <a:ext cx="256032" cy="119299"/>
          </a:xfrm>
          <a:prstGeom prst="rect">
            <a:avLst/>
          </a:prstGeom>
          <a:solidFill>
            <a:srgbClr val="F8F9FA"/>
          </a:solidFill>
          <a:ln w="6350">
            <a:solidFill>
              <a:srgbClr val="DDDDDD"/>
            </a:solidFill>
            <a:prstDash val="solid"/>
          </a:ln>
        </p:spPr>
      </p:sp>
      <p:sp>
        <p:nvSpPr>
          <p:cNvPr id="126" name="Text 11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7" name="Shape 119"/>
          <p:cNvSpPr/>
          <p:nvPr/>
        </p:nvSpPr>
        <p:spPr>
          <a:xfrm>
            <a:off x="843808" y="3408885"/>
            <a:ext cx="777240" cy="119299"/>
          </a:xfrm>
          <a:prstGeom prst="rect">
            <a:avLst/>
          </a:prstGeom>
          <a:solidFill>
            <a:srgbClr val="FFFFFF"/>
          </a:solidFill>
          <a:ln w="6350">
            <a:solidFill>
              <a:srgbClr val="E2E2E2"/>
            </a:solidFill>
            <a:prstDash val="solid"/>
          </a:ln>
        </p:spPr>
      </p:sp>
      <p:sp>
        <p:nvSpPr>
          <p:cNvPr id="128" name="Shape 120"/>
          <p:cNvSpPr/>
          <p:nvPr/>
        </p:nvSpPr>
        <p:spPr>
          <a:xfrm>
            <a:off x="1621048" y="3408885"/>
            <a:ext cx="777240" cy="119299"/>
          </a:xfrm>
          <a:prstGeom prst="rect">
            <a:avLst/>
          </a:prstGeom>
          <a:solidFill>
            <a:srgbClr val="FFFFFF"/>
          </a:solidFill>
          <a:ln w="6350">
            <a:solidFill>
              <a:srgbClr val="E2E2E2"/>
            </a:solidFill>
            <a:prstDash val="solid"/>
          </a:ln>
        </p:spPr>
      </p:sp>
      <p:sp>
        <p:nvSpPr>
          <p:cNvPr id="129" name="Shape 121"/>
          <p:cNvSpPr/>
          <p:nvPr/>
        </p:nvSpPr>
        <p:spPr>
          <a:xfrm>
            <a:off x="2398288" y="3408885"/>
            <a:ext cx="182880" cy="119299"/>
          </a:xfrm>
          <a:prstGeom prst="rect">
            <a:avLst/>
          </a:prstGeom>
          <a:solidFill>
            <a:srgbClr val="FFFFFF"/>
          </a:solidFill>
          <a:ln w="6350">
            <a:solidFill>
              <a:srgbClr val="E2E2E2"/>
            </a:solidFill>
            <a:prstDash val="solid"/>
          </a:ln>
        </p:spPr>
      </p:sp>
      <p:sp>
        <p:nvSpPr>
          <p:cNvPr id="130" name="Shape 122"/>
          <p:cNvSpPr/>
          <p:nvPr/>
        </p:nvSpPr>
        <p:spPr>
          <a:xfrm>
            <a:off x="2581168" y="3408885"/>
            <a:ext cx="548640" cy="119299"/>
          </a:xfrm>
          <a:prstGeom prst="rect">
            <a:avLst/>
          </a:prstGeom>
          <a:solidFill>
            <a:srgbClr val="FFFFFF"/>
          </a:solidFill>
          <a:ln w="6350">
            <a:solidFill>
              <a:srgbClr val="E2E2E2"/>
            </a:solidFill>
            <a:prstDash val="solid"/>
          </a:ln>
        </p:spPr>
      </p:sp>
      <p:sp>
        <p:nvSpPr>
          <p:cNvPr id="131" name="Shape 123"/>
          <p:cNvSpPr/>
          <p:nvPr/>
        </p:nvSpPr>
        <p:spPr>
          <a:xfrm>
            <a:off x="3129808" y="3408885"/>
            <a:ext cx="868680" cy="119299"/>
          </a:xfrm>
          <a:prstGeom prst="rect">
            <a:avLst/>
          </a:prstGeom>
          <a:solidFill>
            <a:srgbClr val="FFFFFF"/>
          </a:solidFill>
          <a:ln w="6350">
            <a:solidFill>
              <a:srgbClr val="E2E2E2"/>
            </a:solidFill>
            <a:prstDash val="solid"/>
          </a:ln>
        </p:spPr>
      </p:sp>
      <p:sp>
        <p:nvSpPr>
          <p:cNvPr id="132" name="Shape 124"/>
          <p:cNvSpPr/>
          <p:nvPr/>
        </p:nvSpPr>
        <p:spPr>
          <a:xfrm>
            <a:off x="587776" y="3528185"/>
            <a:ext cx="256032" cy="119299"/>
          </a:xfrm>
          <a:prstGeom prst="rect">
            <a:avLst/>
          </a:prstGeom>
          <a:solidFill>
            <a:srgbClr val="F8F9FA"/>
          </a:solidFill>
          <a:ln w="6350">
            <a:solidFill>
              <a:srgbClr val="DDDDDD"/>
            </a:solidFill>
            <a:prstDash val="solid"/>
          </a:ln>
        </p:spPr>
      </p:sp>
      <p:sp>
        <p:nvSpPr>
          <p:cNvPr id="133" name="Text 125"/>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4" name="Shape 126"/>
          <p:cNvSpPr/>
          <p:nvPr/>
        </p:nvSpPr>
        <p:spPr>
          <a:xfrm>
            <a:off x="843808" y="3528185"/>
            <a:ext cx="777240" cy="119299"/>
          </a:xfrm>
          <a:prstGeom prst="rect">
            <a:avLst/>
          </a:prstGeom>
          <a:solidFill>
            <a:srgbClr val="FFFFFF"/>
          </a:solidFill>
          <a:ln w="6350">
            <a:solidFill>
              <a:srgbClr val="E2E2E2"/>
            </a:solidFill>
            <a:prstDash val="solid"/>
          </a:ln>
        </p:spPr>
      </p:sp>
      <p:sp>
        <p:nvSpPr>
          <p:cNvPr id="135" name="Shape 127"/>
          <p:cNvSpPr/>
          <p:nvPr/>
        </p:nvSpPr>
        <p:spPr>
          <a:xfrm>
            <a:off x="1621048" y="3528185"/>
            <a:ext cx="777240" cy="119299"/>
          </a:xfrm>
          <a:prstGeom prst="rect">
            <a:avLst/>
          </a:prstGeom>
          <a:solidFill>
            <a:srgbClr val="FFFFFF"/>
          </a:solidFill>
          <a:ln w="6350">
            <a:solidFill>
              <a:srgbClr val="E2E2E2"/>
            </a:solidFill>
            <a:prstDash val="solid"/>
          </a:ln>
        </p:spPr>
      </p:sp>
      <p:sp>
        <p:nvSpPr>
          <p:cNvPr id="136" name="Shape 128"/>
          <p:cNvSpPr/>
          <p:nvPr/>
        </p:nvSpPr>
        <p:spPr>
          <a:xfrm>
            <a:off x="2398288" y="3528185"/>
            <a:ext cx="182880" cy="119299"/>
          </a:xfrm>
          <a:prstGeom prst="rect">
            <a:avLst/>
          </a:prstGeom>
          <a:solidFill>
            <a:srgbClr val="FFFFFF"/>
          </a:solidFill>
          <a:ln w="6350">
            <a:solidFill>
              <a:srgbClr val="E2E2E2"/>
            </a:solidFill>
            <a:prstDash val="solid"/>
          </a:ln>
        </p:spPr>
      </p:sp>
      <p:sp>
        <p:nvSpPr>
          <p:cNvPr id="137" name="Shape 129"/>
          <p:cNvSpPr/>
          <p:nvPr/>
        </p:nvSpPr>
        <p:spPr>
          <a:xfrm>
            <a:off x="2581168" y="3528185"/>
            <a:ext cx="548640" cy="119299"/>
          </a:xfrm>
          <a:prstGeom prst="rect">
            <a:avLst/>
          </a:prstGeom>
          <a:solidFill>
            <a:srgbClr val="FFFFFF"/>
          </a:solidFill>
          <a:ln w="6350">
            <a:solidFill>
              <a:srgbClr val="E2E2E2"/>
            </a:solidFill>
            <a:prstDash val="solid"/>
          </a:ln>
        </p:spPr>
      </p:sp>
      <p:sp>
        <p:nvSpPr>
          <p:cNvPr id="138" name="Shape 130"/>
          <p:cNvSpPr/>
          <p:nvPr/>
        </p:nvSpPr>
        <p:spPr>
          <a:xfrm>
            <a:off x="3129808" y="3528185"/>
            <a:ext cx="868680" cy="119299"/>
          </a:xfrm>
          <a:prstGeom prst="rect">
            <a:avLst/>
          </a:prstGeom>
          <a:solidFill>
            <a:srgbClr val="FFFFFF"/>
          </a:solidFill>
          <a:ln w="6350">
            <a:solidFill>
              <a:srgbClr val="E2E2E2"/>
            </a:solidFill>
            <a:prstDash val="solid"/>
          </a:ln>
        </p:spPr>
      </p:sp>
      <p:sp>
        <p:nvSpPr>
          <p:cNvPr id="139" name="Shape 131"/>
          <p:cNvSpPr/>
          <p:nvPr/>
        </p:nvSpPr>
        <p:spPr>
          <a:xfrm>
            <a:off x="587776" y="3647484"/>
            <a:ext cx="256032" cy="119299"/>
          </a:xfrm>
          <a:prstGeom prst="rect">
            <a:avLst/>
          </a:prstGeom>
          <a:solidFill>
            <a:srgbClr val="F8F9FA"/>
          </a:solidFill>
          <a:ln w="6350">
            <a:solidFill>
              <a:srgbClr val="DDDDDD"/>
            </a:solidFill>
            <a:prstDash val="solid"/>
          </a:ln>
        </p:spPr>
      </p:sp>
      <p:sp>
        <p:nvSpPr>
          <p:cNvPr id="140" name="Text 132"/>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1" name="Shape 133"/>
          <p:cNvSpPr/>
          <p:nvPr/>
        </p:nvSpPr>
        <p:spPr>
          <a:xfrm>
            <a:off x="843808" y="3647484"/>
            <a:ext cx="777240" cy="119299"/>
          </a:xfrm>
          <a:prstGeom prst="rect">
            <a:avLst/>
          </a:prstGeom>
          <a:solidFill>
            <a:srgbClr val="FFFFFF"/>
          </a:solidFill>
          <a:ln w="6350">
            <a:solidFill>
              <a:srgbClr val="E2E2E2"/>
            </a:solidFill>
            <a:prstDash val="solid"/>
          </a:ln>
        </p:spPr>
      </p:sp>
      <p:sp>
        <p:nvSpPr>
          <p:cNvPr id="142" name="Shape 134"/>
          <p:cNvSpPr/>
          <p:nvPr/>
        </p:nvSpPr>
        <p:spPr>
          <a:xfrm>
            <a:off x="1621048" y="3647484"/>
            <a:ext cx="777240" cy="119299"/>
          </a:xfrm>
          <a:prstGeom prst="rect">
            <a:avLst/>
          </a:prstGeom>
          <a:solidFill>
            <a:srgbClr val="FFFFFF"/>
          </a:solidFill>
          <a:ln w="6350">
            <a:solidFill>
              <a:srgbClr val="E2E2E2"/>
            </a:solidFill>
            <a:prstDash val="solid"/>
          </a:ln>
        </p:spPr>
      </p:sp>
      <p:sp>
        <p:nvSpPr>
          <p:cNvPr id="143" name="Shape 135"/>
          <p:cNvSpPr/>
          <p:nvPr/>
        </p:nvSpPr>
        <p:spPr>
          <a:xfrm>
            <a:off x="2398288" y="3647484"/>
            <a:ext cx="182880" cy="119299"/>
          </a:xfrm>
          <a:prstGeom prst="rect">
            <a:avLst/>
          </a:prstGeom>
          <a:solidFill>
            <a:srgbClr val="FFFFFF"/>
          </a:solidFill>
          <a:ln w="6350">
            <a:solidFill>
              <a:srgbClr val="E2E2E2"/>
            </a:solidFill>
            <a:prstDash val="solid"/>
          </a:ln>
        </p:spPr>
      </p:sp>
      <p:sp>
        <p:nvSpPr>
          <p:cNvPr id="144" name="Shape 136"/>
          <p:cNvSpPr/>
          <p:nvPr/>
        </p:nvSpPr>
        <p:spPr>
          <a:xfrm>
            <a:off x="2581168" y="3647484"/>
            <a:ext cx="548640" cy="119299"/>
          </a:xfrm>
          <a:prstGeom prst="rect">
            <a:avLst/>
          </a:prstGeom>
          <a:solidFill>
            <a:srgbClr val="FFFFFF"/>
          </a:solidFill>
          <a:ln w="6350">
            <a:solidFill>
              <a:srgbClr val="E2E2E2"/>
            </a:solidFill>
            <a:prstDash val="solid"/>
          </a:ln>
        </p:spPr>
      </p:sp>
      <p:sp>
        <p:nvSpPr>
          <p:cNvPr id="145" name="Shape 137"/>
          <p:cNvSpPr/>
          <p:nvPr/>
        </p:nvSpPr>
        <p:spPr>
          <a:xfrm>
            <a:off x="3129808" y="3647484"/>
            <a:ext cx="868680" cy="119299"/>
          </a:xfrm>
          <a:prstGeom prst="rect">
            <a:avLst/>
          </a:prstGeom>
          <a:solidFill>
            <a:srgbClr val="FFFFFF"/>
          </a:solidFill>
          <a:ln w="6350">
            <a:solidFill>
              <a:srgbClr val="E2E2E2"/>
            </a:solidFill>
            <a:prstDash val="solid"/>
          </a:ln>
        </p:spPr>
      </p:sp>
      <p:sp>
        <p:nvSpPr>
          <p:cNvPr id="146" name="Shape 138"/>
          <p:cNvSpPr/>
          <p:nvPr/>
        </p:nvSpPr>
        <p:spPr>
          <a:xfrm>
            <a:off x="3129808" y="2931688"/>
            <a:ext cx="868680" cy="119299"/>
          </a:xfrm>
          <a:prstGeom prst="rect">
            <a:avLst/>
          </a:prstGeom>
          <a:solidFill>
            <a:srgbClr val="1A73E8">
              <a:alpha val="12000"/>
            </a:srgbClr>
          </a:solidFill>
          <a:ln w="19050">
            <a:solidFill>
              <a:srgbClr val="1A73E8"/>
            </a:solidFill>
            <a:prstDash val="solid"/>
          </a:ln>
        </p:spPr>
      </p:sp>
      <p:sp>
        <p:nvSpPr>
          <p:cNvPr id="147" name="Shape 139"/>
          <p:cNvSpPr/>
          <p:nvPr/>
        </p:nvSpPr>
        <p:spPr>
          <a:xfrm>
            <a:off x="587776" y="3794216"/>
            <a:ext cx="4950927" cy="201168"/>
          </a:xfrm>
          <a:prstGeom prst="rect">
            <a:avLst/>
          </a:prstGeom>
          <a:solidFill>
            <a:srgbClr val="F8F9FA"/>
          </a:solidFill>
          <a:ln w="12700">
            <a:solidFill>
              <a:srgbClr val="F8F9FA"/>
            </a:solidFill>
            <a:prstDash val="solid"/>
          </a:ln>
        </p:spPr>
      </p:sp>
      <p:sp>
        <p:nvSpPr>
          <p:cNvPr id="148" name="Text 140"/>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9" name="Text 141"/>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50" name="Shape 142"/>
          <p:cNvSpPr/>
          <p:nvPr/>
        </p:nvSpPr>
        <p:spPr>
          <a:xfrm>
            <a:off x="1913656" y="3794216"/>
            <a:ext cx="731520" cy="201168"/>
          </a:xfrm>
          <a:prstGeom prst="rect">
            <a:avLst/>
          </a:prstGeom>
          <a:solidFill>
            <a:srgbClr val="E1EFFE"/>
          </a:solidFill>
          <a:ln w="12700">
            <a:solidFill>
              <a:srgbClr val="E1EFFE"/>
            </a:solidFill>
            <a:prstDash val="solid"/>
          </a:ln>
        </p:spPr>
      </p:sp>
      <p:sp>
        <p:nvSpPr>
          <p:cNvPr id="151" name="Text 143"/>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52" name="Text 144"/>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153" name="Shape 145"/>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54" name="Shape 146"/>
          <p:cNvSpPr/>
          <p:nvPr/>
        </p:nvSpPr>
        <p:spPr>
          <a:xfrm>
            <a:off x="5310104" y="2198885"/>
            <a:ext cx="274320" cy="274320"/>
          </a:xfrm>
          <a:prstGeom prst="ellipse">
            <a:avLst/>
          </a:prstGeom>
          <a:solidFill>
            <a:srgbClr val="E53935"/>
          </a:solidFill>
          <a:ln w="12700">
            <a:solidFill>
              <a:srgbClr val="FFFFFF"/>
            </a:solidFill>
            <a:prstDash val="solid"/>
          </a:ln>
        </p:spPr>
      </p:sp>
      <p:sp>
        <p:nvSpPr>
          <p:cNvPr id="155" name="Text 147"/>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56"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57" name="Shape 148"/>
          <p:cNvSpPr/>
          <p:nvPr/>
        </p:nvSpPr>
        <p:spPr>
          <a:xfrm>
            <a:off x="3102376" y="2904256"/>
            <a:ext cx="923544" cy="174163"/>
          </a:xfrm>
          <a:prstGeom prst="roundRect">
            <a:avLst>
              <a:gd name="adj" fmla="val 26251"/>
            </a:avLst>
          </a:prstGeom>
          <a:solidFill>
            <a:srgbClr val="FFFFFF">
              <a:alpha val="0"/>
            </a:srgbClr>
          </a:solidFill>
          <a:ln w="31750">
            <a:solidFill>
              <a:srgbClr val="E53935"/>
            </a:solidFill>
            <a:prstDash val="solid"/>
          </a:ln>
        </p:spPr>
      </p:sp>
      <p:sp>
        <p:nvSpPr>
          <p:cNvPr id="158" name="Shape 149"/>
          <p:cNvSpPr/>
          <p:nvPr/>
        </p:nvSpPr>
        <p:spPr>
          <a:xfrm>
            <a:off x="3888760" y="2767096"/>
            <a:ext cx="274320" cy="274320"/>
          </a:xfrm>
          <a:prstGeom prst="ellipse">
            <a:avLst/>
          </a:prstGeom>
          <a:solidFill>
            <a:srgbClr val="E53935"/>
          </a:solidFill>
          <a:ln w="12700">
            <a:solidFill>
              <a:srgbClr val="FFFFFF"/>
            </a:solidFill>
            <a:prstDash val="solid"/>
          </a:ln>
        </p:spPr>
      </p:sp>
      <p:sp>
        <p:nvSpPr>
          <p:cNvPr id="159" name="Text 150"/>
          <p:cNvSpPr txBox="1"/>
          <p:nvPr/>
        </p:nvSpPr>
        <p:spPr>
          <a:xfrm>
            <a:off x="3888760" y="27670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60" name="Image 7" descr="preencoded.png">    </p:cNvPr>
          <p:cNvPicPr>
            <a:picLocks noChangeAspect="1"/>
          </p:cNvPicPr>
          <p:nvPr/>
        </p:nvPicPr>
        <p:blipFill>
          <a:blip r:embed="rId8"/>
          <a:stretch>
            <a:fillRect/>
          </a:stretch>
        </p:blipFill>
        <p:spPr>
          <a:xfrm>
            <a:off x="3607582" y="2997302"/>
            <a:ext cx="237744" cy="237744"/>
          </a:xfrm>
          <a:prstGeom prst="rect">
            <a:avLst/>
          </a:prstGeom>
        </p:spPr>
      </p:pic>
      <p:sp>
        <p:nvSpPr>
          <p:cNvPr id="161" name="Text 1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62" name="Text 1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ubah syarat "8A" menjadi "8B"</a:t>
            </a:r>
            <a:endParaRPr lang="en-US" sz="1800" dirty="0"/>
          </a:p>
        </p:txBody>
      </p:sp>
      <p:sp>
        <p:nvSpPr>
          <p:cNvPr id="163" name="Text 1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Sheets, ubah syarat di rumus menjadi "8B". Apakah hasilnya rata-rata kelas 8B? Cocokkan dengan menghitung manual.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3078968" y="1805693"/>
            <a:ext cx="2368296" cy="283464"/>
          </a:xfrm>
          <a:prstGeom prst="roundRect">
            <a:avLst>
              <a:gd name="adj" fmla="val 32258"/>
            </a:avLst>
          </a:prstGeom>
          <a:solidFill>
            <a:srgbClr val="E3E9F5"/>
          </a:solidFill>
          <a:ln w="12700">
            <a:solidFill>
              <a:srgbClr val="E3E9F5"/>
            </a:solidFill>
            <a:prstDash val="solid"/>
          </a:ln>
        </p:spPr>
      </p:sp>
      <p:sp>
        <p:nvSpPr>
          <p:cNvPr id="32" name="Text 25"/>
          <p:cNvSpPr txBox="1"/>
          <p:nvPr/>
        </p:nvSpPr>
        <p:spPr>
          <a:xfrm>
            <a:off x="3170408" y="1805693"/>
            <a:ext cx="2185416" cy="28346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Apa beda AVERAGE dan AVERAGEIF? Beri contoh singkat.</a:t>
            </a:r>
            <a:endParaRPr lang="en-US" sz="750" dirty="0"/>
          </a:p>
        </p:txBody>
      </p:sp>
      <p:pic>
        <p:nvPicPr>
          <p:cNvPr id="33" name="Image 5" descr="preencoded.png">    </p:cNvPr>
          <p:cNvPicPr>
            <a:picLocks noChangeAspect="1"/>
          </p:cNvPicPr>
          <p:nvPr/>
        </p:nvPicPr>
        <p:blipFill>
          <a:blip r:embed="rId6"/>
          <a:stretch>
            <a:fillRect/>
          </a:stretch>
        </p:blipFill>
        <p:spPr>
          <a:xfrm>
            <a:off x="1593616" y="2180597"/>
            <a:ext cx="182880" cy="182880"/>
          </a:xfrm>
          <a:prstGeom prst="rect">
            <a:avLst/>
          </a:prstGeom>
        </p:spPr>
      </p:pic>
      <p:sp>
        <p:nvSpPr>
          <p:cNvPr id="34" name="Text 26"/>
          <p:cNvSpPr txBox="1"/>
          <p:nvPr/>
        </p:nvSpPr>
        <p:spPr>
          <a:xfrm>
            <a:off x="1849648" y="2180597"/>
            <a:ext cx="3533607" cy="77724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AVERAGE menghitung rata-rata SEMUA angka dalam rentang. Contoh: =AVERAGE(F2:F9) → rata-rata juz seluruh santri.</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AVERAGEIF hanya menghitung angka yang memenuhi syarat. Contoh: =AVERAGEIF(C2:C9,"8A",F2:F9) → rata-rata juz santri 8A saja.</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153165"/>
            <a:ext cx="3588471" cy="832104"/>
          </a:xfrm>
          <a:prstGeom prst="roundRect">
            <a:avLst>
              <a:gd name="adj" fmla="val 5495"/>
            </a:avLst>
          </a:prstGeom>
          <a:solidFill>
            <a:srgbClr val="FFFFFF">
              <a:alpha val="0"/>
            </a:srgbClr>
          </a:solidFill>
          <a:ln w="31750">
            <a:solidFill>
              <a:srgbClr val="E53935"/>
            </a:solidFill>
            <a:prstDash val="solid"/>
          </a:ln>
        </p:spPr>
      </p:sp>
      <p:sp>
        <p:nvSpPr>
          <p:cNvPr id="41" name="Shape 32"/>
          <p:cNvSpPr/>
          <p:nvPr/>
        </p:nvSpPr>
        <p:spPr>
          <a:xfrm>
            <a:off x="5273528" y="201600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0160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3" name="Image 7" descr="preencoded.png">    </p:cNvPr>
          <p:cNvPicPr>
            <a:picLocks noChangeAspect="1"/>
          </p:cNvPicPr>
          <p:nvPr/>
        </p:nvPicPr>
        <p:blipFill>
          <a:blip r:embed="rId8"/>
          <a:stretch>
            <a:fillRect/>
          </a:stretch>
        </p:blipFill>
        <p:spPr>
          <a:xfrm>
            <a:off x="3793132" y="2608079"/>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Tanya lanjutan: apa beda AVERAGEIF dan AVERAGE?</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menanyakan pertanyaan lanjutan santri ke AI. Santri menguji jawabannya di Sheets.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Menjelaskan Ulang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Prompt_Rumus_Kel1 -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Prompt_Rumus_Kel1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Penjelasan Saya</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AVERAGEIF mencari rata-rata hanya untuk</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yang sesuai syarat. Bagian 1 tempat mencari,</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bagian 2 syaratnya, bagian 3 yang dirata-rata.</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COUNTIF menghitung banyak data yang sesuai syarat.</a:t>
            </a:r>
            <a:endParaRPr lang="en-US" sz="800" dirty="0"/>
          </a:p>
        </p:txBody>
      </p:sp>
      <p:sp>
        <p:nvSpPr>
          <p:cNvPr id="74" name="Shape 63"/>
          <p:cNvSpPr/>
          <p:nvPr/>
        </p:nvSpPr>
        <p:spPr>
          <a:xfrm>
            <a:off x="1527048" y="2849506"/>
            <a:ext cx="3072384" cy="781304"/>
          </a:xfrm>
          <a:prstGeom prst="roundRect">
            <a:avLst>
              <a:gd name="adj" fmla="val 5852"/>
            </a:avLst>
          </a:prstGeom>
          <a:solidFill>
            <a:srgbClr val="FFFFFF">
              <a:alpha val="0"/>
            </a:srgbClr>
          </a:solidFill>
          <a:ln w="31750">
            <a:solidFill>
              <a:srgbClr val="E53935"/>
            </a:solidFill>
            <a:prstDash val="solid"/>
          </a:ln>
        </p:spPr>
      </p:sp>
      <p:sp>
        <p:nvSpPr>
          <p:cNvPr id="75" name="Shape 64"/>
          <p:cNvSpPr/>
          <p:nvPr/>
        </p:nvSpPr>
        <p:spPr>
          <a:xfrm>
            <a:off x="4462272" y="2712346"/>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7" name="Image 9" descr="preencoded.png">    </p:cNvPr>
          <p:cNvPicPr>
            <a:picLocks noChangeAspect="1"/>
          </p:cNvPicPr>
          <p:nvPr/>
        </p:nvPicPr>
        <p:blipFill>
          <a:blip r:embed="rId10"/>
          <a:stretch>
            <a:fillRect/>
          </a:stretch>
        </p:blipFill>
        <p:spPr>
          <a:xfrm>
            <a:off x="3214116" y="3276480"/>
            <a:ext cx="237744" cy="237744"/>
          </a:xfrm>
          <a:prstGeom prst="rect">
            <a:avLst/>
          </a:prstGeom>
        </p:spPr>
      </p:pic>
      <p:sp>
        <p:nvSpPr>
          <p:cNvPr id="78"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9"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Jelaskan rumus dengan kata-katamu</a:t>
            </a:r>
            <a:endParaRPr lang="en-US" sz="1800" dirty="0"/>
          </a:p>
        </p:txBody>
      </p:sp>
      <p:sp>
        <p:nvSpPr>
          <p:cNvPr id="80"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Tanpa melihat jawaban AI, tulis di Docs penjelasan rumus AVERAGEIF dan COUNTIF dengan bahasamu sendiri, lalu jelaskan kepada teman.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13</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Dokumen kelompok berisi: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1 prompt penjelasan rumus dengan konteks, tugas, dan format.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Hasil uji di Sheets: rumus diubah syaratnya dan dicocokkan manual.</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Penjelasan AVERAGEIF dan COUNTIF dengan kata-kata sendiri.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1 pertanyaan lanjutan yang ingin kamu tanyakan ke AI.</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Prompt penjelasan rumus lengkap</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Penjelasan AI sudah diuji di Sheets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rumus sendiri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Tidak ada data asli di prompt</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Apakah penjelasan AI mudah dipahami?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penjelasan AI tetap harus diuji di Sheets?</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Bertanya untuk memahami, bukan untuk menyalin. Ilmu yang dipahami akan melekat.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AI membantu membuat rumus baru dan mencari error.</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14</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AI Membantu Menyusun Rumus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Fungsi IF dan mencari penyebab error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AI untuk Data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Pembina ingin kolom Status: "Tercapai" jika hafalan 3 juz ke atas, "Bimbingan" jika kurang. Bagaimana caranya?</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tujuan dengan jelas agar AI memberi rumus yang tepat</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Memahami dan menguji fungsi IF</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Mencari penyebab error rumus dengan bantuan AI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Fungsi IF: Jika ... Maka ... Jika Tidak ...</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8229600" cy="1005840"/>
          </a:xfrm>
          <a:prstGeom prst="roundRect">
            <a:avLst>
              <a:gd name="adj" fmla="val 7273"/>
            </a:avLst>
          </a:prstGeom>
          <a:solidFill>
            <a:srgbClr val="FFFFFF"/>
          </a:solidFill>
          <a:ln w="19050">
            <a:solidFill>
              <a:srgbClr val="1F7A5C"/>
            </a:solidFill>
            <a:prstDash val="solid"/>
          </a:ln>
        </p:spPr>
      </p:sp>
      <p:sp>
        <p:nvSpPr>
          <p:cNvPr id="10" name="Text 6"/>
          <p:cNvSpPr txBox="1"/>
          <p:nvPr/>
        </p:nvSpPr>
        <p:spPr>
          <a:xfrm>
            <a:off x="548640" y="1188720"/>
            <a:ext cx="8046720" cy="914400"/>
          </a:xfrm>
          <a:prstGeom prst="rect">
            <a:avLst/>
          </a:prstGeom>
          <a:noFill/>
          <a:ln/>
        </p:spPr>
        <p:txBody>
          <a:bodyPr wrap="square" lIns="0" tIns="0" rIns="0" bIns="0" rtlCol="0" anchor="ctr"/>
          <a:lstStyle/>
          <a:p>
            <a:pPr algn="ctr" indent="0" marL="0">
              <a:buNone/>
            </a:pPr>
            <a:r>
              <a:rPr lang="en-US" sz="2600" b="1" dirty="0">
                <a:solidFill>
                  <a:srgbClr val="0078D4"/>
                </a:solidFill>
                <a:latin typeface="Courier New" pitchFamily="34" charset="0"/>
                <a:ea typeface="Courier New" pitchFamily="34" charset="-122"/>
                <a:cs typeface="Courier New" pitchFamily="34" charset="-120"/>
              </a:rPr>
              <a:t>=IF(</a:t>
            </a:r>
            <a:pPr algn="ctr" indent="0" marL="0">
              <a:buNone/>
            </a:pPr>
            <a:r>
              <a:rPr lang="en-US" sz="2600" b="1" dirty="0">
                <a:solidFill>
                  <a:srgbClr val="8E44AD"/>
                </a:solidFill>
                <a:latin typeface="Courier New" pitchFamily="34" charset="0"/>
                <a:ea typeface="Courier New" pitchFamily="34" charset="-122"/>
                <a:cs typeface="Courier New" pitchFamily="34" charset="-120"/>
              </a:rPr>
              <a:t>E2&gt;=3</a:t>
            </a:r>
            <a:pPr algn="ctr" indent="0" marL="0">
              <a:buNone/>
            </a:pPr>
            <a:r>
              <a:rPr lang="en-US" sz="2600" dirty="0">
                <a:solidFill>
                  <a:srgbClr val="1E2A26"/>
                </a:solidFill>
                <a:latin typeface="Courier New" pitchFamily="34" charset="0"/>
                <a:ea typeface="Courier New" pitchFamily="34" charset="-122"/>
                <a:cs typeface="Courier New" pitchFamily="34" charset="-120"/>
              </a:rPr>
              <a:t>, </a:t>
            </a:r>
            <a:pPr algn="ctr" indent="0" marL="0">
              <a:buNone/>
            </a:pPr>
            <a:r>
              <a:rPr lang="en-US" sz="2600" b="1" dirty="0">
                <a:solidFill>
                  <a:srgbClr val="1F7A5C"/>
                </a:solidFill>
                <a:latin typeface="Courier New" pitchFamily="34" charset="0"/>
                <a:ea typeface="Courier New" pitchFamily="34" charset="-122"/>
                <a:cs typeface="Courier New" pitchFamily="34" charset="-120"/>
              </a:rPr>
              <a:t>"Tercapai"</a:t>
            </a:r>
            <a:pPr algn="ctr" indent="0" marL="0">
              <a:buNone/>
            </a:pPr>
            <a:r>
              <a:rPr lang="en-US" sz="2600" dirty="0">
                <a:solidFill>
                  <a:srgbClr val="1E2A26"/>
                </a:solidFill>
                <a:latin typeface="Courier New" pitchFamily="34" charset="0"/>
                <a:ea typeface="Courier New" pitchFamily="34" charset="-122"/>
                <a:cs typeface="Courier New" pitchFamily="34" charset="-120"/>
              </a:rPr>
              <a:t>, </a:t>
            </a:r>
            <a:pPr algn="ctr" indent="0" marL="0">
              <a:buNone/>
            </a:pPr>
            <a:r>
              <a:rPr lang="en-US" sz="2600" b="1" dirty="0">
                <a:solidFill>
                  <a:srgbClr val="E53935"/>
                </a:solidFill>
                <a:latin typeface="Courier New" pitchFamily="34" charset="0"/>
                <a:ea typeface="Courier New" pitchFamily="34" charset="-122"/>
                <a:cs typeface="Courier New" pitchFamily="34" charset="-120"/>
              </a:rPr>
              <a:t>"Bimbingan"</a:t>
            </a:r>
            <a:pPr algn="ctr" indent="0" marL="0">
              <a:buNone/>
            </a:pPr>
            <a:r>
              <a:rPr lang="en-US" sz="2600" b="1" dirty="0">
                <a:solidFill>
                  <a:srgbClr val="0078D4"/>
                </a:solidFill>
                <a:latin typeface="Courier New" pitchFamily="34" charset="0"/>
                <a:ea typeface="Courier New" pitchFamily="34" charset="-122"/>
                <a:cs typeface="Courier New" pitchFamily="34" charset="-120"/>
              </a:rPr>
              <a:t>)</a:t>
            </a:r>
            <a:endParaRPr lang="en-US" sz="2600" dirty="0"/>
          </a:p>
        </p:txBody>
      </p:sp>
      <p:sp>
        <p:nvSpPr>
          <p:cNvPr id="11" name="Shape 7"/>
          <p:cNvSpPr/>
          <p:nvPr/>
        </p:nvSpPr>
        <p:spPr>
          <a:xfrm>
            <a:off x="457200" y="2377440"/>
            <a:ext cx="2606040" cy="1234440"/>
          </a:xfrm>
          <a:prstGeom prst="roundRect">
            <a:avLst>
              <a:gd name="adj" fmla="val 7407"/>
            </a:avLst>
          </a:prstGeom>
          <a:solidFill>
            <a:srgbClr val="E6F2EC"/>
          </a:solidFill>
          <a:ln w="12700">
            <a:solidFill>
              <a:srgbClr val="E6F2EC"/>
            </a:solidFill>
            <a:prstDash val="solid"/>
          </a:ln>
        </p:spPr>
      </p:sp>
      <p:sp>
        <p:nvSpPr>
          <p:cNvPr id="12" name="Text 8"/>
          <p:cNvSpPr txBox="1"/>
          <p:nvPr/>
        </p:nvSpPr>
        <p:spPr>
          <a:xfrm>
            <a:off x="594360" y="2468880"/>
            <a:ext cx="2377440" cy="365760"/>
          </a:xfrm>
          <a:prstGeom prst="rect">
            <a:avLst/>
          </a:prstGeom>
          <a:noFill/>
          <a:ln/>
        </p:spPr>
        <p:txBody>
          <a:bodyPr wrap="square" lIns="0" tIns="0" rIns="0" bIns="0" rtlCol="0" anchor="t"/>
          <a:lstStyle/>
          <a:p>
            <a:pPr indent="0" marL="0">
              <a:buNone/>
            </a:pPr>
            <a:r>
              <a:rPr lang="en-US" sz="1500" b="1" dirty="0">
                <a:solidFill>
                  <a:srgbClr val="8E44AD"/>
                </a:solidFill>
                <a:latin typeface="Courier New" pitchFamily="34" charset="0"/>
                <a:ea typeface="Courier New" pitchFamily="34" charset="-122"/>
                <a:cs typeface="Courier New" pitchFamily="34" charset="-120"/>
              </a:rPr>
              <a:t>E2&gt;=3</a:t>
            </a:r>
            <a:endParaRPr lang="en-US" sz="1500" dirty="0"/>
          </a:p>
        </p:txBody>
      </p:sp>
      <p:sp>
        <p:nvSpPr>
          <p:cNvPr id="13" name="Text 9"/>
          <p:cNvSpPr txBox="1"/>
          <p:nvPr/>
        </p:nvSpPr>
        <p:spPr>
          <a:xfrm>
            <a:off x="594360" y="2880360"/>
            <a:ext cx="2377440" cy="6400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juz 3 atau lebih...</a:t>
            </a:r>
            <a:endParaRPr lang="en-US" sz="1300" dirty="0"/>
          </a:p>
        </p:txBody>
      </p:sp>
      <p:sp>
        <p:nvSpPr>
          <p:cNvPr id="14" name="Shape 10"/>
          <p:cNvSpPr/>
          <p:nvPr/>
        </p:nvSpPr>
        <p:spPr>
          <a:xfrm>
            <a:off x="3246120" y="2377440"/>
            <a:ext cx="2606040" cy="1234440"/>
          </a:xfrm>
          <a:prstGeom prst="roundRect">
            <a:avLst>
              <a:gd name="adj" fmla="val 7407"/>
            </a:avLst>
          </a:prstGeom>
          <a:solidFill>
            <a:srgbClr val="E6F2EC"/>
          </a:solidFill>
          <a:ln w="12700">
            <a:solidFill>
              <a:srgbClr val="E6F2EC"/>
            </a:solidFill>
            <a:prstDash val="solid"/>
          </a:ln>
        </p:spPr>
      </p:sp>
      <p:sp>
        <p:nvSpPr>
          <p:cNvPr id="15" name="Text 11"/>
          <p:cNvSpPr txBox="1"/>
          <p:nvPr/>
        </p:nvSpPr>
        <p:spPr>
          <a:xfrm>
            <a:off x="3383280" y="2468880"/>
            <a:ext cx="2377440" cy="365760"/>
          </a:xfrm>
          <a:prstGeom prst="rect">
            <a:avLst/>
          </a:prstGeom>
          <a:noFill/>
          <a:ln/>
        </p:spPr>
        <p:txBody>
          <a:bodyPr wrap="square" lIns="0" tIns="0" rIns="0" bIns="0" rtlCol="0" anchor="t"/>
          <a:lstStyle/>
          <a:p>
            <a:pPr indent="0" marL="0">
              <a:buNone/>
            </a:pPr>
            <a:r>
              <a:rPr lang="en-US" sz="1500" b="1" dirty="0">
                <a:solidFill>
                  <a:srgbClr val="1F7A5C"/>
                </a:solidFill>
                <a:latin typeface="Courier New" pitchFamily="34" charset="0"/>
                <a:ea typeface="Courier New" pitchFamily="34" charset="-122"/>
                <a:cs typeface="Courier New" pitchFamily="34" charset="-120"/>
              </a:rPr>
              <a:t>"Tercapai"</a:t>
            </a:r>
            <a:endParaRPr lang="en-US" sz="1500" dirty="0"/>
          </a:p>
        </p:txBody>
      </p:sp>
      <p:sp>
        <p:nvSpPr>
          <p:cNvPr id="16" name="Text 12"/>
          <p:cNvSpPr txBox="1"/>
          <p:nvPr/>
        </p:nvSpPr>
        <p:spPr>
          <a:xfrm>
            <a:off x="3383280" y="2880360"/>
            <a:ext cx="2377440" cy="6400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MAKA tulis Tercapai</a:t>
            </a:r>
            <a:endParaRPr lang="en-US" sz="1300" dirty="0"/>
          </a:p>
        </p:txBody>
      </p:sp>
      <p:sp>
        <p:nvSpPr>
          <p:cNvPr id="17" name="Shape 13"/>
          <p:cNvSpPr/>
          <p:nvPr/>
        </p:nvSpPr>
        <p:spPr>
          <a:xfrm>
            <a:off x="6035040" y="2377440"/>
            <a:ext cx="2606040" cy="1234440"/>
          </a:xfrm>
          <a:prstGeom prst="roundRect">
            <a:avLst>
              <a:gd name="adj" fmla="val 7407"/>
            </a:avLst>
          </a:prstGeom>
          <a:solidFill>
            <a:srgbClr val="E6F2EC"/>
          </a:solidFill>
          <a:ln w="12700">
            <a:solidFill>
              <a:srgbClr val="E6F2EC"/>
            </a:solidFill>
            <a:prstDash val="solid"/>
          </a:ln>
        </p:spPr>
      </p:sp>
      <p:sp>
        <p:nvSpPr>
          <p:cNvPr id="18" name="Text 14"/>
          <p:cNvSpPr txBox="1"/>
          <p:nvPr/>
        </p:nvSpPr>
        <p:spPr>
          <a:xfrm>
            <a:off x="6172200" y="2468880"/>
            <a:ext cx="2377440" cy="365760"/>
          </a:xfrm>
          <a:prstGeom prst="rect">
            <a:avLst/>
          </a:prstGeom>
          <a:noFill/>
          <a:ln/>
        </p:spPr>
        <p:txBody>
          <a:bodyPr wrap="square" lIns="0" tIns="0" rIns="0" bIns="0" rtlCol="0" anchor="t"/>
          <a:lstStyle/>
          <a:p>
            <a:pPr indent="0" marL="0">
              <a:buNone/>
            </a:pPr>
            <a:r>
              <a:rPr lang="en-US" sz="1500" b="1" dirty="0">
                <a:solidFill>
                  <a:srgbClr val="E53935"/>
                </a:solidFill>
                <a:latin typeface="Courier New" pitchFamily="34" charset="0"/>
                <a:ea typeface="Courier New" pitchFamily="34" charset="-122"/>
                <a:cs typeface="Courier New" pitchFamily="34" charset="-120"/>
              </a:rPr>
              <a:t>"Bimbingan"</a:t>
            </a:r>
            <a:endParaRPr lang="en-US" sz="1500" dirty="0"/>
          </a:p>
        </p:txBody>
      </p:sp>
      <p:sp>
        <p:nvSpPr>
          <p:cNvPr id="19" name="Text 15"/>
          <p:cNvSpPr txBox="1"/>
          <p:nvPr/>
        </p:nvSpPr>
        <p:spPr>
          <a:xfrm>
            <a:off x="6172200" y="2880360"/>
            <a:ext cx="2377440" cy="6400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TIDAK, tulis Bimbingan</a:t>
            </a:r>
            <a:endParaRPr lang="en-US" sz="1300" dirty="0"/>
          </a:p>
        </p:txBody>
      </p:sp>
      <p:sp>
        <p:nvSpPr>
          <p:cNvPr id="20" name="Shape 16"/>
          <p:cNvSpPr/>
          <p:nvPr/>
        </p:nvSpPr>
        <p:spPr>
          <a:xfrm>
            <a:off x="457200" y="3794760"/>
            <a:ext cx="8229600" cy="777240"/>
          </a:xfrm>
          <a:prstGeom prst="roundRect">
            <a:avLst>
              <a:gd name="adj" fmla="val 11765"/>
            </a:avLst>
          </a:prstGeom>
          <a:solidFill>
            <a:srgbClr val="FBF1D3"/>
          </a:solidFill>
          <a:ln w="12700">
            <a:solidFill>
              <a:srgbClr val="FBF1D3"/>
            </a:solidFill>
            <a:prstDash val="solid"/>
          </a:ln>
        </p:spPr>
      </p:sp>
      <p:sp>
        <p:nvSpPr>
          <p:cNvPr id="21" name="Text 17"/>
          <p:cNvSpPr txBox="1"/>
          <p:nvPr/>
        </p:nvSpPr>
        <p:spPr>
          <a:xfrm>
            <a:off x="640080" y="3794760"/>
            <a:ext cx="7863840" cy="77724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Tanda pembanding: &gt;= (lebih dari atau sama dengan), &lt;= (kurang dari atau sama dengan), &gt; , &lt; , = , &lt;&gt; (tidak sama dengan)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Membaca Pesan Error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#NAME?</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Nama fungsi salah ketik, atau teks tanpa tanda kutip. Contoh: =AVERGE(...)</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#VALUE!</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Jenis data salah, misalnya menghitung huruf seperti angka.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#DIV/0!</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Pembagian dengan nol, misalnya rata-rata dari sel kosong.</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#REF!</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Rumus menunjuk sel atau lembar yang sudah dihapus.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Menyusun Rumus dengan AI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Guru mengoperasikan AI · santri menguji</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Meminta rumus IF dari AI</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Menguji rumus di Sheets</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Mencari penyebab error</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Meminta Rumus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Prompt_Rumus_Kel1 -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Prompt_Rumus_Kel1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Membuat Rumus</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Saya memakai Google Sheets. Kolom E berisi</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jumlah juz hafalan (angka). Di kolom F saya</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ingin tulisan "Tercapai" jika juz 3 atau lebih,</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dan "Bimbingan" jika kurang dari 3. Berikan</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rumusnya untuk sel F2 dan jelaskan cara kerjanya.</a:t>
            </a:r>
            <a:endParaRPr lang="en-US" sz="800" dirty="0"/>
          </a:p>
        </p:txBody>
      </p:sp>
      <p:sp>
        <p:nvSpPr>
          <p:cNvPr id="75" name="Shape 64"/>
          <p:cNvSpPr/>
          <p:nvPr/>
        </p:nvSpPr>
        <p:spPr>
          <a:xfrm>
            <a:off x="1527048" y="2849506"/>
            <a:ext cx="3072384" cy="974344"/>
          </a:xfrm>
          <a:prstGeom prst="roundRect">
            <a:avLst>
              <a:gd name="adj" fmla="val 4692"/>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78" name="Image 9" descr="preencoded.png">    </p:cNvPr>
          <p:cNvPicPr>
            <a:picLocks noChangeAspect="1"/>
          </p:cNvPicPr>
          <p:nvPr/>
        </p:nvPicPr>
        <p:blipFill>
          <a:blip r:embed="rId10"/>
          <a:stretch>
            <a:fillRect/>
          </a:stretch>
        </p:blipFill>
        <p:spPr>
          <a:xfrm>
            <a:off x="3214116" y="3382652"/>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tujuan dengan rinci</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Jelaskan: nama kolom, sel yang diperiksa, syarat, dan hasil yang diinginkan. Semakin rinci, semakin tepat.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Meminta Rumus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2" name="Text 25"/>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111111"/>
                </a:solidFill>
                <a:latin typeface="Calibri" pitchFamily="34" charset="0"/>
                <a:ea typeface="Calibri" pitchFamily="34" charset="-122"/>
                <a:cs typeface="Calibri" pitchFamily="34" charset="-120"/>
              </a:rPr>
              <a:t>Saya memakai Google Sheets. Kolom E berisi jumlah juz hafalan...</a:t>
            </a:r>
            <a:endParaRPr lang="en-US" sz="750" dirty="0"/>
          </a:p>
        </p:txBody>
      </p:sp>
      <p:sp>
        <p:nvSpPr>
          <p:cNvPr id="33" name="Shape 26"/>
          <p:cNvSpPr/>
          <p:nvPr/>
        </p:nvSpPr>
        <p:spPr>
          <a:xfrm>
            <a:off x="5127224" y="3620480"/>
            <a:ext cx="219456" cy="219456"/>
          </a:xfrm>
          <a:prstGeom prst="ellipse">
            <a:avLst/>
          </a:prstGeom>
          <a:solidFill>
            <a:srgbClr val="0B57D0"/>
          </a:solidFill>
          <a:ln/>
        </p:spPr>
      </p:sp>
      <p:pic>
        <p:nvPicPr>
          <p:cNvPr id="34" name="Image 5" descr="preencoded.png">    </p:cNvPr>
          <p:cNvPicPr>
            <a:picLocks noChangeAspect="1"/>
          </p:cNvPicPr>
          <p:nvPr/>
        </p:nvPicPr>
        <p:blipFill>
          <a:blip r:embed="rId6"/>
          <a:stretch>
            <a:fillRect/>
          </a:stretch>
        </p:blipFill>
        <p:spPr>
          <a:xfrm>
            <a:off x="5182088" y="3675344"/>
            <a:ext cx="109728" cy="109728"/>
          </a:xfrm>
          <a:prstGeom prst="rect">
            <a:avLst/>
          </a:prstGeom>
        </p:spPr>
      </p:pic>
      <p:sp>
        <p:nvSpPr>
          <p:cNvPr id="35" name="Text 27"/>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36" name="Shape 28"/>
          <p:cNvSpPr/>
          <p:nvPr/>
        </p:nvSpPr>
        <p:spPr>
          <a:xfrm>
            <a:off x="1566184" y="3556472"/>
            <a:ext cx="3862791" cy="347472"/>
          </a:xfrm>
          <a:prstGeom prst="roundRect">
            <a:avLst>
              <a:gd name="adj" fmla="val 13158"/>
            </a:avLst>
          </a:prstGeom>
          <a:solidFill>
            <a:srgbClr val="FFFFFF">
              <a:alpha val="0"/>
            </a:srgbClr>
          </a:solidFill>
          <a:ln w="31750">
            <a:solidFill>
              <a:srgbClr val="E53935"/>
            </a:solidFill>
            <a:prstDash val="solid"/>
          </a:ln>
        </p:spPr>
      </p:sp>
      <p:sp>
        <p:nvSpPr>
          <p:cNvPr id="37" name="Shape 29"/>
          <p:cNvSpPr/>
          <p:nvPr/>
        </p:nvSpPr>
        <p:spPr>
          <a:xfrm>
            <a:off x="5291816" y="3419312"/>
            <a:ext cx="274320" cy="274320"/>
          </a:xfrm>
          <a:prstGeom prst="ellipse">
            <a:avLst/>
          </a:prstGeom>
          <a:solidFill>
            <a:srgbClr val="E53935"/>
          </a:solidFill>
          <a:ln w="12700">
            <a:solidFill>
              <a:srgbClr val="FFFFFF"/>
            </a:solidFill>
            <a:prstDash val="solid"/>
          </a:ln>
        </p:spPr>
      </p:sp>
      <p:sp>
        <p:nvSpPr>
          <p:cNvPr id="38" name="Text 30"/>
          <p:cNvSpPr txBox="1"/>
          <p:nvPr/>
        </p:nvSpPr>
        <p:spPr>
          <a:xfrm>
            <a:off x="5291816" y="3419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39" name="Image 6" descr="preencoded.png">    </p:cNvPr>
          <p:cNvPicPr>
            <a:picLocks noChangeAspect="1"/>
          </p:cNvPicPr>
          <p:nvPr/>
        </p:nvPicPr>
        <p:blipFill>
          <a:blip r:embed="rId7"/>
          <a:stretch>
            <a:fillRect/>
          </a:stretch>
        </p:blipFill>
        <p:spPr>
          <a:xfrm>
            <a:off x="3687976" y="3744838"/>
            <a:ext cx="237744" cy="237744"/>
          </a:xfrm>
          <a:prstGeom prst="rect">
            <a:avLst/>
          </a:prstGeom>
        </p:spPr>
      </p:pic>
      <p:sp>
        <p:nvSpPr>
          <p:cNvPr id="40"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1"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mengirim prompt ke AI</a:t>
            </a:r>
            <a:endParaRPr lang="en-US" sz="1800" dirty="0"/>
          </a:p>
        </p:txBody>
      </p:sp>
      <p:sp>
        <p:nvSpPr>
          <p:cNvPr id="42"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mengetikkan prompt kelompok ke AI di layar.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Meminta Rumus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Saya memakai Google Sheets. Kolom E berisi jumlah juz hafalan. Di kolom F saya ingin "Tercapai" jika juz 3 atau lebih...</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8686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Gunakan rumus ini di F2:</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=IF(E2&gt;=3,"Tercapai","Bimbingan")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Cara kerjanya: IF memeriksa apakah E2 lebih dari atau sama dengan 3. Jika benar, tampil "Tercapai". Jika salah, tampil "Bimbingan". Salin ke bawah dengan fill handle.</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923544"/>
          </a:xfrm>
          <a:prstGeom prst="roundRect">
            <a:avLst>
              <a:gd name="adj" fmla="val 4950"/>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3" name="Image 7" descr="preencoded.png">    </p:cNvPr>
          <p:cNvPicPr>
            <a:picLocks noChangeAspect="1"/>
          </p:cNvPicPr>
          <p:nvPr/>
        </p:nvPicPr>
        <p:blipFill>
          <a:blip r:embed="rId8"/>
          <a:stretch>
            <a:fillRect/>
          </a:stretch>
        </p:blipFill>
        <p:spPr>
          <a:xfrm>
            <a:off x="3793132" y="279553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rumus dan penjelasannya</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AI memberi rumus IF dan penjelasannya. Cocokkan dengan slide materi IF.</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F2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=IF(E2&gt;=3,"Tercapai","Bimbingan")</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68580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4108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4108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52568" y="2573789"/>
            <a:ext cx="685800" cy="119299"/>
          </a:xfrm>
          <a:prstGeom prst="rect">
            <a:avLst/>
          </a:prstGeom>
          <a:solidFill>
            <a:srgbClr val="F8F9FA"/>
          </a:solidFill>
          <a:ln w="6350">
            <a:solidFill>
              <a:srgbClr val="DDDDDD"/>
            </a:solidFill>
            <a:prstDash val="solid"/>
          </a:ln>
        </p:spPr>
      </p:sp>
      <p:sp>
        <p:nvSpPr>
          <p:cNvPr id="68" name="Text 60"/>
          <p:cNvSpPr txBox="1"/>
          <p:nvPr/>
        </p:nvSpPr>
        <p:spPr>
          <a:xfrm>
            <a:off x="235256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038368" y="2573789"/>
            <a:ext cx="365760" cy="119299"/>
          </a:xfrm>
          <a:prstGeom prst="rect">
            <a:avLst/>
          </a:prstGeom>
          <a:solidFill>
            <a:srgbClr val="F8F9FA"/>
          </a:solidFill>
          <a:ln w="6350">
            <a:solidFill>
              <a:srgbClr val="DDDDDD"/>
            </a:solidFill>
            <a:prstDash val="solid"/>
          </a:ln>
        </p:spPr>
      </p:sp>
      <p:sp>
        <p:nvSpPr>
          <p:cNvPr id="70" name="Text 62"/>
          <p:cNvSpPr txBox="1"/>
          <p:nvPr/>
        </p:nvSpPr>
        <p:spPr>
          <a:xfrm>
            <a:off x="303836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404128" y="2573789"/>
            <a:ext cx="777240" cy="119299"/>
          </a:xfrm>
          <a:prstGeom prst="rect">
            <a:avLst/>
          </a:prstGeom>
          <a:solidFill>
            <a:srgbClr val="F8F9FA"/>
          </a:solidFill>
          <a:ln w="6350">
            <a:solidFill>
              <a:srgbClr val="DDDDDD"/>
            </a:solidFill>
            <a:prstDash val="solid"/>
          </a:ln>
        </p:spPr>
      </p:sp>
      <p:sp>
        <p:nvSpPr>
          <p:cNvPr id="72" name="Text 64"/>
          <p:cNvSpPr txBox="1"/>
          <p:nvPr/>
        </p:nvSpPr>
        <p:spPr>
          <a:xfrm>
            <a:off x="340412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68580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4108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196852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52568" y="2693089"/>
            <a:ext cx="685800" cy="119299"/>
          </a:xfrm>
          <a:prstGeom prst="rect">
            <a:avLst/>
          </a:prstGeom>
          <a:solidFill>
            <a:srgbClr val="0F4C3A"/>
          </a:solidFill>
          <a:ln w="6350">
            <a:solidFill>
              <a:srgbClr val="E2E2E2"/>
            </a:solidFill>
            <a:prstDash val="solid"/>
          </a:ln>
        </p:spPr>
      </p:sp>
      <p:sp>
        <p:nvSpPr>
          <p:cNvPr id="82" name="Text 74"/>
          <p:cNvSpPr txBox="1"/>
          <p:nvPr/>
        </p:nvSpPr>
        <p:spPr>
          <a:xfrm>
            <a:off x="238000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3" name="Shape 75"/>
          <p:cNvSpPr/>
          <p:nvPr/>
        </p:nvSpPr>
        <p:spPr>
          <a:xfrm>
            <a:off x="3038368" y="2693089"/>
            <a:ext cx="365760" cy="119299"/>
          </a:xfrm>
          <a:prstGeom prst="rect">
            <a:avLst/>
          </a:prstGeom>
          <a:solidFill>
            <a:srgbClr val="0F4C3A"/>
          </a:solidFill>
          <a:ln w="6350">
            <a:solidFill>
              <a:srgbClr val="E2E2E2"/>
            </a:solidFill>
            <a:prstDash val="solid"/>
          </a:ln>
        </p:spPr>
      </p:sp>
      <p:sp>
        <p:nvSpPr>
          <p:cNvPr id="84" name="Text 76"/>
          <p:cNvSpPr txBox="1"/>
          <p:nvPr/>
        </p:nvSpPr>
        <p:spPr>
          <a:xfrm>
            <a:off x="306580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5" name="Shape 77"/>
          <p:cNvSpPr/>
          <p:nvPr/>
        </p:nvSpPr>
        <p:spPr>
          <a:xfrm>
            <a:off x="3404128" y="2693089"/>
            <a:ext cx="777240" cy="119299"/>
          </a:xfrm>
          <a:prstGeom prst="rect">
            <a:avLst/>
          </a:prstGeom>
          <a:solidFill>
            <a:srgbClr val="0F4C3A"/>
          </a:solidFill>
          <a:ln w="6350">
            <a:solidFill>
              <a:srgbClr val="E2E2E2"/>
            </a:solidFill>
            <a:prstDash val="solid"/>
          </a:ln>
        </p:spPr>
      </p:sp>
      <p:sp>
        <p:nvSpPr>
          <p:cNvPr id="86" name="Text 78"/>
          <p:cNvSpPr txBox="1"/>
          <p:nvPr/>
        </p:nvSpPr>
        <p:spPr>
          <a:xfrm>
            <a:off x="343156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Status</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68580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4108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196852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52568" y="2812388"/>
            <a:ext cx="685800" cy="119299"/>
          </a:xfrm>
          <a:prstGeom prst="rect">
            <a:avLst/>
          </a:prstGeom>
          <a:solidFill>
            <a:srgbClr val="FFFFFF"/>
          </a:solidFill>
          <a:ln w="6350">
            <a:solidFill>
              <a:srgbClr val="E2E2E2"/>
            </a:solidFill>
            <a:prstDash val="solid"/>
          </a:ln>
        </p:spPr>
      </p:sp>
      <p:sp>
        <p:nvSpPr>
          <p:cNvPr id="96" name="Text 88"/>
          <p:cNvSpPr txBox="1"/>
          <p:nvPr/>
        </p:nvSpPr>
        <p:spPr>
          <a:xfrm>
            <a:off x="238000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7" name="Shape 89"/>
          <p:cNvSpPr/>
          <p:nvPr/>
        </p:nvSpPr>
        <p:spPr>
          <a:xfrm>
            <a:off x="3038368" y="2812388"/>
            <a:ext cx="365760" cy="119299"/>
          </a:xfrm>
          <a:prstGeom prst="rect">
            <a:avLst/>
          </a:prstGeom>
          <a:solidFill>
            <a:srgbClr val="FFFFFF"/>
          </a:solidFill>
          <a:ln w="6350">
            <a:solidFill>
              <a:srgbClr val="E2E2E2"/>
            </a:solidFill>
            <a:prstDash val="solid"/>
          </a:ln>
        </p:spPr>
      </p:sp>
      <p:sp>
        <p:nvSpPr>
          <p:cNvPr id="98" name="Text 90"/>
          <p:cNvSpPr txBox="1"/>
          <p:nvPr/>
        </p:nvSpPr>
        <p:spPr>
          <a:xfrm>
            <a:off x="306580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99" name="Shape 91"/>
          <p:cNvSpPr/>
          <p:nvPr/>
        </p:nvSpPr>
        <p:spPr>
          <a:xfrm>
            <a:off x="3404128" y="2812388"/>
            <a:ext cx="777240" cy="119299"/>
          </a:xfrm>
          <a:prstGeom prst="rect">
            <a:avLst/>
          </a:prstGeom>
          <a:solidFill>
            <a:srgbClr val="FFFFFF"/>
          </a:solidFill>
          <a:ln w="6350">
            <a:solidFill>
              <a:srgbClr val="E2E2E2"/>
            </a:solidFill>
            <a:prstDash val="solid"/>
          </a:ln>
        </p:spPr>
      </p:sp>
      <p:sp>
        <p:nvSpPr>
          <p:cNvPr id="100" name="Text 92"/>
          <p:cNvSpPr txBox="1"/>
          <p:nvPr/>
        </p:nvSpPr>
        <p:spPr>
          <a:xfrm>
            <a:off x="343156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68580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4108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196852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52568" y="2931688"/>
            <a:ext cx="685800" cy="119299"/>
          </a:xfrm>
          <a:prstGeom prst="rect">
            <a:avLst/>
          </a:prstGeom>
          <a:solidFill>
            <a:srgbClr val="FFFFFF"/>
          </a:solidFill>
          <a:ln w="6350">
            <a:solidFill>
              <a:srgbClr val="E2E2E2"/>
            </a:solidFill>
            <a:prstDash val="solid"/>
          </a:ln>
        </p:spPr>
      </p:sp>
      <p:sp>
        <p:nvSpPr>
          <p:cNvPr id="110" name="Text 102"/>
          <p:cNvSpPr txBox="1"/>
          <p:nvPr/>
        </p:nvSpPr>
        <p:spPr>
          <a:xfrm>
            <a:off x="238000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1" name="Shape 103"/>
          <p:cNvSpPr/>
          <p:nvPr/>
        </p:nvSpPr>
        <p:spPr>
          <a:xfrm>
            <a:off x="3038368" y="2931688"/>
            <a:ext cx="365760" cy="119299"/>
          </a:xfrm>
          <a:prstGeom prst="rect">
            <a:avLst/>
          </a:prstGeom>
          <a:solidFill>
            <a:srgbClr val="FFFFFF"/>
          </a:solidFill>
          <a:ln w="6350">
            <a:solidFill>
              <a:srgbClr val="E2E2E2"/>
            </a:solidFill>
            <a:prstDash val="solid"/>
          </a:ln>
        </p:spPr>
      </p:sp>
      <p:sp>
        <p:nvSpPr>
          <p:cNvPr id="112" name="Text 104"/>
          <p:cNvSpPr txBox="1"/>
          <p:nvPr/>
        </p:nvSpPr>
        <p:spPr>
          <a:xfrm>
            <a:off x="306580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3" name="Shape 105"/>
          <p:cNvSpPr/>
          <p:nvPr/>
        </p:nvSpPr>
        <p:spPr>
          <a:xfrm>
            <a:off x="3404128" y="2931688"/>
            <a:ext cx="777240" cy="119299"/>
          </a:xfrm>
          <a:prstGeom prst="rect">
            <a:avLst/>
          </a:prstGeom>
          <a:solidFill>
            <a:srgbClr val="FFFFFF"/>
          </a:solidFill>
          <a:ln w="6350">
            <a:solidFill>
              <a:srgbClr val="E2E2E2"/>
            </a:solidFill>
            <a:prstDash val="solid"/>
          </a:ln>
        </p:spPr>
      </p:sp>
      <p:sp>
        <p:nvSpPr>
          <p:cNvPr id="114" name="Text 106"/>
          <p:cNvSpPr txBox="1"/>
          <p:nvPr/>
        </p:nvSpPr>
        <p:spPr>
          <a:xfrm>
            <a:off x="343156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68580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4108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196852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52568" y="3050987"/>
            <a:ext cx="685800" cy="119299"/>
          </a:xfrm>
          <a:prstGeom prst="rect">
            <a:avLst/>
          </a:prstGeom>
          <a:solidFill>
            <a:srgbClr val="FFFFFF"/>
          </a:solidFill>
          <a:ln w="6350">
            <a:solidFill>
              <a:srgbClr val="E2E2E2"/>
            </a:solidFill>
            <a:prstDash val="solid"/>
          </a:ln>
        </p:spPr>
      </p:sp>
      <p:sp>
        <p:nvSpPr>
          <p:cNvPr id="124" name="Text 116"/>
          <p:cNvSpPr txBox="1"/>
          <p:nvPr/>
        </p:nvSpPr>
        <p:spPr>
          <a:xfrm>
            <a:off x="238000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5" name="Shape 117"/>
          <p:cNvSpPr/>
          <p:nvPr/>
        </p:nvSpPr>
        <p:spPr>
          <a:xfrm>
            <a:off x="3038368" y="3050987"/>
            <a:ext cx="365760" cy="119299"/>
          </a:xfrm>
          <a:prstGeom prst="rect">
            <a:avLst/>
          </a:prstGeom>
          <a:solidFill>
            <a:srgbClr val="FFFFFF"/>
          </a:solidFill>
          <a:ln w="6350">
            <a:solidFill>
              <a:srgbClr val="E2E2E2"/>
            </a:solidFill>
            <a:prstDash val="solid"/>
          </a:ln>
        </p:spPr>
      </p:sp>
      <p:sp>
        <p:nvSpPr>
          <p:cNvPr id="126" name="Text 118"/>
          <p:cNvSpPr txBox="1"/>
          <p:nvPr/>
        </p:nvSpPr>
        <p:spPr>
          <a:xfrm>
            <a:off x="306580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7" name="Shape 119"/>
          <p:cNvSpPr/>
          <p:nvPr/>
        </p:nvSpPr>
        <p:spPr>
          <a:xfrm>
            <a:off x="3404128" y="3050987"/>
            <a:ext cx="777240" cy="119299"/>
          </a:xfrm>
          <a:prstGeom prst="rect">
            <a:avLst/>
          </a:prstGeom>
          <a:solidFill>
            <a:srgbClr val="FFFFFF"/>
          </a:solidFill>
          <a:ln w="6350">
            <a:solidFill>
              <a:srgbClr val="E2E2E2"/>
            </a:solidFill>
            <a:prstDash val="solid"/>
          </a:ln>
        </p:spPr>
      </p:sp>
      <p:sp>
        <p:nvSpPr>
          <p:cNvPr id="128" name="Text 120"/>
          <p:cNvSpPr txBox="1"/>
          <p:nvPr/>
        </p:nvSpPr>
        <p:spPr>
          <a:xfrm>
            <a:off x="343156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68580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4108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196852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52568" y="3170287"/>
            <a:ext cx="685800" cy="119299"/>
          </a:xfrm>
          <a:prstGeom prst="rect">
            <a:avLst/>
          </a:prstGeom>
          <a:solidFill>
            <a:srgbClr val="FFFFFF"/>
          </a:solidFill>
          <a:ln w="6350">
            <a:solidFill>
              <a:srgbClr val="E2E2E2"/>
            </a:solidFill>
            <a:prstDash val="solid"/>
          </a:ln>
        </p:spPr>
      </p:sp>
      <p:sp>
        <p:nvSpPr>
          <p:cNvPr id="138" name="Text 130"/>
          <p:cNvSpPr txBox="1"/>
          <p:nvPr/>
        </p:nvSpPr>
        <p:spPr>
          <a:xfrm>
            <a:off x="238000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39" name="Shape 131"/>
          <p:cNvSpPr/>
          <p:nvPr/>
        </p:nvSpPr>
        <p:spPr>
          <a:xfrm>
            <a:off x="3038368" y="3170287"/>
            <a:ext cx="365760" cy="119299"/>
          </a:xfrm>
          <a:prstGeom prst="rect">
            <a:avLst/>
          </a:prstGeom>
          <a:solidFill>
            <a:srgbClr val="FFFFFF"/>
          </a:solidFill>
          <a:ln w="6350">
            <a:solidFill>
              <a:srgbClr val="E2E2E2"/>
            </a:solidFill>
            <a:prstDash val="solid"/>
          </a:ln>
        </p:spPr>
      </p:sp>
      <p:sp>
        <p:nvSpPr>
          <p:cNvPr id="140" name="Text 132"/>
          <p:cNvSpPr txBox="1"/>
          <p:nvPr/>
        </p:nvSpPr>
        <p:spPr>
          <a:xfrm>
            <a:off x="306580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1" name="Shape 133"/>
          <p:cNvSpPr/>
          <p:nvPr/>
        </p:nvSpPr>
        <p:spPr>
          <a:xfrm>
            <a:off x="3404128" y="3170287"/>
            <a:ext cx="777240" cy="119299"/>
          </a:xfrm>
          <a:prstGeom prst="rect">
            <a:avLst/>
          </a:prstGeom>
          <a:solidFill>
            <a:srgbClr val="FFFFFF"/>
          </a:solidFill>
          <a:ln w="6350">
            <a:solidFill>
              <a:srgbClr val="E2E2E2"/>
            </a:solidFill>
            <a:prstDash val="solid"/>
          </a:ln>
        </p:spPr>
      </p:sp>
      <p:sp>
        <p:nvSpPr>
          <p:cNvPr id="142" name="Text 134"/>
          <p:cNvSpPr txBox="1"/>
          <p:nvPr/>
        </p:nvSpPr>
        <p:spPr>
          <a:xfrm>
            <a:off x="343156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68580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4108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196852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52568" y="3289586"/>
            <a:ext cx="685800" cy="119299"/>
          </a:xfrm>
          <a:prstGeom prst="rect">
            <a:avLst/>
          </a:prstGeom>
          <a:solidFill>
            <a:srgbClr val="FFFFFF"/>
          </a:solidFill>
          <a:ln w="6350">
            <a:solidFill>
              <a:srgbClr val="E2E2E2"/>
            </a:solidFill>
            <a:prstDash val="solid"/>
          </a:ln>
        </p:spPr>
      </p:sp>
      <p:sp>
        <p:nvSpPr>
          <p:cNvPr id="152" name="Text 144"/>
          <p:cNvSpPr txBox="1"/>
          <p:nvPr/>
        </p:nvSpPr>
        <p:spPr>
          <a:xfrm>
            <a:off x="238000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3" name="Shape 145"/>
          <p:cNvSpPr/>
          <p:nvPr/>
        </p:nvSpPr>
        <p:spPr>
          <a:xfrm>
            <a:off x="3038368" y="3289586"/>
            <a:ext cx="365760" cy="119299"/>
          </a:xfrm>
          <a:prstGeom prst="rect">
            <a:avLst/>
          </a:prstGeom>
          <a:solidFill>
            <a:srgbClr val="FFFFFF"/>
          </a:solidFill>
          <a:ln w="6350">
            <a:solidFill>
              <a:srgbClr val="E2E2E2"/>
            </a:solidFill>
            <a:prstDash val="solid"/>
          </a:ln>
        </p:spPr>
      </p:sp>
      <p:sp>
        <p:nvSpPr>
          <p:cNvPr id="154" name="Text 146"/>
          <p:cNvSpPr txBox="1"/>
          <p:nvPr/>
        </p:nvSpPr>
        <p:spPr>
          <a:xfrm>
            <a:off x="306580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5" name="Shape 147"/>
          <p:cNvSpPr/>
          <p:nvPr/>
        </p:nvSpPr>
        <p:spPr>
          <a:xfrm>
            <a:off x="3404128" y="3289586"/>
            <a:ext cx="777240" cy="119299"/>
          </a:xfrm>
          <a:prstGeom prst="rect">
            <a:avLst/>
          </a:prstGeom>
          <a:solidFill>
            <a:srgbClr val="FFFFFF"/>
          </a:solidFill>
          <a:ln w="6350">
            <a:solidFill>
              <a:srgbClr val="E2E2E2"/>
            </a:solidFill>
            <a:prstDash val="solid"/>
          </a:ln>
        </p:spPr>
      </p:sp>
      <p:sp>
        <p:nvSpPr>
          <p:cNvPr id="156" name="Text 148"/>
          <p:cNvSpPr txBox="1"/>
          <p:nvPr/>
        </p:nvSpPr>
        <p:spPr>
          <a:xfrm>
            <a:off x="3431560" y="3289586"/>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68580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4108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196852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52568" y="3408885"/>
            <a:ext cx="685800" cy="119299"/>
          </a:xfrm>
          <a:prstGeom prst="rect">
            <a:avLst/>
          </a:prstGeom>
          <a:solidFill>
            <a:srgbClr val="FFFFFF"/>
          </a:solidFill>
          <a:ln w="6350">
            <a:solidFill>
              <a:srgbClr val="E2E2E2"/>
            </a:solidFill>
            <a:prstDash val="solid"/>
          </a:ln>
        </p:spPr>
      </p:sp>
      <p:sp>
        <p:nvSpPr>
          <p:cNvPr id="166" name="Text 158"/>
          <p:cNvSpPr txBox="1"/>
          <p:nvPr/>
        </p:nvSpPr>
        <p:spPr>
          <a:xfrm>
            <a:off x="238000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7" name="Shape 159"/>
          <p:cNvSpPr/>
          <p:nvPr/>
        </p:nvSpPr>
        <p:spPr>
          <a:xfrm>
            <a:off x="3038368" y="3408885"/>
            <a:ext cx="365760" cy="119299"/>
          </a:xfrm>
          <a:prstGeom prst="rect">
            <a:avLst/>
          </a:prstGeom>
          <a:solidFill>
            <a:srgbClr val="FFFFFF"/>
          </a:solidFill>
          <a:ln w="6350">
            <a:solidFill>
              <a:srgbClr val="E2E2E2"/>
            </a:solidFill>
            <a:prstDash val="solid"/>
          </a:ln>
        </p:spPr>
      </p:sp>
      <p:sp>
        <p:nvSpPr>
          <p:cNvPr id="168" name="Text 160"/>
          <p:cNvSpPr txBox="1"/>
          <p:nvPr/>
        </p:nvSpPr>
        <p:spPr>
          <a:xfrm>
            <a:off x="306580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69" name="Shape 161"/>
          <p:cNvSpPr/>
          <p:nvPr/>
        </p:nvSpPr>
        <p:spPr>
          <a:xfrm>
            <a:off x="3404128" y="3408885"/>
            <a:ext cx="777240" cy="119299"/>
          </a:xfrm>
          <a:prstGeom prst="rect">
            <a:avLst/>
          </a:prstGeom>
          <a:solidFill>
            <a:srgbClr val="FFFFFF"/>
          </a:solidFill>
          <a:ln w="6350">
            <a:solidFill>
              <a:srgbClr val="E2E2E2"/>
            </a:solidFill>
            <a:prstDash val="solid"/>
          </a:ln>
        </p:spPr>
      </p:sp>
      <p:sp>
        <p:nvSpPr>
          <p:cNvPr id="170" name="Text 162"/>
          <p:cNvSpPr txBox="1"/>
          <p:nvPr/>
        </p:nvSpPr>
        <p:spPr>
          <a:xfrm>
            <a:off x="3431560" y="3408885"/>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68580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4108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196852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52568" y="3528185"/>
            <a:ext cx="685800" cy="119299"/>
          </a:xfrm>
          <a:prstGeom prst="rect">
            <a:avLst/>
          </a:prstGeom>
          <a:solidFill>
            <a:srgbClr val="FFFFFF"/>
          </a:solidFill>
          <a:ln w="6350">
            <a:solidFill>
              <a:srgbClr val="E2E2E2"/>
            </a:solidFill>
            <a:prstDash val="solid"/>
          </a:ln>
        </p:spPr>
      </p:sp>
      <p:sp>
        <p:nvSpPr>
          <p:cNvPr id="180" name="Text 172"/>
          <p:cNvSpPr txBox="1"/>
          <p:nvPr/>
        </p:nvSpPr>
        <p:spPr>
          <a:xfrm>
            <a:off x="238000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1" name="Shape 173"/>
          <p:cNvSpPr/>
          <p:nvPr/>
        </p:nvSpPr>
        <p:spPr>
          <a:xfrm>
            <a:off x="3038368" y="3528185"/>
            <a:ext cx="365760" cy="119299"/>
          </a:xfrm>
          <a:prstGeom prst="rect">
            <a:avLst/>
          </a:prstGeom>
          <a:solidFill>
            <a:srgbClr val="FFFFFF"/>
          </a:solidFill>
          <a:ln w="6350">
            <a:solidFill>
              <a:srgbClr val="E2E2E2"/>
            </a:solidFill>
            <a:prstDash val="solid"/>
          </a:ln>
        </p:spPr>
      </p:sp>
      <p:sp>
        <p:nvSpPr>
          <p:cNvPr id="182" name="Text 174"/>
          <p:cNvSpPr txBox="1"/>
          <p:nvPr/>
        </p:nvSpPr>
        <p:spPr>
          <a:xfrm>
            <a:off x="306580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3" name="Shape 175"/>
          <p:cNvSpPr/>
          <p:nvPr/>
        </p:nvSpPr>
        <p:spPr>
          <a:xfrm>
            <a:off x="3404128" y="3528185"/>
            <a:ext cx="777240" cy="119299"/>
          </a:xfrm>
          <a:prstGeom prst="rect">
            <a:avLst/>
          </a:prstGeom>
          <a:solidFill>
            <a:srgbClr val="FFFFFF"/>
          </a:solidFill>
          <a:ln w="6350">
            <a:solidFill>
              <a:srgbClr val="E2E2E2"/>
            </a:solidFill>
            <a:prstDash val="solid"/>
          </a:ln>
        </p:spPr>
      </p:sp>
      <p:sp>
        <p:nvSpPr>
          <p:cNvPr id="184" name="Text 176"/>
          <p:cNvSpPr txBox="1"/>
          <p:nvPr/>
        </p:nvSpPr>
        <p:spPr>
          <a:xfrm>
            <a:off x="3431560" y="3528185"/>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68580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4108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196852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52568" y="3647484"/>
            <a:ext cx="685800" cy="119299"/>
          </a:xfrm>
          <a:prstGeom prst="rect">
            <a:avLst/>
          </a:prstGeom>
          <a:solidFill>
            <a:srgbClr val="FFFFFF"/>
          </a:solidFill>
          <a:ln w="6350">
            <a:solidFill>
              <a:srgbClr val="E2E2E2"/>
            </a:solidFill>
            <a:prstDash val="solid"/>
          </a:ln>
        </p:spPr>
      </p:sp>
      <p:sp>
        <p:nvSpPr>
          <p:cNvPr id="194" name="Text 186"/>
          <p:cNvSpPr txBox="1"/>
          <p:nvPr/>
        </p:nvSpPr>
        <p:spPr>
          <a:xfrm>
            <a:off x="238000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5" name="Shape 187"/>
          <p:cNvSpPr/>
          <p:nvPr/>
        </p:nvSpPr>
        <p:spPr>
          <a:xfrm>
            <a:off x="3038368" y="3647484"/>
            <a:ext cx="365760" cy="119299"/>
          </a:xfrm>
          <a:prstGeom prst="rect">
            <a:avLst/>
          </a:prstGeom>
          <a:solidFill>
            <a:srgbClr val="FFFFFF"/>
          </a:solidFill>
          <a:ln w="6350">
            <a:solidFill>
              <a:srgbClr val="E2E2E2"/>
            </a:solidFill>
            <a:prstDash val="solid"/>
          </a:ln>
        </p:spPr>
      </p:sp>
      <p:sp>
        <p:nvSpPr>
          <p:cNvPr id="196" name="Text 188"/>
          <p:cNvSpPr txBox="1"/>
          <p:nvPr/>
        </p:nvSpPr>
        <p:spPr>
          <a:xfrm>
            <a:off x="306580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7" name="Shape 189"/>
          <p:cNvSpPr/>
          <p:nvPr/>
        </p:nvSpPr>
        <p:spPr>
          <a:xfrm>
            <a:off x="3404128" y="3647484"/>
            <a:ext cx="777240" cy="119299"/>
          </a:xfrm>
          <a:prstGeom prst="rect">
            <a:avLst/>
          </a:prstGeom>
          <a:solidFill>
            <a:srgbClr val="FFFFFF"/>
          </a:solidFill>
          <a:ln w="6350">
            <a:solidFill>
              <a:srgbClr val="E2E2E2"/>
            </a:solidFill>
            <a:prstDash val="solid"/>
          </a:ln>
        </p:spPr>
      </p:sp>
      <p:sp>
        <p:nvSpPr>
          <p:cNvPr id="198" name="Text 190"/>
          <p:cNvSpPr txBox="1"/>
          <p:nvPr/>
        </p:nvSpPr>
        <p:spPr>
          <a:xfrm>
            <a:off x="3431560" y="3647484"/>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99" name="Shape 191"/>
          <p:cNvSpPr/>
          <p:nvPr/>
        </p:nvSpPr>
        <p:spPr>
          <a:xfrm>
            <a:off x="3404128" y="2812388"/>
            <a:ext cx="777240" cy="954396"/>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Data</a:t>
            </a:r>
            <a:endParaRPr lang="en-US" sz="700" dirty="0"/>
          </a:p>
        </p:txBody>
      </p:sp>
      <p:sp>
        <p:nvSpPr>
          <p:cNvPr id="204" name="Text 196"/>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205" name="Text 197"/>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206" name="Shape 198"/>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207" name="Shape 199"/>
          <p:cNvSpPr/>
          <p:nvPr/>
        </p:nvSpPr>
        <p:spPr>
          <a:xfrm>
            <a:off x="5310104" y="2198885"/>
            <a:ext cx="274320" cy="274320"/>
          </a:xfrm>
          <a:prstGeom prst="ellipse">
            <a:avLst/>
          </a:prstGeom>
          <a:solidFill>
            <a:srgbClr val="E53935"/>
          </a:solidFill>
          <a:ln w="12700">
            <a:solidFill>
              <a:srgbClr val="FFFFFF"/>
            </a:solidFill>
            <a:prstDash val="solid"/>
          </a:ln>
        </p:spPr>
      </p:sp>
      <p:sp>
        <p:nvSpPr>
          <p:cNvPr id="208" name="Text 200"/>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9"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210" name="Shape 201"/>
          <p:cNvSpPr/>
          <p:nvPr/>
        </p:nvSpPr>
        <p:spPr>
          <a:xfrm>
            <a:off x="3385840" y="2794100"/>
            <a:ext cx="813816" cy="990972"/>
          </a:xfrm>
          <a:prstGeom prst="roundRect">
            <a:avLst>
              <a:gd name="adj" fmla="val 5618"/>
            </a:avLst>
          </a:prstGeom>
          <a:solidFill>
            <a:srgbClr val="FFFFFF">
              <a:alpha val="0"/>
            </a:srgbClr>
          </a:solidFill>
          <a:ln w="31750">
            <a:solidFill>
              <a:srgbClr val="E53935"/>
            </a:solidFill>
            <a:prstDash val="solid"/>
          </a:ln>
        </p:spPr>
      </p:sp>
      <p:sp>
        <p:nvSpPr>
          <p:cNvPr id="211" name="Shape 202"/>
          <p:cNvSpPr/>
          <p:nvPr/>
        </p:nvSpPr>
        <p:spPr>
          <a:xfrm>
            <a:off x="4062496" y="2656940"/>
            <a:ext cx="274320" cy="274320"/>
          </a:xfrm>
          <a:prstGeom prst="ellipse">
            <a:avLst/>
          </a:prstGeom>
          <a:solidFill>
            <a:srgbClr val="E53935"/>
          </a:solidFill>
          <a:ln w="12700">
            <a:solidFill>
              <a:srgbClr val="FFFFFF"/>
            </a:solidFill>
            <a:prstDash val="solid"/>
          </a:ln>
        </p:spPr>
      </p:sp>
      <p:sp>
        <p:nvSpPr>
          <p:cNvPr id="212" name="Text 203"/>
          <p:cNvSpPr txBox="1"/>
          <p:nvPr/>
        </p:nvSpPr>
        <p:spPr>
          <a:xfrm>
            <a:off x="406249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3" name="Image 7" descr="preencoded.png">    </p:cNvPr>
          <p:cNvPicPr>
            <a:picLocks noChangeAspect="1"/>
          </p:cNvPicPr>
          <p:nvPr/>
        </p:nvPicPr>
        <p:blipFill>
          <a:blip r:embed="rId8"/>
          <a:stretch>
            <a:fillRect/>
          </a:stretch>
        </p:blipFill>
        <p:spPr>
          <a:xfrm>
            <a:off x="3831610" y="3337306"/>
            <a:ext cx="237744" cy="237744"/>
          </a:xfrm>
          <a:prstGeom prst="rect">
            <a:avLst/>
          </a:prstGeom>
        </p:spPr>
      </p:pic>
      <p:sp>
        <p:nvSpPr>
          <p:cNvPr id="214" name="Text 20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15" name="Text 20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rumus di F2, salin ke bawah</a:t>
            </a:r>
            <a:endParaRPr lang="en-US" sz="1800" dirty="0"/>
          </a:p>
        </p:txBody>
      </p:sp>
      <p:sp>
        <p:nvSpPr>
          <p:cNvPr id="216" name="Text 20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lembar Data, beri judul kolom Status. Ketik rumus di F2 lalu seret fill handle ke bawah.</a:t>
            </a:r>
            <a:endParaRPr lang="en-US" sz="1300" dirty="0"/>
          </a:p>
        </p:txBody>
      </p:sp>
      <p:sp>
        <p:nvSpPr>
          <p:cNvPr id="217" name="Shape 20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18"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219" name="Text 20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rumus dari AI memakai titik koma (;) dan Sheets menolak, ganti dengan koma (,), atau sebaliknya.</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68580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4108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4108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52568" y="2573789"/>
            <a:ext cx="685800" cy="119299"/>
          </a:xfrm>
          <a:prstGeom prst="rect">
            <a:avLst/>
          </a:prstGeom>
          <a:solidFill>
            <a:srgbClr val="F8F9FA"/>
          </a:solidFill>
          <a:ln w="6350">
            <a:solidFill>
              <a:srgbClr val="DDDDDD"/>
            </a:solidFill>
            <a:prstDash val="solid"/>
          </a:ln>
        </p:spPr>
      </p:sp>
      <p:sp>
        <p:nvSpPr>
          <p:cNvPr id="68" name="Text 60"/>
          <p:cNvSpPr txBox="1"/>
          <p:nvPr/>
        </p:nvSpPr>
        <p:spPr>
          <a:xfrm>
            <a:off x="235256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038368" y="2573789"/>
            <a:ext cx="365760" cy="119299"/>
          </a:xfrm>
          <a:prstGeom prst="rect">
            <a:avLst/>
          </a:prstGeom>
          <a:solidFill>
            <a:srgbClr val="F8F9FA"/>
          </a:solidFill>
          <a:ln w="6350">
            <a:solidFill>
              <a:srgbClr val="DDDDDD"/>
            </a:solidFill>
            <a:prstDash val="solid"/>
          </a:ln>
        </p:spPr>
      </p:sp>
      <p:sp>
        <p:nvSpPr>
          <p:cNvPr id="70" name="Text 62"/>
          <p:cNvSpPr txBox="1"/>
          <p:nvPr/>
        </p:nvSpPr>
        <p:spPr>
          <a:xfrm>
            <a:off x="303836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404128" y="2573789"/>
            <a:ext cx="777240" cy="119299"/>
          </a:xfrm>
          <a:prstGeom prst="rect">
            <a:avLst/>
          </a:prstGeom>
          <a:solidFill>
            <a:srgbClr val="F8F9FA"/>
          </a:solidFill>
          <a:ln w="6350">
            <a:solidFill>
              <a:srgbClr val="DDDDDD"/>
            </a:solidFill>
            <a:prstDash val="solid"/>
          </a:ln>
        </p:spPr>
      </p:sp>
      <p:sp>
        <p:nvSpPr>
          <p:cNvPr id="72" name="Text 64"/>
          <p:cNvSpPr txBox="1"/>
          <p:nvPr/>
        </p:nvSpPr>
        <p:spPr>
          <a:xfrm>
            <a:off x="340412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68580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4108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196852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52568" y="2693089"/>
            <a:ext cx="685800" cy="119299"/>
          </a:xfrm>
          <a:prstGeom prst="rect">
            <a:avLst/>
          </a:prstGeom>
          <a:solidFill>
            <a:srgbClr val="0F4C3A"/>
          </a:solidFill>
          <a:ln w="6350">
            <a:solidFill>
              <a:srgbClr val="E2E2E2"/>
            </a:solidFill>
            <a:prstDash val="solid"/>
          </a:ln>
        </p:spPr>
      </p:sp>
      <p:sp>
        <p:nvSpPr>
          <p:cNvPr id="82" name="Text 74"/>
          <p:cNvSpPr txBox="1"/>
          <p:nvPr/>
        </p:nvSpPr>
        <p:spPr>
          <a:xfrm>
            <a:off x="238000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3" name="Shape 75"/>
          <p:cNvSpPr/>
          <p:nvPr/>
        </p:nvSpPr>
        <p:spPr>
          <a:xfrm>
            <a:off x="3038368" y="2693089"/>
            <a:ext cx="365760" cy="119299"/>
          </a:xfrm>
          <a:prstGeom prst="rect">
            <a:avLst/>
          </a:prstGeom>
          <a:solidFill>
            <a:srgbClr val="0F4C3A"/>
          </a:solidFill>
          <a:ln w="6350">
            <a:solidFill>
              <a:srgbClr val="E2E2E2"/>
            </a:solidFill>
            <a:prstDash val="solid"/>
          </a:ln>
        </p:spPr>
      </p:sp>
      <p:sp>
        <p:nvSpPr>
          <p:cNvPr id="84" name="Text 76"/>
          <p:cNvSpPr txBox="1"/>
          <p:nvPr/>
        </p:nvSpPr>
        <p:spPr>
          <a:xfrm>
            <a:off x="306580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5" name="Shape 77"/>
          <p:cNvSpPr/>
          <p:nvPr/>
        </p:nvSpPr>
        <p:spPr>
          <a:xfrm>
            <a:off x="3404128" y="2693089"/>
            <a:ext cx="777240" cy="119299"/>
          </a:xfrm>
          <a:prstGeom prst="rect">
            <a:avLst/>
          </a:prstGeom>
          <a:solidFill>
            <a:srgbClr val="0F4C3A"/>
          </a:solidFill>
          <a:ln w="6350">
            <a:solidFill>
              <a:srgbClr val="E2E2E2"/>
            </a:solidFill>
            <a:prstDash val="solid"/>
          </a:ln>
        </p:spPr>
      </p:sp>
      <p:sp>
        <p:nvSpPr>
          <p:cNvPr id="86" name="Text 78"/>
          <p:cNvSpPr txBox="1"/>
          <p:nvPr/>
        </p:nvSpPr>
        <p:spPr>
          <a:xfrm>
            <a:off x="343156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Status</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68580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4108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196852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52568" y="2812388"/>
            <a:ext cx="685800" cy="119299"/>
          </a:xfrm>
          <a:prstGeom prst="rect">
            <a:avLst/>
          </a:prstGeom>
          <a:solidFill>
            <a:srgbClr val="FFFFFF"/>
          </a:solidFill>
          <a:ln w="6350">
            <a:solidFill>
              <a:srgbClr val="E2E2E2"/>
            </a:solidFill>
            <a:prstDash val="solid"/>
          </a:ln>
        </p:spPr>
      </p:sp>
      <p:sp>
        <p:nvSpPr>
          <p:cNvPr id="96" name="Text 88"/>
          <p:cNvSpPr txBox="1"/>
          <p:nvPr/>
        </p:nvSpPr>
        <p:spPr>
          <a:xfrm>
            <a:off x="238000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7" name="Shape 89"/>
          <p:cNvSpPr/>
          <p:nvPr/>
        </p:nvSpPr>
        <p:spPr>
          <a:xfrm>
            <a:off x="3038368" y="2812388"/>
            <a:ext cx="365760" cy="119299"/>
          </a:xfrm>
          <a:prstGeom prst="rect">
            <a:avLst/>
          </a:prstGeom>
          <a:solidFill>
            <a:srgbClr val="FFFFFF"/>
          </a:solidFill>
          <a:ln w="6350">
            <a:solidFill>
              <a:srgbClr val="E2E2E2"/>
            </a:solidFill>
            <a:prstDash val="solid"/>
          </a:ln>
        </p:spPr>
      </p:sp>
      <p:sp>
        <p:nvSpPr>
          <p:cNvPr id="98" name="Text 90"/>
          <p:cNvSpPr txBox="1"/>
          <p:nvPr/>
        </p:nvSpPr>
        <p:spPr>
          <a:xfrm>
            <a:off x="306580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99" name="Shape 91"/>
          <p:cNvSpPr/>
          <p:nvPr/>
        </p:nvSpPr>
        <p:spPr>
          <a:xfrm>
            <a:off x="3404128" y="2812388"/>
            <a:ext cx="777240" cy="119299"/>
          </a:xfrm>
          <a:prstGeom prst="rect">
            <a:avLst/>
          </a:prstGeom>
          <a:solidFill>
            <a:srgbClr val="FFFFFF"/>
          </a:solidFill>
          <a:ln w="6350">
            <a:solidFill>
              <a:srgbClr val="E2E2E2"/>
            </a:solidFill>
            <a:prstDash val="solid"/>
          </a:ln>
        </p:spPr>
      </p:sp>
      <p:sp>
        <p:nvSpPr>
          <p:cNvPr id="100" name="Text 92"/>
          <p:cNvSpPr txBox="1"/>
          <p:nvPr/>
        </p:nvSpPr>
        <p:spPr>
          <a:xfrm>
            <a:off x="343156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68580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4108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196852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52568" y="2931688"/>
            <a:ext cx="685800" cy="119299"/>
          </a:xfrm>
          <a:prstGeom prst="rect">
            <a:avLst/>
          </a:prstGeom>
          <a:solidFill>
            <a:srgbClr val="FFFFFF"/>
          </a:solidFill>
          <a:ln w="6350">
            <a:solidFill>
              <a:srgbClr val="E2E2E2"/>
            </a:solidFill>
            <a:prstDash val="solid"/>
          </a:ln>
        </p:spPr>
      </p:sp>
      <p:sp>
        <p:nvSpPr>
          <p:cNvPr id="110" name="Text 102"/>
          <p:cNvSpPr txBox="1"/>
          <p:nvPr/>
        </p:nvSpPr>
        <p:spPr>
          <a:xfrm>
            <a:off x="238000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1" name="Shape 103"/>
          <p:cNvSpPr/>
          <p:nvPr/>
        </p:nvSpPr>
        <p:spPr>
          <a:xfrm>
            <a:off x="3038368" y="2931688"/>
            <a:ext cx="365760" cy="119299"/>
          </a:xfrm>
          <a:prstGeom prst="rect">
            <a:avLst/>
          </a:prstGeom>
          <a:solidFill>
            <a:srgbClr val="FFFFFF"/>
          </a:solidFill>
          <a:ln w="6350">
            <a:solidFill>
              <a:srgbClr val="E2E2E2"/>
            </a:solidFill>
            <a:prstDash val="solid"/>
          </a:ln>
        </p:spPr>
      </p:sp>
      <p:sp>
        <p:nvSpPr>
          <p:cNvPr id="112" name="Text 104"/>
          <p:cNvSpPr txBox="1"/>
          <p:nvPr/>
        </p:nvSpPr>
        <p:spPr>
          <a:xfrm>
            <a:off x="306580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3" name="Shape 105"/>
          <p:cNvSpPr/>
          <p:nvPr/>
        </p:nvSpPr>
        <p:spPr>
          <a:xfrm>
            <a:off x="3404128" y="2931688"/>
            <a:ext cx="777240" cy="119299"/>
          </a:xfrm>
          <a:prstGeom prst="rect">
            <a:avLst/>
          </a:prstGeom>
          <a:solidFill>
            <a:srgbClr val="FFFFFF"/>
          </a:solidFill>
          <a:ln w="6350">
            <a:solidFill>
              <a:srgbClr val="E2E2E2"/>
            </a:solidFill>
            <a:prstDash val="solid"/>
          </a:ln>
        </p:spPr>
      </p:sp>
      <p:sp>
        <p:nvSpPr>
          <p:cNvPr id="114" name="Text 106"/>
          <p:cNvSpPr txBox="1"/>
          <p:nvPr/>
        </p:nvSpPr>
        <p:spPr>
          <a:xfrm>
            <a:off x="343156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68580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4108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196852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52568" y="3050987"/>
            <a:ext cx="685800" cy="119299"/>
          </a:xfrm>
          <a:prstGeom prst="rect">
            <a:avLst/>
          </a:prstGeom>
          <a:solidFill>
            <a:srgbClr val="FFFFFF"/>
          </a:solidFill>
          <a:ln w="6350">
            <a:solidFill>
              <a:srgbClr val="E2E2E2"/>
            </a:solidFill>
            <a:prstDash val="solid"/>
          </a:ln>
        </p:spPr>
      </p:sp>
      <p:sp>
        <p:nvSpPr>
          <p:cNvPr id="124" name="Text 116"/>
          <p:cNvSpPr txBox="1"/>
          <p:nvPr/>
        </p:nvSpPr>
        <p:spPr>
          <a:xfrm>
            <a:off x="238000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5" name="Shape 117"/>
          <p:cNvSpPr/>
          <p:nvPr/>
        </p:nvSpPr>
        <p:spPr>
          <a:xfrm>
            <a:off x="3038368" y="3050987"/>
            <a:ext cx="365760" cy="119299"/>
          </a:xfrm>
          <a:prstGeom prst="rect">
            <a:avLst/>
          </a:prstGeom>
          <a:solidFill>
            <a:srgbClr val="FFFFFF"/>
          </a:solidFill>
          <a:ln w="6350">
            <a:solidFill>
              <a:srgbClr val="E2E2E2"/>
            </a:solidFill>
            <a:prstDash val="solid"/>
          </a:ln>
        </p:spPr>
      </p:sp>
      <p:sp>
        <p:nvSpPr>
          <p:cNvPr id="126" name="Text 118"/>
          <p:cNvSpPr txBox="1"/>
          <p:nvPr/>
        </p:nvSpPr>
        <p:spPr>
          <a:xfrm>
            <a:off x="306580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7" name="Shape 119"/>
          <p:cNvSpPr/>
          <p:nvPr/>
        </p:nvSpPr>
        <p:spPr>
          <a:xfrm>
            <a:off x="3404128" y="3050987"/>
            <a:ext cx="777240" cy="119299"/>
          </a:xfrm>
          <a:prstGeom prst="rect">
            <a:avLst/>
          </a:prstGeom>
          <a:solidFill>
            <a:srgbClr val="FFFFFF"/>
          </a:solidFill>
          <a:ln w="6350">
            <a:solidFill>
              <a:srgbClr val="E2E2E2"/>
            </a:solidFill>
            <a:prstDash val="solid"/>
          </a:ln>
        </p:spPr>
      </p:sp>
      <p:sp>
        <p:nvSpPr>
          <p:cNvPr id="128" name="Text 120"/>
          <p:cNvSpPr txBox="1"/>
          <p:nvPr/>
        </p:nvSpPr>
        <p:spPr>
          <a:xfrm>
            <a:off x="343156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68580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4108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196852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52568" y="3170287"/>
            <a:ext cx="685800" cy="119299"/>
          </a:xfrm>
          <a:prstGeom prst="rect">
            <a:avLst/>
          </a:prstGeom>
          <a:solidFill>
            <a:srgbClr val="FFFFFF"/>
          </a:solidFill>
          <a:ln w="6350">
            <a:solidFill>
              <a:srgbClr val="E2E2E2"/>
            </a:solidFill>
            <a:prstDash val="solid"/>
          </a:ln>
        </p:spPr>
      </p:sp>
      <p:sp>
        <p:nvSpPr>
          <p:cNvPr id="138" name="Text 130"/>
          <p:cNvSpPr txBox="1"/>
          <p:nvPr/>
        </p:nvSpPr>
        <p:spPr>
          <a:xfrm>
            <a:off x="238000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39" name="Shape 131"/>
          <p:cNvSpPr/>
          <p:nvPr/>
        </p:nvSpPr>
        <p:spPr>
          <a:xfrm>
            <a:off x="3038368" y="3170287"/>
            <a:ext cx="365760" cy="119299"/>
          </a:xfrm>
          <a:prstGeom prst="rect">
            <a:avLst/>
          </a:prstGeom>
          <a:solidFill>
            <a:srgbClr val="FFFFFF"/>
          </a:solidFill>
          <a:ln w="6350">
            <a:solidFill>
              <a:srgbClr val="E2E2E2"/>
            </a:solidFill>
            <a:prstDash val="solid"/>
          </a:ln>
        </p:spPr>
      </p:sp>
      <p:sp>
        <p:nvSpPr>
          <p:cNvPr id="140" name="Text 132"/>
          <p:cNvSpPr txBox="1"/>
          <p:nvPr/>
        </p:nvSpPr>
        <p:spPr>
          <a:xfrm>
            <a:off x="306580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1" name="Shape 133"/>
          <p:cNvSpPr/>
          <p:nvPr/>
        </p:nvSpPr>
        <p:spPr>
          <a:xfrm>
            <a:off x="3404128" y="3170287"/>
            <a:ext cx="777240" cy="119299"/>
          </a:xfrm>
          <a:prstGeom prst="rect">
            <a:avLst/>
          </a:prstGeom>
          <a:solidFill>
            <a:srgbClr val="FFFFFF"/>
          </a:solidFill>
          <a:ln w="6350">
            <a:solidFill>
              <a:srgbClr val="E2E2E2"/>
            </a:solidFill>
            <a:prstDash val="solid"/>
          </a:ln>
        </p:spPr>
      </p:sp>
      <p:sp>
        <p:nvSpPr>
          <p:cNvPr id="142" name="Text 134"/>
          <p:cNvSpPr txBox="1"/>
          <p:nvPr/>
        </p:nvSpPr>
        <p:spPr>
          <a:xfrm>
            <a:off x="343156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68580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4108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196852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52568" y="3289586"/>
            <a:ext cx="685800" cy="119299"/>
          </a:xfrm>
          <a:prstGeom prst="rect">
            <a:avLst/>
          </a:prstGeom>
          <a:solidFill>
            <a:srgbClr val="FFFFFF"/>
          </a:solidFill>
          <a:ln w="6350">
            <a:solidFill>
              <a:srgbClr val="E2E2E2"/>
            </a:solidFill>
            <a:prstDash val="solid"/>
          </a:ln>
        </p:spPr>
      </p:sp>
      <p:sp>
        <p:nvSpPr>
          <p:cNvPr id="152" name="Text 144"/>
          <p:cNvSpPr txBox="1"/>
          <p:nvPr/>
        </p:nvSpPr>
        <p:spPr>
          <a:xfrm>
            <a:off x="238000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3" name="Shape 145"/>
          <p:cNvSpPr/>
          <p:nvPr/>
        </p:nvSpPr>
        <p:spPr>
          <a:xfrm>
            <a:off x="3038368" y="3289586"/>
            <a:ext cx="365760" cy="119299"/>
          </a:xfrm>
          <a:prstGeom prst="rect">
            <a:avLst/>
          </a:prstGeom>
          <a:solidFill>
            <a:srgbClr val="FFFFFF"/>
          </a:solidFill>
          <a:ln w="6350">
            <a:solidFill>
              <a:srgbClr val="E2E2E2"/>
            </a:solidFill>
            <a:prstDash val="solid"/>
          </a:ln>
        </p:spPr>
      </p:sp>
      <p:sp>
        <p:nvSpPr>
          <p:cNvPr id="154" name="Text 146"/>
          <p:cNvSpPr txBox="1"/>
          <p:nvPr/>
        </p:nvSpPr>
        <p:spPr>
          <a:xfrm>
            <a:off x="306580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5" name="Shape 147"/>
          <p:cNvSpPr/>
          <p:nvPr/>
        </p:nvSpPr>
        <p:spPr>
          <a:xfrm>
            <a:off x="3404128" y="3289586"/>
            <a:ext cx="777240" cy="119299"/>
          </a:xfrm>
          <a:prstGeom prst="rect">
            <a:avLst/>
          </a:prstGeom>
          <a:solidFill>
            <a:srgbClr val="FFFFFF"/>
          </a:solidFill>
          <a:ln w="6350">
            <a:solidFill>
              <a:srgbClr val="E2E2E2"/>
            </a:solidFill>
            <a:prstDash val="solid"/>
          </a:ln>
        </p:spPr>
      </p:sp>
      <p:sp>
        <p:nvSpPr>
          <p:cNvPr id="156" name="Text 148"/>
          <p:cNvSpPr txBox="1"/>
          <p:nvPr/>
        </p:nvSpPr>
        <p:spPr>
          <a:xfrm>
            <a:off x="3431560" y="3289586"/>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68580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4108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196852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52568" y="3408885"/>
            <a:ext cx="685800" cy="119299"/>
          </a:xfrm>
          <a:prstGeom prst="rect">
            <a:avLst/>
          </a:prstGeom>
          <a:solidFill>
            <a:srgbClr val="FFFFFF"/>
          </a:solidFill>
          <a:ln w="6350">
            <a:solidFill>
              <a:srgbClr val="E2E2E2"/>
            </a:solidFill>
            <a:prstDash val="solid"/>
          </a:ln>
        </p:spPr>
      </p:sp>
      <p:sp>
        <p:nvSpPr>
          <p:cNvPr id="166" name="Text 158"/>
          <p:cNvSpPr txBox="1"/>
          <p:nvPr/>
        </p:nvSpPr>
        <p:spPr>
          <a:xfrm>
            <a:off x="238000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7" name="Shape 159"/>
          <p:cNvSpPr/>
          <p:nvPr/>
        </p:nvSpPr>
        <p:spPr>
          <a:xfrm>
            <a:off x="3038368" y="3408885"/>
            <a:ext cx="365760" cy="119299"/>
          </a:xfrm>
          <a:prstGeom prst="rect">
            <a:avLst/>
          </a:prstGeom>
          <a:solidFill>
            <a:srgbClr val="FFFFFF"/>
          </a:solidFill>
          <a:ln w="6350">
            <a:solidFill>
              <a:srgbClr val="E2E2E2"/>
            </a:solidFill>
            <a:prstDash val="solid"/>
          </a:ln>
        </p:spPr>
      </p:sp>
      <p:sp>
        <p:nvSpPr>
          <p:cNvPr id="168" name="Text 160"/>
          <p:cNvSpPr txBox="1"/>
          <p:nvPr/>
        </p:nvSpPr>
        <p:spPr>
          <a:xfrm>
            <a:off x="306580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69" name="Shape 161"/>
          <p:cNvSpPr/>
          <p:nvPr/>
        </p:nvSpPr>
        <p:spPr>
          <a:xfrm>
            <a:off x="3404128" y="3408885"/>
            <a:ext cx="777240" cy="119299"/>
          </a:xfrm>
          <a:prstGeom prst="rect">
            <a:avLst/>
          </a:prstGeom>
          <a:solidFill>
            <a:srgbClr val="FFFFFF"/>
          </a:solidFill>
          <a:ln w="6350">
            <a:solidFill>
              <a:srgbClr val="E2E2E2"/>
            </a:solidFill>
            <a:prstDash val="solid"/>
          </a:ln>
        </p:spPr>
      </p:sp>
      <p:sp>
        <p:nvSpPr>
          <p:cNvPr id="170" name="Text 162"/>
          <p:cNvSpPr txBox="1"/>
          <p:nvPr/>
        </p:nvSpPr>
        <p:spPr>
          <a:xfrm>
            <a:off x="3431560" y="3408885"/>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68580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4108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196852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52568" y="3528185"/>
            <a:ext cx="685800" cy="119299"/>
          </a:xfrm>
          <a:prstGeom prst="rect">
            <a:avLst/>
          </a:prstGeom>
          <a:solidFill>
            <a:srgbClr val="FFFFFF"/>
          </a:solidFill>
          <a:ln w="6350">
            <a:solidFill>
              <a:srgbClr val="E2E2E2"/>
            </a:solidFill>
            <a:prstDash val="solid"/>
          </a:ln>
        </p:spPr>
      </p:sp>
      <p:sp>
        <p:nvSpPr>
          <p:cNvPr id="180" name="Text 172"/>
          <p:cNvSpPr txBox="1"/>
          <p:nvPr/>
        </p:nvSpPr>
        <p:spPr>
          <a:xfrm>
            <a:off x="238000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1" name="Shape 173"/>
          <p:cNvSpPr/>
          <p:nvPr/>
        </p:nvSpPr>
        <p:spPr>
          <a:xfrm>
            <a:off x="3038368" y="3528185"/>
            <a:ext cx="365760" cy="119299"/>
          </a:xfrm>
          <a:prstGeom prst="rect">
            <a:avLst/>
          </a:prstGeom>
          <a:solidFill>
            <a:srgbClr val="FFFFFF"/>
          </a:solidFill>
          <a:ln w="6350">
            <a:solidFill>
              <a:srgbClr val="E2E2E2"/>
            </a:solidFill>
            <a:prstDash val="solid"/>
          </a:ln>
        </p:spPr>
      </p:sp>
      <p:sp>
        <p:nvSpPr>
          <p:cNvPr id="182" name="Text 174"/>
          <p:cNvSpPr txBox="1"/>
          <p:nvPr/>
        </p:nvSpPr>
        <p:spPr>
          <a:xfrm>
            <a:off x="306580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3" name="Shape 175"/>
          <p:cNvSpPr/>
          <p:nvPr/>
        </p:nvSpPr>
        <p:spPr>
          <a:xfrm>
            <a:off x="3404128" y="3528185"/>
            <a:ext cx="777240" cy="119299"/>
          </a:xfrm>
          <a:prstGeom prst="rect">
            <a:avLst/>
          </a:prstGeom>
          <a:solidFill>
            <a:srgbClr val="FFFFFF"/>
          </a:solidFill>
          <a:ln w="6350">
            <a:solidFill>
              <a:srgbClr val="E2E2E2"/>
            </a:solidFill>
            <a:prstDash val="solid"/>
          </a:ln>
        </p:spPr>
      </p:sp>
      <p:sp>
        <p:nvSpPr>
          <p:cNvPr id="184" name="Text 176"/>
          <p:cNvSpPr txBox="1"/>
          <p:nvPr/>
        </p:nvSpPr>
        <p:spPr>
          <a:xfrm>
            <a:off x="3431560" y="3528185"/>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68580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4108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196852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52568" y="3647484"/>
            <a:ext cx="685800" cy="119299"/>
          </a:xfrm>
          <a:prstGeom prst="rect">
            <a:avLst/>
          </a:prstGeom>
          <a:solidFill>
            <a:srgbClr val="FFFFFF"/>
          </a:solidFill>
          <a:ln w="6350">
            <a:solidFill>
              <a:srgbClr val="E2E2E2"/>
            </a:solidFill>
            <a:prstDash val="solid"/>
          </a:ln>
        </p:spPr>
      </p:sp>
      <p:sp>
        <p:nvSpPr>
          <p:cNvPr id="194" name="Text 186"/>
          <p:cNvSpPr txBox="1"/>
          <p:nvPr/>
        </p:nvSpPr>
        <p:spPr>
          <a:xfrm>
            <a:off x="238000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5" name="Shape 187"/>
          <p:cNvSpPr/>
          <p:nvPr/>
        </p:nvSpPr>
        <p:spPr>
          <a:xfrm>
            <a:off x="3038368" y="3647484"/>
            <a:ext cx="365760" cy="119299"/>
          </a:xfrm>
          <a:prstGeom prst="rect">
            <a:avLst/>
          </a:prstGeom>
          <a:solidFill>
            <a:srgbClr val="FFFFFF"/>
          </a:solidFill>
          <a:ln w="6350">
            <a:solidFill>
              <a:srgbClr val="E2E2E2"/>
            </a:solidFill>
            <a:prstDash val="solid"/>
          </a:ln>
        </p:spPr>
      </p:sp>
      <p:sp>
        <p:nvSpPr>
          <p:cNvPr id="196" name="Text 188"/>
          <p:cNvSpPr txBox="1"/>
          <p:nvPr/>
        </p:nvSpPr>
        <p:spPr>
          <a:xfrm>
            <a:off x="306580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7" name="Shape 189"/>
          <p:cNvSpPr/>
          <p:nvPr/>
        </p:nvSpPr>
        <p:spPr>
          <a:xfrm>
            <a:off x="3404128" y="3647484"/>
            <a:ext cx="777240" cy="119299"/>
          </a:xfrm>
          <a:prstGeom prst="rect">
            <a:avLst/>
          </a:prstGeom>
          <a:solidFill>
            <a:srgbClr val="FFFFFF"/>
          </a:solidFill>
          <a:ln w="6350">
            <a:solidFill>
              <a:srgbClr val="E2E2E2"/>
            </a:solidFill>
            <a:prstDash val="solid"/>
          </a:ln>
        </p:spPr>
      </p:sp>
      <p:sp>
        <p:nvSpPr>
          <p:cNvPr id="198" name="Text 190"/>
          <p:cNvSpPr txBox="1"/>
          <p:nvPr/>
        </p:nvSpPr>
        <p:spPr>
          <a:xfrm>
            <a:off x="3431560" y="3647484"/>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99" name="Shape 191"/>
          <p:cNvSpPr/>
          <p:nvPr/>
        </p:nvSpPr>
        <p:spPr>
          <a:xfrm>
            <a:off x="587776" y="3794216"/>
            <a:ext cx="4950927" cy="201168"/>
          </a:xfrm>
          <a:prstGeom prst="rect">
            <a:avLst/>
          </a:prstGeom>
          <a:solidFill>
            <a:srgbClr val="F8F9FA"/>
          </a:solidFill>
          <a:ln w="12700">
            <a:solidFill>
              <a:srgbClr val="F8F9FA"/>
            </a:solidFill>
            <a:prstDash val="solid"/>
          </a:ln>
        </p:spPr>
      </p:sp>
      <p:sp>
        <p:nvSpPr>
          <p:cNvPr id="200" name="Text 19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1" name="Shape 193"/>
          <p:cNvSpPr/>
          <p:nvPr/>
        </p:nvSpPr>
        <p:spPr>
          <a:xfrm>
            <a:off x="1136416" y="3794216"/>
            <a:ext cx="731520" cy="201168"/>
          </a:xfrm>
          <a:prstGeom prst="rect">
            <a:avLst/>
          </a:prstGeom>
          <a:solidFill>
            <a:srgbClr val="E1EFFE"/>
          </a:solidFill>
          <a:ln w="12700">
            <a:solidFill>
              <a:srgbClr val="E1EFFE"/>
            </a:solidFill>
            <a:prstDash val="solid"/>
          </a:ln>
        </p:spPr>
      </p:sp>
      <p:sp>
        <p:nvSpPr>
          <p:cNvPr id="202" name="Text 19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Data</a:t>
            </a:r>
            <a:endParaRPr lang="en-US" sz="700" dirty="0"/>
          </a:p>
        </p:txBody>
      </p:sp>
      <p:sp>
        <p:nvSpPr>
          <p:cNvPr id="203" name="Text 195"/>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204" name="Text 196"/>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205" name="Shape 197"/>
          <p:cNvSpPr/>
          <p:nvPr/>
        </p:nvSpPr>
        <p:spPr>
          <a:xfrm>
            <a:off x="3020080" y="2913400"/>
            <a:ext cx="1179576" cy="155875"/>
          </a:xfrm>
          <a:prstGeom prst="roundRect">
            <a:avLst>
              <a:gd name="adj" fmla="val 29331"/>
            </a:avLst>
          </a:prstGeom>
          <a:solidFill>
            <a:srgbClr val="FFFFFF">
              <a:alpha val="0"/>
            </a:srgbClr>
          </a:solidFill>
          <a:ln w="31750">
            <a:solidFill>
              <a:srgbClr val="E53935"/>
            </a:solidFill>
            <a:prstDash val="solid"/>
          </a:ln>
        </p:spPr>
      </p:sp>
      <p:sp>
        <p:nvSpPr>
          <p:cNvPr id="206" name="Shape 198"/>
          <p:cNvSpPr/>
          <p:nvPr/>
        </p:nvSpPr>
        <p:spPr>
          <a:xfrm>
            <a:off x="4062496" y="2776240"/>
            <a:ext cx="274320" cy="274320"/>
          </a:xfrm>
          <a:prstGeom prst="ellipse">
            <a:avLst/>
          </a:prstGeom>
          <a:solidFill>
            <a:srgbClr val="E53935"/>
          </a:solidFill>
          <a:ln w="12700">
            <a:solidFill>
              <a:srgbClr val="FFFFFF"/>
            </a:solidFill>
            <a:prstDash val="solid"/>
          </a:ln>
        </p:spPr>
      </p:sp>
      <p:sp>
        <p:nvSpPr>
          <p:cNvPr id="207" name="Text 199"/>
          <p:cNvSpPr txBox="1"/>
          <p:nvPr/>
        </p:nvSpPr>
        <p:spPr>
          <a:xfrm>
            <a:off x="4062496" y="2776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8" name="Image 6" descr="preencoded.png">    </p:cNvPr>
          <p:cNvPicPr>
            <a:picLocks noChangeAspect="1"/>
          </p:cNvPicPr>
          <p:nvPr/>
        </p:nvPicPr>
        <p:blipFill>
          <a:blip r:embed="rId7"/>
          <a:stretch>
            <a:fillRect/>
          </a:stretch>
        </p:blipFill>
        <p:spPr>
          <a:xfrm>
            <a:off x="3667018" y="2997302"/>
            <a:ext cx="237744" cy="237744"/>
          </a:xfrm>
          <a:prstGeom prst="rect">
            <a:avLst/>
          </a:prstGeom>
        </p:spPr>
      </p:pic>
      <p:sp>
        <p:nvSpPr>
          <p:cNvPr id="209" name="Shape 200"/>
          <p:cNvSpPr/>
          <p:nvPr/>
        </p:nvSpPr>
        <p:spPr>
          <a:xfrm>
            <a:off x="3020080" y="2794100"/>
            <a:ext cx="1179576" cy="155875"/>
          </a:xfrm>
          <a:prstGeom prst="roundRect">
            <a:avLst>
              <a:gd name="adj" fmla="val 29331"/>
            </a:avLst>
          </a:prstGeom>
          <a:solidFill>
            <a:srgbClr val="FFFFFF">
              <a:alpha val="0"/>
            </a:srgbClr>
          </a:solidFill>
          <a:ln w="31750">
            <a:solidFill>
              <a:srgbClr val="E53935"/>
            </a:solidFill>
            <a:prstDash val="solid"/>
          </a:ln>
        </p:spPr>
      </p:sp>
      <p:sp>
        <p:nvSpPr>
          <p:cNvPr id="210" name="Shape 201"/>
          <p:cNvSpPr/>
          <p:nvPr/>
        </p:nvSpPr>
        <p:spPr>
          <a:xfrm>
            <a:off x="4062496" y="2656940"/>
            <a:ext cx="274320" cy="274320"/>
          </a:xfrm>
          <a:prstGeom prst="ellipse">
            <a:avLst/>
          </a:prstGeom>
          <a:solidFill>
            <a:srgbClr val="E53935"/>
          </a:solidFill>
          <a:ln w="12700">
            <a:solidFill>
              <a:srgbClr val="FFFFFF"/>
            </a:solidFill>
            <a:prstDash val="solid"/>
          </a:ln>
        </p:spPr>
      </p:sp>
      <p:sp>
        <p:nvSpPr>
          <p:cNvPr id="211" name="Text 202"/>
          <p:cNvSpPr txBox="1"/>
          <p:nvPr/>
        </p:nvSpPr>
        <p:spPr>
          <a:xfrm>
            <a:off x="406249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2" name="Image 7" descr="preencoded.png">    </p:cNvPr>
          <p:cNvPicPr>
            <a:picLocks noChangeAspect="1"/>
          </p:cNvPicPr>
          <p:nvPr/>
        </p:nvPicPr>
        <p:blipFill>
          <a:blip r:embed="rId8"/>
          <a:stretch>
            <a:fillRect/>
          </a:stretch>
        </p:blipFill>
        <p:spPr>
          <a:xfrm>
            <a:off x="3667018" y="2878003"/>
            <a:ext cx="237744" cy="237744"/>
          </a:xfrm>
          <a:prstGeom prst="rect">
            <a:avLst/>
          </a:prstGeom>
        </p:spPr>
      </p:pic>
      <p:sp>
        <p:nvSpPr>
          <p:cNvPr id="213" name="Text 20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14" name="Text 20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batas: 2, 3, dan 4 juz</a:t>
            </a:r>
            <a:endParaRPr lang="en-US" sz="1800" dirty="0"/>
          </a:p>
        </p:txBody>
      </p:sp>
      <p:sp>
        <p:nvSpPr>
          <p:cNvPr id="215" name="Text 20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Periksa santri dengan juz 2, 3, dan 4. Apakah statusnya benar? Coba ubah satu nilai menjadi 3, apakah status berubah?</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Error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F2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=IF(E2&gt;=3,Tercapai,"Bimbingan")</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68580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4108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4108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52568" y="2573789"/>
            <a:ext cx="685800" cy="119299"/>
          </a:xfrm>
          <a:prstGeom prst="rect">
            <a:avLst/>
          </a:prstGeom>
          <a:solidFill>
            <a:srgbClr val="F8F9FA"/>
          </a:solidFill>
          <a:ln w="6350">
            <a:solidFill>
              <a:srgbClr val="DDDDDD"/>
            </a:solidFill>
            <a:prstDash val="solid"/>
          </a:ln>
        </p:spPr>
      </p:sp>
      <p:sp>
        <p:nvSpPr>
          <p:cNvPr id="68" name="Text 60"/>
          <p:cNvSpPr txBox="1"/>
          <p:nvPr/>
        </p:nvSpPr>
        <p:spPr>
          <a:xfrm>
            <a:off x="235256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038368" y="2573789"/>
            <a:ext cx="365760" cy="119299"/>
          </a:xfrm>
          <a:prstGeom prst="rect">
            <a:avLst/>
          </a:prstGeom>
          <a:solidFill>
            <a:srgbClr val="F8F9FA"/>
          </a:solidFill>
          <a:ln w="6350">
            <a:solidFill>
              <a:srgbClr val="DDDDDD"/>
            </a:solidFill>
            <a:prstDash val="solid"/>
          </a:ln>
        </p:spPr>
      </p:sp>
      <p:sp>
        <p:nvSpPr>
          <p:cNvPr id="70" name="Text 62"/>
          <p:cNvSpPr txBox="1"/>
          <p:nvPr/>
        </p:nvSpPr>
        <p:spPr>
          <a:xfrm>
            <a:off x="303836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404128" y="2573789"/>
            <a:ext cx="777240" cy="119299"/>
          </a:xfrm>
          <a:prstGeom prst="rect">
            <a:avLst/>
          </a:prstGeom>
          <a:solidFill>
            <a:srgbClr val="F8F9FA"/>
          </a:solidFill>
          <a:ln w="6350">
            <a:solidFill>
              <a:srgbClr val="DDDDDD"/>
            </a:solidFill>
            <a:prstDash val="solid"/>
          </a:ln>
        </p:spPr>
      </p:sp>
      <p:sp>
        <p:nvSpPr>
          <p:cNvPr id="72" name="Text 64"/>
          <p:cNvSpPr txBox="1"/>
          <p:nvPr/>
        </p:nvSpPr>
        <p:spPr>
          <a:xfrm>
            <a:off x="340412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68580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4108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196852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52568" y="2693089"/>
            <a:ext cx="685800" cy="119299"/>
          </a:xfrm>
          <a:prstGeom prst="rect">
            <a:avLst/>
          </a:prstGeom>
          <a:solidFill>
            <a:srgbClr val="0F4C3A"/>
          </a:solidFill>
          <a:ln w="6350">
            <a:solidFill>
              <a:srgbClr val="E2E2E2"/>
            </a:solidFill>
            <a:prstDash val="solid"/>
          </a:ln>
        </p:spPr>
      </p:sp>
      <p:sp>
        <p:nvSpPr>
          <p:cNvPr id="82" name="Text 74"/>
          <p:cNvSpPr txBox="1"/>
          <p:nvPr/>
        </p:nvSpPr>
        <p:spPr>
          <a:xfrm>
            <a:off x="238000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3" name="Shape 75"/>
          <p:cNvSpPr/>
          <p:nvPr/>
        </p:nvSpPr>
        <p:spPr>
          <a:xfrm>
            <a:off x="3038368" y="2693089"/>
            <a:ext cx="365760" cy="119299"/>
          </a:xfrm>
          <a:prstGeom prst="rect">
            <a:avLst/>
          </a:prstGeom>
          <a:solidFill>
            <a:srgbClr val="0F4C3A"/>
          </a:solidFill>
          <a:ln w="6350">
            <a:solidFill>
              <a:srgbClr val="E2E2E2"/>
            </a:solidFill>
            <a:prstDash val="solid"/>
          </a:ln>
        </p:spPr>
      </p:sp>
      <p:sp>
        <p:nvSpPr>
          <p:cNvPr id="84" name="Text 76"/>
          <p:cNvSpPr txBox="1"/>
          <p:nvPr/>
        </p:nvSpPr>
        <p:spPr>
          <a:xfrm>
            <a:off x="306580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5" name="Shape 77"/>
          <p:cNvSpPr/>
          <p:nvPr/>
        </p:nvSpPr>
        <p:spPr>
          <a:xfrm>
            <a:off x="3404128" y="2693089"/>
            <a:ext cx="777240" cy="119299"/>
          </a:xfrm>
          <a:prstGeom prst="rect">
            <a:avLst/>
          </a:prstGeom>
          <a:solidFill>
            <a:srgbClr val="0F4C3A"/>
          </a:solidFill>
          <a:ln w="6350">
            <a:solidFill>
              <a:srgbClr val="E2E2E2"/>
            </a:solidFill>
            <a:prstDash val="solid"/>
          </a:ln>
        </p:spPr>
      </p:sp>
      <p:sp>
        <p:nvSpPr>
          <p:cNvPr id="86" name="Text 78"/>
          <p:cNvSpPr txBox="1"/>
          <p:nvPr/>
        </p:nvSpPr>
        <p:spPr>
          <a:xfrm>
            <a:off x="343156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Status</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68580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4108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196852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52568" y="2812388"/>
            <a:ext cx="685800" cy="119299"/>
          </a:xfrm>
          <a:prstGeom prst="rect">
            <a:avLst/>
          </a:prstGeom>
          <a:solidFill>
            <a:srgbClr val="FFFFFF"/>
          </a:solidFill>
          <a:ln w="6350">
            <a:solidFill>
              <a:srgbClr val="E2E2E2"/>
            </a:solidFill>
            <a:prstDash val="solid"/>
          </a:ln>
        </p:spPr>
      </p:sp>
      <p:sp>
        <p:nvSpPr>
          <p:cNvPr id="96" name="Text 88"/>
          <p:cNvSpPr txBox="1"/>
          <p:nvPr/>
        </p:nvSpPr>
        <p:spPr>
          <a:xfrm>
            <a:off x="238000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7" name="Shape 89"/>
          <p:cNvSpPr/>
          <p:nvPr/>
        </p:nvSpPr>
        <p:spPr>
          <a:xfrm>
            <a:off x="3038368" y="2812388"/>
            <a:ext cx="365760" cy="119299"/>
          </a:xfrm>
          <a:prstGeom prst="rect">
            <a:avLst/>
          </a:prstGeom>
          <a:solidFill>
            <a:srgbClr val="FFFFFF"/>
          </a:solidFill>
          <a:ln w="6350">
            <a:solidFill>
              <a:srgbClr val="E2E2E2"/>
            </a:solidFill>
            <a:prstDash val="solid"/>
          </a:ln>
        </p:spPr>
      </p:sp>
      <p:sp>
        <p:nvSpPr>
          <p:cNvPr id="98" name="Text 90"/>
          <p:cNvSpPr txBox="1"/>
          <p:nvPr/>
        </p:nvSpPr>
        <p:spPr>
          <a:xfrm>
            <a:off x="306580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99" name="Shape 91"/>
          <p:cNvSpPr/>
          <p:nvPr/>
        </p:nvSpPr>
        <p:spPr>
          <a:xfrm>
            <a:off x="3404128" y="2812388"/>
            <a:ext cx="777240" cy="119299"/>
          </a:xfrm>
          <a:prstGeom prst="rect">
            <a:avLst/>
          </a:prstGeom>
          <a:solidFill>
            <a:srgbClr val="FFFFFF"/>
          </a:solidFill>
          <a:ln w="6350">
            <a:solidFill>
              <a:srgbClr val="E2E2E2"/>
            </a:solidFill>
            <a:prstDash val="solid"/>
          </a:ln>
        </p:spPr>
      </p:sp>
      <p:sp>
        <p:nvSpPr>
          <p:cNvPr id="100" name="Text 92"/>
          <p:cNvSpPr txBox="1"/>
          <p:nvPr/>
        </p:nvSpPr>
        <p:spPr>
          <a:xfrm>
            <a:off x="343156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#NAME?</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68580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4108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196852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52568" y="2931688"/>
            <a:ext cx="685800" cy="119299"/>
          </a:xfrm>
          <a:prstGeom prst="rect">
            <a:avLst/>
          </a:prstGeom>
          <a:solidFill>
            <a:srgbClr val="FFFFFF"/>
          </a:solidFill>
          <a:ln w="6350">
            <a:solidFill>
              <a:srgbClr val="E2E2E2"/>
            </a:solidFill>
            <a:prstDash val="solid"/>
          </a:ln>
        </p:spPr>
      </p:sp>
      <p:sp>
        <p:nvSpPr>
          <p:cNvPr id="110" name="Text 102"/>
          <p:cNvSpPr txBox="1"/>
          <p:nvPr/>
        </p:nvSpPr>
        <p:spPr>
          <a:xfrm>
            <a:off x="238000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1" name="Shape 103"/>
          <p:cNvSpPr/>
          <p:nvPr/>
        </p:nvSpPr>
        <p:spPr>
          <a:xfrm>
            <a:off x="3038368" y="2931688"/>
            <a:ext cx="365760" cy="119299"/>
          </a:xfrm>
          <a:prstGeom prst="rect">
            <a:avLst/>
          </a:prstGeom>
          <a:solidFill>
            <a:srgbClr val="FFFFFF"/>
          </a:solidFill>
          <a:ln w="6350">
            <a:solidFill>
              <a:srgbClr val="E2E2E2"/>
            </a:solidFill>
            <a:prstDash val="solid"/>
          </a:ln>
        </p:spPr>
      </p:sp>
      <p:sp>
        <p:nvSpPr>
          <p:cNvPr id="112" name="Text 104"/>
          <p:cNvSpPr txBox="1"/>
          <p:nvPr/>
        </p:nvSpPr>
        <p:spPr>
          <a:xfrm>
            <a:off x="306580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3" name="Shape 105"/>
          <p:cNvSpPr/>
          <p:nvPr/>
        </p:nvSpPr>
        <p:spPr>
          <a:xfrm>
            <a:off x="3404128" y="2931688"/>
            <a:ext cx="777240" cy="119299"/>
          </a:xfrm>
          <a:prstGeom prst="rect">
            <a:avLst/>
          </a:prstGeom>
          <a:solidFill>
            <a:srgbClr val="FFFFFF"/>
          </a:solidFill>
          <a:ln w="6350">
            <a:solidFill>
              <a:srgbClr val="E2E2E2"/>
            </a:solidFill>
            <a:prstDash val="solid"/>
          </a:ln>
        </p:spPr>
      </p:sp>
      <p:sp>
        <p:nvSpPr>
          <p:cNvPr id="114" name="Text 106"/>
          <p:cNvSpPr txBox="1"/>
          <p:nvPr/>
        </p:nvSpPr>
        <p:spPr>
          <a:xfrm>
            <a:off x="343156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68580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4108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196852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52568" y="3050987"/>
            <a:ext cx="685800" cy="119299"/>
          </a:xfrm>
          <a:prstGeom prst="rect">
            <a:avLst/>
          </a:prstGeom>
          <a:solidFill>
            <a:srgbClr val="FFFFFF"/>
          </a:solidFill>
          <a:ln w="6350">
            <a:solidFill>
              <a:srgbClr val="E2E2E2"/>
            </a:solidFill>
            <a:prstDash val="solid"/>
          </a:ln>
        </p:spPr>
      </p:sp>
      <p:sp>
        <p:nvSpPr>
          <p:cNvPr id="124" name="Text 116"/>
          <p:cNvSpPr txBox="1"/>
          <p:nvPr/>
        </p:nvSpPr>
        <p:spPr>
          <a:xfrm>
            <a:off x="238000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5" name="Shape 117"/>
          <p:cNvSpPr/>
          <p:nvPr/>
        </p:nvSpPr>
        <p:spPr>
          <a:xfrm>
            <a:off x="3038368" y="3050987"/>
            <a:ext cx="365760" cy="119299"/>
          </a:xfrm>
          <a:prstGeom prst="rect">
            <a:avLst/>
          </a:prstGeom>
          <a:solidFill>
            <a:srgbClr val="FFFFFF"/>
          </a:solidFill>
          <a:ln w="6350">
            <a:solidFill>
              <a:srgbClr val="E2E2E2"/>
            </a:solidFill>
            <a:prstDash val="solid"/>
          </a:ln>
        </p:spPr>
      </p:sp>
      <p:sp>
        <p:nvSpPr>
          <p:cNvPr id="126" name="Text 118"/>
          <p:cNvSpPr txBox="1"/>
          <p:nvPr/>
        </p:nvSpPr>
        <p:spPr>
          <a:xfrm>
            <a:off x="306580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7" name="Shape 119"/>
          <p:cNvSpPr/>
          <p:nvPr/>
        </p:nvSpPr>
        <p:spPr>
          <a:xfrm>
            <a:off x="3404128" y="3050987"/>
            <a:ext cx="777240" cy="119299"/>
          </a:xfrm>
          <a:prstGeom prst="rect">
            <a:avLst/>
          </a:prstGeom>
          <a:solidFill>
            <a:srgbClr val="FFFFFF"/>
          </a:solidFill>
          <a:ln w="6350">
            <a:solidFill>
              <a:srgbClr val="E2E2E2"/>
            </a:solidFill>
            <a:prstDash val="solid"/>
          </a:ln>
        </p:spPr>
      </p:sp>
      <p:sp>
        <p:nvSpPr>
          <p:cNvPr id="128" name="Text 120"/>
          <p:cNvSpPr txBox="1"/>
          <p:nvPr/>
        </p:nvSpPr>
        <p:spPr>
          <a:xfrm>
            <a:off x="343156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68580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4108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196852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52568" y="3170287"/>
            <a:ext cx="685800" cy="119299"/>
          </a:xfrm>
          <a:prstGeom prst="rect">
            <a:avLst/>
          </a:prstGeom>
          <a:solidFill>
            <a:srgbClr val="FFFFFF"/>
          </a:solidFill>
          <a:ln w="6350">
            <a:solidFill>
              <a:srgbClr val="E2E2E2"/>
            </a:solidFill>
            <a:prstDash val="solid"/>
          </a:ln>
        </p:spPr>
      </p:sp>
      <p:sp>
        <p:nvSpPr>
          <p:cNvPr id="138" name="Text 130"/>
          <p:cNvSpPr txBox="1"/>
          <p:nvPr/>
        </p:nvSpPr>
        <p:spPr>
          <a:xfrm>
            <a:off x="238000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39" name="Shape 131"/>
          <p:cNvSpPr/>
          <p:nvPr/>
        </p:nvSpPr>
        <p:spPr>
          <a:xfrm>
            <a:off x="3038368" y="3170287"/>
            <a:ext cx="365760" cy="119299"/>
          </a:xfrm>
          <a:prstGeom prst="rect">
            <a:avLst/>
          </a:prstGeom>
          <a:solidFill>
            <a:srgbClr val="FFFFFF"/>
          </a:solidFill>
          <a:ln w="6350">
            <a:solidFill>
              <a:srgbClr val="E2E2E2"/>
            </a:solidFill>
            <a:prstDash val="solid"/>
          </a:ln>
        </p:spPr>
      </p:sp>
      <p:sp>
        <p:nvSpPr>
          <p:cNvPr id="140" name="Text 132"/>
          <p:cNvSpPr txBox="1"/>
          <p:nvPr/>
        </p:nvSpPr>
        <p:spPr>
          <a:xfrm>
            <a:off x="306580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1" name="Shape 133"/>
          <p:cNvSpPr/>
          <p:nvPr/>
        </p:nvSpPr>
        <p:spPr>
          <a:xfrm>
            <a:off x="3404128" y="3170287"/>
            <a:ext cx="777240" cy="119299"/>
          </a:xfrm>
          <a:prstGeom prst="rect">
            <a:avLst/>
          </a:prstGeom>
          <a:solidFill>
            <a:srgbClr val="FFFFFF"/>
          </a:solidFill>
          <a:ln w="6350">
            <a:solidFill>
              <a:srgbClr val="E2E2E2"/>
            </a:solidFill>
            <a:prstDash val="solid"/>
          </a:ln>
        </p:spPr>
      </p:sp>
      <p:sp>
        <p:nvSpPr>
          <p:cNvPr id="142" name="Text 134"/>
          <p:cNvSpPr txBox="1"/>
          <p:nvPr/>
        </p:nvSpPr>
        <p:spPr>
          <a:xfrm>
            <a:off x="343156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68580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4108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196852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52568" y="3289586"/>
            <a:ext cx="685800" cy="119299"/>
          </a:xfrm>
          <a:prstGeom prst="rect">
            <a:avLst/>
          </a:prstGeom>
          <a:solidFill>
            <a:srgbClr val="FFFFFF"/>
          </a:solidFill>
          <a:ln w="6350">
            <a:solidFill>
              <a:srgbClr val="E2E2E2"/>
            </a:solidFill>
            <a:prstDash val="solid"/>
          </a:ln>
        </p:spPr>
      </p:sp>
      <p:sp>
        <p:nvSpPr>
          <p:cNvPr id="152" name="Text 144"/>
          <p:cNvSpPr txBox="1"/>
          <p:nvPr/>
        </p:nvSpPr>
        <p:spPr>
          <a:xfrm>
            <a:off x="238000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3" name="Shape 145"/>
          <p:cNvSpPr/>
          <p:nvPr/>
        </p:nvSpPr>
        <p:spPr>
          <a:xfrm>
            <a:off x="3038368" y="3289586"/>
            <a:ext cx="365760" cy="119299"/>
          </a:xfrm>
          <a:prstGeom prst="rect">
            <a:avLst/>
          </a:prstGeom>
          <a:solidFill>
            <a:srgbClr val="FFFFFF"/>
          </a:solidFill>
          <a:ln w="6350">
            <a:solidFill>
              <a:srgbClr val="E2E2E2"/>
            </a:solidFill>
            <a:prstDash val="solid"/>
          </a:ln>
        </p:spPr>
      </p:sp>
      <p:sp>
        <p:nvSpPr>
          <p:cNvPr id="154" name="Text 146"/>
          <p:cNvSpPr txBox="1"/>
          <p:nvPr/>
        </p:nvSpPr>
        <p:spPr>
          <a:xfrm>
            <a:off x="306580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5" name="Shape 147"/>
          <p:cNvSpPr/>
          <p:nvPr/>
        </p:nvSpPr>
        <p:spPr>
          <a:xfrm>
            <a:off x="3404128" y="3289586"/>
            <a:ext cx="777240" cy="119299"/>
          </a:xfrm>
          <a:prstGeom prst="rect">
            <a:avLst/>
          </a:prstGeom>
          <a:solidFill>
            <a:srgbClr val="FFFFFF"/>
          </a:solidFill>
          <a:ln w="6350">
            <a:solidFill>
              <a:srgbClr val="E2E2E2"/>
            </a:solidFill>
            <a:prstDash val="solid"/>
          </a:ln>
        </p:spPr>
      </p:sp>
      <p:sp>
        <p:nvSpPr>
          <p:cNvPr id="156" name="Text 148"/>
          <p:cNvSpPr txBox="1"/>
          <p:nvPr/>
        </p:nvSpPr>
        <p:spPr>
          <a:xfrm>
            <a:off x="3431560" y="3289586"/>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68580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4108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196852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52568" y="3408885"/>
            <a:ext cx="685800" cy="119299"/>
          </a:xfrm>
          <a:prstGeom prst="rect">
            <a:avLst/>
          </a:prstGeom>
          <a:solidFill>
            <a:srgbClr val="FFFFFF"/>
          </a:solidFill>
          <a:ln w="6350">
            <a:solidFill>
              <a:srgbClr val="E2E2E2"/>
            </a:solidFill>
            <a:prstDash val="solid"/>
          </a:ln>
        </p:spPr>
      </p:sp>
      <p:sp>
        <p:nvSpPr>
          <p:cNvPr id="166" name="Text 158"/>
          <p:cNvSpPr txBox="1"/>
          <p:nvPr/>
        </p:nvSpPr>
        <p:spPr>
          <a:xfrm>
            <a:off x="238000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7" name="Shape 159"/>
          <p:cNvSpPr/>
          <p:nvPr/>
        </p:nvSpPr>
        <p:spPr>
          <a:xfrm>
            <a:off x="3038368" y="3408885"/>
            <a:ext cx="365760" cy="119299"/>
          </a:xfrm>
          <a:prstGeom prst="rect">
            <a:avLst/>
          </a:prstGeom>
          <a:solidFill>
            <a:srgbClr val="FFFFFF"/>
          </a:solidFill>
          <a:ln w="6350">
            <a:solidFill>
              <a:srgbClr val="E2E2E2"/>
            </a:solidFill>
            <a:prstDash val="solid"/>
          </a:ln>
        </p:spPr>
      </p:sp>
      <p:sp>
        <p:nvSpPr>
          <p:cNvPr id="168" name="Text 160"/>
          <p:cNvSpPr txBox="1"/>
          <p:nvPr/>
        </p:nvSpPr>
        <p:spPr>
          <a:xfrm>
            <a:off x="306580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69" name="Shape 161"/>
          <p:cNvSpPr/>
          <p:nvPr/>
        </p:nvSpPr>
        <p:spPr>
          <a:xfrm>
            <a:off x="3404128" y="3408885"/>
            <a:ext cx="777240" cy="119299"/>
          </a:xfrm>
          <a:prstGeom prst="rect">
            <a:avLst/>
          </a:prstGeom>
          <a:solidFill>
            <a:srgbClr val="FFFFFF"/>
          </a:solidFill>
          <a:ln w="6350">
            <a:solidFill>
              <a:srgbClr val="E2E2E2"/>
            </a:solidFill>
            <a:prstDash val="solid"/>
          </a:ln>
        </p:spPr>
      </p:sp>
      <p:sp>
        <p:nvSpPr>
          <p:cNvPr id="170" name="Text 162"/>
          <p:cNvSpPr txBox="1"/>
          <p:nvPr/>
        </p:nvSpPr>
        <p:spPr>
          <a:xfrm>
            <a:off x="3431560" y="3408885"/>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Bimbingan</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68580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4108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196852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52568" y="3528185"/>
            <a:ext cx="685800" cy="119299"/>
          </a:xfrm>
          <a:prstGeom prst="rect">
            <a:avLst/>
          </a:prstGeom>
          <a:solidFill>
            <a:srgbClr val="FFFFFF"/>
          </a:solidFill>
          <a:ln w="6350">
            <a:solidFill>
              <a:srgbClr val="E2E2E2"/>
            </a:solidFill>
            <a:prstDash val="solid"/>
          </a:ln>
        </p:spPr>
      </p:sp>
      <p:sp>
        <p:nvSpPr>
          <p:cNvPr id="180" name="Text 172"/>
          <p:cNvSpPr txBox="1"/>
          <p:nvPr/>
        </p:nvSpPr>
        <p:spPr>
          <a:xfrm>
            <a:off x="238000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1" name="Shape 173"/>
          <p:cNvSpPr/>
          <p:nvPr/>
        </p:nvSpPr>
        <p:spPr>
          <a:xfrm>
            <a:off x="3038368" y="3528185"/>
            <a:ext cx="365760" cy="119299"/>
          </a:xfrm>
          <a:prstGeom prst="rect">
            <a:avLst/>
          </a:prstGeom>
          <a:solidFill>
            <a:srgbClr val="FFFFFF"/>
          </a:solidFill>
          <a:ln w="6350">
            <a:solidFill>
              <a:srgbClr val="E2E2E2"/>
            </a:solidFill>
            <a:prstDash val="solid"/>
          </a:ln>
        </p:spPr>
      </p:sp>
      <p:sp>
        <p:nvSpPr>
          <p:cNvPr id="182" name="Text 174"/>
          <p:cNvSpPr txBox="1"/>
          <p:nvPr/>
        </p:nvSpPr>
        <p:spPr>
          <a:xfrm>
            <a:off x="306580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3" name="Shape 175"/>
          <p:cNvSpPr/>
          <p:nvPr/>
        </p:nvSpPr>
        <p:spPr>
          <a:xfrm>
            <a:off x="3404128" y="3528185"/>
            <a:ext cx="777240" cy="119299"/>
          </a:xfrm>
          <a:prstGeom prst="rect">
            <a:avLst/>
          </a:prstGeom>
          <a:solidFill>
            <a:srgbClr val="FFFFFF"/>
          </a:solidFill>
          <a:ln w="6350">
            <a:solidFill>
              <a:srgbClr val="E2E2E2"/>
            </a:solidFill>
            <a:prstDash val="solid"/>
          </a:ln>
        </p:spPr>
      </p:sp>
      <p:sp>
        <p:nvSpPr>
          <p:cNvPr id="184" name="Text 176"/>
          <p:cNvSpPr txBox="1"/>
          <p:nvPr/>
        </p:nvSpPr>
        <p:spPr>
          <a:xfrm>
            <a:off x="3431560" y="3528185"/>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68580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4108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196852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52568" y="3647484"/>
            <a:ext cx="685800" cy="119299"/>
          </a:xfrm>
          <a:prstGeom prst="rect">
            <a:avLst/>
          </a:prstGeom>
          <a:solidFill>
            <a:srgbClr val="FFFFFF"/>
          </a:solidFill>
          <a:ln w="6350">
            <a:solidFill>
              <a:srgbClr val="E2E2E2"/>
            </a:solidFill>
            <a:prstDash val="solid"/>
          </a:ln>
        </p:spPr>
      </p:sp>
      <p:sp>
        <p:nvSpPr>
          <p:cNvPr id="194" name="Text 186"/>
          <p:cNvSpPr txBox="1"/>
          <p:nvPr/>
        </p:nvSpPr>
        <p:spPr>
          <a:xfrm>
            <a:off x="238000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5" name="Shape 187"/>
          <p:cNvSpPr/>
          <p:nvPr/>
        </p:nvSpPr>
        <p:spPr>
          <a:xfrm>
            <a:off x="3038368" y="3647484"/>
            <a:ext cx="365760" cy="119299"/>
          </a:xfrm>
          <a:prstGeom prst="rect">
            <a:avLst/>
          </a:prstGeom>
          <a:solidFill>
            <a:srgbClr val="FFFFFF"/>
          </a:solidFill>
          <a:ln w="6350">
            <a:solidFill>
              <a:srgbClr val="E2E2E2"/>
            </a:solidFill>
            <a:prstDash val="solid"/>
          </a:ln>
        </p:spPr>
      </p:sp>
      <p:sp>
        <p:nvSpPr>
          <p:cNvPr id="196" name="Text 188"/>
          <p:cNvSpPr txBox="1"/>
          <p:nvPr/>
        </p:nvSpPr>
        <p:spPr>
          <a:xfrm>
            <a:off x="306580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7" name="Shape 189"/>
          <p:cNvSpPr/>
          <p:nvPr/>
        </p:nvSpPr>
        <p:spPr>
          <a:xfrm>
            <a:off x="3404128" y="3647484"/>
            <a:ext cx="777240" cy="119299"/>
          </a:xfrm>
          <a:prstGeom prst="rect">
            <a:avLst/>
          </a:prstGeom>
          <a:solidFill>
            <a:srgbClr val="FFFFFF"/>
          </a:solidFill>
          <a:ln w="6350">
            <a:solidFill>
              <a:srgbClr val="E2E2E2"/>
            </a:solidFill>
            <a:prstDash val="solid"/>
          </a:ln>
        </p:spPr>
      </p:sp>
      <p:sp>
        <p:nvSpPr>
          <p:cNvPr id="198" name="Text 190"/>
          <p:cNvSpPr txBox="1"/>
          <p:nvPr/>
        </p:nvSpPr>
        <p:spPr>
          <a:xfrm>
            <a:off x="3431560" y="3647484"/>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Tercapai</a:t>
            </a:r>
            <a:endParaRPr lang="en-US" sz="600" dirty="0"/>
          </a:p>
        </p:txBody>
      </p:sp>
      <p:sp>
        <p:nvSpPr>
          <p:cNvPr id="199" name="Shape 191"/>
          <p:cNvSpPr/>
          <p:nvPr/>
        </p:nvSpPr>
        <p:spPr>
          <a:xfrm>
            <a:off x="3404128" y="2812388"/>
            <a:ext cx="777240" cy="119299"/>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Data</a:t>
            </a:r>
            <a:endParaRPr lang="en-US" sz="700" dirty="0"/>
          </a:p>
        </p:txBody>
      </p:sp>
      <p:sp>
        <p:nvSpPr>
          <p:cNvPr id="204" name="Text 196"/>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205" name="Text 197"/>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206" name="Shape 198"/>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207" name="Shape 199"/>
          <p:cNvSpPr/>
          <p:nvPr/>
        </p:nvSpPr>
        <p:spPr>
          <a:xfrm>
            <a:off x="5310104" y="2198885"/>
            <a:ext cx="274320" cy="274320"/>
          </a:xfrm>
          <a:prstGeom prst="ellipse">
            <a:avLst/>
          </a:prstGeom>
          <a:solidFill>
            <a:srgbClr val="E53935"/>
          </a:solidFill>
          <a:ln w="12700">
            <a:solidFill>
              <a:srgbClr val="FFFFFF"/>
            </a:solidFill>
            <a:prstDash val="solid"/>
          </a:ln>
        </p:spPr>
      </p:sp>
      <p:sp>
        <p:nvSpPr>
          <p:cNvPr id="208" name="Text 200"/>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9"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210" name="Shape 201"/>
          <p:cNvSpPr/>
          <p:nvPr/>
        </p:nvSpPr>
        <p:spPr>
          <a:xfrm>
            <a:off x="3376696" y="2784956"/>
            <a:ext cx="832104" cy="174163"/>
          </a:xfrm>
          <a:prstGeom prst="roundRect">
            <a:avLst>
              <a:gd name="adj" fmla="val 26251"/>
            </a:avLst>
          </a:prstGeom>
          <a:solidFill>
            <a:srgbClr val="FFFFFF">
              <a:alpha val="0"/>
            </a:srgbClr>
          </a:solidFill>
          <a:ln w="31750">
            <a:solidFill>
              <a:srgbClr val="E53935"/>
            </a:solidFill>
            <a:prstDash val="solid"/>
          </a:ln>
        </p:spPr>
      </p:sp>
      <p:sp>
        <p:nvSpPr>
          <p:cNvPr id="211" name="Shape 202"/>
          <p:cNvSpPr/>
          <p:nvPr/>
        </p:nvSpPr>
        <p:spPr>
          <a:xfrm>
            <a:off x="4071640" y="2647796"/>
            <a:ext cx="274320" cy="274320"/>
          </a:xfrm>
          <a:prstGeom prst="ellipse">
            <a:avLst/>
          </a:prstGeom>
          <a:solidFill>
            <a:srgbClr val="E53935"/>
          </a:solidFill>
          <a:ln w="12700">
            <a:solidFill>
              <a:srgbClr val="FFFFFF"/>
            </a:solidFill>
            <a:prstDash val="solid"/>
          </a:ln>
        </p:spPr>
      </p:sp>
      <p:sp>
        <p:nvSpPr>
          <p:cNvPr id="212" name="Text 203"/>
          <p:cNvSpPr txBox="1"/>
          <p:nvPr/>
        </p:nvSpPr>
        <p:spPr>
          <a:xfrm>
            <a:off x="4071640" y="26477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3" name="Image 7" descr="preencoded.png">    </p:cNvPr>
          <p:cNvPicPr>
            <a:picLocks noChangeAspect="1"/>
          </p:cNvPicPr>
          <p:nvPr/>
        </p:nvPicPr>
        <p:blipFill>
          <a:blip r:embed="rId8"/>
          <a:stretch>
            <a:fillRect/>
          </a:stretch>
        </p:blipFill>
        <p:spPr>
          <a:xfrm>
            <a:off x="3831610" y="2878003"/>
            <a:ext cx="237744" cy="237744"/>
          </a:xfrm>
          <a:prstGeom prst="rect">
            <a:avLst/>
          </a:prstGeom>
        </p:spPr>
      </p:pic>
      <p:sp>
        <p:nvSpPr>
          <p:cNvPr id="214" name="Text 20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15" name="Text 20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rumus yang error</a:t>
            </a:r>
            <a:endParaRPr lang="en-US" sz="1800" dirty="0"/>
          </a:p>
        </p:txBody>
      </p:sp>
      <p:sp>
        <p:nvSpPr>
          <p:cNvPr id="216" name="Text 20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menulis rumus salah di sel kosong: =IF(E2&gt;=3,Tercapai,"Bimbingan"). Hasilnya #NAME?. Mengapa?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Error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Rumus =IF(E2&gt;=3,Tercapai,"Bimbingan") menampilkan #NAME?. Jelaskan penyebabnya, jangan langsung beri rumus jadi.</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68580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Penyebabnya: kata Tercapai tidak diberi tanda kutip. Google Sheets mengira Tercapai adalah nama fungsi atau nama rentang, padahal tidak ada. Teks di dalam rumus harus selalu diapit tanda kutip. Coba perbaiki bagian itu.</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740664"/>
          </a:xfrm>
          <a:prstGeom prst="roundRect">
            <a:avLst>
              <a:gd name="adj" fmla="val 6173"/>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43" name="Image 7" descr="preencoded.png">    </p:cNvPr>
          <p:cNvPicPr>
            <a:picLocks noChangeAspect="1"/>
          </p:cNvPicPr>
          <p:nvPr/>
        </p:nvPicPr>
        <p:blipFill>
          <a:blip r:embed="rId8"/>
          <a:stretch>
            <a:fillRect/>
          </a:stretch>
        </p:blipFill>
        <p:spPr>
          <a:xfrm>
            <a:off x="3793132" y="2694947"/>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Tanya AI penyebab error, lalu perbaiki sendiri</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Prompt: "Rumus saya menampilkan #NAME?. Jelaskan penyebabnya, jangan langsung beri rumus jadi." Perbaiki sendiri.</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14</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bersama kelompok:</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Kolom Status dengan IF sudah terisi untuk semua santri.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Uji batas: catat hasil untuk juz 2, 3, dan 4.</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Buat satu rumus IF lain sendiri, misalnya "Aktif"/"Belum" untuk ekskul.</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Catat satu error yang kalian temui, penyebab, dan perbaikannya.</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14</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Kolom Status memakai rumus IF</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Rumus diuji dengan beberapa nilai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bagian IF</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Satu error berhasil diperbaiki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tujuan harus dijelaskan dengan rinci kepada AI?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kamu pelajari dari error?</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Kesalahan adalah guru yang baik. Jangan malu salah, malulah jika tidak mau memperbaiki.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Dashboard Prestasi Kelas.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15</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Dashboard Prestasi Kelas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dashboard dengan status dan analisis</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5: AI untuk Data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Dari database kelas, informasi apa yang paling dibutuhkan pembina untuk membantu santri?</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Menambahkan indikator prestasi berbasis IF dan COUNTIF</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Menggunakan AI untuk ide analisis, lalu memverifikasinya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Dashboard Prestasi Kelas dengan kesimpulan</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Analisis Data dengan AI yang Bertanggung Jawab</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Minta Ide</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Beri ringkasan data fiktif, minta ide analisis dan grafik</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Verifikasi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Cek setiap klaim AI dengan rumus di Sheets</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Simpulkan Sendiri</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Tulis kesimpulan dengan kata-kata sendiri</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AI: "Kelas 8B tampaknya lebih banyak perlu bimbingan." → cek dengan COUNTIFS di Sheets → benar/salah → tulis kesimpulan.</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Rumus untuk Indikator Prestasi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Jumlah Tercapai</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=COUNTIF(Data!F2:F30,"Tercapai")</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Jumlah Bimbingan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=COUNTIF(Data!F2:F30,"Bimbingan")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Persen Tercapai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=Tercapai / Jumlah santri, lalu format persen (%)</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COUNTIFS (2 syarat)</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=COUNTIFS(Data!C2:C30,"8B",Data!F2:F30,"Bimbingan")</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Menyusun Dashboard Prestasi Kelas</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5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Indikator prestasi</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Ide analisis AI dan verifikasi</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Kesimpulan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Indikator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68580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4108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4108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52568" y="2573789"/>
            <a:ext cx="685800" cy="119299"/>
          </a:xfrm>
          <a:prstGeom prst="rect">
            <a:avLst/>
          </a:prstGeom>
          <a:solidFill>
            <a:srgbClr val="F8F9FA"/>
          </a:solidFill>
          <a:ln w="6350">
            <a:solidFill>
              <a:srgbClr val="DDDDDD"/>
            </a:solidFill>
            <a:prstDash val="solid"/>
          </a:ln>
        </p:spPr>
      </p:sp>
      <p:sp>
        <p:nvSpPr>
          <p:cNvPr id="68" name="Text 60"/>
          <p:cNvSpPr txBox="1"/>
          <p:nvPr/>
        </p:nvSpPr>
        <p:spPr>
          <a:xfrm>
            <a:off x="235256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038368" y="2573789"/>
            <a:ext cx="365760" cy="119299"/>
          </a:xfrm>
          <a:prstGeom prst="rect">
            <a:avLst/>
          </a:prstGeom>
          <a:solidFill>
            <a:srgbClr val="F8F9FA"/>
          </a:solidFill>
          <a:ln w="6350">
            <a:solidFill>
              <a:srgbClr val="DDDDDD"/>
            </a:solidFill>
            <a:prstDash val="solid"/>
          </a:ln>
        </p:spPr>
      </p:sp>
      <p:sp>
        <p:nvSpPr>
          <p:cNvPr id="70" name="Text 62"/>
          <p:cNvSpPr txBox="1"/>
          <p:nvPr/>
        </p:nvSpPr>
        <p:spPr>
          <a:xfrm>
            <a:off x="303836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404128" y="2573789"/>
            <a:ext cx="777240" cy="119299"/>
          </a:xfrm>
          <a:prstGeom prst="rect">
            <a:avLst/>
          </a:prstGeom>
          <a:solidFill>
            <a:srgbClr val="F8F9FA"/>
          </a:solidFill>
          <a:ln w="6350">
            <a:solidFill>
              <a:srgbClr val="DDDDDD"/>
            </a:solidFill>
            <a:prstDash val="solid"/>
          </a:ln>
        </p:spPr>
      </p:sp>
      <p:sp>
        <p:nvSpPr>
          <p:cNvPr id="72" name="Text 64"/>
          <p:cNvSpPr txBox="1"/>
          <p:nvPr/>
        </p:nvSpPr>
        <p:spPr>
          <a:xfrm>
            <a:off x="340412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Shape 68"/>
          <p:cNvSpPr/>
          <p:nvPr/>
        </p:nvSpPr>
        <p:spPr>
          <a:xfrm>
            <a:off x="1255288" y="2693089"/>
            <a:ext cx="685800" cy="119299"/>
          </a:xfrm>
          <a:prstGeom prst="rect">
            <a:avLst/>
          </a:prstGeom>
          <a:solidFill>
            <a:srgbClr val="0F4C3A"/>
          </a:solidFill>
          <a:ln w="6350">
            <a:solidFill>
              <a:srgbClr val="E2E2E2"/>
            </a:solidFill>
            <a:prstDash val="solid"/>
          </a:ln>
        </p:spPr>
      </p:sp>
      <p:sp>
        <p:nvSpPr>
          <p:cNvPr id="77" name="Shape 69"/>
          <p:cNvSpPr/>
          <p:nvPr/>
        </p:nvSpPr>
        <p:spPr>
          <a:xfrm>
            <a:off x="1941088" y="2693089"/>
            <a:ext cx="411480" cy="119299"/>
          </a:xfrm>
          <a:prstGeom prst="rect">
            <a:avLst/>
          </a:prstGeom>
          <a:solidFill>
            <a:srgbClr val="0F4C3A"/>
          </a:solidFill>
          <a:ln w="6350">
            <a:solidFill>
              <a:srgbClr val="E2E2E2"/>
            </a:solidFill>
            <a:prstDash val="solid"/>
          </a:ln>
        </p:spPr>
      </p:sp>
      <p:sp>
        <p:nvSpPr>
          <p:cNvPr id="78" name="Shape 70"/>
          <p:cNvSpPr/>
          <p:nvPr/>
        </p:nvSpPr>
        <p:spPr>
          <a:xfrm>
            <a:off x="2352568" y="2693089"/>
            <a:ext cx="685800" cy="119299"/>
          </a:xfrm>
          <a:prstGeom prst="rect">
            <a:avLst/>
          </a:prstGeom>
          <a:solidFill>
            <a:srgbClr val="0F4C3A"/>
          </a:solidFill>
          <a:ln w="6350">
            <a:solidFill>
              <a:srgbClr val="E2E2E2"/>
            </a:solidFill>
            <a:prstDash val="solid"/>
          </a:ln>
        </p:spPr>
      </p:sp>
      <p:sp>
        <p:nvSpPr>
          <p:cNvPr id="79" name="Shape 71"/>
          <p:cNvSpPr/>
          <p:nvPr/>
        </p:nvSpPr>
        <p:spPr>
          <a:xfrm>
            <a:off x="3038368" y="2693089"/>
            <a:ext cx="365760" cy="119299"/>
          </a:xfrm>
          <a:prstGeom prst="rect">
            <a:avLst/>
          </a:prstGeom>
          <a:solidFill>
            <a:srgbClr val="0F4C3A"/>
          </a:solidFill>
          <a:ln w="6350">
            <a:solidFill>
              <a:srgbClr val="E2E2E2"/>
            </a:solidFill>
            <a:prstDash val="solid"/>
          </a:ln>
        </p:spPr>
      </p:sp>
      <p:sp>
        <p:nvSpPr>
          <p:cNvPr id="80" name="Shape 72"/>
          <p:cNvSpPr/>
          <p:nvPr/>
        </p:nvSpPr>
        <p:spPr>
          <a:xfrm>
            <a:off x="3404128" y="2693089"/>
            <a:ext cx="777240" cy="119299"/>
          </a:xfrm>
          <a:prstGeom prst="rect">
            <a:avLst/>
          </a:prstGeom>
          <a:solidFill>
            <a:srgbClr val="0F4C3A"/>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411480" cy="119299"/>
          </a:xfrm>
          <a:prstGeom prst="rect">
            <a:avLst/>
          </a:prstGeom>
          <a:solidFill>
            <a:srgbClr val="FFFFFF"/>
          </a:solidFill>
          <a:ln w="6350">
            <a:solidFill>
              <a:srgbClr val="E2E2E2"/>
            </a:solidFill>
            <a:prstDash val="solid"/>
          </a:ln>
        </p:spPr>
      </p:sp>
      <p:sp>
        <p:nvSpPr>
          <p:cNvPr id="84" name="Shape 76"/>
          <p:cNvSpPr/>
          <p:nvPr/>
        </p:nvSpPr>
        <p:spPr>
          <a:xfrm>
            <a:off x="1255288" y="2812388"/>
            <a:ext cx="685800" cy="119299"/>
          </a:xfrm>
          <a:prstGeom prst="rect">
            <a:avLst/>
          </a:prstGeom>
          <a:solidFill>
            <a:srgbClr val="FFFFFF"/>
          </a:solidFill>
          <a:ln w="6350">
            <a:solidFill>
              <a:srgbClr val="E2E2E2"/>
            </a:solidFill>
            <a:prstDash val="solid"/>
          </a:ln>
        </p:spPr>
      </p:sp>
      <p:sp>
        <p:nvSpPr>
          <p:cNvPr id="85" name="Shape 77"/>
          <p:cNvSpPr/>
          <p:nvPr/>
        </p:nvSpPr>
        <p:spPr>
          <a:xfrm>
            <a:off x="1941088" y="2812388"/>
            <a:ext cx="411480" cy="119299"/>
          </a:xfrm>
          <a:prstGeom prst="rect">
            <a:avLst/>
          </a:prstGeom>
          <a:solidFill>
            <a:srgbClr val="FFFFFF"/>
          </a:solidFill>
          <a:ln w="6350">
            <a:solidFill>
              <a:srgbClr val="E2E2E2"/>
            </a:solidFill>
            <a:prstDash val="solid"/>
          </a:ln>
        </p:spPr>
      </p:sp>
      <p:sp>
        <p:nvSpPr>
          <p:cNvPr id="86" name="Shape 78"/>
          <p:cNvSpPr/>
          <p:nvPr/>
        </p:nvSpPr>
        <p:spPr>
          <a:xfrm>
            <a:off x="2352568" y="2812388"/>
            <a:ext cx="685800" cy="119299"/>
          </a:xfrm>
          <a:prstGeom prst="rect">
            <a:avLst/>
          </a:prstGeom>
          <a:solidFill>
            <a:srgbClr val="FFFFFF"/>
          </a:solidFill>
          <a:ln w="6350">
            <a:solidFill>
              <a:srgbClr val="E2E2E2"/>
            </a:solidFill>
            <a:prstDash val="solid"/>
          </a:ln>
        </p:spPr>
      </p:sp>
      <p:sp>
        <p:nvSpPr>
          <p:cNvPr id="87" name="Shape 79"/>
          <p:cNvSpPr/>
          <p:nvPr/>
        </p:nvSpPr>
        <p:spPr>
          <a:xfrm>
            <a:off x="3038368" y="2812388"/>
            <a:ext cx="365760" cy="119299"/>
          </a:xfrm>
          <a:prstGeom prst="rect">
            <a:avLst/>
          </a:prstGeom>
          <a:solidFill>
            <a:srgbClr val="FFFFFF"/>
          </a:solidFill>
          <a:ln w="6350">
            <a:solidFill>
              <a:srgbClr val="E2E2E2"/>
            </a:solidFill>
            <a:prstDash val="solid"/>
          </a:ln>
        </p:spPr>
      </p:sp>
      <p:sp>
        <p:nvSpPr>
          <p:cNvPr id="88" name="Shape 80"/>
          <p:cNvSpPr/>
          <p:nvPr/>
        </p:nvSpPr>
        <p:spPr>
          <a:xfrm>
            <a:off x="3404128" y="2812388"/>
            <a:ext cx="77724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411480" cy="119299"/>
          </a:xfrm>
          <a:prstGeom prst="rect">
            <a:avLst/>
          </a:prstGeom>
          <a:solidFill>
            <a:srgbClr val="FFFFFF"/>
          </a:solidFill>
          <a:ln w="6350">
            <a:solidFill>
              <a:srgbClr val="E2E2E2"/>
            </a:solidFill>
            <a:prstDash val="solid"/>
          </a:ln>
        </p:spPr>
      </p:sp>
      <p:sp>
        <p:nvSpPr>
          <p:cNvPr id="92" name="Shape 84"/>
          <p:cNvSpPr/>
          <p:nvPr/>
        </p:nvSpPr>
        <p:spPr>
          <a:xfrm>
            <a:off x="1255288" y="2931688"/>
            <a:ext cx="685800" cy="119299"/>
          </a:xfrm>
          <a:prstGeom prst="rect">
            <a:avLst/>
          </a:prstGeom>
          <a:solidFill>
            <a:srgbClr val="FFFFFF"/>
          </a:solidFill>
          <a:ln w="6350">
            <a:solidFill>
              <a:srgbClr val="E2E2E2"/>
            </a:solidFill>
            <a:prstDash val="solid"/>
          </a:ln>
        </p:spPr>
      </p:sp>
      <p:sp>
        <p:nvSpPr>
          <p:cNvPr id="93" name="Shape 85"/>
          <p:cNvSpPr/>
          <p:nvPr/>
        </p:nvSpPr>
        <p:spPr>
          <a:xfrm>
            <a:off x="1941088" y="2931688"/>
            <a:ext cx="411480" cy="119299"/>
          </a:xfrm>
          <a:prstGeom prst="rect">
            <a:avLst/>
          </a:prstGeom>
          <a:solidFill>
            <a:srgbClr val="FFFFFF"/>
          </a:solidFill>
          <a:ln w="6350">
            <a:solidFill>
              <a:srgbClr val="E2E2E2"/>
            </a:solidFill>
            <a:prstDash val="solid"/>
          </a:ln>
        </p:spPr>
      </p:sp>
      <p:sp>
        <p:nvSpPr>
          <p:cNvPr id="94" name="Shape 86"/>
          <p:cNvSpPr/>
          <p:nvPr/>
        </p:nvSpPr>
        <p:spPr>
          <a:xfrm>
            <a:off x="2352568" y="2931688"/>
            <a:ext cx="685800" cy="119299"/>
          </a:xfrm>
          <a:prstGeom prst="rect">
            <a:avLst/>
          </a:prstGeom>
          <a:solidFill>
            <a:srgbClr val="FFFFFF"/>
          </a:solidFill>
          <a:ln w="6350">
            <a:solidFill>
              <a:srgbClr val="E2E2E2"/>
            </a:solidFill>
            <a:prstDash val="solid"/>
          </a:ln>
        </p:spPr>
      </p:sp>
      <p:sp>
        <p:nvSpPr>
          <p:cNvPr id="95" name="Shape 87"/>
          <p:cNvSpPr/>
          <p:nvPr/>
        </p:nvSpPr>
        <p:spPr>
          <a:xfrm>
            <a:off x="3038368" y="2931688"/>
            <a:ext cx="365760" cy="119299"/>
          </a:xfrm>
          <a:prstGeom prst="rect">
            <a:avLst/>
          </a:prstGeom>
          <a:solidFill>
            <a:srgbClr val="FFFFFF"/>
          </a:solidFill>
          <a:ln w="6350">
            <a:solidFill>
              <a:srgbClr val="E2E2E2"/>
            </a:solidFill>
            <a:prstDash val="solid"/>
          </a:ln>
        </p:spPr>
      </p:sp>
      <p:sp>
        <p:nvSpPr>
          <p:cNvPr id="96" name="Shape 88"/>
          <p:cNvSpPr/>
          <p:nvPr/>
        </p:nvSpPr>
        <p:spPr>
          <a:xfrm>
            <a:off x="3404128" y="2931688"/>
            <a:ext cx="77724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411480" cy="119299"/>
          </a:xfrm>
          <a:prstGeom prst="rect">
            <a:avLst/>
          </a:prstGeom>
          <a:solidFill>
            <a:srgbClr val="FFFFFF"/>
          </a:solidFill>
          <a:ln w="6350">
            <a:solidFill>
              <a:srgbClr val="E2E2E2"/>
            </a:solidFill>
            <a:prstDash val="solid"/>
          </a:ln>
        </p:spPr>
      </p:sp>
      <p:sp>
        <p:nvSpPr>
          <p:cNvPr id="100" name="Shape 92"/>
          <p:cNvSpPr/>
          <p:nvPr/>
        </p:nvSpPr>
        <p:spPr>
          <a:xfrm>
            <a:off x="1255288" y="3050987"/>
            <a:ext cx="685800" cy="119299"/>
          </a:xfrm>
          <a:prstGeom prst="rect">
            <a:avLst/>
          </a:prstGeom>
          <a:solidFill>
            <a:srgbClr val="FFFFFF"/>
          </a:solidFill>
          <a:ln w="6350">
            <a:solidFill>
              <a:srgbClr val="E2E2E2"/>
            </a:solidFill>
            <a:prstDash val="solid"/>
          </a:ln>
        </p:spPr>
      </p:sp>
      <p:sp>
        <p:nvSpPr>
          <p:cNvPr id="101" name="Shape 93"/>
          <p:cNvSpPr/>
          <p:nvPr/>
        </p:nvSpPr>
        <p:spPr>
          <a:xfrm>
            <a:off x="1941088" y="3050987"/>
            <a:ext cx="411480" cy="119299"/>
          </a:xfrm>
          <a:prstGeom prst="rect">
            <a:avLst/>
          </a:prstGeom>
          <a:solidFill>
            <a:srgbClr val="FFFFFF"/>
          </a:solidFill>
          <a:ln w="6350">
            <a:solidFill>
              <a:srgbClr val="E2E2E2"/>
            </a:solidFill>
            <a:prstDash val="solid"/>
          </a:ln>
        </p:spPr>
      </p:sp>
      <p:sp>
        <p:nvSpPr>
          <p:cNvPr id="102" name="Shape 94"/>
          <p:cNvSpPr/>
          <p:nvPr/>
        </p:nvSpPr>
        <p:spPr>
          <a:xfrm>
            <a:off x="2352568" y="3050987"/>
            <a:ext cx="685800" cy="119299"/>
          </a:xfrm>
          <a:prstGeom prst="rect">
            <a:avLst/>
          </a:prstGeom>
          <a:solidFill>
            <a:srgbClr val="FFFFFF"/>
          </a:solidFill>
          <a:ln w="6350">
            <a:solidFill>
              <a:srgbClr val="E2E2E2"/>
            </a:solidFill>
            <a:prstDash val="solid"/>
          </a:ln>
        </p:spPr>
      </p:sp>
      <p:sp>
        <p:nvSpPr>
          <p:cNvPr id="103" name="Shape 95"/>
          <p:cNvSpPr/>
          <p:nvPr/>
        </p:nvSpPr>
        <p:spPr>
          <a:xfrm>
            <a:off x="3038368" y="3050987"/>
            <a:ext cx="365760" cy="119299"/>
          </a:xfrm>
          <a:prstGeom prst="rect">
            <a:avLst/>
          </a:prstGeom>
          <a:solidFill>
            <a:srgbClr val="FFFFFF"/>
          </a:solidFill>
          <a:ln w="6350">
            <a:solidFill>
              <a:srgbClr val="E2E2E2"/>
            </a:solidFill>
            <a:prstDash val="solid"/>
          </a:ln>
        </p:spPr>
      </p:sp>
      <p:sp>
        <p:nvSpPr>
          <p:cNvPr id="104" name="Shape 96"/>
          <p:cNvSpPr/>
          <p:nvPr/>
        </p:nvSpPr>
        <p:spPr>
          <a:xfrm>
            <a:off x="3404128" y="3050987"/>
            <a:ext cx="77724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411480" cy="119299"/>
          </a:xfrm>
          <a:prstGeom prst="rect">
            <a:avLst/>
          </a:prstGeom>
          <a:solidFill>
            <a:srgbClr val="FFFFFF"/>
          </a:solidFill>
          <a:ln w="6350">
            <a:solidFill>
              <a:srgbClr val="E2E2E2"/>
            </a:solidFill>
            <a:prstDash val="solid"/>
          </a:ln>
        </p:spPr>
      </p:sp>
      <p:sp>
        <p:nvSpPr>
          <p:cNvPr id="108" name="Shape 100"/>
          <p:cNvSpPr/>
          <p:nvPr/>
        </p:nvSpPr>
        <p:spPr>
          <a:xfrm>
            <a:off x="1255288" y="3170287"/>
            <a:ext cx="685800" cy="119299"/>
          </a:xfrm>
          <a:prstGeom prst="rect">
            <a:avLst/>
          </a:prstGeom>
          <a:solidFill>
            <a:srgbClr val="FFFFFF"/>
          </a:solidFill>
          <a:ln w="6350">
            <a:solidFill>
              <a:srgbClr val="E2E2E2"/>
            </a:solidFill>
            <a:prstDash val="solid"/>
          </a:ln>
        </p:spPr>
      </p:sp>
      <p:sp>
        <p:nvSpPr>
          <p:cNvPr id="109" name="Shape 101"/>
          <p:cNvSpPr/>
          <p:nvPr/>
        </p:nvSpPr>
        <p:spPr>
          <a:xfrm>
            <a:off x="1941088" y="3170287"/>
            <a:ext cx="411480" cy="119299"/>
          </a:xfrm>
          <a:prstGeom prst="rect">
            <a:avLst/>
          </a:prstGeom>
          <a:solidFill>
            <a:srgbClr val="FFFFFF"/>
          </a:solidFill>
          <a:ln w="6350">
            <a:solidFill>
              <a:srgbClr val="E2E2E2"/>
            </a:solidFill>
            <a:prstDash val="solid"/>
          </a:ln>
        </p:spPr>
      </p:sp>
      <p:sp>
        <p:nvSpPr>
          <p:cNvPr id="110" name="Shape 102"/>
          <p:cNvSpPr/>
          <p:nvPr/>
        </p:nvSpPr>
        <p:spPr>
          <a:xfrm>
            <a:off x="2352568" y="3170287"/>
            <a:ext cx="685800" cy="119299"/>
          </a:xfrm>
          <a:prstGeom prst="rect">
            <a:avLst/>
          </a:prstGeom>
          <a:solidFill>
            <a:srgbClr val="FFFFFF"/>
          </a:solidFill>
          <a:ln w="6350">
            <a:solidFill>
              <a:srgbClr val="E2E2E2"/>
            </a:solidFill>
            <a:prstDash val="solid"/>
          </a:ln>
        </p:spPr>
      </p:sp>
      <p:sp>
        <p:nvSpPr>
          <p:cNvPr id="111" name="Shape 103"/>
          <p:cNvSpPr/>
          <p:nvPr/>
        </p:nvSpPr>
        <p:spPr>
          <a:xfrm>
            <a:off x="3038368" y="3170287"/>
            <a:ext cx="365760" cy="119299"/>
          </a:xfrm>
          <a:prstGeom prst="rect">
            <a:avLst/>
          </a:prstGeom>
          <a:solidFill>
            <a:srgbClr val="FFFFFF"/>
          </a:solidFill>
          <a:ln w="6350">
            <a:solidFill>
              <a:srgbClr val="E2E2E2"/>
            </a:solidFill>
            <a:prstDash val="solid"/>
          </a:ln>
        </p:spPr>
      </p:sp>
      <p:sp>
        <p:nvSpPr>
          <p:cNvPr id="112" name="Shape 104"/>
          <p:cNvSpPr/>
          <p:nvPr/>
        </p:nvSpPr>
        <p:spPr>
          <a:xfrm>
            <a:off x="3404128" y="3170287"/>
            <a:ext cx="77724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411480" cy="119299"/>
          </a:xfrm>
          <a:prstGeom prst="rect">
            <a:avLst/>
          </a:prstGeom>
          <a:solidFill>
            <a:srgbClr val="FFFFFF"/>
          </a:solidFill>
          <a:ln w="6350">
            <a:solidFill>
              <a:srgbClr val="E2E2E2"/>
            </a:solidFill>
            <a:prstDash val="solid"/>
          </a:ln>
        </p:spPr>
      </p:sp>
      <p:sp>
        <p:nvSpPr>
          <p:cNvPr id="116" name="Shape 108"/>
          <p:cNvSpPr/>
          <p:nvPr/>
        </p:nvSpPr>
        <p:spPr>
          <a:xfrm>
            <a:off x="1255288" y="3289586"/>
            <a:ext cx="685800" cy="119299"/>
          </a:xfrm>
          <a:prstGeom prst="rect">
            <a:avLst/>
          </a:prstGeom>
          <a:solidFill>
            <a:srgbClr val="FFFFFF"/>
          </a:solidFill>
          <a:ln w="6350">
            <a:solidFill>
              <a:srgbClr val="E2E2E2"/>
            </a:solidFill>
            <a:prstDash val="solid"/>
          </a:ln>
        </p:spPr>
      </p:sp>
      <p:sp>
        <p:nvSpPr>
          <p:cNvPr id="117" name="Shape 109"/>
          <p:cNvSpPr/>
          <p:nvPr/>
        </p:nvSpPr>
        <p:spPr>
          <a:xfrm>
            <a:off x="1941088" y="3289586"/>
            <a:ext cx="411480" cy="119299"/>
          </a:xfrm>
          <a:prstGeom prst="rect">
            <a:avLst/>
          </a:prstGeom>
          <a:solidFill>
            <a:srgbClr val="FFFFFF"/>
          </a:solidFill>
          <a:ln w="6350">
            <a:solidFill>
              <a:srgbClr val="E2E2E2"/>
            </a:solidFill>
            <a:prstDash val="solid"/>
          </a:ln>
        </p:spPr>
      </p:sp>
      <p:sp>
        <p:nvSpPr>
          <p:cNvPr id="118" name="Shape 110"/>
          <p:cNvSpPr/>
          <p:nvPr/>
        </p:nvSpPr>
        <p:spPr>
          <a:xfrm>
            <a:off x="2352568" y="3289586"/>
            <a:ext cx="685800" cy="119299"/>
          </a:xfrm>
          <a:prstGeom prst="rect">
            <a:avLst/>
          </a:prstGeom>
          <a:solidFill>
            <a:srgbClr val="FFFFFF"/>
          </a:solidFill>
          <a:ln w="6350">
            <a:solidFill>
              <a:srgbClr val="E2E2E2"/>
            </a:solidFill>
            <a:prstDash val="solid"/>
          </a:ln>
        </p:spPr>
      </p:sp>
      <p:sp>
        <p:nvSpPr>
          <p:cNvPr id="119" name="Shape 111"/>
          <p:cNvSpPr/>
          <p:nvPr/>
        </p:nvSpPr>
        <p:spPr>
          <a:xfrm>
            <a:off x="3038368" y="3289586"/>
            <a:ext cx="365760" cy="119299"/>
          </a:xfrm>
          <a:prstGeom prst="rect">
            <a:avLst/>
          </a:prstGeom>
          <a:solidFill>
            <a:srgbClr val="FFFFFF"/>
          </a:solidFill>
          <a:ln w="6350">
            <a:solidFill>
              <a:srgbClr val="E2E2E2"/>
            </a:solidFill>
            <a:prstDash val="solid"/>
          </a:ln>
        </p:spPr>
      </p:sp>
      <p:sp>
        <p:nvSpPr>
          <p:cNvPr id="120" name="Shape 112"/>
          <p:cNvSpPr/>
          <p:nvPr/>
        </p:nvSpPr>
        <p:spPr>
          <a:xfrm>
            <a:off x="3404128" y="3289586"/>
            <a:ext cx="77724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411480" cy="119299"/>
          </a:xfrm>
          <a:prstGeom prst="rect">
            <a:avLst/>
          </a:prstGeom>
          <a:solidFill>
            <a:srgbClr val="FFFFFF"/>
          </a:solidFill>
          <a:ln w="6350">
            <a:solidFill>
              <a:srgbClr val="E2E2E2"/>
            </a:solidFill>
            <a:prstDash val="solid"/>
          </a:ln>
        </p:spPr>
      </p:sp>
      <p:sp>
        <p:nvSpPr>
          <p:cNvPr id="124" name="Shape 116"/>
          <p:cNvSpPr/>
          <p:nvPr/>
        </p:nvSpPr>
        <p:spPr>
          <a:xfrm>
            <a:off x="1255288" y="3408885"/>
            <a:ext cx="685800" cy="119299"/>
          </a:xfrm>
          <a:prstGeom prst="rect">
            <a:avLst/>
          </a:prstGeom>
          <a:solidFill>
            <a:srgbClr val="FFFFFF"/>
          </a:solidFill>
          <a:ln w="6350">
            <a:solidFill>
              <a:srgbClr val="E2E2E2"/>
            </a:solidFill>
            <a:prstDash val="solid"/>
          </a:ln>
        </p:spPr>
      </p:sp>
      <p:sp>
        <p:nvSpPr>
          <p:cNvPr id="125" name="Shape 117"/>
          <p:cNvSpPr/>
          <p:nvPr/>
        </p:nvSpPr>
        <p:spPr>
          <a:xfrm>
            <a:off x="1941088" y="3408885"/>
            <a:ext cx="411480" cy="119299"/>
          </a:xfrm>
          <a:prstGeom prst="rect">
            <a:avLst/>
          </a:prstGeom>
          <a:solidFill>
            <a:srgbClr val="FFFFFF"/>
          </a:solidFill>
          <a:ln w="6350">
            <a:solidFill>
              <a:srgbClr val="E2E2E2"/>
            </a:solidFill>
            <a:prstDash val="solid"/>
          </a:ln>
        </p:spPr>
      </p:sp>
      <p:sp>
        <p:nvSpPr>
          <p:cNvPr id="126" name="Shape 118"/>
          <p:cNvSpPr/>
          <p:nvPr/>
        </p:nvSpPr>
        <p:spPr>
          <a:xfrm>
            <a:off x="2352568" y="3408885"/>
            <a:ext cx="685800" cy="119299"/>
          </a:xfrm>
          <a:prstGeom prst="rect">
            <a:avLst/>
          </a:prstGeom>
          <a:solidFill>
            <a:srgbClr val="FFFFFF"/>
          </a:solidFill>
          <a:ln w="6350">
            <a:solidFill>
              <a:srgbClr val="E2E2E2"/>
            </a:solidFill>
            <a:prstDash val="solid"/>
          </a:ln>
        </p:spPr>
      </p:sp>
      <p:sp>
        <p:nvSpPr>
          <p:cNvPr id="127" name="Shape 119"/>
          <p:cNvSpPr/>
          <p:nvPr/>
        </p:nvSpPr>
        <p:spPr>
          <a:xfrm>
            <a:off x="3038368" y="3408885"/>
            <a:ext cx="365760" cy="119299"/>
          </a:xfrm>
          <a:prstGeom prst="rect">
            <a:avLst/>
          </a:prstGeom>
          <a:solidFill>
            <a:srgbClr val="FFFFFF"/>
          </a:solidFill>
          <a:ln w="6350">
            <a:solidFill>
              <a:srgbClr val="E2E2E2"/>
            </a:solidFill>
            <a:prstDash val="solid"/>
          </a:ln>
        </p:spPr>
      </p:sp>
      <p:sp>
        <p:nvSpPr>
          <p:cNvPr id="128" name="Shape 120"/>
          <p:cNvSpPr/>
          <p:nvPr/>
        </p:nvSpPr>
        <p:spPr>
          <a:xfrm>
            <a:off x="3404128" y="3408885"/>
            <a:ext cx="77724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411480" cy="119299"/>
          </a:xfrm>
          <a:prstGeom prst="rect">
            <a:avLst/>
          </a:prstGeom>
          <a:solidFill>
            <a:srgbClr val="FFFFFF"/>
          </a:solidFill>
          <a:ln w="6350">
            <a:solidFill>
              <a:srgbClr val="E2E2E2"/>
            </a:solidFill>
            <a:prstDash val="solid"/>
          </a:ln>
        </p:spPr>
      </p:sp>
      <p:sp>
        <p:nvSpPr>
          <p:cNvPr id="132" name="Shape 124"/>
          <p:cNvSpPr/>
          <p:nvPr/>
        </p:nvSpPr>
        <p:spPr>
          <a:xfrm>
            <a:off x="1255288" y="3528185"/>
            <a:ext cx="685800" cy="119299"/>
          </a:xfrm>
          <a:prstGeom prst="rect">
            <a:avLst/>
          </a:prstGeom>
          <a:solidFill>
            <a:srgbClr val="FFFFFF"/>
          </a:solidFill>
          <a:ln w="6350">
            <a:solidFill>
              <a:srgbClr val="E2E2E2"/>
            </a:solidFill>
            <a:prstDash val="solid"/>
          </a:ln>
        </p:spPr>
      </p:sp>
      <p:sp>
        <p:nvSpPr>
          <p:cNvPr id="133" name="Shape 125"/>
          <p:cNvSpPr/>
          <p:nvPr/>
        </p:nvSpPr>
        <p:spPr>
          <a:xfrm>
            <a:off x="1941088" y="3528185"/>
            <a:ext cx="411480" cy="119299"/>
          </a:xfrm>
          <a:prstGeom prst="rect">
            <a:avLst/>
          </a:prstGeom>
          <a:solidFill>
            <a:srgbClr val="FFFFFF"/>
          </a:solidFill>
          <a:ln w="6350">
            <a:solidFill>
              <a:srgbClr val="E2E2E2"/>
            </a:solidFill>
            <a:prstDash val="solid"/>
          </a:ln>
        </p:spPr>
      </p:sp>
      <p:sp>
        <p:nvSpPr>
          <p:cNvPr id="134" name="Shape 126"/>
          <p:cNvSpPr/>
          <p:nvPr/>
        </p:nvSpPr>
        <p:spPr>
          <a:xfrm>
            <a:off x="2352568" y="3528185"/>
            <a:ext cx="685800" cy="119299"/>
          </a:xfrm>
          <a:prstGeom prst="rect">
            <a:avLst/>
          </a:prstGeom>
          <a:solidFill>
            <a:srgbClr val="FFFFFF"/>
          </a:solidFill>
          <a:ln w="6350">
            <a:solidFill>
              <a:srgbClr val="E2E2E2"/>
            </a:solidFill>
            <a:prstDash val="solid"/>
          </a:ln>
        </p:spPr>
      </p:sp>
      <p:sp>
        <p:nvSpPr>
          <p:cNvPr id="135" name="Shape 127"/>
          <p:cNvSpPr/>
          <p:nvPr/>
        </p:nvSpPr>
        <p:spPr>
          <a:xfrm>
            <a:off x="3038368" y="3528185"/>
            <a:ext cx="365760" cy="119299"/>
          </a:xfrm>
          <a:prstGeom prst="rect">
            <a:avLst/>
          </a:prstGeom>
          <a:solidFill>
            <a:srgbClr val="FFFFFF"/>
          </a:solidFill>
          <a:ln w="6350">
            <a:solidFill>
              <a:srgbClr val="E2E2E2"/>
            </a:solidFill>
            <a:prstDash val="solid"/>
          </a:ln>
        </p:spPr>
      </p:sp>
      <p:sp>
        <p:nvSpPr>
          <p:cNvPr id="136" name="Shape 128"/>
          <p:cNvSpPr/>
          <p:nvPr/>
        </p:nvSpPr>
        <p:spPr>
          <a:xfrm>
            <a:off x="3404128" y="3528185"/>
            <a:ext cx="77724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411480" cy="119299"/>
          </a:xfrm>
          <a:prstGeom prst="rect">
            <a:avLst/>
          </a:prstGeom>
          <a:solidFill>
            <a:srgbClr val="FFFFFF"/>
          </a:solidFill>
          <a:ln w="6350">
            <a:solidFill>
              <a:srgbClr val="E2E2E2"/>
            </a:solidFill>
            <a:prstDash val="solid"/>
          </a:ln>
        </p:spPr>
      </p:sp>
      <p:sp>
        <p:nvSpPr>
          <p:cNvPr id="140" name="Shape 132"/>
          <p:cNvSpPr/>
          <p:nvPr/>
        </p:nvSpPr>
        <p:spPr>
          <a:xfrm>
            <a:off x="1255288" y="3647484"/>
            <a:ext cx="685800" cy="119299"/>
          </a:xfrm>
          <a:prstGeom prst="rect">
            <a:avLst/>
          </a:prstGeom>
          <a:solidFill>
            <a:srgbClr val="FFFFFF"/>
          </a:solidFill>
          <a:ln w="6350">
            <a:solidFill>
              <a:srgbClr val="E2E2E2"/>
            </a:solidFill>
            <a:prstDash val="solid"/>
          </a:ln>
        </p:spPr>
      </p:sp>
      <p:sp>
        <p:nvSpPr>
          <p:cNvPr id="141" name="Shape 133"/>
          <p:cNvSpPr/>
          <p:nvPr/>
        </p:nvSpPr>
        <p:spPr>
          <a:xfrm>
            <a:off x="1941088" y="3647484"/>
            <a:ext cx="411480" cy="119299"/>
          </a:xfrm>
          <a:prstGeom prst="rect">
            <a:avLst/>
          </a:prstGeom>
          <a:solidFill>
            <a:srgbClr val="FFFFFF"/>
          </a:solidFill>
          <a:ln w="6350">
            <a:solidFill>
              <a:srgbClr val="E2E2E2"/>
            </a:solidFill>
            <a:prstDash val="solid"/>
          </a:ln>
        </p:spPr>
      </p:sp>
      <p:sp>
        <p:nvSpPr>
          <p:cNvPr id="142" name="Shape 134"/>
          <p:cNvSpPr/>
          <p:nvPr/>
        </p:nvSpPr>
        <p:spPr>
          <a:xfrm>
            <a:off x="2352568" y="3647484"/>
            <a:ext cx="685800" cy="119299"/>
          </a:xfrm>
          <a:prstGeom prst="rect">
            <a:avLst/>
          </a:prstGeom>
          <a:solidFill>
            <a:srgbClr val="FFFFFF"/>
          </a:solidFill>
          <a:ln w="6350">
            <a:solidFill>
              <a:srgbClr val="E2E2E2"/>
            </a:solidFill>
            <a:prstDash val="solid"/>
          </a:ln>
        </p:spPr>
      </p:sp>
      <p:sp>
        <p:nvSpPr>
          <p:cNvPr id="143" name="Shape 135"/>
          <p:cNvSpPr/>
          <p:nvPr/>
        </p:nvSpPr>
        <p:spPr>
          <a:xfrm>
            <a:off x="3038368" y="3647484"/>
            <a:ext cx="365760" cy="119299"/>
          </a:xfrm>
          <a:prstGeom prst="rect">
            <a:avLst/>
          </a:prstGeom>
          <a:solidFill>
            <a:srgbClr val="FFFFFF"/>
          </a:solidFill>
          <a:ln w="6350">
            <a:solidFill>
              <a:srgbClr val="E2E2E2"/>
            </a:solidFill>
            <a:prstDash val="solid"/>
          </a:ln>
        </p:spPr>
      </p:sp>
      <p:sp>
        <p:nvSpPr>
          <p:cNvPr id="144" name="Shape 136"/>
          <p:cNvSpPr/>
          <p:nvPr/>
        </p:nvSpPr>
        <p:spPr>
          <a:xfrm>
            <a:off x="3404128" y="3647484"/>
            <a:ext cx="77724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660928" y="2400053"/>
            <a:ext cx="4804623" cy="1348443"/>
          </a:xfrm>
          <a:prstGeom prst="rect">
            <a:avLst/>
          </a:prstGeom>
          <a:solidFill>
            <a:srgbClr val="F3F6F4"/>
          </a:solidFill>
          <a:ln w="12700">
            <a:solidFill>
              <a:srgbClr val="F3F6F4"/>
            </a:solidFill>
            <a:prstDash val="solid"/>
          </a:ln>
        </p:spPr>
      </p:sp>
      <p:sp>
        <p:nvSpPr>
          <p:cNvPr id="152" name="Text 144"/>
          <p:cNvSpPr txBox="1"/>
          <p:nvPr/>
        </p:nvSpPr>
        <p:spPr>
          <a:xfrm>
            <a:off x="706648" y="2418341"/>
            <a:ext cx="4804623" cy="182880"/>
          </a:xfrm>
          <a:prstGeom prst="rect">
            <a:avLst/>
          </a:prstGeom>
          <a:noFill/>
          <a:ln/>
        </p:spPr>
        <p:txBody>
          <a:bodyPr wrap="square" lIns="0" tIns="0" rIns="0" bIns="0" rtlCol="0" anchor="t"/>
          <a:lstStyle/>
          <a:p>
            <a:pPr indent="0" marL="0">
              <a:buNone/>
            </a:pPr>
            <a:r>
              <a:rPr lang="en-US" sz="800" b="1" dirty="0">
                <a:solidFill>
                  <a:srgbClr val="0F4C3A"/>
                </a:solidFill>
                <a:latin typeface="Calibri" pitchFamily="34" charset="0"/>
                <a:ea typeface="Calibri" pitchFamily="34" charset="-122"/>
                <a:cs typeface="Calibri" pitchFamily="34" charset="-120"/>
              </a:rPr>
              <a:t>DASHBOARD PRESTASI KELAS 8 (DATA FIKTIF)</a:t>
            </a:r>
            <a:endParaRPr lang="en-US" sz="800" dirty="0"/>
          </a:p>
        </p:txBody>
      </p:sp>
      <p:sp>
        <p:nvSpPr>
          <p:cNvPr id="153" name="Shape 145"/>
          <p:cNvSpPr/>
          <p:nvPr/>
        </p:nvSpPr>
        <p:spPr>
          <a:xfrm>
            <a:off x="706648" y="2656085"/>
            <a:ext cx="1540581" cy="411480"/>
          </a:xfrm>
          <a:prstGeom prst="roundRect">
            <a:avLst>
              <a:gd name="adj" fmla="val 8889"/>
            </a:avLst>
          </a:prstGeom>
          <a:solidFill>
            <a:srgbClr val="FFFFFF"/>
          </a:solidFill>
          <a:ln w="9525">
            <a:solidFill>
              <a:srgbClr val="DDDDDD"/>
            </a:solidFill>
            <a:prstDash val="solid"/>
          </a:ln>
        </p:spPr>
      </p:sp>
      <p:sp>
        <p:nvSpPr>
          <p:cNvPr id="154" name="Shape 146"/>
          <p:cNvSpPr/>
          <p:nvPr/>
        </p:nvSpPr>
        <p:spPr>
          <a:xfrm>
            <a:off x="706648" y="2656085"/>
            <a:ext cx="45720" cy="411480"/>
          </a:xfrm>
          <a:prstGeom prst="rect">
            <a:avLst/>
          </a:prstGeom>
          <a:solidFill>
            <a:srgbClr val="1F7A5C"/>
          </a:solidFill>
          <a:ln w="12700">
            <a:solidFill>
              <a:srgbClr val="1F7A5C"/>
            </a:solidFill>
            <a:prstDash val="solid"/>
          </a:ln>
        </p:spPr>
      </p:sp>
      <p:sp>
        <p:nvSpPr>
          <p:cNvPr id="155" name="Text 147"/>
          <p:cNvSpPr txBox="1"/>
          <p:nvPr/>
        </p:nvSpPr>
        <p:spPr>
          <a:xfrm>
            <a:off x="798088" y="2683517"/>
            <a:ext cx="1403421" cy="144018"/>
          </a:xfrm>
          <a:prstGeom prst="rect">
            <a:avLst/>
          </a:prstGeom>
          <a:noFill/>
          <a:ln/>
        </p:spPr>
        <p:txBody>
          <a:bodyPr wrap="square" lIns="0" tIns="0" rIns="0" bIns="0" rtlCol="0" anchor="ctr"/>
          <a:lstStyle/>
          <a:p>
            <a:pPr indent="0" marL="0">
              <a:buNone/>
            </a:pPr>
            <a:r>
              <a:rPr lang="en-US" sz="630" dirty="0">
                <a:solidFill>
                  <a:srgbClr val="555555"/>
                </a:solidFill>
                <a:latin typeface="Calibri" pitchFamily="34" charset="0"/>
                <a:ea typeface="Calibri" pitchFamily="34" charset="-122"/>
                <a:cs typeface="Calibri" pitchFamily="34" charset="-120"/>
              </a:rPr>
              <a:t>Tercapai (≥3 juz)</a:t>
            </a:r>
            <a:endParaRPr lang="en-US" sz="630" dirty="0"/>
          </a:p>
        </p:txBody>
      </p:sp>
      <p:sp>
        <p:nvSpPr>
          <p:cNvPr id="156" name="Text 148"/>
          <p:cNvSpPr txBox="1"/>
          <p:nvPr/>
        </p:nvSpPr>
        <p:spPr>
          <a:xfrm>
            <a:off x="798088" y="2800103"/>
            <a:ext cx="1403421" cy="246888"/>
          </a:xfrm>
          <a:prstGeom prst="rect">
            <a:avLst/>
          </a:prstGeom>
          <a:noFill/>
          <a:ln/>
        </p:spPr>
        <p:txBody>
          <a:bodyPr wrap="square" lIns="0" tIns="0" rIns="0" bIns="0" rtlCol="0" anchor="ctr"/>
          <a:lstStyle/>
          <a:p>
            <a:pPr indent="0" marL="0">
              <a:buNone/>
            </a:pPr>
            <a:r>
              <a:rPr lang="en-US" sz="1440" b="1" dirty="0">
                <a:solidFill>
                  <a:srgbClr val="1F7A5C"/>
                </a:solidFill>
                <a:latin typeface="Calibri" pitchFamily="34" charset="0"/>
                <a:ea typeface="Calibri" pitchFamily="34" charset="-122"/>
                <a:cs typeface="Calibri" pitchFamily="34" charset="-120"/>
              </a:rPr>
              <a:t>5</a:t>
            </a:r>
            <a:endParaRPr lang="en-US" sz="1440" dirty="0"/>
          </a:p>
        </p:txBody>
      </p:sp>
      <p:sp>
        <p:nvSpPr>
          <p:cNvPr id="157" name="Shape 149"/>
          <p:cNvSpPr/>
          <p:nvPr/>
        </p:nvSpPr>
        <p:spPr>
          <a:xfrm>
            <a:off x="2292949" y="2656085"/>
            <a:ext cx="1540581" cy="411480"/>
          </a:xfrm>
          <a:prstGeom prst="roundRect">
            <a:avLst>
              <a:gd name="adj" fmla="val 8889"/>
            </a:avLst>
          </a:prstGeom>
          <a:solidFill>
            <a:srgbClr val="FFFFFF"/>
          </a:solidFill>
          <a:ln w="9525">
            <a:solidFill>
              <a:srgbClr val="DDDDDD"/>
            </a:solidFill>
            <a:prstDash val="solid"/>
          </a:ln>
        </p:spPr>
      </p:sp>
      <p:sp>
        <p:nvSpPr>
          <p:cNvPr id="158" name="Shape 150"/>
          <p:cNvSpPr/>
          <p:nvPr/>
        </p:nvSpPr>
        <p:spPr>
          <a:xfrm>
            <a:off x="2292949" y="2656085"/>
            <a:ext cx="45720" cy="411480"/>
          </a:xfrm>
          <a:prstGeom prst="rect">
            <a:avLst/>
          </a:prstGeom>
          <a:solidFill>
            <a:srgbClr val="C62828"/>
          </a:solidFill>
          <a:ln w="12700">
            <a:solidFill>
              <a:srgbClr val="C62828"/>
            </a:solidFill>
            <a:prstDash val="solid"/>
          </a:ln>
        </p:spPr>
      </p:sp>
      <p:sp>
        <p:nvSpPr>
          <p:cNvPr id="159" name="Text 151"/>
          <p:cNvSpPr txBox="1"/>
          <p:nvPr/>
        </p:nvSpPr>
        <p:spPr>
          <a:xfrm>
            <a:off x="2384389" y="2683517"/>
            <a:ext cx="1403421" cy="144018"/>
          </a:xfrm>
          <a:prstGeom prst="rect">
            <a:avLst/>
          </a:prstGeom>
          <a:noFill/>
          <a:ln/>
        </p:spPr>
        <p:txBody>
          <a:bodyPr wrap="square" lIns="0" tIns="0" rIns="0" bIns="0" rtlCol="0" anchor="ctr"/>
          <a:lstStyle/>
          <a:p>
            <a:pPr indent="0" marL="0">
              <a:buNone/>
            </a:pPr>
            <a:r>
              <a:rPr lang="en-US" sz="630" dirty="0">
                <a:solidFill>
                  <a:srgbClr val="555555"/>
                </a:solidFill>
                <a:latin typeface="Calibri" pitchFamily="34" charset="0"/>
                <a:ea typeface="Calibri" pitchFamily="34" charset="-122"/>
                <a:cs typeface="Calibri" pitchFamily="34" charset="-120"/>
              </a:rPr>
              <a:t>Perlu bimbingan</a:t>
            </a:r>
            <a:endParaRPr lang="en-US" sz="630" dirty="0"/>
          </a:p>
        </p:txBody>
      </p:sp>
      <p:sp>
        <p:nvSpPr>
          <p:cNvPr id="160" name="Text 152"/>
          <p:cNvSpPr txBox="1"/>
          <p:nvPr/>
        </p:nvSpPr>
        <p:spPr>
          <a:xfrm>
            <a:off x="2384389" y="2800103"/>
            <a:ext cx="1403421" cy="246888"/>
          </a:xfrm>
          <a:prstGeom prst="rect">
            <a:avLst/>
          </a:prstGeom>
          <a:noFill/>
          <a:ln/>
        </p:spPr>
        <p:txBody>
          <a:bodyPr wrap="square" lIns="0" tIns="0" rIns="0" bIns="0" rtlCol="0" anchor="ctr"/>
          <a:lstStyle/>
          <a:p>
            <a:pPr indent="0" marL="0">
              <a:buNone/>
            </a:pPr>
            <a:r>
              <a:rPr lang="en-US" sz="1440" b="1" dirty="0">
                <a:solidFill>
                  <a:srgbClr val="C62828"/>
                </a:solidFill>
                <a:latin typeface="Calibri" pitchFamily="34" charset="0"/>
                <a:ea typeface="Calibri" pitchFamily="34" charset="-122"/>
                <a:cs typeface="Calibri" pitchFamily="34" charset="-120"/>
              </a:rPr>
              <a:t>3</a:t>
            </a:r>
            <a:endParaRPr lang="en-US" sz="1440" dirty="0"/>
          </a:p>
        </p:txBody>
      </p:sp>
      <p:sp>
        <p:nvSpPr>
          <p:cNvPr id="161" name="Shape 153"/>
          <p:cNvSpPr/>
          <p:nvPr/>
        </p:nvSpPr>
        <p:spPr>
          <a:xfrm>
            <a:off x="3879251" y="2656085"/>
            <a:ext cx="1540581" cy="411480"/>
          </a:xfrm>
          <a:prstGeom prst="roundRect">
            <a:avLst>
              <a:gd name="adj" fmla="val 8889"/>
            </a:avLst>
          </a:prstGeom>
          <a:solidFill>
            <a:srgbClr val="FFFFFF"/>
          </a:solidFill>
          <a:ln w="9525">
            <a:solidFill>
              <a:srgbClr val="DDDDDD"/>
            </a:solidFill>
            <a:prstDash val="solid"/>
          </a:ln>
        </p:spPr>
      </p:sp>
      <p:sp>
        <p:nvSpPr>
          <p:cNvPr id="162" name="Shape 154"/>
          <p:cNvSpPr/>
          <p:nvPr/>
        </p:nvSpPr>
        <p:spPr>
          <a:xfrm>
            <a:off x="3879251" y="2656085"/>
            <a:ext cx="45720" cy="411480"/>
          </a:xfrm>
          <a:prstGeom prst="rect">
            <a:avLst/>
          </a:prstGeom>
          <a:solidFill>
            <a:srgbClr val="D4A017"/>
          </a:solidFill>
          <a:ln w="12700">
            <a:solidFill>
              <a:srgbClr val="D4A017"/>
            </a:solidFill>
            <a:prstDash val="solid"/>
          </a:ln>
        </p:spPr>
      </p:sp>
      <p:sp>
        <p:nvSpPr>
          <p:cNvPr id="163" name="Text 155"/>
          <p:cNvSpPr txBox="1"/>
          <p:nvPr/>
        </p:nvSpPr>
        <p:spPr>
          <a:xfrm>
            <a:off x="3970691" y="2683517"/>
            <a:ext cx="1403421" cy="144018"/>
          </a:xfrm>
          <a:prstGeom prst="rect">
            <a:avLst/>
          </a:prstGeom>
          <a:noFill/>
          <a:ln/>
        </p:spPr>
        <p:txBody>
          <a:bodyPr wrap="square" lIns="0" tIns="0" rIns="0" bIns="0" rtlCol="0" anchor="ctr"/>
          <a:lstStyle/>
          <a:p>
            <a:pPr indent="0" marL="0">
              <a:buNone/>
            </a:pPr>
            <a:r>
              <a:rPr lang="en-US" sz="630" dirty="0">
                <a:solidFill>
                  <a:srgbClr val="555555"/>
                </a:solidFill>
                <a:latin typeface="Calibri" pitchFamily="34" charset="0"/>
                <a:ea typeface="Calibri" pitchFamily="34" charset="-122"/>
                <a:cs typeface="Calibri" pitchFamily="34" charset="-120"/>
              </a:rPr>
              <a:t>Persen tercapai</a:t>
            </a:r>
            <a:endParaRPr lang="en-US" sz="630" dirty="0"/>
          </a:p>
        </p:txBody>
      </p:sp>
      <p:sp>
        <p:nvSpPr>
          <p:cNvPr id="164" name="Text 156"/>
          <p:cNvSpPr txBox="1"/>
          <p:nvPr/>
        </p:nvSpPr>
        <p:spPr>
          <a:xfrm>
            <a:off x="3970691" y="2800103"/>
            <a:ext cx="1403421" cy="246888"/>
          </a:xfrm>
          <a:prstGeom prst="rect">
            <a:avLst/>
          </a:prstGeom>
          <a:noFill/>
          <a:ln/>
        </p:spPr>
        <p:txBody>
          <a:bodyPr wrap="square" lIns="0" tIns="0" rIns="0" bIns="0" rtlCol="0" anchor="ctr"/>
          <a:lstStyle/>
          <a:p>
            <a:pPr indent="0" marL="0">
              <a:buNone/>
            </a:pPr>
            <a:r>
              <a:rPr lang="en-US" sz="1440" b="1" dirty="0">
                <a:solidFill>
                  <a:srgbClr val="D4A017"/>
                </a:solidFill>
                <a:latin typeface="Calibri" pitchFamily="34" charset="0"/>
                <a:ea typeface="Calibri" pitchFamily="34" charset="-122"/>
                <a:cs typeface="Calibri" pitchFamily="34" charset="-120"/>
              </a:rPr>
              <a:t>63%</a:t>
            </a:r>
            <a:endParaRPr lang="en-US" sz="1440" dirty="0"/>
          </a:p>
        </p:txBody>
      </p:sp>
      <p:sp>
        <p:nvSpPr>
          <p:cNvPr id="165" name="Shape 157"/>
          <p:cNvSpPr/>
          <p:nvPr/>
        </p:nvSpPr>
        <p:spPr>
          <a:xfrm>
            <a:off x="670072" y="2619509"/>
            <a:ext cx="4786335" cy="493776"/>
          </a:xfrm>
          <a:prstGeom prst="roundRect">
            <a:avLst>
              <a:gd name="adj" fmla="val 9259"/>
            </a:avLst>
          </a:prstGeom>
          <a:solidFill>
            <a:srgbClr val="FFFFFF">
              <a:alpha val="0"/>
            </a:srgbClr>
          </a:solidFill>
          <a:ln w="31750">
            <a:solidFill>
              <a:srgbClr val="E53935"/>
            </a:solidFill>
            <a:prstDash val="solid"/>
          </a:ln>
        </p:spPr>
      </p:sp>
      <p:sp>
        <p:nvSpPr>
          <p:cNvPr id="166" name="Shape 158"/>
          <p:cNvSpPr/>
          <p:nvPr/>
        </p:nvSpPr>
        <p:spPr>
          <a:xfrm>
            <a:off x="5319248" y="2482349"/>
            <a:ext cx="274320" cy="274320"/>
          </a:xfrm>
          <a:prstGeom prst="ellipse">
            <a:avLst/>
          </a:prstGeom>
          <a:solidFill>
            <a:srgbClr val="E53935"/>
          </a:solidFill>
          <a:ln w="12700">
            <a:solidFill>
              <a:srgbClr val="FFFFFF"/>
            </a:solidFill>
            <a:prstDash val="solid"/>
          </a:ln>
        </p:spPr>
      </p:sp>
      <p:sp>
        <p:nvSpPr>
          <p:cNvPr id="167" name="Text 159"/>
          <p:cNvSpPr txBox="1"/>
          <p:nvPr/>
        </p:nvSpPr>
        <p:spPr>
          <a:xfrm>
            <a:off x="5319248" y="248234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168" name="Image 6" descr="preencoded.png">    </p:cNvPr>
          <p:cNvPicPr>
            <a:picLocks noChangeAspect="1"/>
          </p:cNvPicPr>
          <p:nvPr/>
        </p:nvPicPr>
        <p:blipFill>
          <a:blip r:embed="rId7"/>
          <a:stretch>
            <a:fillRect/>
          </a:stretch>
        </p:blipFill>
        <p:spPr>
          <a:xfrm>
            <a:off x="3300728" y="2889257"/>
            <a:ext cx="237744" cy="237744"/>
          </a:xfrm>
          <a:prstGeom prst="rect">
            <a:avLst/>
          </a:prstGeom>
        </p:spPr>
      </p:pic>
      <p:sp>
        <p:nvSpPr>
          <p:cNvPr id="169" name="Text 16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70" name="Text 16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kartu Tercapai, Bimbingan, Persen</a:t>
            </a:r>
            <a:endParaRPr lang="en-US" sz="1800" dirty="0"/>
          </a:p>
        </p:txBody>
      </p:sp>
      <p:sp>
        <p:nvSpPr>
          <p:cNvPr id="171" name="Text 16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lembar Dashboard, tambah 3 kartu dengan rumus COUNTIF dan persen. Beri warna hijau untuk Tercapai, merah lembut untuk Bimbingan.</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Indikator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C3</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=COUNTIFS(Data!C2:C30,A3,Data!F2:F30,"Bimbingan")</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486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92448" y="2573789"/>
            <a:ext cx="777240" cy="119299"/>
          </a:xfrm>
          <a:prstGeom prst="rect">
            <a:avLst/>
          </a:prstGeom>
          <a:solidFill>
            <a:srgbClr val="F8F9FA"/>
          </a:solidFill>
          <a:ln w="6350">
            <a:solidFill>
              <a:srgbClr val="DDDDDD"/>
            </a:solidFill>
            <a:prstDash val="solid"/>
          </a:ln>
        </p:spPr>
      </p:sp>
      <p:sp>
        <p:nvSpPr>
          <p:cNvPr id="64" name="Text 56"/>
          <p:cNvSpPr txBox="1"/>
          <p:nvPr/>
        </p:nvSpPr>
        <p:spPr>
          <a:xfrm>
            <a:off x="139244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169688" y="2573789"/>
            <a:ext cx="868680" cy="119299"/>
          </a:xfrm>
          <a:prstGeom prst="rect">
            <a:avLst/>
          </a:prstGeom>
          <a:solidFill>
            <a:srgbClr val="F8F9FA"/>
          </a:solidFill>
          <a:ln w="6350">
            <a:solidFill>
              <a:srgbClr val="DDDDDD"/>
            </a:solidFill>
            <a:prstDash val="solid"/>
          </a:ln>
        </p:spPr>
      </p:sp>
      <p:sp>
        <p:nvSpPr>
          <p:cNvPr id="66" name="Text 58"/>
          <p:cNvSpPr txBox="1"/>
          <p:nvPr/>
        </p:nvSpPr>
        <p:spPr>
          <a:xfrm>
            <a:off x="2169688" y="2573789"/>
            <a:ext cx="8686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038368" y="2573789"/>
            <a:ext cx="548640" cy="119299"/>
          </a:xfrm>
          <a:prstGeom prst="rect">
            <a:avLst/>
          </a:prstGeom>
          <a:solidFill>
            <a:srgbClr val="F8F9FA"/>
          </a:solidFill>
          <a:ln w="6350">
            <a:solidFill>
              <a:srgbClr val="DDDDDD"/>
            </a:solidFill>
            <a:prstDash val="solid"/>
          </a:ln>
        </p:spPr>
      </p:sp>
      <p:sp>
        <p:nvSpPr>
          <p:cNvPr id="68" name="Text 60"/>
          <p:cNvSpPr txBox="1"/>
          <p:nvPr/>
        </p:nvSpPr>
        <p:spPr>
          <a:xfrm>
            <a:off x="303836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587008" y="2573789"/>
            <a:ext cx="548640" cy="119299"/>
          </a:xfrm>
          <a:prstGeom prst="rect">
            <a:avLst/>
          </a:prstGeom>
          <a:solidFill>
            <a:srgbClr val="F8F9FA"/>
          </a:solidFill>
          <a:ln w="6350">
            <a:solidFill>
              <a:srgbClr val="DDDDDD"/>
            </a:solidFill>
            <a:prstDash val="solid"/>
          </a:ln>
        </p:spPr>
      </p:sp>
      <p:sp>
        <p:nvSpPr>
          <p:cNvPr id="70" name="Text 62"/>
          <p:cNvSpPr txBox="1"/>
          <p:nvPr/>
        </p:nvSpPr>
        <p:spPr>
          <a:xfrm>
            <a:off x="358700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587776" y="2693089"/>
            <a:ext cx="256032" cy="119299"/>
          </a:xfrm>
          <a:prstGeom prst="rect">
            <a:avLst/>
          </a:prstGeom>
          <a:solidFill>
            <a:srgbClr val="F8F9FA"/>
          </a:solidFill>
          <a:ln w="6350">
            <a:solidFill>
              <a:srgbClr val="DDDDDD"/>
            </a:solidFill>
            <a:prstDash val="solid"/>
          </a:ln>
        </p:spPr>
      </p:sp>
      <p:sp>
        <p:nvSpPr>
          <p:cNvPr id="72" name="Text 64"/>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3" name="Shape 65"/>
          <p:cNvSpPr/>
          <p:nvPr/>
        </p:nvSpPr>
        <p:spPr>
          <a:xfrm>
            <a:off x="843808" y="2693089"/>
            <a:ext cx="548640" cy="119299"/>
          </a:xfrm>
          <a:prstGeom prst="rect">
            <a:avLst/>
          </a:prstGeom>
          <a:solidFill>
            <a:srgbClr val="0F4C3A"/>
          </a:solidFill>
          <a:ln w="6350">
            <a:solidFill>
              <a:srgbClr val="E2E2E2"/>
            </a:solidFill>
            <a:prstDash val="solid"/>
          </a:ln>
        </p:spPr>
      </p:sp>
      <p:sp>
        <p:nvSpPr>
          <p:cNvPr id="74" name="Text 66"/>
          <p:cNvSpPr txBox="1"/>
          <p:nvPr/>
        </p:nvSpPr>
        <p:spPr>
          <a:xfrm>
            <a:off x="87124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75" name="Shape 67"/>
          <p:cNvSpPr/>
          <p:nvPr/>
        </p:nvSpPr>
        <p:spPr>
          <a:xfrm>
            <a:off x="1392448" y="2693089"/>
            <a:ext cx="777240" cy="119299"/>
          </a:xfrm>
          <a:prstGeom prst="rect">
            <a:avLst/>
          </a:prstGeom>
          <a:solidFill>
            <a:srgbClr val="0F4C3A"/>
          </a:solidFill>
          <a:ln w="6350">
            <a:solidFill>
              <a:srgbClr val="E2E2E2"/>
            </a:solidFill>
            <a:prstDash val="solid"/>
          </a:ln>
        </p:spPr>
      </p:sp>
      <p:sp>
        <p:nvSpPr>
          <p:cNvPr id="76" name="Text 68"/>
          <p:cNvSpPr txBox="1"/>
          <p:nvPr/>
        </p:nvSpPr>
        <p:spPr>
          <a:xfrm>
            <a:off x="141988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Tercapai</a:t>
            </a:r>
            <a:endParaRPr lang="en-US" sz="600" dirty="0"/>
          </a:p>
        </p:txBody>
      </p:sp>
      <p:sp>
        <p:nvSpPr>
          <p:cNvPr id="77" name="Shape 69"/>
          <p:cNvSpPr/>
          <p:nvPr/>
        </p:nvSpPr>
        <p:spPr>
          <a:xfrm>
            <a:off x="2169688" y="2693089"/>
            <a:ext cx="868680" cy="119299"/>
          </a:xfrm>
          <a:prstGeom prst="rect">
            <a:avLst/>
          </a:prstGeom>
          <a:solidFill>
            <a:srgbClr val="0F4C3A"/>
          </a:solidFill>
          <a:ln w="6350">
            <a:solidFill>
              <a:srgbClr val="E2E2E2"/>
            </a:solidFill>
            <a:prstDash val="solid"/>
          </a:ln>
        </p:spPr>
      </p:sp>
      <p:sp>
        <p:nvSpPr>
          <p:cNvPr id="78" name="Text 70"/>
          <p:cNvSpPr txBox="1"/>
          <p:nvPr/>
        </p:nvSpPr>
        <p:spPr>
          <a:xfrm>
            <a:off x="2197120" y="2693089"/>
            <a:ext cx="8138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Bimbingan</a:t>
            </a:r>
            <a:endParaRPr lang="en-US" sz="600" dirty="0"/>
          </a:p>
        </p:txBody>
      </p:sp>
      <p:sp>
        <p:nvSpPr>
          <p:cNvPr id="79" name="Shape 71"/>
          <p:cNvSpPr/>
          <p:nvPr/>
        </p:nvSpPr>
        <p:spPr>
          <a:xfrm>
            <a:off x="3038368" y="2693089"/>
            <a:ext cx="548640" cy="119299"/>
          </a:xfrm>
          <a:prstGeom prst="rect">
            <a:avLst/>
          </a:prstGeom>
          <a:solidFill>
            <a:srgbClr val="0F4C3A"/>
          </a:solidFill>
          <a:ln w="6350">
            <a:solidFill>
              <a:srgbClr val="E2E2E2"/>
            </a:solidFill>
            <a:prstDash val="solid"/>
          </a:ln>
        </p:spPr>
      </p:sp>
      <p:sp>
        <p:nvSpPr>
          <p:cNvPr id="80" name="Shape 72"/>
          <p:cNvSpPr/>
          <p:nvPr/>
        </p:nvSpPr>
        <p:spPr>
          <a:xfrm>
            <a:off x="3587008" y="2693089"/>
            <a:ext cx="548640" cy="119299"/>
          </a:xfrm>
          <a:prstGeom prst="rect">
            <a:avLst/>
          </a:prstGeom>
          <a:solidFill>
            <a:srgbClr val="0F4C3A"/>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548640" cy="119299"/>
          </a:xfrm>
          <a:prstGeom prst="rect">
            <a:avLst/>
          </a:prstGeom>
          <a:solidFill>
            <a:srgbClr val="FFFFFF"/>
          </a:solidFill>
          <a:ln w="6350">
            <a:solidFill>
              <a:srgbClr val="E2E2E2"/>
            </a:solidFill>
            <a:prstDash val="solid"/>
          </a:ln>
        </p:spPr>
      </p:sp>
      <p:sp>
        <p:nvSpPr>
          <p:cNvPr id="84" name="Text 76"/>
          <p:cNvSpPr txBox="1"/>
          <p:nvPr/>
        </p:nvSpPr>
        <p:spPr>
          <a:xfrm>
            <a:off x="87124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85" name="Shape 77"/>
          <p:cNvSpPr/>
          <p:nvPr/>
        </p:nvSpPr>
        <p:spPr>
          <a:xfrm>
            <a:off x="1392448" y="2812388"/>
            <a:ext cx="777240" cy="119299"/>
          </a:xfrm>
          <a:prstGeom prst="rect">
            <a:avLst/>
          </a:prstGeom>
          <a:solidFill>
            <a:srgbClr val="FFFFFF"/>
          </a:solidFill>
          <a:ln w="6350">
            <a:solidFill>
              <a:srgbClr val="E2E2E2"/>
            </a:solidFill>
            <a:prstDash val="solid"/>
          </a:ln>
        </p:spPr>
      </p:sp>
      <p:sp>
        <p:nvSpPr>
          <p:cNvPr id="86" name="Text 78"/>
          <p:cNvSpPr txBox="1"/>
          <p:nvPr/>
        </p:nvSpPr>
        <p:spPr>
          <a:xfrm>
            <a:off x="1419880" y="28123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87" name="Shape 79"/>
          <p:cNvSpPr/>
          <p:nvPr/>
        </p:nvSpPr>
        <p:spPr>
          <a:xfrm>
            <a:off x="2169688" y="2812388"/>
            <a:ext cx="868680" cy="119299"/>
          </a:xfrm>
          <a:prstGeom prst="rect">
            <a:avLst/>
          </a:prstGeom>
          <a:solidFill>
            <a:srgbClr val="FFFFFF"/>
          </a:solidFill>
          <a:ln w="6350">
            <a:solidFill>
              <a:srgbClr val="E2E2E2"/>
            </a:solidFill>
            <a:prstDash val="solid"/>
          </a:ln>
        </p:spPr>
      </p:sp>
      <p:sp>
        <p:nvSpPr>
          <p:cNvPr id="88" name="Text 80"/>
          <p:cNvSpPr txBox="1"/>
          <p:nvPr/>
        </p:nvSpPr>
        <p:spPr>
          <a:xfrm>
            <a:off x="2197120" y="2812388"/>
            <a:ext cx="8138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0</a:t>
            </a:r>
            <a:endParaRPr lang="en-US" sz="600" dirty="0"/>
          </a:p>
        </p:txBody>
      </p:sp>
      <p:sp>
        <p:nvSpPr>
          <p:cNvPr id="89" name="Shape 81"/>
          <p:cNvSpPr/>
          <p:nvPr/>
        </p:nvSpPr>
        <p:spPr>
          <a:xfrm>
            <a:off x="3038368" y="2812388"/>
            <a:ext cx="548640" cy="119299"/>
          </a:xfrm>
          <a:prstGeom prst="rect">
            <a:avLst/>
          </a:prstGeom>
          <a:solidFill>
            <a:srgbClr val="FFFFFF"/>
          </a:solidFill>
          <a:ln w="6350">
            <a:solidFill>
              <a:srgbClr val="E2E2E2"/>
            </a:solidFill>
            <a:prstDash val="solid"/>
          </a:ln>
        </p:spPr>
      </p:sp>
      <p:sp>
        <p:nvSpPr>
          <p:cNvPr id="90" name="Shape 82"/>
          <p:cNvSpPr/>
          <p:nvPr/>
        </p:nvSpPr>
        <p:spPr>
          <a:xfrm>
            <a:off x="3587008" y="2812388"/>
            <a:ext cx="548640" cy="119299"/>
          </a:xfrm>
          <a:prstGeom prst="rect">
            <a:avLst/>
          </a:prstGeom>
          <a:solidFill>
            <a:srgbClr val="FFFFFF"/>
          </a:solidFill>
          <a:ln w="6350">
            <a:solidFill>
              <a:srgbClr val="E2E2E2"/>
            </a:solidFill>
            <a:prstDash val="solid"/>
          </a:ln>
        </p:spPr>
      </p:sp>
      <p:sp>
        <p:nvSpPr>
          <p:cNvPr id="91" name="Shape 83"/>
          <p:cNvSpPr/>
          <p:nvPr/>
        </p:nvSpPr>
        <p:spPr>
          <a:xfrm>
            <a:off x="587776" y="2931688"/>
            <a:ext cx="256032" cy="119299"/>
          </a:xfrm>
          <a:prstGeom prst="rect">
            <a:avLst/>
          </a:prstGeom>
          <a:solidFill>
            <a:srgbClr val="F8F9FA"/>
          </a:solidFill>
          <a:ln w="6350">
            <a:solidFill>
              <a:srgbClr val="DDDDDD"/>
            </a:solidFill>
            <a:prstDash val="solid"/>
          </a:ln>
        </p:spPr>
      </p:sp>
      <p:sp>
        <p:nvSpPr>
          <p:cNvPr id="92" name="Text 8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3" name="Shape 85"/>
          <p:cNvSpPr/>
          <p:nvPr/>
        </p:nvSpPr>
        <p:spPr>
          <a:xfrm>
            <a:off x="843808" y="2931688"/>
            <a:ext cx="548640" cy="119299"/>
          </a:xfrm>
          <a:prstGeom prst="rect">
            <a:avLst/>
          </a:prstGeom>
          <a:solidFill>
            <a:srgbClr val="FFFFFF"/>
          </a:solidFill>
          <a:ln w="6350">
            <a:solidFill>
              <a:srgbClr val="E2E2E2"/>
            </a:solidFill>
            <a:prstDash val="solid"/>
          </a:ln>
        </p:spPr>
      </p:sp>
      <p:sp>
        <p:nvSpPr>
          <p:cNvPr id="94" name="Text 86"/>
          <p:cNvSpPr txBox="1"/>
          <p:nvPr/>
        </p:nvSpPr>
        <p:spPr>
          <a:xfrm>
            <a:off x="87124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95" name="Shape 87"/>
          <p:cNvSpPr/>
          <p:nvPr/>
        </p:nvSpPr>
        <p:spPr>
          <a:xfrm>
            <a:off x="1392448" y="2931688"/>
            <a:ext cx="777240" cy="119299"/>
          </a:xfrm>
          <a:prstGeom prst="rect">
            <a:avLst/>
          </a:prstGeom>
          <a:solidFill>
            <a:srgbClr val="FFFFFF"/>
          </a:solidFill>
          <a:ln w="6350">
            <a:solidFill>
              <a:srgbClr val="E2E2E2"/>
            </a:solidFill>
            <a:prstDash val="solid"/>
          </a:ln>
        </p:spPr>
      </p:sp>
      <p:sp>
        <p:nvSpPr>
          <p:cNvPr id="96" name="Text 88"/>
          <p:cNvSpPr txBox="1"/>
          <p:nvPr/>
        </p:nvSpPr>
        <p:spPr>
          <a:xfrm>
            <a:off x="1419880" y="2931688"/>
            <a:ext cx="7223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97" name="Shape 89"/>
          <p:cNvSpPr/>
          <p:nvPr/>
        </p:nvSpPr>
        <p:spPr>
          <a:xfrm>
            <a:off x="2169688" y="2931688"/>
            <a:ext cx="868680" cy="119299"/>
          </a:xfrm>
          <a:prstGeom prst="rect">
            <a:avLst/>
          </a:prstGeom>
          <a:solidFill>
            <a:srgbClr val="FFFFFF"/>
          </a:solidFill>
          <a:ln w="6350">
            <a:solidFill>
              <a:srgbClr val="E2E2E2"/>
            </a:solidFill>
            <a:prstDash val="solid"/>
          </a:ln>
        </p:spPr>
      </p:sp>
      <p:sp>
        <p:nvSpPr>
          <p:cNvPr id="98" name="Text 90"/>
          <p:cNvSpPr txBox="1"/>
          <p:nvPr/>
        </p:nvSpPr>
        <p:spPr>
          <a:xfrm>
            <a:off x="2197120" y="2931688"/>
            <a:ext cx="81381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99" name="Shape 91"/>
          <p:cNvSpPr/>
          <p:nvPr/>
        </p:nvSpPr>
        <p:spPr>
          <a:xfrm>
            <a:off x="3038368" y="2931688"/>
            <a:ext cx="548640" cy="119299"/>
          </a:xfrm>
          <a:prstGeom prst="rect">
            <a:avLst/>
          </a:prstGeom>
          <a:solidFill>
            <a:srgbClr val="FFFFFF"/>
          </a:solidFill>
          <a:ln w="6350">
            <a:solidFill>
              <a:srgbClr val="E2E2E2"/>
            </a:solidFill>
            <a:prstDash val="solid"/>
          </a:ln>
        </p:spPr>
      </p:sp>
      <p:sp>
        <p:nvSpPr>
          <p:cNvPr id="100" name="Shape 92"/>
          <p:cNvSpPr/>
          <p:nvPr/>
        </p:nvSpPr>
        <p:spPr>
          <a:xfrm>
            <a:off x="3587008" y="2931688"/>
            <a:ext cx="548640" cy="119299"/>
          </a:xfrm>
          <a:prstGeom prst="rect">
            <a:avLst/>
          </a:prstGeom>
          <a:solidFill>
            <a:srgbClr val="FFFFFF"/>
          </a:solidFill>
          <a:ln w="6350">
            <a:solidFill>
              <a:srgbClr val="E2E2E2"/>
            </a:solidFill>
            <a:prstDash val="solid"/>
          </a:ln>
        </p:spPr>
      </p:sp>
      <p:sp>
        <p:nvSpPr>
          <p:cNvPr id="101" name="Shape 93"/>
          <p:cNvSpPr/>
          <p:nvPr/>
        </p:nvSpPr>
        <p:spPr>
          <a:xfrm>
            <a:off x="587776" y="3050987"/>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3" name="Shape 95"/>
          <p:cNvSpPr/>
          <p:nvPr/>
        </p:nvSpPr>
        <p:spPr>
          <a:xfrm>
            <a:off x="843808" y="3050987"/>
            <a:ext cx="548640" cy="119299"/>
          </a:xfrm>
          <a:prstGeom prst="rect">
            <a:avLst/>
          </a:prstGeom>
          <a:solidFill>
            <a:srgbClr val="FFFFFF"/>
          </a:solidFill>
          <a:ln w="6350">
            <a:solidFill>
              <a:srgbClr val="E2E2E2"/>
            </a:solidFill>
            <a:prstDash val="solid"/>
          </a:ln>
        </p:spPr>
      </p:sp>
      <p:sp>
        <p:nvSpPr>
          <p:cNvPr id="104" name="Shape 96"/>
          <p:cNvSpPr/>
          <p:nvPr/>
        </p:nvSpPr>
        <p:spPr>
          <a:xfrm>
            <a:off x="1392448" y="3050987"/>
            <a:ext cx="777240" cy="119299"/>
          </a:xfrm>
          <a:prstGeom prst="rect">
            <a:avLst/>
          </a:prstGeom>
          <a:solidFill>
            <a:srgbClr val="FFFFFF"/>
          </a:solidFill>
          <a:ln w="6350">
            <a:solidFill>
              <a:srgbClr val="E2E2E2"/>
            </a:solidFill>
            <a:prstDash val="solid"/>
          </a:ln>
        </p:spPr>
      </p:sp>
      <p:sp>
        <p:nvSpPr>
          <p:cNvPr id="105" name="Shape 97"/>
          <p:cNvSpPr/>
          <p:nvPr/>
        </p:nvSpPr>
        <p:spPr>
          <a:xfrm>
            <a:off x="2169688" y="3050987"/>
            <a:ext cx="868680" cy="119299"/>
          </a:xfrm>
          <a:prstGeom prst="rect">
            <a:avLst/>
          </a:prstGeom>
          <a:solidFill>
            <a:srgbClr val="FFFFFF"/>
          </a:solidFill>
          <a:ln w="6350">
            <a:solidFill>
              <a:srgbClr val="E2E2E2"/>
            </a:solidFill>
            <a:prstDash val="solid"/>
          </a:ln>
        </p:spPr>
      </p:sp>
      <p:sp>
        <p:nvSpPr>
          <p:cNvPr id="106" name="Shape 98"/>
          <p:cNvSpPr/>
          <p:nvPr/>
        </p:nvSpPr>
        <p:spPr>
          <a:xfrm>
            <a:off x="3038368" y="3050987"/>
            <a:ext cx="548640" cy="119299"/>
          </a:xfrm>
          <a:prstGeom prst="rect">
            <a:avLst/>
          </a:prstGeom>
          <a:solidFill>
            <a:srgbClr val="FFFFFF"/>
          </a:solidFill>
          <a:ln w="6350">
            <a:solidFill>
              <a:srgbClr val="E2E2E2"/>
            </a:solidFill>
            <a:prstDash val="solid"/>
          </a:ln>
        </p:spPr>
      </p:sp>
      <p:sp>
        <p:nvSpPr>
          <p:cNvPr id="107" name="Shape 99"/>
          <p:cNvSpPr/>
          <p:nvPr/>
        </p:nvSpPr>
        <p:spPr>
          <a:xfrm>
            <a:off x="3587008" y="3050987"/>
            <a:ext cx="548640" cy="119299"/>
          </a:xfrm>
          <a:prstGeom prst="rect">
            <a:avLst/>
          </a:prstGeom>
          <a:solidFill>
            <a:srgbClr val="FFFFFF"/>
          </a:solidFill>
          <a:ln w="6350">
            <a:solidFill>
              <a:srgbClr val="E2E2E2"/>
            </a:solidFill>
            <a:prstDash val="solid"/>
          </a:ln>
        </p:spPr>
      </p:sp>
      <p:sp>
        <p:nvSpPr>
          <p:cNvPr id="108" name="Shape 100"/>
          <p:cNvSpPr/>
          <p:nvPr/>
        </p:nvSpPr>
        <p:spPr>
          <a:xfrm>
            <a:off x="587776" y="3170287"/>
            <a:ext cx="256032" cy="119299"/>
          </a:xfrm>
          <a:prstGeom prst="rect">
            <a:avLst/>
          </a:prstGeom>
          <a:solidFill>
            <a:srgbClr val="F8F9FA"/>
          </a:solidFill>
          <a:ln w="6350">
            <a:solidFill>
              <a:srgbClr val="DDDDDD"/>
            </a:solidFill>
            <a:prstDash val="solid"/>
          </a:ln>
        </p:spPr>
      </p:sp>
      <p:sp>
        <p:nvSpPr>
          <p:cNvPr id="109" name="Text 101"/>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0" name="Shape 102"/>
          <p:cNvSpPr/>
          <p:nvPr/>
        </p:nvSpPr>
        <p:spPr>
          <a:xfrm>
            <a:off x="843808" y="3170287"/>
            <a:ext cx="548640" cy="119299"/>
          </a:xfrm>
          <a:prstGeom prst="rect">
            <a:avLst/>
          </a:prstGeom>
          <a:solidFill>
            <a:srgbClr val="FFFFFF"/>
          </a:solidFill>
          <a:ln w="6350">
            <a:solidFill>
              <a:srgbClr val="E2E2E2"/>
            </a:solidFill>
            <a:prstDash val="solid"/>
          </a:ln>
        </p:spPr>
      </p:sp>
      <p:sp>
        <p:nvSpPr>
          <p:cNvPr id="111" name="Shape 103"/>
          <p:cNvSpPr/>
          <p:nvPr/>
        </p:nvSpPr>
        <p:spPr>
          <a:xfrm>
            <a:off x="1392448" y="3170287"/>
            <a:ext cx="777240" cy="119299"/>
          </a:xfrm>
          <a:prstGeom prst="rect">
            <a:avLst/>
          </a:prstGeom>
          <a:solidFill>
            <a:srgbClr val="FFFFFF"/>
          </a:solidFill>
          <a:ln w="6350">
            <a:solidFill>
              <a:srgbClr val="E2E2E2"/>
            </a:solidFill>
            <a:prstDash val="solid"/>
          </a:ln>
        </p:spPr>
      </p:sp>
      <p:sp>
        <p:nvSpPr>
          <p:cNvPr id="112" name="Shape 104"/>
          <p:cNvSpPr/>
          <p:nvPr/>
        </p:nvSpPr>
        <p:spPr>
          <a:xfrm>
            <a:off x="2169688" y="3170287"/>
            <a:ext cx="868680" cy="119299"/>
          </a:xfrm>
          <a:prstGeom prst="rect">
            <a:avLst/>
          </a:prstGeom>
          <a:solidFill>
            <a:srgbClr val="FFFFFF"/>
          </a:solidFill>
          <a:ln w="6350">
            <a:solidFill>
              <a:srgbClr val="E2E2E2"/>
            </a:solidFill>
            <a:prstDash val="solid"/>
          </a:ln>
        </p:spPr>
      </p:sp>
      <p:sp>
        <p:nvSpPr>
          <p:cNvPr id="113" name="Shape 105"/>
          <p:cNvSpPr/>
          <p:nvPr/>
        </p:nvSpPr>
        <p:spPr>
          <a:xfrm>
            <a:off x="3038368" y="3170287"/>
            <a:ext cx="548640" cy="119299"/>
          </a:xfrm>
          <a:prstGeom prst="rect">
            <a:avLst/>
          </a:prstGeom>
          <a:solidFill>
            <a:srgbClr val="FFFFFF"/>
          </a:solidFill>
          <a:ln w="6350">
            <a:solidFill>
              <a:srgbClr val="E2E2E2"/>
            </a:solidFill>
            <a:prstDash val="solid"/>
          </a:ln>
        </p:spPr>
      </p:sp>
      <p:sp>
        <p:nvSpPr>
          <p:cNvPr id="114" name="Shape 106"/>
          <p:cNvSpPr/>
          <p:nvPr/>
        </p:nvSpPr>
        <p:spPr>
          <a:xfrm>
            <a:off x="3587008" y="3170287"/>
            <a:ext cx="548640" cy="119299"/>
          </a:xfrm>
          <a:prstGeom prst="rect">
            <a:avLst/>
          </a:prstGeom>
          <a:solidFill>
            <a:srgbClr val="FFFFFF"/>
          </a:solidFill>
          <a:ln w="6350">
            <a:solidFill>
              <a:srgbClr val="E2E2E2"/>
            </a:solidFill>
            <a:prstDash val="solid"/>
          </a:ln>
        </p:spPr>
      </p:sp>
      <p:sp>
        <p:nvSpPr>
          <p:cNvPr id="115" name="Shape 107"/>
          <p:cNvSpPr/>
          <p:nvPr/>
        </p:nvSpPr>
        <p:spPr>
          <a:xfrm>
            <a:off x="587776" y="3289586"/>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7" name="Shape 109"/>
          <p:cNvSpPr/>
          <p:nvPr/>
        </p:nvSpPr>
        <p:spPr>
          <a:xfrm>
            <a:off x="843808" y="3289586"/>
            <a:ext cx="548640" cy="119299"/>
          </a:xfrm>
          <a:prstGeom prst="rect">
            <a:avLst/>
          </a:prstGeom>
          <a:solidFill>
            <a:srgbClr val="FFFFFF"/>
          </a:solidFill>
          <a:ln w="6350">
            <a:solidFill>
              <a:srgbClr val="E2E2E2"/>
            </a:solidFill>
            <a:prstDash val="solid"/>
          </a:ln>
        </p:spPr>
      </p:sp>
      <p:sp>
        <p:nvSpPr>
          <p:cNvPr id="118" name="Shape 110"/>
          <p:cNvSpPr/>
          <p:nvPr/>
        </p:nvSpPr>
        <p:spPr>
          <a:xfrm>
            <a:off x="1392448" y="3289586"/>
            <a:ext cx="777240" cy="119299"/>
          </a:xfrm>
          <a:prstGeom prst="rect">
            <a:avLst/>
          </a:prstGeom>
          <a:solidFill>
            <a:srgbClr val="FFFFFF"/>
          </a:solidFill>
          <a:ln w="6350">
            <a:solidFill>
              <a:srgbClr val="E2E2E2"/>
            </a:solidFill>
            <a:prstDash val="solid"/>
          </a:ln>
        </p:spPr>
      </p:sp>
      <p:sp>
        <p:nvSpPr>
          <p:cNvPr id="119" name="Shape 111"/>
          <p:cNvSpPr/>
          <p:nvPr/>
        </p:nvSpPr>
        <p:spPr>
          <a:xfrm>
            <a:off x="2169688" y="3289586"/>
            <a:ext cx="868680" cy="119299"/>
          </a:xfrm>
          <a:prstGeom prst="rect">
            <a:avLst/>
          </a:prstGeom>
          <a:solidFill>
            <a:srgbClr val="FFFFFF"/>
          </a:solidFill>
          <a:ln w="6350">
            <a:solidFill>
              <a:srgbClr val="E2E2E2"/>
            </a:solidFill>
            <a:prstDash val="solid"/>
          </a:ln>
        </p:spPr>
      </p:sp>
      <p:sp>
        <p:nvSpPr>
          <p:cNvPr id="120" name="Shape 112"/>
          <p:cNvSpPr/>
          <p:nvPr/>
        </p:nvSpPr>
        <p:spPr>
          <a:xfrm>
            <a:off x="3038368" y="3289586"/>
            <a:ext cx="548640" cy="119299"/>
          </a:xfrm>
          <a:prstGeom prst="rect">
            <a:avLst/>
          </a:prstGeom>
          <a:solidFill>
            <a:srgbClr val="FFFFFF"/>
          </a:solidFill>
          <a:ln w="6350">
            <a:solidFill>
              <a:srgbClr val="E2E2E2"/>
            </a:solidFill>
            <a:prstDash val="solid"/>
          </a:ln>
        </p:spPr>
      </p:sp>
      <p:sp>
        <p:nvSpPr>
          <p:cNvPr id="121" name="Shape 113"/>
          <p:cNvSpPr/>
          <p:nvPr/>
        </p:nvSpPr>
        <p:spPr>
          <a:xfrm>
            <a:off x="3587008" y="3289586"/>
            <a:ext cx="548640" cy="119299"/>
          </a:xfrm>
          <a:prstGeom prst="rect">
            <a:avLst/>
          </a:prstGeom>
          <a:solidFill>
            <a:srgbClr val="FFFFFF"/>
          </a:solidFill>
          <a:ln w="6350">
            <a:solidFill>
              <a:srgbClr val="E2E2E2"/>
            </a:solidFill>
            <a:prstDash val="solid"/>
          </a:ln>
        </p:spPr>
      </p:sp>
      <p:sp>
        <p:nvSpPr>
          <p:cNvPr id="122" name="Shape 114"/>
          <p:cNvSpPr/>
          <p:nvPr/>
        </p:nvSpPr>
        <p:spPr>
          <a:xfrm>
            <a:off x="587776" y="3408885"/>
            <a:ext cx="256032" cy="119299"/>
          </a:xfrm>
          <a:prstGeom prst="rect">
            <a:avLst/>
          </a:prstGeom>
          <a:solidFill>
            <a:srgbClr val="F8F9FA"/>
          </a:solidFill>
          <a:ln w="6350">
            <a:solidFill>
              <a:srgbClr val="DDDDDD"/>
            </a:solidFill>
            <a:prstDash val="solid"/>
          </a:ln>
        </p:spPr>
      </p:sp>
      <p:sp>
        <p:nvSpPr>
          <p:cNvPr id="123" name="Text 115"/>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4" name="Shape 116"/>
          <p:cNvSpPr/>
          <p:nvPr/>
        </p:nvSpPr>
        <p:spPr>
          <a:xfrm>
            <a:off x="843808" y="3408885"/>
            <a:ext cx="548640" cy="119299"/>
          </a:xfrm>
          <a:prstGeom prst="rect">
            <a:avLst/>
          </a:prstGeom>
          <a:solidFill>
            <a:srgbClr val="FFFFFF"/>
          </a:solidFill>
          <a:ln w="6350">
            <a:solidFill>
              <a:srgbClr val="E2E2E2"/>
            </a:solidFill>
            <a:prstDash val="solid"/>
          </a:ln>
        </p:spPr>
      </p:sp>
      <p:sp>
        <p:nvSpPr>
          <p:cNvPr id="125" name="Shape 117"/>
          <p:cNvSpPr/>
          <p:nvPr/>
        </p:nvSpPr>
        <p:spPr>
          <a:xfrm>
            <a:off x="1392448" y="3408885"/>
            <a:ext cx="777240" cy="119299"/>
          </a:xfrm>
          <a:prstGeom prst="rect">
            <a:avLst/>
          </a:prstGeom>
          <a:solidFill>
            <a:srgbClr val="FFFFFF"/>
          </a:solidFill>
          <a:ln w="6350">
            <a:solidFill>
              <a:srgbClr val="E2E2E2"/>
            </a:solidFill>
            <a:prstDash val="solid"/>
          </a:ln>
        </p:spPr>
      </p:sp>
      <p:sp>
        <p:nvSpPr>
          <p:cNvPr id="126" name="Shape 118"/>
          <p:cNvSpPr/>
          <p:nvPr/>
        </p:nvSpPr>
        <p:spPr>
          <a:xfrm>
            <a:off x="2169688" y="3408885"/>
            <a:ext cx="868680" cy="119299"/>
          </a:xfrm>
          <a:prstGeom prst="rect">
            <a:avLst/>
          </a:prstGeom>
          <a:solidFill>
            <a:srgbClr val="FFFFFF"/>
          </a:solidFill>
          <a:ln w="6350">
            <a:solidFill>
              <a:srgbClr val="E2E2E2"/>
            </a:solidFill>
            <a:prstDash val="solid"/>
          </a:ln>
        </p:spPr>
      </p:sp>
      <p:sp>
        <p:nvSpPr>
          <p:cNvPr id="127" name="Shape 119"/>
          <p:cNvSpPr/>
          <p:nvPr/>
        </p:nvSpPr>
        <p:spPr>
          <a:xfrm>
            <a:off x="3038368" y="3408885"/>
            <a:ext cx="548640" cy="119299"/>
          </a:xfrm>
          <a:prstGeom prst="rect">
            <a:avLst/>
          </a:prstGeom>
          <a:solidFill>
            <a:srgbClr val="FFFFFF"/>
          </a:solidFill>
          <a:ln w="6350">
            <a:solidFill>
              <a:srgbClr val="E2E2E2"/>
            </a:solidFill>
            <a:prstDash val="solid"/>
          </a:ln>
        </p:spPr>
      </p:sp>
      <p:sp>
        <p:nvSpPr>
          <p:cNvPr id="128" name="Shape 120"/>
          <p:cNvSpPr/>
          <p:nvPr/>
        </p:nvSpPr>
        <p:spPr>
          <a:xfrm>
            <a:off x="3587008" y="3408885"/>
            <a:ext cx="54864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548640" cy="119299"/>
          </a:xfrm>
          <a:prstGeom prst="rect">
            <a:avLst/>
          </a:prstGeom>
          <a:solidFill>
            <a:srgbClr val="FFFFFF"/>
          </a:solidFill>
          <a:ln w="6350">
            <a:solidFill>
              <a:srgbClr val="E2E2E2"/>
            </a:solidFill>
            <a:prstDash val="solid"/>
          </a:ln>
        </p:spPr>
      </p:sp>
      <p:sp>
        <p:nvSpPr>
          <p:cNvPr id="132" name="Shape 124"/>
          <p:cNvSpPr/>
          <p:nvPr/>
        </p:nvSpPr>
        <p:spPr>
          <a:xfrm>
            <a:off x="1392448" y="3528185"/>
            <a:ext cx="777240" cy="119299"/>
          </a:xfrm>
          <a:prstGeom prst="rect">
            <a:avLst/>
          </a:prstGeom>
          <a:solidFill>
            <a:srgbClr val="FFFFFF"/>
          </a:solidFill>
          <a:ln w="6350">
            <a:solidFill>
              <a:srgbClr val="E2E2E2"/>
            </a:solidFill>
            <a:prstDash val="solid"/>
          </a:ln>
        </p:spPr>
      </p:sp>
      <p:sp>
        <p:nvSpPr>
          <p:cNvPr id="133" name="Shape 125"/>
          <p:cNvSpPr/>
          <p:nvPr/>
        </p:nvSpPr>
        <p:spPr>
          <a:xfrm>
            <a:off x="2169688" y="3528185"/>
            <a:ext cx="868680" cy="119299"/>
          </a:xfrm>
          <a:prstGeom prst="rect">
            <a:avLst/>
          </a:prstGeom>
          <a:solidFill>
            <a:srgbClr val="FFFFFF"/>
          </a:solidFill>
          <a:ln w="6350">
            <a:solidFill>
              <a:srgbClr val="E2E2E2"/>
            </a:solidFill>
            <a:prstDash val="solid"/>
          </a:ln>
        </p:spPr>
      </p:sp>
      <p:sp>
        <p:nvSpPr>
          <p:cNvPr id="134" name="Shape 126"/>
          <p:cNvSpPr/>
          <p:nvPr/>
        </p:nvSpPr>
        <p:spPr>
          <a:xfrm>
            <a:off x="3038368" y="3528185"/>
            <a:ext cx="548640" cy="119299"/>
          </a:xfrm>
          <a:prstGeom prst="rect">
            <a:avLst/>
          </a:prstGeom>
          <a:solidFill>
            <a:srgbClr val="FFFFFF"/>
          </a:solidFill>
          <a:ln w="6350">
            <a:solidFill>
              <a:srgbClr val="E2E2E2"/>
            </a:solidFill>
            <a:prstDash val="solid"/>
          </a:ln>
        </p:spPr>
      </p:sp>
      <p:sp>
        <p:nvSpPr>
          <p:cNvPr id="135" name="Shape 127"/>
          <p:cNvSpPr/>
          <p:nvPr/>
        </p:nvSpPr>
        <p:spPr>
          <a:xfrm>
            <a:off x="3587008" y="3528185"/>
            <a:ext cx="548640" cy="119299"/>
          </a:xfrm>
          <a:prstGeom prst="rect">
            <a:avLst/>
          </a:prstGeom>
          <a:solidFill>
            <a:srgbClr val="FFFFFF"/>
          </a:solidFill>
          <a:ln w="6350">
            <a:solidFill>
              <a:srgbClr val="E2E2E2"/>
            </a:solidFill>
            <a:prstDash val="solid"/>
          </a:ln>
        </p:spPr>
      </p:sp>
      <p:sp>
        <p:nvSpPr>
          <p:cNvPr id="136" name="Shape 128"/>
          <p:cNvSpPr/>
          <p:nvPr/>
        </p:nvSpPr>
        <p:spPr>
          <a:xfrm>
            <a:off x="587776" y="3647484"/>
            <a:ext cx="256032" cy="119299"/>
          </a:xfrm>
          <a:prstGeom prst="rect">
            <a:avLst/>
          </a:prstGeom>
          <a:solidFill>
            <a:srgbClr val="F8F9FA"/>
          </a:solidFill>
          <a:ln w="6350">
            <a:solidFill>
              <a:srgbClr val="DDDDDD"/>
            </a:solidFill>
            <a:prstDash val="solid"/>
          </a:ln>
        </p:spPr>
      </p:sp>
      <p:sp>
        <p:nvSpPr>
          <p:cNvPr id="137" name="Text 129"/>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8" name="Shape 130"/>
          <p:cNvSpPr/>
          <p:nvPr/>
        </p:nvSpPr>
        <p:spPr>
          <a:xfrm>
            <a:off x="843808" y="3647484"/>
            <a:ext cx="548640" cy="119299"/>
          </a:xfrm>
          <a:prstGeom prst="rect">
            <a:avLst/>
          </a:prstGeom>
          <a:solidFill>
            <a:srgbClr val="FFFFFF"/>
          </a:solidFill>
          <a:ln w="6350">
            <a:solidFill>
              <a:srgbClr val="E2E2E2"/>
            </a:solidFill>
            <a:prstDash val="solid"/>
          </a:ln>
        </p:spPr>
      </p:sp>
      <p:sp>
        <p:nvSpPr>
          <p:cNvPr id="139" name="Shape 131"/>
          <p:cNvSpPr/>
          <p:nvPr/>
        </p:nvSpPr>
        <p:spPr>
          <a:xfrm>
            <a:off x="1392448" y="3647484"/>
            <a:ext cx="777240" cy="119299"/>
          </a:xfrm>
          <a:prstGeom prst="rect">
            <a:avLst/>
          </a:prstGeom>
          <a:solidFill>
            <a:srgbClr val="FFFFFF"/>
          </a:solidFill>
          <a:ln w="6350">
            <a:solidFill>
              <a:srgbClr val="E2E2E2"/>
            </a:solidFill>
            <a:prstDash val="solid"/>
          </a:ln>
        </p:spPr>
      </p:sp>
      <p:sp>
        <p:nvSpPr>
          <p:cNvPr id="140" name="Shape 132"/>
          <p:cNvSpPr/>
          <p:nvPr/>
        </p:nvSpPr>
        <p:spPr>
          <a:xfrm>
            <a:off x="2169688" y="3647484"/>
            <a:ext cx="868680" cy="119299"/>
          </a:xfrm>
          <a:prstGeom prst="rect">
            <a:avLst/>
          </a:prstGeom>
          <a:solidFill>
            <a:srgbClr val="FFFFFF"/>
          </a:solidFill>
          <a:ln w="6350">
            <a:solidFill>
              <a:srgbClr val="E2E2E2"/>
            </a:solidFill>
            <a:prstDash val="solid"/>
          </a:ln>
        </p:spPr>
      </p:sp>
      <p:sp>
        <p:nvSpPr>
          <p:cNvPr id="141" name="Shape 133"/>
          <p:cNvSpPr/>
          <p:nvPr/>
        </p:nvSpPr>
        <p:spPr>
          <a:xfrm>
            <a:off x="3038368" y="3647484"/>
            <a:ext cx="548640" cy="119299"/>
          </a:xfrm>
          <a:prstGeom prst="rect">
            <a:avLst/>
          </a:prstGeom>
          <a:solidFill>
            <a:srgbClr val="FFFFFF"/>
          </a:solidFill>
          <a:ln w="6350">
            <a:solidFill>
              <a:srgbClr val="E2E2E2"/>
            </a:solidFill>
            <a:prstDash val="solid"/>
          </a:ln>
        </p:spPr>
      </p:sp>
      <p:sp>
        <p:nvSpPr>
          <p:cNvPr id="142" name="Shape 134"/>
          <p:cNvSpPr/>
          <p:nvPr/>
        </p:nvSpPr>
        <p:spPr>
          <a:xfrm>
            <a:off x="3587008" y="3647484"/>
            <a:ext cx="548640" cy="119299"/>
          </a:xfrm>
          <a:prstGeom prst="rect">
            <a:avLst/>
          </a:prstGeom>
          <a:solidFill>
            <a:srgbClr val="FFFFFF"/>
          </a:solidFill>
          <a:ln w="6350">
            <a:solidFill>
              <a:srgbClr val="E2E2E2"/>
            </a:solidFill>
            <a:prstDash val="solid"/>
          </a:ln>
        </p:spPr>
      </p:sp>
      <p:sp>
        <p:nvSpPr>
          <p:cNvPr id="143" name="Shape 135"/>
          <p:cNvSpPr/>
          <p:nvPr/>
        </p:nvSpPr>
        <p:spPr>
          <a:xfrm>
            <a:off x="2169688" y="2931688"/>
            <a:ext cx="868680" cy="119299"/>
          </a:xfrm>
          <a:prstGeom prst="rect">
            <a:avLst/>
          </a:prstGeom>
          <a:solidFill>
            <a:srgbClr val="1A73E8">
              <a:alpha val="12000"/>
            </a:srgbClr>
          </a:solidFill>
          <a:ln w="19050">
            <a:solidFill>
              <a:srgbClr val="1A73E8"/>
            </a:solidFill>
            <a:prstDash val="solid"/>
          </a:ln>
        </p:spPr>
      </p:sp>
      <p:sp>
        <p:nvSpPr>
          <p:cNvPr id="144" name="Shape 136"/>
          <p:cNvSpPr/>
          <p:nvPr/>
        </p:nvSpPr>
        <p:spPr>
          <a:xfrm>
            <a:off x="587776" y="3794216"/>
            <a:ext cx="4950927" cy="201168"/>
          </a:xfrm>
          <a:prstGeom prst="rect">
            <a:avLst/>
          </a:prstGeom>
          <a:solidFill>
            <a:srgbClr val="F8F9FA"/>
          </a:solidFill>
          <a:ln w="12700">
            <a:solidFill>
              <a:srgbClr val="F8F9FA"/>
            </a:solidFill>
            <a:prstDash val="solid"/>
          </a:ln>
        </p:spPr>
      </p:sp>
      <p:sp>
        <p:nvSpPr>
          <p:cNvPr id="145" name="Text 137"/>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6" name="Text 13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7" name="Shape 139"/>
          <p:cNvSpPr/>
          <p:nvPr/>
        </p:nvSpPr>
        <p:spPr>
          <a:xfrm>
            <a:off x="1913656" y="3794216"/>
            <a:ext cx="731520" cy="201168"/>
          </a:xfrm>
          <a:prstGeom prst="rect">
            <a:avLst/>
          </a:prstGeom>
          <a:solidFill>
            <a:srgbClr val="E1EFFE"/>
          </a:solidFill>
          <a:ln w="12700">
            <a:solidFill>
              <a:srgbClr val="E1EFFE"/>
            </a:solidFill>
            <a:prstDash val="solid"/>
          </a:ln>
        </p:spPr>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49" name="Text 141"/>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Dashboard</a:t>
            </a:r>
            <a:endParaRPr lang="en-US" sz="700" dirty="0"/>
          </a:p>
        </p:txBody>
      </p:sp>
      <p:sp>
        <p:nvSpPr>
          <p:cNvPr id="150" name="Shape 142"/>
          <p:cNvSpPr/>
          <p:nvPr/>
        </p:nvSpPr>
        <p:spPr>
          <a:xfrm>
            <a:off x="3755624" y="2848109"/>
            <a:ext cx="1645920" cy="1143000"/>
          </a:xfrm>
          <a:prstGeom prst="rect">
            <a:avLst/>
          </a:prstGeom>
          <a:solidFill>
            <a:srgbClr val="FFFFFF"/>
          </a:solidFill>
          <a:ln w="9525">
            <a:solidFill>
              <a:srgbClr val="BBBBBB"/>
            </a:solidFill>
            <a:prstDash val="solid"/>
          </a:ln>
        </p:spPr>
      </p:sp>
      <p:sp>
        <p:nvSpPr>
          <p:cNvPr id="151" name="Text 143"/>
          <p:cNvSpPr txBox="1"/>
          <p:nvPr/>
        </p:nvSpPr>
        <p:spPr>
          <a:xfrm>
            <a:off x="3755624" y="2884685"/>
            <a:ext cx="1645920" cy="164592"/>
          </a:xfrm>
          <a:prstGeom prst="rect">
            <a:avLst/>
          </a:prstGeom>
          <a:noFill/>
          <a:ln/>
        </p:spPr>
        <p:txBody>
          <a:bodyPr wrap="square" lIns="0" tIns="0" rIns="0" bIns="0" rtlCol="0" anchor="t"/>
          <a:lstStyle/>
          <a:p>
            <a:pPr algn="ctr" indent="0" marL="0">
              <a:buNone/>
            </a:pPr>
            <a:r>
              <a:rPr lang="en-US" sz="750" b="1" dirty="0">
                <a:solidFill>
                  <a:srgbClr val="1E2A26"/>
                </a:solidFill>
                <a:latin typeface="Calibri" pitchFamily="34" charset="0"/>
                <a:ea typeface="Calibri" pitchFamily="34" charset="-122"/>
                <a:cs typeface="Calibri" pitchFamily="34" charset="-120"/>
              </a:rPr>
              <a:t>Status per Kelas</a:t>
            </a:r>
            <a:endParaRPr lang="en-US" sz="750" dirty="0"/>
          </a:p>
        </p:txBody>
      </p:sp>
      <p:sp>
        <p:nvSpPr>
          <p:cNvPr id="152" name="Shape 144"/>
          <p:cNvSpPr/>
          <p:nvPr/>
        </p:nvSpPr>
        <p:spPr>
          <a:xfrm>
            <a:off x="4032230" y="3094997"/>
            <a:ext cx="224028" cy="640080"/>
          </a:xfrm>
          <a:prstGeom prst="rect">
            <a:avLst/>
          </a:prstGeom>
          <a:solidFill>
            <a:srgbClr val="1F7A5C"/>
          </a:solidFill>
          <a:ln w="12700">
            <a:solidFill>
              <a:srgbClr val="1F7A5C"/>
            </a:solidFill>
            <a:prstDash val="solid"/>
          </a:ln>
        </p:spPr>
      </p:sp>
      <p:sp>
        <p:nvSpPr>
          <p:cNvPr id="153" name="Text 145"/>
          <p:cNvSpPr txBox="1"/>
          <p:nvPr/>
        </p:nvSpPr>
        <p:spPr>
          <a:xfrm>
            <a:off x="3984224" y="3744221"/>
            <a:ext cx="32004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 Tcp</a:t>
            </a:r>
            <a:endParaRPr lang="en-US" sz="500" dirty="0"/>
          </a:p>
        </p:txBody>
      </p:sp>
      <p:sp>
        <p:nvSpPr>
          <p:cNvPr id="154" name="Shape 146"/>
          <p:cNvSpPr/>
          <p:nvPr/>
        </p:nvSpPr>
        <p:spPr>
          <a:xfrm>
            <a:off x="4352270" y="3735077"/>
            <a:ext cx="224028" cy="0"/>
          </a:xfrm>
          <a:prstGeom prst="rect">
            <a:avLst/>
          </a:prstGeom>
          <a:solidFill>
            <a:srgbClr val="1F7A5C"/>
          </a:solidFill>
          <a:ln w="12700">
            <a:solidFill>
              <a:srgbClr val="1F7A5C"/>
            </a:solidFill>
            <a:prstDash val="solid"/>
          </a:ln>
        </p:spPr>
      </p:sp>
      <p:sp>
        <p:nvSpPr>
          <p:cNvPr id="155" name="Text 147"/>
          <p:cNvSpPr txBox="1"/>
          <p:nvPr/>
        </p:nvSpPr>
        <p:spPr>
          <a:xfrm>
            <a:off x="4304264" y="3744221"/>
            <a:ext cx="32004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 Bmb</a:t>
            </a:r>
            <a:endParaRPr lang="en-US" sz="500" dirty="0"/>
          </a:p>
        </p:txBody>
      </p:sp>
      <p:sp>
        <p:nvSpPr>
          <p:cNvPr id="156" name="Shape 148"/>
          <p:cNvSpPr/>
          <p:nvPr/>
        </p:nvSpPr>
        <p:spPr>
          <a:xfrm>
            <a:off x="4672310" y="3575057"/>
            <a:ext cx="224028" cy="160020"/>
          </a:xfrm>
          <a:prstGeom prst="rect">
            <a:avLst/>
          </a:prstGeom>
          <a:solidFill>
            <a:srgbClr val="1F7A5C"/>
          </a:solidFill>
          <a:ln w="12700">
            <a:solidFill>
              <a:srgbClr val="1F7A5C"/>
            </a:solidFill>
            <a:prstDash val="solid"/>
          </a:ln>
        </p:spPr>
      </p:sp>
      <p:sp>
        <p:nvSpPr>
          <p:cNvPr id="157" name="Text 149"/>
          <p:cNvSpPr txBox="1"/>
          <p:nvPr/>
        </p:nvSpPr>
        <p:spPr>
          <a:xfrm>
            <a:off x="4624304" y="3744221"/>
            <a:ext cx="32004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 Tcp</a:t>
            </a:r>
            <a:endParaRPr lang="en-US" sz="500" dirty="0"/>
          </a:p>
        </p:txBody>
      </p:sp>
      <p:sp>
        <p:nvSpPr>
          <p:cNvPr id="158" name="Shape 150"/>
          <p:cNvSpPr/>
          <p:nvPr/>
        </p:nvSpPr>
        <p:spPr>
          <a:xfrm>
            <a:off x="4992350" y="3255017"/>
            <a:ext cx="224028" cy="480060"/>
          </a:xfrm>
          <a:prstGeom prst="rect">
            <a:avLst/>
          </a:prstGeom>
          <a:solidFill>
            <a:srgbClr val="1F7A5C"/>
          </a:solidFill>
          <a:ln w="12700">
            <a:solidFill>
              <a:srgbClr val="1F7A5C"/>
            </a:solidFill>
            <a:prstDash val="solid"/>
          </a:ln>
        </p:spPr>
      </p:sp>
      <p:sp>
        <p:nvSpPr>
          <p:cNvPr id="159" name="Text 151"/>
          <p:cNvSpPr txBox="1"/>
          <p:nvPr/>
        </p:nvSpPr>
        <p:spPr>
          <a:xfrm>
            <a:off x="4944344" y="3744221"/>
            <a:ext cx="32004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 Bmb</a:t>
            </a:r>
            <a:endParaRPr lang="en-US" sz="500" dirty="0"/>
          </a:p>
        </p:txBody>
      </p:sp>
      <p:sp>
        <p:nvSpPr>
          <p:cNvPr id="160" name="Shape 152"/>
          <p:cNvSpPr/>
          <p:nvPr/>
        </p:nvSpPr>
        <p:spPr>
          <a:xfrm>
            <a:off x="3956792" y="3735077"/>
            <a:ext cx="1325880" cy="0"/>
          </a:xfrm>
          <a:prstGeom prst="line">
            <a:avLst/>
          </a:prstGeom>
          <a:noFill/>
          <a:ln w="6350">
            <a:solidFill>
              <a:srgbClr val="888888"/>
            </a:solidFill>
            <a:prstDash val="solid"/>
          </a:ln>
        </p:spPr>
      </p:sp>
      <p:sp>
        <p:nvSpPr>
          <p:cNvPr id="161" name="Shape 153"/>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62" name="Shape 154"/>
          <p:cNvSpPr/>
          <p:nvPr/>
        </p:nvSpPr>
        <p:spPr>
          <a:xfrm>
            <a:off x="5310104" y="2198885"/>
            <a:ext cx="274320" cy="274320"/>
          </a:xfrm>
          <a:prstGeom prst="ellipse">
            <a:avLst/>
          </a:prstGeom>
          <a:solidFill>
            <a:srgbClr val="E53935"/>
          </a:solidFill>
          <a:ln w="12700">
            <a:solidFill>
              <a:srgbClr val="FFFFFF"/>
            </a:solidFill>
            <a:prstDash val="solid"/>
          </a:ln>
        </p:spPr>
      </p:sp>
      <p:sp>
        <p:nvSpPr>
          <p:cNvPr id="163" name="Text 155"/>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64"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65" name="Shape 156"/>
          <p:cNvSpPr/>
          <p:nvPr/>
        </p:nvSpPr>
        <p:spPr>
          <a:xfrm>
            <a:off x="3728192" y="2820677"/>
            <a:ext cx="1700784" cy="1197864"/>
          </a:xfrm>
          <a:prstGeom prst="roundRect">
            <a:avLst>
              <a:gd name="adj" fmla="val 3817"/>
            </a:avLst>
          </a:prstGeom>
          <a:solidFill>
            <a:srgbClr val="FFFFFF">
              <a:alpha val="0"/>
            </a:srgbClr>
          </a:solidFill>
          <a:ln w="31750">
            <a:solidFill>
              <a:srgbClr val="E53935"/>
            </a:solidFill>
            <a:prstDash val="solid"/>
          </a:ln>
        </p:spPr>
      </p:sp>
      <p:sp>
        <p:nvSpPr>
          <p:cNvPr id="166" name="Shape 157"/>
          <p:cNvSpPr/>
          <p:nvPr/>
        </p:nvSpPr>
        <p:spPr>
          <a:xfrm>
            <a:off x="5291816" y="2683517"/>
            <a:ext cx="274320" cy="274320"/>
          </a:xfrm>
          <a:prstGeom prst="ellipse">
            <a:avLst/>
          </a:prstGeom>
          <a:solidFill>
            <a:srgbClr val="E53935"/>
          </a:solidFill>
          <a:ln w="12700">
            <a:solidFill>
              <a:srgbClr val="FFFFFF"/>
            </a:solidFill>
            <a:prstDash val="solid"/>
          </a:ln>
        </p:spPr>
      </p:sp>
      <p:sp>
        <p:nvSpPr>
          <p:cNvPr id="167" name="Text 158"/>
          <p:cNvSpPr txBox="1"/>
          <p:nvPr/>
        </p:nvSpPr>
        <p:spPr>
          <a:xfrm>
            <a:off x="5291816" y="2683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68" name="Image 7" descr="preencoded.png">    </p:cNvPr>
          <p:cNvPicPr>
            <a:picLocks noChangeAspect="1"/>
          </p:cNvPicPr>
          <p:nvPr/>
        </p:nvPicPr>
        <p:blipFill>
          <a:blip r:embed="rId8"/>
          <a:stretch>
            <a:fillRect/>
          </a:stretch>
        </p:blipFill>
        <p:spPr>
          <a:xfrm>
            <a:off x="4660880" y="3476759"/>
            <a:ext cx="237744" cy="237744"/>
          </a:xfrm>
          <a:prstGeom prst="rect">
            <a:avLst/>
          </a:prstGeom>
        </p:spPr>
      </p:pic>
      <p:sp>
        <p:nvSpPr>
          <p:cNvPr id="169" name="Text 15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170" name="Text 16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Tabel status per kelas dengan COUNTIFS</a:t>
            </a:r>
            <a:endParaRPr lang="en-US" sz="1800" dirty="0"/>
          </a:p>
        </p:txBody>
      </p:sp>
      <p:sp>
        <p:nvSpPr>
          <p:cNvPr id="171" name="Text 16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Ringkasan: baris 8A dan 8B, kolom Tercapai dan Bimbingan, isi dengan COUNTIFS. Buat grafik batang bertumpuk.</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Ide Analisis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Prompt_Analisis_Kel1 -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Prompt_Analisis_Kel1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Prompt Ide Analisis</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Ini ringkasan data FIKTIF hafalan kelas:</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8A: 4 tercapai, 0 bimbingan, rata-rata 4,5 juz</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8B: 1 tercapai, 3 bimbingan, rata-rata 2,0 juz</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Berikan 3 ide analisis dan 1 saran grafik</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untuk pembina, dalam bahasa sederhana.</a:t>
            </a:r>
            <a:endParaRPr lang="en-US" sz="800" dirty="0"/>
          </a:p>
        </p:txBody>
      </p:sp>
      <p:sp>
        <p:nvSpPr>
          <p:cNvPr id="75" name="Shape 64"/>
          <p:cNvSpPr/>
          <p:nvPr/>
        </p:nvSpPr>
        <p:spPr>
          <a:xfrm>
            <a:off x="1527048" y="2849506"/>
            <a:ext cx="3072384" cy="974344"/>
          </a:xfrm>
          <a:prstGeom prst="roundRect">
            <a:avLst>
              <a:gd name="adj" fmla="val 4692"/>
            </a:avLst>
          </a:prstGeom>
          <a:solidFill>
            <a:srgbClr val="FFFFFF">
              <a:alpha val="0"/>
            </a:srgbClr>
          </a:solidFill>
          <a:ln w="31750">
            <a:solidFill>
              <a:srgbClr val="E53935"/>
            </a:solidFill>
            <a:prstDash val="solid"/>
          </a:ln>
        </p:spPr>
      </p:sp>
      <p:sp>
        <p:nvSpPr>
          <p:cNvPr id="76" name="Shape 65"/>
          <p:cNvSpPr/>
          <p:nvPr/>
        </p:nvSpPr>
        <p:spPr>
          <a:xfrm>
            <a:off x="4462272" y="271234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8" name="Image 9" descr="preencoded.png">    </p:cNvPr>
          <p:cNvPicPr>
            <a:picLocks noChangeAspect="1"/>
          </p:cNvPicPr>
          <p:nvPr/>
        </p:nvPicPr>
        <p:blipFill>
          <a:blip r:embed="rId10"/>
          <a:stretch>
            <a:fillRect/>
          </a:stretch>
        </p:blipFill>
        <p:spPr>
          <a:xfrm>
            <a:off x="3214116" y="3382652"/>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ringkasan data fiktif untuk AI</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Salin tabel ringkasan (bukan seluruh database) ke prompt. Minta 3 ide analisis dan 1 saran grafik.</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Ide Analisis 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Asisten AI</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ai-chat.contoh</a:t>
            </a:r>
            <a:endParaRPr lang="en-US" sz="800" dirty="0"/>
          </a:p>
        </p:txBody>
      </p:sp>
      <p:sp>
        <p:nvSpPr>
          <p:cNvPr id="28" name="Shape 21"/>
          <p:cNvSpPr/>
          <p:nvPr/>
        </p:nvSpPr>
        <p:spPr>
          <a:xfrm>
            <a:off x="587776" y="1695965"/>
            <a:ext cx="914400" cy="2299419"/>
          </a:xfrm>
          <a:prstGeom prst="rect">
            <a:avLst/>
          </a:prstGeom>
          <a:solidFill>
            <a:srgbClr val="F0F4F9"/>
          </a:solidFill>
          <a:ln w="12700">
            <a:solidFill>
              <a:srgbClr val="F0F4F9"/>
            </a:solidFill>
            <a:prstDash val="solid"/>
          </a:ln>
        </p:spPr>
      </p:sp>
      <p:sp>
        <p:nvSpPr>
          <p:cNvPr id="29" name="Shape 22"/>
          <p:cNvSpPr/>
          <p:nvPr/>
        </p:nvSpPr>
        <p:spPr>
          <a:xfrm>
            <a:off x="660928" y="1787405"/>
            <a:ext cx="768096" cy="237744"/>
          </a:xfrm>
          <a:prstGeom prst="roundRect">
            <a:avLst>
              <a:gd name="adj" fmla="val 50000"/>
            </a:avLst>
          </a:prstGeom>
          <a:solidFill>
            <a:srgbClr val="DDE3EA"/>
          </a:solidFill>
          <a:ln w="12700">
            <a:solidFill>
              <a:srgbClr val="DDE3EA"/>
            </a:solidFill>
            <a:prstDash val="solid"/>
          </a:ln>
        </p:spPr>
      </p:sp>
      <p:sp>
        <p:nvSpPr>
          <p:cNvPr id="30" name="Text 23"/>
          <p:cNvSpPr txBox="1"/>
          <p:nvPr/>
        </p:nvSpPr>
        <p:spPr>
          <a:xfrm>
            <a:off x="660928" y="1787405"/>
            <a:ext cx="768096" cy="237744"/>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 Obrolan baru</a:t>
            </a:r>
            <a:endParaRPr lang="en-US" sz="700" dirty="0"/>
          </a:p>
        </p:txBody>
      </p:sp>
      <p:sp>
        <p:nvSpPr>
          <p:cNvPr id="31" name="Shape 24"/>
          <p:cNvSpPr/>
          <p:nvPr/>
        </p:nvSpPr>
        <p:spPr>
          <a:xfrm>
            <a:off x="2557028" y="1805693"/>
            <a:ext cx="2890236" cy="420624"/>
          </a:xfrm>
          <a:prstGeom prst="roundRect">
            <a:avLst>
              <a:gd name="adj" fmla="val 21739"/>
            </a:avLst>
          </a:prstGeom>
          <a:solidFill>
            <a:srgbClr val="E3E9F5"/>
          </a:solidFill>
          <a:ln w="12700">
            <a:solidFill>
              <a:srgbClr val="E3E9F5"/>
            </a:solidFill>
            <a:prstDash val="solid"/>
          </a:ln>
        </p:spPr>
      </p:sp>
      <p:sp>
        <p:nvSpPr>
          <p:cNvPr id="32" name="Text 25"/>
          <p:cNvSpPr txBox="1"/>
          <p:nvPr/>
        </p:nvSpPr>
        <p:spPr>
          <a:xfrm>
            <a:off x="2648468" y="1805693"/>
            <a:ext cx="2707356" cy="42062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Ini ringkasan data FIKTIF hafalan kelas: 8A: 4 tercapai, 0 bimbingan... Berikan 3 ide analisis dan 1 saran grafik.</a:t>
            </a:r>
            <a:endParaRPr lang="en-US" sz="750" dirty="0"/>
          </a:p>
        </p:txBody>
      </p:sp>
      <p:pic>
        <p:nvPicPr>
          <p:cNvPr id="33" name="Image 5" descr="preencoded.png">    </p:cNvPr>
          <p:cNvPicPr>
            <a:picLocks noChangeAspect="1"/>
          </p:cNvPicPr>
          <p:nvPr/>
        </p:nvPicPr>
        <p:blipFill>
          <a:blip r:embed="rId6"/>
          <a:stretch>
            <a:fillRect/>
          </a:stretch>
        </p:blipFill>
        <p:spPr>
          <a:xfrm>
            <a:off x="1593616" y="2317757"/>
            <a:ext cx="182880" cy="182880"/>
          </a:xfrm>
          <a:prstGeom prst="rect">
            <a:avLst/>
          </a:prstGeom>
        </p:spPr>
      </p:pic>
      <p:sp>
        <p:nvSpPr>
          <p:cNvPr id="34" name="Text 26"/>
          <p:cNvSpPr txBox="1"/>
          <p:nvPr/>
        </p:nvSpPr>
        <p:spPr>
          <a:xfrm>
            <a:off x="1849648" y="2317757"/>
            <a:ext cx="3533607" cy="868680"/>
          </a:xfrm>
          <a:prstGeom prst="rect">
            <a:avLst/>
          </a:prstGeom>
          <a:noFill/>
          <a:ln/>
        </p:spPr>
        <p:txBody>
          <a:bodyPr wrap="square" lIns="0" tIns="0" rIns="0" bIns="0" rtlCol="0" anchor="t"/>
          <a:lstStyle/>
          <a:p>
            <a:pPr indent="0" marL="0">
              <a:buNone/>
            </a:pPr>
            <a:r>
              <a:rPr lang="en-US" sz="750" dirty="0">
                <a:solidFill>
                  <a:srgbClr val="1E2A26"/>
                </a:solidFill>
                <a:latin typeface="Calibri" pitchFamily="34" charset="0"/>
                <a:ea typeface="Calibri" pitchFamily="34" charset="-122"/>
                <a:cs typeface="Calibri" pitchFamily="34" charset="-120"/>
              </a:rPr>
              <a:t>1. Kelas 8B lebih membutuhkan program bimbingan hafalan.</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2. Selisih rata-rata 8A dan 8B sekitar 2,5 juz.</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3. Kelas 8A bisa dijadikan teman murajaah bagi 8B.</a:t>
            </a:r>
            <a:endParaRPr lang="en-US" sz="750" dirty="0"/>
          </a:p>
          <a:p>
            <a:pPr indent="0" marL="0">
              <a:buNone/>
            </a:pPr>
            <a:r>
              <a:rPr lang="en-US" sz="750" dirty="0">
                <a:solidFill>
                  <a:srgbClr val="1E2A26"/>
                </a:solidFill>
                <a:latin typeface="Calibri" pitchFamily="34" charset="0"/>
                <a:ea typeface="Calibri" pitchFamily="34" charset="-122"/>
                <a:cs typeface="Calibri" pitchFamily="34" charset="-120"/>
              </a:rPr>
              <a:t>Saran grafik: batang berkelompok (Tercapai vs Bimbingan per kelas).</a:t>
            </a:r>
            <a:endParaRPr lang="en-US" sz="750" dirty="0"/>
          </a:p>
        </p:txBody>
      </p:sp>
      <p:sp>
        <p:nvSpPr>
          <p:cNvPr id="35" name="Shape 27"/>
          <p:cNvSpPr/>
          <p:nvPr/>
        </p:nvSpPr>
        <p:spPr>
          <a:xfrm>
            <a:off x="1593616" y="3583904"/>
            <a:ext cx="3807927" cy="292608"/>
          </a:xfrm>
          <a:prstGeom prst="roundRect">
            <a:avLst>
              <a:gd name="adj" fmla="val 50000"/>
            </a:avLst>
          </a:prstGeom>
          <a:solidFill>
            <a:srgbClr val="FFFFFF"/>
          </a:solidFill>
          <a:ln w="9525">
            <a:solidFill>
              <a:srgbClr val="BBBBBB"/>
            </a:solidFill>
            <a:prstDash val="solid"/>
          </a:ln>
        </p:spPr>
      </p:sp>
      <p:sp>
        <p:nvSpPr>
          <p:cNvPr id="36" name="Text 28"/>
          <p:cNvSpPr txBox="1"/>
          <p:nvPr/>
        </p:nvSpPr>
        <p:spPr>
          <a:xfrm>
            <a:off x="1730776" y="3583904"/>
            <a:ext cx="3350727" cy="292608"/>
          </a:xfrm>
          <a:prstGeom prst="rect">
            <a:avLst/>
          </a:prstGeom>
          <a:noFill/>
          <a:ln/>
        </p:spPr>
        <p:txBody>
          <a:bodyPr wrap="square" lIns="0" tIns="0" rIns="0" bIns="0" rtlCol="0" anchor="ctr"/>
          <a:lstStyle/>
          <a:p>
            <a:pPr indent="0" marL="0">
              <a:buNone/>
            </a:pPr>
            <a:r>
              <a:rPr lang="en-US" sz="750" dirty="0">
                <a:solidFill>
                  <a:srgbClr val="888888"/>
                </a:solidFill>
                <a:latin typeface="Calibri" pitchFamily="34" charset="0"/>
                <a:ea typeface="Calibri" pitchFamily="34" charset="-122"/>
                <a:cs typeface="Calibri" pitchFamily="34" charset="-120"/>
              </a:rPr>
              <a:t>Tanyakan sesuatu...</a:t>
            </a:r>
            <a:endParaRPr lang="en-US" sz="750" dirty="0"/>
          </a:p>
        </p:txBody>
      </p:sp>
      <p:sp>
        <p:nvSpPr>
          <p:cNvPr id="37" name="Shape 29"/>
          <p:cNvSpPr/>
          <p:nvPr/>
        </p:nvSpPr>
        <p:spPr>
          <a:xfrm>
            <a:off x="5127224" y="3620480"/>
            <a:ext cx="219456" cy="219456"/>
          </a:xfrm>
          <a:prstGeom prst="ellipse">
            <a:avLst/>
          </a:prstGeom>
          <a:solidFill>
            <a:srgbClr val="BBBBBB"/>
          </a:solidFill>
          <a:ln/>
        </p:spPr>
      </p:sp>
      <p:pic>
        <p:nvPicPr>
          <p:cNvPr id="38" name="Image 6" descr="preencoded.png">    </p:cNvPr>
          <p:cNvPicPr>
            <a:picLocks noChangeAspect="1"/>
          </p:cNvPicPr>
          <p:nvPr/>
        </p:nvPicPr>
        <p:blipFill>
          <a:blip r:embed="rId7"/>
          <a:stretch>
            <a:fillRect/>
          </a:stretch>
        </p:blipFill>
        <p:spPr>
          <a:xfrm>
            <a:off x="5182088" y="3675344"/>
            <a:ext cx="109728" cy="109728"/>
          </a:xfrm>
          <a:prstGeom prst="rect">
            <a:avLst/>
          </a:prstGeom>
        </p:spPr>
      </p:pic>
      <p:sp>
        <p:nvSpPr>
          <p:cNvPr id="39" name="Text 30"/>
          <p:cNvSpPr txBox="1"/>
          <p:nvPr/>
        </p:nvSpPr>
        <p:spPr>
          <a:xfrm>
            <a:off x="1593616" y="3876512"/>
            <a:ext cx="3853647" cy="109728"/>
          </a:xfrm>
          <a:prstGeom prst="rect">
            <a:avLst/>
          </a:prstGeom>
          <a:noFill/>
          <a:ln/>
        </p:spPr>
        <p:txBody>
          <a:bodyPr wrap="square" lIns="0" tIns="0" rIns="0" bIns="0" rtlCol="0" anchor="t"/>
          <a:lstStyle/>
          <a:p>
            <a:pPr algn="ctr" indent="0" marL="0">
              <a:buNone/>
            </a:pPr>
            <a:r>
              <a:rPr lang="en-US" sz="550" dirty="0">
                <a:solidFill>
                  <a:srgbClr val="888888"/>
                </a:solidFill>
                <a:latin typeface="Calibri" pitchFamily="34" charset="0"/>
                <a:ea typeface="Calibri" pitchFamily="34" charset="-122"/>
                <a:cs typeface="Calibri" pitchFamily="34" charset="-120"/>
              </a:rPr>
              <a:t>AI dapat membuat kesalahan. Periksa info penting.</a:t>
            </a:r>
            <a:endParaRPr lang="en-US" sz="550" dirty="0"/>
          </a:p>
        </p:txBody>
      </p:sp>
      <p:sp>
        <p:nvSpPr>
          <p:cNvPr id="40" name="Shape 31"/>
          <p:cNvSpPr/>
          <p:nvPr/>
        </p:nvSpPr>
        <p:spPr>
          <a:xfrm>
            <a:off x="1822216" y="2290325"/>
            <a:ext cx="3588471" cy="923544"/>
          </a:xfrm>
          <a:prstGeom prst="roundRect">
            <a:avLst>
              <a:gd name="adj" fmla="val 4950"/>
            </a:avLst>
          </a:prstGeom>
          <a:solidFill>
            <a:srgbClr val="FFFFFF">
              <a:alpha val="0"/>
            </a:srgbClr>
          </a:solidFill>
          <a:ln w="31750">
            <a:solidFill>
              <a:srgbClr val="E53935"/>
            </a:solidFill>
            <a:prstDash val="solid"/>
          </a:ln>
        </p:spPr>
      </p:sp>
      <p:sp>
        <p:nvSpPr>
          <p:cNvPr id="41" name="Shape 32"/>
          <p:cNvSpPr/>
          <p:nvPr/>
        </p:nvSpPr>
        <p:spPr>
          <a:xfrm>
            <a:off x="5273528" y="2153165"/>
            <a:ext cx="274320" cy="274320"/>
          </a:xfrm>
          <a:prstGeom prst="ellipse">
            <a:avLst/>
          </a:prstGeom>
          <a:solidFill>
            <a:srgbClr val="E53935"/>
          </a:solidFill>
          <a:ln w="12700">
            <a:solidFill>
              <a:srgbClr val="FFFFFF"/>
            </a:solidFill>
            <a:prstDash val="solid"/>
          </a:ln>
        </p:spPr>
      </p:sp>
      <p:sp>
        <p:nvSpPr>
          <p:cNvPr id="42" name="Text 33"/>
          <p:cNvSpPr txBox="1"/>
          <p:nvPr/>
        </p:nvSpPr>
        <p:spPr>
          <a:xfrm>
            <a:off x="5273528"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3" name="Image 7" descr="preencoded.png">    </p:cNvPr>
          <p:cNvPicPr>
            <a:picLocks noChangeAspect="1"/>
          </p:cNvPicPr>
          <p:nvPr/>
        </p:nvPicPr>
        <p:blipFill>
          <a:blip r:embed="rId8"/>
          <a:stretch>
            <a:fillRect/>
          </a:stretch>
        </p:blipFill>
        <p:spPr>
          <a:xfrm>
            <a:off x="3793132" y="2795531"/>
            <a:ext cx="237744" cy="237744"/>
          </a:xfrm>
          <a:prstGeom prst="rect">
            <a:avLst/>
          </a:prstGeom>
        </p:spPr>
      </p:pic>
      <p:sp>
        <p:nvSpPr>
          <p:cNvPr id="44"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5"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Guru mengirim, baca ide dari AI</a:t>
            </a:r>
            <a:endParaRPr lang="en-US" sz="1800" dirty="0"/>
          </a:p>
        </p:txBody>
      </p:sp>
      <p:sp>
        <p:nvSpPr>
          <p:cNvPr id="46"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mengirim prompt. Kelompok mencatat ide analisis dari AI sebagai DUGAAN yang harus dicek.</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Verifikasi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Prompt_Analisis_Kel1 -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Prompt_Analisis_Kel1</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Verifikasi Klaim AI</a:t>
            </a:r>
            <a:endParaRPr lang="en-US" sz="1100" dirty="0"/>
          </a:p>
        </p:txBody>
      </p:sp>
      <p:sp>
        <p:nvSpPr>
          <p:cNvPr id="70" name="Shape 59"/>
          <p:cNvSpPr/>
          <p:nvPr/>
        </p:nvSpPr>
        <p:spPr>
          <a:xfrm>
            <a:off x="1554480" y="2876938"/>
            <a:ext cx="1005840" cy="182880"/>
          </a:xfrm>
          <a:prstGeom prst="rect">
            <a:avLst/>
          </a:prstGeom>
          <a:solidFill>
            <a:srgbClr val="D9EAD3"/>
          </a:solidFill>
          <a:ln w="6350">
            <a:solidFill>
              <a:srgbClr val="777777"/>
            </a:solidFill>
            <a:prstDash val="solid"/>
          </a:ln>
        </p:spPr>
      </p:sp>
      <p:sp>
        <p:nvSpPr>
          <p:cNvPr id="71" name="Text 60"/>
          <p:cNvSpPr txBox="1"/>
          <p:nvPr/>
        </p:nvSpPr>
        <p:spPr>
          <a:xfrm>
            <a:off x="158191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Klaim AI</a:t>
            </a:r>
            <a:endParaRPr lang="en-US" sz="650" dirty="0"/>
          </a:p>
        </p:txBody>
      </p:sp>
      <p:sp>
        <p:nvSpPr>
          <p:cNvPr id="72" name="Shape 61"/>
          <p:cNvSpPr/>
          <p:nvPr/>
        </p:nvSpPr>
        <p:spPr>
          <a:xfrm>
            <a:off x="2560320" y="2876938"/>
            <a:ext cx="1005840" cy="182880"/>
          </a:xfrm>
          <a:prstGeom prst="rect">
            <a:avLst/>
          </a:prstGeom>
          <a:solidFill>
            <a:srgbClr val="D9EAD3"/>
          </a:solidFill>
          <a:ln w="6350">
            <a:solidFill>
              <a:srgbClr val="777777"/>
            </a:solidFill>
            <a:prstDash val="solid"/>
          </a:ln>
        </p:spPr>
      </p:sp>
      <p:sp>
        <p:nvSpPr>
          <p:cNvPr id="73" name="Text 62"/>
          <p:cNvSpPr txBox="1"/>
          <p:nvPr/>
        </p:nvSpPr>
        <p:spPr>
          <a:xfrm>
            <a:off x="258775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Cara cek</a:t>
            </a:r>
            <a:endParaRPr lang="en-US" sz="650" dirty="0"/>
          </a:p>
        </p:txBody>
      </p:sp>
      <p:sp>
        <p:nvSpPr>
          <p:cNvPr id="74" name="Shape 63"/>
          <p:cNvSpPr/>
          <p:nvPr/>
        </p:nvSpPr>
        <p:spPr>
          <a:xfrm>
            <a:off x="3566160" y="2876938"/>
            <a:ext cx="1005840" cy="182880"/>
          </a:xfrm>
          <a:prstGeom prst="rect">
            <a:avLst/>
          </a:prstGeom>
          <a:solidFill>
            <a:srgbClr val="D9EAD3"/>
          </a:solidFill>
          <a:ln w="6350">
            <a:solidFill>
              <a:srgbClr val="777777"/>
            </a:solidFill>
            <a:prstDash val="solid"/>
          </a:ln>
        </p:spPr>
      </p:sp>
      <p:sp>
        <p:nvSpPr>
          <p:cNvPr id="75" name="Text 64"/>
          <p:cNvSpPr txBox="1"/>
          <p:nvPr/>
        </p:nvSpPr>
        <p:spPr>
          <a:xfrm>
            <a:off x="3593592" y="2876938"/>
            <a:ext cx="960120" cy="182880"/>
          </a:xfrm>
          <a:prstGeom prst="rect">
            <a:avLst/>
          </a:prstGeom>
          <a:noFill/>
          <a:ln/>
        </p:spPr>
        <p:txBody>
          <a:bodyPr wrap="square" lIns="0" tIns="0" rIns="0" bIns="0" rtlCol="0" anchor="ctr"/>
          <a:lstStyle/>
          <a:p>
            <a:pPr indent="0" marL="0">
              <a:buNone/>
            </a:pPr>
            <a:r>
              <a:rPr lang="en-US" sz="650" b="1" dirty="0">
                <a:solidFill>
                  <a:srgbClr val="1E2A26"/>
                </a:solidFill>
                <a:latin typeface="Arial" pitchFamily="34" charset="0"/>
                <a:ea typeface="Arial" pitchFamily="34" charset="-122"/>
                <a:cs typeface="Arial" pitchFamily="34" charset="-120"/>
              </a:rPr>
              <a:t>Hasil</a:t>
            </a:r>
            <a:endParaRPr lang="en-US" sz="650" dirty="0"/>
          </a:p>
        </p:txBody>
      </p:sp>
      <p:sp>
        <p:nvSpPr>
          <p:cNvPr id="76" name="Shape 65"/>
          <p:cNvSpPr/>
          <p:nvPr/>
        </p:nvSpPr>
        <p:spPr>
          <a:xfrm>
            <a:off x="1554480" y="3059818"/>
            <a:ext cx="1005840" cy="182880"/>
          </a:xfrm>
          <a:prstGeom prst="rect">
            <a:avLst/>
          </a:prstGeom>
          <a:solidFill>
            <a:srgbClr val="FFFFFF"/>
          </a:solidFill>
          <a:ln w="6350">
            <a:solidFill>
              <a:srgbClr val="777777"/>
            </a:solidFill>
            <a:prstDash val="solid"/>
          </a:ln>
        </p:spPr>
      </p:sp>
      <p:sp>
        <p:nvSpPr>
          <p:cNvPr id="77" name="Text 66"/>
          <p:cNvSpPr txBox="1"/>
          <p:nvPr/>
        </p:nvSpPr>
        <p:spPr>
          <a:xfrm>
            <a:off x="158191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8B lebih butuh bimbingan</a:t>
            </a:r>
            <a:endParaRPr lang="en-US" sz="650" dirty="0"/>
          </a:p>
        </p:txBody>
      </p:sp>
      <p:sp>
        <p:nvSpPr>
          <p:cNvPr id="78" name="Shape 67"/>
          <p:cNvSpPr/>
          <p:nvPr/>
        </p:nvSpPr>
        <p:spPr>
          <a:xfrm>
            <a:off x="2560320" y="3059818"/>
            <a:ext cx="1005840" cy="182880"/>
          </a:xfrm>
          <a:prstGeom prst="rect">
            <a:avLst/>
          </a:prstGeom>
          <a:solidFill>
            <a:srgbClr val="FFFFFF"/>
          </a:solidFill>
          <a:ln w="6350">
            <a:solidFill>
              <a:srgbClr val="777777"/>
            </a:solidFill>
            <a:prstDash val="solid"/>
          </a:ln>
        </p:spPr>
      </p:sp>
      <p:sp>
        <p:nvSpPr>
          <p:cNvPr id="79" name="Text 68"/>
          <p:cNvSpPr txBox="1"/>
          <p:nvPr/>
        </p:nvSpPr>
        <p:spPr>
          <a:xfrm>
            <a:off x="258775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COUNTIFS</a:t>
            </a:r>
            <a:endParaRPr lang="en-US" sz="650" dirty="0"/>
          </a:p>
        </p:txBody>
      </p:sp>
      <p:sp>
        <p:nvSpPr>
          <p:cNvPr id="80" name="Shape 69"/>
          <p:cNvSpPr/>
          <p:nvPr/>
        </p:nvSpPr>
        <p:spPr>
          <a:xfrm>
            <a:off x="3566160" y="3059818"/>
            <a:ext cx="1005840" cy="182880"/>
          </a:xfrm>
          <a:prstGeom prst="rect">
            <a:avLst/>
          </a:prstGeom>
          <a:solidFill>
            <a:srgbClr val="FFFFFF"/>
          </a:solidFill>
          <a:ln w="6350">
            <a:solidFill>
              <a:srgbClr val="777777"/>
            </a:solidFill>
            <a:prstDash val="solid"/>
          </a:ln>
        </p:spPr>
      </p:sp>
      <p:sp>
        <p:nvSpPr>
          <p:cNvPr id="81" name="Text 70"/>
          <p:cNvSpPr txBox="1"/>
          <p:nvPr/>
        </p:nvSpPr>
        <p:spPr>
          <a:xfrm>
            <a:off x="3593592" y="305981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Benar (3 vs 0)</a:t>
            </a:r>
            <a:endParaRPr lang="en-US" sz="650" dirty="0"/>
          </a:p>
        </p:txBody>
      </p:sp>
      <p:sp>
        <p:nvSpPr>
          <p:cNvPr id="82" name="Shape 71"/>
          <p:cNvSpPr/>
          <p:nvPr/>
        </p:nvSpPr>
        <p:spPr>
          <a:xfrm>
            <a:off x="1554480" y="3242698"/>
            <a:ext cx="1005840" cy="182880"/>
          </a:xfrm>
          <a:prstGeom prst="rect">
            <a:avLst/>
          </a:prstGeom>
          <a:solidFill>
            <a:srgbClr val="FFFFFF"/>
          </a:solidFill>
          <a:ln w="6350">
            <a:solidFill>
              <a:srgbClr val="777777"/>
            </a:solidFill>
            <a:prstDash val="solid"/>
          </a:ln>
        </p:spPr>
      </p:sp>
      <p:sp>
        <p:nvSpPr>
          <p:cNvPr id="83" name="Text 72"/>
          <p:cNvSpPr txBox="1"/>
          <p:nvPr/>
        </p:nvSpPr>
        <p:spPr>
          <a:xfrm>
            <a:off x="158191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Selisih rata-rata 2,5</a:t>
            </a:r>
            <a:endParaRPr lang="en-US" sz="650" dirty="0"/>
          </a:p>
        </p:txBody>
      </p:sp>
      <p:sp>
        <p:nvSpPr>
          <p:cNvPr id="84" name="Shape 73"/>
          <p:cNvSpPr/>
          <p:nvPr/>
        </p:nvSpPr>
        <p:spPr>
          <a:xfrm>
            <a:off x="2560320" y="3242698"/>
            <a:ext cx="1005840" cy="182880"/>
          </a:xfrm>
          <a:prstGeom prst="rect">
            <a:avLst/>
          </a:prstGeom>
          <a:solidFill>
            <a:srgbClr val="FFFFFF"/>
          </a:solidFill>
          <a:ln w="6350">
            <a:solidFill>
              <a:srgbClr val="777777"/>
            </a:solidFill>
            <a:prstDash val="solid"/>
          </a:ln>
        </p:spPr>
      </p:sp>
      <p:sp>
        <p:nvSpPr>
          <p:cNvPr id="85" name="Text 74"/>
          <p:cNvSpPr txBox="1"/>
          <p:nvPr/>
        </p:nvSpPr>
        <p:spPr>
          <a:xfrm>
            <a:off x="258775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4,5 - 2,0</a:t>
            </a:r>
            <a:endParaRPr lang="en-US" sz="650" dirty="0"/>
          </a:p>
        </p:txBody>
      </p:sp>
      <p:sp>
        <p:nvSpPr>
          <p:cNvPr id="86" name="Shape 75"/>
          <p:cNvSpPr/>
          <p:nvPr/>
        </p:nvSpPr>
        <p:spPr>
          <a:xfrm>
            <a:off x="3566160" y="3242698"/>
            <a:ext cx="1005840" cy="182880"/>
          </a:xfrm>
          <a:prstGeom prst="rect">
            <a:avLst/>
          </a:prstGeom>
          <a:solidFill>
            <a:srgbClr val="FFFFFF"/>
          </a:solidFill>
          <a:ln w="6350">
            <a:solidFill>
              <a:srgbClr val="777777"/>
            </a:solidFill>
            <a:prstDash val="solid"/>
          </a:ln>
        </p:spPr>
      </p:sp>
      <p:sp>
        <p:nvSpPr>
          <p:cNvPr id="87" name="Text 76"/>
          <p:cNvSpPr txBox="1"/>
          <p:nvPr/>
        </p:nvSpPr>
        <p:spPr>
          <a:xfrm>
            <a:off x="3593592" y="3242698"/>
            <a:ext cx="960120" cy="182880"/>
          </a:xfrm>
          <a:prstGeom prst="rect">
            <a:avLst/>
          </a:prstGeom>
          <a:noFill/>
          <a:ln/>
        </p:spPr>
        <p:txBody>
          <a:bodyPr wrap="square" lIns="0" tIns="0" rIns="0" bIns="0" rtlCol="0" anchor="ctr"/>
          <a:lstStyle/>
          <a:p>
            <a:pPr indent="0" marL="0">
              <a:buNone/>
            </a:pPr>
            <a:r>
              <a:rPr lang="en-US" sz="650" dirty="0">
                <a:solidFill>
                  <a:srgbClr val="1E2A26"/>
                </a:solidFill>
                <a:latin typeface="Arial" pitchFamily="34" charset="0"/>
                <a:ea typeface="Arial" pitchFamily="34" charset="-122"/>
                <a:cs typeface="Arial" pitchFamily="34" charset="-120"/>
              </a:rPr>
              <a:t>Benar (2,5)</a:t>
            </a:r>
            <a:endParaRPr lang="en-US" sz="650" dirty="0"/>
          </a:p>
        </p:txBody>
      </p:sp>
      <p:sp>
        <p:nvSpPr>
          <p:cNvPr id="88" name="Shape 77"/>
          <p:cNvSpPr/>
          <p:nvPr/>
        </p:nvSpPr>
        <p:spPr>
          <a:xfrm>
            <a:off x="1554480" y="3425578"/>
            <a:ext cx="1005840" cy="182880"/>
          </a:xfrm>
          <a:prstGeom prst="rect">
            <a:avLst/>
          </a:prstGeom>
          <a:solidFill>
            <a:srgbClr val="FFFFFF"/>
          </a:solidFill>
          <a:ln w="6350">
            <a:solidFill>
              <a:srgbClr val="777777"/>
            </a:solidFill>
            <a:prstDash val="solid"/>
          </a:ln>
        </p:spPr>
      </p:sp>
      <p:sp>
        <p:nvSpPr>
          <p:cNvPr id="89" name="Text 78"/>
          <p:cNvSpPr txBox="1"/>
          <p:nvPr/>
        </p:nvSpPr>
        <p:spPr>
          <a:xfrm>
            <a:off x="1581912" y="3425578"/>
            <a:ext cx="960120" cy="182880"/>
          </a:xfrm>
          <a:prstGeom prst="rect">
            <a:avLst/>
          </a:prstGeom>
          <a:noFill/>
          <a:ln/>
        </p:spPr>
        <p:txBody>
          <a:bodyPr wrap="square" lIns="0" tIns="0" rIns="0" bIns="0" rtlCol="0" anchor="ctr"/>
          <a:lstStyle/>
          <a:p>
            <a:pPr indent="0" marL="0">
              <a:buNone/>
            </a:pPr>
            <a:endParaRPr lang="en-US" sz="650" dirty="0"/>
          </a:p>
        </p:txBody>
      </p:sp>
      <p:sp>
        <p:nvSpPr>
          <p:cNvPr id="90" name="Shape 79"/>
          <p:cNvSpPr/>
          <p:nvPr/>
        </p:nvSpPr>
        <p:spPr>
          <a:xfrm>
            <a:off x="2560320" y="3425578"/>
            <a:ext cx="1005840" cy="182880"/>
          </a:xfrm>
          <a:prstGeom prst="rect">
            <a:avLst/>
          </a:prstGeom>
          <a:solidFill>
            <a:srgbClr val="FFFFFF"/>
          </a:solidFill>
          <a:ln w="6350">
            <a:solidFill>
              <a:srgbClr val="777777"/>
            </a:solidFill>
            <a:prstDash val="solid"/>
          </a:ln>
        </p:spPr>
      </p:sp>
      <p:sp>
        <p:nvSpPr>
          <p:cNvPr id="91" name="Text 80"/>
          <p:cNvSpPr txBox="1"/>
          <p:nvPr/>
        </p:nvSpPr>
        <p:spPr>
          <a:xfrm>
            <a:off x="2587752" y="3425578"/>
            <a:ext cx="960120" cy="182880"/>
          </a:xfrm>
          <a:prstGeom prst="rect">
            <a:avLst/>
          </a:prstGeom>
          <a:noFill/>
          <a:ln/>
        </p:spPr>
        <p:txBody>
          <a:bodyPr wrap="square" lIns="0" tIns="0" rIns="0" bIns="0" rtlCol="0" anchor="ctr"/>
          <a:lstStyle/>
          <a:p>
            <a:pPr indent="0" marL="0">
              <a:buNone/>
            </a:pPr>
            <a:endParaRPr lang="en-US" sz="650" dirty="0"/>
          </a:p>
        </p:txBody>
      </p:sp>
      <p:sp>
        <p:nvSpPr>
          <p:cNvPr id="92" name="Shape 81"/>
          <p:cNvSpPr/>
          <p:nvPr/>
        </p:nvSpPr>
        <p:spPr>
          <a:xfrm>
            <a:off x="3566160" y="3425578"/>
            <a:ext cx="1005840" cy="182880"/>
          </a:xfrm>
          <a:prstGeom prst="rect">
            <a:avLst/>
          </a:prstGeom>
          <a:solidFill>
            <a:srgbClr val="FFFFFF"/>
          </a:solidFill>
          <a:ln w="6350">
            <a:solidFill>
              <a:srgbClr val="777777"/>
            </a:solidFill>
            <a:prstDash val="solid"/>
          </a:ln>
        </p:spPr>
      </p:sp>
      <p:sp>
        <p:nvSpPr>
          <p:cNvPr id="93" name="Text 82"/>
          <p:cNvSpPr txBox="1"/>
          <p:nvPr/>
        </p:nvSpPr>
        <p:spPr>
          <a:xfrm>
            <a:off x="3593592" y="3425578"/>
            <a:ext cx="960120" cy="182880"/>
          </a:xfrm>
          <a:prstGeom prst="rect">
            <a:avLst/>
          </a:prstGeom>
          <a:noFill/>
          <a:ln/>
        </p:spPr>
        <p:txBody>
          <a:bodyPr wrap="square" lIns="0" tIns="0" rIns="0" bIns="0" rtlCol="0" anchor="ctr"/>
          <a:lstStyle/>
          <a:p>
            <a:pPr indent="0" marL="0">
              <a:buNone/>
            </a:pPr>
            <a:endParaRPr lang="en-US" sz="650" dirty="0"/>
          </a:p>
        </p:txBody>
      </p:sp>
      <p:sp>
        <p:nvSpPr>
          <p:cNvPr id="94" name="Shape 83"/>
          <p:cNvSpPr/>
          <p:nvPr/>
        </p:nvSpPr>
        <p:spPr>
          <a:xfrm>
            <a:off x="1527048" y="2849506"/>
            <a:ext cx="3072384" cy="786384"/>
          </a:xfrm>
          <a:prstGeom prst="roundRect">
            <a:avLst>
              <a:gd name="adj" fmla="val 5814"/>
            </a:avLst>
          </a:prstGeom>
          <a:solidFill>
            <a:srgbClr val="FFFFFF">
              <a:alpha val="0"/>
            </a:srgbClr>
          </a:solidFill>
          <a:ln w="31750">
            <a:solidFill>
              <a:srgbClr val="E53935"/>
            </a:solidFill>
            <a:prstDash val="solid"/>
          </a:ln>
        </p:spPr>
      </p:sp>
      <p:sp>
        <p:nvSpPr>
          <p:cNvPr id="95" name="Shape 84"/>
          <p:cNvSpPr/>
          <p:nvPr/>
        </p:nvSpPr>
        <p:spPr>
          <a:xfrm>
            <a:off x="4462272" y="2712346"/>
            <a:ext cx="274320" cy="274320"/>
          </a:xfrm>
          <a:prstGeom prst="ellipse">
            <a:avLst/>
          </a:prstGeom>
          <a:solidFill>
            <a:srgbClr val="E53935"/>
          </a:solidFill>
          <a:ln w="12700">
            <a:solidFill>
              <a:srgbClr val="FFFFFF"/>
            </a:solidFill>
            <a:prstDash val="solid"/>
          </a:ln>
        </p:spPr>
      </p:sp>
      <p:sp>
        <p:nvSpPr>
          <p:cNvPr id="96" name="Text 85"/>
          <p:cNvSpPr txBox="1"/>
          <p:nvPr/>
        </p:nvSpPr>
        <p:spPr>
          <a:xfrm>
            <a:off x="4462272" y="271234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97" name="Image 9" descr="preencoded.png">    </p:cNvPr>
          <p:cNvPicPr>
            <a:picLocks noChangeAspect="1"/>
          </p:cNvPicPr>
          <p:nvPr/>
        </p:nvPicPr>
        <p:blipFill>
          <a:blip r:embed="rId10"/>
          <a:stretch>
            <a:fillRect/>
          </a:stretch>
        </p:blipFill>
        <p:spPr>
          <a:xfrm>
            <a:off x="3214116" y="3279274"/>
            <a:ext cx="237744" cy="237744"/>
          </a:xfrm>
          <a:prstGeom prst="rect">
            <a:avLst/>
          </a:prstGeom>
        </p:spPr>
      </p:pic>
      <p:sp>
        <p:nvSpPr>
          <p:cNvPr id="98" name="Text 8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99" name="Text 8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Cek setiap klaim AI dengan rumus</a:t>
            </a:r>
            <a:endParaRPr lang="en-US" sz="1800" dirty="0"/>
          </a:p>
        </p:txBody>
      </p:sp>
      <p:sp>
        <p:nvSpPr>
          <p:cNvPr id="100" name="Text 8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Untuk setiap ide AI, buat tabel: Klaim AI · Cara cek · Hasil cek · Benar/Salah.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Kesimpulan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68580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4108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4108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52568" y="2573789"/>
            <a:ext cx="685800" cy="119299"/>
          </a:xfrm>
          <a:prstGeom prst="rect">
            <a:avLst/>
          </a:prstGeom>
          <a:solidFill>
            <a:srgbClr val="F8F9FA"/>
          </a:solidFill>
          <a:ln w="6350">
            <a:solidFill>
              <a:srgbClr val="DDDDDD"/>
            </a:solidFill>
            <a:prstDash val="solid"/>
          </a:ln>
        </p:spPr>
      </p:sp>
      <p:sp>
        <p:nvSpPr>
          <p:cNvPr id="68" name="Text 60"/>
          <p:cNvSpPr txBox="1"/>
          <p:nvPr/>
        </p:nvSpPr>
        <p:spPr>
          <a:xfrm>
            <a:off x="235256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038368" y="2573789"/>
            <a:ext cx="365760" cy="119299"/>
          </a:xfrm>
          <a:prstGeom prst="rect">
            <a:avLst/>
          </a:prstGeom>
          <a:solidFill>
            <a:srgbClr val="F8F9FA"/>
          </a:solidFill>
          <a:ln w="6350">
            <a:solidFill>
              <a:srgbClr val="DDDDDD"/>
            </a:solidFill>
            <a:prstDash val="solid"/>
          </a:ln>
        </p:spPr>
      </p:sp>
      <p:sp>
        <p:nvSpPr>
          <p:cNvPr id="70" name="Text 62"/>
          <p:cNvSpPr txBox="1"/>
          <p:nvPr/>
        </p:nvSpPr>
        <p:spPr>
          <a:xfrm>
            <a:off x="303836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404128" y="2573789"/>
            <a:ext cx="777240" cy="119299"/>
          </a:xfrm>
          <a:prstGeom prst="rect">
            <a:avLst/>
          </a:prstGeom>
          <a:solidFill>
            <a:srgbClr val="F8F9FA"/>
          </a:solidFill>
          <a:ln w="6350">
            <a:solidFill>
              <a:srgbClr val="DDDDDD"/>
            </a:solidFill>
            <a:prstDash val="solid"/>
          </a:ln>
        </p:spPr>
      </p:sp>
      <p:sp>
        <p:nvSpPr>
          <p:cNvPr id="72" name="Text 64"/>
          <p:cNvSpPr txBox="1"/>
          <p:nvPr/>
        </p:nvSpPr>
        <p:spPr>
          <a:xfrm>
            <a:off x="340412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Shape 68"/>
          <p:cNvSpPr/>
          <p:nvPr/>
        </p:nvSpPr>
        <p:spPr>
          <a:xfrm>
            <a:off x="1255288" y="2693089"/>
            <a:ext cx="685800" cy="119299"/>
          </a:xfrm>
          <a:prstGeom prst="rect">
            <a:avLst/>
          </a:prstGeom>
          <a:solidFill>
            <a:srgbClr val="0F4C3A"/>
          </a:solidFill>
          <a:ln w="6350">
            <a:solidFill>
              <a:srgbClr val="E2E2E2"/>
            </a:solidFill>
            <a:prstDash val="solid"/>
          </a:ln>
        </p:spPr>
      </p:sp>
      <p:sp>
        <p:nvSpPr>
          <p:cNvPr id="77" name="Shape 69"/>
          <p:cNvSpPr/>
          <p:nvPr/>
        </p:nvSpPr>
        <p:spPr>
          <a:xfrm>
            <a:off x="1941088" y="2693089"/>
            <a:ext cx="411480" cy="119299"/>
          </a:xfrm>
          <a:prstGeom prst="rect">
            <a:avLst/>
          </a:prstGeom>
          <a:solidFill>
            <a:srgbClr val="0F4C3A"/>
          </a:solidFill>
          <a:ln w="6350">
            <a:solidFill>
              <a:srgbClr val="E2E2E2"/>
            </a:solidFill>
            <a:prstDash val="solid"/>
          </a:ln>
        </p:spPr>
      </p:sp>
      <p:sp>
        <p:nvSpPr>
          <p:cNvPr id="78" name="Shape 70"/>
          <p:cNvSpPr/>
          <p:nvPr/>
        </p:nvSpPr>
        <p:spPr>
          <a:xfrm>
            <a:off x="2352568" y="2693089"/>
            <a:ext cx="685800" cy="119299"/>
          </a:xfrm>
          <a:prstGeom prst="rect">
            <a:avLst/>
          </a:prstGeom>
          <a:solidFill>
            <a:srgbClr val="0F4C3A"/>
          </a:solidFill>
          <a:ln w="6350">
            <a:solidFill>
              <a:srgbClr val="E2E2E2"/>
            </a:solidFill>
            <a:prstDash val="solid"/>
          </a:ln>
        </p:spPr>
      </p:sp>
      <p:sp>
        <p:nvSpPr>
          <p:cNvPr id="79" name="Shape 71"/>
          <p:cNvSpPr/>
          <p:nvPr/>
        </p:nvSpPr>
        <p:spPr>
          <a:xfrm>
            <a:off x="3038368" y="2693089"/>
            <a:ext cx="365760" cy="119299"/>
          </a:xfrm>
          <a:prstGeom prst="rect">
            <a:avLst/>
          </a:prstGeom>
          <a:solidFill>
            <a:srgbClr val="0F4C3A"/>
          </a:solidFill>
          <a:ln w="6350">
            <a:solidFill>
              <a:srgbClr val="E2E2E2"/>
            </a:solidFill>
            <a:prstDash val="solid"/>
          </a:ln>
        </p:spPr>
      </p:sp>
      <p:sp>
        <p:nvSpPr>
          <p:cNvPr id="80" name="Shape 72"/>
          <p:cNvSpPr/>
          <p:nvPr/>
        </p:nvSpPr>
        <p:spPr>
          <a:xfrm>
            <a:off x="3404128" y="2693089"/>
            <a:ext cx="777240" cy="119299"/>
          </a:xfrm>
          <a:prstGeom prst="rect">
            <a:avLst/>
          </a:prstGeom>
          <a:solidFill>
            <a:srgbClr val="0F4C3A"/>
          </a:solidFill>
          <a:ln w="6350">
            <a:solidFill>
              <a:srgbClr val="E2E2E2"/>
            </a:solidFill>
            <a:prstDash val="solid"/>
          </a:ln>
        </p:spPr>
      </p:sp>
      <p:sp>
        <p:nvSpPr>
          <p:cNvPr id="81" name="Shape 73"/>
          <p:cNvSpPr/>
          <p:nvPr/>
        </p:nvSpPr>
        <p:spPr>
          <a:xfrm>
            <a:off x="587776" y="2812388"/>
            <a:ext cx="256032" cy="119299"/>
          </a:xfrm>
          <a:prstGeom prst="rect">
            <a:avLst/>
          </a:prstGeom>
          <a:solidFill>
            <a:srgbClr val="F8F9FA"/>
          </a:solidFill>
          <a:ln w="6350">
            <a:solidFill>
              <a:srgbClr val="DDDDDD"/>
            </a:solidFill>
            <a:prstDash val="solid"/>
          </a:ln>
        </p:spPr>
      </p:sp>
      <p:sp>
        <p:nvSpPr>
          <p:cNvPr id="82" name="Text 74"/>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3" name="Shape 75"/>
          <p:cNvSpPr/>
          <p:nvPr/>
        </p:nvSpPr>
        <p:spPr>
          <a:xfrm>
            <a:off x="843808" y="2812388"/>
            <a:ext cx="411480" cy="119299"/>
          </a:xfrm>
          <a:prstGeom prst="rect">
            <a:avLst/>
          </a:prstGeom>
          <a:solidFill>
            <a:srgbClr val="FFFFFF"/>
          </a:solidFill>
          <a:ln w="6350">
            <a:solidFill>
              <a:srgbClr val="E2E2E2"/>
            </a:solidFill>
            <a:prstDash val="solid"/>
          </a:ln>
        </p:spPr>
      </p:sp>
      <p:sp>
        <p:nvSpPr>
          <p:cNvPr id="84" name="Shape 76"/>
          <p:cNvSpPr/>
          <p:nvPr/>
        </p:nvSpPr>
        <p:spPr>
          <a:xfrm>
            <a:off x="1255288" y="2812388"/>
            <a:ext cx="685800" cy="119299"/>
          </a:xfrm>
          <a:prstGeom prst="rect">
            <a:avLst/>
          </a:prstGeom>
          <a:solidFill>
            <a:srgbClr val="FFFFFF"/>
          </a:solidFill>
          <a:ln w="6350">
            <a:solidFill>
              <a:srgbClr val="E2E2E2"/>
            </a:solidFill>
            <a:prstDash val="solid"/>
          </a:ln>
        </p:spPr>
      </p:sp>
      <p:sp>
        <p:nvSpPr>
          <p:cNvPr id="85" name="Shape 77"/>
          <p:cNvSpPr/>
          <p:nvPr/>
        </p:nvSpPr>
        <p:spPr>
          <a:xfrm>
            <a:off x="1941088" y="2812388"/>
            <a:ext cx="411480" cy="119299"/>
          </a:xfrm>
          <a:prstGeom prst="rect">
            <a:avLst/>
          </a:prstGeom>
          <a:solidFill>
            <a:srgbClr val="FFFFFF"/>
          </a:solidFill>
          <a:ln w="6350">
            <a:solidFill>
              <a:srgbClr val="E2E2E2"/>
            </a:solidFill>
            <a:prstDash val="solid"/>
          </a:ln>
        </p:spPr>
      </p:sp>
      <p:sp>
        <p:nvSpPr>
          <p:cNvPr id="86" name="Shape 78"/>
          <p:cNvSpPr/>
          <p:nvPr/>
        </p:nvSpPr>
        <p:spPr>
          <a:xfrm>
            <a:off x="2352568" y="2812388"/>
            <a:ext cx="685800" cy="119299"/>
          </a:xfrm>
          <a:prstGeom prst="rect">
            <a:avLst/>
          </a:prstGeom>
          <a:solidFill>
            <a:srgbClr val="FFFFFF"/>
          </a:solidFill>
          <a:ln w="6350">
            <a:solidFill>
              <a:srgbClr val="E2E2E2"/>
            </a:solidFill>
            <a:prstDash val="solid"/>
          </a:ln>
        </p:spPr>
      </p:sp>
      <p:sp>
        <p:nvSpPr>
          <p:cNvPr id="87" name="Shape 79"/>
          <p:cNvSpPr/>
          <p:nvPr/>
        </p:nvSpPr>
        <p:spPr>
          <a:xfrm>
            <a:off x="3038368" y="2812388"/>
            <a:ext cx="365760" cy="119299"/>
          </a:xfrm>
          <a:prstGeom prst="rect">
            <a:avLst/>
          </a:prstGeom>
          <a:solidFill>
            <a:srgbClr val="FFFFFF"/>
          </a:solidFill>
          <a:ln w="6350">
            <a:solidFill>
              <a:srgbClr val="E2E2E2"/>
            </a:solidFill>
            <a:prstDash val="solid"/>
          </a:ln>
        </p:spPr>
      </p:sp>
      <p:sp>
        <p:nvSpPr>
          <p:cNvPr id="88" name="Shape 80"/>
          <p:cNvSpPr/>
          <p:nvPr/>
        </p:nvSpPr>
        <p:spPr>
          <a:xfrm>
            <a:off x="3404128" y="2812388"/>
            <a:ext cx="777240" cy="119299"/>
          </a:xfrm>
          <a:prstGeom prst="rect">
            <a:avLst/>
          </a:prstGeom>
          <a:solidFill>
            <a:srgbClr val="FFFFFF"/>
          </a:solidFill>
          <a:ln w="6350">
            <a:solidFill>
              <a:srgbClr val="E2E2E2"/>
            </a:solidFill>
            <a:prstDash val="solid"/>
          </a:ln>
        </p:spPr>
      </p:sp>
      <p:sp>
        <p:nvSpPr>
          <p:cNvPr id="89" name="Shape 81"/>
          <p:cNvSpPr/>
          <p:nvPr/>
        </p:nvSpPr>
        <p:spPr>
          <a:xfrm>
            <a:off x="587776" y="2931688"/>
            <a:ext cx="256032" cy="119299"/>
          </a:xfrm>
          <a:prstGeom prst="rect">
            <a:avLst/>
          </a:prstGeom>
          <a:solidFill>
            <a:srgbClr val="F8F9FA"/>
          </a:solidFill>
          <a:ln w="6350">
            <a:solidFill>
              <a:srgbClr val="DDDDDD"/>
            </a:solidFill>
            <a:prstDash val="solid"/>
          </a:ln>
        </p:spPr>
      </p:sp>
      <p:sp>
        <p:nvSpPr>
          <p:cNvPr id="90" name="Text 82"/>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1" name="Shape 83"/>
          <p:cNvSpPr/>
          <p:nvPr/>
        </p:nvSpPr>
        <p:spPr>
          <a:xfrm>
            <a:off x="843808" y="2931688"/>
            <a:ext cx="411480" cy="119299"/>
          </a:xfrm>
          <a:prstGeom prst="rect">
            <a:avLst/>
          </a:prstGeom>
          <a:solidFill>
            <a:srgbClr val="FFFFFF"/>
          </a:solidFill>
          <a:ln w="6350">
            <a:solidFill>
              <a:srgbClr val="E2E2E2"/>
            </a:solidFill>
            <a:prstDash val="solid"/>
          </a:ln>
        </p:spPr>
      </p:sp>
      <p:sp>
        <p:nvSpPr>
          <p:cNvPr id="92" name="Shape 84"/>
          <p:cNvSpPr/>
          <p:nvPr/>
        </p:nvSpPr>
        <p:spPr>
          <a:xfrm>
            <a:off x="1255288" y="2931688"/>
            <a:ext cx="685800" cy="119299"/>
          </a:xfrm>
          <a:prstGeom prst="rect">
            <a:avLst/>
          </a:prstGeom>
          <a:solidFill>
            <a:srgbClr val="FFFFFF"/>
          </a:solidFill>
          <a:ln w="6350">
            <a:solidFill>
              <a:srgbClr val="E2E2E2"/>
            </a:solidFill>
            <a:prstDash val="solid"/>
          </a:ln>
        </p:spPr>
      </p:sp>
      <p:sp>
        <p:nvSpPr>
          <p:cNvPr id="93" name="Shape 85"/>
          <p:cNvSpPr/>
          <p:nvPr/>
        </p:nvSpPr>
        <p:spPr>
          <a:xfrm>
            <a:off x="1941088" y="2931688"/>
            <a:ext cx="411480" cy="119299"/>
          </a:xfrm>
          <a:prstGeom prst="rect">
            <a:avLst/>
          </a:prstGeom>
          <a:solidFill>
            <a:srgbClr val="FFFFFF"/>
          </a:solidFill>
          <a:ln w="6350">
            <a:solidFill>
              <a:srgbClr val="E2E2E2"/>
            </a:solidFill>
            <a:prstDash val="solid"/>
          </a:ln>
        </p:spPr>
      </p:sp>
      <p:sp>
        <p:nvSpPr>
          <p:cNvPr id="94" name="Shape 86"/>
          <p:cNvSpPr/>
          <p:nvPr/>
        </p:nvSpPr>
        <p:spPr>
          <a:xfrm>
            <a:off x="2352568" y="2931688"/>
            <a:ext cx="685800" cy="119299"/>
          </a:xfrm>
          <a:prstGeom prst="rect">
            <a:avLst/>
          </a:prstGeom>
          <a:solidFill>
            <a:srgbClr val="FFFFFF"/>
          </a:solidFill>
          <a:ln w="6350">
            <a:solidFill>
              <a:srgbClr val="E2E2E2"/>
            </a:solidFill>
            <a:prstDash val="solid"/>
          </a:ln>
        </p:spPr>
      </p:sp>
      <p:sp>
        <p:nvSpPr>
          <p:cNvPr id="95" name="Shape 87"/>
          <p:cNvSpPr/>
          <p:nvPr/>
        </p:nvSpPr>
        <p:spPr>
          <a:xfrm>
            <a:off x="3038368" y="2931688"/>
            <a:ext cx="365760" cy="119299"/>
          </a:xfrm>
          <a:prstGeom prst="rect">
            <a:avLst/>
          </a:prstGeom>
          <a:solidFill>
            <a:srgbClr val="FFFFFF"/>
          </a:solidFill>
          <a:ln w="6350">
            <a:solidFill>
              <a:srgbClr val="E2E2E2"/>
            </a:solidFill>
            <a:prstDash val="solid"/>
          </a:ln>
        </p:spPr>
      </p:sp>
      <p:sp>
        <p:nvSpPr>
          <p:cNvPr id="96" name="Shape 88"/>
          <p:cNvSpPr/>
          <p:nvPr/>
        </p:nvSpPr>
        <p:spPr>
          <a:xfrm>
            <a:off x="3404128" y="2931688"/>
            <a:ext cx="777240" cy="119299"/>
          </a:xfrm>
          <a:prstGeom prst="rect">
            <a:avLst/>
          </a:prstGeom>
          <a:solidFill>
            <a:srgbClr val="FFFFFF"/>
          </a:solidFill>
          <a:ln w="6350">
            <a:solidFill>
              <a:srgbClr val="E2E2E2"/>
            </a:solidFill>
            <a:prstDash val="solid"/>
          </a:ln>
        </p:spPr>
      </p:sp>
      <p:sp>
        <p:nvSpPr>
          <p:cNvPr id="97" name="Shape 89"/>
          <p:cNvSpPr/>
          <p:nvPr/>
        </p:nvSpPr>
        <p:spPr>
          <a:xfrm>
            <a:off x="587776" y="30509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9" name="Shape 91"/>
          <p:cNvSpPr/>
          <p:nvPr/>
        </p:nvSpPr>
        <p:spPr>
          <a:xfrm>
            <a:off x="843808" y="3050987"/>
            <a:ext cx="411480" cy="119299"/>
          </a:xfrm>
          <a:prstGeom prst="rect">
            <a:avLst/>
          </a:prstGeom>
          <a:solidFill>
            <a:srgbClr val="FFFFFF"/>
          </a:solidFill>
          <a:ln w="6350">
            <a:solidFill>
              <a:srgbClr val="E2E2E2"/>
            </a:solidFill>
            <a:prstDash val="solid"/>
          </a:ln>
        </p:spPr>
      </p:sp>
      <p:sp>
        <p:nvSpPr>
          <p:cNvPr id="100" name="Shape 92"/>
          <p:cNvSpPr/>
          <p:nvPr/>
        </p:nvSpPr>
        <p:spPr>
          <a:xfrm>
            <a:off x="1255288" y="3050987"/>
            <a:ext cx="685800" cy="119299"/>
          </a:xfrm>
          <a:prstGeom prst="rect">
            <a:avLst/>
          </a:prstGeom>
          <a:solidFill>
            <a:srgbClr val="FFFFFF"/>
          </a:solidFill>
          <a:ln w="6350">
            <a:solidFill>
              <a:srgbClr val="E2E2E2"/>
            </a:solidFill>
            <a:prstDash val="solid"/>
          </a:ln>
        </p:spPr>
      </p:sp>
      <p:sp>
        <p:nvSpPr>
          <p:cNvPr id="101" name="Shape 93"/>
          <p:cNvSpPr/>
          <p:nvPr/>
        </p:nvSpPr>
        <p:spPr>
          <a:xfrm>
            <a:off x="1941088" y="3050987"/>
            <a:ext cx="411480" cy="119299"/>
          </a:xfrm>
          <a:prstGeom prst="rect">
            <a:avLst/>
          </a:prstGeom>
          <a:solidFill>
            <a:srgbClr val="FFFFFF"/>
          </a:solidFill>
          <a:ln w="6350">
            <a:solidFill>
              <a:srgbClr val="E2E2E2"/>
            </a:solidFill>
            <a:prstDash val="solid"/>
          </a:ln>
        </p:spPr>
      </p:sp>
      <p:sp>
        <p:nvSpPr>
          <p:cNvPr id="102" name="Shape 94"/>
          <p:cNvSpPr/>
          <p:nvPr/>
        </p:nvSpPr>
        <p:spPr>
          <a:xfrm>
            <a:off x="2352568" y="3050987"/>
            <a:ext cx="685800" cy="119299"/>
          </a:xfrm>
          <a:prstGeom prst="rect">
            <a:avLst/>
          </a:prstGeom>
          <a:solidFill>
            <a:srgbClr val="FFFFFF"/>
          </a:solidFill>
          <a:ln w="6350">
            <a:solidFill>
              <a:srgbClr val="E2E2E2"/>
            </a:solidFill>
            <a:prstDash val="solid"/>
          </a:ln>
        </p:spPr>
      </p:sp>
      <p:sp>
        <p:nvSpPr>
          <p:cNvPr id="103" name="Shape 95"/>
          <p:cNvSpPr/>
          <p:nvPr/>
        </p:nvSpPr>
        <p:spPr>
          <a:xfrm>
            <a:off x="3038368" y="3050987"/>
            <a:ext cx="365760" cy="119299"/>
          </a:xfrm>
          <a:prstGeom prst="rect">
            <a:avLst/>
          </a:prstGeom>
          <a:solidFill>
            <a:srgbClr val="FFFFFF"/>
          </a:solidFill>
          <a:ln w="6350">
            <a:solidFill>
              <a:srgbClr val="E2E2E2"/>
            </a:solidFill>
            <a:prstDash val="solid"/>
          </a:ln>
        </p:spPr>
      </p:sp>
      <p:sp>
        <p:nvSpPr>
          <p:cNvPr id="104" name="Shape 96"/>
          <p:cNvSpPr/>
          <p:nvPr/>
        </p:nvSpPr>
        <p:spPr>
          <a:xfrm>
            <a:off x="3404128" y="3050987"/>
            <a:ext cx="777240" cy="119299"/>
          </a:xfrm>
          <a:prstGeom prst="rect">
            <a:avLst/>
          </a:prstGeom>
          <a:solidFill>
            <a:srgbClr val="FFFFFF"/>
          </a:solidFill>
          <a:ln w="6350">
            <a:solidFill>
              <a:srgbClr val="E2E2E2"/>
            </a:solidFill>
            <a:prstDash val="solid"/>
          </a:ln>
        </p:spPr>
      </p:sp>
      <p:sp>
        <p:nvSpPr>
          <p:cNvPr id="105" name="Shape 97"/>
          <p:cNvSpPr/>
          <p:nvPr/>
        </p:nvSpPr>
        <p:spPr>
          <a:xfrm>
            <a:off x="587776" y="31702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7" name="Shape 99"/>
          <p:cNvSpPr/>
          <p:nvPr/>
        </p:nvSpPr>
        <p:spPr>
          <a:xfrm>
            <a:off x="843808" y="3170287"/>
            <a:ext cx="411480" cy="119299"/>
          </a:xfrm>
          <a:prstGeom prst="rect">
            <a:avLst/>
          </a:prstGeom>
          <a:solidFill>
            <a:srgbClr val="FFFFFF"/>
          </a:solidFill>
          <a:ln w="6350">
            <a:solidFill>
              <a:srgbClr val="E2E2E2"/>
            </a:solidFill>
            <a:prstDash val="solid"/>
          </a:ln>
        </p:spPr>
      </p:sp>
      <p:sp>
        <p:nvSpPr>
          <p:cNvPr id="108" name="Shape 100"/>
          <p:cNvSpPr/>
          <p:nvPr/>
        </p:nvSpPr>
        <p:spPr>
          <a:xfrm>
            <a:off x="1255288" y="3170287"/>
            <a:ext cx="685800" cy="119299"/>
          </a:xfrm>
          <a:prstGeom prst="rect">
            <a:avLst/>
          </a:prstGeom>
          <a:solidFill>
            <a:srgbClr val="FFFFFF"/>
          </a:solidFill>
          <a:ln w="6350">
            <a:solidFill>
              <a:srgbClr val="E2E2E2"/>
            </a:solidFill>
            <a:prstDash val="solid"/>
          </a:ln>
        </p:spPr>
      </p:sp>
      <p:sp>
        <p:nvSpPr>
          <p:cNvPr id="109" name="Shape 101"/>
          <p:cNvSpPr/>
          <p:nvPr/>
        </p:nvSpPr>
        <p:spPr>
          <a:xfrm>
            <a:off x="1941088" y="3170287"/>
            <a:ext cx="411480" cy="119299"/>
          </a:xfrm>
          <a:prstGeom prst="rect">
            <a:avLst/>
          </a:prstGeom>
          <a:solidFill>
            <a:srgbClr val="FFFFFF"/>
          </a:solidFill>
          <a:ln w="6350">
            <a:solidFill>
              <a:srgbClr val="E2E2E2"/>
            </a:solidFill>
            <a:prstDash val="solid"/>
          </a:ln>
        </p:spPr>
      </p:sp>
      <p:sp>
        <p:nvSpPr>
          <p:cNvPr id="110" name="Shape 102"/>
          <p:cNvSpPr/>
          <p:nvPr/>
        </p:nvSpPr>
        <p:spPr>
          <a:xfrm>
            <a:off x="2352568" y="3170287"/>
            <a:ext cx="685800" cy="119299"/>
          </a:xfrm>
          <a:prstGeom prst="rect">
            <a:avLst/>
          </a:prstGeom>
          <a:solidFill>
            <a:srgbClr val="FFFFFF"/>
          </a:solidFill>
          <a:ln w="6350">
            <a:solidFill>
              <a:srgbClr val="E2E2E2"/>
            </a:solidFill>
            <a:prstDash val="solid"/>
          </a:ln>
        </p:spPr>
      </p:sp>
      <p:sp>
        <p:nvSpPr>
          <p:cNvPr id="111" name="Shape 103"/>
          <p:cNvSpPr/>
          <p:nvPr/>
        </p:nvSpPr>
        <p:spPr>
          <a:xfrm>
            <a:off x="3038368" y="3170287"/>
            <a:ext cx="365760" cy="119299"/>
          </a:xfrm>
          <a:prstGeom prst="rect">
            <a:avLst/>
          </a:prstGeom>
          <a:solidFill>
            <a:srgbClr val="FFFFFF"/>
          </a:solidFill>
          <a:ln w="6350">
            <a:solidFill>
              <a:srgbClr val="E2E2E2"/>
            </a:solidFill>
            <a:prstDash val="solid"/>
          </a:ln>
        </p:spPr>
      </p:sp>
      <p:sp>
        <p:nvSpPr>
          <p:cNvPr id="112" name="Shape 104"/>
          <p:cNvSpPr/>
          <p:nvPr/>
        </p:nvSpPr>
        <p:spPr>
          <a:xfrm>
            <a:off x="3404128" y="3170287"/>
            <a:ext cx="777240" cy="119299"/>
          </a:xfrm>
          <a:prstGeom prst="rect">
            <a:avLst/>
          </a:prstGeom>
          <a:solidFill>
            <a:srgbClr val="FFFFFF"/>
          </a:solidFill>
          <a:ln w="6350">
            <a:solidFill>
              <a:srgbClr val="E2E2E2"/>
            </a:solidFill>
            <a:prstDash val="solid"/>
          </a:ln>
        </p:spPr>
      </p:sp>
      <p:sp>
        <p:nvSpPr>
          <p:cNvPr id="113" name="Shape 105"/>
          <p:cNvSpPr/>
          <p:nvPr/>
        </p:nvSpPr>
        <p:spPr>
          <a:xfrm>
            <a:off x="587776" y="3289586"/>
            <a:ext cx="256032" cy="119299"/>
          </a:xfrm>
          <a:prstGeom prst="rect">
            <a:avLst/>
          </a:prstGeom>
          <a:solidFill>
            <a:srgbClr val="F8F9FA"/>
          </a:solidFill>
          <a:ln w="6350">
            <a:solidFill>
              <a:srgbClr val="DDDDDD"/>
            </a:solidFill>
            <a:prstDash val="solid"/>
          </a:ln>
        </p:spPr>
      </p:sp>
      <p:sp>
        <p:nvSpPr>
          <p:cNvPr id="114" name="Text 10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5" name="Shape 107"/>
          <p:cNvSpPr/>
          <p:nvPr/>
        </p:nvSpPr>
        <p:spPr>
          <a:xfrm>
            <a:off x="843808" y="3289586"/>
            <a:ext cx="411480" cy="119299"/>
          </a:xfrm>
          <a:prstGeom prst="rect">
            <a:avLst/>
          </a:prstGeom>
          <a:solidFill>
            <a:srgbClr val="FFFFFF"/>
          </a:solidFill>
          <a:ln w="6350">
            <a:solidFill>
              <a:srgbClr val="E2E2E2"/>
            </a:solidFill>
            <a:prstDash val="solid"/>
          </a:ln>
        </p:spPr>
      </p:sp>
      <p:sp>
        <p:nvSpPr>
          <p:cNvPr id="116" name="Shape 108"/>
          <p:cNvSpPr/>
          <p:nvPr/>
        </p:nvSpPr>
        <p:spPr>
          <a:xfrm>
            <a:off x="1255288" y="3289586"/>
            <a:ext cx="685800" cy="119299"/>
          </a:xfrm>
          <a:prstGeom prst="rect">
            <a:avLst/>
          </a:prstGeom>
          <a:solidFill>
            <a:srgbClr val="FFFFFF"/>
          </a:solidFill>
          <a:ln w="6350">
            <a:solidFill>
              <a:srgbClr val="E2E2E2"/>
            </a:solidFill>
            <a:prstDash val="solid"/>
          </a:ln>
        </p:spPr>
      </p:sp>
      <p:sp>
        <p:nvSpPr>
          <p:cNvPr id="117" name="Shape 109"/>
          <p:cNvSpPr/>
          <p:nvPr/>
        </p:nvSpPr>
        <p:spPr>
          <a:xfrm>
            <a:off x="1941088" y="3289586"/>
            <a:ext cx="411480" cy="119299"/>
          </a:xfrm>
          <a:prstGeom prst="rect">
            <a:avLst/>
          </a:prstGeom>
          <a:solidFill>
            <a:srgbClr val="FFFFFF"/>
          </a:solidFill>
          <a:ln w="6350">
            <a:solidFill>
              <a:srgbClr val="E2E2E2"/>
            </a:solidFill>
            <a:prstDash val="solid"/>
          </a:ln>
        </p:spPr>
      </p:sp>
      <p:sp>
        <p:nvSpPr>
          <p:cNvPr id="118" name="Shape 110"/>
          <p:cNvSpPr/>
          <p:nvPr/>
        </p:nvSpPr>
        <p:spPr>
          <a:xfrm>
            <a:off x="2352568" y="3289586"/>
            <a:ext cx="685800" cy="119299"/>
          </a:xfrm>
          <a:prstGeom prst="rect">
            <a:avLst/>
          </a:prstGeom>
          <a:solidFill>
            <a:srgbClr val="FFFFFF"/>
          </a:solidFill>
          <a:ln w="6350">
            <a:solidFill>
              <a:srgbClr val="E2E2E2"/>
            </a:solidFill>
            <a:prstDash val="solid"/>
          </a:ln>
        </p:spPr>
      </p:sp>
      <p:sp>
        <p:nvSpPr>
          <p:cNvPr id="119" name="Shape 111"/>
          <p:cNvSpPr/>
          <p:nvPr/>
        </p:nvSpPr>
        <p:spPr>
          <a:xfrm>
            <a:off x="3038368" y="3289586"/>
            <a:ext cx="365760" cy="119299"/>
          </a:xfrm>
          <a:prstGeom prst="rect">
            <a:avLst/>
          </a:prstGeom>
          <a:solidFill>
            <a:srgbClr val="FFFFFF"/>
          </a:solidFill>
          <a:ln w="6350">
            <a:solidFill>
              <a:srgbClr val="E2E2E2"/>
            </a:solidFill>
            <a:prstDash val="solid"/>
          </a:ln>
        </p:spPr>
      </p:sp>
      <p:sp>
        <p:nvSpPr>
          <p:cNvPr id="120" name="Shape 112"/>
          <p:cNvSpPr/>
          <p:nvPr/>
        </p:nvSpPr>
        <p:spPr>
          <a:xfrm>
            <a:off x="3404128" y="3289586"/>
            <a:ext cx="777240" cy="119299"/>
          </a:xfrm>
          <a:prstGeom prst="rect">
            <a:avLst/>
          </a:prstGeom>
          <a:solidFill>
            <a:srgbClr val="FFFFFF"/>
          </a:solidFill>
          <a:ln w="6350">
            <a:solidFill>
              <a:srgbClr val="E2E2E2"/>
            </a:solidFill>
            <a:prstDash val="solid"/>
          </a:ln>
        </p:spPr>
      </p:sp>
      <p:sp>
        <p:nvSpPr>
          <p:cNvPr id="121" name="Shape 113"/>
          <p:cNvSpPr/>
          <p:nvPr/>
        </p:nvSpPr>
        <p:spPr>
          <a:xfrm>
            <a:off x="587776" y="34088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3" name="Shape 115"/>
          <p:cNvSpPr/>
          <p:nvPr/>
        </p:nvSpPr>
        <p:spPr>
          <a:xfrm>
            <a:off x="843808" y="3408885"/>
            <a:ext cx="411480" cy="119299"/>
          </a:xfrm>
          <a:prstGeom prst="rect">
            <a:avLst/>
          </a:prstGeom>
          <a:solidFill>
            <a:srgbClr val="FFFFFF"/>
          </a:solidFill>
          <a:ln w="6350">
            <a:solidFill>
              <a:srgbClr val="E2E2E2"/>
            </a:solidFill>
            <a:prstDash val="solid"/>
          </a:ln>
        </p:spPr>
      </p:sp>
      <p:sp>
        <p:nvSpPr>
          <p:cNvPr id="124" name="Shape 116"/>
          <p:cNvSpPr/>
          <p:nvPr/>
        </p:nvSpPr>
        <p:spPr>
          <a:xfrm>
            <a:off x="1255288" y="3408885"/>
            <a:ext cx="685800" cy="119299"/>
          </a:xfrm>
          <a:prstGeom prst="rect">
            <a:avLst/>
          </a:prstGeom>
          <a:solidFill>
            <a:srgbClr val="FFFFFF"/>
          </a:solidFill>
          <a:ln w="6350">
            <a:solidFill>
              <a:srgbClr val="E2E2E2"/>
            </a:solidFill>
            <a:prstDash val="solid"/>
          </a:ln>
        </p:spPr>
      </p:sp>
      <p:sp>
        <p:nvSpPr>
          <p:cNvPr id="125" name="Shape 117"/>
          <p:cNvSpPr/>
          <p:nvPr/>
        </p:nvSpPr>
        <p:spPr>
          <a:xfrm>
            <a:off x="1941088" y="3408885"/>
            <a:ext cx="411480" cy="119299"/>
          </a:xfrm>
          <a:prstGeom prst="rect">
            <a:avLst/>
          </a:prstGeom>
          <a:solidFill>
            <a:srgbClr val="FFFFFF"/>
          </a:solidFill>
          <a:ln w="6350">
            <a:solidFill>
              <a:srgbClr val="E2E2E2"/>
            </a:solidFill>
            <a:prstDash val="solid"/>
          </a:ln>
        </p:spPr>
      </p:sp>
      <p:sp>
        <p:nvSpPr>
          <p:cNvPr id="126" name="Shape 118"/>
          <p:cNvSpPr/>
          <p:nvPr/>
        </p:nvSpPr>
        <p:spPr>
          <a:xfrm>
            <a:off x="2352568" y="3408885"/>
            <a:ext cx="685800" cy="119299"/>
          </a:xfrm>
          <a:prstGeom prst="rect">
            <a:avLst/>
          </a:prstGeom>
          <a:solidFill>
            <a:srgbClr val="FFFFFF"/>
          </a:solidFill>
          <a:ln w="6350">
            <a:solidFill>
              <a:srgbClr val="E2E2E2"/>
            </a:solidFill>
            <a:prstDash val="solid"/>
          </a:ln>
        </p:spPr>
      </p:sp>
      <p:sp>
        <p:nvSpPr>
          <p:cNvPr id="127" name="Shape 119"/>
          <p:cNvSpPr/>
          <p:nvPr/>
        </p:nvSpPr>
        <p:spPr>
          <a:xfrm>
            <a:off x="3038368" y="3408885"/>
            <a:ext cx="365760" cy="119299"/>
          </a:xfrm>
          <a:prstGeom prst="rect">
            <a:avLst/>
          </a:prstGeom>
          <a:solidFill>
            <a:srgbClr val="FFFFFF"/>
          </a:solidFill>
          <a:ln w="6350">
            <a:solidFill>
              <a:srgbClr val="E2E2E2"/>
            </a:solidFill>
            <a:prstDash val="solid"/>
          </a:ln>
        </p:spPr>
      </p:sp>
      <p:sp>
        <p:nvSpPr>
          <p:cNvPr id="128" name="Shape 120"/>
          <p:cNvSpPr/>
          <p:nvPr/>
        </p:nvSpPr>
        <p:spPr>
          <a:xfrm>
            <a:off x="3404128" y="3408885"/>
            <a:ext cx="777240" cy="119299"/>
          </a:xfrm>
          <a:prstGeom prst="rect">
            <a:avLst/>
          </a:prstGeom>
          <a:solidFill>
            <a:srgbClr val="FFFFFF"/>
          </a:solidFill>
          <a:ln w="6350">
            <a:solidFill>
              <a:srgbClr val="E2E2E2"/>
            </a:solidFill>
            <a:prstDash val="solid"/>
          </a:ln>
        </p:spPr>
      </p:sp>
      <p:sp>
        <p:nvSpPr>
          <p:cNvPr id="129" name="Shape 121"/>
          <p:cNvSpPr/>
          <p:nvPr/>
        </p:nvSpPr>
        <p:spPr>
          <a:xfrm>
            <a:off x="587776" y="3528185"/>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1" name="Shape 123"/>
          <p:cNvSpPr/>
          <p:nvPr/>
        </p:nvSpPr>
        <p:spPr>
          <a:xfrm>
            <a:off x="843808" y="3528185"/>
            <a:ext cx="411480" cy="119299"/>
          </a:xfrm>
          <a:prstGeom prst="rect">
            <a:avLst/>
          </a:prstGeom>
          <a:solidFill>
            <a:srgbClr val="FFFFFF"/>
          </a:solidFill>
          <a:ln w="6350">
            <a:solidFill>
              <a:srgbClr val="E2E2E2"/>
            </a:solidFill>
            <a:prstDash val="solid"/>
          </a:ln>
        </p:spPr>
      </p:sp>
      <p:sp>
        <p:nvSpPr>
          <p:cNvPr id="132" name="Shape 124"/>
          <p:cNvSpPr/>
          <p:nvPr/>
        </p:nvSpPr>
        <p:spPr>
          <a:xfrm>
            <a:off x="1255288" y="3528185"/>
            <a:ext cx="685800" cy="119299"/>
          </a:xfrm>
          <a:prstGeom prst="rect">
            <a:avLst/>
          </a:prstGeom>
          <a:solidFill>
            <a:srgbClr val="FFFFFF"/>
          </a:solidFill>
          <a:ln w="6350">
            <a:solidFill>
              <a:srgbClr val="E2E2E2"/>
            </a:solidFill>
            <a:prstDash val="solid"/>
          </a:ln>
        </p:spPr>
      </p:sp>
      <p:sp>
        <p:nvSpPr>
          <p:cNvPr id="133" name="Shape 125"/>
          <p:cNvSpPr/>
          <p:nvPr/>
        </p:nvSpPr>
        <p:spPr>
          <a:xfrm>
            <a:off x="1941088" y="3528185"/>
            <a:ext cx="411480" cy="119299"/>
          </a:xfrm>
          <a:prstGeom prst="rect">
            <a:avLst/>
          </a:prstGeom>
          <a:solidFill>
            <a:srgbClr val="FFFFFF"/>
          </a:solidFill>
          <a:ln w="6350">
            <a:solidFill>
              <a:srgbClr val="E2E2E2"/>
            </a:solidFill>
            <a:prstDash val="solid"/>
          </a:ln>
        </p:spPr>
      </p:sp>
      <p:sp>
        <p:nvSpPr>
          <p:cNvPr id="134" name="Shape 126"/>
          <p:cNvSpPr/>
          <p:nvPr/>
        </p:nvSpPr>
        <p:spPr>
          <a:xfrm>
            <a:off x="2352568" y="3528185"/>
            <a:ext cx="685800" cy="119299"/>
          </a:xfrm>
          <a:prstGeom prst="rect">
            <a:avLst/>
          </a:prstGeom>
          <a:solidFill>
            <a:srgbClr val="FFFFFF"/>
          </a:solidFill>
          <a:ln w="6350">
            <a:solidFill>
              <a:srgbClr val="E2E2E2"/>
            </a:solidFill>
            <a:prstDash val="solid"/>
          </a:ln>
        </p:spPr>
      </p:sp>
      <p:sp>
        <p:nvSpPr>
          <p:cNvPr id="135" name="Shape 127"/>
          <p:cNvSpPr/>
          <p:nvPr/>
        </p:nvSpPr>
        <p:spPr>
          <a:xfrm>
            <a:off x="3038368" y="3528185"/>
            <a:ext cx="365760" cy="119299"/>
          </a:xfrm>
          <a:prstGeom prst="rect">
            <a:avLst/>
          </a:prstGeom>
          <a:solidFill>
            <a:srgbClr val="FFFFFF"/>
          </a:solidFill>
          <a:ln w="6350">
            <a:solidFill>
              <a:srgbClr val="E2E2E2"/>
            </a:solidFill>
            <a:prstDash val="solid"/>
          </a:ln>
        </p:spPr>
      </p:sp>
      <p:sp>
        <p:nvSpPr>
          <p:cNvPr id="136" name="Shape 128"/>
          <p:cNvSpPr/>
          <p:nvPr/>
        </p:nvSpPr>
        <p:spPr>
          <a:xfrm>
            <a:off x="3404128" y="3528185"/>
            <a:ext cx="777240" cy="119299"/>
          </a:xfrm>
          <a:prstGeom prst="rect">
            <a:avLst/>
          </a:prstGeom>
          <a:solidFill>
            <a:srgbClr val="FFFFFF"/>
          </a:solidFill>
          <a:ln w="6350">
            <a:solidFill>
              <a:srgbClr val="E2E2E2"/>
            </a:solidFill>
            <a:prstDash val="solid"/>
          </a:ln>
        </p:spPr>
      </p:sp>
      <p:sp>
        <p:nvSpPr>
          <p:cNvPr id="137" name="Shape 129"/>
          <p:cNvSpPr/>
          <p:nvPr/>
        </p:nvSpPr>
        <p:spPr>
          <a:xfrm>
            <a:off x="587776" y="3647484"/>
            <a:ext cx="256032" cy="119299"/>
          </a:xfrm>
          <a:prstGeom prst="rect">
            <a:avLst/>
          </a:prstGeom>
          <a:solidFill>
            <a:srgbClr val="F8F9FA"/>
          </a:solidFill>
          <a:ln w="6350">
            <a:solidFill>
              <a:srgbClr val="DDDDDD"/>
            </a:solidFill>
            <a:prstDash val="solid"/>
          </a:ln>
        </p:spPr>
      </p:sp>
      <p:sp>
        <p:nvSpPr>
          <p:cNvPr id="138" name="Text 13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9" name="Shape 131"/>
          <p:cNvSpPr/>
          <p:nvPr/>
        </p:nvSpPr>
        <p:spPr>
          <a:xfrm>
            <a:off x="843808" y="3647484"/>
            <a:ext cx="411480" cy="119299"/>
          </a:xfrm>
          <a:prstGeom prst="rect">
            <a:avLst/>
          </a:prstGeom>
          <a:solidFill>
            <a:srgbClr val="FFFFFF"/>
          </a:solidFill>
          <a:ln w="6350">
            <a:solidFill>
              <a:srgbClr val="E2E2E2"/>
            </a:solidFill>
            <a:prstDash val="solid"/>
          </a:ln>
        </p:spPr>
      </p:sp>
      <p:sp>
        <p:nvSpPr>
          <p:cNvPr id="140" name="Shape 132"/>
          <p:cNvSpPr/>
          <p:nvPr/>
        </p:nvSpPr>
        <p:spPr>
          <a:xfrm>
            <a:off x="1255288" y="3647484"/>
            <a:ext cx="685800" cy="119299"/>
          </a:xfrm>
          <a:prstGeom prst="rect">
            <a:avLst/>
          </a:prstGeom>
          <a:solidFill>
            <a:srgbClr val="FFFFFF"/>
          </a:solidFill>
          <a:ln w="6350">
            <a:solidFill>
              <a:srgbClr val="E2E2E2"/>
            </a:solidFill>
            <a:prstDash val="solid"/>
          </a:ln>
        </p:spPr>
      </p:sp>
      <p:sp>
        <p:nvSpPr>
          <p:cNvPr id="141" name="Shape 133"/>
          <p:cNvSpPr/>
          <p:nvPr/>
        </p:nvSpPr>
        <p:spPr>
          <a:xfrm>
            <a:off x="1941088" y="3647484"/>
            <a:ext cx="411480" cy="119299"/>
          </a:xfrm>
          <a:prstGeom prst="rect">
            <a:avLst/>
          </a:prstGeom>
          <a:solidFill>
            <a:srgbClr val="FFFFFF"/>
          </a:solidFill>
          <a:ln w="6350">
            <a:solidFill>
              <a:srgbClr val="E2E2E2"/>
            </a:solidFill>
            <a:prstDash val="solid"/>
          </a:ln>
        </p:spPr>
      </p:sp>
      <p:sp>
        <p:nvSpPr>
          <p:cNvPr id="142" name="Shape 134"/>
          <p:cNvSpPr/>
          <p:nvPr/>
        </p:nvSpPr>
        <p:spPr>
          <a:xfrm>
            <a:off x="2352568" y="3647484"/>
            <a:ext cx="685800" cy="119299"/>
          </a:xfrm>
          <a:prstGeom prst="rect">
            <a:avLst/>
          </a:prstGeom>
          <a:solidFill>
            <a:srgbClr val="FFFFFF"/>
          </a:solidFill>
          <a:ln w="6350">
            <a:solidFill>
              <a:srgbClr val="E2E2E2"/>
            </a:solidFill>
            <a:prstDash val="solid"/>
          </a:ln>
        </p:spPr>
      </p:sp>
      <p:sp>
        <p:nvSpPr>
          <p:cNvPr id="143" name="Shape 135"/>
          <p:cNvSpPr/>
          <p:nvPr/>
        </p:nvSpPr>
        <p:spPr>
          <a:xfrm>
            <a:off x="3038368" y="3647484"/>
            <a:ext cx="365760" cy="119299"/>
          </a:xfrm>
          <a:prstGeom prst="rect">
            <a:avLst/>
          </a:prstGeom>
          <a:solidFill>
            <a:srgbClr val="FFFFFF"/>
          </a:solidFill>
          <a:ln w="6350">
            <a:solidFill>
              <a:srgbClr val="E2E2E2"/>
            </a:solidFill>
            <a:prstDash val="solid"/>
          </a:ln>
        </p:spPr>
      </p:sp>
      <p:sp>
        <p:nvSpPr>
          <p:cNvPr id="144" name="Shape 136"/>
          <p:cNvSpPr/>
          <p:nvPr/>
        </p:nvSpPr>
        <p:spPr>
          <a:xfrm>
            <a:off x="3404128" y="3647484"/>
            <a:ext cx="777240" cy="119299"/>
          </a:xfrm>
          <a:prstGeom prst="rect">
            <a:avLst/>
          </a:prstGeom>
          <a:solidFill>
            <a:srgbClr val="FFFFFF"/>
          </a:solidFill>
          <a:ln w="6350">
            <a:solidFill>
              <a:srgbClr val="E2E2E2"/>
            </a:solidFill>
            <a:prstDash val="solid"/>
          </a:ln>
        </p:spPr>
      </p:sp>
      <p:sp>
        <p:nvSpPr>
          <p:cNvPr id="145" name="Shape 137"/>
          <p:cNvSpPr/>
          <p:nvPr/>
        </p:nvSpPr>
        <p:spPr>
          <a:xfrm>
            <a:off x="587776" y="3794216"/>
            <a:ext cx="4950927" cy="201168"/>
          </a:xfrm>
          <a:prstGeom prst="rect">
            <a:avLst/>
          </a:prstGeom>
          <a:solidFill>
            <a:srgbClr val="F8F9FA"/>
          </a:solidFill>
          <a:ln w="12700">
            <a:solidFill>
              <a:srgbClr val="F8F9FA"/>
            </a:solidFill>
            <a:prstDash val="solid"/>
          </a:ln>
        </p:spPr>
      </p:sp>
      <p:sp>
        <p:nvSpPr>
          <p:cNvPr id="146" name="Text 138"/>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7" name="Text 139"/>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8" name="Text 14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149" name="Shape 141"/>
          <p:cNvSpPr/>
          <p:nvPr/>
        </p:nvSpPr>
        <p:spPr>
          <a:xfrm>
            <a:off x="2690896" y="3794216"/>
            <a:ext cx="731520" cy="201168"/>
          </a:xfrm>
          <a:prstGeom prst="rect">
            <a:avLst/>
          </a:prstGeom>
          <a:solidFill>
            <a:srgbClr val="E1EFFE"/>
          </a:solidFill>
          <a:ln w="12700">
            <a:solidFill>
              <a:srgbClr val="E1EFFE"/>
            </a:solidFill>
            <a:prstDash val="solid"/>
          </a:ln>
        </p:spPr>
      </p:sp>
      <p:sp>
        <p:nvSpPr>
          <p:cNvPr id="150" name="Text 142"/>
          <p:cNvSpPr txBox="1"/>
          <p:nvPr/>
        </p:nvSpPr>
        <p:spPr>
          <a:xfrm>
            <a:off x="269089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Dashboard</a:t>
            </a:r>
            <a:endParaRPr lang="en-US" sz="700" dirty="0"/>
          </a:p>
        </p:txBody>
      </p:sp>
      <p:sp>
        <p:nvSpPr>
          <p:cNvPr id="151" name="Shape 143"/>
          <p:cNvSpPr/>
          <p:nvPr/>
        </p:nvSpPr>
        <p:spPr>
          <a:xfrm>
            <a:off x="660928" y="2400053"/>
            <a:ext cx="4804623" cy="1348443"/>
          </a:xfrm>
          <a:prstGeom prst="rect">
            <a:avLst/>
          </a:prstGeom>
          <a:solidFill>
            <a:srgbClr val="F3F6F4"/>
          </a:solidFill>
          <a:ln w="12700">
            <a:solidFill>
              <a:srgbClr val="F3F6F4"/>
            </a:solidFill>
            <a:prstDash val="solid"/>
          </a:ln>
        </p:spPr>
      </p:sp>
      <p:sp>
        <p:nvSpPr>
          <p:cNvPr id="152" name="Text 144"/>
          <p:cNvSpPr txBox="1"/>
          <p:nvPr/>
        </p:nvSpPr>
        <p:spPr>
          <a:xfrm>
            <a:off x="706648" y="2418341"/>
            <a:ext cx="4804623" cy="182880"/>
          </a:xfrm>
          <a:prstGeom prst="rect">
            <a:avLst/>
          </a:prstGeom>
          <a:noFill/>
          <a:ln/>
        </p:spPr>
        <p:txBody>
          <a:bodyPr wrap="square" lIns="0" tIns="0" rIns="0" bIns="0" rtlCol="0" anchor="t"/>
          <a:lstStyle/>
          <a:p>
            <a:pPr indent="0" marL="0">
              <a:buNone/>
            </a:pPr>
            <a:r>
              <a:rPr lang="en-US" sz="800" b="1" dirty="0">
                <a:solidFill>
                  <a:srgbClr val="0F4C3A"/>
                </a:solidFill>
                <a:latin typeface="Calibri" pitchFamily="34" charset="0"/>
                <a:ea typeface="Calibri" pitchFamily="34" charset="-122"/>
                <a:cs typeface="Calibri" pitchFamily="34" charset="-120"/>
              </a:rPr>
              <a:t>DASHBOARD PRESTASI KELAS 8 (DATA FIKTIF)</a:t>
            </a:r>
            <a:endParaRPr lang="en-US" sz="800" dirty="0"/>
          </a:p>
        </p:txBody>
      </p:sp>
      <p:sp>
        <p:nvSpPr>
          <p:cNvPr id="153" name="Shape 145"/>
          <p:cNvSpPr/>
          <p:nvPr/>
        </p:nvSpPr>
        <p:spPr>
          <a:xfrm>
            <a:off x="706648" y="2628653"/>
            <a:ext cx="1540581" cy="329184"/>
          </a:xfrm>
          <a:prstGeom prst="roundRect">
            <a:avLst>
              <a:gd name="adj" fmla="val 11111"/>
            </a:avLst>
          </a:prstGeom>
          <a:solidFill>
            <a:srgbClr val="FFFFFF"/>
          </a:solidFill>
          <a:ln w="9525">
            <a:solidFill>
              <a:srgbClr val="DDDDDD"/>
            </a:solidFill>
            <a:prstDash val="solid"/>
          </a:ln>
        </p:spPr>
      </p:sp>
      <p:sp>
        <p:nvSpPr>
          <p:cNvPr id="154" name="Shape 146"/>
          <p:cNvSpPr/>
          <p:nvPr/>
        </p:nvSpPr>
        <p:spPr>
          <a:xfrm>
            <a:off x="706648" y="2628653"/>
            <a:ext cx="45720" cy="329184"/>
          </a:xfrm>
          <a:prstGeom prst="rect">
            <a:avLst/>
          </a:prstGeom>
          <a:solidFill>
            <a:srgbClr val="1F7A5C"/>
          </a:solidFill>
          <a:ln w="12700">
            <a:solidFill>
              <a:srgbClr val="1F7A5C"/>
            </a:solidFill>
            <a:prstDash val="solid"/>
          </a:ln>
        </p:spPr>
      </p:sp>
      <p:sp>
        <p:nvSpPr>
          <p:cNvPr id="155" name="Text 147"/>
          <p:cNvSpPr txBox="1"/>
          <p:nvPr/>
        </p:nvSpPr>
        <p:spPr>
          <a:xfrm>
            <a:off x="798088" y="2656085"/>
            <a:ext cx="1403421"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Tercapai</a:t>
            </a:r>
            <a:endParaRPr lang="en-US" sz="550" dirty="0"/>
          </a:p>
        </p:txBody>
      </p:sp>
      <p:sp>
        <p:nvSpPr>
          <p:cNvPr id="156" name="Text 148"/>
          <p:cNvSpPr txBox="1"/>
          <p:nvPr/>
        </p:nvSpPr>
        <p:spPr>
          <a:xfrm>
            <a:off x="798088" y="2743868"/>
            <a:ext cx="1403421" cy="197510"/>
          </a:xfrm>
          <a:prstGeom prst="rect">
            <a:avLst/>
          </a:prstGeom>
          <a:noFill/>
          <a:ln/>
        </p:spPr>
        <p:txBody>
          <a:bodyPr wrap="square" lIns="0" tIns="0" rIns="0" bIns="0" rtlCol="0" anchor="ctr"/>
          <a:lstStyle/>
          <a:p>
            <a:pPr indent="0" marL="0">
              <a:buNone/>
            </a:pPr>
            <a:r>
              <a:rPr lang="en-US" sz="1152" b="1" dirty="0">
                <a:solidFill>
                  <a:srgbClr val="1F7A5C"/>
                </a:solidFill>
                <a:latin typeface="Calibri" pitchFamily="34" charset="0"/>
                <a:ea typeface="Calibri" pitchFamily="34" charset="-122"/>
                <a:cs typeface="Calibri" pitchFamily="34" charset="-120"/>
              </a:rPr>
              <a:t>5</a:t>
            </a:r>
            <a:endParaRPr lang="en-US" sz="1152" dirty="0"/>
          </a:p>
        </p:txBody>
      </p:sp>
      <p:sp>
        <p:nvSpPr>
          <p:cNvPr id="157" name="Shape 149"/>
          <p:cNvSpPr/>
          <p:nvPr/>
        </p:nvSpPr>
        <p:spPr>
          <a:xfrm>
            <a:off x="2292949" y="2628653"/>
            <a:ext cx="1540581" cy="329184"/>
          </a:xfrm>
          <a:prstGeom prst="roundRect">
            <a:avLst>
              <a:gd name="adj" fmla="val 11111"/>
            </a:avLst>
          </a:prstGeom>
          <a:solidFill>
            <a:srgbClr val="FFFFFF"/>
          </a:solidFill>
          <a:ln w="9525">
            <a:solidFill>
              <a:srgbClr val="DDDDDD"/>
            </a:solidFill>
            <a:prstDash val="solid"/>
          </a:ln>
        </p:spPr>
      </p:sp>
      <p:sp>
        <p:nvSpPr>
          <p:cNvPr id="158" name="Shape 150"/>
          <p:cNvSpPr/>
          <p:nvPr/>
        </p:nvSpPr>
        <p:spPr>
          <a:xfrm>
            <a:off x="2292949" y="2628653"/>
            <a:ext cx="45720" cy="329184"/>
          </a:xfrm>
          <a:prstGeom prst="rect">
            <a:avLst/>
          </a:prstGeom>
          <a:solidFill>
            <a:srgbClr val="C62828"/>
          </a:solidFill>
          <a:ln w="12700">
            <a:solidFill>
              <a:srgbClr val="C62828"/>
            </a:solidFill>
            <a:prstDash val="solid"/>
          </a:ln>
        </p:spPr>
      </p:sp>
      <p:sp>
        <p:nvSpPr>
          <p:cNvPr id="159" name="Text 151"/>
          <p:cNvSpPr txBox="1"/>
          <p:nvPr/>
        </p:nvSpPr>
        <p:spPr>
          <a:xfrm>
            <a:off x="2384389" y="2656085"/>
            <a:ext cx="1403421"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Bimbingan</a:t>
            </a:r>
            <a:endParaRPr lang="en-US" sz="550" dirty="0"/>
          </a:p>
        </p:txBody>
      </p:sp>
      <p:sp>
        <p:nvSpPr>
          <p:cNvPr id="160" name="Text 152"/>
          <p:cNvSpPr txBox="1"/>
          <p:nvPr/>
        </p:nvSpPr>
        <p:spPr>
          <a:xfrm>
            <a:off x="2384389" y="2743868"/>
            <a:ext cx="1403421" cy="197510"/>
          </a:xfrm>
          <a:prstGeom prst="rect">
            <a:avLst/>
          </a:prstGeom>
          <a:noFill/>
          <a:ln/>
        </p:spPr>
        <p:txBody>
          <a:bodyPr wrap="square" lIns="0" tIns="0" rIns="0" bIns="0" rtlCol="0" anchor="ctr"/>
          <a:lstStyle/>
          <a:p>
            <a:pPr indent="0" marL="0">
              <a:buNone/>
            </a:pPr>
            <a:r>
              <a:rPr lang="en-US" sz="1152" b="1" dirty="0">
                <a:solidFill>
                  <a:srgbClr val="C62828"/>
                </a:solidFill>
                <a:latin typeface="Calibri" pitchFamily="34" charset="0"/>
                <a:ea typeface="Calibri" pitchFamily="34" charset="-122"/>
                <a:cs typeface="Calibri" pitchFamily="34" charset="-120"/>
              </a:rPr>
              <a:t>3</a:t>
            </a:r>
            <a:endParaRPr lang="en-US" sz="1152" dirty="0"/>
          </a:p>
        </p:txBody>
      </p:sp>
      <p:sp>
        <p:nvSpPr>
          <p:cNvPr id="161" name="Shape 153"/>
          <p:cNvSpPr/>
          <p:nvPr/>
        </p:nvSpPr>
        <p:spPr>
          <a:xfrm>
            <a:off x="3879251" y="2628653"/>
            <a:ext cx="1540581" cy="329184"/>
          </a:xfrm>
          <a:prstGeom prst="roundRect">
            <a:avLst>
              <a:gd name="adj" fmla="val 11111"/>
            </a:avLst>
          </a:prstGeom>
          <a:solidFill>
            <a:srgbClr val="FFFFFF"/>
          </a:solidFill>
          <a:ln w="9525">
            <a:solidFill>
              <a:srgbClr val="DDDDDD"/>
            </a:solidFill>
            <a:prstDash val="solid"/>
          </a:ln>
        </p:spPr>
      </p:sp>
      <p:sp>
        <p:nvSpPr>
          <p:cNvPr id="162" name="Shape 154"/>
          <p:cNvSpPr/>
          <p:nvPr/>
        </p:nvSpPr>
        <p:spPr>
          <a:xfrm>
            <a:off x="3879251" y="2628653"/>
            <a:ext cx="45720" cy="329184"/>
          </a:xfrm>
          <a:prstGeom prst="rect">
            <a:avLst/>
          </a:prstGeom>
          <a:solidFill>
            <a:srgbClr val="D4A017"/>
          </a:solidFill>
          <a:ln w="12700">
            <a:solidFill>
              <a:srgbClr val="D4A017"/>
            </a:solidFill>
            <a:prstDash val="solid"/>
          </a:ln>
        </p:spPr>
      </p:sp>
      <p:sp>
        <p:nvSpPr>
          <p:cNvPr id="163" name="Text 155"/>
          <p:cNvSpPr txBox="1"/>
          <p:nvPr/>
        </p:nvSpPr>
        <p:spPr>
          <a:xfrm>
            <a:off x="3970691" y="2656085"/>
            <a:ext cx="1403421" cy="115214"/>
          </a:xfrm>
          <a:prstGeom prst="rect">
            <a:avLst/>
          </a:prstGeom>
          <a:noFill/>
          <a:ln/>
        </p:spPr>
        <p:txBody>
          <a:bodyPr wrap="square" lIns="0" tIns="0" rIns="0" bIns="0" rtlCol="0" anchor="ctr"/>
          <a:lstStyle/>
          <a:p>
            <a:pPr indent="0" marL="0">
              <a:buNone/>
            </a:pPr>
            <a:r>
              <a:rPr lang="en-US" sz="550" dirty="0">
                <a:solidFill>
                  <a:srgbClr val="555555"/>
                </a:solidFill>
                <a:latin typeface="Calibri" pitchFamily="34" charset="0"/>
                <a:ea typeface="Calibri" pitchFamily="34" charset="-122"/>
                <a:cs typeface="Calibri" pitchFamily="34" charset="-120"/>
              </a:rPr>
              <a:t>Persen</a:t>
            </a:r>
            <a:endParaRPr lang="en-US" sz="550" dirty="0"/>
          </a:p>
        </p:txBody>
      </p:sp>
      <p:sp>
        <p:nvSpPr>
          <p:cNvPr id="164" name="Text 156"/>
          <p:cNvSpPr txBox="1"/>
          <p:nvPr/>
        </p:nvSpPr>
        <p:spPr>
          <a:xfrm>
            <a:off x="3970691" y="2743868"/>
            <a:ext cx="1403421" cy="197510"/>
          </a:xfrm>
          <a:prstGeom prst="rect">
            <a:avLst/>
          </a:prstGeom>
          <a:noFill/>
          <a:ln/>
        </p:spPr>
        <p:txBody>
          <a:bodyPr wrap="square" lIns="0" tIns="0" rIns="0" bIns="0" rtlCol="0" anchor="ctr"/>
          <a:lstStyle/>
          <a:p>
            <a:pPr indent="0" marL="0">
              <a:buNone/>
            </a:pPr>
            <a:r>
              <a:rPr lang="en-US" sz="1152" b="1" dirty="0">
                <a:solidFill>
                  <a:srgbClr val="D4A017"/>
                </a:solidFill>
                <a:latin typeface="Calibri" pitchFamily="34" charset="0"/>
                <a:ea typeface="Calibri" pitchFamily="34" charset="-122"/>
                <a:cs typeface="Calibri" pitchFamily="34" charset="-120"/>
              </a:rPr>
              <a:t>63%</a:t>
            </a:r>
            <a:endParaRPr lang="en-US" sz="1152" dirty="0"/>
          </a:p>
        </p:txBody>
      </p:sp>
      <p:sp>
        <p:nvSpPr>
          <p:cNvPr id="165" name="Shape 157"/>
          <p:cNvSpPr/>
          <p:nvPr/>
        </p:nvSpPr>
        <p:spPr>
          <a:xfrm>
            <a:off x="706648" y="3021845"/>
            <a:ext cx="2162081" cy="662643"/>
          </a:xfrm>
          <a:prstGeom prst="roundRect">
            <a:avLst>
              <a:gd name="adj" fmla="val 4140"/>
            </a:avLst>
          </a:prstGeom>
          <a:solidFill>
            <a:srgbClr val="FFFFFF"/>
          </a:solidFill>
          <a:ln w="9525">
            <a:solidFill>
              <a:srgbClr val="DDDDDD"/>
            </a:solidFill>
            <a:prstDash val="solid"/>
          </a:ln>
        </p:spPr>
      </p:sp>
      <p:sp>
        <p:nvSpPr>
          <p:cNvPr id="166" name="Text 158"/>
          <p:cNvSpPr txBox="1"/>
          <p:nvPr/>
        </p:nvSpPr>
        <p:spPr>
          <a:xfrm>
            <a:off x="706648" y="3040133"/>
            <a:ext cx="2162081"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Status per Kelas</a:t>
            </a:r>
            <a:endParaRPr lang="en-US" sz="650" dirty="0"/>
          </a:p>
        </p:txBody>
      </p:sp>
      <p:sp>
        <p:nvSpPr>
          <p:cNvPr id="167" name="Shape 159"/>
          <p:cNvSpPr/>
          <p:nvPr/>
        </p:nvSpPr>
        <p:spPr>
          <a:xfrm>
            <a:off x="916314" y="3250445"/>
            <a:ext cx="338359" cy="251163"/>
          </a:xfrm>
          <a:prstGeom prst="rect">
            <a:avLst/>
          </a:prstGeom>
          <a:solidFill>
            <a:srgbClr val="1F7A5C"/>
          </a:solidFill>
          <a:ln w="12700">
            <a:solidFill>
              <a:srgbClr val="1F7A5C"/>
            </a:solidFill>
            <a:prstDash val="solid"/>
          </a:ln>
        </p:spPr>
      </p:sp>
      <p:sp>
        <p:nvSpPr>
          <p:cNvPr id="168" name="Text 160"/>
          <p:cNvSpPr txBox="1"/>
          <p:nvPr/>
        </p:nvSpPr>
        <p:spPr>
          <a:xfrm>
            <a:off x="798088" y="3510752"/>
            <a:ext cx="57481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 Tcp</a:t>
            </a:r>
            <a:endParaRPr lang="en-US" sz="500" dirty="0"/>
          </a:p>
        </p:txBody>
      </p:sp>
      <p:sp>
        <p:nvSpPr>
          <p:cNvPr id="169" name="Shape 161"/>
          <p:cNvSpPr/>
          <p:nvPr/>
        </p:nvSpPr>
        <p:spPr>
          <a:xfrm>
            <a:off x="1399684" y="3501608"/>
            <a:ext cx="338359" cy="0"/>
          </a:xfrm>
          <a:prstGeom prst="rect">
            <a:avLst/>
          </a:prstGeom>
          <a:solidFill>
            <a:srgbClr val="C62828"/>
          </a:solidFill>
          <a:ln w="12700">
            <a:solidFill>
              <a:srgbClr val="C62828"/>
            </a:solidFill>
            <a:prstDash val="solid"/>
          </a:ln>
        </p:spPr>
      </p:sp>
      <p:sp>
        <p:nvSpPr>
          <p:cNvPr id="170" name="Text 162"/>
          <p:cNvSpPr txBox="1"/>
          <p:nvPr/>
        </p:nvSpPr>
        <p:spPr>
          <a:xfrm>
            <a:off x="1281458" y="3510752"/>
            <a:ext cx="57481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8A Bmb</a:t>
            </a:r>
            <a:endParaRPr lang="en-US" sz="500" dirty="0"/>
          </a:p>
        </p:txBody>
      </p:sp>
      <p:sp>
        <p:nvSpPr>
          <p:cNvPr id="171" name="Shape 163"/>
          <p:cNvSpPr/>
          <p:nvPr/>
        </p:nvSpPr>
        <p:spPr>
          <a:xfrm>
            <a:off x="1883054" y="3438817"/>
            <a:ext cx="338359" cy="62791"/>
          </a:xfrm>
          <a:prstGeom prst="rect">
            <a:avLst/>
          </a:prstGeom>
          <a:solidFill>
            <a:srgbClr val="1F7A5C"/>
          </a:solidFill>
          <a:ln w="12700">
            <a:solidFill>
              <a:srgbClr val="1F7A5C"/>
            </a:solidFill>
            <a:prstDash val="solid"/>
          </a:ln>
        </p:spPr>
      </p:sp>
      <p:sp>
        <p:nvSpPr>
          <p:cNvPr id="172" name="Text 164"/>
          <p:cNvSpPr txBox="1"/>
          <p:nvPr/>
        </p:nvSpPr>
        <p:spPr>
          <a:xfrm>
            <a:off x="1764829" y="3510752"/>
            <a:ext cx="57481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 Tcp</a:t>
            </a:r>
            <a:endParaRPr lang="en-US" sz="500" dirty="0"/>
          </a:p>
        </p:txBody>
      </p:sp>
      <p:sp>
        <p:nvSpPr>
          <p:cNvPr id="173" name="Shape 165"/>
          <p:cNvSpPr/>
          <p:nvPr/>
        </p:nvSpPr>
        <p:spPr>
          <a:xfrm>
            <a:off x="2366424" y="3313236"/>
            <a:ext cx="338359" cy="188372"/>
          </a:xfrm>
          <a:prstGeom prst="rect">
            <a:avLst/>
          </a:prstGeom>
          <a:solidFill>
            <a:srgbClr val="C62828"/>
          </a:solidFill>
          <a:ln w="12700">
            <a:solidFill>
              <a:srgbClr val="C62828"/>
            </a:solidFill>
            <a:prstDash val="solid"/>
          </a:ln>
        </p:spPr>
      </p:sp>
      <p:sp>
        <p:nvSpPr>
          <p:cNvPr id="174" name="Text 166"/>
          <p:cNvSpPr txBox="1"/>
          <p:nvPr/>
        </p:nvSpPr>
        <p:spPr>
          <a:xfrm>
            <a:off x="2248199" y="3510752"/>
            <a:ext cx="57481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8B Bmb</a:t>
            </a:r>
            <a:endParaRPr lang="en-US" sz="500" dirty="0"/>
          </a:p>
        </p:txBody>
      </p:sp>
      <p:sp>
        <p:nvSpPr>
          <p:cNvPr id="175" name="Shape 167"/>
          <p:cNvSpPr/>
          <p:nvPr/>
        </p:nvSpPr>
        <p:spPr>
          <a:xfrm>
            <a:off x="816376" y="3501608"/>
            <a:ext cx="1979201" cy="0"/>
          </a:xfrm>
          <a:prstGeom prst="line">
            <a:avLst/>
          </a:prstGeom>
          <a:noFill/>
          <a:ln w="6350">
            <a:solidFill>
              <a:srgbClr val="888888"/>
            </a:solidFill>
            <a:prstDash val="solid"/>
          </a:ln>
        </p:spPr>
      </p:sp>
      <p:sp>
        <p:nvSpPr>
          <p:cNvPr id="176" name="Shape 168"/>
          <p:cNvSpPr/>
          <p:nvPr/>
        </p:nvSpPr>
        <p:spPr>
          <a:xfrm>
            <a:off x="2964821" y="3021845"/>
            <a:ext cx="2436722" cy="662643"/>
          </a:xfrm>
          <a:prstGeom prst="roundRect">
            <a:avLst>
              <a:gd name="adj" fmla="val 4140"/>
            </a:avLst>
          </a:prstGeom>
          <a:solidFill>
            <a:srgbClr val="FFFFFF"/>
          </a:solidFill>
          <a:ln w="9525">
            <a:solidFill>
              <a:srgbClr val="DDDDDD"/>
            </a:solidFill>
            <a:prstDash val="solid"/>
          </a:ln>
        </p:spPr>
      </p:sp>
      <p:sp>
        <p:nvSpPr>
          <p:cNvPr id="177" name="Text 169"/>
          <p:cNvSpPr txBox="1"/>
          <p:nvPr/>
        </p:nvSpPr>
        <p:spPr>
          <a:xfrm>
            <a:off x="3010541" y="3040133"/>
            <a:ext cx="2436722"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Kesimpulan</a:t>
            </a:r>
            <a:endParaRPr lang="en-US" sz="650" dirty="0"/>
          </a:p>
        </p:txBody>
      </p:sp>
      <p:sp>
        <p:nvSpPr>
          <p:cNvPr id="178" name="Text 170"/>
          <p:cNvSpPr txBox="1"/>
          <p:nvPr/>
        </p:nvSpPr>
        <p:spPr>
          <a:xfrm>
            <a:off x="3010541" y="3204725"/>
            <a:ext cx="2345282" cy="434043"/>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1. Kelas 8B lebih membutuhkan bimbingan hafalan.</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2. Rata-rata 8A lebih tinggi 2,5 juz.</a:t>
            </a:r>
            <a:endParaRPr lang="en-US" sz="600" dirty="0"/>
          </a:p>
          <a:p>
            <a:pPr indent="0" marL="0">
              <a:buNone/>
            </a:pPr>
            <a:r>
              <a:rPr lang="en-US" sz="600" dirty="0">
                <a:solidFill>
                  <a:srgbClr val="1E2A26"/>
                </a:solidFill>
                <a:latin typeface="Calibri" pitchFamily="34" charset="0"/>
                <a:ea typeface="Calibri" pitchFamily="34" charset="-122"/>
                <a:cs typeface="Calibri" pitchFamily="34" charset="-120"/>
              </a:rPr>
              <a:t>3. Usulan: santri 8A menjadi teman murajaah 8B.</a:t>
            </a:r>
            <a:endParaRPr lang="en-US" sz="600" dirty="0"/>
          </a:p>
        </p:txBody>
      </p:sp>
      <p:sp>
        <p:nvSpPr>
          <p:cNvPr id="179" name="Shape 171"/>
          <p:cNvSpPr/>
          <p:nvPr/>
        </p:nvSpPr>
        <p:spPr>
          <a:xfrm>
            <a:off x="2946533" y="3003557"/>
            <a:ext cx="2473298" cy="699219"/>
          </a:xfrm>
          <a:prstGeom prst="roundRect">
            <a:avLst>
              <a:gd name="adj" fmla="val 6539"/>
            </a:avLst>
          </a:prstGeom>
          <a:solidFill>
            <a:srgbClr val="FFFFFF">
              <a:alpha val="0"/>
            </a:srgbClr>
          </a:solidFill>
          <a:ln w="31750">
            <a:solidFill>
              <a:srgbClr val="E53935"/>
            </a:solidFill>
            <a:prstDash val="solid"/>
          </a:ln>
        </p:spPr>
      </p:sp>
      <p:sp>
        <p:nvSpPr>
          <p:cNvPr id="180" name="Shape 172"/>
          <p:cNvSpPr/>
          <p:nvPr/>
        </p:nvSpPr>
        <p:spPr>
          <a:xfrm>
            <a:off x="5282672" y="2866397"/>
            <a:ext cx="274320" cy="274320"/>
          </a:xfrm>
          <a:prstGeom prst="ellipse">
            <a:avLst/>
          </a:prstGeom>
          <a:solidFill>
            <a:srgbClr val="E53935"/>
          </a:solidFill>
          <a:ln w="12700">
            <a:solidFill>
              <a:srgbClr val="FFFFFF"/>
            </a:solidFill>
            <a:prstDash val="solid"/>
          </a:ln>
        </p:spPr>
      </p:sp>
      <p:sp>
        <p:nvSpPr>
          <p:cNvPr id="181" name="Text 173"/>
          <p:cNvSpPr txBox="1"/>
          <p:nvPr/>
        </p:nvSpPr>
        <p:spPr>
          <a:xfrm>
            <a:off x="5282672" y="28663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82" name="Image 6" descr="preencoded.png">    </p:cNvPr>
          <p:cNvPicPr>
            <a:picLocks noChangeAspect="1"/>
          </p:cNvPicPr>
          <p:nvPr/>
        </p:nvPicPr>
        <p:blipFill>
          <a:blip r:embed="rId7"/>
          <a:stretch>
            <a:fillRect/>
          </a:stretch>
        </p:blipFill>
        <p:spPr>
          <a:xfrm>
            <a:off x="4305019" y="3386299"/>
            <a:ext cx="237744" cy="237744"/>
          </a:xfrm>
          <a:prstGeom prst="rect">
            <a:avLst/>
          </a:prstGeom>
        </p:spPr>
      </p:pic>
      <p:sp>
        <p:nvSpPr>
          <p:cNvPr id="183" name="Text 17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84" name="Text 17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3 kesimpulan di Dashboard, presentasi</a:t>
            </a:r>
            <a:endParaRPr lang="en-US" sz="1800" dirty="0"/>
          </a:p>
        </p:txBody>
      </p:sp>
      <p:sp>
        <p:nvSpPr>
          <p:cNvPr id="185" name="Text 17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bawah dashboard, tulis 3 kesimpulan yang SUDAH terverifikasi dengan kata-kata sendiri. Presentasikan 3 menit.</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Dashboard Prestasi Kelas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Kolom Status (IF) dan kartu Tercapai, Bimbingan, Persen tercapai.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Grafik status per kelas dengan COUNTIFS.</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Tabel verifikasi klaim AI dan 3 kesimpulan terverifikasi.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Hanya data fiktif yang dipakai dan ditempel ke AI.</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5: AI untuk Data · Pertemuan 15</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kartu jumlah Tercapai dan Bimbingan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grafik status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3 kesimpulan tertulis dan terverifikasi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Tidak ada data asli yang dipakai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Ide analisis AI mana yang terbukti benar?</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dashboard ini membantu pembina?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Data tentang kekurangan seseorang dipakai untuk membantunya, bukan untuk mempermalukannya.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6: Website Tanpa Coding dengan Google Sites.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5 - AI untuk Data</dc:title>
  <dc:subject>PptxGenJS Presentation</dc:subject>
  <dc:creator>PptxGenJS</dc:creator>
  <cp:lastModifiedBy>PptxGenJS</cp:lastModifiedBy>
  <cp:revision>1</cp:revision>
  <dcterms:created xsi:type="dcterms:W3CDTF">2026-10-01T20:48:51Z</dcterms:created>
  <dcterms:modified xsi:type="dcterms:W3CDTF">2026-10-01T20:48:51Z</dcterms:modified>
</cp:coreProperties>
</file>