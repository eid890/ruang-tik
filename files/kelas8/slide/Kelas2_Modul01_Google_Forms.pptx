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1: Google Forms — Proyek: Formulir Digital Kegiatan Santri
Terdiri dari 3 pertemuan (Pertemuan 1–3 Kelas VIII),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Gunakan akun Google pesantren/kelas seperti di Kelas VII. Ingatkan santri untuk Sign out.
- Santri Kelas VIII sudah menguasai Google Drive dan Google Docs dari Kelas VII. Bila ada santri baru, bimbing secara khusus dengan slide Kelas VII Modul 2.
- Pertemuan 3: tentukan bersama pengurus/wali kelas satu kebutuhan data yang nyata dan aman, misalnya pendaftaran ekstrakurikuler, usulan menu kantin, atau survei kebersihan asrama.
- PENTING: formulir santri TIDAK boleh menanyakan data pribadi sensitif seperti alamat lengkap, nomor HP, NIK, atau kondisi kesehatan.
CATATAN
Tampilan Google Forms berbahasa Inggris. Terjemahan: Questions = Pertanyaan, Responses = Jawaban, Required = Wajib diisi, Short answer = Jawaban singkat, Paragraph = Paragraf, Multiple choice = Pilihan ganda, Checkboxes = Kotak centang, Dropdown = Menu pilihan, Send = Kirim.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 dengan judul "Mengenal Google Forms". Selamat datang di Kelas VIII! Tahun ini kita belajar mengolah data dan membuat website. Hari ini kita mulai dengan formulir digital.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kalian sekarang sudah di Kelas VIII, atau Kelas 2 Wustha. Tahun lalu kalian menjadi DIGITAL USER: mampu memakai teknologi dan menghasilkan dokumen, desain, audio, video, sampai majalah digital. Tahun ini kalian naik tingkat menjadi DIGITAL CREATOR: mampu membuat produk digital, mengolah data, dan membuat website sendiri.
Siapa yang masih ingat, di mana kita menyimpan semua karya tahun lalu?
(Tunggu jawaban: folder portofolio.)
Sekarang pertanyaan hari ini. Coba pikirkan sejenak:
"Jika pengurus ingin mendata kegiatan pilihan 100 santri, mana yang lebih cepat: kertas atau HP?"
(Beri waktu 1 menit. Minta 2–3 santri menjawab. Hargai semua jawaban.)
Dengan kertas, pengurus harus membagikan 100 lembar, mengumpulkannya, lalu menghitung satu per satu. Dengan formulir digital, santri cukup mengisi di HP atau komputer, dan hasilnya langsung terkumpul dan terhitung otomatis. Hari ini kita belajar membuatnya dengan Google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Formulir digital adalah daftar pertanyaan yang dibuat di internet. Orang lain mengisinya lewat sebuah link, dan semua jawaban terkumpul serta terhitung secara otomatis.
Salah satu aplikasi formulir digital yang paling banyak dipakai adalah GOOGLE FORMS. Aplikasi ini gratis dan sudah ada di akun Google yang kita pakai sejak Kelas VII.
Ada tiga kelebihannya.
Pertama, formulir diisi lewat sebuah link, bisa dari HP maupun komputer, kapan saja.
Kedua, jawaban langsung dihitung dan ditampilkan dalam bentuk grafik.
Ketiga, semua jawaban bisa dipindahkan ke tabel Google Sheets untuk diolah lebih lanjut. Inilah yang akan kita pelajari di modul berikutnya.
Formulir digital sangat bermanfaat bagi pesantren: pendaftaran kegiatan, survei kebersihan asrama, usulan menu kantin, atau kuis pelajaran.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Forms memiliki beberapa jenis pertanyaan. Memilih jenis yang tepat membuat formulir mudah diisi dan hasilnya mudah diolah.
SHORT ANSWER, artinya jawaban singkat, untuk jawaban satu baris seperti nama panggilan.
PARAGRAPH untuk jawaban panjang, seperti alasan atau saran.
MULTIPLE CHOICE, artinya pilihan ganda, untuk memilih SATU jawaban saja.
CHECKBOXES, artinya kotak centang, jika boleh memilih LEBIH DARI SATU jawaban.
DROPDOWN, untuk memilih satu dari daftar yang memanjang ke bawah, cocok jika pilihannya banyak, misalnya daftar kelas.
DATE, untuk memilih tanggal.
Tips penting: sebisa mungkin gunakan pilihan seperti multiple choice atau dropdown daripada jawaban bebas. Mengapa? Karena jawaban bebas bisa ditulis bermacam-macam, misalnya "pramuka", "Pramuka", atau "PRAMUKA", sehingga sulit dihitung.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Menyusun pertanyaan juga ada ilmunya.
Pertanyaan yang BAIK:
Singkat dan jelas, sehingga pengisi langsung paham.
Satu pertanyaan hanya menanyakan satu hal.
Menanyakan hanya yang benar-benar diperlukan.
Yang HARUS DIHINDARI:
Pertanyaan panjang yang membingungkan.
Dua hal dalam satu pertanyaan, misalnya "Apa kegiatan dan hobimu?". Pisahkan menjadi dua pertanyaan.
Dan yang sangat penting: jangan menanyakan data pribadi sensitif seperti alamat lengkap, nomor HP, NIK, atau kondisi kesehatan. Data seperti ini bisa disalahgunakan jika bocor. Formulir buatan santri tidak boleh menanyakannya.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kita membuat formulir pertama: Pendaftaran Ekstrakurikuler Santri. Masuk ke Google dengan akun kelas, lalu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Google Drive dengan akun kelas. Klik tombol + New, tanda a. Pada menu yang muncul, arahkan ke More jika perlu, lalu pilih Google Forms, tanda b, kemudian Blank form, artinya formulir kosong.
Cara lain: ketik forms.google.com di kolom alamat, lalu klik kotak Blank.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Formulir kosong terbuka. Kenali bagian-bagiannya.
Tanda a, tab Questions: tempat membuat pertanyaan.
Tanda b, tab Responses: tempat melihat jawaban yang masuk.
Tanda c, tombol Send: untuk membagikan formulir.
Tanda d, tombol tambah di sebelah kanan: untuk menambah pertanyaan 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Klik tulisan Untitled form di kotak paling atas, lalu ketik judul: Pendaftaran Ekstrakurikuler Santri.
Di bawahnya, klik Form description dan tulis penjelasan singkat, misalnya: Isi formulir ini untuk memilih kegiatan ekstrakurikuler. Data hanya dipakai pengurus.
Deskripsi penting agar pengisi tahu tujuan formulir dan untuk apa datanya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Klik kotak pertanyaan pertama. Ketik pertanyaan: Nama panggilan, tanda a.
Di sebelah kanan ada kotak jenis pertanyaan. Klik kotak itu, lalu pilih Short answer, tanda b.
Kita cukup menanyakan nama panggilan, bukan nama lengkap, karena hanya itu yang diperlukan.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Di bagian bawah kotak pertanyaan ada tombol Required, artinya wajib diisi. Klik tombol geser itu sampai menyala berwarna ungu.
Pertanyaan yang wajib akan diberi tanda bintang. Pengisi tidak bisa mengirim formulir sebelum menjawabnya.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Klik tombol tambah di sebelah kanan, tanda a, untuk menambah pertanyaan baru.
Ketik pertanyaan Kelas. Ubah jenisnya menjadi Dropdown. Lalu isi pilihan: Option 1 diganti 8A, lalu klik Add option dan ketik 8B. Sesuaikan dengan kelas di pesantren kita. Nyalakan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Tambah pertanyaan ketiga: Kegiatan yang ingin diikuti, dengan jenis Multiple choice. Isi empat pilihan, misalnya Pramuka, Kaligrafi, Futsal, dan Tahsin, tanda a. Nyalakan Required.
Tambah pertanyaan keempat: Alasan memilih kegiatan, dengan jenis Paragraph, tanda b. Pertanyaan ini tidak perlu wajib.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Klik ikon mata di pojok kanan atas, yang disebut Preview atau pratinjau.
Formulir akan terbuka di tab baru, persis seperti yang akan dilihat oleh pengisi. Coba isi formulir itu untuk menguji: apakah pertanyaannya jelas? Apakah pertanyaan wajib benar-benar wajib?
Jika ada yang kurang, kembali ke tab sebelumnya dan perbaiki.
Formulir tersimpan otomatis di Google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Tambahkan beberapa hal ke formulir kalian.
Satu: pertanyaan dengan jenis Checkboxes: hari yang bisa kalian ikuti, dengan pilihan Senin sampai Kamis. Ingat, checkboxes boleh memilih lebih dari satu.
Dua: pertanyaan dengan jenis Date: tanggal mulai bisa mengikuti kegiatan.
Tiga: ganti nama file formulir menjadi Form Ekskul, garis bawah, nama kalian.
Empat: uji dengan Preview.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formulir punya judul dan deskripsi?
- ada minimal 4 pertanyaan?
- jenis pertanyaan sudah tepat?
- pertanyaan penting diberi Required?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kelebihan formulir digital dibanding kertas?
Pertanyaan kedua: kapan kita memakai pilihan ganda, dan kapan jawaban singkat?
(Minta 2–3 santri menjawab secara bergantian.)
Pesan adab kita hari ini: data yang dititipkan orang lain kepada kita adalah amanah. Tanyakan hanya yang benar-benar diperlukan, dan jaga jawaban orang lain agar tidak disalahgunakan.
Pekan depan: kita membuat formulir lebih lengkap dengan validasi, bagian, dan pengaturan.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 dengan judul "Formulir yang Rapi &amp; Aman". Kita akan membuat formulir lebih rapi dengan bagian, validasi, dan pengaturan yang tepat.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formulir pertama. Siapa yang ingat, apa bedanya Multiple choice dan Checkboxes?
(Tunggu jawaban: multiple choice memilih satu, checkboxes boleh lebih dari satu.)
Sekarang pertanyaan hari ini. Coba pikirkan sejenak:
"Pernahkah kalian mengisi formulir yang terlalu panjang sampai malas meneruskan?"
(Beri waktu 1 menit. Minta 2–3 santri menjawab. Hargai semua jawaban.)
Formulir yang panjang membuat orang lelah. Karena itu formulir perlu dibagi menjadi beberapa bagian, dan dibuat agar jawaban yang masuk sudah rapi. Hari ini kita belajar caranya.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ini kita mempelajari tiga fitur penting Google Forms.
Pertama, SECTION atau bagian. Formulir yang panjang dibagi menjadi beberapa halaman. Misalnya halaman pertama berisi data diri singkat, halaman kedua berisi pilihan kegiatan. Pengisi merasa lebih ringan karena melihat sedikit pertanyaan sekaligus.
Kedua, RESPONSE VALIDATION atau validasi jawaban. Fitur ini memastikan jawaban sesuai aturan. Misalnya, pertanyaan umur harus diisi angka antara 10 sampai 20. Jika diisi huruf, formulir menolak dan memberi pesan.
Ketiga, SETTINGS atau pengaturan. Di sini kita bisa mengubah pesan yang muncul setelah formulir dikirim, dan mengatur hal-hal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contoh validasi di layar.
Pertanyaannya: berapa juz hafalanmu saat ini? Jika seseorang menjawab dengan huruf, misalnya "tiga", formulir menolaknya dan memunculkan pesan merah: masukkan angka antara 0 dan 30. Jika ia menjawab "3", jawaban diterima.
Mengapa ini penting? Karena nanti data akan kita olah di Google Sheets. Sheets hanya bisa menghitung angka, bukan tulisan "tiga". Dengan validasi, data yang masuk sudah bersih sejak awal.
Di sebelah kanan ada contoh aturan validasi: Number Between untuk angka dalam rentang, Text Length untuk membatasi jumlah huruf, dan Number Is number untuk memastikan jawaban berupa angka.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kembali formulir Pendaftaran Ekstrakurikuler milik kalian di Google Drive.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Klik pertanyaan Kelas, yaitu pertanyaan terakhir yang berisi data diri.
Lihat bilah tombol di sebelah kanan formulir. Ikon paling bawah, bergambar dua garis, adalah Add section, artinya tambah bagian. Klik ikon 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Muncul bagian baru dengan tulisan Section 2 of 2. Beri judul bagian: Pilihan Kegiatan, tanda a.
Pindahkan pertanyaan kegiatan dan alasan ke bagian ini, tanda b. Caranya: arahkan kursor ke enam titik kecil di bagian atas kotak pertanyaan, lalu tekan dan seret ke bawah.
Sekarang formulir terbagi dua halaman: halaman 1 Data Diri, halaman 2 Pilihan Kegiatan.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Kembali ke bagian 1. Tambah pertanyaan baru dengan jenis Short answer: Berapa juz hafalanmu saat ini? Nyalakan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Klik titik tiga tegak di pojok kanan bawah kotak pertanyaan itu, lalu pilih Response validation.
Muncul baris pengaturan validasi. Pilih Number, lalu Between, lalu isi 0 dan 30. Di kolom terakhir, tulis pesan kesalahan: Masukkan angka 0 sampai 30.
Uji dengan Preview: coba isi dengan huruf, lalu dengan angka. Lihat perbedaannya.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Klik tab Settings di bagian atas, tanda a. Buka bagian Presentation.
Pada Confirmation message, yaitu pesan yang muncul setelah formulir dikirim, klik Edit. Tulis pesan yang santun, misalnya: Jazakumullahu khairan. Pendaftaranmu sudah diterima pengurus, tanda b. Klik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langkah yang sangat penting. Baca ulang semua pertanyaan dalam formulir kalian, lalu periksa privasinya seperti contoh di layar.
Nama panggilan, kelas, dan pilihan kegiatan boleh ditanyakan karena memang diperlukan.
Alamat rumah lengkap dan nomor HP orang tua harus dihapus, karena tidak diperlukan untuk pendaftaran ekstrakurikuler, dan berbahaya jika bocor.
Setelah itu, uji sekali lagi dengan Preview dari halaman 1 sampai halaman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Formulir kalian harus memenuhi empat syarat ini: terbagi dua bagian, ada validasi angka, pesan konfirmasi sudah diganti, dan tidak ada pertanyaan data sensitif.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formulir dibagi minimal 2 bagian?
- ada 1 validasi jawaban?
- pesan konfirmasi sudah diubah?
- tidak ada pertanyaan data sensitif?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formulir panjang sebaiknya dibagi bagian?
Pertanyaan kedua: apa gunanya validasi jawaban?
(Minta 2–3 santri menjawab secara bergantian.)
Pesan adab kita hari ini: hormati waktu orang lain. Buatlah formulir yang singkat, jelas, dan mudah diisi. Formulir yang baik memudahkan orang, bukan menyusahkan.
Pekan depan: proyek Formulir Digital Kegiatan Santri: dibagikan, diisi, dan dibaca hasilnya.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 dengan judul "Formulir Digital Kegiatan Santri". Hari ini kita menyelesaikan proyek Modul 1: formulir untuk kebutuhan nyata pesantren.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merapikan formulir. Siapa yang ingat, fitur apa yang memastikan jawaban berupa angka?
(Tunggu jawaban: Response validation.)
Sekarang pertanyaan hari ini. Coba pikirkan sejenak:
"Setelah formulir jadi, bagaimana caranya agar santri lain bisa mengisinya?"
(Beri waktu 1 menit. Minta 2–3 santri menjawab. Hargai semua jawaban.)
Kita membagikan link formulir. Siapa pun yang membuka link itu bisa mengisinya, dan jawabannya langsung masuk. Hari ini setiap kelompok membuat formulir untuk kebutuhan nyata pesantren, membagikannya, lalu membaca hasilnya.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kelompok membuat formulir untuk satu kebutuhan nyata di pesantren. Ini beberapa idenya.
Pertama, PENDAFTARAN KEGIATAN: ekstrakurikuler, lomba, atau panitia acara pondok.
Kedua, SURVEI KANTIN: usulan menu dan penilaian pelayanan.
Ketiga, SURVEI KEBERSIHAN: penilaian kebersihan kamar atau asrama.
Keempat, USULAN BUKU PERPUSTAKAAN: buku apa yang ingin dibaca santri.
Kelompok boleh mengusulkan ide lain, asalkan bermanfaat, disetujui guru, dan tidak menanyakan data pribadi sensitif.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Membagikan formulir juga ada adabnya.
Yang dilakukan:
Bagikan link hanya kepada orang yang memang perlu mengisi, misalnya teman sekelas.
Beri batas waktu pengisian, misalnya sampai hari Kamis.
Tutup formulir setelah selesai. Di tab Responses ada tombol Accepting responses yang bisa dimatikan.
Yang dihindari:
Menyebarkan link ke grup umum, sehingga orang yang tidak berkepentingan ikut mengisi.
Membiarkan formulir terbuka selamanya.
Membagikan hasil jawaban kepada sembarang orang. Hasil formulir adalah amanah.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(Bagi kelas menjadi kelompok. Setiap kelompok memilih satu ide formulir dan meminta persetujuan guru.)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Ketua kelompok membuat formulir baru di akun kelas. Gunakan semua yang sudah dipelajari: judul dan deskripsi yang jelas, dua bagian, lima sampai delapan pertanyaan dengan jenis yang tepat, minimal satu validasi, dan pesan konfirmasi.
Contoh di layar adalah Survei Menu Kantin.
(Periksa rancangan formulir setiap kelompok sebelum dibagikan.)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Setelah formulir siap dan sudah diuji dengan Preview, klik tombol Send berwarna ungu di pojok kanan 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Muncul kotak Send form. Pada baris Send via, klik Link, tanda a.
Muncul link formulir, tanda b. Centang Shorten URL agar linknya pendek, seperti forms.gle diikuti beberapa huruf.
Klik Copy, tanda c, untuk menyalin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Tempel link formulir setiap kelompok ke satu dokumen bersama kelas, atau tulis di papan tulis.
Lalu setiap santri mengisi formulir milik kelompok LAIN, bisa dari komputer atau dari HP yang disediakan. Isilah dengan jujur dan sungguh-sungguh, lalu klik Submit, artinya kirim.
Dengan begitu, setiap formulir mendapat banyak jawaban untuk diolah.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Kembali ke formulir kelompok kalian. Klik tab Responses, tanda a. Di sana terlihat jumlah jawaban yang sudah masuk.
Gulir ke bawah. Google Forms otomatis membuat grafik untuk setiap pertanyaan pilihan, tanda b. Misalnya: 46 persen memilih nasi kuning, 33 persen mie goreng, dan 21 persen bubur ayam.
Tanpa menghitung satu per satu, hasilnya langsung terlihat. Itulah kekuatan formulir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Di tab Responses, klik tombol Link to Sheets berwarna hijau. Pilih Create a new spreadsheet, lalu klik Create.
Sebuah file Google Sheets akan terbuka berisi semua jawaban dalam bentuk tabel: setiap baris adalah satu pengisi, setiap kolom adalah satu pertanyaan. Kolom pertama, Timestamp, berisi tanggal dan jam pengisian.
Tabel inilah yang akan kita olah di Modul 2. Setelah semua selesai, kembali ke tab Responses dan matikan tombol Accepting responses untuk menutup formulir.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kelompok dinyatakan selesai jika empat syarat ini terpenuhi.
Satu, formulir menjawab kebutuhan nyata dan disetujui guru.
Dua, memakai dua bagian, jenis pertanyaan yang tepat, validasi, dan pesan konfirmasi.
Tiga, sudah diisi minimal sepuluh orang dan ditutup setelah selesai.
Empat, hasil dipresentasikan dan terhubung ke Google Sheets.
(Minta setiap kelompok mempresentasikan satu grafik hasil dan satu kesimpulan dalam 2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formulir menjawab kebutuhan nyata?
- link berhasil dibagikan dan diisi?
- hasil terbaca di Responses?
- terhubung ke Google Sheets?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temuan menarik dari hasil formulirmu?
Pertanyaan kedua: bagaimana formulir ini bisa membantu pengurus?
(Minta 2–3 santri menjawab secara bergantian.)
Pesan adab kita hari ini: jagalah kerahasiaan jawaban. Hasil formulir hanya boleh dilihat oleh orang yang berhak, misalnya pengurus atau guru. Membocorkan jawaban orang lain sama dengan mengkhianati amanah.
Pekan depan: kita masuk Modul 2: Google Sheets, untuk mengolah data. Alhamdulillah, Modul 1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slideLayout" Target="../slideLayouts/slideLayout1.xml"/><Relationship Id="rId11"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slideLayout" Target="../slideLayouts/slideLayout1.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1.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slideLayout" Target="../slideLayouts/slideLayout1.xml"/><Relationship Id="rId1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1.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slideLayout" Target="../slideLayouts/slideLayout1.xml"/><Relationship Id="rId11"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slideLayout" Target="../slideLayouts/slideLayout1.xml"/><Relationship Id="rId1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image" Target="../media/image-43-10.png"/><Relationship Id="rId11" Type="http://schemas.openxmlformats.org/officeDocument/2006/relationships/slideLayout" Target="../slideLayouts/slideLayout1.xml"/><Relationship Id="rId1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slideLayout" Target="../slideLayouts/slideLayout1.xml"/><Relationship Id="rId10"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image" Target="../media/image-46-7.png"/><Relationship Id="rId8" Type="http://schemas.openxmlformats.org/officeDocument/2006/relationships/slideLayout" Target="../slideLayouts/slideLayout1.xml"/><Relationship Id="rId9"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2 WUSTHA  ·  SEMESTER 1  ·  MODUL 1</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Google Forms</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Formulir Digital Kegiatan Santri</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membuat formulir digital dengan Google Forms untuk mengumpulkan data kegiatan santri secara cepat, rapi, dan aman, lalu membaca hasilnya.</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01</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 Google Forms</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02</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Formulir yang Rapi &amp; Aman</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03</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Formulir Digital Kegiatan Santri</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Google Forms, Google Drive, akun Google pesantren/kelas, HP untuk mencoba mengisi formulir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01</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 Google Forms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Formulir digital untuk mengumpulkan data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 Google Forms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pengurus ingin mendata kegiatan pilihan 100 santri, mana yang lebih cepat: kertas atau HP?</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dan manfaat formulir digital</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formulir baru dengan judul dan deskripsi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Menambahkan pertanyaan dengan jenis yang tepat</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Formulir Digital?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Google Forms</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Formulir digital adalah daftar pertanyaan di internet yang diisi orang lain, dan jawabannya terkumpul serta terhitung secara otomatis.</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Google Forms: gratis, bagian dari akun Google</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Diisi lewat link, dari HP maupun komputer</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Hasil berupa grafik otomatis dan tabel di Google Sheets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Jenis-jenis Pertanyaan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Short answer</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Jawaban singkat satu baris. Contoh: nama panggilan.</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Paragraph</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Jawaban panjang. Contoh: alasan, saran, atau cerita.</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Multiple choice</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Pilih SATU jawaban. Contoh: kegiatan yang ingin diikuti.</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Checkboxes</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Boleh pilih LEBIH DARI SATU. Contoh: hari yang kamu sukai.</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Dropdown</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Pilih satu dari daftar yang memanjang ke bawah. Contoh: kelas.</a:t>
            </a:r>
            <a:endParaRPr lang="en-US" sz="1250" dirty="0"/>
          </a:p>
        </p:txBody>
      </p:sp>
      <p:sp>
        <p:nvSpPr>
          <p:cNvPr id="34" name="Shape 25"/>
          <p:cNvSpPr/>
          <p:nvPr/>
        </p:nvSpPr>
        <p:spPr>
          <a:xfrm>
            <a:off x="6096000" y="2948940"/>
            <a:ext cx="2590800" cy="1668780"/>
          </a:xfrm>
          <a:prstGeom prst="roundRect">
            <a:avLst>
              <a:gd name="adj" fmla="val 6575"/>
            </a:avLst>
          </a:prstGeom>
          <a:solidFill>
            <a:srgbClr val="E6F2EC"/>
          </a:solidFill>
          <a:ln w="12700">
            <a:solidFill>
              <a:srgbClr val="E6F2EC"/>
            </a:solidFill>
            <a:prstDash val="solid"/>
          </a:ln>
        </p:spPr>
      </p:sp>
      <p:sp>
        <p:nvSpPr>
          <p:cNvPr id="35" name="Shape 26"/>
          <p:cNvSpPr/>
          <p:nvPr/>
        </p:nvSpPr>
        <p:spPr>
          <a:xfrm>
            <a:off x="6278880" y="3131820"/>
            <a:ext cx="548640" cy="548640"/>
          </a:xfrm>
          <a:prstGeom prst="ellipse">
            <a:avLst/>
          </a:prstGeom>
          <a:solidFill>
            <a:srgbClr val="0F4C3A"/>
          </a:solidFill>
          <a:ln/>
        </p:spPr>
      </p:sp>
      <p:pic>
        <p:nvPicPr>
          <p:cNvPr id="36" name="Image 7" descr="preencoded.png">    </p:cNvPr>
          <p:cNvPicPr>
            <a:picLocks noChangeAspect="1"/>
          </p:cNvPicPr>
          <p:nvPr/>
        </p:nvPicPr>
        <p:blipFill>
          <a:blip r:embed="rId8"/>
          <a:stretch>
            <a:fillRect/>
          </a:stretch>
        </p:blipFill>
        <p:spPr>
          <a:xfrm>
            <a:off x="6416040" y="3268980"/>
            <a:ext cx="274320" cy="274320"/>
          </a:xfrm>
          <a:prstGeom prst="rect">
            <a:avLst/>
          </a:prstGeom>
        </p:spPr>
      </p:pic>
      <p:sp>
        <p:nvSpPr>
          <p:cNvPr id="37" name="Text 27"/>
          <p:cNvSpPr txBox="1"/>
          <p:nvPr/>
        </p:nvSpPr>
        <p:spPr>
          <a:xfrm>
            <a:off x="69646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Date</a:t>
            </a:r>
            <a:endParaRPr lang="en-US" sz="1600" dirty="0"/>
          </a:p>
        </p:txBody>
      </p:sp>
      <p:sp>
        <p:nvSpPr>
          <p:cNvPr id="38" name="Text 28"/>
          <p:cNvSpPr txBox="1"/>
          <p:nvPr/>
        </p:nvSpPr>
        <p:spPr>
          <a:xfrm>
            <a:off x="62788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Memilih tanggal. Contoh: tanggal kegiatan.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Pertanyaan yang Baik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Baik</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Singkat dan jelas</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Satu pertanyaan, satu hal</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Menanyakan hanya yang diperlukan</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Hindari</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Pertanyaan panjang dan membingungkan</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Dua hal dalam satu pertanyaan</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Alamat, nomor HP, NIK, data kesehatan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Formulir Pertama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formulir baru</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4–7</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Menambah pertanyaan</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8</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Melihat pratinjau</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Formulir Baru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Shape 26"/>
          <p:cNvSpPr/>
          <p:nvPr/>
        </p:nvSpPr>
        <p:spPr>
          <a:xfrm>
            <a:off x="660928" y="2464061"/>
            <a:ext cx="960120" cy="201168"/>
          </a:xfrm>
          <a:prstGeom prst="roundRect">
            <a:avLst>
              <a:gd name="adj" fmla="val 45455"/>
            </a:avLst>
          </a:prstGeom>
          <a:solidFill>
            <a:srgbClr val="C2E7FF"/>
          </a:solidFill>
          <a:ln w="12700">
            <a:solidFill>
              <a:srgbClr val="C2E7FF"/>
            </a:solidFill>
            <a:prstDash val="solid"/>
          </a:ln>
        </p:spPr>
      </p:sp>
      <p:sp>
        <p:nvSpPr>
          <p:cNvPr id="35" name="Text 27"/>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My Drive</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Portofolio_Kelas8</a:t>
            </a:r>
            <a:endParaRPr lang="en-US" sz="800" dirty="0"/>
          </a:p>
        </p:txBody>
      </p:sp>
      <p:sp>
        <p:nvSpPr>
          <p:cNvPr id="45" name="Shape 36"/>
          <p:cNvSpPr/>
          <p:nvPr/>
        </p:nvSpPr>
        <p:spPr>
          <a:xfrm>
            <a:off x="697504" y="2390909"/>
            <a:ext cx="1234440" cy="1463040"/>
          </a:xfrm>
          <a:prstGeom prst="rect">
            <a:avLst/>
          </a:prstGeom>
          <a:solidFill>
            <a:srgbClr val="FFFFFF"/>
          </a:solidFill>
          <a:ln w="9525">
            <a:solidFill>
              <a:srgbClr val="AAAAAA"/>
            </a:solidFill>
            <a:prstDash val="solid"/>
          </a:ln>
        </p:spPr>
      </p:sp>
      <p:sp>
        <p:nvSpPr>
          <p:cNvPr id="46" name="Text 37"/>
          <p:cNvSpPr txBox="1"/>
          <p:nvPr/>
        </p:nvSpPr>
        <p:spPr>
          <a:xfrm>
            <a:off x="807232" y="241834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 folder</a:t>
            </a:r>
            <a:endParaRPr lang="en-US" sz="800" dirty="0"/>
          </a:p>
        </p:txBody>
      </p:sp>
      <p:sp>
        <p:nvSpPr>
          <p:cNvPr id="47" name="Shape 38"/>
          <p:cNvSpPr/>
          <p:nvPr/>
        </p:nvSpPr>
        <p:spPr>
          <a:xfrm>
            <a:off x="734080" y="2710949"/>
            <a:ext cx="1161288" cy="0"/>
          </a:xfrm>
          <a:prstGeom prst="line">
            <a:avLst/>
          </a:prstGeom>
          <a:noFill/>
          <a:ln w="6350">
            <a:solidFill>
              <a:srgbClr val="DDDDDD"/>
            </a:solidFill>
            <a:prstDash val="solid"/>
          </a:ln>
        </p:spPr>
      </p:sp>
      <p:sp>
        <p:nvSpPr>
          <p:cNvPr id="48" name="Text 39"/>
          <p:cNvSpPr txBox="1"/>
          <p:nvPr/>
        </p:nvSpPr>
        <p:spPr>
          <a:xfrm>
            <a:off x="807232" y="2820677"/>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File upload</a:t>
            </a:r>
            <a:endParaRPr lang="en-US" sz="800" dirty="0"/>
          </a:p>
        </p:txBody>
      </p:sp>
      <p:sp>
        <p:nvSpPr>
          <p:cNvPr id="49" name="Text 40"/>
          <p:cNvSpPr txBox="1"/>
          <p:nvPr/>
        </p:nvSpPr>
        <p:spPr>
          <a:xfrm>
            <a:off x="807232" y="3021845"/>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Folder upload</a:t>
            </a:r>
            <a:endParaRPr lang="en-US" sz="800" dirty="0"/>
          </a:p>
        </p:txBody>
      </p:sp>
      <p:sp>
        <p:nvSpPr>
          <p:cNvPr id="50" name="Shape 41"/>
          <p:cNvSpPr/>
          <p:nvPr/>
        </p:nvSpPr>
        <p:spPr>
          <a:xfrm>
            <a:off x="734080" y="3314453"/>
            <a:ext cx="1161288" cy="0"/>
          </a:xfrm>
          <a:prstGeom prst="line">
            <a:avLst/>
          </a:prstGeom>
          <a:noFill/>
          <a:ln w="6350">
            <a:solidFill>
              <a:srgbClr val="DDDDDD"/>
            </a:solidFill>
            <a:prstDash val="solid"/>
          </a:ln>
        </p:spPr>
      </p:sp>
      <p:sp>
        <p:nvSpPr>
          <p:cNvPr id="51" name="Text 42"/>
          <p:cNvSpPr txBox="1"/>
          <p:nvPr/>
        </p:nvSpPr>
        <p:spPr>
          <a:xfrm>
            <a:off x="807232" y="342418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Google Docs</a:t>
            </a:r>
            <a:endParaRPr lang="en-US" sz="800" dirty="0"/>
          </a:p>
        </p:txBody>
      </p:sp>
      <p:sp>
        <p:nvSpPr>
          <p:cNvPr id="52" name="Text 43"/>
          <p:cNvSpPr txBox="1"/>
          <p:nvPr/>
        </p:nvSpPr>
        <p:spPr>
          <a:xfrm>
            <a:off x="807232" y="3625349"/>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Google Sheets</a:t>
            </a:r>
            <a:endParaRPr lang="en-US" sz="800" dirty="0"/>
          </a:p>
        </p:txBody>
      </p:sp>
      <p:sp>
        <p:nvSpPr>
          <p:cNvPr id="53" name="Shape 44"/>
          <p:cNvSpPr/>
          <p:nvPr/>
        </p:nvSpPr>
        <p:spPr>
          <a:xfrm>
            <a:off x="2014240" y="3424181"/>
            <a:ext cx="1188720" cy="859536"/>
          </a:xfrm>
          <a:prstGeom prst="rect">
            <a:avLst/>
          </a:prstGeom>
          <a:solidFill>
            <a:srgbClr val="FFFFFF"/>
          </a:solidFill>
          <a:ln w="9525">
            <a:solidFill>
              <a:srgbClr val="AAAAAA"/>
            </a:solidFill>
            <a:prstDash val="solid"/>
          </a:ln>
        </p:spPr>
      </p:sp>
      <p:sp>
        <p:nvSpPr>
          <p:cNvPr id="54" name="Text 45"/>
          <p:cNvSpPr txBox="1"/>
          <p:nvPr/>
        </p:nvSpPr>
        <p:spPr>
          <a:xfrm>
            <a:off x="2123968" y="3451613"/>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Google Docs</a:t>
            </a:r>
            <a:endParaRPr lang="en-US" sz="800" dirty="0"/>
          </a:p>
        </p:txBody>
      </p:sp>
      <p:sp>
        <p:nvSpPr>
          <p:cNvPr id="55" name="Text 46"/>
          <p:cNvSpPr txBox="1"/>
          <p:nvPr/>
        </p:nvSpPr>
        <p:spPr>
          <a:xfrm>
            <a:off x="2123968" y="3652781"/>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Google Sheets</a:t>
            </a:r>
            <a:endParaRPr lang="en-US" sz="800" dirty="0"/>
          </a:p>
        </p:txBody>
      </p:sp>
      <p:sp>
        <p:nvSpPr>
          <p:cNvPr id="56" name="Text 47"/>
          <p:cNvSpPr txBox="1"/>
          <p:nvPr/>
        </p:nvSpPr>
        <p:spPr>
          <a:xfrm>
            <a:off x="2123968" y="3853949"/>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Google Slides</a:t>
            </a:r>
            <a:endParaRPr lang="en-US" sz="800" dirty="0"/>
          </a:p>
        </p:txBody>
      </p:sp>
      <p:sp>
        <p:nvSpPr>
          <p:cNvPr id="57" name="Text 48"/>
          <p:cNvSpPr txBox="1"/>
          <p:nvPr/>
        </p:nvSpPr>
        <p:spPr>
          <a:xfrm>
            <a:off x="2123968" y="4055117"/>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Google Forms  ›</a:t>
            </a:r>
            <a:endParaRPr lang="en-US" sz="800" dirty="0"/>
          </a:p>
        </p:txBody>
      </p:sp>
      <p:sp>
        <p:nvSpPr>
          <p:cNvPr id="58" name="Shape 49"/>
          <p:cNvSpPr/>
          <p:nvPr/>
        </p:nvSpPr>
        <p:spPr>
          <a:xfrm>
            <a:off x="679216" y="2043437"/>
            <a:ext cx="722376" cy="329184"/>
          </a:xfrm>
          <a:prstGeom prst="roundRect">
            <a:avLst>
              <a:gd name="adj" fmla="val 13889"/>
            </a:avLst>
          </a:prstGeom>
          <a:solidFill>
            <a:srgbClr val="FFFFFF">
              <a:alpha val="0"/>
            </a:srgbClr>
          </a:solidFill>
          <a:ln w="31750">
            <a:solidFill>
              <a:srgbClr val="E53935"/>
            </a:solidFill>
            <a:prstDash val="solid"/>
          </a:ln>
        </p:spPr>
      </p:sp>
      <p:sp>
        <p:nvSpPr>
          <p:cNvPr id="59" name="Shape 50"/>
          <p:cNvSpPr/>
          <p:nvPr/>
        </p:nvSpPr>
        <p:spPr>
          <a:xfrm>
            <a:off x="1264432" y="1906277"/>
            <a:ext cx="274320" cy="274320"/>
          </a:xfrm>
          <a:prstGeom prst="ellipse">
            <a:avLst/>
          </a:prstGeom>
          <a:solidFill>
            <a:srgbClr val="E53935"/>
          </a:solidFill>
          <a:ln w="12700">
            <a:solidFill>
              <a:srgbClr val="FFFFFF"/>
            </a:solidFill>
            <a:prstDash val="solid"/>
          </a:ln>
        </p:spPr>
      </p:sp>
      <p:sp>
        <p:nvSpPr>
          <p:cNvPr id="60" name="Text 51"/>
          <p:cNvSpPr txBox="1"/>
          <p:nvPr/>
        </p:nvSpPr>
        <p:spPr>
          <a:xfrm>
            <a:off x="1264432" y="19062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1" name="Image 7" descr="preencoded.png">    </p:cNvPr>
          <p:cNvPicPr>
            <a:picLocks noChangeAspect="1"/>
          </p:cNvPicPr>
          <p:nvPr/>
        </p:nvPicPr>
        <p:blipFill>
          <a:blip r:embed="rId8"/>
          <a:stretch>
            <a:fillRect/>
          </a:stretch>
        </p:blipFill>
        <p:spPr>
          <a:xfrm>
            <a:off x="1074694" y="2222660"/>
            <a:ext cx="237744" cy="237744"/>
          </a:xfrm>
          <a:prstGeom prst="rect">
            <a:avLst/>
          </a:prstGeom>
        </p:spPr>
      </p:pic>
      <p:sp>
        <p:nvSpPr>
          <p:cNvPr id="62" name="Shape 52"/>
          <p:cNvSpPr/>
          <p:nvPr/>
        </p:nvSpPr>
        <p:spPr>
          <a:xfrm>
            <a:off x="2032528" y="4036829"/>
            <a:ext cx="1152144" cy="228600"/>
          </a:xfrm>
          <a:prstGeom prst="roundRect">
            <a:avLst>
              <a:gd name="adj" fmla="val 20000"/>
            </a:avLst>
          </a:prstGeom>
          <a:solidFill>
            <a:srgbClr val="FFFFFF">
              <a:alpha val="0"/>
            </a:srgbClr>
          </a:solidFill>
          <a:ln w="31750">
            <a:solidFill>
              <a:srgbClr val="E53935"/>
            </a:solidFill>
            <a:prstDash val="solid"/>
          </a:ln>
        </p:spPr>
      </p:sp>
      <p:sp>
        <p:nvSpPr>
          <p:cNvPr id="63" name="Shape 53"/>
          <p:cNvSpPr/>
          <p:nvPr/>
        </p:nvSpPr>
        <p:spPr>
          <a:xfrm>
            <a:off x="3047512" y="3899669"/>
            <a:ext cx="274320" cy="274320"/>
          </a:xfrm>
          <a:prstGeom prst="ellipse">
            <a:avLst/>
          </a:prstGeom>
          <a:solidFill>
            <a:srgbClr val="E53935"/>
          </a:solidFill>
          <a:ln w="12700">
            <a:solidFill>
              <a:srgbClr val="FFFFFF"/>
            </a:solidFill>
            <a:prstDash val="solid"/>
          </a:ln>
        </p:spPr>
      </p:sp>
      <p:sp>
        <p:nvSpPr>
          <p:cNvPr id="64" name="Text 54"/>
          <p:cNvSpPr txBox="1"/>
          <p:nvPr/>
        </p:nvSpPr>
        <p:spPr>
          <a:xfrm>
            <a:off x="3047512" y="38996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5" name="Image 8" descr="preencoded.png">    </p:cNvPr>
          <p:cNvPicPr>
            <a:picLocks noChangeAspect="1"/>
          </p:cNvPicPr>
          <p:nvPr/>
        </p:nvPicPr>
        <p:blipFill>
          <a:blip r:embed="rId9"/>
          <a:stretch>
            <a:fillRect/>
          </a:stretch>
        </p:blipFill>
        <p:spPr>
          <a:xfrm>
            <a:off x="2664379" y="4160730"/>
            <a:ext cx="237744" cy="237744"/>
          </a:xfrm>
          <a:prstGeom prst="rect">
            <a:avLst/>
          </a:prstGeom>
        </p:spPr>
      </p:pic>
      <p:sp>
        <p:nvSpPr>
          <p:cNvPr id="66" name="Text 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67" name="Text 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Drive › + New › Google Forms</a:t>
            </a:r>
            <a:endParaRPr lang="en-US" sz="1800" dirty="0"/>
          </a:p>
        </p:txBody>
      </p:sp>
      <p:sp>
        <p:nvSpPr>
          <p:cNvPr id="68" name="Text 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Google Drive. Klik + New, arahkan ke More atau langsung pilih Google Forms › Blank form.</a:t>
            </a:r>
            <a:endParaRPr lang="en-US" sz="1300" dirty="0"/>
          </a:p>
        </p:txBody>
      </p:sp>
      <p:sp>
        <p:nvSpPr>
          <p:cNvPr id="69" name="Shape 5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0" name="Image 9" descr="preencoded.png">    </p:cNvPr>
          <p:cNvPicPr>
            <a:picLocks noChangeAspect="1"/>
          </p:cNvPicPr>
          <p:nvPr/>
        </p:nvPicPr>
        <p:blipFill>
          <a:blip r:embed="rId10"/>
          <a:stretch>
            <a:fillRect/>
          </a:stretch>
        </p:blipFill>
        <p:spPr>
          <a:xfrm>
            <a:off x="6108192" y="3721608"/>
            <a:ext cx="201168" cy="201168"/>
          </a:xfrm>
          <a:prstGeom prst="rect">
            <a:avLst/>
          </a:prstGeom>
        </p:spPr>
      </p:pic>
      <p:sp>
        <p:nvSpPr>
          <p:cNvPr id="71" name="Text 5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Bisa juga lewat forms.google.com › Blank.</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Formulir Baru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Untitled form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Untitled form</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Untitled form</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888888"/>
                </a:solidFill>
                <a:latin typeface="Calibri" pitchFamily="34" charset="0"/>
                <a:ea typeface="Calibri" pitchFamily="34" charset="-122"/>
                <a:cs typeface="Calibri" pitchFamily="34" charset="-120"/>
              </a:rPr>
              <a:t>Form description</a:t>
            </a:r>
            <a:endParaRPr lang="en-US" sz="750" dirty="0"/>
          </a:p>
        </p:txBody>
      </p:sp>
      <p:sp>
        <p:nvSpPr>
          <p:cNvPr id="42" name="Shape 33"/>
          <p:cNvSpPr/>
          <p:nvPr/>
        </p:nvSpPr>
        <p:spPr>
          <a:xfrm>
            <a:off x="1463040" y="2893829"/>
            <a:ext cx="3200400" cy="768096"/>
          </a:xfrm>
          <a:prstGeom prst="roundRect">
            <a:avLst>
              <a:gd name="adj" fmla="val 5952"/>
            </a:avLst>
          </a:prstGeom>
          <a:solidFill>
            <a:srgbClr val="FFFFFF"/>
          </a:solidFill>
          <a:ln w="12700">
            <a:solidFill>
              <a:srgbClr val="FFFFFF"/>
            </a:solidFill>
            <a:prstDash val="solid"/>
          </a:ln>
        </p:spPr>
      </p:sp>
      <p:sp>
        <p:nvSpPr>
          <p:cNvPr id="43" name="Shape 34"/>
          <p:cNvSpPr/>
          <p:nvPr/>
        </p:nvSpPr>
        <p:spPr>
          <a:xfrm>
            <a:off x="1463040" y="2893829"/>
            <a:ext cx="36576" cy="768096"/>
          </a:xfrm>
          <a:prstGeom prst="rect">
            <a:avLst/>
          </a:prstGeom>
          <a:solidFill>
            <a:srgbClr val="4285F4"/>
          </a:solidFill>
          <a:ln w="12700">
            <a:solidFill>
              <a:srgbClr val="4285F4"/>
            </a:solidFill>
            <a:prstDash val="solid"/>
          </a:ln>
        </p:spPr>
      </p:sp>
      <p:sp>
        <p:nvSpPr>
          <p:cNvPr id="44" name="Text 35"/>
          <p:cNvSpPr txBox="1"/>
          <p:nvPr/>
        </p:nvSpPr>
        <p:spPr>
          <a:xfrm>
            <a:off x="1572768" y="296698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Untitled Question</a:t>
            </a:r>
            <a:endParaRPr lang="en-US" sz="850" dirty="0"/>
          </a:p>
        </p:txBody>
      </p:sp>
      <p:sp>
        <p:nvSpPr>
          <p:cNvPr id="45" name="Shape 36"/>
          <p:cNvSpPr/>
          <p:nvPr/>
        </p:nvSpPr>
        <p:spPr>
          <a:xfrm>
            <a:off x="3520440" y="2957837"/>
            <a:ext cx="1051560" cy="219456"/>
          </a:xfrm>
          <a:prstGeom prst="roundRect">
            <a:avLst>
              <a:gd name="adj" fmla="val 12500"/>
            </a:avLst>
          </a:prstGeom>
          <a:solidFill>
            <a:srgbClr val="FFFFFF"/>
          </a:solidFill>
          <a:ln w="9525">
            <a:solidFill>
              <a:srgbClr val="CCCCCC"/>
            </a:solidFill>
            <a:prstDash val="solid"/>
          </a:ln>
        </p:spPr>
      </p:sp>
      <p:sp>
        <p:nvSpPr>
          <p:cNvPr id="46" name="Text 37"/>
          <p:cNvSpPr txBox="1"/>
          <p:nvPr/>
        </p:nvSpPr>
        <p:spPr>
          <a:xfrm>
            <a:off x="3566160" y="2957837"/>
            <a:ext cx="100584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Multiple choice ▾</a:t>
            </a:r>
            <a:endParaRPr lang="en-US" sz="700" dirty="0"/>
          </a:p>
        </p:txBody>
      </p:sp>
      <p:sp>
        <p:nvSpPr>
          <p:cNvPr id="47" name="Shape 38"/>
          <p:cNvSpPr/>
          <p:nvPr/>
        </p:nvSpPr>
        <p:spPr>
          <a:xfrm>
            <a:off x="1591056" y="3268733"/>
            <a:ext cx="91440" cy="91440"/>
          </a:xfrm>
          <a:prstGeom prst="ellipse">
            <a:avLst/>
          </a:prstGeom>
          <a:solidFill>
            <a:srgbClr val="FFFFFF"/>
          </a:solidFill>
          <a:ln w="9525">
            <a:solidFill>
              <a:srgbClr val="888888"/>
            </a:solidFill>
            <a:prstDash val="solid"/>
          </a:ln>
        </p:spPr>
      </p:sp>
      <p:sp>
        <p:nvSpPr>
          <p:cNvPr id="48" name="Text 39"/>
          <p:cNvSpPr txBox="1"/>
          <p:nvPr/>
        </p:nvSpPr>
        <p:spPr>
          <a:xfrm>
            <a:off x="1737360" y="3241301"/>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Option 1</a:t>
            </a:r>
            <a:endParaRPr lang="en-US" sz="750" dirty="0"/>
          </a:p>
        </p:txBody>
      </p:sp>
      <p:sp>
        <p:nvSpPr>
          <p:cNvPr id="49" name="Shape 40"/>
          <p:cNvSpPr/>
          <p:nvPr/>
        </p:nvSpPr>
        <p:spPr>
          <a:xfrm>
            <a:off x="1554480" y="3387605"/>
            <a:ext cx="3017520" cy="0"/>
          </a:xfrm>
          <a:prstGeom prst="line">
            <a:avLst/>
          </a:prstGeom>
          <a:noFill/>
          <a:ln w="9525">
            <a:solidFill>
              <a:srgbClr val="E0E0E0"/>
            </a:solidFill>
            <a:prstDash val="solid"/>
          </a:ln>
        </p:spPr>
      </p:sp>
      <p:sp>
        <p:nvSpPr>
          <p:cNvPr id="50" name="Text 41"/>
          <p:cNvSpPr txBox="1"/>
          <p:nvPr/>
        </p:nvSpPr>
        <p:spPr>
          <a:xfrm>
            <a:off x="3840480" y="3424181"/>
            <a:ext cx="4572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Required</a:t>
            </a:r>
            <a:endParaRPr lang="en-US" sz="700" dirty="0"/>
          </a:p>
        </p:txBody>
      </p:sp>
      <p:sp>
        <p:nvSpPr>
          <p:cNvPr id="51" name="Shape 42"/>
          <p:cNvSpPr/>
          <p:nvPr/>
        </p:nvSpPr>
        <p:spPr>
          <a:xfrm>
            <a:off x="4315968" y="3460757"/>
            <a:ext cx="237744" cy="109728"/>
          </a:xfrm>
          <a:prstGeom prst="roundRect">
            <a:avLst>
              <a:gd name="adj" fmla="val 50000"/>
            </a:avLst>
          </a:prstGeom>
          <a:solidFill>
            <a:srgbClr val="CCCCCC"/>
          </a:solidFill>
          <a:ln w="12700">
            <a:solidFill>
              <a:srgbClr val="CCCCCC"/>
            </a:solidFill>
            <a:prstDash val="solid"/>
          </a:ln>
        </p:spPr>
      </p:sp>
      <p:sp>
        <p:nvSpPr>
          <p:cNvPr id="52" name="Shape 43"/>
          <p:cNvSpPr/>
          <p:nvPr/>
        </p:nvSpPr>
        <p:spPr>
          <a:xfrm>
            <a:off x="4297680" y="3442469"/>
            <a:ext cx="146304" cy="146304"/>
          </a:xfrm>
          <a:prstGeom prst="ellipse">
            <a:avLst/>
          </a:prstGeom>
          <a:solidFill>
            <a:srgbClr val="FFFFFF"/>
          </a:solidFill>
          <a:ln w="6350">
            <a:solidFill>
              <a:srgbClr val="999999"/>
            </a:solidFill>
            <a:prstDash val="solid"/>
          </a:ln>
        </p:spPr>
      </p:sp>
      <p:sp>
        <p:nvSpPr>
          <p:cNvPr id="53" name="Shape 44"/>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54" name="Text 45"/>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55" name="Text 46"/>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56" name="Text 47"/>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57" name="Text 48"/>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58" name="Text 49"/>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59" name="Shape 50"/>
          <p:cNvSpPr/>
          <p:nvPr/>
        </p:nvSpPr>
        <p:spPr>
          <a:xfrm>
            <a:off x="2130552" y="1951997"/>
            <a:ext cx="630936" cy="219456"/>
          </a:xfrm>
          <a:prstGeom prst="roundRect">
            <a:avLst>
              <a:gd name="adj" fmla="val 20833"/>
            </a:avLst>
          </a:prstGeom>
          <a:solidFill>
            <a:srgbClr val="FFFFFF">
              <a:alpha val="0"/>
            </a:srgbClr>
          </a:solidFill>
          <a:ln w="31750">
            <a:solidFill>
              <a:srgbClr val="E53935"/>
            </a:solidFill>
            <a:prstDash val="solid"/>
          </a:ln>
        </p:spPr>
      </p:sp>
      <p:sp>
        <p:nvSpPr>
          <p:cNvPr id="60" name="Shape 51"/>
          <p:cNvSpPr/>
          <p:nvPr/>
        </p:nvSpPr>
        <p:spPr>
          <a:xfrm>
            <a:off x="2624328" y="1814837"/>
            <a:ext cx="274320" cy="274320"/>
          </a:xfrm>
          <a:prstGeom prst="ellipse">
            <a:avLst/>
          </a:prstGeom>
          <a:solidFill>
            <a:srgbClr val="E53935"/>
          </a:solidFill>
          <a:ln w="12700">
            <a:solidFill>
              <a:srgbClr val="FFFFFF"/>
            </a:solidFill>
            <a:prstDash val="solid"/>
          </a:ln>
        </p:spPr>
      </p:sp>
      <p:sp>
        <p:nvSpPr>
          <p:cNvPr id="61" name="Text 52"/>
          <p:cNvSpPr txBox="1"/>
          <p:nvPr/>
        </p:nvSpPr>
        <p:spPr>
          <a:xfrm>
            <a:off x="2624328" y="18148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2" name="Image 7" descr="preencoded.png">    </p:cNvPr>
          <p:cNvPicPr>
            <a:picLocks noChangeAspect="1"/>
          </p:cNvPicPr>
          <p:nvPr/>
        </p:nvPicPr>
        <p:blipFill>
          <a:blip r:embed="rId8"/>
          <a:stretch>
            <a:fillRect/>
          </a:stretch>
        </p:blipFill>
        <p:spPr>
          <a:xfrm>
            <a:off x="2475738" y="2070869"/>
            <a:ext cx="237744" cy="237744"/>
          </a:xfrm>
          <a:prstGeom prst="rect">
            <a:avLst/>
          </a:prstGeom>
        </p:spPr>
      </p:pic>
      <p:sp>
        <p:nvSpPr>
          <p:cNvPr id="63" name="Shape 53"/>
          <p:cNvSpPr/>
          <p:nvPr/>
        </p:nvSpPr>
        <p:spPr>
          <a:xfrm>
            <a:off x="2770632" y="1951997"/>
            <a:ext cx="630936" cy="219456"/>
          </a:xfrm>
          <a:prstGeom prst="roundRect">
            <a:avLst>
              <a:gd name="adj" fmla="val 20833"/>
            </a:avLst>
          </a:prstGeom>
          <a:solidFill>
            <a:srgbClr val="FFFFFF">
              <a:alpha val="0"/>
            </a:srgbClr>
          </a:solidFill>
          <a:ln w="31750">
            <a:solidFill>
              <a:srgbClr val="E53935"/>
            </a:solidFill>
            <a:prstDash val="solid"/>
          </a:ln>
        </p:spPr>
      </p:sp>
      <p:sp>
        <p:nvSpPr>
          <p:cNvPr id="64" name="Shape 54"/>
          <p:cNvSpPr/>
          <p:nvPr/>
        </p:nvSpPr>
        <p:spPr>
          <a:xfrm>
            <a:off x="3264408" y="1814837"/>
            <a:ext cx="274320" cy="274320"/>
          </a:xfrm>
          <a:prstGeom prst="ellipse">
            <a:avLst/>
          </a:prstGeom>
          <a:solidFill>
            <a:srgbClr val="E53935"/>
          </a:solidFill>
          <a:ln w="12700">
            <a:solidFill>
              <a:srgbClr val="FFFFFF"/>
            </a:solidFill>
            <a:prstDash val="solid"/>
          </a:ln>
        </p:spPr>
      </p:sp>
      <p:sp>
        <p:nvSpPr>
          <p:cNvPr id="65" name="Text 55"/>
          <p:cNvSpPr txBox="1"/>
          <p:nvPr/>
        </p:nvSpPr>
        <p:spPr>
          <a:xfrm>
            <a:off x="3264408" y="18148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6" name="Image 8" descr="preencoded.png">    </p:cNvPr>
          <p:cNvPicPr>
            <a:picLocks noChangeAspect="1"/>
          </p:cNvPicPr>
          <p:nvPr/>
        </p:nvPicPr>
        <p:blipFill>
          <a:blip r:embed="rId9"/>
          <a:stretch>
            <a:fillRect/>
          </a:stretch>
        </p:blipFill>
        <p:spPr>
          <a:xfrm>
            <a:off x="3115818" y="2070869"/>
            <a:ext cx="237744" cy="237744"/>
          </a:xfrm>
          <a:prstGeom prst="rect">
            <a:avLst/>
          </a:prstGeom>
        </p:spPr>
      </p:pic>
      <p:sp>
        <p:nvSpPr>
          <p:cNvPr id="67" name="Shape 56"/>
          <p:cNvSpPr/>
          <p:nvPr/>
        </p:nvSpPr>
        <p:spPr>
          <a:xfrm>
            <a:off x="4606016" y="1686821"/>
            <a:ext cx="603504" cy="265176"/>
          </a:xfrm>
          <a:prstGeom prst="roundRect">
            <a:avLst>
              <a:gd name="adj" fmla="val 17241"/>
            </a:avLst>
          </a:prstGeom>
          <a:solidFill>
            <a:srgbClr val="FFFFFF">
              <a:alpha val="0"/>
            </a:srgbClr>
          </a:solidFill>
          <a:ln w="31750">
            <a:solidFill>
              <a:srgbClr val="E53935"/>
            </a:solidFill>
            <a:prstDash val="solid"/>
          </a:ln>
        </p:spPr>
      </p:sp>
      <p:sp>
        <p:nvSpPr>
          <p:cNvPr id="68" name="Shape 57"/>
          <p:cNvSpPr/>
          <p:nvPr/>
        </p:nvSpPr>
        <p:spPr>
          <a:xfrm>
            <a:off x="5072360" y="1549661"/>
            <a:ext cx="274320" cy="274320"/>
          </a:xfrm>
          <a:prstGeom prst="ellipse">
            <a:avLst/>
          </a:prstGeom>
          <a:solidFill>
            <a:srgbClr val="E53935"/>
          </a:solidFill>
          <a:ln w="12700">
            <a:solidFill>
              <a:srgbClr val="FFFFFF"/>
            </a:solidFill>
            <a:prstDash val="solid"/>
          </a:ln>
        </p:spPr>
      </p:sp>
      <p:sp>
        <p:nvSpPr>
          <p:cNvPr id="69" name="Text 58"/>
          <p:cNvSpPr txBox="1"/>
          <p:nvPr/>
        </p:nvSpPr>
        <p:spPr>
          <a:xfrm>
            <a:off x="5072360" y="15496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70" name="Image 9" descr="preencoded.png">    </p:cNvPr>
          <p:cNvPicPr>
            <a:picLocks noChangeAspect="1"/>
          </p:cNvPicPr>
          <p:nvPr/>
        </p:nvPicPr>
        <p:blipFill>
          <a:blip r:embed="rId10"/>
          <a:stretch>
            <a:fillRect/>
          </a:stretch>
        </p:blipFill>
        <p:spPr>
          <a:xfrm>
            <a:off x="4936114" y="1830839"/>
            <a:ext cx="237744" cy="237744"/>
          </a:xfrm>
          <a:prstGeom prst="rect">
            <a:avLst/>
          </a:prstGeom>
        </p:spPr>
      </p:pic>
      <p:sp>
        <p:nvSpPr>
          <p:cNvPr id="71" name="Shape 59"/>
          <p:cNvSpPr/>
          <p:nvPr/>
        </p:nvSpPr>
        <p:spPr>
          <a:xfrm>
            <a:off x="4718304" y="2884685"/>
            <a:ext cx="310896" cy="274320"/>
          </a:xfrm>
          <a:prstGeom prst="roundRect">
            <a:avLst>
              <a:gd name="adj" fmla="val 16667"/>
            </a:avLst>
          </a:prstGeom>
          <a:solidFill>
            <a:srgbClr val="FFFFFF">
              <a:alpha val="0"/>
            </a:srgbClr>
          </a:solidFill>
          <a:ln w="31750">
            <a:solidFill>
              <a:srgbClr val="E53935"/>
            </a:solidFill>
            <a:prstDash val="solid"/>
          </a:ln>
        </p:spPr>
      </p:sp>
      <p:sp>
        <p:nvSpPr>
          <p:cNvPr id="72" name="Shape 60"/>
          <p:cNvSpPr/>
          <p:nvPr/>
        </p:nvSpPr>
        <p:spPr>
          <a:xfrm>
            <a:off x="4892040" y="2747525"/>
            <a:ext cx="274320" cy="274320"/>
          </a:xfrm>
          <a:prstGeom prst="ellipse">
            <a:avLst/>
          </a:prstGeom>
          <a:solidFill>
            <a:srgbClr val="E53935"/>
          </a:solidFill>
          <a:ln w="12700">
            <a:solidFill>
              <a:srgbClr val="FFFFFF"/>
            </a:solidFill>
            <a:prstDash val="solid"/>
          </a:ln>
        </p:spPr>
      </p:sp>
      <p:sp>
        <p:nvSpPr>
          <p:cNvPr id="73" name="Text 61"/>
          <p:cNvSpPr txBox="1"/>
          <p:nvPr/>
        </p:nvSpPr>
        <p:spPr>
          <a:xfrm>
            <a:off x="4892040" y="27475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pic>
        <p:nvPicPr>
          <p:cNvPr id="74" name="Image 10" descr="preencoded.png">    </p:cNvPr>
          <p:cNvPicPr>
            <a:picLocks noChangeAspect="1"/>
          </p:cNvPicPr>
          <p:nvPr/>
        </p:nvPicPr>
        <p:blipFill>
          <a:blip r:embed="rId11"/>
          <a:stretch>
            <a:fillRect/>
          </a:stretch>
        </p:blipFill>
        <p:spPr>
          <a:xfrm>
            <a:off x="4887468" y="3033732"/>
            <a:ext cx="237744" cy="237744"/>
          </a:xfrm>
          <a:prstGeom prst="rect">
            <a:avLst/>
          </a:prstGeom>
        </p:spPr>
      </p:pic>
      <p:sp>
        <p:nvSpPr>
          <p:cNvPr id="75" name="Text 6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76" name="Text 6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Kenali bagian Google Forms</a:t>
            </a:r>
            <a:endParaRPr lang="en-US" sz="1800" dirty="0"/>
          </a:p>
        </p:txBody>
      </p:sp>
      <p:sp>
        <p:nvSpPr>
          <p:cNvPr id="77" name="Text 6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Tab Questions untuk membuat pertanyaan, tab Responses untuk melihat jawaban. Tombol Send untuk membagikan.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Formulir Baru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Pendaftaran Ekstrakurikuler Santri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Pendaftaran Ekstrakurikuler Santri</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Pendaftaran Ekstrakurikuler Santri</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Isi formulir ini untuk memilih kegiatan ekstrakurikuler. Data hanya dipakai pengurus.</a:t>
            </a:r>
            <a:endParaRPr lang="en-US" sz="750" dirty="0"/>
          </a:p>
        </p:txBody>
      </p:sp>
      <p:sp>
        <p:nvSpPr>
          <p:cNvPr id="42" name="Shape 33"/>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43" name="Text 34"/>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44" name="Text 35"/>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45" name="Text 36"/>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46" name="Text 37"/>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47" name="Text 38"/>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48" name="Shape 39"/>
          <p:cNvSpPr/>
          <p:nvPr/>
        </p:nvSpPr>
        <p:spPr>
          <a:xfrm>
            <a:off x="1435608" y="2244605"/>
            <a:ext cx="3255264" cy="603504"/>
          </a:xfrm>
          <a:prstGeom prst="roundRect">
            <a:avLst>
              <a:gd name="adj" fmla="val 7576"/>
            </a:avLst>
          </a:prstGeom>
          <a:solidFill>
            <a:srgbClr val="FFFFFF">
              <a:alpha val="0"/>
            </a:srgbClr>
          </a:solidFill>
          <a:ln w="31750">
            <a:solidFill>
              <a:srgbClr val="E53935"/>
            </a:solidFill>
            <a:prstDash val="solid"/>
          </a:ln>
        </p:spPr>
      </p:sp>
      <p:sp>
        <p:nvSpPr>
          <p:cNvPr id="49" name="Shape 40"/>
          <p:cNvSpPr/>
          <p:nvPr/>
        </p:nvSpPr>
        <p:spPr>
          <a:xfrm>
            <a:off x="4553712" y="2107445"/>
            <a:ext cx="274320" cy="274320"/>
          </a:xfrm>
          <a:prstGeom prst="ellipse">
            <a:avLst/>
          </a:prstGeom>
          <a:solidFill>
            <a:srgbClr val="E53935"/>
          </a:solidFill>
          <a:ln w="12700">
            <a:solidFill>
              <a:srgbClr val="FFFFFF"/>
            </a:solidFill>
            <a:prstDash val="solid"/>
          </a:ln>
        </p:spPr>
      </p:sp>
      <p:sp>
        <p:nvSpPr>
          <p:cNvPr id="50" name="Text 41"/>
          <p:cNvSpPr txBox="1"/>
          <p:nvPr/>
        </p:nvSpPr>
        <p:spPr>
          <a:xfrm>
            <a:off x="4553712" y="21074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51" name="Image 7" descr="preencoded.png">    </p:cNvPr>
          <p:cNvPicPr>
            <a:picLocks noChangeAspect="1"/>
          </p:cNvPicPr>
          <p:nvPr/>
        </p:nvPicPr>
        <p:blipFill>
          <a:blip r:embed="rId8"/>
          <a:stretch>
            <a:fillRect/>
          </a:stretch>
        </p:blipFill>
        <p:spPr>
          <a:xfrm>
            <a:off x="3223260" y="2573789"/>
            <a:ext cx="237744" cy="237744"/>
          </a:xfrm>
          <a:prstGeom prst="rect">
            <a:avLst/>
          </a:prstGeom>
        </p:spPr>
      </p:pic>
      <p:sp>
        <p:nvSpPr>
          <p:cNvPr id="52"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3"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Isi judul dan deskripsi</a:t>
            </a:r>
            <a:endParaRPr lang="en-US" sz="1800" dirty="0"/>
          </a:p>
        </p:txBody>
      </p:sp>
      <p:sp>
        <p:nvSpPr>
          <p:cNvPr id="54"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Untitled form, ketik judul. Klik Form description, tulis penjelasan singkat tujuan formulir.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Pertanyaan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Pendaftaran Ekstrakurikuler Santri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Pendaftaran Ekstrakurikuler Santri</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Pendaftaran Ekstrakurikuler Santri</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Isi formulir ini untuk memilih kegiatan ekstrakurikuler. Data hanya dipakai pengurus.</a:t>
            </a:r>
            <a:endParaRPr lang="en-US" sz="750" dirty="0"/>
          </a:p>
        </p:txBody>
      </p:sp>
      <p:sp>
        <p:nvSpPr>
          <p:cNvPr id="42" name="Shape 33"/>
          <p:cNvSpPr/>
          <p:nvPr/>
        </p:nvSpPr>
        <p:spPr>
          <a:xfrm>
            <a:off x="1463040" y="2893829"/>
            <a:ext cx="3200400" cy="813816"/>
          </a:xfrm>
          <a:prstGeom prst="roundRect">
            <a:avLst>
              <a:gd name="adj" fmla="val 5618"/>
            </a:avLst>
          </a:prstGeom>
          <a:solidFill>
            <a:srgbClr val="FFFFFF"/>
          </a:solidFill>
          <a:ln w="12700">
            <a:solidFill>
              <a:srgbClr val="FFFFFF"/>
            </a:solidFill>
            <a:prstDash val="solid"/>
          </a:ln>
        </p:spPr>
      </p:sp>
      <p:sp>
        <p:nvSpPr>
          <p:cNvPr id="43" name="Shape 34"/>
          <p:cNvSpPr/>
          <p:nvPr/>
        </p:nvSpPr>
        <p:spPr>
          <a:xfrm>
            <a:off x="1463040" y="2893829"/>
            <a:ext cx="36576" cy="813816"/>
          </a:xfrm>
          <a:prstGeom prst="rect">
            <a:avLst/>
          </a:prstGeom>
          <a:solidFill>
            <a:srgbClr val="4285F4"/>
          </a:solidFill>
          <a:ln w="12700">
            <a:solidFill>
              <a:srgbClr val="4285F4"/>
            </a:solidFill>
            <a:prstDash val="solid"/>
          </a:ln>
        </p:spPr>
      </p:sp>
      <p:sp>
        <p:nvSpPr>
          <p:cNvPr id="44" name="Text 35"/>
          <p:cNvSpPr txBox="1"/>
          <p:nvPr/>
        </p:nvSpPr>
        <p:spPr>
          <a:xfrm>
            <a:off x="1572768" y="296698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Nama panggilan *</a:t>
            </a:r>
            <a:endParaRPr lang="en-US" sz="850" dirty="0"/>
          </a:p>
        </p:txBody>
      </p:sp>
      <p:sp>
        <p:nvSpPr>
          <p:cNvPr id="45" name="Shape 36"/>
          <p:cNvSpPr/>
          <p:nvPr/>
        </p:nvSpPr>
        <p:spPr>
          <a:xfrm>
            <a:off x="3520440" y="2957837"/>
            <a:ext cx="1051560" cy="219456"/>
          </a:xfrm>
          <a:prstGeom prst="roundRect">
            <a:avLst>
              <a:gd name="adj" fmla="val 12500"/>
            </a:avLst>
          </a:prstGeom>
          <a:solidFill>
            <a:srgbClr val="FFFFFF"/>
          </a:solidFill>
          <a:ln w="9525">
            <a:solidFill>
              <a:srgbClr val="CCCCCC"/>
            </a:solidFill>
            <a:prstDash val="solid"/>
          </a:ln>
        </p:spPr>
      </p:sp>
      <p:sp>
        <p:nvSpPr>
          <p:cNvPr id="46" name="Text 37"/>
          <p:cNvSpPr txBox="1"/>
          <p:nvPr/>
        </p:nvSpPr>
        <p:spPr>
          <a:xfrm>
            <a:off x="3566160" y="2957837"/>
            <a:ext cx="100584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Short answer ▾</a:t>
            </a:r>
            <a:endParaRPr lang="en-US" sz="700" dirty="0"/>
          </a:p>
        </p:txBody>
      </p:sp>
      <p:sp>
        <p:nvSpPr>
          <p:cNvPr id="47" name="Shape 38"/>
          <p:cNvSpPr/>
          <p:nvPr/>
        </p:nvSpPr>
        <p:spPr>
          <a:xfrm>
            <a:off x="1591056" y="3351029"/>
            <a:ext cx="1760220" cy="0"/>
          </a:xfrm>
          <a:prstGeom prst="line">
            <a:avLst/>
          </a:prstGeom>
          <a:noFill/>
          <a:ln w="9525">
            <a:solidFill>
              <a:srgbClr val="BBBBBB"/>
            </a:solidFill>
            <a:prstDash val="dash"/>
          </a:ln>
        </p:spPr>
      </p:sp>
      <p:sp>
        <p:nvSpPr>
          <p:cNvPr id="48" name="Text 39"/>
          <p:cNvSpPr txBox="1"/>
          <p:nvPr/>
        </p:nvSpPr>
        <p:spPr>
          <a:xfrm>
            <a:off x="1591056" y="3223013"/>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Short answer text</a:t>
            </a:r>
            <a:endParaRPr lang="en-US" sz="650" dirty="0"/>
          </a:p>
        </p:txBody>
      </p:sp>
      <p:sp>
        <p:nvSpPr>
          <p:cNvPr id="49" name="Shape 40"/>
          <p:cNvSpPr/>
          <p:nvPr/>
        </p:nvSpPr>
        <p:spPr>
          <a:xfrm>
            <a:off x="1554480" y="3433325"/>
            <a:ext cx="3017520" cy="0"/>
          </a:xfrm>
          <a:prstGeom prst="line">
            <a:avLst/>
          </a:prstGeom>
          <a:noFill/>
          <a:ln w="9525">
            <a:solidFill>
              <a:srgbClr val="E0E0E0"/>
            </a:solidFill>
            <a:prstDash val="solid"/>
          </a:ln>
        </p:spPr>
      </p:sp>
      <p:sp>
        <p:nvSpPr>
          <p:cNvPr id="50" name="Text 41"/>
          <p:cNvSpPr txBox="1"/>
          <p:nvPr/>
        </p:nvSpPr>
        <p:spPr>
          <a:xfrm>
            <a:off x="3840480" y="3469901"/>
            <a:ext cx="4572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Required</a:t>
            </a:r>
            <a:endParaRPr lang="en-US" sz="700" dirty="0"/>
          </a:p>
        </p:txBody>
      </p:sp>
      <p:sp>
        <p:nvSpPr>
          <p:cNvPr id="51" name="Shape 42"/>
          <p:cNvSpPr/>
          <p:nvPr/>
        </p:nvSpPr>
        <p:spPr>
          <a:xfrm>
            <a:off x="4315968" y="3506477"/>
            <a:ext cx="237744" cy="109728"/>
          </a:xfrm>
          <a:prstGeom prst="roundRect">
            <a:avLst>
              <a:gd name="adj" fmla="val 50000"/>
            </a:avLst>
          </a:prstGeom>
          <a:solidFill>
            <a:srgbClr val="B39DDB"/>
          </a:solidFill>
          <a:ln w="12700">
            <a:solidFill>
              <a:srgbClr val="B39DDB"/>
            </a:solidFill>
            <a:prstDash val="solid"/>
          </a:ln>
        </p:spPr>
      </p:sp>
      <p:sp>
        <p:nvSpPr>
          <p:cNvPr id="52" name="Shape 43"/>
          <p:cNvSpPr/>
          <p:nvPr/>
        </p:nvSpPr>
        <p:spPr>
          <a:xfrm>
            <a:off x="4443984" y="3488189"/>
            <a:ext cx="146304" cy="146304"/>
          </a:xfrm>
          <a:prstGeom prst="ellipse">
            <a:avLst/>
          </a:prstGeom>
          <a:solidFill>
            <a:srgbClr val="673AB7"/>
          </a:solidFill>
          <a:ln w="6350">
            <a:solidFill>
              <a:srgbClr val="999999"/>
            </a:solidFill>
            <a:prstDash val="solid"/>
          </a:ln>
        </p:spPr>
      </p:sp>
      <p:sp>
        <p:nvSpPr>
          <p:cNvPr id="53" name="Shape 44"/>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54" name="Text 45"/>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55" name="Text 46"/>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56" name="Text 47"/>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57" name="Text 48"/>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58" name="Text 49"/>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59" name="Shape 50"/>
          <p:cNvSpPr/>
          <p:nvPr/>
        </p:nvSpPr>
        <p:spPr>
          <a:xfrm>
            <a:off x="3520440" y="3195581"/>
            <a:ext cx="1051560" cy="1865376"/>
          </a:xfrm>
          <a:prstGeom prst="rect">
            <a:avLst/>
          </a:prstGeom>
          <a:solidFill>
            <a:srgbClr val="FFFFFF"/>
          </a:solidFill>
          <a:ln w="9525">
            <a:solidFill>
              <a:srgbClr val="AAAAAA"/>
            </a:solidFill>
            <a:prstDash val="solid"/>
          </a:ln>
        </p:spPr>
      </p:sp>
      <p:sp>
        <p:nvSpPr>
          <p:cNvPr id="60" name="Text 51"/>
          <p:cNvSpPr txBox="1"/>
          <p:nvPr/>
        </p:nvSpPr>
        <p:spPr>
          <a:xfrm>
            <a:off x="3630168" y="3223013"/>
            <a:ext cx="8869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Short answer</a:t>
            </a:r>
            <a:endParaRPr lang="en-US" sz="800" dirty="0"/>
          </a:p>
        </p:txBody>
      </p:sp>
      <p:sp>
        <p:nvSpPr>
          <p:cNvPr id="61" name="Text 52"/>
          <p:cNvSpPr txBox="1"/>
          <p:nvPr/>
        </p:nvSpPr>
        <p:spPr>
          <a:xfrm>
            <a:off x="3630168" y="3424181"/>
            <a:ext cx="8869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Paragraph</a:t>
            </a:r>
            <a:endParaRPr lang="en-US" sz="800" dirty="0"/>
          </a:p>
        </p:txBody>
      </p:sp>
      <p:sp>
        <p:nvSpPr>
          <p:cNvPr id="62" name="Shape 53"/>
          <p:cNvSpPr/>
          <p:nvPr/>
        </p:nvSpPr>
        <p:spPr>
          <a:xfrm>
            <a:off x="3557016" y="3716789"/>
            <a:ext cx="978408" cy="0"/>
          </a:xfrm>
          <a:prstGeom prst="line">
            <a:avLst/>
          </a:prstGeom>
          <a:noFill/>
          <a:ln w="6350">
            <a:solidFill>
              <a:srgbClr val="DDDDDD"/>
            </a:solidFill>
            <a:prstDash val="solid"/>
          </a:ln>
        </p:spPr>
      </p:sp>
      <p:sp>
        <p:nvSpPr>
          <p:cNvPr id="63" name="Text 54"/>
          <p:cNvSpPr txBox="1"/>
          <p:nvPr/>
        </p:nvSpPr>
        <p:spPr>
          <a:xfrm>
            <a:off x="3630168" y="3826517"/>
            <a:ext cx="8869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Multiple choice</a:t>
            </a:r>
            <a:endParaRPr lang="en-US" sz="800" dirty="0"/>
          </a:p>
        </p:txBody>
      </p:sp>
      <p:sp>
        <p:nvSpPr>
          <p:cNvPr id="64" name="Text 55"/>
          <p:cNvSpPr txBox="1"/>
          <p:nvPr/>
        </p:nvSpPr>
        <p:spPr>
          <a:xfrm>
            <a:off x="3630168" y="4027685"/>
            <a:ext cx="8869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Checkboxes</a:t>
            </a:r>
            <a:endParaRPr lang="en-US" sz="800" dirty="0"/>
          </a:p>
        </p:txBody>
      </p:sp>
      <p:sp>
        <p:nvSpPr>
          <p:cNvPr id="65" name="Text 56"/>
          <p:cNvSpPr txBox="1"/>
          <p:nvPr/>
        </p:nvSpPr>
        <p:spPr>
          <a:xfrm>
            <a:off x="3630168" y="4228853"/>
            <a:ext cx="8869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Dropdown</a:t>
            </a:r>
            <a:endParaRPr lang="en-US" sz="800" dirty="0"/>
          </a:p>
        </p:txBody>
      </p:sp>
      <p:sp>
        <p:nvSpPr>
          <p:cNvPr id="66" name="Shape 57"/>
          <p:cNvSpPr/>
          <p:nvPr/>
        </p:nvSpPr>
        <p:spPr>
          <a:xfrm>
            <a:off x="3557016" y="4521461"/>
            <a:ext cx="978408" cy="0"/>
          </a:xfrm>
          <a:prstGeom prst="line">
            <a:avLst/>
          </a:prstGeom>
          <a:noFill/>
          <a:ln w="6350">
            <a:solidFill>
              <a:srgbClr val="DDDDDD"/>
            </a:solidFill>
            <a:prstDash val="solid"/>
          </a:ln>
        </p:spPr>
      </p:sp>
      <p:sp>
        <p:nvSpPr>
          <p:cNvPr id="67" name="Text 58"/>
          <p:cNvSpPr txBox="1"/>
          <p:nvPr/>
        </p:nvSpPr>
        <p:spPr>
          <a:xfrm>
            <a:off x="3630168" y="4631189"/>
            <a:ext cx="8869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Date</a:t>
            </a:r>
            <a:endParaRPr lang="en-US" sz="800" dirty="0"/>
          </a:p>
        </p:txBody>
      </p:sp>
      <p:sp>
        <p:nvSpPr>
          <p:cNvPr id="68" name="Text 59"/>
          <p:cNvSpPr txBox="1"/>
          <p:nvPr/>
        </p:nvSpPr>
        <p:spPr>
          <a:xfrm>
            <a:off x="3630168" y="4832357"/>
            <a:ext cx="8869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Time</a:t>
            </a:r>
            <a:endParaRPr lang="en-US" sz="800" dirty="0"/>
          </a:p>
        </p:txBody>
      </p:sp>
      <p:sp>
        <p:nvSpPr>
          <p:cNvPr id="69" name="Shape 60"/>
          <p:cNvSpPr/>
          <p:nvPr/>
        </p:nvSpPr>
        <p:spPr>
          <a:xfrm>
            <a:off x="1536192" y="2930405"/>
            <a:ext cx="1956816" cy="274320"/>
          </a:xfrm>
          <a:prstGeom prst="roundRect">
            <a:avLst>
              <a:gd name="adj" fmla="val 16667"/>
            </a:avLst>
          </a:prstGeom>
          <a:solidFill>
            <a:srgbClr val="FFFFFF">
              <a:alpha val="0"/>
            </a:srgbClr>
          </a:solidFill>
          <a:ln w="31750">
            <a:solidFill>
              <a:srgbClr val="E53935"/>
            </a:solidFill>
            <a:prstDash val="solid"/>
          </a:ln>
        </p:spPr>
      </p:sp>
      <p:sp>
        <p:nvSpPr>
          <p:cNvPr id="70" name="Shape 61"/>
          <p:cNvSpPr/>
          <p:nvPr/>
        </p:nvSpPr>
        <p:spPr>
          <a:xfrm>
            <a:off x="3355848" y="2793245"/>
            <a:ext cx="274320" cy="274320"/>
          </a:xfrm>
          <a:prstGeom prst="ellipse">
            <a:avLst/>
          </a:prstGeom>
          <a:solidFill>
            <a:srgbClr val="E53935"/>
          </a:solidFill>
          <a:ln w="12700">
            <a:solidFill>
              <a:srgbClr val="FFFFFF"/>
            </a:solidFill>
            <a:prstDash val="solid"/>
          </a:ln>
        </p:spPr>
      </p:sp>
      <p:sp>
        <p:nvSpPr>
          <p:cNvPr id="71" name="Text 62"/>
          <p:cNvSpPr txBox="1"/>
          <p:nvPr/>
        </p:nvSpPr>
        <p:spPr>
          <a:xfrm>
            <a:off x="3355848" y="27932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2" name="Image 7" descr="preencoded.png">    </p:cNvPr>
          <p:cNvPicPr>
            <a:picLocks noChangeAspect="1"/>
          </p:cNvPicPr>
          <p:nvPr/>
        </p:nvPicPr>
        <p:blipFill>
          <a:blip r:embed="rId8"/>
          <a:stretch>
            <a:fillRect/>
          </a:stretch>
        </p:blipFill>
        <p:spPr>
          <a:xfrm>
            <a:off x="2610612" y="3079452"/>
            <a:ext cx="237744" cy="237744"/>
          </a:xfrm>
          <a:prstGeom prst="rect">
            <a:avLst/>
          </a:prstGeom>
        </p:spPr>
      </p:pic>
      <p:sp>
        <p:nvSpPr>
          <p:cNvPr id="73" name="Shape 63"/>
          <p:cNvSpPr/>
          <p:nvPr/>
        </p:nvSpPr>
        <p:spPr>
          <a:xfrm>
            <a:off x="3538728" y="3204725"/>
            <a:ext cx="1014984" cy="228600"/>
          </a:xfrm>
          <a:prstGeom prst="roundRect">
            <a:avLst>
              <a:gd name="adj" fmla="val 20000"/>
            </a:avLst>
          </a:prstGeom>
          <a:solidFill>
            <a:srgbClr val="FFFFFF">
              <a:alpha val="0"/>
            </a:srgbClr>
          </a:solidFill>
          <a:ln w="31750">
            <a:solidFill>
              <a:srgbClr val="E53935"/>
            </a:solidFill>
            <a:prstDash val="solid"/>
          </a:ln>
        </p:spPr>
      </p:sp>
      <p:sp>
        <p:nvSpPr>
          <p:cNvPr id="74" name="Shape 64"/>
          <p:cNvSpPr/>
          <p:nvPr/>
        </p:nvSpPr>
        <p:spPr>
          <a:xfrm>
            <a:off x="4416552" y="3067565"/>
            <a:ext cx="274320" cy="274320"/>
          </a:xfrm>
          <a:prstGeom prst="ellipse">
            <a:avLst/>
          </a:prstGeom>
          <a:solidFill>
            <a:srgbClr val="E53935"/>
          </a:solidFill>
          <a:ln w="12700">
            <a:solidFill>
              <a:srgbClr val="FFFFFF"/>
            </a:solidFill>
            <a:prstDash val="solid"/>
          </a:ln>
        </p:spPr>
      </p:sp>
      <p:sp>
        <p:nvSpPr>
          <p:cNvPr id="75" name="Text 65"/>
          <p:cNvSpPr txBox="1"/>
          <p:nvPr/>
        </p:nvSpPr>
        <p:spPr>
          <a:xfrm>
            <a:off x="4416552" y="30675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6" name="Image 8" descr="preencoded.png">    </p:cNvPr>
          <p:cNvPicPr>
            <a:picLocks noChangeAspect="1"/>
          </p:cNvPicPr>
          <p:nvPr/>
        </p:nvPicPr>
        <p:blipFill>
          <a:blip r:embed="rId9"/>
          <a:stretch>
            <a:fillRect/>
          </a:stretch>
        </p:blipFill>
        <p:spPr>
          <a:xfrm>
            <a:off x="4095140" y="3328626"/>
            <a:ext cx="237744" cy="237744"/>
          </a:xfrm>
          <a:prstGeom prst="rect">
            <a:avLst/>
          </a:prstGeom>
        </p:spPr>
      </p:pic>
      <p:sp>
        <p:nvSpPr>
          <p:cNvPr id="77"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8"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Pertanyaan 1: Short answer</a:t>
            </a:r>
            <a:endParaRPr lang="en-US" sz="1800" dirty="0"/>
          </a:p>
        </p:txBody>
      </p:sp>
      <p:sp>
        <p:nvSpPr>
          <p:cNvPr id="79"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kotak pertanyaan. Ketik Nama panggilan. Ubah jenisnya: klik kotak jenis di kanan › Short answer.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Pertanyaan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Pendaftaran Ekstrakurikuler Santri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Pendaftaran Ekstrakurikuler Santri</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Pendaftaran Ekstrakurikuler Santri</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Isi formulir ini untuk memilih kegiatan ekstrakurikuler. Data hanya dipakai pengurus.</a:t>
            </a:r>
            <a:endParaRPr lang="en-US" sz="750" dirty="0"/>
          </a:p>
        </p:txBody>
      </p:sp>
      <p:sp>
        <p:nvSpPr>
          <p:cNvPr id="42" name="Shape 33"/>
          <p:cNvSpPr/>
          <p:nvPr/>
        </p:nvSpPr>
        <p:spPr>
          <a:xfrm>
            <a:off x="1463040" y="2893829"/>
            <a:ext cx="3200400" cy="813816"/>
          </a:xfrm>
          <a:prstGeom prst="roundRect">
            <a:avLst>
              <a:gd name="adj" fmla="val 5618"/>
            </a:avLst>
          </a:prstGeom>
          <a:solidFill>
            <a:srgbClr val="FFFFFF"/>
          </a:solidFill>
          <a:ln w="12700">
            <a:solidFill>
              <a:srgbClr val="FFFFFF"/>
            </a:solidFill>
            <a:prstDash val="solid"/>
          </a:ln>
        </p:spPr>
      </p:sp>
      <p:sp>
        <p:nvSpPr>
          <p:cNvPr id="43" name="Shape 34"/>
          <p:cNvSpPr/>
          <p:nvPr/>
        </p:nvSpPr>
        <p:spPr>
          <a:xfrm>
            <a:off x="1463040" y="2893829"/>
            <a:ext cx="36576" cy="813816"/>
          </a:xfrm>
          <a:prstGeom prst="rect">
            <a:avLst/>
          </a:prstGeom>
          <a:solidFill>
            <a:srgbClr val="4285F4"/>
          </a:solidFill>
          <a:ln w="12700">
            <a:solidFill>
              <a:srgbClr val="4285F4"/>
            </a:solidFill>
            <a:prstDash val="solid"/>
          </a:ln>
        </p:spPr>
      </p:sp>
      <p:sp>
        <p:nvSpPr>
          <p:cNvPr id="44" name="Text 35"/>
          <p:cNvSpPr txBox="1"/>
          <p:nvPr/>
        </p:nvSpPr>
        <p:spPr>
          <a:xfrm>
            <a:off x="1572768" y="296698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Nama panggilan *</a:t>
            </a:r>
            <a:endParaRPr lang="en-US" sz="850" dirty="0"/>
          </a:p>
        </p:txBody>
      </p:sp>
      <p:sp>
        <p:nvSpPr>
          <p:cNvPr id="45" name="Shape 36"/>
          <p:cNvSpPr/>
          <p:nvPr/>
        </p:nvSpPr>
        <p:spPr>
          <a:xfrm>
            <a:off x="3520440" y="2957837"/>
            <a:ext cx="1051560" cy="219456"/>
          </a:xfrm>
          <a:prstGeom prst="roundRect">
            <a:avLst>
              <a:gd name="adj" fmla="val 12500"/>
            </a:avLst>
          </a:prstGeom>
          <a:solidFill>
            <a:srgbClr val="FFFFFF"/>
          </a:solidFill>
          <a:ln w="9525">
            <a:solidFill>
              <a:srgbClr val="CCCCCC"/>
            </a:solidFill>
            <a:prstDash val="solid"/>
          </a:ln>
        </p:spPr>
      </p:sp>
      <p:sp>
        <p:nvSpPr>
          <p:cNvPr id="46" name="Text 37"/>
          <p:cNvSpPr txBox="1"/>
          <p:nvPr/>
        </p:nvSpPr>
        <p:spPr>
          <a:xfrm>
            <a:off x="3566160" y="2957837"/>
            <a:ext cx="100584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Short answer ▾</a:t>
            </a:r>
            <a:endParaRPr lang="en-US" sz="700" dirty="0"/>
          </a:p>
        </p:txBody>
      </p:sp>
      <p:sp>
        <p:nvSpPr>
          <p:cNvPr id="47" name="Shape 38"/>
          <p:cNvSpPr/>
          <p:nvPr/>
        </p:nvSpPr>
        <p:spPr>
          <a:xfrm>
            <a:off x="1591056" y="3351029"/>
            <a:ext cx="1760220" cy="0"/>
          </a:xfrm>
          <a:prstGeom prst="line">
            <a:avLst/>
          </a:prstGeom>
          <a:noFill/>
          <a:ln w="9525">
            <a:solidFill>
              <a:srgbClr val="BBBBBB"/>
            </a:solidFill>
            <a:prstDash val="dash"/>
          </a:ln>
        </p:spPr>
      </p:sp>
      <p:sp>
        <p:nvSpPr>
          <p:cNvPr id="48" name="Text 39"/>
          <p:cNvSpPr txBox="1"/>
          <p:nvPr/>
        </p:nvSpPr>
        <p:spPr>
          <a:xfrm>
            <a:off x="1591056" y="3223013"/>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Short answer text</a:t>
            </a:r>
            <a:endParaRPr lang="en-US" sz="650" dirty="0"/>
          </a:p>
        </p:txBody>
      </p:sp>
      <p:sp>
        <p:nvSpPr>
          <p:cNvPr id="49" name="Shape 40"/>
          <p:cNvSpPr/>
          <p:nvPr/>
        </p:nvSpPr>
        <p:spPr>
          <a:xfrm>
            <a:off x="1554480" y="3433325"/>
            <a:ext cx="3017520" cy="0"/>
          </a:xfrm>
          <a:prstGeom prst="line">
            <a:avLst/>
          </a:prstGeom>
          <a:noFill/>
          <a:ln w="9525">
            <a:solidFill>
              <a:srgbClr val="E0E0E0"/>
            </a:solidFill>
            <a:prstDash val="solid"/>
          </a:ln>
        </p:spPr>
      </p:sp>
      <p:sp>
        <p:nvSpPr>
          <p:cNvPr id="50" name="Text 41"/>
          <p:cNvSpPr txBox="1"/>
          <p:nvPr/>
        </p:nvSpPr>
        <p:spPr>
          <a:xfrm>
            <a:off x="3840480" y="3469901"/>
            <a:ext cx="4572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Required</a:t>
            </a:r>
            <a:endParaRPr lang="en-US" sz="700" dirty="0"/>
          </a:p>
        </p:txBody>
      </p:sp>
      <p:sp>
        <p:nvSpPr>
          <p:cNvPr id="51" name="Shape 42"/>
          <p:cNvSpPr/>
          <p:nvPr/>
        </p:nvSpPr>
        <p:spPr>
          <a:xfrm>
            <a:off x="4315968" y="3506477"/>
            <a:ext cx="237744" cy="109728"/>
          </a:xfrm>
          <a:prstGeom prst="roundRect">
            <a:avLst>
              <a:gd name="adj" fmla="val 50000"/>
            </a:avLst>
          </a:prstGeom>
          <a:solidFill>
            <a:srgbClr val="B39DDB"/>
          </a:solidFill>
          <a:ln w="12700">
            <a:solidFill>
              <a:srgbClr val="B39DDB"/>
            </a:solidFill>
            <a:prstDash val="solid"/>
          </a:ln>
        </p:spPr>
      </p:sp>
      <p:sp>
        <p:nvSpPr>
          <p:cNvPr id="52" name="Shape 43"/>
          <p:cNvSpPr/>
          <p:nvPr/>
        </p:nvSpPr>
        <p:spPr>
          <a:xfrm>
            <a:off x="4443984" y="3488189"/>
            <a:ext cx="146304" cy="146304"/>
          </a:xfrm>
          <a:prstGeom prst="ellipse">
            <a:avLst/>
          </a:prstGeom>
          <a:solidFill>
            <a:srgbClr val="673AB7"/>
          </a:solidFill>
          <a:ln w="6350">
            <a:solidFill>
              <a:srgbClr val="999999"/>
            </a:solidFill>
            <a:prstDash val="solid"/>
          </a:ln>
        </p:spPr>
      </p:sp>
      <p:sp>
        <p:nvSpPr>
          <p:cNvPr id="53" name="Shape 44"/>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54" name="Text 45"/>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55" name="Text 46"/>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56" name="Text 47"/>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57" name="Text 48"/>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58" name="Text 49"/>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59" name="Shape 50"/>
          <p:cNvSpPr/>
          <p:nvPr/>
        </p:nvSpPr>
        <p:spPr>
          <a:xfrm>
            <a:off x="3813048" y="3442469"/>
            <a:ext cx="786384" cy="237744"/>
          </a:xfrm>
          <a:prstGeom prst="roundRect">
            <a:avLst>
              <a:gd name="adj" fmla="val 19231"/>
            </a:avLst>
          </a:prstGeom>
          <a:solidFill>
            <a:srgbClr val="FFFFFF">
              <a:alpha val="0"/>
            </a:srgbClr>
          </a:solidFill>
          <a:ln w="31750">
            <a:solidFill>
              <a:srgbClr val="E53935"/>
            </a:solidFill>
            <a:prstDash val="solid"/>
          </a:ln>
        </p:spPr>
      </p:sp>
      <p:sp>
        <p:nvSpPr>
          <p:cNvPr id="60" name="Shape 51"/>
          <p:cNvSpPr/>
          <p:nvPr/>
        </p:nvSpPr>
        <p:spPr>
          <a:xfrm>
            <a:off x="4462272" y="3305309"/>
            <a:ext cx="274320" cy="274320"/>
          </a:xfrm>
          <a:prstGeom prst="ellipse">
            <a:avLst/>
          </a:prstGeom>
          <a:solidFill>
            <a:srgbClr val="E53935"/>
          </a:solidFill>
          <a:ln w="12700">
            <a:solidFill>
              <a:srgbClr val="FFFFFF"/>
            </a:solidFill>
            <a:prstDash val="solid"/>
          </a:ln>
        </p:spPr>
      </p:sp>
      <p:sp>
        <p:nvSpPr>
          <p:cNvPr id="61" name="Text 52"/>
          <p:cNvSpPr txBox="1"/>
          <p:nvPr/>
        </p:nvSpPr>
        <p:spPr>
          <a:xfrm>
            <a:off x="4462272" y="33053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62" name="Image 7" descr="preencoded.png">    </p:cNvPr>
          <p:cNvPicPr>
            <a:picLocks noChangeAspect="1"/>
          </p:cNvPicPr>
          <p:nvPr/>
        </p:nvPicPr>
        <p:blipFill>
          <a:blip r:embed="rId8"/>
          <a:stretch>
            <a:fillRect/>
          </a:stretch>
        </p:blipFill>
        <p:spPr>
          <a:xfrm>
            <a:off x="4242816" y="3570485"/>
            <a:ext cx="237744" cy="237744"/>
          </a:xfrm>
          <a:prstGeom prst="rect">
            <a:avLst/>
          </a:prstGeom>
        </p:spPr>
      </p:pic>
      <p:sp>
        <p:nvSpPr>
          <p:cNvPr id="63" name="Text 5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64" name="Text 5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Nyalakan Required</a:t>
            </a:r>
            <a:endParaRPr lang="en-US" sz="1800" dirty="0"/>
          </a:p>
        </p:txBody>
      </p:sp>
      <p:sp>
        <p:nvSpPr>
          <p:cNvPr id="65" name="Text 5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bagian bawah kotak pertanyaan, geser tombol Required agar menyala. Pertanyaan wajib diberi tanda *.</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Pertanyaan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Pendaftaran Ekstrakurikuler Santri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Pendaftaran Ekstrakurikuler Santri</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Pendaftaran Ekstrakurikuler Santri</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Isi formulir ini untuk memilih kegiatan ekstrakurikuler. Data hanya dipakai pengurus.</a:t>
            </a:r>
            <a:endParaRPr lang="en-US" sz="750" dirty="0"/>
          </a:p>
        </p:txBody>
      </p:sp>
      <p:sp>
        <p:nvSpPr>
          <p:cNvPr id="42" name="Shape 33"/>
          <p:cNvSpPr/>
          <p:nvPr/>
        </p:nvSpPr>
        <p:spPr>
          <a:xfrm>
            <a:off x="1463040" y="2893829"/>
            <a:ext cx="3200400" cy="585216"/>
          </a:xfrm>
          <a:prstGeom prst="roundRect">
            <a:avLst>
              <a:gd name="adj" fmla="val 7813"/>
            </a:avLst>
          </a:prstGeom>
          <a:solidFill>
            <a:srgbClr val="FFFFFF"/>
          </a:solidFill>
          <a:ln w="12700">
            <a:solidFill>
              <a:srgbClr val="FFFFFF"/>
            </a:solidFill>
            <a:prstDash val="solid"/>
          </a:ln>
        </p:spPr>
      </p:sp>
      <p:sp>
        <p:nvSpPr>
          <p:cNvPr id="43" name="Text 34"/>
          <p:cNvSpPr txBox="1"/>
          <p:nvPr/>
        </p:nvSpPr>
        <p:spPr>
          <a:xfrm>
            <a:off x="1572768" y="296698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Nama panggilan *</a:t>
            </a:r>
            <a:endParaRPr lang="en-US" sz="850" dirty="0"/>
          </a:p>
        </p:txBody>
      </p:sp>
      <p:sp>
        <p:nvSpPr>
          <p:cNvPr id="44" name="Shape 35"/>
          <p:cNvSpPr/>
          <p:nvPr/>
        </p:nvSpPr>
        <p:spPr>
          <a:xfrm>
            <a:off x="1591056" y="3351029"/>
            <a:ext cx="1760220" cy="0"/>
          </a:xfrm>
          <a:prstGeom prst="line">
            <a:avLst/>
          </a:prstGeom>
          <a:noFill/>
          <a:ln w="9525">
            <a:solidFill>
              <a:srgbClr val="BBBBBB"/>
            </a:solidFill>
            <a:prstDash val="dash"/>
          </a:ln>
        </p:spPr>
      </p:sp>
      <p:sp>
        <p:nvSpPr>
          <p:cNvPr id="45" name="Text 36"/>
          <p:cNvSpPr txBox="1"/>
          <p:nvPr/>
        </p:nvSpPr>
        <p:spPr>
          <a:xfrm>
            <a:off x="1591056" y="3223013"/>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Short answer text</a:t>
            </a:r>
            <a:endParaRPr lang="en-US" sz="650" dirty="0"/>
          </a:p>
        </p:txBody>
      </p:sp>
      <p:sp>
        <p:nvSpPr>
          <p:cNvPr id="46" name="Shape 37"/>
          <p:cNvSpPr/>
          <p:nvPr/>
        </p:nvSpPr>
        <p:spPr>
          <a:xfrm>
            <a:off x="1463040" y="3552197"/>
            <a:ext cx="3200400" cy="923544"/>
          </a:xfrm>
          <a:prstGeom prst="roundRect">
            <a:avLst>
              <a:gd name="adj" fmla="val 4950"/>
            </a:avLst>
          </a:prstGeom>
          <a:solidFill>
            <a:srgbClr val="FFFFFF"/>
          </a:solidFill>
          <a:ln w="12700">
            <a:solidFill>
              <a:srgbClr val="FFFFFF"/>
            </a:solidFill>
            <a:prstDash val="solid"/>
          </a:ln>
        </p:spPr>
      </p:sp>
      <p:sp>
        <p:nvSpPr>
          <p:cNvPr id="47" name="Shape 38"/>
          <p:cNvSpPr/>
          <p:nvPr/>
        </p:nvSpPr>
        <p:spPr>
          <a:xfrm>
            <a:off x="1463040" y="3552197"/>
            <a:ext cx="36576" cy="923544"/>
          </a:xfrm>
          <a:prstGeom prst="rect">
            <a:avLst/>
          </a:prstGeom>
          <a:solidFill>
            <a:srgbClr val="4285F4"/>
          </a:solidFill>
          <a:ln w="12700">
            <a:solidFill>
              <a:srgbClr val="4285F4"/>
            </a:solidFill>
            <a:prstDash val="solid"/>
          </a:ln>
        </p:spPr>
      </p:sp>
      <p:sp>
        <p:nvSpPr>
          <p:cNvPr id="48" name="Text 39"/>
          <p:cNvSpPr txBox="1"/>
          <p:nvPr/>
        </p:nvSpPr>
        <p:spPr>
          <a:xfrm>
            <a:off x="1572768" y="3625349"/>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Kelas *</a:t>
            </a:r>
            <a:endParaRPr lang="en-US" sz="850" dirty="0"/>
          </a:p>
        </p:txBody>
      </p:sp>
      <p:sp>
        <p:nvSpPr>
          <p:cNvPr id="49" name="Shape 40"/>
          <p:cNvSpPr/>
          <p:nvPr/>
        </p:nvSpPr>
        <p:spPr>
          <a:xfrm>
            <a:off x="3520440" y="3616205"/>
            <a:ext cx="1051560" cy="219456"/>
          </a:xfrm>
          <a:prstGeom prst="roundRect">
            <a:avLst>
              <a:gd name="adj" fmla="val 12500"/>
            </a:avLst>
          </a:prstGeom>
          <a:solidFill>
            <a:srgbClr val="FFFFFF"/>
          </a:solidFill>
          <a:ln w="9525">
            <a:solidFill>
              <a:srgbClr val="CCCCCC"/>
            </a:solidFill>
            <a:prstDash val="solid"/>
          </a:ln>
        </p:spPr>
      </p:sp>
      <p:sp>
        <p:nvSpPr>
          <p:cNvPr id="50" name="Text 41"/>
          <p:cNvSpPr txBox="1"/>
          <p:nvPr/>
        </p:nvSpPr>
        <p:spPr>
          <a:xfrm>
            <a:off x="3566160" y="3616205"/>
            <a:ext cx="100584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Dropdown ▾</a:t>
            </a:r>
            <a:endParaRPr lang="en-US" sz="700" dirty="0"/>
          </a:p>
        </p:txBody>
      </p:sp>
      <p:sp>
        <p:nvSpPr>
          <p:cNvPr id="51" name="Shape 42"/>
          <p:cNvSpPr/>
          <p:nvPr/>
        </p:nvSpPr>
        <p:spPr>
          <a:xfrm>
            <a:off x="1591056" y="3927101"/>
            <a:ext cx="91440" cy="91440"/>
          </a:xfrm>
          <a:prstGeom prst="ellipse">
            <a:avLst/>
          </a:prstGeom>
          <a:solidFill>
            <a:srgbClr val="FFFFFF"/>
          </a:solidFill>
          <a:ln w="9525">
            <a:solidFill>
              <a:srgbClr val="888888"/>
            </a:solidFill>
            <a:prstDash val="solid"/>
          </a:ln>
        </p:spPr>
      </p:sp>
      <p:sp>
        <p:nvSpPr>
          <p:cNvPr id="52" name="Text 43"/>
          <p:cNvSpPr txBox="1"/>
          <p:nvPr/>
        </p:nvSpPr>
        <p:spPr>
          <a:xfrm>
            <a:off x="1737360" y="3899669"/>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8A</a:t>
            </a:r>
            <a:endParaRPr lang="en-US" sz="750" dirty="0"/>
          </a:p>
        </p:txBody>
      </p:sp>
      <p:sp>
        <p:nvSpPr>
          <p:cNvPr id="53" name="Shape 44"/>
          <p:cNvSpPr/>
          <p:nvPr/>
        </p:nvSpPr>
        <p:spPr>
          <a:xfrm>
            <a:off x="1591056" y="4082549"/>
            <a:ext cx="91440" cy="91440"/>
          </a:xfrm>
          <a:prstGeom prst="ellipse">
            <a:avLst/>
          </a:prstGeom>
          <a:solidFill>
            <a:srgbClr val="FFFFFF"/>
          </a:solidFill>
          <a:ln w="9525">
            <a:solidFill>
              <a:srgbClr val="888888"/>
            </a:solidFill>
            <a:prstDash val="solid"/>
          </a:ln>
        </p:spPr>
      </p:sp>
      <p:sp>
        <p:nvSpPr>
          <p:cNvPr id="54" name="Text 45"/>
          <p:cNvSpPr txBox="1"/>
          <p:nvPr/>
        </p:nvSpPr>
        <p:spPr>
          <a:xfrm>
            <a:off x="1737360" y="4055117"/>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8B</a:t>
            </a:r>
            <a:endParaRPr lang="en-US" sz="750" dirty="0"/>
          </a:p>
        </p:txBody>
      </p:sp>
      <p:sp>
        <p:nvSpPr>
          <p:cNvPr id="55" name="Shape 46"/>
          <p:cNvSpPr/>
          <p:nvPr/>
        </p:nvSpPr>
        <p:spPr>
          <a:xfrm>
            <a:off x="1554480" y="4201421"/>
            <a:ext cx="3017520" cy="0"/>
          </a:xfrm>
          <a:prstGeom prst="line">
            <a:avLst/>
          </a:prstGeom>
          <a:noFill/>
          <a:ln w="9525">
            <a:solidFill>
              <a:srgbClr val="E0E0E0"/>
            </a:solidFill>
            <a:prstDash val="solid"/>
          </a:ln>
        </p:spPr>
      </p:sp>
      <p:sp>
        <p:nvSpPr>
          <p:cNvPr id="56" name="Text 47"/>
          <p:cNvSpPr txBox="1"/>
          <p:nvPr/>
        </p:nvSpPr>
        <p:spPr>
          <a:xfrm>
            <a:off x="3840480" y="4237997"/>
            <a:ext cx="4572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Required</a:t>
            </a:r>
            <a:endParaRPr lang="en-US" sz="700" dirty="0"/>
          </a:p>
        </p:txBody>
      </p:sp>
      <p:sp>
        <p:nvSpPr>
          <p:cNvPr id="57" name="Shape 48"/>
          <p:cNvSpPr/>
          <p:nvPr/>
        </p:nvSpPr>
        <p:spPr>
          <a:xfrm>
            <a:off x="4315968" y="4274573"/>
            <a:ext cx="237744" cy="109728"/>
          </a:xfrm>
          <a:prstGeom prst="roundRect">
            <a:avLst>
              <a:gd name="adj" fmla="val 50000"/>
            </a:avLst>
          </a:prstGeom>
          <a:solidFill>
            <a:srgbClr val="B39DDB"/>
          </a:solidFill>
          <a:ln w="12700">
            <a:solidFill>
              <a:srgbClr val="B39DDB"/>
            </a:solidFill>
            <a:prstDash val="solid"/>
          </a:ln>
        </p:spPr>
      </p:sp>
      <p:sp>
        <p:nvSpPr>
          <p:cNvPr id="58" name="Shape 49"/>
          <p:cNvSpPr/>
          <p:nvPr/>
        </p:nvSpPr>
        <p:spPr>
          <a:xfrm>
            <a:off x="4443984" y="4256285"/>
            <a:ext cx="146304" cy="146304"/>
          </a:xfrm>
          <a:prstGeom prst="ellipse">
            <a:avLst/>
          </a:prstGeom>
          <a:solidFill>
            <a:srgbClr val="673AB7"/>
          </a:solidFill>
          <a:ln w="6350">
            <a:solidFill>
              <a:srgbClr val="999999"/>
            </a:solidFill>
            <a:prstDash val="solid"/>
          </a:ln>
        </p:spPr>
      </p:sp>
      <p:sp>
        <p:nvSpPr>
          <p:cNvPr id="59" name="Shape 50"/>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60" name="Text 51"/>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61" name="Text 52"/>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62" name="Text 53"/>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3" name="Text 54"/>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4" name="Text 55"/>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5" name="Shape 56"/>
          <p:cNvSpPr/>
          <p:nvPr/>
        </p:nvSpPr>
        <p:spPr>
          <a:xfrm>
            <a:off x="4718304" y="2884685"/>
            <a:ext cx="310896" cy="274320"/>
          </a:xfrm>
          <a:prstGeom prst="roundRect">
            <a:avLst>
              <a:gd name="adj" fmla="val 16667"/>
            </a:avLst>
          </a:prstGeom>
          <a:solidFill>
            <a:srgbClr val="FFFFFF">
              <a:alpha val="0"/>
            </a:srgbClr>
          </a:solidFill>
          <a:ln w="31750">
            <a:solidFill>
              <a:srgbClr val="E53935"/>
            </a:solidFill>
            <a:prstDash val="solid"/>
          </a:ln>
        </p:spPr>
      </p:sp>
      <p:sp>
        <p:nvSpPr>
          <p:cNvPr id="66" name="Shape 57"/>
          <p:cNvSpPr/>
          <p:nvPr/>
        </p:nvSpPr>
        <p:spPr>
          <a:xfrm>
            <a:off x="4892040" y="2747525"/>
            <a:ext cx="274320" cy="274320"/>
          </a:xfrm>
          <a:prstGeom prst="ellipse">
            <a:avLst/>
          </a:prstGeom>
          <a:solidFill>
            <a:srgbClr val="E53935"/>
          </a:solidFill>
          <a:ln w="12700">
            <a:solidFill>
              <a:srgbClr val="FFFFFF"/>
            </a:solidFill>
            <a:prstDash val="solid"/>
          </a:ln>
        </p:spPr>
      </p:sp>
      <p:sp>
        <p:nvSpPr>
          <p:cNvPr id="67" name="Text 58"/>
          <p:cNvSpPr txBox="1"/>
          <p:nvPr/>
        </p:nvSpPr>
        <p:spPr>
          <a:xfrm>
            <a:off x="4892040" y="27475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8" name="Image 7" descr="preencoded.png">    </p:cNvPr>
          <p:cNvPicPr>
            <a:picLocks noChangeAspect="1"/>
          </p:cNvPicPr>
          <p:nvPr/>
        </p:nvPicPr>
        <p:blipFill>
          <a:blip r:embed="rId8"/>
          <a:stretch>
            <a:fillRect/>
          </a:stretch>
        </p:blipFill>
        <p:spPr>
          <a:xfrm>
            <a:off x="4887468" y="3033732"/>
            <a:ext cx="237744" cy="237744"/>
          </a:xfrm>
          <a:prstGeom prst="rect">
            <a:avLst/>
          </a:prstGeom>
        </p:spPr>
      </p:pic>
      <p:sp>
        <p:nvSpPr>
          <p:cNvPr id="69" name="Shape 59"/>
          <p:cNvSpPr/>
          <p:nvPr/>
        </p:nvSpPr>
        <p:spPr>
          <a:xfrm>
            <a:off x="1435608" y="3524765"/>
            <a:ext cx="3255264" cy="978408"/>
          </a:xfrm>
          <a:prstGeom prst="roundRect">
            <a:avLst>
              <a:gd name="adj" fmla="val 4673"/>
            </a:avLst>
          </a:prstGeom>
          <a:solidFill>
            <a:srgbClr val="FFFFFF">
              <a:alpha val="0"/>
            </a:srgbClr>
          </a:solidFill>
          <a:ln w="31750">
            <a:solidFill>
              <a:srgbClr val="E53935"/>
            </a:solidFill>
            <a:prstDash val="solid"/>
          </a:ln>
        </p:spPr>
      </p:sp>
      <p:sp>
        <p:nvSpPr>
          <p:cNvPr id="70" name="Shape 60"/>
          <p:cNvSpPr/>
          <p:nvPr/>
        </p:nvSpPr>
        <p:spPr>
          <a:xfrm>
            <a:off x="4553712" y="3387605"/>
            <a:ext cx="274320" cy="274320"/>
          </a:xfrm>
          <a:prstGeom prst="ellipse">
            <a:avLst/>
          </a:prstGeom>
          <a:solidFill>
            <a:srgbClr val="E53935"/>
          </a:solidFill>
          <a:ln w="12700">
            <a:solidFill>
              <a:srgbClr val="FFFFFF"/>
            </a:solidFill>
            <a:prstDash val="solid"/>
          </a:ln>
        </p:spPr>
      </p:sp>
      <p:sp>
        <p:nvSpPr>
          <p:cNvPr id="71" name="Text 61"/>
          <p:cNvSpPr txBox="1"/>
          <p:nvPr/>
        </p:nvSpPr>
        <p:spPr>
          <a:xfrm>
            <a:off x="4553712" y="33876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2" name="Image 8" descr="preencoded.png">    </p:cNvPr>
          <p:cNvPicPr>
            <a:picLocks noChangeAspect="1"/>
          </p:cNvPicPr>
          <p:nvPr/>
        </p:nvPicPr>
        <p:blipFill>
          <a:blip r:embed="rId9"/>
          <a:stretch>
            <a:fillRect/>
          </a:stretch>
        </p:blipFill>
        <p:spPr>
          <a:xfrm>
            <a:off x="3223260" y="4060146"/>
            <a:ext cx="237744" cy="237744"/>
          </a:xfrm>
          <a:prstGeom prst="rect">
            <a:avLst/>
          </a:prstGeom>
        </p:spPr>
      </p:pic>
      <p:sp>
        <p:nvSpPr>
          <p:cNvPr id="73" name="Text 6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74" name="Text 6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 pertanyaan Dropdown: Kelas</a:t>
            </a:r>
            <a:endParaRPr lang="en-US" sz="1800" dirty="0"/>
          </a:p>
        </p:txBody>
      </p:sp>
      <p:sp>
        <p:nvSpPr>
          <p:cNvPr id="75" name="Text 6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tombol + di kanan. Ketik Kelas, pilih jenis Dropdown, isi pilihan 8A dan 8B. Nyalakan Required.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Pertanyaan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Pendaftaran Ekstrakurikuler Santri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Pendaftaran Ekstrakurikuler Santri</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Pendaftaran Ekstrakurikuler Santri</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Isi formulir ini untuk memilih kegiatan ekstrakurikuler. Data hanya dipakai pengurus.</a:t>
            </a:r>
            <a:endParaRPr lang="en-US" sz="750" dirty="0"/>
          </a:p>
        </p:txBody>
      </p:sp>
      <p:sp>
        <p:nvSpPr>
          <p:cNvPr id="42" name="Shape 33"/>
          <p:cNvSpPr/>
          <p:nvPr/>
        </p:nvSpPr>
        <p:spPr>
          <a:xfrm>
            <a:off x="1463040" y="2893829"/>
            <a:ext cx="3200400" cy="585216"/>
          </a:xfrm>
          <a:prstGeom prst="roundRect">
            <a:avLst>
              <a:gd name="adj" fmla="val 7813"/>
            </a:avLst>
          </a:prstGeom>
          <a:solidFill>
            <a:srgbClr val="FFFFFF"/>
          </a:solidFill>
          <a:ln w="12700">
            <a:solidFill>
              <a:srgbClr val="FFFFFF"/>
            </a:solidFill>
            <a:prstDash val="solid"/>
          </a:ln>
        </p:spPr>
      </p:sp>
      <p:sp>
        <p:nvSpPr>
          <p:cNvPr id="43" name="Text 34"/>
          <p:cNvSpPr txBox="1"/>
          <p:nvPr/>
        </p:nvSpPr>
        <p:spPr>
          <a:xfrm>
            <a:off x="1572768" y="296698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Nama panggilan *</a:t>
            </a:r>
            <a:endParaRPr lang="en-US" sz="850" dirty="0"/>
          </a:p>
        </p:txBody>
      </p:sp>
      <p:sp>
        <p:nvSpPr>
          <p:cNvPr id="44" name="Shape 35"/>
          <p:cNvSpPr/>
          <p:nvPr/>
        </p:nvSpPr>
        <p:spPr>
          <a:xfrm>
            <a:off x="1591056" y="3351029"/>
            <a:ext cx="1760220" cy="0"/>
          </a:xfrm>
          <a:prstGeom prst="line">
            <a:avLst/>
          </a:prstGeom>
          <a:noFill/>
          <a:ln w="9525">
            <a:solidFill>
              <a:srgbClr val="BBBBBB"/>
            </a:solidFill>
            <a:prstDash val="dash"/>
          </a:ln>
        </p:spPr>
      </p:sp>
      <p:sp>
        <p:nvSpPr>
          <p:cNvPr id="45" name="Text 36"/>
          <p:cNvSpPr txBox="1"/>
          <p:nvPr/>
        </p:nvSpPr>
        <p:spPr>
          <a:xfrm>
            <a:off x="1591056" y="3223013"/>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Short answer text</a:t>
            </a:r>
            <a:endParaRPr lang="en-US" sz="650" dirty="0"/>
          </a:p>
        </p:txBody>
      </p:sp>
      <p:sp>
        <p:nvSpPr>
          <p:cNvPr id="46" name="Shape 37"/>
          <p:cNvSpPr/>
          <p:nvPr/>
        </p:nvSpPr>
        <p:spPr>
          <a:xfrm>
            <a:off x="1463040" y="3552197"/>
            <a:ext cx="3200400" cy="1234440"/>
          </a:xfrm>
          <a:prstGeom prst="roundRect">
            <a:avLst>
              <a:gd name="adj" fmla="val 3704"/>
            </a:avLst>
          </a:prstGeom>
          <a:solidFill>
            <a:srgbClr val="FFFFFF"/>
          </a:solidFill>
          <a:ln w="12700">
            <a:solidFill>
              <a:srgbClr val="FFFFFF"/>
            </a:solidFill>
            <a:prstDash val="solid"/>
          </a:ln>
        </p:spPr>
      </p:sp>
      <p:sp>
        <p:nvSpPr>
          <p:cNvPr id="47" name="Shape 38"/>
          <p:cNvSpPr/>
          <p:nvPr/>
        </p:nvSpPr>
        <p:spPr>
          <a:xfrm>
            <a:off x="1463040" y="3552197"/>
            <a:ext cx="36576" cy="1234440"/>
          </a:xfrm>
          <a:prstGeom prst="rect">
            <a:avLst/>
          </a:prstGeom>
          <a:solidFill>
            <a:srgbClr val="4285F4"/>
          </a:solidFill>
          <a:ln w="12700">
            <a:solidFill>
              <a:srgbClr val="4285F4"/>
            </a:solidFill>
            <a:prstDash val="solid"/>
          </a:ln>
        </p:spPr>
      </p:sp>
      <p:sp>
        <p:nvSpPr>
          <p:cNvPr id="48" name="Text 39"/>
          <p:cNvSpPr txBox="1"/>
          <p:nvPr/>
        </p:nvSpPr>
        <p:spPr>
          <a:xfrm>
            <a:off x="1572768" y="3625349"/>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Kegiatan yang ingin diikuti *</a:t>
            </a:r>
            <a:endParaRPr lang="en-US" sz="850" dirty="0"/>
          </a:p>
        </p:txBody>
      </p:sp>
      <p:sp>
        <p:nvSpPr>
          <p:cNvPr id="49" name="Shape 40"/>
          <p:cNvSpPr/>
          <p:nvPr/>
        </p:nvSpPr>
        <p:spPr>
          <a:xfrm>
            <a:off x="3520440" y="3616205"/>
            <a:ext cx="1051560" cy="219456"/>
          </a:xfrm>
          <a:prstGeom prst="roundRect">
            <a:avLst>
              <a:gd name="adj" fmla="val 12500"/>
            </a:avLst>
          </a:prstGeom>
          <a:solidFill>
            <a:srgbClr val="FFFFFF"/>
          </a:solidFill>
          <a:ln w="9525">
            <a:solidFill>
              <a:srgbClr val="CCCCCC"/>
            </a:solidFill>
            <a:prstDash val="solid"/>
          </a:ln>
        </p:spPr>
      </p:sp>
      <p:sp>
        <p:nvSpPr>
          <p:cNvPr id="50" name="Text 41"/>
          <p:cNvSpPr txBox="1"/>
          <p:nvPr/>
        </p:nvSpPr>
        <p:spPr>
          <a:xfrm>
            <a:off x="3566160" y="3616205"/>
            <a:ext cx="100584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Multiple choice ▾</a:t>
            </a:r>
            <a:endParaRPr lang="en-US" sz="700" dirty="0"/>
          </a:p>
        </p:txBody>
      </p:sp>
      <p:sp>
        <p:nvSpPr>
          <p:cNvPr id="51" name="Shape 42"/>
          <p:cNvSpPr/>
          <p:nvPr/>
        </p:nvSpPr>
        <p:spPr>
          <a:xfrm>
            <a:off x="1591056" y="3927101"/>
            <a:ext cx="91440" cy="91440"/>
          </a:xfrm>
          <a:prstGeom prst="ellipse">
            <a:avLst/>
          </a:prstGeom>
          <a:solidFill>
            <a:srgbClr val="FFFFFF"/>
          </a:solidFill>
          <a:ln w="9525">
            <a:solidFill>
              <a:srgbClr val="888888"/>
            </a:solidFill>
            <a:prstDash val="solid"/>
          </a:ln>
        </p:spPr>
      </p:sp>
      <p:sp>
        <p:nvSpPr>
          <p:cNvPr id="52" name="Text 43"/>
          <p:cNvSpPr txBox="1"/>
          <p:nvPr/>
        </p:nvSpPr>
        <p:spPr>
          <a:xfrm>
            <a:off x="1737360" y="3899669"/>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Pramuka</a:t>
            </a:r>
            <a:endParaRPr lang="en-US" sz="750" dirty="0"/>
          </a:p>
        </p:txBody>
      </p:sp>
      <p:sp>
        <p:nvSpPr>
          <p:cNvPr id="53" name="Shape 44"/>
          <p:cNvSpPr/>
          <p:nvPr/>
        </p:nvSpPr>
        <p:spPr>
          <a:xfrm>
            <a:off x="1591056" y="4082549"/>
            <a:ext cx="91440" cy="91440"/>
          </a:xfrm>
          <a:prstGeom prst="ellipse">
            <a:avLst/>
          </a:prstGeom>
          <a:solidFill>
            <a:srgbClr val="FFFFFF"/>
          </a:solidFill>
          <a:ln w="9525">
            <a:solidFill>
              <a:srgbClr val="888888"/>
            </a:solidFill>
            <a:prstDash val="solid"/>
          </a:ln>
        </p:spPr>
      </p:sp>
      <p:sp>
        <p:nvSpPr>
          <p:cNvPr id="54" name="Text 45"/>
          <p:cNvSpPr txBox="1"/>
          <p:nvPr/>
        </p:nvSpPr>
        <p:spPr>
          <a:xfrm>
            <a:off x="1737360" y="4055117"/>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Kaligrafi</a:t>
            </a:r>
            <a:endParaRPr lang="en-US" sz="750" dirty="0"/>
          </a:p>
        </p:txBody>
      </p:sp>
      <p:sp>
        <p:nvSpPr>
          <p:cNvPr id="55" name="Shape 46"/>
          <p:cNvSpPr/>
          <p:nvPr/>
        </p:nvSpPr>
        <p:spPr>
          <a:xfrm>
            <a:off x="1591056" y="4237997"/>
            <a:ext cx="91440" cy="91440"/>
          </a:xfrm>
          <a:prstGeom prst="ellipse">
            <a:avLst/>
          </a:prstGeom>
          <a:solidFill>
            <a:srgbClr val="FFFFFF"/>
          </a:solidFill>
          <a:ln w="9525">
            <a:solidFill>
              <a:srgbClr val="888888"/>
            </a:solidFill>
            <a:prstDash val="solid"/>
          </a:ln>
        </p:spPr>
      </p:sp>
      <p:sp>
        <p:nvSpPr>
          <p:cNvPr id="56" name="Text 47"/>
          <p:cNvSpPr txBox="1"/>
          <p:nvPr/>
        </p:nvSpPr>
        <p:spPr>
          <a:xfrm>
            <a:off x="1737360" y="4210565"/>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Futsal</a:t>
            </a:r>
            <a:endParaRPr lang="en-US" sz="750" dirty="0"/>
          </a:p>
        </p:txBody>
      </p:sp>
      <p:sp>
        <p:nvSpPr>
          <p:cNvPr id="57" name="Shape 48"/>
          <p:cNvSpPr/>
          <p:nvPr/>
        </p:nvSpPr>
        <p:spPr>
          <a:xfrm>
            <a:off x="1591056" y="4393445"/>
            <a:ext cx="91440" cy="91440"/>
          </a:xfrm>
          <a:prstGeom prst="ellipse">
            <a:avLst/>
          </a:prstGeom>
          <a:solidFill>
            <a:srgbClr val="FFFFFF"/>
          </a:solidFill>
          <a:ln w="9525">
            <a:solidFill>
              <a:srgbClr val="888888"/>
            </a:solidFill>
            <a:prstDash val="solid"/>
          </a:ln>
        </p:spPr>
      </p:sp>
      <p:sp>
        <p:nvSpPr>
          <p:cNvPr id="58" name="Text 49"/>
          <p:cNvSpPr txBox="1"/>
          <p:nvPr/>
        </p:nvSpPr>
        <p:spPr>
          <a:xfrm>
            <a:off x="1737360" y="4366013"/>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Tahsin</a:t>
            </a:r>
            <a:endParaRPr lang="en-US" sz="750" dirty="0"/>
          </a:p>
        </p:txBody>
      </p:sp>
      <p:sp>
        <p:nvSpPr>
          <p:cNvPr id="59" name="Shape 50"/>
          <p:cNvSpPr/>
          <p:nvPr/>
        </p:nvSpPr>
        <p:spPr>
          <a:xfrm>
            <a:off x="1554480" y="4512317"/>
            <a:ext cx="3017520" cy="0"/>
          </a:xfrm>
          <a:prstGeom prst="line">
            <a:avLst/>
          </a:prstGeom>
          <a:noFill/>
          <a:ln w="9525">
            <a:solidFill>
              <a:srgbClr val="E0E0E0"/>
            </a:solidFill>
            <a:prstDash val="solid"/>
          </a:ln>
        </p:spPr>
      </p:sp>
      <p:sp>
        <p:nvSpPr>
          <p:cNvPr id="60" name="Text 51"/>
          <p:cNvSpPr txBox="1"/>
          <p:nvPr/>
        </p:nvSpPr>
        <p:spPr>
          <a:xfrm>
            <a:off x="3840480" y="4548893"/>
            <a:ext cx="4572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Required</a:t>
            </a:r>
            <a:endParaRPr lang="en-US" sz="700" dirty="0"/>
          </a:p>
        </p:txBody>
      </p:sp>
      <p:sp>
        <p:nvSpPr>
          <p:cNvPr id="61" name="Shape 52"/>
          <p:cNvSpPr/>
          <p:nvPr/>
        </p:nvSpPr>
        <p:spPr>
          <a:xfrm>
            <a:off x="4315968" y="4585469"/>
            <a:ext cx="237744" cy="109728"/>
          </a:xfrm>
          <a:prstGeom prst="roundRect">
            <a:avLst>
              <a:gd name="adj" fmla="val 50000"/>
            </a:avLst>
          </a:prstGeom>
          <a:solidFill>
            <a:srgbClr val="B39DDB"/>
          </a:solidFill>
          <a:ln w="12700">
            <a:solidFill>
              <a:srgbClr val="B39DDB"/>
            </a:solidFill>
            <a:prstDash val="solid"/>
          </a:ln>
        </p:spPr>
      </p:sp>
      <p:sp>
        <p:nvSpPr>
          <p:cNvPr id="62" name="Shape 53"/>
          <p:cNvSpPr/>
          <p:nvPr/>
        </p:nvSpPr>
        <p:spPr>
          <a:xfrm>
            <a:off x="4443984" y="4567181"/>
            <a:ext cx="146304" cy="146304"/>
          </a:xfrm>
          <a:prstGeom prst="ellipse">
            <a:avLst/>
          </a:prstGeom>
          <a:solidFill>
            <a:srgbClr val="673AB7"/>
          </a:solidFill>
          <a:ln w="6350">
            <a:solidFill>
              <a:srgbClr val="999999"/>
            </a:solidFill>
            <a:prstDash val="solid"/>
          </a:ln>
        </p:spPr>
      </p:sp>
      <p:sp>
        <p:nvSpPr>
          <p:cNvPr id="63" name="Shape 54"/>
          <p:cNvSpPr/>
          <p:nvPr/>
        </p:nvSpPr>
        <p:spPr>
          <a:xfrm>
            <a:off x="1463040" y="4859789"/>
            <a:ext cx="3200400" cy="585216"/>
          </a:xfrm>
          <a:prstGeom prst="roundRect">
            <a:avLst>
              <a:gd name="adj" fmla="val 7813"/>
            </a:avLst>
          </a:prstGeom>
          <a:solidFill>
            <a:srgbClr val="FFFFFF"/>
          </a:solidFill>
          <a:ln w="12700">
            <a:solidFill>
              <a:srgbClr val="FFFFFF"/>
            </a:solidFill>
            <a:prstDash val="solid"/>
          </a:ln>
        </p:spPr>
      </p:sp>
      <p:sp>
        <p:nvSpPr>
          <p:cNvPr id="64" name="Text 55"/>
          <p:cNvSpPr txBox="1"/>
          <p:nvPr/>
        </p:nvSpPr>
        <p:spPr>
          <a:xfrm>
            <a:off x="1572768" y="493294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Alasan memilih kegiatan</a:t>
            </a:r>
            <a:endParaRPr lang="en-US" sz="850" dirty="0"/>
          </a:p>
        </p:txBody>
      </p:sp>
      <p:sp>
        <p:nvSpPr>
          <p:cNvPr id="65" name="Shape 56"/>
          <p:cNvSpPr/>
          <p:nvPr/>
        </p:nvSpPr>
        <p:spPr>
          <a:xfrm>
            <a:off x="1591056" y="5316989"/>
            <a:ext cx="1760220" cy="0"/>
          </a:xfrm>
          <a:prstGeom prst="line">
            <a:avLst/>
          </a:prstGeom>
          <a:noFill/>
          <a:ln w="9525">
            <a:solidFill>
              <a:srgbClr val="BBBBBB"/>
            </a:solidFill>
            <a:prstDash val="dash"/>
          </a:ln>
        </p:spPr>
      </p:sp>
      <p:sp>
        <p:nvSpPr>
          <p:cNvPr id="66" name="Text 57"/>
          <p:cNvSpPr txBox="1"/>
          <p:nvPr/>
        </p:nvSpPr>
        <p:spPr>
          <a:xfrm>
            <a:off x="1591056" y="5188973"/>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Paragraph</a:t>
            </a:r>
            <a:endParaRPr lang="en-US" sz="650" dirty="0"/>
          </a:p>
        </p:txBody>
      </p:sp>
      <p:sp>
        <p:nvSpPr>
          <p:cNvPr id="67" name="Shape 58"/>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68" name="Text 59"/>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69" name="Text 60"/>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70" name="Text 61"/>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71" name="Text 62"/>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72" name="Text 63"/>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73" name="Shape 64"/>
          <p:cNvSpPr/>
          <p:nvPr/>
        </p:nvSpPr>
        <p:spPr>
          <a:xfrm>
            <a:off x="1435608" y="3524765"/>
            <a:ext cx="3255264" cy="1289304"/>
          </a:xfrm>
          <a:prstGeom prst="roundRect">
            <a:avLst>
              <a:gd name="adj" fmla="val 3546"/>
            </a:avLst>
          </a:prstGeom>
          <a:solidFill>
            <a:srgbClr val="FFFFFF">
              <a:alpha val="0"/>
            </a:srgbClr>
          </a:solidFill>
          <a:ln w="31750">
            <a:solidFill>
              <a:srgbClr val="E53935"/>
            </a:solidFill>
            <a:prstDash val="solid"/>
          </a:ln>
        </p:spPr>
      </p:sp>
      <p:sp>
        <p:nvSpPr>
          <p:cNvPr id="74" name="Shape 65"/>
          <p:cNvSpPr/>
          <p:nvPr/>
        </p:nvSpPr>
        <p:spPr>
          <a:xfrm>
            <a:off x="4553712" y="3387605"/>
            <a:ext cx="274320" cy="274320"/>
          </a:xfrm>
          <a:prstGeom prst="ellipse">
            <a:avLst/>
          </a:prstGeom>
          <a:solidFill>
            <a:srgbClr val="E53935"/>
          </a:solidFill>
          <a:ln w="12700">
            <a:solidFill>
              <a:srgbClr val="FFFFFF"/>
            </a:solidFill>
            <a:prstDash val="solid"/>
          </a:ln>
        </p:spPr>
      </p:sp>
      <p:sp>
        <p:nvSpPr>
          <p:cNvPr id="75" name="Text 66"/>
          <p:cNvSpPr txBox="1"/>
          <p:nvPr/>
        </p:nvSpPr>
        <p:spPr>
          <a:xfrm>
            <a:off x="4553712" y="33876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6" name="Image 7" descr="preencoded.png">    </p:cNvPr>
          <p:cNvPicPr>
            <a:picLocks noChangeAspect="1"/>
          </p:cNvPicPr>
          <p:nvPr/>
        </p:nvPicPr>
        <p:blipFill>
          <a:blip r:embed="rId8"/>
          <a:stretch>
            <a:fillRect/>
          </a:stretch>
        </p:blipFill>
        <p:spPr>
          <a:xfrm>
            <a:off x="3223260" y="4231139"/>
            <a:ext cx="237744" cy="237744"/>
          </a:xfrm>
          <a:prstGeom prst="rect">
            <a:avLst/>
          </a:prstGeom>
        </p:spPr>
      </p:pic>
      <p:sp>
        <p:nvSpPr>
          <p:cNvPr id="77" name="Shape 67"/>
          <p:cNvSpPr/>
          <p:nvPr/>
        </p:nvSpPr>
        <p:spPr>
          <a:xfrm>
            <a:off x="1435608" y="4832357"/>
            <a:ext cx="3255264" cy="640080"/>
          </a:xfrm>
          <a:prstGeom prst="roundRect">
            <a:avLst>
              <a:gd name="adj" fmla="val 7143"/>
            </a:avLst>
          </a:prstGeom>
          <a:solidFill>
            <a:srgbClr val="FFFFFF">
              <a:alpha val="0"/>
            </a:srgbClr>
          </a:solidFill>
          <a:ln w="31750">
            <a:solidFill>
              <a:srgbClr val="E53935"/>
            </a:solidFill>
            <a:prstDash val="solid"/>
          </a:ln>
        </p:spPr>
      </p:sp>
      <p:sp>
        <p:nvSpPr>
          <p:cNvPr id="78" name="Shape 68"/>
          <p:cNvSpPr/>
          <p:nvPr/>
        </p:nvSpPr>
        <p:spPr>
          <a:xfrm>
            <a:off x="4553712" y="4695197"/>
            <a:ext cx="274320" cy="274320"/>
          </a:xfrm>
          <a:prstGeom prst="ellipse">
            <a:avLst/>
          </a:prstGeom>
          <a:solidFill>
            <a:srgbClr val="E53935"/>
          </a:solidFill>
          <a:ln w="12700">
            <a:solidFill>
              <a:srgbClr val="FFFFFF"/>
            </a:solidFill>
            <a:prstDash val="solid"/>
          </a:ln>
        </p:spPr>
      </p:sp>
      <p:sp>
        <p:nvSpPr>
          <p:cNvPr id="79" name="Text 69"/>
          <p:cNvSpPr txBox="1"/>
          <p:nvPr/>
        </p:nvSpPr>
        <p:spPr>
          <a:xfrm>
            <a:off x="4553712" y="469519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0" name="Image 8" descr="preencoded.png">    </p:cNvPr>
          <p:cNvPicPr>
            <a:picLocks noChangeAspect="1"/>
          </p:cNvPicPr>
          <p:nvPr/>
        </p:nvPicPr>
        <p:blipFill>
          <a:blip r:embed="rId9"/>
          <a:stretch>
            <a:fillRect/>
          </a:stretch>
        </p:blipFill>
        <p:spPr>
          <a:xfrm>
            <a:off x="3223260" y="5181658"/>
            <a:ext cx="237744" cy="237744"/>
          </a:xfrm>
          <a:prstGeom prst="rect">
            <a:avLst/>
          </a:prstGeom>
        </p:spPr>
      </p:pic>
      <p:sp>
        <p:nvSpPr>
          <p:cNvPr id="81" name="Text 7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82" name="Text 7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 pilihan ganda dan paragraf</a:t>
            </a:r>
            <a:endParaRPr lang="en-US" sz="1800" dirty="0"/>
          </a:p>
        </p:txBody>
      </p:sp>
      <p:sp>
        <p:nvSpPr>
          <p:cNvPr id="83" name="Text 7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Pertanyaan 3: Kegiatan yang ingin diikuti (Multiple choice, 4 pilihan). Pertanyaan 4: Alasan memilih (Paragraph).</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Pratinjau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Pendaftaran Ekstrakurikuler Santri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Pendaftaran Ekstrakurikuler Santri</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Pendaftaran Ekstrakurikuler Santri</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Isi formulir ini untuk memilih kegiatan ekstrakurikuler. Data hanya dipakai pengurus.</a:t>
            </a:r>
            <a:endParaRPr lang="en-US" sz="750" dirty="0"/>
          </a:p>
        </p:txBody>
      </p:sp>
      <p:sp>
        <p:nvSpPr>
          <p:cNvPr id="42" name="Shape 33"/>
          <p:cNvSpPr/>
          <p:nvPr/>
        </p:nvSpPr>
        <p:spPr>
          <a:xfrm>
            <a:off x="1463040" y="2893829"/>
            <a:ext cx="3200400" cy="585216"/>
          </a:xfrm>
          <a:prstGeom prst="roundRect">
            <a:avLst>
              <a:gd name="adj" fmla="val 7813"/>
            </a:avLst>
          </a:prstGeom>
          <a:solidFill>
            <a:srgbClr val="FFFFFF"/>
          </a:solidFill>
          <a:ln w="12700">
            <a:solidFill>
              <a:srgbClr val="FFFFFF"/>
            </a:solidFill>
            <a:prstDash val="solid"/>
          </a:ln>
        </p:spPr>
      </p:sp>
      <p:sp>
        <p:nvSpPr>
          <p:cNvPr id="43" name="Text 34"/>
          <p:cNvSpPr txBox="1"/>
          <p:nvPr/>
        </p:nvSpPr>
        <p:spPr>
          <a:xfrm>
            <a:off x="1572768" y="296698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Nama panggilan *</a:t>
            </a:r>
            <a:endParaRPr lang="en-US" sz="850" dirty="0"/>
          </a:p>
        </p:txBody>
      </p:sp>
      <p:sp>
        <p:nvSpPr>
          <p:cNvPr id="44" name="Shape 35"/>
          <p:cNvSpPr/>
          <p:nvPr/>
        </p:nvSpPr>
        <p:spPr>
          <a:xfrm>
            <a:off x="1591056" y="3351029"/>
            <a:ext cx="1760220" cy="0"/>
          </a:xfrm>
          <a:prstGeom prst="line">
            <a:avLst/>
          </a:prstGeom>
          <a:noFill/>
          <a:ln w="9525">
            <a:solidFill>
              <a:srgbClr val="BBBBBB"/>
            </a:solidFill>
            <a:prstDash val="dash"/>
          </a:ln>
        </p:spPr>
      </p:sp>
      <p:sp>
        <p:nvSpPr>
          <p:cNvPr id="45" name="Text 36"/>
          <p:cNvSpPr txBox="1"/>
          <p:nvPr/>
        </p:nvSpPr>
        <p:spPr>
          <a:xfrm>
            <a:off x="1591056" y="3223013"/>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Short answer text</a:t>
            </a:r>
            <a:endParaRPr lang="en-US" sz="650" dirty="0"/>
          </a:p>
        </p:txBody>
      </p:sp>
      <p:sp>
        <p:nvSpPr>
          <p:cNvPr id="46" name="Shape 37"/>
          <p:cNvSpPr/>
          <p:nvPr/>
        </p:nvSpPr>
        <p:spPr>
          <a:xfrm>
            <a:off x="1463040" y="3552197"/>
            <a:ext cx="3200400" cy="1005840"/>
          </a:xfrm>
          <a:prstGeom prst="roundRect">
            <a:avLst>
              <a:gd name="adj" fmla="val 4545"/>
            </a:avLst>
          </a:prstGeom>
          <a:solidFill>
            <a:srgbClr val="FFFFFF"/>
          </a:solidFill>
          <a:ln w="12700">
            <a:solidFill>
              <a:srgbClr val="FFFFFF"/>
            </a:solidFill>
            <a:prstDash val="solid"/>
          </a:ln>
        </p:spPr>
      </p:sp>
      <p:sp>
        <p:nvSpPr>
          <p:cNvPr id="47" name="Text 38"/>
          <p:cNvSpPr txBox="1"/>
          <p:nvPr/>
        </p:nvSpPr>
        <p:spPr>
          <a:xfrm>
            <a:off x="1572768" y="3625349"/>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Kegiatan yang ingin diikuti *</a:t>
            </a:r>
            <a:endParaRPr lang="en-US" sz="850" dirty="0"/>
          </a:p>
        </p:txBody>
      </p:sp>
      <p:sp>
        <p:nvSpPr>
          <p:cNvPr id="48" name="Shape 39"/>
          <p:cNvSpPr/>
          <p:nvPr/>
        </p:nvSpPr>
        <p:spPr>
          <a:xfrm>
            <a:off x="1591056" y="3927101"/>
            <a:ext cx="91440" cy="91440"/>
          </a:xfrm>
          <a:prstGeom prst="ellipse">
            <a:avLst/>
          </a:prstGeom>
          <a:solidFill>
            <a:srgbClr val="FFFFFF"/>
          </a:solidFill>
          <a:ln w="9525">
            <a:solidFill>
              <a:srgbClr val="888888"/>
            </a:solidFill>
            <a:prstDash val="solid"/>
          </a:ln>
        </p:spPr>
      </p:sp>
      <p:sp>
        <p:nvSpPr>
          <p:cNvPr id="49" name="Text 40"/>
          <p:cNvSpPr txBox="1"/>
          <p:nvPr/>
        </p:nvSpPr>
        <p:spPr>
          <a:xfrm>
            <a:off x="1737360" y="3899669"/>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Pramuka</a:t>
            </a:r>
            <a:endParaRPr lang="en-US" sz="750" dirty="0"/>
          </a:p>
        </p:txBody>
      </p:sp>
      <p:sp>
        <p:nvSpPr>
          <p:cNvPr id="50" name="Shape 41"/>
          <p:cNvSpPr/>
          <p:nvPr/>
        </p:nvSpPr>
        <p:spPr>
          <a:xfrm>
            <a:off x="1591056" y="4082549"/>
            <a:ext cx="91440" cy="91440"/>
          </a:xfrm>
          <a:prstGeom prst="ellipse">
            <a:avLst/>
          </a:prstGeom>
          <a:solidFill>
            <a:srgbClr val="FFFFFF"/>
          </a:solidFill>
          <a:ln w="9525">
            <a:solidFill>
              <a:srgbClr val="888888"/>
            </a:solidFill>
            <a:prstDash val="solid"/>
          </a:ln>
        </p:spPr>
      </p:sp>
      <p:sp>
        <p:nvSpPr>
          <p:cNvPr id="51" name="Text 42"/>
          <p:cNvSpPr txBox="1"/>
          <p:nvPr/>
        </p:nvSpPr>
        <p:spPr>
          <a:xfrm>
            <a:off x="1737360" y="4055117"/>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Kaligrafi</a:t>
            </a:r>
            <a:endParaRPr lang="en-US" sz="750" dirty="0"/>
          </a:p>
        </p:txBody>
      </p:sp>
      <p:sp>
        <p:nvSpPr>
          <p:cNvPr id="52" name="Shape 43"/>
          <p:cNvSpPr/>
          <p:nvPr/>
        </p:nvSpPr>
        <p:spPr>
          <a:xfrm>
            <a:off x="1591056" y="4237997"/>
            <a:ext cx="91440" cy="91440"/>
          </a:xfrm>
          <a:prstGeom prst="ellipse">
            <a:avLst/>
          </a:prstGeom>
          <a:solidFill>
            <a:srgbClr val="FFFFFF"/>
          </a:solidFill>
          <a:ln w="9525">
            <a:solidFill>
              <a:srgbClr val="888888"/>
            </a:solidFill>
            <a:prstDash val="solid"/>
          </a:ln>
        </p:spPr>
      </p:sp>
      <p:sp>
        <p:nvSpPr>
          <p:cNvPr id="53" name="Text 44"/>
          <p:cNvSpPr txBox="1"/>
          <p:nvPr/>
        </p:nvSpPr>
        <p:spPr>
          <a:xfrm>
            <a:off x="1737360" y="4210565"/>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Futsal</a:t>
            </a:r>
            <a:endParaRPr lang="en-US" sz="750" dirty="0"/>
          </a:p>
        </p:txBody>
      </p:sp>
      <p:sp>
        <p:nvSpPr>
          <p:cNvPr id="54" name="Shape 45"/>
          <p:cNvSpPr/>
          <p:nvPr/>
        </p:nvSpPr>
        <p:spPr>
          <a:xfrm>
            <a:off x="1591056" y="4393445"/>
            <a:ext cx="91440" cy="91440"/>
          </a:xfrm>
          <a:prstGeom prst="ellipse">
            <a:avLst/>
          </a:prstGeom>
          <a:solidFill>
            <a:srgbClr val="FFFFFF"/>
          </a:solidFill>
          <a:ln w="9525">
            <a:solidFill>
              <a:srgbClr val="888888"/>
            </a:solidFill>
            <a:prstDash val="solid"/>
          </a:ln>
        </p:spPr>
      </p:sp>
      <p:sp>
        <p:nvSpPr>
          <p:cNvPr id="55" name="Text 46"/>
          <p:cNvSpPr txBox="1"/>
          <p:nvPr/>
        </p:nvSpPr>
        <p:spPr>
          <a:xfrm>
            <a:off x="1737360" y="4366013"/>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Tahsin</a:t>
            </a:r>
            <a:endParaRPr lang="en-US" sz="750" dirty="0"/>
          </a:p>
        </p:txBody>
      </p:sp>
      <p:sp>
        <p:nvSpPr>
          <p:cNvPr id="56" name="Shape 47"/>
          <p:cNvSpPr/>
          <p:nvPr/>
        </p:nvSpPr>
        <p:spPr>
          <a:xfrm>
            <a:off x="1463040" y="4631189"/>
            <a:ext cx="3200400" cy="585216"/>
          </a:xfrm>
          <a:prstGeom prst="roundRect">
            <a:avLst>
              <a:gd name="adj" fmla="val 7813"/>
            </a:avLst>
          </a:prstGeom>
          <a:solidFill>
            <a:srgbClr val="FFFFFF"/>
          </a:solidFill>
          <a:ln w="12700">
            <a:solidFill>
              <a:srgbClr val="FFFFFF"/>
            </a:solidFill>
            <a:prstDash val="solid"/>
          </a:ln>
        </p:spPr>
      </p:sp>
      <p:sp>
        <p:nvSpPr>
          <p:cNvPr id="57" name="Text 48"/>
          <p:cNvSpPr txBox="1"/>
          <p:nvPr/>
        </p:nvSpPr>
        <p:spPr>
          <a:xfrm>
            <a:off x="1572768" y="470434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Alasan memilih kegiatan</a:t>
            </a:r>
            <a:endParaRPr lang="en-US" sz="850" dirty="0"/>
          </a:p>
        </p:txBody>
      </p:sp>
      <p:sp>
        <p:nvSpPr>
          <p:cNvPr id="58" name="Shape 49"/>
          <p:cNvSpPr/>
          <p:nvPr/>
        </p:nvSpPr>
        <p:spPr>
          <a:xfrm>
            <a:off x="1591056" y="5088389"/>
            <a:ext cx="1760220" cy="0"/>
          </a:xfrm>
          <a:prstGeom prst="line">
            <a:avLst/>
          </a:prstGeom>
          <a:noFill/>
          <a:ln w="9525">
            <a:solidFill>
              <a:srgbClr val="BBBBBB"/>
            </a:solidFill>
            <a:prstDash val="dash"/>
          </a:ln>
        </p:spPr>
      </p:sp>
      <p:sp>
        <p:nvSpPr>
          <p:cNvPr id="59" name="Text 50"/>
          <p:cNvSpPr txBox="1"/>
          <p:nvPr/>
        </p:nvSpPr>
        <p:spPr>
          <a:xfrm>
            <a:off x="1591056" y="4960373"/>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Paragraph</a:t>
            </a:r>
            <a:endParaRPr lang="en-US" sz="650" dirty="0"/>
          </a:p>
        </p:txBody>
      </p:sp>
      <p:sp>
        <p:nvSpPr>
          <p:cNvPr id="60" name="Shape 51"/>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61" name="Text 52"/>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62" name="Text 53"/>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63" name="Text 54"/>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4" name="Text 55"/>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5" name="Text 56"/>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6" name="Shape 57"/>
          <p:cNvSpPr/>
          <p:nvPr/>
        </p:nvSpPr>
        <p:spPr>
          <a:xfrm>
            <a:off x="4267688" y="1677677"/>
            <a:ext cx="274320" cy="274320"/>
          </a:xfrm>
          <a:prstGeom prst="roundRect">
            <a:avLst>
              <a:gd name="adj" fmla="val 16667"/>
            </a:avLst>
          </a:prstGeom>
          <a:solidFill>
            <a:srgbClr val="FFFFFF">
              <a:alpha val="0"/>
            </a:srgbClr>
          </a:solidFill>
          <a:ln w="31750">
            <a:solidFill>
              <a:srgbClr val="E53935"/>
            </a:solidFill>
            <a:prstDash val="solid"/>
          </a:ln>
        </p:spPr>
      </p:sp>
      <p:sp>
        <p:nvSpPr>
          <p:cNvPr id="67" name="Shape 58"/>
          <p:cNvSpPr/>
          <p:nvPr/>
        </p:nvSpPr>
        <p:spPr>
          <a:xfrm>
            <a:off x="4404848" y="1540517"/>
            <a:ext cx="274320" cy="274320"/>
          </a:xfrm>
          <a:prstGeom prst="ellipse">
            <a:avLst/>
          </a:prstGeom>
          <a:solidFill>
            <a:srgbClr val="E53935"/>
          </a:solidFill>
          <a:ln w="12700">
            <a:solidFill>
              <a:srgbClr val="FFFFFF"/>
            </a:solidFill>
            <a:prstDash val="solid"/>
          </a:ln>
        </p:spPr>
      </p:sp>
      <p:sp>
        <p:nvSpPr>
          <p:cNvPr id="68" name="Text 59"/>
          <p:cNvSpPr txBox="1"/>
          <p:nvPr/>
        </p:nvSpPr>
        <p:spPr>
          <a:xfrm>
            <a:off x="4404848" y="1540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pic>
        <p:nvPicPr>
          <p:cNvPr id="69" name="Image 7" descr="preencoded.png">    </p:cNvPr>
          <p:cNvPicPr>
            <a:picLocks noChangeAspect="1"/>
          </p:cNvPicPr>
          <p:nvPr/>
        </p:nvPicPr>
        <p:blipFill>
          <a:blip r:embed="rId8"/>
          <a:stretch>
            <a:fillRect/>
          </a:stretch>
        </p:blipFill>
        <p:spPr>
          <a:xfrm>
            <a:off x="4414906" y="1824896"/>
            <a:ext cx="237744" cy="237744"/>
          </a:xfrm>
          <a:prstGeom prst="rect">
            <a:avLst/>
          </a:prstGeom>
        </p:spPr>
      </p:pic>
      <p:sp>
        <p:nvSpPr>
          <p:cNvPr id="70" name="Text 6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71" name="Text 6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ikon mata untuk pratinjau</a:t>
            </a:r>
            <a:endParaRPr lang="en-US" sz="1800" dirty="0"/>
          </a:p>
        </p:txBody>
      </p:sp>
      <p:sp>
        <p:nvSpPr>
          <p:cNvPr id="72" name="Text 6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ikon mata (Preview) di kanan atas. Formulir tampil seperti yang dilihat pengisi. Coba isi untuk menguji.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Tambahkan ke formulirmu, lalu tunjukkan kepada guru: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Pertanyaan Checkboxes: Hari yang bisa kamu ikuti (Senin–Kamis).</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Pertanyaan Date: Tanggal mulai bisa mengikuti kegiatan.</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Ganti nama file formulir di Drive menjadi Form_Ekskul_NamaKamu.</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Uji dengan Preview: semua pertanyaan wajib sudah bertanda *.</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Formulir punya judul dan deskripsi</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minimal 4 pertanyaan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Jenis pertanyaan sudah tepat</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Pertanyaan penting diberi Required</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kelebihan formulir digital dibanding kertas?</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Kapan kita memakai pilihan ganda, dan kapan jawaban singkat?</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Data yang dititipkan orang lain adalah amanah. Tanyakan hanya yang benar-benar diperlukan.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Membuat formulir lebih lengkap: validasi, bagian, dan pengaturan.</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02</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Formulir yang Rapi &amp; Aman</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Bagian, validasi, dan pengaturan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 Google Forms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Pernahkah kalian mengisi formulir yang terlalu panjang sampai malas meneruskan?</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02</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Membagi formulir menjadi beberapa bagian (section)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Menambahkan validasi agar jawaban sesuai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Mengatur pesan konfirmasi dan batas pengisian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Tiga Fitur Penting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Section (Bagian)</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Membagi formulir menjadi beberapa halaman, misalnya Data Diri lalu Pilihan Kegiatan.</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Response validation</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Memastikan jawaban sesuai aturan, misalnya harus angka 1–100.</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Settings</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Mengatur pesan setelah mengirim, satu jawaban per orang, dan lainnya.</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Contoh Validasi Jawaban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3931920" cy="2194560"/>
          </a:xfrm>
          <a:prstGeom prst="roundRect">
            <a:avLst>
              <a:gd name="adj" fmla="val 3333"/>
            </a:avLst>
          </a:prstGeom>
          <a:solidFill>
            <a:srgbClr val="FFFFFF"/>
          </a:solidFill>
          <a:ln w="12700">
            <a:solidFill>
              <a:srgbClr val="CCCCCC"/>
            </a:solidFill>
            <a:prstDash val="solid"/>
          </a:ln>
        </p:spPr>
      </p:sp>
      <p:sp>
        <p:nvSpPr>
          <p:cNvPr id="10" name="Text 6"/>
          <p:cNvSpPr txBox="1"/>
          <p:nvPr/>
        </p:nvSpPr>
        <p:spPr>
          <a:xfrm>
            <a:off x="640080" y="1234440"/>
            <a:ext cx="3566160" cy="32004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Berapa juz hafalanmu saat ini? *</a:t>
            </a:r>
            <a:endParaRPr lang="en-US" sz="1300" dirty="0"/>
          </a:p>
        </p:txBody>
      </p:sp>
      <p:sp>
        <p:nvSpPr>
          <p:cNvPr id="11" name="Shape 7"/>
          <p:cNvSpPr/>
          <p:nvPr/>
        </p:nvSpPr>
        <p:spPr>
          <a:xfrm>
            <a:off x="640080" y="1965960"/>
            <a:ext cx="2286000" cy="0"/>
          </a:xfrm>
          <a:prstGeom prst="line">
            <a:avLst/>
          </a:prstGeom>
          <a:noFill/>
          <a:ln w="19050">
            <a:solidFill>
              <a:srgbClr val="C62828"/>
            </a:solidFill>
            <a:prstDash val="solid"/>
          </a:ln>
        </p:spPr>
      </p:sp>
      <p:sp>
        <p:nvSpPr>
          <p:cNvPr id="12" name="Text 8"/>
          <p:cNvSpPr txBox="1"/>
          <p:nvPr/>
        </p:nvSpPr>
        <p:spPr>
          <a:xfrm>
            <a:off x="640080" y="1645920"/>
            <a:ext cx="2286000" cy="30175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tiga</a:t>
            </a:r>
            <a:endParaRPr lang="en-US" sz="1300" dirty="0"/>
          </a:p>
        </p:txBody>
      </p:sp>
      <p:sp>
        <p:nvSpPr>
          <p:cNvPr id="13" name="Text 9"/>
          <p:cNvSpPr txBox="1"/>
          <p:nvPr/>
        </p:nvSpPr>
        <p:spPr>
          <a:xfrm>
            <a:off x="640080" y="2057400"/>
            <a:ext cx="3566160" cy="274320"/>
          </a:xfrm>
          <a:prstGeom prst="rect">
            <a:avLst/>
          </a:prstGeom>
          <a:noFill/>
          <a:ln/>
        </p:spPr>
        <p:txBody>
          <a:bodyPr wrap="square" lIns="0" tIns="0" rIns="0" bIns="0" rtlCol="0" anchor="t"/>
          <a:lstStyle/>
          <a:p>
            <a:pPr indent="0" marL="0">
              <a:buNone/>
            </a:pPr>
            <a:r>
              <a:rPr lang="en-US" sz="1200" dirty="0">
                <a:solidFill>
                  <a:srgbClr val="C62828"/>
                </a:solidFill>
                <a:latin typeface="Calibri" pitchFamily="34" charset="0"/>
                <a:ea typeface="Calibri" pitchFamily="34" charset="-122"/>
                <a:cs typeface="Calibri" pitchFamily="34" charset="-120"/>
              </a:rPr>
              <a:t>⚠ Masukkan angka antara 0 dan 30</a:t>
            </a:r>
            <a:endParaRPr lang="en-US" sz="1200" dirty="0"/>
          </a:p>
        </p:txBody>
      </p:sp>
      <p:sp>
        <p:nvSpPr>
          <p:cNvPr id="14" name="Text 10"/>
          <p:cNvSpPr txBox="1"/>
          <p:nvPr/>
        </p:nvSpPr>
        <p:spPr>
          <a:xfrm>
            <a:off x="640080" y="2514600"/>
            <a:ext cx="3566160" cy="548640"/>
          </a:xfrm>
          <a:prstGeom prst="rect">
            <a:avLst/>
          </a:prstGeom>
          <a:noFill/>
          <a:ln/>
        </p:spPr>
        <p:txBody>
          <a:bodyPr wrap="square" lIns="0" tIns="0" rIns="0" bIns="0" rtlCol="0" anchor="t"/>
          <a:lstStyle/>
          <a:p>
            <a:pPr indent="0" marL="0">
              <a:buNone/>
            </a:pPr>
            <a:r>
              <a:rPr lang="en-US" sz="1200" i="1" dirty="0">
                <a:solidFill>
                  <a:srgbClr val="5F6F68"/>
                </a:solidFill>
                <a:latin typeface="Calibri" pitchFamily="34" charset="0"/>
                <a:ea typeface="Calibri" pitchFamily="34" charset="-122"/>
                <a:cs typeface="Calibri" pitchFamily="34" charset="-120"/>
              </a:rPr>
              <a:t>Contoh: jawaban "tiga" ditolak, jawaban "3" diterima.</a:t>
            </a:r>
            <a:endParaRPr lang="en-US" sz="1200" dirty="0"/>
          </a:p>
        </p:txBody>
      </p:sp>
      <p:sp>
        <p:nvSpPr>
          <p:cNvPr id="15" name="Shape 11"/>
          <p:cNvSpPr/>
          <p:nvPr/>
        </p:nvSpPr>
        <p:spPr>
          <a:xfrm>
            <a:off x="4754880" y="1143000"/>
            <a:ext cx="3931920" cy="3474720"/>
          </a:xfrm>
          <a:prstGeom prst="roundRect">
            <a:avLst>
              <a:gd name="adj" fmla="val 2632"/>
            </a:avLst>
          </a:prstGeom>
          <a:solidFill>
            <a:srgbClr val="E6F2EC"/>
          </a:solidFill>
          <a:ln w="12700">
            <a:solidFill>
              <a:srgbClr val="E6F2EC"/>
            </a:solidFill>
            <a:prstDash val="solid"/>
          </a:ln>
        </p:spPr>
      </p:sp>
      <p:sp>
        <p:nvSpPr>
          <p:cNvPr id="16" name="Text 12"/>
          <p:cNvSpPr txBox="1"/>
          <p:nvPr/>
        </p:nvSpPr>
        <p:spPr>
          <a:xfrm>
            <a:off x="4937760" y="1234440"/>
            <a:ext cx="3566160" cy="320040"/>
          </a:xfrm>
          <a:prstGeom prst="rect">
            <a:avLst/>
          </a:prstGeom>
          <a:noFill/>
          <a:ln/>
        </p:spPr>
        <p:txBody>
          <a:bodyPr wrap="square" lIns="0" tIns="0" rIns="0" bIns="0" rtlCol="0" anchor="t"/>
          <a:lstStyle/>
          <a:p>
            <a:pPr indent="0" marL="0">
              <a:buNone/>
            </a:pPr>
            <a:r>
              <a:rPr lang="en-US" sz="1500" b="1" dirty="0">
                <a:solidFill>
                  <a:srgbClr val="0F4C3A"/>
                </a:solidFill>
                <a:latin typeface="Cambria" pitchFamily="34" charset="0"/>
                <a:ea typeface="Cambria" pitchFamily="34" charset="-122"/>
                <a:cs typeface="Cambria" pitchFamily="34" charset="-120"/>
              </a:rPr>
              <a:t>Aturan validasi</a:t>
            </a:r>
            <a:endParaRPr lang="en-US" sz="1500" dirty="0"/>
          </a:p>
        </p:txBody>
      </p:sp>
      <p:sp>
        <p:nvSpPr>
          <p:cNvPr id="17" name="Text 13"/>
          <p:cNvSpPr txBox="1"/>
          <p:nvPr/>
        </p:nvSpPr>
        <p:spPr>
          <a:xfrm>
            <a:off x="4937760" y="1691640"/>
            <a:ext cx="3566160" cy="320040"/>
          </a:xfrm>
          <a:prstGeom prst="rect">
            <a:avLst/>
          </a:prstGeom>
          <a:noFill/>
          <a:ln/>
        </p:spPr>
        <p:txBody>
          <a:bodyPr wrap="square" lIns="0" tIns="0" rIns="0" bIns="0" rtlCol="0" anchor="t"/>
          <a:lstStyle/>
          <a:p>
            <a:pPr indent="0" marL="0">
              <a:buNone/>
            </a:pPr>
            <a:r>
              <a:rPr lang="en-US" sz="1350" b="1" dirty="0">
                <a:solidFill>
                  <a:srgbClr val="1F7A5C"/>
                </a:solidFill>
                <a:latin typeface="Courier New" pitchFamily="34" charset="0"/>
                <a:ea typeface="Courier New" pitchFamily="34" charset="-122"/>
                <a:cs typeface="Courier New" pitchFamily="34" charset="-120"/>
              </a:rPr>
              <a:t>Number › Between</a:t>
            </a:r>
            <a:endParaRPr lang="en-US" sz="1350" dirty="0"/>
          </a:p>
        </p:txBody>
      </p:sp>
      <p:sp>
        <p:nvSpPr>
          <p:cNvPr id="18" name="Text 14"/>
          <p:cNvSpPr txBox="1"/>
          <p:nvPr/>
        </p:nvSpPr>
        <p:spPr>
          <a:xfrm>
            <a:off x="4937760" y="2011680"/>
            <a:ext cx="356616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Angka dalam rentang, mis. 0 sampai 30</a:t>
            </a:r>
            <a:endParaRPr lang="en-US" sz="1250" dirty="0"/>
          </a:p>
        </p:txBody>
      </p:sp>
      <p:sp>
        <p:nvSpPr>
          <p:cNvPr id="19" name="Text 15"/>
          <p:cNvSpPr txBox="1"/>
          <p:nvPr/>
        </p:nvSpPr>
        <p:spPr>
          <a:xfrm>
            <a:off x="4937760" y="2560320"/>
            <a:ext cx="3566160" cy="320040"/>
          </a:xfrm>
          <a:prstGeom prst="rect">
            <a:avLst/>
          </a:prstGeom>
          <a:noFill/>
          <a:ln/>
        </p:spPr>
        <p:txBody>
          <a:bodyPr wrap="square" lIns="0" tIns="0" rIns="0" bIns="0" rtlCol="0" anchor="t"/>
          <a:lstStyle/>
          <a:p>
            <a:pPr indent="0" marL="0">
              <a:buNone/>
            </a:pPr>
            <a:r>
              <a:rPr lang="en-US" sz="1350" b="1" dirty="0">
                <a:solidFill>
                  <a:srgbClr val="1F7A5C"/>
                </a:solidFill>
                <a:latin typeface="Courier New" pitchFamily="34" charset="0"/>
                <a:ea typeface="Courier New" pitchFamily="34" charset="-122"/>
                <a:cs typeface="Courier New" pitchFamily="34" charset="-120"/>
              </a:rPr>
              <a:t>Text › Length</a:t>
            </a:r>
            <a:endParaRPr lang="en-US" sz="1350" dirty="0"/>
          </a:p>
        </p:txBody>
      </p:sp>
      <p:sp>
        <p:nvSpPr>
          <p:cNvPr id="20" name="Text 16"/>
          <p:cNvSpPr txBox="1"/>
          <p:nvPr/>
        </p:nvSpPr>
        <p:spPr>
          <a:xfrm>
            <a:off x="4937760" y="2880360"/>
            <a:ext cx="356616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Jumlah huruf maksimal</a:t>
            </a:r>
            <a:endParaRPr lang="en-US" sz="1250" dirty="0"/>
          </a:p>
        </p:txBody>
      </p:sp>
      <p:sp>
        <p:nvSpPr>
          <p:cNvPr id="21" name="Text 17"/>
          <p:cNvSpPr txBox="1"/>
          <p:nvPr/>
        </p:nvSpPr>
        <p:spPr>
          <a:xfrm>
            <a:off x="4937760" y="3429000"/>
            <a:ext cx="3566160" cy="320040"/>
          </a:xfrm>
          <a:prstGeom prst="rect">
            <a:avLst/>
          </a:prstGeom>
          <a:noFill/>
          <a:ln/>
        </p:spPr>
        <p:txBody>
          <a:bodyPr wrap="square" lIns="0" tIns="0" rIns="0" bIns="0" rtlCol="0" anchor="t"/>
          <a:lstStyle/>
          <a:p>
            <a:pPr indent="0" marL="0">
              <a:buNone/>
            </a:pPr>
            <a:r>
              <a:rPr lang="en-US" sz="1350" b="1" dirty="0">
                <a:solidFill>
                  <a:srgbClr val="1F7A5C"/>
                </a:solidFill>
                <a:latin typeface="Courier New" pitchFamily="34" charset="0"/>
                <a:ea typeface="Courier New" pitchFamily="34" charset="-122"/>
                <a:cs typeface="Courier New" pitchFamily="34" charset="-120"/>
              </a:rPr>
              <a:t>Number › Is number</a:t>
            </a:r>
            <a:endParaRPr lang="en-US" sz="1350" dirty="0"/>
          </a:p>
        </p:txBody>
      </p:sp>
      <p:sp>
        <p:nvSpPr>
          <p:cNvPr id="22" name="Text 18"/>
          <p:cNvSpPr txBox="1"/>
          <p:nvPr/>
        </p:nvSpPr>
        <p:spPr>
          <a:xfrm>
            <a:off x="4937760" y="3749040"/>
            <a:ext cx="356616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Harus berupa angka</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Merapikan Formulir</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Lanjutkan formulir pekan lalu</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Membagi menjadi bagian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Menambah validasi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Pengaturan dan pesan konfirmasi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Bagian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Pendaftaran Ekstrakurikuler Santri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Pendaftaran Ekstrakurikuler Santri</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Pendaftaran Ekstrakurikuler Santri</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Isi formulir ini untuk memilih kegiatan ekstrakurikuler. Data hanya dipakai pengurus.</a:t>
            </a:r>
            <a:endParaRPr lang="en-US" sz="750" dirty="0"/>
          </a:p>
        </p:txBody>
      </p:sp>
      <p:sp>
        <p:nvSpPr>
          <p:cNvPr id="42" name="Shape 33"/>
          <p:cNvSpPr/>
          <p:nvPr/>
        </p:nvSpPr>
        <p:spPr>
          <a:xfrm>
            <a:off x="1463040" y="2893829"/>
            <a:ext cx="3200400" cy="585216"/>
          </a:xfrm>
          <a:prstGeom prst="roundRect">
            <a:avLst>
              <a:gd name="adj" fmla="val 7813"/>
            </a:avLst>
          </a:prstGeom>
          <a:solidFill>
            <a:srgbClr val="FFFFFF"/>
          </a:solidFill>
          <a:ln w="12700">
            <a:solidFill>
              <a:srgbClr val="FFFFFF"/>
            </a:solidFill>
            <a:prstDash val="solid"/>
          </a:ln>
        </p:spPr>
      </p:sp>
      <p:sp>
        <p:nvSpPr>
          <p:cNvPr id="43" name="Text 34"/>
          <p:cNvSpPr txBox="1"/>
          <p:nvPr/>
        </p:nvSpPr>
        <p:spPr>
          <a:xfrm>
            <a:off x="1572768" y="296698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Nama panggilan *</a:t>
            </a:r>
            <a:endParaRPr lang="en-US" sz="850" dirty="0"/>
          </a:p>
        </p:txBody>
      </p:sp>
      <p:sp>
        <p:nvSpPr>
          <p:cNvPr id="44" name="Shape 35"/>
          <p:cNvSpPr/>
          <p:nvPr/>
        </p:nvSpPr>
        <p:spPr>
          <a:xfrm>
            <a:off x="1591056" y="3351029"/>
            <a:ext cx="1760220" cy="0"/>
          </a:xfrm>
          <a:prstGeom prst="line">
            <a:avLst/>
          </a:prstGeom>
          <a:noFill/>
          <a:ln w="9525">
            <a:solidFill>
              <a:srgbClr val="BBBBBB"/>
            </a:solidFill>
            <a:prstDash val="dash"/>
          </a:ln>
        </p:spPr>
      </p:sp>
      <p:sp>
        <p:nvSpPr>
          <p:cNvPr id="45" name="Text 36"/>
          <p:cNvSpPr txBox="1"/>
          <p:nvPr/>
        </p:nvSpPr>
        <p:spPr>
          <a:xfrm>
            <a:off x="1591056" y="3223013"/>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Short answer text</a:t>
            </a:r>
            <a:endParaRPr lang="en-US" sz="650" dirty="0"/>
          </a:p>
        </p:txBody>
      </p:sp>
      <p:sp>
        <p:nvSpPr>
          <p:cNvPr id="46" name="Shape 37"/>
          <p:cNvSpPr/>
          <p:nvPr/>
        </p:nvSpPr>
        <p:spPr>
          <a:xfrm>
            <a:off x="1463040" y="3552197"/>
            <a:ext cx="3200400" cy="923544"/>
          </a:xfrm>
          <a:prstGeom prst="roundRect">
            <a:avLst>
              <a:gd name="adj" fmla="val 4950"/>
            </a:avLst>
          </a:prstGeom>
          <a:solidFill>
            <a:srgbClr val="FFFFFF"/>
          </a:solidFill>
          <a:ln w="12700">
            <a:solidFill>
              <a:srgbClr val="FFFFFF"/>
            </a:solidFill>
            <a:prstDash val="solid"/>
          </a:ln>
        </p:spPr>
      </p:sp>
      <p:sp>
        <p:nvSpPr>
          <p:cNvPr id="47" name="Shape 38"/>
          <p:cNvSpPr/>
          <p:nvPr/>
        </p:nvSpPr>
        <p:spPr>
          <a:xfrm>
            <a:off x="1463040" y="3552197"/>
            <a:ext cx="36576" cy="923544"/>
          </a:xfrm>
          <a:prstGeom prst="rect">
            <a:avLst/>
          </a:prstGeom>
          <a:solidFill>
            <a:srgbClr val="4285F4"/>
          </a:solidFill>
          <a:ln w="12700">
            <a:solidFill>
              <a:srgbClr val="4285F4"/>
            </a:solidFill>
            <a:prstDash val="solid"/>
          </a:ln>
        </p:spPr>
      </p:sp>
      <p:sp>
        <p:nvSpPr>
          <p:cNvPr id="48" name="Text 39"/>
          <p:cNvSpPr txBox="1"/>
          <p:nvPr/>
        </p:nvSpPr>
        <p:spPr>
          <a:xfrm>
            <a:off x="1572768" y="3625349"/>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Kelas *</a:t>
            </a:r>
            <a:endParaRPr lang="en-US" sz="850" dirty="0"/>
          </a:p>
        </p:txBody>
      </p:sp>
      <p:sp>
        <p:nvSpPr>
          <p:cNvPr id="49" name="Shape 40"/>
          <p:cNvSpPr/>
          <p:nvPr/>
        </p:nvSpPr>
        <p:spPr>
          <a:xfrm>
            <a:off x="3520440" y="3616205"/>
            <a:ext cx="1051560" cy="219456"/>
          </a:xfrm>
          <a:prstGeom prst="roundRect">
            <a:avLst>
              <a:gd name="adj" fmla="val 12500"/>
            </a:avLst>
          </a:prstGeom>
          <a:solidFill>
            <a:srgbClr val="FFFFFF"/>
          </a:solidFill>
          <a:ln w="9525">
            <a:solidFill>
              <a:srgbClr val="CCCCCC"/>
            </a:solidFill>
            <a:prstDash val="solid"/>
          </a:ln>
        </p:spPr>
      </p:sp>
      <p:sp>
        <p:nvSpPr>
          <p:cNvPr id="50" name="Text 41"/>
          <p:cNvSpPr txBox="1"/>
          <p:nvPr/>
        </p:nvSpPr>
        <p:spPr>
          <a:xfrm>
            <a:off x="3566160" y="3616205"/>
            <a:ext cx="100584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Dropdown ▾</a:t>
            </a:r>
            <a:endParaRPr lang="en-US" sz="700" dirty="0"/>
          </a:p>
        </p:txBody>
      </p:sp>
      <p:sp>
        <p:nvSpPr>
          <p:cNvPr id="51" name="Shape 42"/>
          <p:cNvSpPr/>
          <p:nvPr/>
        </p:nvSpPr>
        <p:spPr>
          <a:xfrm>
            <a:off x="1591056" y="3927101"/>
            <a:ext cx="91440" cy="91440"/>
          </a:xfrm>
          <a:prstGeom prst="ellipse">
            <a:avLst/>
          </a:prstGeom>
          <a:solidFill>
            <a:srgbClr val="FFFFFF"/>
          </a:solidFill>
          <a:ln w="9525">
            <a:solidFill>
              <a:srgbClr val="888888"/>
            </a:solidFill>
            <a:prstDash val="solid"/>
          </a:ln>
        </p:spPr>
      </p:sp>
      <p:sp>
        <p:nvSpPr>
          <p:cNvPr id="52" name="Text 43"/>
          <p:cNvSpPr txBox="1"/>
          <p:nvPr/>
        </p:nvSpPr>
        <p:spPr>
          <a:xfrm>
            <a:off x="1737360" y="3899669"/>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8A</a:t>
            </a:r>
            <a:endParaRPr lang="en-US" sz="750" dirty="0"/>
          </a:p>
        </p:txBody>
      </p:sp>
      <p:sp>
        <p:nvSpPr>
          <p:cNvPr id="53" name="Shape 44"/>
          <p:cNvSpPr/>
          <p:nvPr/>
        </p:nvSpPr>
        <p:spPr>
          <a:xfrm>
            <a:off x="1591056" y="4082549"/>
            <a:ext cx="91440" cy="91440"/>
          </a:xfrm>
          <a:prstGeom prst="ellipse">
            <a:avLst/>
          </a:prstGeom>
          <a:solidFill>
            <a:srgbClr val="FFFFFF"/>
          </a:solidFill>
          <a:ln w="9525">
            <a:solidFill>
              <a:srgbClr val="888888"/>
            </a:solidFill>
            <a:prstDash val="solid"/>
          </a:ln>
        </p:spPr>
      </p:sp>
      <p:sp>
        <p:nvSpPr>
          <p:cNvPr id="54" name="Text 45"/>
          <p:cNvSpPr txBox="1"/>
          <p:nvPr/>
        </p:nvSpPr>
        <p:spPr>
          <a:xfrm>
            <a:off x="1737360" y="4055117"/>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8B</a:t>
            </a:r>
            <a:endParaRPr lang="en-US" sz="750" dirty="0"/>
          </a:p>
        </p:txBody>
      </p:sp>
      <p:sp>
        <p:nvSpPr>
          <p:cNvPr id="55" name="Shape 46"/>
          <p:cNvSpPr/>
          <p:nvPr/>
        </p:nvSpPr>
        <p:spPr>
          <a:xfrm>
            <a:off x="1554480" y="4201421"/>
            <a:ext cx="3017520" cy="0"/>
          </a:xfrm>
          <a:prstGeom prst="line">
            <a:avLst/>
          </a:prstGeom>
          <a:noFill/>
          <a:ln w="9525">
            <a:solidFill>
              <a:srgbClr val="E0E0E0"/>
            </a:solidFill>
            <a:prstDash val="solid"/>
          </a:ln>
        </p:spPr>
      </p:sp>
      <p:sp>
        <p:nvSpPr>
          <p:cNvPr id="56" name="Text 47"/>
          <p:cNvSpPr txBox="1"/>
          <p:nvPr/>
        </p:nvSpPr>
        <p:spPr>
          <a:xfrm>
            <a:off x="3840480" y="4237997"/>
            <a:ext cx="4572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Required</a:t>
            </a:r>
            <a:endParaRPr lang="en-US" sz="700" dirty="0"/>
          </a:p>
        </p:txBody>
      </p:sp>
      <p:sp>
        <p:nvSpPr>
          <p:cNvPr id="57" name="Shape 48"/>
          <p:cNvSpPr/>
          <p:nvPr/>
        </p:nvSpPr>
        <p:spPr>
          <a:xfrm>
            <a:off x="4315968" y="4274573"/>
            <a:ext cx="237744" cy="109728"/>
          </a:xfrm>
          <a:prstGeom prst="roundRect">
            <a:avLst>
              <a:gd name="adj" fmla="val 50000"/>
            </a:avLst>
          </a:prstGeom>
          <a:solidFill>
            <a:srgbClr val="B39DDB"/>
          </a:solidFill>
          <a:ln w="12700">
            <a:solidFill>
              <a:srgbClr val="B39DDB"/>
            </a:solidFill>
            <a:prstDash val="solid"/>
          </a:ln>
        </p:spPr>
      </p:sp>
      <p:sp>
        <p:nvSpPr>
          <p:cNvPr id="58" name="Shape 49"/>
          <p:cNvSpPr/>
          <p:nvPr/>
        </p:nvSpPr>
        <p:spPr>
          <a:xfrm>
            <a:off x="4443984" y="4256285"/>
            <a:ext cx="146304" cy="146304"/>
          </a:xfrm>
          <a:prstGeom prst="ellipse">
            <a:avLst/>
          </a:prstGeom>
          <a:solidFill>
            <a:srgbClr val="673AB7"/>
          </a:solidFill>
          <a:ln w="6350">
            <a:solidFill>
              <a:srgbClr val="999999"/>
            </a:solidFill>
            <a:prstDash val="solid"/>
          </a:ln>
        </p:spPr>
      </p:sp>
      <p:sp>
        <p:nvSpPr>
          <p:cNvPr id="59" name="Shape 50"/>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60" name="Text 51"/>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61" name="Text 52"/>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62" name="Text 53"/>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3" name="Text 54"/>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4" name="Text 55"/>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5" name="Shape 56"/>
          <p:cNvSpPr/>
          <p:nvPr/>
        </p:nvSpPr>
        <p:spPr>
          <a:xfrm>
            <a:off x="4718304" y="3661925"/>
            <a:ext cx="310896" cy="219456"/>
          </a:xfrm>
          <a:prstGeom prst="roundRect">
            <a:avLst>
              <a:gd name="adj" fmla="val 20833"/>
            </a:avLst>
          </a:prstGeom>
          <a:solidFill>
            <a:srgbClr val="FFFFFF">
              <a:alpha val="0"/>
            </a:srgbClr>
          </a:solidFill>
          <a:ln w="31750">
            <a:solidFill>
              <a:srgbClr val="E53935"/>
            </a:solidFill>
            <a:prstDash val="solid"/>
          </a:ln>
        </p:spPr>
      </p:sp>
      <p:sp>
        <p:nvSpPr>
          <p:cNvPr id="66" name="Shape 57"/>
          <p:cNvSpPr/>
          <p:nvPr/>
        </p:nvSpPr>
        <p:spPr>
          <a:xfrm>
            <a:off x="4892040" y="3524765"/>
            <a:ext cx="274320" cy="274320"/>
          </a:xfrm>
          <a:prstGeom prst="ellipse">
            <a:avLst/>
          </a:prstGeom>
          <a:solidFill>
            <a:srgbClr val="E53935"/>
          </a:solidFill>
          <a:ln w="12700">
            <a:solidFill>
              <a:srgbClr val="FFFFFF"/>
            </a:solidFill>
            <a:prstDash val="solid"/>
          </a:ln>
        </p:spPr>
      </p:sp>
      <p:sp>
        <p:nvSpPr>
          <p:cNvPr id="67" name="Text 58"/>
          <p:cNvSpPr txBox="1"/>
          <p:nvPr/>
        </p:nvSpPr>
        <p:spPr>
          <a:xfrm>
            <a:off x="4892040" y="35247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68" name="Image 7" descr="preencoded.png">    </p:cNvPr>
          <p:cNvPicPr>
            <a:picLocks noChangeAspect="1"/>
          </p:cNvPicPr>
          <p:nvPr/>
        </p:nvPicPr>
        <p:blipFill>
          <a:blip r:embed="rId8"/>
          <a:stretch>
            <a:fillRect/>
          </a:stretch>
        </p:blipFill>
        <p:spPr>
          <a:xfrm>
            <a:off x="4887468" y="3780797"/>
            <a:ext cx="237744" cy="237744"/>
          </a:xfrm>
          <a:prstGeom prst="rect">
            <a:avLst/>
          </a:prstGeom>
        </p:spPr>
      </p:pic>
      <p:sp>
        <p:nvSpPr>
          <p:cNvPr id="69" name="Text 5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0" name="Text 6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ikon Add section</a:t>
            </a:r>
            <a:endParaRPr lang="en-US" sz="1800" dirty="0"/>
          </a:p>
        </p:txBody>
      </p:sp>
      <p:sp>
        <p:nvSpPr>
          <p:cNvPr id="71" name="Text 6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pertanyaan terakhir di bagian data diri (Kelas). Di bilah kanan, klik ikon paling bawah: Add section.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Bagian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Pilihan Kegiatan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Pilihan Kegiatan</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Pilihan Kegiatan</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Section 2 of 2</a:t>
            </a:r>
            <a:endParaRPr lang="en-US" sz="750" dirty="0"/>
          </a:p>
        </p:txBody>
      </p:sp>
      <p:sp>
        <p:nvSpPr>
          <p:cNvPr id="42" name="Shape 33"/>
          <p:cNvSpPr/>
          <p:nvPr/>
        </p:nvSpPr>
        <p:spPr>
          <a:xfrm>
            <a:off x="1463040" y="2893829"/>
            <a:ext cx="3200400" cy="1234440"/>
          </a:xfrm>
          <a:prstGeom prst="roundRect">
            <a:avLst>
              <a:gd name="adj" fmla="val 3704"/>
            </a:avLst>
          </a:prstGeom>
          <a:solidFill>
            <a:srgbClr val="FFFFFF"/>
          </a:solidFill>
          <a:ln w="12700">
            <a:solidFill>
              <a:srgbClr val="FFFFFF"/>
            </a:solidFill>
            <a:prstDash val="solid"/>
          </a:ln>
        </p:spPr>
      </p:sp>
      <p:sp>
        <p:nvSpPr>
          <p:cNvPr id="43" name="Shape 34"/>
          <p:cNvSpPr/>
          <p:nvPr/>
        </p:nvSpPr>
        <p:spPr>
          <a:xfrm>
            <a:off x="1463040" y="2893829"/>
            <a:ext cx="36576" cy="1234440"/>
          </a:xfrm>
          <a:prstGeom prst="rect">
            <a:avLst/>
          </a:prstGeom>
          <a:solidFill>
            <a:srgbClr val="4285F4"/>
          </a:solidFill>
          <a:ln w="12700">
            <a:solidFill>
              <a:srgbClr val="4285F4"/>
            </a:solidFill>
            <a:prstDash val="solid"/>
          </a:ln>
        </p:spPr>
      </p:sp>
      <p:sp>
        <p:nvSpPr>
          <p:cNvPr id="44" name="Text 35"/>
          <p:cNvSpPr txBox="1"/>
          <p:nvPr/>
        </p:nvSpPr>
        <p:spPr>
          <a:xfrm>
            <a:off x="1572768" y="296698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Kegiatan yang ingin diikuti *</a:t>
            </a:r>
            <a:endParaRPr lang="en-US" sz="850" dirty="0"/>
          </a:p>
        </p:txBody>
      </p:sp>
      <p:sp>
        <p:nvSpPr>
          <p:cNvPr id="45" name="Shape 36"/>
          <p:cNvSpPr/>
          <p:nvPr/>
        </p:nvSpPr>
        <p:spPr>
          <a:xfrm>
            <a:off x="3520440" y="2957837"/>
            <a:ext cx="1051560" cy="219456"/>
          </a:xfrm>
          <a:prstGeom prst="roundRect">
            <a:avLst>
              <a:gd name="adj" fmla="val 12500"/>
            </a:avLst>
          </a:prstGeom>
          <a:solidFill>
            <a:srgbClr val="FFFFFF"/>
          </a:solidFill>
          <a:ln w="9525">
            <a:solidFill>
              <a:srgbClr val="CCCCCC"/>
            </a:solidFill>
            <a:prstDash val="solid"/>
          </a:ln>
        </p:spPr>
      </p:sp>
      <p:sp>
        <p:nvSpPr>
          <p:cNvPr id="46" name="Text 37"/>
          <p:cNvSpPr txBox="1"/>
          <p:nvPr/>
        </p:nvSpPr>
        <p:spPr>
          <a:xfrm>
            <a:off x="3566160" y="2957837"/>
            <a:ext cx="100584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Multiple choice ▾</a:t>
            </a:r>
            <a:endParaRPr lang="en-US" sz="700" dirty="0"/>
          </a:p>
        </p:txBody>
      </p:sp>
      <p:sp>
        <p:nvSpPr>
          <p:cNvPr id="47" name="Shape 38"/>
          <p:cNvSpPr/>
          <p:nvPr/>
        </p:nvSpPr>
        <p:spPr>
          <a:xfrm>
            <a:off x="1591056" y="3268733"/>
            <a:ext cx="91440" cy="91440"/>
          </a:xfrm>
          <a:prstGeom prst="ellipse">
            <a:avLst/>
          </a:prstGeom>
          <a:solidFill>
            <a:srgbClr val="FFFFFF"/>
          </a:solidFill>
          <a:ln w="9525">
            <a:solidFill>
              <a:srgbClr val="888888"/>
            </a:solidFill>
            <a:prstDash val="solid"/>
          </a:ln>
        </p:spPr>
      </p:sp>
      <p:sp>
        <p:nvSpPr>
          <p:cNvPr id="48" name="Text 39"/>
          <p:cNvSpPr txBox="1"/>
          <p:nvPr/>
        </p:nvSpPr>
        <p:spPr>
          <a:xfrm>
            <a:off x="1737360" y="3241301"/>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Pramuka</a:t>
            </a:r>
            <a:endParaRPr lang="en-US" sz="750" dirty="0"/>
          </a:p>
        </p:txBody>
      </p:sp>
      <p:sp>
        <p:nvSpPr>
          <p:cNvPr id="49" name="Shape 40"/>
          <p:cNvSpPr/>
          <p:nvPr/>
        </p:nvSpPr>
        <p:spPr>
          <a:xfrm>
            <a:off x="1591056" y="3424181"/>
            <a:ext cx="91440" cy="91440"/>
          </a:xfrm>
          <a:prstGeom prst="ellipse">
            <a:avLst/>
          </a:prstGeom>
          <a:solidFill>
            <a:srgbClr val="FFFFFF"/>
          </a:solidFill>
          <a:ln w="9525">
            <a:solidFill>
              <a:srgbClr val="888888"/>
            </a:solidFill>
            <a:prstDash val="solid"/>
          </a:ln>
        </p:spPr>
      </p:sp>
      <p:sp>
        <p:nvSpPr>
          <p:cNvPr id="50" name="Text 41"/>
          <p:cNvSpPr txBox="1"/>
          <p:nvPr/>
        </p:nvSpPr>
        <p:spPr>
          <a:xfrm>
            <a:off x="1737360" y="3396749"/>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Kaligrafi</a:t>
            </a:r>
            <a:endParaRPr lang="en-US" sz="750" dirty="0"/>
          </a:p>
        </p:txBody>
      </p:sp>
      <p:sp>
        <p:nvSpPr>
          <p:cNvPr id="51" name="Shape 42"/>
          <p:cNvSpPr/>
          <p:nvPr/>
        </p:nvSpPr>
        <p:spPr>
          <a:xfrm>
            <a:off x="1591056" y="3579629"/>
            <a:ext cx="91440" cy="91440"/>
          </a:xfrm>
          <a:prstGeom prst="ellipse">
            <a:avLst/>
          </a:prstGeom>
          <a:solidFill>
            <a:srgbClr val="FFFFFF"/>
          </a:solidFill>
          <a:ln w="9525">
            <a:solidFill>
              <a:srgbClr val="888888"/>
            </a:solidFill>
            <a:prstDash val="solid"/>
          </a:ln>
        </p:spPr>
      </p:sp>
      <p:sp>
        <p:nvSpPr>
          <p:cNvPr id="52" name="Text 43"/>
          <p:cNvSpPr txBox="1"/>
          <p:nvPr/>
        </p:nvSpPr>
        <p:spPr>
          <a:xfrm>
            <a:off x="1737360" y="3552197"/>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Futsal</a:t>
            </a:r>
            <a:endParaRPr lang="en-US" sz="750" dirty="0"/>
          </a:p>
        </p:txBody>
      </p:sp>
      <p:sp>
        <p:nvSpPr>
          <p:cNvPr id="53" name="Shape 44"/>
          <p:cNvSpPr/>
          <p:nvPr/>
        </p:nvSpPr>
        <p:spPr>
          <a:xfrm>
            <a:off x="1591056" y="3735077"/>
            <a:ext cx="91440" cy="91440"/>
          </a:xfrm>
          <a:prstGeom prst="ellipse">
            <a:avLst/>
          </a:prstGeom>
          <a:solidFill>
            <a:srgbClr val="FFFFFF"/>
          </a:solidFill>
          <a:ln w="9525">
            <a:solidFill>
              <a:srgbClr val="888888"/>
            </a:solidFill>
            <a:prstDash val="solid"/>
          </a:ln>
        </p:spPr>
      </p:sp>
      <p:sp>
        <p:nvSpPr>
          <p:cNvPr id="54" name="Text 45"/>
          <p:cNvSpPr txBox="1"/>
          <p:nvPr/>
        </p:nvSpPr>
        <p:spPr>
          <a:xfrm>
            <a:off x="1737360" y="3707645"/>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Tahsin</a:t>
            </a:r>
            <a:endParaRPr lang="en-US" sz="750" dirty="0"/>
          </a:p>
        </p:txBody>
      </p:sp>
      <p:sp>
        <p:nvSpPr>
          <p:cNvPr id="55" name="Shape 46"/>
          <p:cNvSpPr/>
          <p:nvPr/>
        </p:nvSpPr>
        <p:spPr>
          <a:xfrm>
            <a:off x="1554480" y="3853949"/>
            <a:ext cx="3017520" cy="0"/>
          </a:xfrm>
          <a:prstGeom prst="line">
            <a:avLst/>
          </a:prstGeom>
          <a:noFill/>
          <a:ln w="9525">
            <a:solidFill>
              <a:srgbClr val="E0E0E0"/>
            </a:solidFill>
            <a:prstDash val="solid"/>
          </a:ln>
        </p:spPr>
      </p:sp>
      <p:sp>
        <p:nvSpPr>
          <p:cNvPr id="56" name="Text 47"/>
          <p:cNvSpPr txBox="1"/>
          <p:nvPr/>
        </p:nvSpPr>
        <p:spPr>
          <a:xfrm>
            <a:off x="3840480" y="3890525"/>
            <a:ext cx="4572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Required</a:t>
            </a:r>
            <a:endParaRPr lang="en-US" sz="700" dirty="0"/>
          </a:p>
        </p:txBody>
      </p:sp>
      <p:sp>
        <p:nvSpPr>
          <p:cNvPr id="57" name="Shape 48"/>
          <p:cNvSpPr/>
          <p:nvPr/>
        </p:nvSpPr>
        <p:spPr>
          <a:xfrm>
            <a:off x="4315968" y="3927101"/>
            <a:ext cx="237744" cy="109728"/>
          </a:xfrm>
          <a:prstGeom prst="roundRect">
            <a:avLst>
              <a:gd name="adj" fmla="val 50000"/>
            </a:avLst>
          </a:prstGeom>
          <a:solidFill>
            <a:srgbClr val="B39DDB"/>
          </a:solidFill>
          <a:ln w="12700">
            <a:solidFill>
              <a:srgbClr val="B39DDB"/>
            </a:solidFill>
            <a:prstDash val="solid"/>
          </a:ln>
        </p:spPr>
      </p:sp>
      <p:sp>
        <p:nvSpPr>
          <p:cNvPr id="58" name="Shape 49"/>
          <p:cNvSpPr/>
          <p:nvPr/>
        </p:nvSpPr>
        <p:spPr>
          <a:xfrm>
            <a:off x="4443984" y="3908813"/>
            <a:ext cx="146304" cy="146304"/>
          </a:xfrm>
          <a:prstGeom prst="ellipse">
            <a:avLst/>
          </a:prstGeom>
          <a:solidFill>
            <a:srgbClr val="673AB7"/>
          </a:solidFill>
          <a:ln w="6350">
            <a:solidFill>
              <a:srgbClr val="999999"/>
            </a:solidFill>
            <a:prstDash val="solid"/>
          </a:ln>
        </p:spPr>
      </p:sp>
      <p:sp>
        <p:nvSpPr>
          <p:cNvPr id="59" name="Shape 50"/>
          <p:cNvSpPr/>
          <p:nvPr/>
        </p:nvSpPr>
        <p:spPr>
          <a:xfrm>
            <a:off x="1463040" y="4201421"/>
            <a:ext cx="3200400" cy="585216"/>
          </a:xfrm>
          <a:prstGeom prst="roundRect">
            <a:avLst>
              <a:gd name="adj" fmla="val 7813"/>
            </a:avLst>
          </a:prstGeom>
          <a:solidFill>
            <a:srgbClr val="FFFFFF"/>
          </a:solidFill>
          <a:ln w="12700">
            <a:solidFill>
              <a:srgbClr val="FFFFFF"/>
            </a:solidFill>
            <a:prstDash val="solid"/>
          </a:ln>
        </p:spPr>
      </p:sp>
      <p:sp>
        <p:nvSpPr>
          <p:cNvPr id="60" name="Text 51"/>
          <p:cNvSpPr txBox="1"/>
          <p:nvPr/>
        </p:nvSpPr>
        <p:spPr>
          <a:xfrm>
            <a:off x="1572768" y="4274573"/>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Alasan memilih kegiatan</a:t>
            </a:r>
            <a:endParaRPr lang="en-US" sz="850" dirty="0"/>
          </a:p>
        </p:txBody>
      </p:sp>
      <p:sp>
        <p:nvSpPr>
          <p:cNvPr id="61" name="Shape 52"/>
          <p:cNvSpPr/>
          <p:nvPr/>
        </p:nvSpPr>
        <p:spPr>
          <a:xfrm>
            <a:off x="1591056" y="4658621"/>
            <a:ext cx="1760220" cy="0"/>
          </a:xfrm>
          <a:prstGeom prst="line">
            <a:avLst/>
          </a:prstGeom>
          <a:noFill/>
          <a:ln w="9525">
            <a:solidFill>
              <a:srgbClr val="BBBBBB"/>
            </a:solidFill>
            <a:prstDash val="dash"/>
          </a:ln>
        </p:spPr>
      </p:sp>
      <p:sp>
        <p:nvSpPr>
          <p:cNvPr id="62" name="Text 53"/>
          <p:cNvSpPr txBox="1"/>
          <p:nvPr/>
        </p:nvSpPr>
        <p:spPr>
          <a:xfrm>
            <a:off x="1591056" y="4530605"/>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Paragraph</a:t>
            </a:r>
            <a:endParaRPr lang="en-US" sz="650" dirty="0"/>
          </a:p>
        </p:txBody>
      </p:sp>
      <p:sp>
        <p:nvSpPr>
          <p:cNvPr id="63" name="Shape 54"/>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64" name="Text 55"/>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65" name="Text 56"/>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66" name="Text 57"/>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7" name="Text 58"/>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8" name="Text 59"/>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9" name="Shape 60"/>
          <p:cNvSpPr/>
          <p:nvPr/>
        </p:nvSpPr>
        <p:spPr>
          <a:xfrm>
            <a:off x="1435608" y="2244605"/>
            <a:ext cx="3255264" cy="603504"/>
          </a:xfrm>
          <a:prstGeom prst="roundRect">
            <a:avLst>
              <a:gd name="adj" fmla="val 7576"/>
            </a:avLst>
          </a:prstGeom>
          <a:solidFill>
            <a:srgbClr val="FFFFFF">
              <a:alpha val="0"/>
            </a:srgbClr>
          </a:solidFill>
          <a:ln w="31750">
            <a:solidFill>
              <a:srgbClr val="E53935"/>
            </a:solidFill>
            <a:prstDash val="solid"/>
          </a:ln>
        </p:spPr>
      </p:sp>
      <p:sp>
        <p:nvSpPr>
          <p:cNvPr id="70" name="Shape 61"/>
          <p:cNvSpPr/>
          <p:nvPr/>
        </p:nvSpPr>
        <p:spPr>
          <a:xfrm>
            <a:off x="4553712" y="2107445"/>
            <a:ext cx="274320" cy="274320"/>
          </a:xfrm>
          <a:prstGeom prst="ellipse">
            <a:avLst/>
          </a:prstGeom>
          <a:solidFill>
            <a:srgbClr val="E53935"/>
          </a:solidFill>
          <a:ln w="12700">
            <a:solidFill>
              <a:srgbClr val="FFFFFF"/>
            </a:solidFill>
            <a:prstDash val="solid"/>
          </a:ln>
        </p:spPr>
      </p:sp>
      <p:sp>
        <p:nvSpPr>
          <p:cNvPr id="71" name="Text 62"/>
          <p:cNvSpPr txBox="1"/>
          <p:nvPr/>
        </p:nvSpPr>
        <p:spPr>
          <a:xfrm>
            <a:off x="4553712" y="21074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2" name="Image 7" descr="preencoded.png">    </p:cNvPr>
          <p:cNvPicPr>
            <a:picLocks noChangeAspect="1"/>
          </p:cNvPicPr>
          <p:nvPr/>
        </p:nvPicPr>
        <p:blipFill>
          <a:blip r:embed="rId8"/>
          <a:stretch>
            <a:fillRect/>
          </a:stretch>
        </p:blipFill>
        <p:spPr>
          <a:xfrm>
            <a:off x="3223260" y="2573789"/>
            <a:ext cx="237744" cy="237744"/>
          </a:xfrm>
          <a:prstGeom prst="rect">
            <a:avLst/>
          </a:prstGeom>
        </p:spPr>
      </p:pic>
      <p:sp>
        <p:nvSpPr>
          <p:cNvPr id="73" name="Shape 63"/>
          <p:cNvSpPr/>
          <p:nvPr/>
        </p:nvSpPr>
        <p:spPr>
          <a:xfrm>
            <a:off x="1435608" y="2866397"/>
            <a:ext cx="3255264" cy="1289304"/>
          </a:xfrm>
          <a:prstGeom prst="roundRect">
            <a:avLst>
              <a:gd name="adj" fmla="val 3546"/>
            </a:avLst>
          </a:prstGeom>
          <a:solidFill>
            <a:srgbClr val="FFFFFF">
              <a:alpha val="0"/>
            </a:srgbClr>
          </a:solidFill>
          <a:ln w="31750">
            <a:solidFill>
              <a:srgbClr val="E53935"/>
            </a:solidFill>
            <a:prstDash val="solid"/>
          </a:ln>
        </p:spPr>
      </p:sp>
      <p:sp>
        <p:nvSpPr>
          <p:cNvPr id="74" name="Shape 64"/>
          <p:cNvSpPr/>
          <p:nvPr/>
        </p:nvSpPr>
        <p:spPr>
          <a:xfrm>
            <a:off x="4553712" y="2729237"/>
            <a:ext cx="274320" cy="274320"/>
          </a:xfrm>
          <a:prstGeom prst="ellipse">
            <a:avLst/>
          </a:prstGeom>
          <a:solidFill>
            <a:srgbClr val="E53935"/>
          </a:solidFill>
          <a:ln w="12700">
            <a:solidFill>
              <a:srgbClr val="FFFFFF"/>
            </a:solidFill>
            <a:prstDash val="solid"/>
          </a:ln>
        </p:spPr>
      </p:sp>
      <p:sp>
        <p:nvSpPr>
          <p:cNvPr id="75" name="Text 65"/>
          <p:cNvSpPr txBox="1"/>
          <p:nvPr/>
        </p:nvSpPr>
        <p:spPr>
          <a:xfrm>
            <a:off x="4553712" y="27292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6" name="Image 8" descr="preencoded.png">    </p:cNvPr>
          <p:cNvPicPr>
            <a:picLocks noChangeAspect="1"/>
          </p:cNvPicPr>
          <p:nvPr/>
        </p:nvPicPr>
        <p:blipFill>
          <a:blip r:embed="rId9"/>
          <a:stretch>
            <a:fillRect/>
          </a:stretch>
        </p:blipFill>
        <p:spPr>
          <a:xfrm>
            <a:off x="3223260" y="3572771"/>
            <a:ext cx="237744" cy="237744"/>
          </a:xfrm>
          <a:prstGeom prst="rect">
            <a:avLst/>
          </a:prstGeom>
        </p:spPr>
      </p:pic>
      <p:sp>
        <p:nvSpPr>
          <p:cNvPr id="77"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78"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Beri judul bagian, pindahkan pertanyaan</a:t>
            </a:r>
            <a:endParaRPr lang="en-US" sz="1800" dirty="0"/>
          </a:p>
        </p:txBody>
      </p:sp>
      <p:sp>
        <p:nvSpPr>
          <p:cNvPr id="79"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Bagian baru muncul. Beri judul "Pilihan Kegiatan". Seret pertanyaan kegiatan dan alasan ke bagian ini.</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Validasi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Pendaftaran Ekstrakurikuler Santri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Pendaftaran Ekstrakurikuler Santri</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Pendaftaran Ekstrakurikuler Santri</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Isi formulir ini untuk memilih kegiatan ekstrakurikuler. Data hanya dipakai pengurus.</a:t>
            </a:r>
            <a:endParaRPr lang="en-US" sz="750" dirty="0"/>
          </a:p>
        </p:txBody>
      </p:sp>
      <p:sp>
        <p:nvSpPr>
          <p:cNvPr id="42" name="Shape 33"/>
          <p:cNvSpPr/>
          <p:nvPr/>
        </p:nvSpPr>
        <p:spPr>
          <a:xfrm>
            <a:off x="1463040" y="2893829"/>
            <a:ext cx="3200400" cy="585216"/>
          </a:xfrm>
          <a:prstGeom prst="roundRect">
            <a:avLst>
              <a:gd name="adj" fmla="val 7813"/>
            </a:avLst>
          </a:prstGeom>
          <a:solidFill>
            <a:srgbClr val="FFFFFF"/>
          </a:solidFill>
          <a:ln w="12700">
            <a:solidFill>
              <a:srgbClr val="FFFFFF"/>
            </a:solidFill>
            <a:prstDash val="solid"/>
          </a:ln>
        </p:spPr>
      </p:sp>
      <p:sp>
        <p:nvSpPr>
          <p:cNvPr id="43" name="Text 34"/>
          <p:cNvSpPr txBox="1"/>
          <p:nvPr/>
        </p:nvSpPr>
        <p:spPr>
          <a:xfrm>
            <a:off x="1572768" y="296698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Nama panggilan *</a:t>
            </a:r>
            <a:endParaRPr lang="en-US" sz="850" dirty="0"/>
          </a:p>
        </p:txBody>
      </p:sp>
      <p:sp>
        <p:nvSpPr>
          <p:cNvPr id="44" name="Shape 35"/>
          <p:cNvSpPr/>
          <p:nvPr/>
        </p:nvSpPr>
        <p:spPr>
          <a:xfrm>
            <a:off x="1591056" y="3351029"/>
            <a:ext cx="1760220" cy="0"/>
          </a:xfrm>
          <a:prstGeom prst="line">
            <a:avLst/>
          </a:prstGeom>
          <a:noFill/>
          <a:ln w="9525">
            <a:solidFill>
              <a:srgbClr val="BBBBBB"/>
            </a:solidFill>
            <a:prstDash val="dash"/>
          </a:ln>
        </p:spPr>
      </p:sp>
      <p:sp>
        <p:nvSpPr>
          <p:cNvPr id="45" name="Text 36"/>
          <p:cNvSpPr txBox="1"/>
          <p:nvPr/>
        </p:nvSpPr>
        <p:spPr>
          <a:xfrm>
            <a:off x="1591056" y="3223013"/>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Short answer text</a:t>
            </a:r>
            <a:endParaRPr lang="en-US" sz="650" dirty="0"/>
          </a:p>
        </p:txBody>
      </p:sp>
      <p:sp>
        <p:nvSpPr>
          <p:cNvPr id="46" name="Shape 37"/>
          <p:cNvSpPr/>
          <p:nvPr/>
        </p:nvSpPr>
        <p:spPr>
          <a:xfrm>
            <a:off x="1463040" y="3552197"/>
            <a:ext cx="3200400" cy="813816"/>
          </a:xfrm>
          <a:prstGeom prst="roundRect">
            <a:avLst>
              <a:gd name="adj" fmla="val 5618"/>
            </a:avLst>
          </a:prstGeom>
          <a:solidFill>
            <a:srgbClr val="FFFFFF"/>
          </a:solidFill>
          <a:ln w="12700">
            <a:solidFill>
              <a:srgbClr val="FFFFFF"/>
            </a:solidFill>
            <a:prstDash val="solid"/>
          </a:ln>
        </p:spPr>
      </p:sp>
      <p:sp>
        <p:nvSpPr>
          <p:cNvPr id="47" name="Shape 38"/>
          <p:cNvSpPr/>
          <p:nvPr/>
        </p:nvSpPr>
        <p:spPr>
          <a:xfrm>
            <a:off x="1463040" y="3552197"/>
            <a:ext cx="36576" cy="813816"/>
          </a:xfrm>
          <a:prstGeom prst="rect">
            <a:avLst/>
          </a:prstGeom>
          <a:solidFill>
            <a:srgbClr val="4285F4"/>
          </a:solidFill>
          <a:ln w="12700">
            <a:solidFill>
              <a:srgbClr val="4285F4"/>
            </a:solidFill>
            <a:prstDash val="solid"/>
          </a:ln>
        </p:spPr>
      </p:sp>
      <p:sp>
        <p:nvSpPr>
          <p:cNvPr id="48" name="Text 39"/>
          <p:cNvSpPr txBox="1"/>
          <p:nvPr/>
        </p:nvSpPr>
        <p:spPr>
          <a:xfrm>
            <a:off x="1572768" y="3625349"/>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Berapa juz hafalanmu saat ini? *</a:t>
            </a:r>
            <a:endParaRPr lang="en-US" sz="850" dirty="0"/>
          </a:p>
        </p:txBody>
      </p:sp>
      <p:sp>
        <p:nvSpPr>
          <p:cNvPr id="49" name="Shape 40"/>
          <p:cNvSpPr/>
          <p:nvPr/>
        </p:nvSpPr>
        <p:spPr>
          <a:xfrm>
            <a:off x="3520440" y="3616205"/>
            <a:ext cx="1051560" cy="219456"/>
          </a:xfrm>
          <a:prstGeom prst="roundRect">
            <a:avLst>
              <a:gd name="adj" fmla="val 12500"/>
            </a:avLst>
          </a:prstGeom>
          <a:solidFill>
            <a:srgbClr val="FFFFFF"/>
          </a:solidFill>
          <a:ln w="9525">
            <a:solidFill>
              <a:srgbClr val="CCCCCC"/>
            </a:solidFill>
            <a:prstDash val="solid"/>
          </a:ln>
        </p:spPr>
      </p:sp>
      <p:sp>
        <p:nvSpPr>
          <p:cNvPr id="50" name="Text 41"/>
          <p:cNvSpPr txBox="1"/>
          <p:nvPr/>
        </p:nvSpPr>
        <p:spPr>
          <a:xfrm>
            <a:off x="3566160" y="3616205"/>
            <a:ext cx="100584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Short answer ▾</a:t>
            </a:r>
            <a:endParaRPr lang="en-US" sz="700" dirty="0"/>
          </a:p>
        </p:txBody>
      </p:sp>
      <p:sp>
        <p:nvSpPr>
          <p:cNvPr id="51" name="Shape 42"/>
          <p:cNvSpPr/>
          <p:nvPr/>
        </p:nvSpPr>
        <p:spPr>
          <a:xfrm>
            <a:off x="1591056" y="4009397"/>
            <a:ext cx="1760220" cy="0"/>
          </a:xfrm>
          <a:prstGeom prst="line">
            <a:avLst/>
          </a:prstGeom>
          <a:noFill/>
          <a:ln w="9525">
            <a:solidFill>
              <a:srgbClr val="BBBBBB"/>
            </a:solidFill>
            <a:prstDash val="dash"/>
          </a:ln>
        </p:spPr>
      </p:sp>
      <p:sp>
        <p:nvSpPr>
          <p:cNvPr id="52" name="Text 43"/>
          <p:cNvSpPr txBox="1"/>
          <p:nvPr/>
        </p:nvSpPr>
        <p:spPr>
          <a:xfrm>
            <a:off x="1591056" y="3881381"/>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Short answer text</a:t>
            </a:r>
            <a:endParaRPr lang="en-US" sz="650" dirty="0"/>
          </a:p>
        </p:txBody>
      </p:sp>
      <p:sp>
        <p:nvSpPr>
          <p:cNvPr id="53" name="Shape 44"/>
          <p:cNvSpPr/>
          <p:nvPr/>
        </p:nvSpPr>
        <p:spPr>
          <a:xfrm>
            <a:off x="1554480" y="4091693"/>
            <a:ext cx="3017520" cy="0"/>
          </a:xfrm>
          <a:prstGeom prst="line">
            <a:avLst/>
          </a:prstGeom>
          <a:noFill/>
          <a:ln w="9525">
            <a:solidFill>
              <a:srgbClr val="E0E0E0"/>
            </a:solidFill>
            <a:prstDash val="solid"/>
          </a:ln>
        </p:spPr>
      </p:sp>
      <p:sp>
        <p:nvSpPr>
          <p:cNvPr id="54" name="Text 45"/>
          <p:cNvSpPr txBox="1"/>
          <p:nvPr/>
        </p:nvSpPr>
        <p:spPr>
          <a:xfrm>
            <a:off x="3840480" y="4128269"/>
            <a:ext cx="4572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Required</a:t>
            </a:r>
            <a:endParaRPr lang="en-US" sz="700" dirty="0"/>
          </a:p>
        </p:txBody>
      </p:sp>
      <p:sp>
        <p:nvSpPr>
          <p:cNvPr id="55" name="Shape 46"/>
          <p:cNvSpPr/>
          <p:nvPr/>
        </p:nvSpPr>
        <p:spPr>
          <a:xfrm>
            <a:off x="4315968" y="4164845"/>
            <a:ext cx="237744" cy="109728"/>
          </a:xfrm>
          <a:prstGeom prst="roundRect">
            <a:avLst>
              <a:gd name="adj" fmla="val 50000"/>
            </a:avLst>
          </a:prstGeom>
          <a:solidFill>
            <a:srgbClr val="B39DDB"/>
          </a:solidFill>
          <a:ln w="12700">
            <a:solidFill>
              <a:srgbClr val="B39DDB"/>
            </a:solidFill>
            <a:prstDash val="solid"/>
          </a:ln>
        </p:spPr>
      </p:sp>
      <p:sp>
        <p:nvSpPr>
          <p:cNvPr id="56" name="Shape 47"/>
          <p:cNvSpPr/>
          <p:nvPr/>
        </p:nvSpPr>
        <p:spPr>
          <a:xfrm>
            <a:off x="4443984" y="4146557"/>
            <a:ext cx="146304" cy="146304"/>
          </a:xfrm>
          <a:prstGeom prst="ellipse">
            <a:avLst/>
          </a:prstGeom>
          <a:solidFill>
            <a:srgbClr val="673AB7"/>
          </a:solidFill>
          <a:ln w="6350">
            <a:solidFill>
              <a:srgbClr val="999999"/>
            </a:solidFill>
            <a:prstDash val="solid"/>
          </a:ln>
        </p:spPr>
      </p:sp>
      <p:sp>
        <p:nvSpPr>
          <p:cNvPr id="57" name="Shape 48"/>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58" name="Text 49"/>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59" name="Text 50"/>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60" name="Text 51"/>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1" name="Text 52"/>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2" name="Text 53"/>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3" name="Shape 54"/>
          <p:cNvSpPr/>
          <p:nvPr/>
        </p:nvSpPr>
        <p:spPr>
          <a:xfrm>
            <a:off x="1435608" y="3524765"/>
            <a:ext cx="3255264" cy="868680"/>
          </a:xfrm>
          <a:prstGeom prst="roundRect">
            <a:avLst>
              <a:gd name="adj" fmla="val 5263"/>
            </a:avLst>
          </a:prstGeom>
          <a:solidFill>
            <a:srgbClr val="FFFFFF">
              <a:alpha val="0"/>
            </a:srgbClr>
          </a:solidFill>
          <a:ln w="31750">
            <a:solidFill>
              <a:srgbClr val="E53935"/>
            </a:solidFill>
            <a:prstDash val="solid"/>
          </a:ln>
        </p:spPr>
      </p:sp>
      <p:sp>
        <p:nvSpPr>
          <p:cNvPr id="64" name="Shape 55"/>
          <p:cNvSpPr/>
          <p:nvPr/>
        </p:nvSpPr>
        <p:spPr>
          <a:xfrm>
            <a:off x="4553712" y="3387605"/>
            <a:ext cx="274320" cy="274320"/>
          </a:xfrm>
          <a:prstGeom prst="ellipse">
            <a:avLst/>
          </a:prstGeom>
          <a:solidFill>
            <a:srgbClr val="E53935"/>
          </a:solidFill>
          <a:ln w="12700">
            <a:solidFill>
              <a:srgbClr val="FFFFFF"/>
            </a:solidFill>
            <a:prstDash val="solid"/>
          </a:ln>
        </p:spPr>
      </p:sp>
      <p:sp>
        <p:nvSpPr>
          <p:cNvPr id="65" name="Text 56"/>
          <p:cNvSpPr txBox="1"/>
          <p:nvPr/>
        </p:nvSpPr>
        <p:spPr>
          <a:xfrm>
            <a:off x="4553712" y="33876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66" name="Image 7" descr="preencoded.png">    </p:cNvPr>
          <p:cNvPicPr>
            <a:picLocks noChangeAspect="1"/>
          </p:cNvPicPr>
          <p:nvPr/>
        </p:nvPicPr>
        <p:blipFill>
          <a:blip r:embed="rId8"/>
          <a:stretch>
            <a:fillRect/>
          </a:stretch>
        </p:blipFill>
        <p:spPr>
          <a:xfrm>
            <a:off x="3223260" y="3999796"/>
            <a:ext cx="237744" cy="237744"/>
          </a:xfrm>
          <a:prstGeom prst="rect">
            <a:avLst/>
          </a:prstGeom>
        </p:spPr>
      </p:pic>
      <p:sp>
        <p:nvSpPr>
          <p:cNvPr id="67" name="Text 5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68" name="Text 5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 pertanyaan angka</a:t>
            </a:r>
            <a:endParaRPr lang="en-US" sz="1800" dirty="0"/>
          </a:p>
        </p:txBody>
      </p:sp>
      <p:sp>
        <p:nvSpPr>
          <p:cNvPr id="69" name="Text 5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bagian 1, tambah pertanyaan Short answer: "Berapa juz hafalanmu saat ini?" Nyalakan Required.</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Validasi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Pendaftaran Ekstrakurikuler Santri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Pendaftaran Ekstrakurikuler Santri</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Pendaftaran Ekstrakurikuler Santri</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Isi formulir ini untuk memilih kegiatan ekstrakurikuler. Data hanya dipakai pengurus.</a:t>
            </a:r>
            <a:endParaRPr lang="en-US" sz="750" dirty="0"/>
          </a:p>
        </p:txBody>
      </p:sp>
      <p:sp>
        <p:nvSpPr>
          <p:cNvPr id="42" name="Shape 33"/>
          <p:cNvSpPr/>
          <p:nvPr/>
        </p:nvSpPr>
        <p:spPr>
          <a:xfrm>
            <a:off x="1463040" y="2893829"/>
            <a:ext cx="3200400" cy="585216"/>
          </a:xfrm>
          <a:prstGeom prst="roundRect">
            <a:avLst>
              <a:gd name="adj" fmla="val 7813"/>
            </a:avLst>
          </a:prstGeom>
          <a:solidFill>
            <a:srgbClr val="FFFFFF"/>
          </a:solidFill>
          <a:ln w="12700">
            <a:solidFill>
              <a:srgbClr val="FFFFFF"/>
            </a:solidFill>
            <a:prstDash val="solid"/>
          </a:ln>
        </p:spPr>
      </p:sp>
      <p:sp>
        <p:nvSpPr>
          <p:cNvPr id="43" name="Text 34"/>
          <p:cNvSpPr txBox="1"/>
          <p:nvPr/>
        </p:nvSpPr>
        <p:spPr>
          <a:xfrm>
            <a:off x="1572768" y="296698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Nama panggilan *</a:t>
            </a:r>
            <a:endParaRPr lang="en-US" sz="850" dirty="0"/>
          </a:p>
        </p:txBody>
      </p:sp>
      <p:sp>
        <p:nvSpPr>
          <p:cNvPr id="44" name="Shape 35"/>
          <p:cNvSpPr/>
          <p:nvPr/>
        </p:nvSpPr>
        <p:spPr>
          <a:xfrm>
            <a:off x="1591056" y="3351029"/>
            <a:ext cx="1760220" cy="0"/>
          </a:xfrm>
          <a:prstGeom prst="line">
            <a:avLst/>
          </a:prstGeom>
          <a:noFill/>
          <a:ln w="9525">
            <a:solidFill>
              <a:srgbClr val="BBBBBB"/>
            </a:solidFill>
            <a:prstDash val="dash"/>
          </a:ln>
        </p:spPr>
      </p:sp>
      <p:sp>
        <p:nvSpPr>
          <p:cNvPr id="45" name="Text 36"/>
          <p:cNvSpPr txBox="1"/>
          <p:nvPr/>
        </p:nvSpPr>
        <p:spPr>
          <a:xfrm>
            <a:off x="1591056" y="3223013"/>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Short answer text</a:t>
            </a:r>
            <a:endParaRPr lang="en-US" sz="650" dirty="0"/>
          </a:p>
        </p:txBody>
      </p:sp>
      <p:sp>
        <p:nvSpPr>
          <p:cNvPr id="46" name="Shape 37"/>
          <p:cNvSpPr/>
          <p:nvPr/>
        </p:nvSpPr>
        <p:spPr>
          <a:xfrm>
            <a:off x="1463040" y="3552197"/>
            <a:ext cx="3200400" cy="813816"/>
          </a:xfrm>
          <a:prstGeom prst="roundRect">
            <a:avLst>
              <a:gd name="adj" fmla="val 5618"/>
            </a:avLst>
          </a:prstGeom>
          <a:solidFill>
            <a:srgbClr val="FFFFFF"/>
          </a:solidFill>
          <a:ln w="12700">
            <a:solidFill>
              <a:srgbClr val="FFFFFF"/>
            </a:solidFill>
            <a:prstDash val="solid"/>
          </a:ln>
        </p:spPr>
      </p:sp>
      <p:sp>
        <p:nvSpPr>
          <p:cNvPr id="47" name="Shape 38"/>
          <p:cNvSpPr/>
          <p:nvPr/>
        </p:nvSpPr>
        <p:spPr>
          <a:xfrm>
            <a:off x="1463040" y="3552197"/>
            <a:ext cx="36576" cy="813816"/>
          </a:xfrm>
          <a:prstGeom prst="rect">
            <a:avLst/>
          </a:prstGeom>
          <a:solidFill>
            <a:srgbClr val="4285F4"/>
          </a:solidFill>
          <a:ln w="12700">
            <a:solidFill>
              <a:srgbClr val="4285F4"/>
            </a:solidFill>
            <a:prstDash val="solid"/>
          </a:ln>
        </p:spPr>
      </p:sp>
      <p:sp>
        <p:nvSpPr>
          <p:cNvPr id="48" name="Text 39"/>
          <p:cNvSpPr txBox="1"/>
          <p:nvPr/>
        </p:nvSpPr>
        <p:spPr>
          <a:xfrm>
            <a:off x="1572768" y="3625349"/>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Berapa juz hafalanmu saat ini? *</a:t>
            </a:r>
            <a:endParaRPr lang="en-US" sz="850" dirty="0"/>
          </a:p>
        </p:txBody>
      </p:sp>
      <p:sp>
        <p:nvSpPr>
          <p:cNvPr id="49" name="Shape 40"/>
          <p:cNvSpPr/>
          <p:nvPr/>
        </p:nvSpPr>
        <p:spPr>
          <a:xfrm>
            <a:off x="3520440" y="3616205"/>
            <a:ext cx="1051560" cy="219456"/>
          </a:xfrm>
          <a:prstGeom prst="roundRect">
            <a:avLst>
              <a:gd name="adj" fmla="val 12500"/>
            </a:avLst>
          </a:prstGeom>
          <a:solidFill>
            <a:srgbClr val="FFFFFF"/>
          </a:solidFill>
          <a:ln w="9525">
            <a:solidFill>
              <a:srgbClr val="CCCCCC"/>
            </a:solidFill>
            <a:prstDash val="solid"/>
          </a:ln>
        </p:spPr>
      </p:sp>
      <p:sp>
        <p:nvSpPr>
          <p:cNvPr id="50" name="Text 41"/>
          <p:cNvSpPr txBox="1"/>
          <p:nvPr/>
        </p:nvSpPr>
        <p:spPr>
          <a:xfrm>
            <a:off x="3566160" y="3616205"/>
            <a:ext cx="100584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Short answer ▾</a:t>
            </a:r>
            <a:endParaRPr lang="en-US" sz="700" dirty="0"/>
          </a:p>
        </p:txBody>
      </p:sp>
      <p:sp>
        <p:nvSpPr>
          <p:cNvPr id="51" name="Shape 42"/>
          <p:cNvSpPr/>
          <p:nvPr/>
        </p:nvSpPr>
        <p:spPr>
          <a:xfrm>
            <a:off x="1591056" y="4009397"/>
            <a:ext cx="1760220" cy="0"/>
          </a:xfrm>
          <a:prstGeom prst="line">
            <a:avLst/>
          </a:prstGeom>
          <a:noFill/>
          <a:ln w="9525">
            <a:solidFill>
              <a:srgbClr val="BBBBBB"/>
            </a:solidFill>
            <a:prstDash val="dash"/>
          </a:ln>
        </p:spPr>
      </p:sp>
      <p:sp>
        <p:nvSpPr>
          <p:cNvPr id="52" name="Text 43"/>
          <p:cNvSpPr txBox="1"/>
          <p:nvPr/>
        </p:nvSpPr>
        <p:spPr>
          <a:xfrm>
            <a:off x="1591056" y="3881381"/>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Short answer text</a:t>
            </a:r>
            <a:endParaRPr lang="en-US" sz="650" dirty="0"/>
          </a:p>
        </p:txBody>
      </p:sp>
      <p:sp>
        <p:nvSpPr>
          <p:cNvPr id="53" name="Shape 44"/>
          <p:cNvSpPr/>
          <p:nvPr/>
        </p:nvSpPr>
        <p:spPr>
          <a:xfrm>
            <a:off x="1554480" y="4091693"/>
            <a:ext cx="3017520" cy="0"/>
          </a:xfrm>
          <a:prstGeom prst="line">
            <a:avLst/>
          </a:prstGeom>
          <a:noFill/>
          <a:ln w="9525">
            <a:solidFill>
              <a:srgbClr val="E0E0E0"/>
            </a:solidFill>
            <a:prstDash val="solid"/>
          </a:ln>
        </p:spPr>
      </p:sp>
      <p:sp>
        <p:nvSpPr>
          <p:cNvPr id="54" name="Text 45"/>
          <p:cNvSpPr txBox="1"/>
          <p:nvPr/>
        </p:nvSpPr>
        <p:spPr>
          <a:xfrm>
            <a:off x="3840480" y="4128269"/>
            <a:ext cx="4572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Required</a:t>
            </a:r>
            <a:endParaRPr lang="en-US" sz="700" dirty="0"/>
          </a:p>
        </p:txBody>
      </p:sp>
      <p:sp>
        <p:nvSpPr>
          <p:cNvPr id="55" name="Shape 46"/>
          <p:cNvSpPr/>
          <p:nvPr/>
        </p:nvSpPr>
        <p:spPr>
          <a:xfrm>
            <a:off x="4315968" y="4164845"/>
            <a:ext cx="237744" cy="109728"/>
          </a:xfrm>
          <a:prstGeom prst="roundRect">
            <a:avLst>
              <a:gd name="adj" fmla="val 50000"/>
            </a:avLst>
          </a:prstGeom>
          <a:solidFill>
            <a:srgbClr val="B39DDB"/>
          </a:solidFill>
          <a:ln w="12700">
            <a:solidFill>
              <a:srgbClr val="B39DDB"/>
            </a:solidFill>
            <a:prstDash val="solid"/>
          </a:ln>
        </p:spPr>
      </p:sp>
      <p:sp>
        <p:nvSpPr>
          <p:cNvPr id="56" name="Shape 47"/>
          <p:cNvSpPr/>
          <p:nvPr/>
        </p:nvSpPr>
        <p:spPr>
          <a:xfrm>
            <a:off x="4443984" y="4146557"/>
            <a:ext cx="146304" cy="146304"/>
          </a:xfrm>
          <a:prstGeom prst="ellipse">
            <a:avLst/>
          </a:prstGeom>
          <a:solidFill>
            <a:srgbClr val="673AB7"/>
          </a:solidFill>
          <a:ln w="6350">
            <a:solidFill>
              <a:srgbClr val="999999"/>
            </a:solidFill>
            <a:prstDash val="solid"/>
          </a:ln>
        </p:spPr>
      </p:sp>
      <p:sp>
        <p:nvSpPr>
          <p:cNvPr id="57" name="Shape 48"/>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58" name="Text 49"/>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59" name="Text 50"/>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60" name="Text 51"/>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1" name="Text 52"/>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2" name="Text 53"/>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3" name="Shape 54"/>
          <p:cNvSpPr/>
          <p:nvPr/>
        </p:nvSpPr>
        <p:spPr>
          <a:xfrm>
            <a:off x="1554480" y="3936245"/>
            <a:ext cx="3017520" cy="219456"/>
          </a:xfrm>
          <a:prstGeom prst="roundRect">
            <a:avLst>
              <a:gd name="adj" fmla="val 12500"/>
            </a:avLst>
          </a:prstGeom>
          <a:solidFill>
            <a:srgbClr val="F5F5F5"/>
          </a:solidFill>
          <a:ln w="12700">
            <a:solidFill>
              <a:srgbClr val="F5F5F5"/>
            </a:solidFill>
            <a:prstDash val="solid"/>
          </a:ln>
        </p:spPr>
      </p:sp>
      <p:sp>
        <p:nvSpPr>
          <p:cNvPr id="64" name="Text 55"/>
          <p:cNvSpPr txBox="1"/>
          <p:nvPr/>
        </p:nvSpPr>
        <p:spPr>
          <a:xfrm>
            <a:off x="1600200" y="3936245"/>
            <a:ext cx="301752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Number ▾    Between ▾    0   and   30    Pesan: Masukkan angka 0–30</a:t>
            </a:r>
            <a:endParaRPr lang="en-US" sz="650" dirty="0"/>
          </a:p>
        </p:txBody>
      </p:sp>
      <p:sp>
        <p:nvSpPr>
          <p:cNvPr id="65" name="Shape 56"/>
          <p:cNvSpPr/>
          <p:nvPr/>
        </p:nvSpPr>
        <p:spPr>
          <a:xfrm>
            <a:off x="1536192" y="3917957"/>
            <a:ext cx="3054096" cy="256032"/>
          </a:xfrm>
          <a:prstGeom prst="roundRect">
            <a:avLst>
              <a:gd name="adj" fmla="val 17857"/>
            </a:avLst>
          </a:prstGeom>
          <a:solidFill>
            <a:srgbClr val="FFFFFF">
              <a:alpha val="0"/>
            </a:srgbClr>
          </a:solidFill>
          <a:ln w="31750">
            <a:solidFill>
              <a:srgbClr val="E53935"/>
            </a:solidFill>
            <a:prstDash val="solid"/>
          </a:ln>
        </p:spPr>
      </p:sp>
      <p:sp>
        <p:nvSpPr>
          <p:cNvPr id="66" name="Shape 57"/>
          <p:cNvSpPr/>
          <p:nvPr/>
        </p:nvSpPr>
        <p:spPr>
          <a:xfrm>
            <a:off x="4453128" y="3780797"/>
            <a:ext cx="274320" cy="274320"/>
          </a:xfrm>
          <a:prstGeom prst="ellipse">
            <a:avLst/>
          </a:prstGeom>
          <a:solidFill>
            <a:srgbClr val="E53935"/>
          </a:solidFill>
          <a:ln w="12700">
            <a:solidFill>
              <a:srgbClr val="FFFFFF"/>
            </a:solidFill>
            <a:prstDash val="solid"/>
          </a:ln>
        </p:spPr>
      </p:sp>
      <p:sp>
        <p:nvSpPr>
          <p:cNvPr id="67" name="Text 58"/>
          <p:cNvSpPr txBox="1"/>
          <p:nvPr/>
        </p:nvSpPr>
        <p:spPr>
          <a:xfrm>
            <a:off x="4453128" y="378079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68" name="Image 7" descr="preencoded.png">    </p:cNvPr>
          <p:cNvPicPr>
            <a:picLocks noChangeAspect="1"/>
          </p:cNvPicPr>
          <p:nvPr/>
        </p:nvPicPr>
        <p:blipFill>
          <a:blip r:embed="rId8"/>
          <a:stretch>
            <a:fillRect/>
          </a:stretch>
        </p:blipFill>
        <p:spPr>
          <a:xfrm>
            <a:off x="3214116" y="4056946"/>
            <a:ext cx="237744" cy="237744"/>
          </a:xfrm>
          <a:prstGeom prst="rect">
            <a:avLst/>
          </a:prstGeom>
        </p:spPr>
      </p:pic>
      <p:sp>
        <p:nvSpPr>
          <p:cNvPr id="69" name="Text 5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0" name="Text 6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Titik tiga › Response validation</a:t>
            </a:r>
            <a:endParaRPr lang="en-US" sz="1800" dirty="0"/>
          </a:p>
        </p:txBody>
      </p:sp>
      <p:sp>
        <p:nvSpPr>
          <p:cNvPr id="71" name="Text 6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titik tiga di pojok kanan bawah pertanyaan › Response validation. Pilih Number › Between › 0 dan 30. Tulis pesan kesalahan.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Pengaturan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Pendaftaran Ekstrakurikuler Santri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Pendaftaran Ekstrakurikuler Santri</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Questions</a:t>
            </a:r>
            <a:endParaRPr lang="en-US" sz="750" dirty="0"/>
          </a:p>
        </p:txBody>
      </p:sp>
      <p:sp>
        <p:nvSpPr>
          <p:cNvPr id="34" name="Text 25"/>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5" name="Text 26"/>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Settings</a:t>
            </a:r>
            <a:endParaRPr lang="en-US" sz="750" dirty="0"/>
          </a:p>
        </p:txBody>
      </p:sp>
      <p:sp>
        <p:nvSpPr>
          <p:cNvPr id="36" name="Shape 27"/>
          <p:cNvSpPr/>
          <p:nvPr/>
        </p:nvSpPr>
        <p:spPr>
          <a:xfrm>
            <a:off x="3474720" y="2153165"/>
            <a:ext cx="502920" cy="22860"/>
          </a:xfrm>
          <a:prstGeom prst="rect">
            <a:avLst/>
          </a:prstGeom>
          <a:solidFill>
            <a:srgbClr val="673AB7"/>
          </a:solidFill>
          <a:ln w="12700">
            <a:solidFill>
              <a:srgbClr val="673AB7"/>
            </a:solidFill>
            <a:prstDash val="solid"/>
          </a:ln>
        </p:spPr>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1097280"/>
          </a:xfrm>
          <a:prstGeom prst="roundRect">
            <a:avLst>
              <a:gd name="adj" fmla="val 4167"/>
            </a:avLst>
          </a:prstGeom>
          <a:solidFill>
            <a:srgbClr val="FFFFFF"/>
          </a:solidFill>
          <a:ln w="12700">
            <a:solidFill>
              <a:srgbClr val="FFFFFF"/>
            </a:solidFill>
            <a:prstDash val="solid"/>
          </a:ln>
        </p:spPr>
      </p:sp>
      <p:sp>
        <p:nvSpPr>
          <p:cNvPr id="39" name="Text 30"/>
          <p:cNvSpPr txBox="1"/>
          <p:nvPr/>
        </p:nvSpPr>
        <p:spPr>
          <a:xfrm>
            <a:off x="1572768" y="2326901"/>
            <a:ext cx="1828800" cy="201168"/>
          </a:xfrm>
          <a:prstGeom prst="rect">
            <a:avLst/>
          </a:prstGeom>
          <a:noFill/>
          <a:ln/>
        </p:spPr>
        <p:txBody>
          <a:bodyPr wrap="square" lIns="0" tIns="0" rIns="0" bIns="0" rtlCol="0" anchor="t"/>
          <a:lstStyle/>
          <a:p>
            <a:pPr indent="0" marL="0">
              <a:buNone/>
            </a:pPr>
            <a:r>
              <a:rPr lang="en-US" sz="1000" dirty="0">
                <a:solidFill>
                  <a:srgbClr val="1E2A26"/>
                </a:solidFill>
                <a:latin typeface="Calibri" pitchFamily="34" charset="0"/>
                <a:ea typeface="Calibri" pitchFamily="34" charset="-122"/>
                <a:cs typeface="Calibri" pitchFamily="34" charset="-120"/>
              </a:rPr>
              <a:t>Presentation</a:t>
            </a:r>
            <a:endParaRPr lang="en-US" sz="1000" dirty="0"/>
          </a:p>
        </p:txBody>
      </p:sp>
      <p:sp>
        <p:nvSpPr>
          <p:cNvPr id="40" name="Text 31"/>
          <p:cNvSpPr txBox="1"/>
          <p:nvPr/>
        </p:nvSpPr>
        <p:spPr>
          <a:xfrm>
            <a:off x="1572768" y="2619509"/>
            <a:ext cx="1828800" cy="164592"/>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Confirmation message</a:t>
            </a:r>
            <a:endParaRPr lang="en-US" sz="750" dirty="0"/>
          </a:p>
        </p:txBody>
      </p:sp>
      <p:sp>
        <p:nvSpPr>
          <p:cNvPr id="41" name="Shape 32"/>
          <p:cNvSpPr/>
          <p:nvPr/>
        </p:nvSpPr>
        <p:spPr>
          <a:xfrm>
            <a:off x="1572768" y="2820677"/>
            <a:ext cx="2971800" cy="411480"/>
          </a:xfrm>
          <a:prstGeom prst="roundRect">
            <a:avLst>
              <a:gd name="adj" fmla="val 6667"/>
            </a:avLst>
          </a:prstGeom>
          <a:solidFill>
            <a:srgbClr val="F5F5F5"/>
          </a:solidFill>
          <a:ln w="12700">
            <a:solidFill>
              <a:srgbClr val="F5F5F5"/>
            </a:solidFill>
            <a:prstDash val="solid"/>
          </a:ln>
        </p:spPr>
      </p:sp>
      <p:sp>
        <p:nvSpPr>
          <p:cNvPr id="42" name="Text 33"/>
          <p:cNvSpPr txBox="1"/>
          <p:nvPr/>
        </p:nvSpPr>
        <p:spPr>
          <a:xfrm>
            <a:off x="1618488" y="2820677"/>
            <a:ext cx="2880360" cy="4114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Jazakumullahu khairan. Pendaftaranmu sudah diterima pengurus.</a:t>
            </a:r>
            <a:endParaRPr lang="en-US" sz="750" dirty="0"/>
          </a:p>
        </p:txBody>
      </p:sp>
      <p:sp>
        <p:nvSpPr>
          <p:cNvPr id="43" name="Shape 34"/>
          <p:cNvSpPr/>
          <p:nvPr/>
        </p:nvSpPr>
        <p:spPr>
          <a:xfrm>
            <a:off x="3410712" y="1951997"/>
            <a:ext cx="630936" cy="219456"/>
          </a:xfrm>
          <a:prstGeom prst="roundRect">
            <a:avLst>
              <a:gd name="adj" fmla="val 20833"/>
            </a:avLst>
          </a:prstGeom>
          <a:solidFill>
            <a:srgbClr val="FFFFFF">
              <a:alpha val="0"/>
            </a:srgbClr>
          </a:solidFill>
          <a:ln w="31750">
            <a:solidFill>
              <a:srgbClr val="E53935"/>
            </a:solidFill>
            <a:prstDash val="solid"/>
          </a:ln>
        </p:spPr>
      </p:sp>
      <p:sp>
        <p:nvSpPr>
          <p:cNvPr id="44" name="Shape 35"/>
          <p:cNvSpPr/>
          <p:nvPr/>
        </p:nvSpPr>
        <p:spPr>
          <a:xfrm>
            <a:off x="3904488" y="1814837"/>
            <a:ext cx="274320" cy="274320"/>
          </a:xfrm>
          <a:prstGeom prst="ellipse">
            <a:avLst/>
          </a:prstGeom>
          <a:solidFill>
            <a:srgbClr val="E53935"/>
          </a:solidFill>
          <a:ln w="12700">
            <a:solidFill>
              <a:srgbClr val="FFFFFF"/>
            </a:solidFill>
            <a:prstDash val="solid"/>
          </a:ln>
        </p:spPr>
      </p:sp>
      <p:sp>
        <p:nvSpPr>
          <p:cNvPr id="45" name="Text 36"/>
          <p:cNvSpPr txBox="1"/>
          <p:nvPr/>
        </p:nvSpPr>
        <p:spPr>
          <a:xfrm>
            <a:off x="3904488" y="18148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6" name="Image 7" descr="preencoded.png">    </p:cNvPr>
          <p:cNvPicPr>
            <a:picLocks noChangeAspect="1"/>
          </p:cNvPicPr>
          <p:nvPr/>
        </p:nvPicPr>
        <p:blipFill>
          <a:blip r:embed="rId8"/>
          <a:stretch>
            <a:fillRect/>
          </a:stretch>
        </p:blipFill>
        <p:spPr>
          <a:xfrm>
            <a:off x="3755898" y="2070869"/>
            <a:ext cx="237744" cy="237744"/>
          </a:xfrm>
          <a:prstGeom prst="rect">
            <a:avLst/>
          </a:prstGeom>
        </p:spPr>
      </p:pic>
      <p:sp>
        <p:nvSpPr>
          <p:cNvPr id="47" name="Shape 37"/>
          <p:cNvSpPr/>
          <p:nvPr/>
        </p:nvSpPr>
        <p:spPr>
          <a:xfrm>
            <a:off x="1554480" y="2802389"/>
            <a:ext cx="3008376" cy="448056"/>
          </a:xfrm>
          <a:prstGeom prst="roundRect">
            <a:avLst>
              <a:gd name="adj" fmla="val 10204"/>
            </a:avLst>
          </a:prstGeom>
          <a:solidFill>
            <a:srgbClr val="FFFFFF">
              <a:alpha val="0"/>
            </a:srgbClr>
          </a:solidFill>
          <a:ln w="31750">
            <a:solidFill>
              <a:srgbClr val="E53935"/>
            </a:solidFill>
            <a:prstDash val="solid"/>
          </a:ln>
        </p:spPr>
      </p:sp>
      <p:sp>
        <p:nvSpPr>
          <p:cNvPr id="48" name="Shape 38"/>
          <p:cNvSpPr/>
          <p:nvPr/>
        </p:nvSpPr>
        <p:spPr>
          <a:xfrm>
            <a:off x="4425696" y="2665229"/>
            <a:ext cx="274320" cy="274320"/>
          </a:xfrm>
          <a:prstGeom prst="ellipse">
            <a:avLst/>
          </a:prstGeom>
          <a:solidFill>
            <a:srgbClr val="E53935"/>
          </a:solidFill>
          <a:ln w="12700">
            <a:solidFill>
              <a:srgbClr val="FFFFFF"/>
            </a:solidFill>
            <a:prstDash val="solid"/>
          </a:ln>
        </p:spPr>
      </p:sp>
      <p:sp>
        <p:nvSpPr>
          <p:cNvPr id="49" name="Text 39"/>
          <p:cNvSpPr txBox="1"/>
          <p:nvPr/>
        </p:nvSpPr>
        <p:spPr>
          <a:xfrm>
            <a:off x="4425696" y="266522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0" name="Image 8" descr="preencoded.png">    </p:cNvPr>
          <p:cNvPicPr>
            <a:picLocks noChangeAspect="1"/>
          </p:cNvPicPr>
          <p:nvPr/>
        </p:nvPicPr>
        <p:blipFill>
          <a:blip r:embed="rId9"/>
          <a:stretch>
            <a:fillRect/>
          </a:stretch>
        </p:blipFill>
        <p:spPr>
          <a:xfrm>
            <a:off x="3207258" y="3046991"/>
            <a:ext cx="237744" cy="237744"/>
          </a:xfrm>
          <a:prstGeom prst="rect">
            <a:avLst/>
          </a:prstGeom>
        </p:spPr>
      </p:pic>
      <p:sp>
        <p:nvSpPr>
          <p:cNvPr id="51" name="Text 4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2" name="Text 4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Tab Settings › Presentation</a:t>
            </a:r>
            <a:endParaRPr lang="en-US" sz="1800" dirty="0"/>
          </a:p>
        </p:txBody>
      </p:sp>
      <p:sp>
        <p:nvSpPr>
          <p:cNvPr id="53" name="Text 4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tab Settings. Buka bagian Presentation. Pada Confirmation message, klik Edit dan tulis ucapan terima kasih.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Pengaturan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Text 6"/>
          <p:cNvSpPr txBox="1"/>
          <p:nvPr/>
        </p:nvSpPr>
        <p:spPr>
          <a:xfrm>
            <a:off x="914400" y="1188720"/>
            <a:ext cx="4114800" cy="365760"/>
          </a:xfrm>
          <a:prstGeom prst="rect">
            <a:avLst/>
          </a:prstGeom>
          <a:noFill/>
          <a:ln/>
        </p:spPr>
        <p:txBody>
          <a:bodyPr wrap="square" lIns="0" tIns="0" rIns="0" bIns="0" rtlCol="0" anchor="t"/>
          <a:lstStyle/>
          <a:p>
            <a:pPr indent="0" marL="0">
              <a:buNone/>
            </a:pPr>
            <a:r>
              <a:rPr lang="en-US" sz="1600" b="1" dirty="0">
                <a:solidFill>
                  <a:srgbClr val="0F4C3A"/>
                </a:solidFill>
                <a:latin typeface="Cambria" pitchFamily="34" charset="0"/>
                <a:ea typeface="Cambria" pitchFamily="34" charset="-122"/>
                <a:cs typeface="Cambria" pitchFamily="34" charset="-120"/>
              </a:rPr>
              <a:t>Periksa Privasi Formulir</a:t>
            </a:r>
            <a:endParaRPr lang="en-US" sz="1600" dirty="0"/>
          </a:p>
        </p:txBody>
      </p:sp>
      <p:sp>
        <p:nvSpPr>
          <p:cNvPr id="11" name="Text 7"/>
          <p:cNvSpPr txBox="1"/>
          <p:nvPr/>
        </p:nvSpPr>
        <p:spPr>
          <a:xfrm>
            <a:off x="1051560" y="1737360"/>
            <a:ext cx="274320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Nama panggilan</a:t>
            </a:r>
            <a:endParaRPr lang="en-US" sz="1400" dirty="0"/>
          </a:p>
        </p:txBody>
      </p:sp>
      <p:sp>
        <p:nvSpPr>
          <p:cNvPr id="12" name="Shape 8"/>
          <p:cNvSpPr/>
          <p:nvPr/>
        </p:nvSpPr>
        <p:spPr>
          <a:xfrm>
            <a:off x="3977640" y="1783080"/>
            <a:ext cx="822960" cy="310896"/>
          </a:xfrm>
          <a:prstGeom prst="roundRect">
            <a:avLst>
              <a:gd name="adj" fmla="val 50000"/>
            </a:avLst>
          </a:prstGeom>
          <a:solidFill>
            <a:srgbClr val="1F7A5C"/>
          </a:solidFill>
          <a:ln w="12700">
            <a:solidFill>
              <a:srgbClr val="1F7A5C"/>
            </a:solidFill>
            <a:prstDash val="solid"/>
          </a:ln>
        </p:spPr>
      </p:sp>
      <p:sp>
        <p:nvSpPr>
          <p:cNvPr id="13" name="Text 9"/>
          <p:cNvSpPr txBox="1"/>
          <p:nvPr/>
        </p:nvSpPr>
        <p:spPr>
          <a:xfrm>
            <a:off x="3977640" y="1783080"/>
            <a:ext cx="8229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Boleh</a:t>
            </a:r>
            <a:endParaRPr lang="en-US" sz="1200" dirty="0"/>
          </a:p>
        </p:txBody>
      </p:sp>
      <p:sp>
        <p:nvSpPr>
          <p:cNvPr id="14" name="Text 10"/>
          <p:cNvSpPr txBox="1"/>
          <p:nvPr/>
        </p:nvSpPr>
        <p:spPr>
          <a:xfrm>
            <a:off x="1051560" y="2267712"/>
            <a:ext cx="274320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Kelas</a:t>
            </a:r>
            <a:endParaRPr lang="en-US" sz="1400" dirty="0"/>
          </a:p>
        </p:txBody>
      </p:sp>
      <p:sp>
        <p:nvSpPr>
          <p:cNvPr id="15" name="Shape 11"/>
          <p:cNvSpPr/>
          <p:nvPr/>
        </p:nvSpPr>
        <p:spPr>
          <a:xfrm>
            <a:off x="3977640" y="2313432"/>
            <a:ext cx="822960" cy="310896"/>
          </a:xfrm>
          <a:prstGeom prst="roundRect">
            <a:avLst>
              <a:gd name="adj" fmla="val 50000"/>
            </a:avLst>
          </a:prstGeom>
          <a:solidFill>
            <a:srgbClr val="1F7A5C"/>
          </a:solidFill>
          <a:ln w="12700">
            <a:solidFill>
              <a:srgbClr val="1F7A5C"/>
            </a:solidFill>
            <a:prstDash val="solid"/>
          </a:ln>
        </p:spPr>
      </p:sp>
      <p:sp>
        <p:nvSpPr>
          <p:cNvPr id="16" name="Text 12"/>
          <p:cNvSpPr txBox="1"/>
          <p:nvPr/>
        </p:nvSpPr>
        <p:spPr>
          <a:xfrm>
            <a:off x="3977640" y="2313432"/>
            <a:ext cx="8229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Boleh</a:t>
            </a:r>
            <a:endParaRPr lang="en-US" sz="1200" dirty="0"/>
          </a:p>
        </p:txBody>
      </p:sp>
      <p:sp>
        <p:nvSpPr>
          <p:cNvPr id="17" name="Text 13"/>
          <p:cNvSpPr txBox="1"/>
          <p:nvPr/>
        </p:nvSpPr>
        <p:spPr>
          <a:xfrm>
            <a:off x="1051560" y="2798064"/>
            <a:ext cx="274320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Pilihan kegiatan</a:t>
            </a:r>
            <a:endParaRPr lang="en-US" sz="1400" dirty="0"/>
          </a:p>
        </p:txBody>
      </p:sp>
      <p:sp>
        <p:nvSpPr>
          <p:cNvPr id="18" name="Shape 14"/>
          <p:cNvSpPr/>
          <p:nvPr/>
        </p:nvSpPr>
        <p:spPr>
          <a:xfrm>
            <a:off x="3977640" y="2843784"/>
            <a:ext cx="822960" cy="310896"/>
          </a:xfrm>
          <a:prstGeom prst="roundRect">
            <a:avLst>
              <a:gd name="adj" fmla="val 50000"/>
            </a:avLst>
          </a:prstGeom>
          <a:solidFill>
            <a:srgbClr val="1F7A5C"/>
          </a:solidFill>
          <a:ln w="12700">
            <a:solidFill>
              <a:srgbClr val="1F7A5C"/>
            </a:solidFill>
            <a:prstDash val="solid"/>
          </a:ln>
        </p:spPr>
      </p:sp>
      <p:sp>
        <p:nvSpPr>
          <p:cNvPr id="19" name="Text 15"/>
          <p:cNvSpPr txBox="1"/>
          <p:nvPr/>
        </p:nvSpPr>
        <p:spPr>
          <a:xfrm>
            <a:off x="3977640" y="2843784"/>
            <a:ext cx="8229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Boleh</a:t>
            </a:r>
            <a:endParaRPr lang="en-US" sz="1200" dirty="0"/>
          </a:p>
        </p:txBody>
      </p:sp>
      <p:sp>
        <p:nvSpPr>
          <p:cNvPr id="20" name="Text 16"/>
          <p:cNvSpPr txBox="1"/>
          <p:nvPr/>
        </p:nvSpPr>
        <p:spPr>
          <a:xfrm>
            <a:off x="1051560" y="3328416"/>
            <a:ext cx="274320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Alamat rumah lengkap</a:t>
            </a:r>
            <a:endParaRPr lang="en-US" sz="1400" dirty="0"/>
          </a:p>
        </p:txBody>
      </p:sp>
      <p:sp>
        <p:nvSpPr>
          <p:cNvPr id="21" name="Shape 17"/>
          <p:cNvSpPr/>
          <p:nvPr/>
        </p:nvSpPr>
        <p:spPr>
          <a:xfrm>
            <a:off x="3977640" y="3374136"/>
            <a:ext cx="822960" cy="310896"/>
          </a:xfrm>
          <a:prstGeom prst="roundRect">
            <a:avLst>
              <a:gd name="adj" fmla="val 50000"/>
            </a:avLst>
          </a:prstGeom>
          <a:solidFill>
            <a:srgbClr val="E53935"/>
          </a:solidFill>
          <a:ln w="12700">
            <a:solidFill>
              <a:srgbClr val="E53935"/>
            </a:solidFill>
            <a:prstDash val="solid"/>
          </a:ln>
        </p:spPr>
      </p:sp>
      <p:sp>
        <p:nvSpPr>
          <p:cNvPr id="22" name="Text 18"/>
          <p:cNvSpPr txBox="1"/>
          <p:nvPr/>
        </p:nvSpPr>
        <p:spPr>
          <a:xfrm>
            <a:off x="3977640" y="3374136"/>
            <a:ext cx="8229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Hapus</a:t>
            </a:r>
            <a:endParaRPr lang="en-US" sz="1200" dirty="0"/>
          </a:p>
        </p:txBody>
      </p:sp>
      <p:sp>
        <p:nvSpPr>
          <p:cNvPr id="23" name="Text 19"/>
          <p:cNvSpPr txBox="1"/>
          <p:nvPr/>
        </p:nvSpPr>
        <p:spPr>
          <a:xfrm>
            <a:off x="1051560" y="3858768"/>
            <a:ext cx="2743200" cy="38404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Nomor HP orang tua</a:t>
            </a:r>
            <a:endParaRPr lang="en-US" sz="1400" dirty="0"/>
          </a:p>
        </p:txBody>
      </p:sp>
      <p:sp>
        <p:nvSpPr>
          <p:cNvPr id="24" name="Shape 20"/>
          <p:cNvSpPr/>
          <p:nvPr/>
        </p:nvSpPr>
        <p:spPr>
          <a:xfrm>
            <a:off x="3977640" y="3904488"/>
            <a:ext cx="822960" cy="310896"/>
          </a:xfrm>
          <a:prstGeom prst="roundRect">
            <a:avLst>
              <a:gd name="adj" fmla="val 50000"/>
            </a:avLst>
          </a:prstGeom>
          <a:solidFill>
            <a:srgbClr val="E53935"/>
          </a:solidFill>
          <a:ln w="12700">
            <a:solidFill>
              <a:srgbClr val="E53935"/>
            </a:solidFill>
            <a:prstDash val="solid"/>
          </a:ln>
        </p:spPr>
      </p:sp>
      <p:sp>
        <p:nvSpPr>
          <p:cNvPr id="25" name="Text 21"/>
          <p:cNvSpPr txBox="1"/>
          <p:nvPr/>
        </p:nvSpPr>
        <p:spPr>
          <a:xfrm>
            <a:off x="3977640" y="3904488"/>
            <a:ext cx="8229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Hapus</a:t>
            </a:r>
            <a:endParaRPr lang="en-US" sz="1200" dirty="0"/>
          </a:p>
        </p:txBody>
      </p:sp>
      <p:sp>
        <p:nvSpPr>
          <p:cNvPr id="26"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27"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Periksa privasi: tidak ada data sensitif</a:t>
            </a:r>
            <a:endParaRPr lang="en-US" sz="1800" dirty="0"/>
          </a:p>
        </p:txBody>
      </p:sp>
      <p:sp>
        <p:nvSpPr>
          <p:cNvPr id="28"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Baca ulang semua pertanyaan. Hapus pertanyaan yang meminta alamat, nomor HP, NIK, atau data kesehatan. Uji lagi dengan Preview.</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Formulirmu harus memenuhi: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Terbagi menjadi 2 bagian: Data Diri dan Pilihan Kegiatan.</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Ada 1 pertanyaan angka dengan validasi dan pesan kesalahan.</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Pesan konfirmasi sudah diganti dengan kalimat yang santun.</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Tidak ada pertanyaan data pribadi sensitif.</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Formulir dibagi minimal 2 bagian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1 validasi jawaban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Pesan konfirmasi sudah diubah</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Tidak ada pertanyaan data sensitif</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formulir panjang sebaiknya dibagi bagian?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gunanya validasi jawaban?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Hormati waktu orang lain: buat formulir yang singkat, jelas, dan mudah diisi.</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Formulir Digital Kegiatan Santri, dibagikan dan dibaca hasilnya.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03</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Formulir Digital Kegiatan Santri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membagikan formulir dan membaca hasilnya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 Google Forms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Setelah formulir jadi, bagaimana caranya agar santri lain bisa mengisinya?</a:t>
            </a:r>
            <a:endParaRPr lang="en-US" sz="2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03</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formulir untuk kebutuhan nyata pesantren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Membagikan formulir melalui link</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Membaca hasil di tab Responses dan menghubungkannya ke Google Sheets</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Ide Formulir untuk Pesantren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Pendaftaran Kegiatan</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Ekstrakurikuler, lomba, atau kepanitiaan acara pondok.</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Survei Kantin</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Usulan menu dan penilaian pelayanan kantin.</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Survei Kebersihan</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Penilaian kebersihan kamar dan asrama per pekan.</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Usulan Buku Perpustakaan</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Buku apa yang ingin dibaca santri.</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Membagikan Formulir dengan Bijak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Lakukan</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Bagikan link hanya kepada yang perlu mengisi</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Beri batas waktu pengisian</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Tutup formulir setelah selesai</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Hindari</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Menyebarkan link ke grup umum</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Membiarkan formulir terbuka selamanya</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Membagikan hasil jawaban kepada sembarang orang</a:t>
            </a:r>
            <a:endParaRPr lang="en-US" sz="14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Proyek Formulir Kegiatan Santri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formulir kelompok</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2–4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Membagikan dan mengisi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Membaca hasil dan Link to Sheets</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Survei Menu Kantin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Survei Menu Kantin</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Survei Menu Kantin</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Bantu pengurus memilih menu. Jawaban hanya untuk pengurus kantin.</a:t>
            </a:r>
            <a:endParaRPr lang="en-US" sz="750" dirty="0"/>
          </a:p>
        </p:txBody>
      </p:sp>
      <p:sp>
        <p:nvSpPr>
          <p:cNvPr id="42" name="Shape 33"/>
          <p:cNvSpPr/>
          <p:nvPr/>
        </p:nvSpPr>
        <p:spPr>
          <a:xfrm>
            <a:off x="1463040" y="2893829"/>
            <a:ext cx="3200400" cy="694944"/>
          </a:xfrm>
          <a:prstGeom prst="roundRect">
            <a:avLst>
              <a:gd name="adj" fmla="val 6579"/>
            </a:avLst>
          </a:prstGeom>
          <a:solidFill>
            <a:srgbClr val="FFFFFF"/>
          </a:solidFill>
          <a:ln w="12700">
            <a:solidFill>
              <a:srgbClr val="FFFFFF"/>
            </a:solidFill>
            <a:prstDash val="solid"/>
          </a:ln>
        </p:spPr>
      </p:sp>
      <p:sp>
        <p:nvSpPr>
          <p:cNvPr id="43" name="Text 34"/>
          <p:cNvSpPr txBox="1"/>
          <p:nvPr/>
        </p:nvSpPr>
        <p:spPr>
          <a:xfrm>
            <a:off x="1572768" y="296698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Kelas *</a:t>
            </a:r>
            <a:endParaRPr lang="en-US" sz="850" dirty="0"/>
          </a:p>
        </p:txBody>
      </p:sp>
      <p:sp>
        <p:nvSpPr>
          <p:cNvPr id="44" name="Shape 35"/>
          <p:cNvSpPr/>
          <p:nvPr/>
        </p:nvSpPr>
        <p:spPr>
          <a:xfrm>
            <a:off x="1591056" y="3268733"/>
            <a:ext cx="91440" cy="91440"/>
          </a:xfrm>
          <a:prstGeom prst="ellipse">
            <a:avLst/>
          </a:prstGeom>
          <a:solidFill>
            <a:srgbClr val="FFFFFF"/>
          </a:solidFill>
          <a:ln w="9525">
            <a:solidFill>
              <a:srgbClr val="888888"/>
            </a:solidFill>
            <a:prstDash val="solid"/>
          </a:ln>
        </p:spPr>
      </p:sp>
      <p:sp>
        <p:nvSpPr>
          <p:cNvPr id="45" name="Text 36"/>
          <p:cNvSpPr txBox="1"/>
          <p:nvPr/>
        </p:nvSpPr>
        <p:spPr>
          <a:xfrm>
            <a:off x="1737360" y="3241301"/>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8A</a:t>
            </a:r>
            <a:endParaRPr lang="en-US" sz="750" dirty="0"/>
          </a:p>
        </p:txBody>
      </p:sp>
      <p:sp>
        <p:nvSpPr>
          <p:cNvPr id="46" name="Shape 37"/>
          <p:cNvSpPr/>
          <p:nvPr/>
        </p:nvSpPr>
        <p:spPr>
          <a:xfrm>
            <a:off x="1591056" y="3424181"/>
            <a:ext cx="91440" cy="91440"/>
          </a:xfrm>
          <a:prstGeom prst="ellipse">
            <a:avLst/>
          </a:prstGeom>
          <a:solidFill>
            <a:srgbClr val="FFFFFF"/>
          </a:solidFill>
          <a:ln w="9525">
            <a:solidFill>
              <a:srgbClr val="888888"/>
            </a:solidFill>
            <a:prstDash val="solid"/>
          </a:ln>
        </p:spPr>
      </p:sp>
      <p:sp>
        <p:nvSpPr>
          <p:cNvPr id="47" name="Text 38"/>
          <p:cNvSpPr txBox="1"/>
          <p:nvPr/>
        </p:nvSpPr>
        <p:spPr>
          <a:xfrm>
            <a:off x="1737360" y="3396749"/>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8B</a:t>
            </a:r>
            <a:endParaRPr lang="en-US" sz="750" dirty="0"/>
          </a:p>
        </p:txBody>
      </p:sp>
      <p:sp>
        <p:nvSpPr>
          <p:cNvPr id="48" name="Shape 39"/>
          <p:cNvSpPr/>
          <p:nvPr/>
        </p:nvSpPr>
        <p:spPr>
          <a:xfrm>
            <a:off x="1463040" y="3661925"/>
            <a:ext cx="3200400" cy="1078992"/>
          </a:xfrm>
          <a:prstGeom prst="roundRect">
            <a:avLst>
              <a:gd name="adj" fmla="val 4237"/>
            </a:avLst>
          </a:prstGeom>
          <a:solidFill>
            <a:srgbClr val="FFFFFF"/>
          </a:solidFill>
          <a:ln w="12700">
            <a:solidFill>
              <a:srgbClr val="FFFFFF"/>
            </a:solidFill>
            <a:prstDash val="solid"/>
          </a:ln>
        </p:spPr>
      </p:sp>
      <p:sp>
        <p:nvSpPr>
          <p:cNvPr id="49" name="Shape 40"/>
          <p:cNvSpPr/>
          <p:nvPr/>
        </p:nvSpPr>
        <p:spPr>
          <a:xfrm>
            <a:off x="1463040" y="3661925"/>
            <a:ext cx="36576" cy="1078992"/>
          </a:xfrm>
          <a:prstGeom prst="rect">
            <a:avLst/>
          </a:prstGeom>
          <a:solidFill>
            <a:srgbClr val="4285F4"/>
          </a:solidFill>
          <a:ln w="12700">
            <a:solidFill>
              <a:srgbClr val="4285F4"/>
            </a:solidFill>
            <a:prstDash val="solid"/>
          </a:ln>
        </p:spPr>
      </p:sp>
      <p:sp>
        <p:nvSpPr>
          <p:cNvPr id="50" name="Text 41"/>
          <p:cNvSpPr txBox="1"/>
          <p:nvPr/>
        </p:nvSpPr>
        <p:spPr>
          <a:xfrm>
            <a:off x="1572768" y="3735077"/>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Menu yang paling kamu sukai *</a:t>
            </a:r>
            <a:endParaRPr lang="en-US" sz="850" dirty="0"/>
          </a:p>
        </p:txBody>
      </p:sp>
      <p:sp>
        <p:nvSpPr>
          <p:cNvPr id="51" name="Shape 42"/>
          <p:cNvSpPr/>
          <p:nvPr/>
        </p:nvSpPr>
        <p:spPr>
          <a:xfrm>
            <a:off x="3520440" y="3725933"/>
            <a:ext cx="1051560" cy="219456"/>
          </a:xfrm>
          <a:prstGeom prst="roundRect">
            <a:avLst>
              <a:gd name="adj" fmla="val 12500"/>
            </a:avLst>
          </a:prstGeom>
          <a:solidFill>
            <a:srgbClr val="FFFFFF"/>
          </a:solidFill>
          <a:ln w="9525">
            <a:solidFill>
              <a:srgbClr val="CCCCCC"/>
            </a:solidFill>
            <a:prstDash val="solid"/>
          </a:ln>
        </p:spPr>
      </p:sp>
      <p:sp>
        <p:nvSpPr>
          <p:cNvPr id="52" name="Text 43"/>
          <p:cNvSpPr txBox="1"/>
          <p:nvPr/>
        </p:nvSpPr>
        <p:spPr>
          <a:xfrm>
            <a:off x="3566160" y="3725933"/>
            <a:ext cx="100584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Multiple choice ▾</a:t>
            </a:r>
            <a:endParaRPr lang="en-US" sz="700" dirty="0"/>
          </a:p>
        </p:txBody>
      </p:sp>
      <p:sp>
        <p:nvSpPr>
          <p:cNvPr id="53" name="Shape 44"/>
          <p:cNvSpPr/>
          <p:nvPr/>
        </p:nvSpPr>
        <p:spPr>
          <a:xfrm>
            <a:off x="1591056" y="4036829"/>
            <a:ext cx="91440" cy="91440"/>
          </a:xfrm>
          <a:prstGeom prst="ellipse">
            <a:avLst/>
          </a:prstGeom>
          <a:solidFill>
            <a:srgbClr val="FFFFFF"/>
          </a:solidFill>
          <a:ln w="9525">
            <a:solidFill>
              <a:srgbClr val="888888"/>
            </a:solidFill>
            <a:prstDash val="solid"/>
          </a:ln>
        </p:spPr>
      </p:sp>
      <p:sp>
        <p:nvSpPr>
          <p:cNvPr id="54" name="Text 45"/>
          <p:cNvSpPr txBox="1"/>
          <p:nvPr/>
        </p:nvSpPr>
        <p:spPr>
          <a:xfrm>
            <a:off x="1737360" y="4009397"/>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Nasi kuning</a:t>
            </a:r>
            <a:endParaRPr lang="en-US" sz="750" dirty="0"/>
          </a:p>
        </p:txBody>
      </p:sp>
      <p:sp>
        <p:nvSpPr>
          <p:cNvPr id="55" name="Shape 46"/>
          <p:cNvSpPr/>
          <p:nvPr/>
        </p:nvSpPr>
        <p:spPr>
          <a:xfrm>
            <a:off x="1591056" y="4192277"/>
            <a:ext cx="91440" cy="91440"/>
          </a:xfrm>
          <a:prstGeom prst="ellipse">
            <a:avLst/>
          </a:prstGeom>
          <a:solidFill>
            <a:srgbClr val="FFFFFF"/>
          </a:solidFill>
          <a:ln w="9525">
            <a:solidFill>
              <a:srgbClr val="888888"/>
            </a:solidFill>
            <a:prstDash val="solid"/>
          </a:ln>
        </p:spPr>
      </p:sp>
      <p:sp>
        <p:nvSpPr>
          <p:cNvPr id="56" name="Text 47"/>
          <p:cNvSpPr txBox="1"/>
          <p:nvPr/>
        </p:nvSpPr>
        <p:spPr>
          <a:xfrm>
            <a:off x="1737360" y="4164845"/>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Mie goreng</a:t>
            </a:r>
            <a:endParaRPr lang="en-US" sz="750" dirty="0"/>
          </a:p>
        </p:txBody>
      </p:sp>
      <p:sp>
        <p:nvSpPr>
          <p:cNvPr id="57" name="Shape 48"/>
          <p:cNvSpPr/>
          <p:nvPr/>
        </p:nvSpPr>
        <p:spPr>
          <a:xfrm>
            <a:off x="1591056" y="4347725"/>
            <a:ext cx="91440" cy="91440"/>
          </a:xfrm>
          <a:prstGeom prst="ellipse">
            <a:avLst/>
          </a:prstGeom>
          <a:solidFill>
            <a:srgbClr val="FFFFFF"/>
          </a:solidFill>
          <a:ln w="9525">
            <a:solidFill>
              <a:srgbClr val="888888"/>
            </a:solidFill>
            <a:prstDash val="solid"/>
          </a:ln>
        </p:spPr>
      </p:sp>
      <p:sp>
        <p:nvSpPr>
          <p:cNvPr id="58" name="Text 49"/>
          <p:cNvSpPr txBox="1"/>
          <p:nvPr/>
        </p:nvSpPr>
        <p:spPr>
          <a:xfrm>
            <a:off x="1737360" y="4320293"/>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Bubur ayam</a:t>
            </a:r>
            <a:endParaRPr lang="en-US" sz="750" dirty="0"/>
          </a:p>
        </p:txBody>
      </p:sp>
      <p:sp>
        <p:nvSpPr>
          <p:cNvPr id="59" name="Shape 50"/>
          <p:cNvSpPr/>
          <p:nvPr/>
        </p:nvSpPr>
        <p:spPr>
          <a:xfrm>
            <a:off x="1554480" y="4466597"/>
            <a:ext cx="3017520" cy="0"/>
          </a:xfrm>
          <a:prstGeom prst="line">
            <a:avLst/>
          </a:prstGeom>
          <a:noFill/>
          <a:ln w="9525">
            <a:solidFill>
              <a:srgbClr val="E0E0E0"/>
            </a:solidFill>
            <a:prstDash val="solid"/>
          </a:ln>
        </p:spPr>
      </p:sp>
      <p:sp>
        <p:nvSpPr>
          <p:cNvPr id="60" name="Text 51"/>
          <p:cNvSpPr txBox="1"/>
          <p:nvPr/>
        </p:nvSpPr>
        <p:spPr>
          <a:xfrm>
            <a:off x="3840480" y="4503173"/>
            <a:ext cx="4572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Required</a:t>
            </a:r>
            <a:endParaRPr lang="en-US" sz="700" dirty="0"/>
          </a:p>
        </p:txBody>
      </p:sp>
      <p:sp>
        <p:nvSpPr>
          <p:cNvPr id="61" name="Shape 52"/>
          <p:cNvSpPr/>
          <p:nvPr/>
        </p:nvSpPr>
        <p:spPr>
          <a:xfrm>
            <a:off x="4315968" y="4539749"/>
            <a:ext cx="237744" cy="109728"/>
          </a:xfrm>
          <a:prstGeom prst="roundRect">
            <a:avLst>
              <a:gd name="adj" fmla="val 50000"/>
            </a:avLst>
          </a:prstGeom>
          <a:solidFill>
            <a:srgbClr val="B39DDB"/>
          </a:solidFill>
          <a:ln w="12700">
            <a:solidFill>
              <a:srgbClr val="B39DDB"/>
            </a:solidFill>
            <a:prstDash val="solid"/>
          </a:ln>
        </p:spPr>
      </p:sp>
      <p:sp>
        <p:nvSpPr>
          <p:cNvPr id="62" name="Shape 53"/>
          <p:cNvSpPr/>
          <p:nvPr/>
        </p:nvSpPr>
        <p:spPr>
          <a:xfrm>
            <a:off x="4443984" y="4521461"/>
            <a:ext cx="146304" cy="146304"/>
          </a:xfrm>
          <a:prstGeom prst="ellipse">
            <a:avLst/>
          </a:prstGeom>
          <a:solidFill>
            <a:srgbClr val="673AB7"/>
          </a:solidFill>
          <a:ln w="6350">
            <a:solidFill>
              <a:srgbClr val="999999"/>
            </a:solidFill>
            <a:prstDash val="solid"/>
          </a:ln>
        </p:spPr>
      </p:sp>
      <p:sp>
        <p:nvSpPr>
          <p:cNvPr id="63" name="Shape 54"/>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64" name="Text 55"/>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65" name="Text 56"/>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66" name="Text 57"/>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7" name="Text 58"/>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8" name="Text 59"/>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9" name="Shape 60"/>
          <p:cNvSpPr/>
          <p:nvPr/>
        </p:nvSpPr>
        <p:spPr>
          <a:xfrm>
            <a:off x="1435608" y="2244605"/>
            <a:ext cx="3255264" cy="603504"/>
          </a:xfrm>
          <a:prstGeom prst="roundRect">
            <a:avLst>
              <a:gd name="adj" fmla="val 7576"/>
            </a:avLst>
          </a:prstGeom>
          <a:solidFill>
            <a:srgbClr val="FFFFFF">
              <a:alpha val="0"/>
            </a:srgbClr>
          </a:solidFill>
          <a:ln w="31750">
            <a:solidFill>
              <a:srgbClr val="E53935"/>
            </a:solidFill>
            <a:prstDash val="solid"/>
          </a:ln>
        </p:spPr>
      </p:sp>
      <p:sp>
        <p:nvSpPr>
          <p:cNvPr id="70" name="Shape 61"/>
          <p:cNvSpPr/>
          <p:nvPr/>
        </p:nvSpPr>
        <p:spPr>
          <a:xfrm>
            <a:off x="4553712" y="2107445"/>
            <a:ext cx="274320" cy="274320"/>
          </a:xfrm>
          <a:prstGeom prst="ellipse">
            <a:avLst/>
          </a:prstGeom>
          <a:solidFill>
            <a:srgbClr val="E53935"/>
          </a:solidFill>
          <a:ln w="12700">
            <a:solidFill>
              <a:srgbClr val="FFFFFF"/>
            </a:solidFill>
            <a:prstDash val="solid"/>
          </a:ln>
        </p:spPr>
      </p:sp>
      <p:sp>
        <p:nvSpPr>
          <p:cNvPr id="71" name="Text 62"/>
          <p:cNvSpPr txBox="1"/>
          <p:nvPr/>
        </p:nvSpPr>
        <p:spPr>
          <a:xfrm>
            <a:off x="4553712" y="21074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2" name="Image 7" descr="preencoded.png">    </p:cNvPr>
          <p:cNvPicPr>
            <a:picLocks noChangeAspect="1"/>
          </p:cNvPicPr>
          <p:nvPr/>
        </p:nvPicPr>
        <p:blipFill>
          <a:blip r:embed="rId8"/>
          <a:stretch>
            <a:fillRect/>
          </a:stretch>
        </p:blipFill>
        <p:spPr>
          <a:xfrm>
            <a:off x="3223260" y="2573789"/>
            <a:ext cx="237744" cy="237744"/>
          </a:xfrm>
          <a:prstGeom prst="rect">
            <a:avLst/>
          </a:prstGeom>
        </p:spPr>
      </p:pic>
      <p:sp>
        <p:nvSpPr>
          <p:cNvPr id="73" name="Shape 63"/>
          <p:cNvSpPr/>
          <p:nvPr/>
        </p:nvSpPr>
        <p:spPr>
          <a:xfrm>
            <a:off x="1435608" y="3634493"/>
            <a:ext cx="3255264" cy="1133856"/>
          </a:xfrm>
          <a:prstGeom prst="roundRect">
            <a:avLst>
              <a:gd name="adj" fmla="val 4032"/>
            </a:avLst>
          </a:prstGeom>
          <a:solidFill>
            <a:srgbClr val="FFFFFF">
              <a:alpha val="0"/>
            </a:srgbClr>
          </a:solidFill>
          <a:ln w="31750">
            <a:solidFill>
              <a:srgbClr val="E53935"/>
            </a:solidFill>
            <a:prstDash val="solid"/>
          </a:ln>
        </p:spPr>
      </p:sp>
      <p:sp>
        <p:nvSpPr>
          <p:cNvPr id="74" name="Shape 64"/>
          <p:cNvSpPr/>
          <p:nvPr/>
        </p:nvSpPr>
        <p:spPr>
          <a:xfrm>
            <a:off x="4553712" y="3497333"/>
            <a:ext cx="274320" cy="274320"/>
          </a:xfrm>
          <a:prstGeom prst="ellipse">
            <a:avLst/>
          </a:prstGeom>
          <a:solidFill>
            <a:srgbClr val="E53935"/>
          </a:solidFill>
          <a:ln w="12700">
            <a:solidFill>
              <a:srgbClr val="FFFFFF"/>
            </a:solidFill>
            <a:prstDash val="solid"/>
          </a:ln>
        </p:spPr>
      </p:sp>
      <p:sp>
        <p:nvSpPr>
          <p:cNvPr id="75" name="Text 65"/>
          <p:cNvSpPr txBox="1"/>
          <p:nvPr/>
        </p:nvSpPr>
        <p:spPr>
          <a:xfrm>
            <a:off x="4553712" y="349733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6" name="Image 8" descr="preencoded.png">    </p:cNvPr>
          <p:cNvPicPr>
            <a:picLocks noChangeAspect="1"/>
          </p:cNvPicPr>
          <p:nvPr/>
        </p:nvPicPr>
        <p:blipFill>
          <a:blip r:embed="rId9"/>
          <a:stretch>
            <a:fillRect/>
          </a:stretch>
        </p:blipFill>
        <p:spPr>
          <a:xfrm>
            <a:off x="3223260" y="4255371"/>
            <a:ext cx="237744" cy="237744"/>
          </a:xfrm>
          <a:prstGeom prst="rect">
            <a:avLst/>
          </a:prstGeom>
        </p:spPr>
      </p:pic>
      <p:sp>
        <p:nvSpPr>
          <p:cNvPr id="77"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8"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formulir kelompok</a:t>
            </a:r>
            <a:endParaRPr lang="en-US" sz="1800" dirty="0"/>
          </a:p>
        </p:txBody>
      </p:sp>
      <p:sp>
        <p:nvSpPr>
          <p:cNvPr id="79"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Judul, deskripsi, 2 bagian, 5–8 pertanyaan dengan jenis yang tepat, minimal 1 validasi, pesan konfirmasi.</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Membagikan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Survei Menu Kantin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Survei Menu Kantin</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Survei Menu Kantin</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Bantu pengurus memilih menu.</a:t>
            </a:r>
            <a:endParaRPr lang="en-US" sz="750" dirty="0"/>
          </a:p>
        </p:txBody>
      </p:sp>
      <p:sp>
        <p:nvSpPr>
          <p:cNvPr id="42" name="Shape 33"/>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43" name="Text 34"/>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44" name="Text 35"/>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45" name="Text 36"/>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46" name="Text 37"/>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47" name="Text 38"/>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48" name="Shape 39"/>
          <p:cNvSpPr/>
          <p:nvPr/>
        </p:nvSpPr>
        <p:spPr>
          <a:xfrm>
            <a:off x="4596872" y="1677677"/>
            <a:ext cx="621792" cy="283464"/>
          </a:xfrm>
          <a:prstGeom prst="roundRect">
            <a:avLst>
              <a:gd name="adj" fmla="val 16129"/>
            </a:avLst>
          </a:prstGeom>
          <a:solidFill>
            <a:srgbClr val="FFFFFF">
              <a:alpha val="0"/>
            </a:srgbClr>
          </a:solidFill>
          <a:ln w="31750">
            <a:solidFill>
              <a:srgbClr val="E53935"/>
            </a:solidFill>
            <a:prstDash val="solid"/>
          </a:ln>
        </p:spPr>
      </p:sp>
      <p:sp>
        <p:nvSpPr>
          <p:cNvPr id="49" name="Shape 40"/>
          <p:cNvSpPr/>
          <p:nvPr/>
        </p:nvSpPr>
        <p:spPr>
          <a:xfrm>
            <a:off x="5081504" y="1540517"/>
            <a:ext cx="274320" cy="274320"/>
          </a:xfrm>
          <a:prstGeom prst="ellipse">
            <a:avLst/>
          </a:prstGeom>
          <a:solidFill>
            <a:srgbClr val="E53935"/>
          </a:solidFill>
          <a:ln w="12700">
            <a:solidFill>
              <a:srgbClr val="FFFFFF"/>
            </a:solidFill>
            <a:prstDash val="solid"/>
          </a:ln>
        </p:spPr>
      </p:sp>
      <p:sp>
        <p:nvSpPr>
          <p:cNvPr id="50" name="Text 41"/>
          <p:cNvSpPr txBox="1"/>
          <p:nvPr/>
        </p:nvSpPr>
        <p:spPr>
          <a:xfrm>
            <a:off x="5081504" y="1540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51" name="Image 7" descr="preencoded.png">    </p:cNvPr>
          <p:cNvPicPr>
            <a:picLocks noChangeAspect="1"/>
          </p:cNvPicPr>
          <p:nvPr/>
        </p:nvPicPr>
        <p:blipFill>
          <a:blip r:embed="rId8"/>
          <a:stretch>
            <a:fillRect/>
          </a:stretch>
        </p:blipFill>
        <p:spPr>
          <a:xfrm>
            <a:off x="4936114" y="1830839"/>
            <a:ext cx="237744" cy="237744"/>
          </a:xfrm>
          <a:prstGeom prst="rect">
            <a:avLst/>
          </a:prstGeom>
        </p:spPr>
      </p:pic>
      <p:sp>
        <p:nvSpPr>
          <p:cNvPr id="52"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3"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Send</a:t>
            </a:r>
            <a:endParaRPr lang="en-US" sz="1800" dirty="0"/>
          </a:p>
        </p:txBody>
      </p:sp>
      <p:sp>
        <p:nvSpPr>
          <p:cNvPr id="54"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tombol Send berwarna ungu di kanan atas.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Membagikan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Survei Menu Kantin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Survei Menu Kantin</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Survei Menu Kantin</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Bantu pengurus memilih menu.</a:t>
            </a:r>
            <a:endParaRPr lang="en-US" sz="750" dirty="0"/>
          </a:p>
        </p:txBody>
      </p:sp>
      <p:sp>
        <p:nvSpPr>
          <p:cNvPr id="42" name="Shape 33"/>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43" name="Text 34"/>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44" name="Text 35"/>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45" name="Text 36"/>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46" name="Text 37"/>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47" name="Text 38"/>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48" name="Shape 39"/>
          <p:cNvSpPr/>
          <p:nvPr/>
        </p:nvSpPr>
        <p:spPr>
          <a:xfrm>
            <a:off x="1691640" y="1951997"/>
            <a:ext cx="2743200" cy="1417320"/>
          </a:xfrm>
          <a:prstGeom prst="roundRect">
            <a:avLst>
              <a:gd name="adj" fmla="val 3871"/>
            </a:avLst>
          </a:prstGeom>
          <a:solidFill>
            <a:srgbClr val="FFFFFF"/>
          </a:solidFill>
          <a:ln w="9525">
            <a:solidFill>
              <a:srgbClr val="BBBBBB"/>
            </a:solidFill>
            <a:prstDash val="solid"/>
          </a:ln>
        </p:spPr>
      </p:sp>
      <p:sp>
        <p:nvSpPr>
          <p:cNvPr id="49" name="Text 40"/>
          <p:cNvSpPr txBox="1"/>
          <p:nvPr/>
        </p:nvSpPr>
        <p:spPr>
          <a:xfrm>
            <a:off x="1828800" y="2025149"/>
            <a:ext cx="1828800" cy="22860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Send form</a:t>
            </a:r>
            <a:endParaRPr lang="en-US" sz="1100" dirty="0"/>
          </a:p>
        </p:txBody>
      </p:sp>
      <p:sp>
        <p:nvSpPr>
          <p:cNvPr id="50" name="Text 41"/>
          <p:cNvSpPr txBox="1"/>
          <p:nvPr/>
        </p:nvSpPr>
        <p:spPr>
          <a:xfrm>
            <a:off x="1828800" y="2299469"/>
            <a:ext cx="2377440" cy="1828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Send via      Email      Link      Embed</a:t>
            </a:r>
            <a:endParaRPr lang="en-US" sz="750" dirty="0"/>
          </a:p>
        </p:txBody>
      </p:sp>
      <p:sp>
        <p:nvSpPr>
          <p:cNvPr id="51" name="Shape 42"/>
          <p:cNvSpPr/>
          <p:nvPr/>
        </p:nvSpPr>
        <p:spPr>
          <a:xfrm>
            <a:off x="2962656" y="2482349"/>
            <a:ext cx="265176" cy="22860"/>
          </a:xfrm>
          <a:prstGeom prst="rect">
            <a:avLst/>
          </a:prstGeom>
          <a:solidFill>
            <a:srgbClr val="673AB7"/>
          </a:solidFill>
          <a:ln w="12700">
            <a:solidFill>
              <a:srgbClr val="673AB7"/>
            </a:solidFill>
            <a:prstDash val="solid"/>
          </a:ln>
        </p:spPr>
      </p:sp>
      <p:sp>
        <p:nvSpPr>
          <p:cNvPr id="52" name="Text 43"/>
          <p:cNvSpPr txBox="1"/>
          <p:nvPr/>
        </p:nvSpPr>
        <p:spPr>
          <a:xfrm>
            <a:off x="1828800" y="2573789"/>
            <a:ext cx="914400" cy="164592"/>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Link</a:t>
            </a:r>
            <a:endParaRPr lang="en-US" sz="750" dirty="0"/>
          </a:p>
        </p:txBody>
      </p:sp>
      <p:sp>
        <p:nvSpPr>
          <p:cNvPr id="53" name="Shape 44"/>
          <p:cNvSpPr/>
          <p:nvPr/>
        </p:nvSpPr>
        <p:spPr>
          <a:xfrm>
            <a:off x="1828800" y="2976125"/>
            <a:ext cx="2468880" cy="0"/>
          </a:xfrm>
          <a:prstGeom prst="line">
            <a:avLst/>
          </a:prstGeom>
          <a:noFill/>
          <a:ln w="12700">
            <a:solidFill>
              <a:srgbClr val="673AB7"/>
            </a:solidFill>
            <a:prstDash val="solid"/>
          </a:ln>
        </p:spPr>
      </p:sp>
      <p:sp>
        <p:nvSpPr>
          <p:cNvPr id="54" name="Text 45"/>
          <p:cNvSpPr txBox="1"/>
          <p:nvPr/>
        </p:nvSpPr>
        <p:spPr>
          <a:xfrm>
            <a:off x="1828800" y="2756669"/>
            <a:ext cx="246888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https://forms.gle/AbC123xyz</a:t>
            </a:r>
            <a:endParaRPr lang="en-US" sz="800" dirty="0"/>
          </a:p>
        </p:txBody>
      </p:sp>
      <p:sp>
        <p:nvSpPr>
          <p:cNvPr id="55" name="Text 46"/>
          <p:cNvSpPr txBox="1"/>
          <p:nvPr/>
        </p:nvSpPr>
        <p:spPr>
          <a:xfrm>
            <a:off x="3749040" y="3076709"/>
            <a:ext cx="548640" cy="219456"/>
          </a:xfrm>
          <a:prstGeom prst="rect">
            <a:avLst/>
          </a:prstGeom>
          <a:noFill/>
          <a:ln/>
        </p:spPr>
        <p:txBody>
          <a:bodyPr wrap="square" lIns="0" tIns="0" rIns="0" bIns="0" rtlCol="0" anchor="ctr"/>
          <a:lstStyle/>
          <a:p>
            <a:pPr algn="ctr" indent="0" marL="0">
              <a:buNone/>
            </a:pPr>
            <a:r>
              <a:rPr lang="en-US" sz="800" b="1" dirty="0">
                <a:solidFill>
                  <a:srgbClr val="673AB7"/>
                </a:solidFill>
                <a:latin typeface="Calibri" pitchFamily="34" charset="0"/>
                <a:ea typeface="Calibri" pitchFamily="34" charset="-122"/>
                <a:cs typeface="Calibri" pitchFamily="34" charset="-120"/>
              </a:rPr>
              <a:t>Copy</a:t>
            </a:r>
            <a:endParaRPr lang="en-US" sz="800" dirty="0"/>
          </a:p>
        </p:txBody>
      </p:sp>
      <p:sp>
        <p:nvSpPr>
          <p:cNvPr id="56" name="Shape 47"/>
          <p:cNvSpPr/>
          <p:nvPr/>
        </p:nvSpPr>
        <p:spPr>
          <a:xfrm>
            <a:off x="2926080" y="2262893"/>
            <a:ext cx="338328" cy="256032"/>
          </a:xfrm>
          <a:prstGeom prst="roundRect">
            <a:avLst>
              <a:gd name="adj" fmla="val 17857"/>
            </a:avLst>
          </a:prstGeom>
          <a:solidFill>
            <a:srgbClr val="FFFFFF">
              <a:alpha val="0"/>
            </a:srgbClr>
          </a:solidFill>
          <a:ln w="31750">
            <a:solidFill>
              <a:srgbClr val="E53935"/>
            </a:solidFill>
            <a:prstDash val="solid"/>
          </a:ln>
        </p:spPr>
      </p:sp>
      <p:sp>
        <p:nvSpPr>
          <p:cNvPr id="57" name="Shape 48"/>
          <p:cNvSpPr/>
          <p:nvPr/>
        </p:nvSpPr>
        <p:spPr>
          <a:xfrm>
            <a:off x="3127248" y="2125733"/>
            <a:ext cx="274320" cy="274320"/>
          </a:xfrm>
          <a:prstGeom prst="ellipse">
            <a:avLst/>
          </a:prstGeom>
          <a:solidFill>
            <a:srgbClr val="E53935"/>
          </a:solidFill>
          <a:ln w="12700">
            <a:solidFill>
              <a:srgbClr val="FFFFFF"/>
            </a:solidFill>
            <a:prstDash val="solid"/>
          </a:ln>
        </p:spPr>
      </p:sp>
      <p:sp>
        <p:nvSpPr>
          <p:cNvPr id="58" name="Text 49"/>
          <p:cNvSpPr txBox="1"/>
          <p:nvPr/>
        </p:nvSpPr>
        <p:spPr>
          <a:xfrm>
            <a:off x="3127248" y="212573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9" name="Image 7" descr="preencoded.png">    </p:cNvPr>
          <p:cNvPicPr>
            <a:picLocks noChangeAspect="1"/>
          </p:cNvPicPr>
          <p:nvPr/>
        </p:nvPicPr>
        <p:blipFill>
          <a:blip r:embed="rId8"/>
          <a:stretch>
            <a:fillRect/>
          </a:stretch>
        </p:blipFill>
        <p:spPr>
          <a:xfrm>
            <a:off x="3110332" y="2401882"/>
            <a:ext cx="237744" cy="237744"/>
          </a:xfrm>
          <a:prstGeom prst="rect">
            <a:avLst/>
          </a:prstGeom>
        </p:spPr>
      </p:pic>
      <p:sp>
        <p:nvSpPr>
          <p:cNvPr id="60" name="Shape 50"/>
          <p:cNvSpPr/>
          <p:nvPr/>
        </p:nvSpPr>
        <p:spPr>
          <a:xfrm>
            <a:off x="1810512" y="2738381"/>
            <a:ext cx="2505456" cy="256032"/>
          </a:xfrm>
          <a:prstGeom prst="roundRect">
            <a:avLst>
              <a:gd name="adj" fmla="val 17857"/>
            </a:avLst>
          </a:prstGeom>
          <a:solidFill>
            <a:srgbClr val="FFFFFF">
              <a:alpha val="0"/>
            </a:srgbClr>
          </a:solidFill>
          <a:ln w="31750">
            <a:solidFill>
              <a:srgbClr val="E53935"/>
            </a:solidFill>
            <a:prstDash val="solid"/>
          </a:ln>
        </p:spPr>
      </p:sp>
      <p:sp>
        <p:nvSpPr>
          <p:cNvPr id="61" name="Shape 51"/>
          <p:cNvSpPr/>
          <p:nvPr/>
        </p:nvSpPr>
        <p:spPr>
          <a:xfrm>
            <a:off x="4178808" y="2601221"/>
            <a:ext cx="274320" cy="274320"/>
          </a:xfrm>
          <a:prstGeom prst="ellipse">
            <a:avLst/>
          </a:prstGeom>
          <a:solidFill>
            <a:srgbClr val="E53935"/>
          </a:solidFill>
          <a:ln w="12700">
            <a:solidFill>
              <a:srgbClr val="FFFFFF"/>
            </a:solidFill>
            <a:prstDash val="solid"/>
          </a:ln>
        </p:spPr>
      </p:sp>
      <p:sp>
        <p:nvSpPr>
          <p:cNvPr id="62" name="Text 52"/>
          <p:cNvSpPr txBox="1"/>
          <p:nvPr/>
        </p:nvSpPr>
        <p:spPr>
          <a:xfrm>
            <a:off x="4178808" y="26012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3" name="Image 8" descr="preencoded.png">    </p:cNvPr>
          <p:cNvPicPr>
            <a:picLocks noChangeAspect="1"/>
          </p:cNvPicPr>
          <p:nvPr/>
        </p:nvPicPr>
        <p:blipFill>
          <a:blip r:embed="rId9"/>
          <a:stretch>
            <a:fillRect/>
          </a:stretch>
        </p:blipFill>
        <p:spPr>
          <a:xfrm>
            <a:off x="3186684" y="2877370"/>
            <a:ext cx="237744" cy="237744"/>
          </a:xfrm>
          <a:prstGeom prst="rect">
            <a:avLst/>
          </a:prstGeom>
        </p:spPr>
      </p:pic>
      <p:sp>
        <p:nvSpPr>
          <p:cNvPr id="64" name="Shape 53"/>
          <p:cNvSpPr/>
          <p:nvPr/>
        </p:nvSpPr>
        <p:spPr>
          <a:xfrm>
            <a:off x="3730752" y="3058421"/>
            <a:ext cx="585216" cy="256032"/>
          </a:xfrm>
          <a:prstGeom prst="roundRect">
            <a:avLst>
              <a:gd name="adj" fmla="val 17857"/>
            </a:avLst>
          </a:prstGeom>
          <a:solidFill>
            <a:srgbClr val="FFFFFF">
              <a:alpha val="0"/>
            </a:srgbClr>
          </a:solidFill>
          <a:ln w="31750">
            <a:solidFill>
              <a:srgbClr val="E53935"/>
            </a:solidFill>
            <a:prstDash val="solid"/>
          </a:ln>
        </p:spPr>
      </p:sp>
      <p:sp>
        <p:nvSpPr>
          <p:cNvPr id="65" name="Shape 54"/>
          <p:cNvSpPr/>
          <p:nvPr/>
        </p:nvSpPr>
        <p:spPr>
          <a:xfrm>
            <a:off x="4178808" y="2921261"/>
            <a:ext cx="274320" cy="274320"/>
          </a:xfrm>
          <a:prstGeom prst="ellipse">
            <a:avLst/>
          </a:prstGeom>
          <a:solidFill>
            <a:srgbClr val="E53935"/>
          </a:solidFill>
          <a:ln w="12700">
            <a:solidFill>
              <a:srgbClr val="FFFFFF"/>
            </a:solidFill>
            <a:prstDash val="solid"/>
          </a:ln>
        </p:spPr>
      </p:sp>
      <p:sp>
        <p:nvSpPr>
          <p:cNvPr id="66" name="Text 55"/>
          <p:cNvSpPr txBox="1"/>
          <p:nvPr/>
        </p:nvSpPr>
        <p:spPr>
          <a:xfrm>
            <a:off x="4178808" y="29212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67" name="Image 9" descr="preencoded.png">    </p:cNvPr>
          <p:cNvPicPr>
            <a:picLocks noChangeAspect="1"/>
          </p:cNvPicPr>
          <p:nvPr/>
        </p:nvPicPr>
        <p:blipFill>
          <a:blip r:embed="rId10"/>
          <a:stretch>
            <a:fillRect/>
          </a:stretch>
        </p:blipFill>
        <p:spPr>
          <a:xfrm>
            <a:off x="4050792" y="3197410"/>
            <a:ext cx="237744" cy="237744"/>
          </a:xfrm>
          <a:prstGeom prst="rect">
            <a:avLst/>
          </a:prstGeom>
        </p:spPr>
      </p:pic>
      <p:sp>
        <p:nvSpPr>
          <p:cNvPr id="68" name="Text 5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69" name="Text 5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ikon Link, centang Shorten URL, Copy</a:t>
            </a:r>
            <a:endParaRPr lang="en-US" sz="1800" dirty="0"/>
          </a:p>
        </p:txBody>
      </p:sp>
      <p:sp>
        <p:nvSpPr>
          <p:cNvPr id="70" name="Text 5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Pada Send via, klik Link. Centang Shorten URL agar link pendek. Klik Copy.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Membagikan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Shape 7"/>
          <p:cNvSpPr/>
          <p:nvPr/>
        </p:nvSpPr>
        <p:spPr>
          <a:xfrm>
            <a:off x="2251710" y="1143000"/>
            <a:ext cx="1623060" cy="3429000"/>
          </a:xfrm>
          <a:prstGeom prst="roundRect">
            <a:avLst>
              <a:gd name="adj" fmla="val 5634"/>
            </a:avLst>
          </a:prstGeom>
          <a:solidFill>
            <a:srgbClr val="F0EBF8"/>
          </a:solidFill>
          <a:ln w="12700">
            <a:solidFill>
              <a:srgbClr val="F0EBF8"/>
            </a:solidFill>
            <a:prstDash val="solid"/>
          </a:ln>
        </p:spPr>
      </p:sp>
      <p:sp>
        <p:nvSpPr>
          <p:cNvPr id="12" name="Shape 8"/>
          <p:cNvSpPr/>
          <p:nvPr/>
        </p:nvSpPr>
        <p:spPr>
          <a:xfrm>
            <a:off x="2343150" y="1325880"/>
            <a:ext cx="1440180" cy="822960"/>
          </a:xfrm>
          <a:prstGeom prst="roundRect">
            <a:avLst>
              <a:gd name="adj" fmla="val 5556"/>
            </a:avLst>
          </a:prstGeom>
          <a:solidFill>
            <a:srgbClr val="FFFFFF"/>
          </a:solidFill>
          <a:ln w="12700">
            <a:solidFill>
              <a:srgbClr val="FFFFFF"/>
            </a:solidFill>
            <a:prstDash val="solid"/>
          </a:ln>
        </p:spPr>
      </p:sp>
      <p:sp>
        <p:nvSpPr>
          <p:cNvPr id="13" name="Shape 9"/>
          <p:cNvSpPr/>
          <p:nvPr/>
        </p:nvSpPr>
        <p:spPr>
          <a:xfrm>
            <a:off x="2343150" y="1325880"/>
            <a:ext cx="1440180" cy="45720"/>
          </a:xfrm>
          <a:prstGeom prst="rect">
            <a:avLst/>
          </a:prstGeom>
          <a:solidFill>
            <a:srgbClr val="673AB7"/>
          </a:solidFill>
          <a:ln w="12700">
            <a:solidFill>
              <a:srgbClr val="673AB7"/>
            </a:solidFill>
            <a:prstDash val="solid"/>
          </a:ln>
        </p:spPr>
      </p:sp>
      <p:sp>
        <p:nvSpPr>
          <p:cNvPr id="14" name="Text 10"/>
          <p:cNvSpPr txBox="1"/>
          <p:nvPr/>
        </p:nvSpPr>
        <p:spPr>
          <a:xfrm>
            <a:off x="2416302" y="1417320"/>
            <a:ext cx="1348740" cy="27432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Survei Menu Kantin</a:t>
            </a:r>
            <a:endParaRPr lang="en-US" sz="1100" dirty="0"/>
          </a:p>
        </p:txBody>
      </p:sp>
      <p:sp>
        <p:nvSpPr>
          <p:cNvPr id="15" name="Text 11"/>
          <p:cNvSpPr txBox="1"/>
          <p:nvPr/>
        </p:nvSpPr>
        <p:spPr>
          <a:xfrm>
            <a:off x="2416302" y="1709928"/>
            <a:ext cx="1348740" cy="274320"/>
          </a:xfrm>
          <a:prstGeom prst="rect">
            <a:avLst/>
          </a:prstGeom>
          <a:noFill/>
          <a:ln/>
        </p:spPr>
        <p:txBody>
          <a:bodyPr wrap="square" lIns="0" tIns="0" rIns="0" bIns="0" rtlCol="0" anchor="t"/>
          <a:lstStyle/>
          <a:p>
            <a:pPr indent="0" marL="0">
              <a:buNone/>
            </a:pPr>
            <a:r>
              <a:rPr lang="en-US" sz="750" dirty="0">
                <a:solidFill>
                  <a:srgbClr val="555555"/>
                </a:solidFill>
                <a:latin typeface="Calibri" pitchFamily="34" charset="0"/>
                <a:ea typeface="Calibri" pitchFamily="34" charset="-122"/>
                <a:cs typeface="Calibri" pitchFamily="34" charset="-120"/>
              </a:rPr>
              <a:t>Bantu pengurus memilih menu.</a:t>
            </a:r>
            <a:endParaRPr lang="en-US" sz="750" dirty="0"/>
          </a:p>
        </p:txBody>
      </p:sp>
      <p:sp>
        <p:nvSpPr>
          <p:cNvPr id="16" name="Shape 12"/>
          <p:cNvSpPr/>
          <p:nvPr/>
        </p:nvSpPr>
        <p:spPr>
          <a:xfrm>
            <a:off x="2343150" y="2240280"/>
            <a:ext cx="1440180" cy="1005840"/>
          </a:xfrm>
          <a:prstGeom prst="roundRect">
            <a:avLst>
              <a:gd name="adj" fmla="val 4545"/>
            </a:avLst>
          </a:prstGeom>
          <a:solidFill>
            <a:srgbClr val="FFFFFF"/>
          </a:solidFill>
          <a:ln w="12700">
            <a:solidFill>
              <a:srgbClr val="FFFFFF"/>
            </a:solidFill>
            <a:prstDash val="solid"/>
          </a:ln>
        </p:spPr>
      </p:sp>
      <p:sp>
        <p:nvSpPr>
          <p:cNvPr id="17" name="Text 13"/>
          <p:cNvSpPr txBox="1"/>
          <p:nvPr/>
        </p:nvSpPr>
        <p:spPr>
          <a:xfrm>
            <a:off x="2416302" y="2286000"/>
            <a:ext cx="1348740" cy="228600"/>
          </a:xfrm>
          <a:prstGeom prst="rect">
            <a:avLst/>
          </a:prstGeom>
          <a:noFill/>
          <a:ln/>
        </p:spPr>
        <p:txBody>
          <a:bodyPr wrap="square" lIns="0" tIns="0" rIns="0" bIns="0" rtlCol="0" anchor="t"/>
          <a:lstStyle/>
          <a:p>
            <a:pPr indent="0" marL="0">
              <a:buNone/>
            </a:pPr>
            <a:r>
              <a:rPr lang="en-US" sz="800" dirty="0">
                <a:solidFill>
                  <a:srgbClr val="1E2A26"/>
                </a:solidFill>
                <a:latin typeface="Calibri" pitchFamily="34" charset="0"/>
                <a:ea typeface="Calibri" pitchFamily="34" charset="-122"/>
                <a:cs typeface="Calibri" pitchFamily="34" charset="-120"/>
              </a:rPr>
              <a:t>Menu yang paling kamu sukai *</a:t>
            </a:r>
            <a:endParaRPr lang="en-US" sz="800" dirty="0"/>
          </a:p>
        </p:txBody>
      </p:sp>
      <p:sp>
        <p:nvSpPr>
          <p:cNvPr id="18" name="Shape 14"/>
          <p:cNvSpPr/>
          <p:nvPr/>
        </p:nvSpPr>
        <p:spPr>
          <a:xfrm>
            <a:off x="2434590" y="2587752"/>
            <a:ext cx="100584" cy="100584"/>
          </a:xfrm>
          <a:prstGeom prst="ellipse">
            <a:avLst/>
          </a:prstGeom>
          <a:solidFill>
            <a:srgbClr val="673AB7"/>
          </a:solidFill>
          <a:ln w="9525">
            <a:solidFill>
              <a:srgbClr val="888888"/>
            </a:solidFill>
            <a:prstDash val="solid"/>
          </a:ln>
        </p:spPr>
      </p:sp>
      <p:sp>
        <p:nvSpPr>
          <p:cNvPr id="19" name="Text 15"/>
          <p:cNvSpPr txBox="1"/>
          <p:nvPr/>
        </p:nvSpPr>
        <p:spPr>
          <a:xfrm>
            <a:off x="2599182" y="2542032"/>
            <a:ext cx="1188720" cy="1828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Nasi kuning</a:t>
            </a:r>
            <a:endParaRPr lang="en-US" sz="750" dirty="0"/>
          </a:p>
        </p:txBody>
      </p:sp>
      <p:sp>
        <p:nvSpPr>
          <p:cNvPr id="20" name="Shape 16"/>
          <p:cNvSpPr/>
          <p:nvPr/>
        </p:nvSpPr>
        <p:spPr>
          <a:xfrm>
            <a:off x="2434590" y="2788920"/>
            <a:ext cx="100584" cy="100584"/>
          </a:xfrm>
          <a:prstGeom prst="ellipse">
            <a:avLst/>
          </a:prstGeom>
          <a:solidFill>
            <a:srgbClr val="FFFFFF"/>
          </a:solidFill>
          <a:ln w="9525">
            <a:solidFill>
              <a:srgbClr val="888888"/>
            </a:solidFill>
            <a:prstDash val="solid"/>
          </a:ln>
        </p:spPr>
      </p:sp>
      <p:sp>
        <p:nvSpPr>
          <p:cNvPr id="21" name="Text 17"/>
          <p:cNvSpPr txBox="1"/>
          <p:nvPr/>
        </p:nvSpPr>
        <p:spPr>
          <a:xfrm>
            <a:off x="2599182" y="2743200"/>
            <a:ext cx="1188720" cy="1828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Mie goreng</a:t>
            </a:r>
            <a:endParaRPr lang="en-US" sz="750" dirty="0"/>
          </a:p>
        </p:txBody>
      </p:sp>
      <p:sp>
        <p:nvSpPr>
          <p:cNvPr id="22" name="Shape 18"/>
          <p:cNvSpPr/>
          <p:nvPr/>
        </p:nvSpPr>
        <p:spPr>
          <a:xfrm>
            <a:off x="2434590" y="2990088"/>
            <a:ext cx="100584" cy="100584"/>
          </a:xfrm>
          <a:prstGeom prst="ellipse">
            <a:avLst/>
          </a:prstGeom>
          <a:solidFill>
            <a:srgbClr val="FFFFFF"/>
          </a:solidFill>
          <a:ln w="9525">
            <a:solidFill>
              <a:srgbClr val="888888"/>
            </a:solidFill>
            <a:prstDash val="solid"/>
          </a:ln>
        </p:spPr>
      </p:sp>
      <p:sp>
        <p:nvSpPr>
          <p:cNvPr id="23" name="Text 19"/>
          <p:cNvSpPr txBox="1"/>
          <p:nvPr/>
        </p:nvSpPr>
        <p:spPr>
          <a:xfrm>
            <a:off x="2599182" y="2944368"/>
            <a:ext cx="1188720" cy="1828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Bubur ayam</a:t>
            </a:r>
            <a:endParaRPr lang="en-US" sz="750" dirty="0"/>
          </a:p>
        </p:txBody>
      </p:sp>
      <p:sp>
        <p:nvSpPr>
          <p:cNvPr id="24" name="Shape 20"/>
          <p:cNvSpPr/>
          <p:nvPr/>
        </p:nvSpPr>
        <p:spPr>
          <a:xfrm>
            <a:off x="2343150" y="3383280"/>
            <a:ext cx="548640" cy="237744"/>
          </a:xfrm>
          <a:prstGeom prst="roundRect">
            <a:avLst>
              <a:gd name="adj" fmla="val 15385"/>
            </a:avLst>
          </a:prstGeom>
          <a:solidFill>
            <a:srgbClr val="673AB7"/>
          </a:solidFill>
          <a:ln w="12700">
            <a:solidFill>
              <a:srgbClr val="673AB7"/>
            </a:solidFill>
            <a:prstDash val="solid"/>
          </a:ln>
        </p:spPr>
      </p:sp>
      <p:sp>
        <p:nvSpPr>
          <p:cNvPr id="25" name="Text 21"/>
          <p:cNvSpPr txBox="1"/>
          <p:nvPr/>
        </p:nvSpPr>
        <p:spPr>
          <a:xfrm>
            <a:off x="2343150" y="3383280"/>
            <a:ext cx="5486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Submit</a:t>
            </a:r>
            <a:endParaRPr lang="en-US" sz="750" dirty="0"/>
          </a:p>
        </p:txBody>
      </p:sp>
      <p:sp>
        <p:nvSpPr>
          <p:cNvPr id="26" name="Shape 22"/>
          <p:cNvSpPr/>
          <p:nvPr/>
        </p:nvSpPr>
        <p:spPr>
          <a:xfrm>
            <a:off x="2315718" y="3355848"/>
            <a:ext cx="603504" cy="292608"/>
          </a:xfrm>
          <a:prstGeom prst="roundRect">
            <a:avLst>
              <a:gd name="adj" fmla="val 15625"/>
            </a:avLst>
          </a:prstGeom>
          <a:solidFill>
            <a:srgbClr val="FFFFFF">
              <a:alpha val="0"/>
            </a:srgbClr>
          </a:solidFill>
          <a:ln w="31750">
            <a:solidFill>
              <a:srgbClr val="E53935"/>
            </a:solidFill>
            <a:prstDash val="solid"/>
          </a:ln>
        </p:spPr>
      </p:sp>
      <p:sp>
        <p:nvSpPr>
          <p:cNvPr id="27" name="Shape 23"/>
          <p:cNvSpPr/>
          <p:nvPr/>
        </p:nvSpPr>
        <p:spPr>
          <a:xfrm>
            <a:off x="2782062" y="3218688"/>
            <a:ext cx="274320" cy="274320"/>
          </a:xfrm>
          <a:prstGeom prst="ellipse">
            <a:avLst/>
          </a:prstGeom>
          <a:solidFill>
            <a:srgbClr val="E53935"/>
          </a:solidFill>
          <a:ln w="12700">
            <a:solidFill>
              <a:srgbClr val="FFFFFF"/>
            </a:solidFill>
            <a:prstDash val="solid"/>
          </a:ln>
        </p:spPr>
      </p:sp>
      <p:sp>
        <p:nvSpPr>
          <p:cNvPr id="28" name="Text 24"/>
          <p:cNvSpPr txBox="1"/>
          <p:nvPr/>
        </p:nvSpPr>
        <p:spPr>
          <a:xfrm>
            <a:off x="2782062" y="32186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29" name="Image 2" descr="preencoded.png">    </p:cNvPr>
          <p:cNvPicPr>
            <a:picLocks noChangeAspect="1"/>
          </p:cNvPicPr>
          <p:nvPr/>
        </p:nvPicPr>
        <p:blipFill>
          <a:blip r:embed="rId3"/>
          <a:stretch>
            <a:fillRect/>
          </a:stretch>
        </p:blipFill>
        <p:spPr>
          <a:xfrm>
            <a:off x="2644902" y="3514039"/>
            <a:ext cx="237744" cy="237744"/>
          </a:xfrm>
          <a:prstGeom prst="rect">
            <a:avLst/>
          </a:prstGeom>
        </p:spPr>
      </p:pic>
      <p:sp>
        <p:nvSpPr>
          <p:cNvPr id="30" name="Text 2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31" name="Text 2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Tukar link dengan kelompok lain, isi formulir</a:t>
            </a:r>
            <a:endParaRPr lang="en-US" sz="1800" dirty="0"/>
          </a:p>
        </p:txBody>
      </p:sp>
      <p:sp>
        <p:nvSpPr>
          <p:cNvPr id="32" name="Text 2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Tempel link di dokumen kelas atau tulis di papan. Setiap santri mengisi formulir milik kelompok lain dari komputer atau HP.</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Membaca Hasil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Survei Menu Kantin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Survei Menu Kantin</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Questions</a:t>
            </a:r>
            <a:endParaRPr lang="en-US" sz="750" dirty="0"/>
          </a:p>
        </p:txBody>
      </p:sp>
      <p:sp>
        <p:nvSpPr>
          <p:cNvPr id="34" name="Text 25"/>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Responses  24</a:t>
            </a:r>
            <a:endParaRPr lang="en-US" sz="750" dirty="0"/>
          </a:p>
        </p:txBody>
      </p:sp>
      <p:sp>
        <p:nvSpPr>
          <p:cNvPr id="35" name="Shape 26"/>
          <p:cNvSpPr/>
          <p:nvPr/>
        </p:nvSpPr>
        <p:spPr>
          <a:xfrm>
            <a:off x="2834640" y="2153165"/>
            <a:ext cx="502920" cy="22860"/>
          </a:xfrm>
          <a:prstGeom prst="rect">
            <a:avLst/>
          </a:prstGeom>
          <a:solidFill>
            <a:srgbClr val="673AB7"/>
          </a:solidFill>
          <a:ln w="12700">
            <a:solidFill>
              <a:srgbClr val="673AB7"/>
            </a:solidFill>
            <a:prstDash val="solid"/>
          </a:ln>
        </p:spPr>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02920"/>
          </a:xfrm>
          <a:prstGeom prst="roundRect">
            <a:avLst>
              <a:gd name="adj" fmla="val 9091"/>
            </a:avLst>
          </a:prstGeom>
          <a:solidFill>
            <a:srgbClr val="FFFFFF"/>
          </a:solidFill>
          <a:ln w="12700">
            <a:solidFill>
              <a:srgbClr val="FFFFFF"/>
            </a:solidFill>
            <a:prstDash val="solid"/>
          </a:ln>
        </p:spPr>
      </p:sp>
      <p:sp>
        <p:nvSpPr>
          <p:cNvPr id="39" name="Text 30"/>
          <p:cNvSpPr txBox="1"/>
          <p:nvPr/>
        </p:nvSpPr>
        <p:spPr>
          <a:xfrm>
            <a:off x="1572768" y="2326901"/>
            <a:ext cx="1828800" cy="22860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24 responses</a:t>
            </a:r>
            <a:endParaRPr lang="en-US" sz="1200" dirty="0"/>
          </a:p>
        </p:txBody>
      </p:sp>
      <p:sp>
        <p:nvSpPr>
          <p:cNvPr id="40" name="Shape 31"/>
          <p:cNvSpPr/>
          <p:nvPr/>
        </p:nvSpPr>
        <p:spPr>
          <a:xfrm>
            <a:off x="3566160" y="2345189"/>
            <a:ext cx="1005840" cy="201168"/>
          </a:xfrm>
          <a:prstGeom prst="roundRect">
            <a:avLst>
              <a:gd name="adj" fmla="val 18182"/>
            </a:avLst>
          </a:prstGeom>
          <a:solidFill>
            <a:srgbClr val="FFFFFF"/>
          </a:solidFill>
          <a:ln w="9525">
            <a:solidFill>
              <a:srgbClr val="34A853"/>
            </a:solidFill>
            <a:prstDash val="solid"/>
          </a:ln>
        </p:spPr>
      </p:sp>
      <p:sp>
        <p:nvSpPr>
          <p:cNvPr id="41" name="Text 32"/>
          <p:cNvSpPr txBox="1"/>
          <p:nvPr/>
        </p:nvSpPr>
        <p:spPr>
          <a:xfrm>
            <a:off x="3566160" y="2345189"/>
            <a:ext cx="1005840" cy="201168"/>
          </a:xfrm>
          <a:prstGeom prst="rect">
            <a:avLst/>
          </a:prstGeom>
          <a:noFill/>
          <a:ln/>
        </p:spPr>
        <p:txBody>
          <a:bodyPr wrap="square" lIns="0" tIns="0" rIns="0" bIns="0" rtlCol="0" anchor="ctr"/>
          <a:lstStyle/>
          <a:p>
            <a:pPr algn="ctr" indent="0" marL="0">
              <a:buNone/>
            </a:pPr>
            <a:r>
              <a:rPr lang="en-US" sz="700" b="1" dirty="0">
                <a:solidFill>
                  <a:srgbClr val="188038"/>
                </a:solidFill>
                <a:latin typeface="Calibri" pitchFamily="34" charset="0"/>
                <a:ea typeface="Calibri" pitchFamily="34" charset="-122"/>
                <a:cs typeface="Calibri" pitchFamily="34" charset="-120"/>
              </a:rPr>
              <a:t>▦ Link to Sheets</a:t>
            </a:r>
            <a:endParaRPr lang="en-US" sz="700" dirty="0"/>
          </a:p>
        </p:txBody>
      </p:sp>
      <p:sp>
        <p:nvSpPr>
          <p:cNvPr id="42" name="Text 33"/>
          <p:cNvSpPr txBox="1"/>
          <p:nvPr/>
        </p:nvSpPr>
        <p:spPr>
          <a:xfrm>
            <a:off x="1572768" y="2582933"/>
            <a:ext cx="2743200" cy="164592"/>
          </a:xfrm>
          <a:prstGeom prst="rect">
            <a:avLst/>
          </a:prstGeom>
          <a:noFill/>
          <a:ln/>
        </p:spPr>
        <p:txBody>
          <a:bodyPr wrap="square" lIns="0" tIns="0" rIns="0" bIns="0" rtlCol="0" anchor="t"/>
          <a:lstStyle/>
          <a:p>
            <a:pPr indent="0" marL="0">
              <a:buNone/>
            </a:pPr>
            <a:r>
              <a:rPr lang="en-US" sz="700" dirty="0">
                <a:solidFill>
                  <a:srgbClr val="673AB7"/>
                </a:solidFill>
                <a:latin typeface="Calibri" pitchFamily="34" charset="0"/>
                <a:ea typeface="Calibri" pitchFamily="34" charset="-122"/>
                <a:cs typeface="Calibri" pitchFamily="34" charset="-120"/>
              </a:rPr>
              <a:t>Summary      Question      Individual</a:t>
            </a:r>
            <a:endParaRPr lang="en-US" sz="700" dirty="0"/>
          </a:p>
        </p:txBody>
      </p:sp>
      <p:sp>
        <p:nvSpPr>
          <p:cNvPr id="43" name="Shape 34"/>
          <p:cNvSpPr/>
          <p:nvPr/>
        </p:nvSpPr>
        <p:spPr>
          <a:xfrm>
            <a:off x="1463040" y="2848109"/>
            <a:ext cx="3200400" cy="1101555"/>
          </a:xfrm>
          <a:prstGeom prst="roundRect">
            <a:avLst>
              <a:gd name="adj" fmla="val 4150"/>
            </a:avLst>
          </a:prstGeom>
          <a:solidFill>
            <a:srgbClr val="FFFFFF"/>
          </a:solidFill>
          <a:ln w="12700">
            <a:solidFill>
              <a:srgbClr val="FFFFFF"/>
            </a:solidFill>
            <a:prstDash val="solid"/>
          </a:ln>
        </p:spPr>
      </p:sp>
      <p:sp>
        <p:nvSpPr>
          <p:cNvPr id="44" name="Text 35"/>
          <p:cNvSpPr txBox="1"/>
          <p:nvPr/>
        </p:nvSpPr>
        <p:spPr>
          <a:xfrm>
            <a:off x="1572768" y="2902973"/>
            <a:ext cx="2743200" cy="182880"/>
          </a:xfrm>
          <a:prstGeom prst="rect">
            <a:avLst/>
          </a:prstGeom>
          <a:noFill/>
          <a:ln/>
        </p:spPr>
        <p:txBody>
          <a:bodyPr wrap="square" lIns="0" tIns="0" rIns="0" bIns="0" rtlCol="0" anchor="t"/>
          <a:lstStyle/>
          <a:p>
            <a:pPr indent="0" marL="0">
              <a:buNone/>
            </a:pPr>
            <a:r>
              <a:rPr lang="en-US" sz="850" dirty="0">
                <a:solidFill>
                  <a:srgbClr val="1E2A26"/>
                </a:solidFill>
                <a:latin typeface="Calibri" pitchFamily="34" charset="0"/>
                <a:ea typeface="Calibri" pitchFamily="34" charset="-122"/>
                <a:cs typeface="Calibri" pitchFamily="34" charset="-120"/>
              </a:rPr>
              <a:t>Menu yang paling kamu sukai</a:t>
            </a:r>
            <a:endParaRPr lang="en-US" sz="850" dirty="0"/>
          </a:p>
        </p:txBody>
      </p:sp>
      <p:sp>
        <p:nvSpPr>
          <p:cNvPr id="45" name="Shape 36"/>
          <p:cNvSpPr/>
          <p:nvPr/>
        </p:nvSpPr>
        <p:spPr>
          <a:xfrm>
            <a:off x="1737360" y="3140717"/>
            <a:ext cx="735795" cy="735795"/>
          </a:xfrm>
          <a:prstGeom prst="pie">
            <a:avLst>
              <a:gd name="adj1" fmla="val 0"/>
              <a:gd name="adj2" fmla="val 9900000"/>
            </a:avLst>
          </a:prstGeom>
          <a:solidFill>
            <a:srgbClr val="4285F4"/>
          </a:solidFill>
          <a:ln/>
        </p:spPr>
      </p:sp>
      <p:sp>
        <p:nvSpPr>
          <p:cNvPr id="46" name="Shape 37"/>
          <p:cNvSpPr/>
          <p:nvPr/>
        </p:nvSpPr>
        <p:spPr>
          <a:xfrm>
            <a:off x="1737360" y="3140717"/>
            <a:ext cx="735795" cy="735795"/>
          </a:xfrm>
          <a:prstGeom prst="pie">
            <a:avLst>
              <a:gd name="adj1" fmla="val 9900000"/>
              <a:gd name="adj2" fmla="val 17100000"/>
            </a:avLst>
          </a:prstGeom>
          <a:solidFill>
            <a:srgbClr val="EA4335"/>
          </a:solidFill>
          <a:ln/>
        </p:spPr>
      </p:sp>
      <p:sp>
        <p:nvSpPr>
          <p:cNvPr id="47" name="Shape 38"/>
          <p:cNvSpPr/>
          <p:nvPr/>
        </p:nvSpPr>
        <p:spPr>
          <a:xfrm>
            <a:off x="1737360" y="3140717"/>
            <a:ext cx="735795" cy="735795"/>
          </a:xfrm>
          <a:prstGeom prst="pie">
            <a:avLst>
              <a:gd name="adj1" fmla="val 17100000"/>
              <a:gd name="adj2" fmla="val 21600000"/>
            </a:avLst>
          </a:prstGeom>
          <a:solidFill>
            <a:srgbClr val="FBBC05"/>
          </a:solidFill>
          <a:ln/>
        </p:spPr>
      </p:sp>
      <p:sp>
        <p:nvSpPr>
          <p:cNvPr id="48" name="Shape 39"/>
          <p:cNvSpPr/>
          <p:nvPr/>
        </p:nvSpPr>
        <p:spPr>
          <a:xfrm>
            <a:off x="2747475" y="3232157"/>
            <a:ext cx="109728" cy="109728"/>
          </a:xfrm>
          <a:prstGeom prst="rect">
            <a:avLst/>
          </a:prstGeom>
          <a:solidFill>
            <a:srgbClr val="4285F4"/>
          </a:solidFill>
          <a:ln w="12700">
            <a:solidFill>
              <a:srgbClr val="4285F4"/>
            </a:solidFill>
            <a:prstDash val="solid"/>
          </a:ln>
        </p:spPr>
      </p:sp>
      <p:sp>
        <p:nvSpPr>
          <p:cNvPr id="49" name="Text 40"/>
          <p:cNvSpPr txBox="1"/>
          <p:nvPr/>
        </p:nvSpPr>
        <p:spPr>
          <a:xfrm>
            <a:off x="2912067" y="3195581"/>
            <a:ext cx="1463040" cy="1828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Nasi kuning (46%)</a:t>
            </a:r>
            <a:endParaRPr lang="en-US" sz="750" dirty="0"/>
          </a:p>
        </p:txBody>
      </p:sp>
      <p:sp>
        <p:nvSpPr>
          <p:cNvPr id="50" name="Shape 41"/>
          <p:cNvSpPr/>
          <p:nvPr/>
        </p:nvSpPr>
        <p:spPr>
          <a:xfrm>
            <a:off x="2747475" y="3433325"/>
            <a:ext cx="109728" cy="109728"/>
          </a:xfrm>
          <a:prstGeom prst="rect">
            <a:avLst/>
          </a:prstGeom>
          <a:solidFill>
            <a:srgbClr val="EA4335"/>
          </a:solidFill>
          <a:ln w="12700">
            <a:solidFill>
              <a:srgbClr val="EA4335"/>
            </a:solidFill>
            <a:prstDash val="solid"/>
          </a:ln>
        </p:spPr>
      </p:sp>
      <p:sp>
        <p:nvSpPr>
          <p:cNvPr id="51" name="Text 42"/>
          <p:cNvSpPr txBox="1"/>
          <p:nvPr/>
        </p:nvSpPr>
        <p:spPr>
          <a:xfrm>
            <a:off x="2912067" y="3396749"/>
            <a:ext cx="1463040" cy="1828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Mie goreng (33%)</a:t>
            </a:r>
            <a:endParaRPr lang="en-US" sz="750" dirty="0"/>
          </a:p>
        </p:txBody>
      </p:sp>
      <p:sp>
        <p:nvSpPr>
          <p:cNvPr id="52" name="Shape 43"/>
          <p:cNvSpPr/>
          <p:nvPr/>
        </p:nvSpPr>
        <p:spPr>
          <a:xfrm>
            <a:off x="2747475" y="3634493"/>
            <a:ext cx="109728" cy="109728"/>
          </a:xfrm>
          <a:prstGeom prst="rect">
            <a:avLst/>
          </a:prstGeom>
          <a:solidFill>
            <a:srgbClr val="FBBC05"/>
          </a:solidFill>
          <a:ln w="12700">
            <a:solidFill>
              <a:srgbClr val="FBBC05"/>
            </a:solidFill>
            <a:prstDash val="solid"/>
          </a:ln>
        </p:spPr>
      </p:sp>
      <p:sp>
        <p:nvSpPr>
          <p:cNvPr id="53" name="Text 44"/>
          <p:cNvSpPr txBox="1"/>
          <p:nvPr/>
        </p:nvSpPr>
        <p:spPr>
          <a:xfrm>
            <a:off x="2912067" y="3597917"/>
            <a:ext cx="1463040" cy="1828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Bubur ayam (21%)</a:t>
            </a:r>
            <a:endParaRPr lang="en-US" sz="750" dirty="0"/>
          </a:p>
        </p:txBody>
      </p:sp>
      <p:sp>
        <p:nvSpPr>
          <p:cNvPr id="54" name="Shape 45"/>
          <p:cNvSpPr/>
          <p:nvPr/>
        </p:nvSpPr>
        <p:spPr>
          <a:xfrm>
            <a:off x="2770632" y="1951997"/>
            <a:ext cx="630936" cy="219456"/>
          </a:xfrm>
          <a:prstGeom prst="roundRect">
            <a:avLst>
              <a:gd name="adj" fmla="val 20833"/>
            </a:avLst>
          </a:prstGeom>
          <a:solidFill>
            <a:srgbClr val="FFFFFF">
              <a:alpha val="0"/>
            </a:srgbClr>
          </a:solidFill>
          <a:ln w="31750">
            <a:solidFill>
              <a:srgbClr val="E53935"/>
            </a:solidFill>
            <a:prstDash val="solid"/>
          </a:ln>
        </p:spPr>
      </p:sp>
      <p:sp>
        <p:nvSpPr>
          <p:cNvPr id="55" name="Shape 46"/>
          <p:cNvSpPr/>
          <p:nvPr/>
        </p:nvSpPr>
        <p:spPr>
          <a:xfrm>
            <a:off x="3264408" y="1814837"/>
            <a:ext cx="274320" cy="274320"/>
          </a:xfrm>
          <a:prstGeom prst="ellipse">
            <a:avLst/>
          </a:prstGeom>
          <a:solidFill>
            <a:srgbClr val="E53935"/>
          </a:solidFill>
          <a:ln w="12700">
            <a:solidFill>
              <a:srgbClr val="FFFFFF"/>
            </a:solidFill>
            <a:prstDash val="solid"/>
          </a:ln>
        </p:spPr>
      </p:sp>
      <p:sp>
        <p:nvSpPr>
          <p:cNvPr id="56" name="Text 47"/>
          <p:cNvSpPr txBox="1"/>
          <p:nvPr/>
        </p:nvSpPr>
        <p:spPr>
          <a:xfrm>
            <a:off x="3264408" y="18148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7" name="Image 7" descr="preencoded.png">    </p:cNvPr>
          <p:cNvPicPr>
            <a:picLocks noChangeAspect="1"/>
          </p:cNvPicPr>
          <p:nvPr/>
        </p:nvPicPr>
        <p:blipFill>
          <a:blip r:embed="rId8"/>
          <a:stretch>
            <a:fillRect/>
          </a:stretch>
        </p:blipFill>
        <p:spPr>
          <a:xfrm>
            <a:off x="3115818" y="2070869"/>
            <a:ext cx="237744" cy="237744"/>
          </a:xfrm>
          <a:prstGeom prst="rect">
            <a:avLst/>
          </a:prstGeom>
        </p:spPr>
      </p:pic>
      <p:sp>
        <p:nvSpPr>
          <p:cNvPr id="58" name="Shape 48"/>
          <p:cNvSpPr/>
          <p:nvPr/>
        </p:nvSpPr>
        <p:spPr>
          <a:xfrm>
            <a:off x="1444752" y="2829821"/>
            <a:ext cx="3236976" cy="1138131"/>
          </a:xfrm>
          <a:prstGeom prst="roundRect">
            <a:avLst>
              <a:gd name="adj" fmla="val 4017"/>
            </a:avLst>
          </a:prstGeom>
          <a:solidFill>
            <a:srgbClr val="FFFFFF">
              <a:alpha val="0"/>
            </a:srgbClr>
          </a:solidFill>
          <a:ln w="31750">
            <a:solidFill>
              <a:srgbClr val="E53935"/>
            </a:solidFill>
            <a:prstDash val="solid"/>
          </a:ln>
        </p:spPr>
      </p:sp>
      <p:sp>
        <p:nvSpPr>
          <p:cNvPr id="59" name="Shape 49"/>
          <p:cNvSpPr/>
          <p:nvPr/>
        </p:nvSpPr>
        <p:spPr>
          <a:xfrm>
            <a:off x="4544568" y="2692661"/>
            <a:ext cx="274320" cy="274320"/>
          </a:xfrm>
          <a:prstGeom prst="ellipse">
            <a:avLst/>
          </a:prstGeom>
          <a:solidFill>
            <a:srgbClr val="E53935"/>
          </a:solidFill>
          <a:ln w="12700">
            <a:solidFill>
              <a:srgbClr val="FFFFFF"/>
            </a:solidFill>
            <a:prstDash val="solid"/>
          </a:ln>
        </p:spPr>
      </p:sp>
      <p:sp>
        <p:nvSpPr>
          <p:cNvPr id="60" name="Text 50"/>
          <p:cNvSpPr txBox="1"/>
          <p:nvPr/>
        </p:nvSpPr>
        <p:spPr>
          <a:xfrm>
            <a:off x="4544568" y="26926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61" name="Text 5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62" name="Text 5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tab Responses</a:t>
            </a:r>
            <a:endParaRPr lang="en-US" sz="1800" dirty="0"/>
          </a:p>
        </p:txBody>
      </p:sp>
      <p:sp>
        <p:nvSpPr>
          <p:cNvPr id="63" name="Text 5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Kembali ke formulir kelompokmu. Klik tab Responses. Lihat jumlah jawaban dan grafik otomatis.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Membaca Hasil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Survei Menu Kantin (Responses)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Survei Menu Kantin (Responses)</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73736"/>
          </a:xfrm>
          <a:prstGeom prst="rect">
            <a:avLst/>
          </a:prstGeom>
          <a:solidFill>
            <a:srgbClr val="F8F9FA"/>
          </a:solidFill>
          <a:ln w="12700">
            <a:solidFill>
              <a:srgbClr val="F8F9FA"/>
            </a:solidFill>
            <a:prstDash val="solid"/>
          </a:ln>
        </p:spPr>
      </p:sp>
      <p:sp>
        <p:nvSpPr>
          <p:cNvPr id="61" name="Shape 53"/>
          <p:cNvSpPr/>
          <p:nvPr/>
        </p:nvSpPr>
        <p:spPr>
          <a:xfrm>
            <a:off x="843808" y="2573789"/>
            <a:ext cx="1051560" cy="173736"/>
          </a:xfrm>
          <a:prstGeom prst="rect">
            <a:avLst/>
          </a:prstGeom>
          <a:solidFill>
            <a:srgbClr val="F8F9FA"/>
          </a:solidFill>
          <a:ln w="6350">
            <a:solidFill>
              <a:srgbClr val="DDDDDD"/>
            </a:solidFill>
            <a:prstDash val="solid"/>
          </a:ln>
        </p:spPr>
      </p:sp>
      <p:sp>
        <p:nvSpPr>
          <p:cNvPr id="62" name="Text 54"/>
          <p:cNvSpPr txBox="1"/>
          <p:nvPr/>
        </p:nvSpPr>
        <p:spPr>
          <a:xfrm>
            <a:off x="843808" y="2573789"/>
            <a:ext cx="1051560" cy="173736"/>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895368" y="2573789"/>
            <a:ext cx="457200" cy="173736"/>
          </a:xfrm>
          <a:prstGeom prst="rect">
            <a:avLst/>
          </a:prstGeom>
          <a:solidFill>
            <a:srgbClr val="F8F9FA"/>
          </a:solidFill>
          <a:ln w="6350">
            <a:solidFill>
              <a:srgbClr val="DDDDDD"/>
            </a:solidFill>
            <a:prstDash val="solid"/>
          </a:ln>
        </p:spPr>
      </p:sp>
      <p:sp>
        <p:nvSpPr>
          <p:cNvPr id="64" name="Text 56"/>
          <p:cNvSpPr txBox="1"/>
          <p:nvPr/>
        </p:nvSpPr>
        <p:spPr>
          <a:xfrm>
            <a:off x="1895368" y="2573789"/>
            <a:ext cx="457200" cy="173736"/>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352568" y="2573789"/>
            <a:ext cx="822960" cy="173736"/>
          </a:xfrm>
          <a:prstGeom prst="rect">
            <a:avLst/>
          </a:prstGeom>
          <a:solidFill>
            <a:srgbClr val="F8F9FA"/>
          </a:solidFill>
          <a:ln w="6350">
            <a:solidFill>
              <a:srgbClr val="DDDDDD"/>
            </a:solidFill>
            <a:prstDash val="solid"/>
          </a:ln>
        </p:spPr>
      </p:sp>
      <p:sp>
        <p:nvSpPr>
          <p:cNvPr id="66" name="Text 58"/>
          <p:cNvSpPr txBox="1"/>
          <p:nvPr/>
        </p:nvSpPr>
        <p:spPr>
          <a:xfrm>
            <a:off x="2352568" y="2573789"/>
            <a:ext cx="822960" cy="173736"/>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3175528" y="2573789"/>
            <a:ext cx="1097280" cy="173736"/>
          </a:xfrm>
          <a:prstGeom prst="rect">
            <a:avLst/>
          </a:prstGeom>
          <a:solidFill>
            <a:srgbClr val="F8F9FA"/>
          </a:solidFill>
          <a:ln w="6350">
            <a:solidFill>
              <a:srgbClr val="DDDDDD"/>
            </a:solidFill>
            <a:prstDash val="solid"/>
          </a:ln>
        </p:spPr>
      </p:sp>
      <p:sp>
        <p:nvSpPr>
          <p:cNvPr id="68" name="Text 60"/>
          <p:cNvSpPr txBox="1"/>
          <p:nvPr/>
        </p:nvSpPr>
        <p:spPr>
          <a:xfrm>
            <a:off x="3175528" y="2573789"/>
            <a:ext cx="1097280" cy="173736"/>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747525"/>
            <a:ext cx="256032" cy="173736"/>
          </a:xfrm>
          <a:prstGeom prst="rect">
            <a:avLst/>
          </a:prstGeom>
          <a:solidFill>
            <a:srgbClr val="F8F9FA"/>
          </a:solidFill>
          <a:ln w="6350">
            <a:solidFill>
              <a:srgbClr val="DDDDDD"/>
            </a:solidFill>
            <a:prstDash val="solid"/>
          </a:ln>
        </p:spPr>
      </p:sp>
      <p:sp>
        <p:nvSpPr>
          <p:cNvPr id="70" name="Text 62"/>
          <p:cNvSpPr txBox="1"/>
          <p:nvPr/>
        </p:nvSpPr>
        <p:spPr>
          <a:xfrm>
            <a:off x="587776" y="2747525"/>
            <a:ext cx="256032" cy="173736"/>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747525"/>
            <a:ext cx="1051560" cy="173736"/>
          </a:xfrm>
          <a:prstGeom prst="rect">
            <a:avLst/>
          </a:prstGeom>
          <a:solidFill>
            <a:srgbClr val="673AB7"/>
          </a:solidFill>
          <a:ln w="6350">
            <a:solidFill>
              <a:srgbClr val="E2E2E2"/>
            </a:solidFill>
            <a:prstDash val="solid"/>
          </a:ln>
        </p:spPr>
      </p:sp>
      <p:sp>
        <p:nvSpPr>
          <p:cNvPr id="72" name="Text 64"/>
          <p:cNvSpPr txBox="1"/>
          <p:nvPr/>
        </p:nvSpPr>
        <p:spPr>
          <a:xfrm>
            <a:off x="871240" y="2747525"/>
            <a:ext cx="996696" cy="173736"/>
          </a:xfrm>
          <a:prstGeom prst="rect">
            <a:avLst/>
          </a:prstGeom>
          <a:noFill/>
          <a:ln/>
        </p:spPr>
        <p:txBody>
          <a:bodyPr wrap="square" lIns="0" tIns="0" rIns="0" bIns="0" rtlCol="0" anchor="ctr"/>
          <a:lstStyle/>
          <a:p>
            <a:pPr algn="l" indent="0" marL="0">
              <a:buNone/>
            </a:pPr>
            <a:r>
              <a:rPr lang="en-US" sz="700" b="1" dirty="0">
                <a:solidFill>
                  <a:srgbClr val="FFFFFF"/>
                </a:solidFill>
                <a:latin typeface="Calibri" pitchFamily="34" charset="0"/>
                <a:ea typeface="Calibri" pitchFamily="34" charset="-122"/>
                <a:cs typeface="Calibri" pitchFamily="34" charset="-120"/>
              </a:rPr>
              <a:t>Timestamp</a:t>
            </a:r>
            <a:endParaRPr lang="en-US" sz="700" dirty="0"/>
          </a:p>
        </p:txBody>
      </p:sp>
      <p:sp>
        <p:nvSpPr>
          <p:cNvPr id="73" name="Shape 65"/>
          <p:cNvSpPr/>
          <p:nvPr/>
        </p:nvSpPr>
        <p:spPr>
          <a:xfrm>
            <a:off x="1895368" y="2747525"/>
            <a:ext cx="457200" cy="173736"/>
          </a:xfrm>
          <a:prstGeom prst="rect">
            <a:avLst/>
          </a:prstGeom>
          <a:solidFill>
            <a:srgbClr val="673AB7"/>
          </a:solidFill>
          <a:ln w="6350">
            <a:solidFill>
              <a:srgbClr val="E2E2E2"/>
            </a:solidFill>
            <a:prstDash val="solid"/>
          </a:ln>
        </p:spPr>
      </p:sp>
      <p:sp>
        <p:nvSpPr>
          <p:cNvPr id="74" name="Text 66"/>
          <p:cNvSpPr txBox="1"/>
          <p:nvPr/>
        </p:nvSpPr>
        <p:spPr>
          <a:xfrm>
            <a:off x="1922800" y="2747525"/>
            <a:ext cx="402336" cy="173736"/>
          </a:xfrm>
          <a:prstGeom prst="rect">
            <a:avLst/>
          </a:prstGeom>
          <a:noFill/>
          <a:ln/>
        </p:spPr>
        <p:txBody>
          <a:bodyPr wrap="square" lIns="0" tIns="0" rIns="0" bIns="0" rtlCol="0" anchor="ctr"/>
          <a:lstStyle/>
          <a:p>
            <a:pPr algn="l" indent="0" marL="0">
              <a:buNone/>
            </a:pPr>
            <a:r>
              <a:rPr lang="en-US" sz="700" b="1" dirty="0">
                <a:solidFill>
                  <a:srgbClr val="FFFFFF"/>
                </a:solidFill>
                <a:latin typeface="Calibri" pitchFamily="34" charset="0"/>
                <a:ea typeface="Calibri" pitchFamily="34" charset="-122"/>
                <a:cs typeface="Calibri" pitchFamily="34" charset="-120"/>
              </a:rPr>
              <a:t>Kelas</a:t>
            </a:r>
            <a:endParaRPr lang="en-US" sz="700" dirty="0"/>
          </a:p>
        </p:txBody>
      </p:sp>
      <p:sp>
        <p:nvSpPr>
          <p:cNvPr id="75" name="Shape 67"/>
          <p:cNvSpPr/>
          <p:nvPr/>
        </p:nvSpPr>
        <p:spPr>
          <a:xfrm>
            <a:off x="2352568" y="2747525"/>
            <a:ext cx="822960" cy="173736"/>
          </a:xfrm>
          <a:prstGeom prst="rect">
            <a:avLst/>
          </a:prstGeom>
          <a:solidFill>
            <a:srgbClr val="673AB7"/>
          </a:solidFill>
          <a:ln w="6350">
            <a:solidFill>
              <a:srgbClr val="E2E2E2"/>
            </a:solidFill>
            <a:prstDash val="solid"/>
          </a:ln>
        </p:spPr>
      </p:sp>
      <p:sp>
        <p:nvSpPr>
          <p:cNvPr id="76" name="Text 68"/>
          <p:cNvSpPr txBox="1"/>
          <p:nvPr/>
        </p:nvSpPr>
        <p:spPr>
          <a:xfrm>
            <a:off x="2380000" y="2747525"/>
            <a:ext cx="768096" cy="173736"/>
          </a:xfrm>
          <a:prstGeom prst="rect">
            <a:avLst/>
          </a:prstGeom>
          <a:noFill/>
          <a:ln/>
        </p:spPr>
        <p:txBody>
          <a:bodyPr wrap="square" lIns="0" tIns="0" rIns="0" bIns="0" rtlCol="0" anchor="ctr"/>
          <a:lstStyle/>
          <a:p>
            <a:pPr algn="l" indent="0" marL="0">
              <a:buNone/>
            </a:pPr>
            <a:r>
              <a:rPr lang="en-US" sz="700" b="1" dirty="0">
                <a:solidFill>
                  <a:srgbClr val="FFFFFF"/>
                </a:solidFill>
                <a:latin typeface="Calibri" pitchFamily="34" charset="0"/>
                <a:ea typeface="Calibri" pitchFamily="34" charset="-122"/>
                <a:cs typeface="Calibri" pitchFamily="34" charset="-120"/>
              </a:rPr>
              <a:t>Menu</a:t>
            </a:r>
            <a:endParaRPr lang="en-US" sz="700" dirty="0"/>
          </a:p>
        </p:txBody>
      </p:sp>
      <p:sp>
        <p:nvSpPr>
          <p:cNvPr id="77" name="Shape 69"/>
          <p:cNvSpPr/>
          <p:nvPr/>
        </p:nvSpPr>
        <p:spPr>
          <a:xfrm>
            <a:off x="3175528" y="2747525"/>
            <a:ext cx="1097280" cy="173736"/>
          </a:xfrm>
          <a:prstGeom prst="rect">
            <a:avLst/>
          </a:prstGeom>
          <a:solidFill>
            <a:srgbClr val="673AB7"/>
          </a:solidFill>
          <a:ln w="6350">
            <a:solidFill>
              <a:srgbClr val="E2E2E2"/>
            </a:solidFill>
            <a:prstDash val="solid"/>
          </a:ln>
        </p:spPr>
      </p:sp>
      <p:sp>
        <p:nvSpPr>
          <p:cNvPr id="78" name="Text 70"/>
          <p:cNvSpPr txBox="1"/>
          <p:nvPr/>
        </p:nvSpPr>
        <p:spPr>
          <a:xfrm>
            <a:off x="3202960" y="2747525"/>
            <a:ext cx="1042416" cy="173736"/>
          </a:xfrm>
          <a:prstGeom prst="rect">
            <a:avLst/>
          </a:prstGeom>
          <a:noFill/>
          <a:ln/>
        </p:spPr>
        <p:txBody>
          <a:bodyPr wrap="square" lIns="0" tIns="0" rIns="0" bIns="0" rtlCol="0" anchor="ctr"/>
          <a:lstStyle/>
          <a:p>
            <a:pPr algn="l" indent="0" marL="0">
              <a:buNone/>
            </a:pPr>
            <a:r>
              <a:rPr lang="en-US" sz="700" b="1" dirty="0">
                <a:solidFill>
                  <a:srgbClr val="FFFFFF"/>
                </a:solidFill>
                <a:latin typeface="Calibri" pitchFamily="34" charset="0"/>
                <a:ea typeface="Calibri" pitchFamily="34" charset="-122"/>
                <a:cs typeface="Calibri" pitchFamily="34" charset="-120"/>
              </a:rPr>
              <a:t>Alasan</a:t>
            </a:r>
            <a:endParaRPr lang="en-US" sz="700" dirty="0"/>
          </a:p>
        </p:txBody>
      </p:sp>
      <p:sp>
        <p:nvSpPr>
          <p:cNvPr id="79" name="Shape 71"/>
          <p:cNvSpPr/>
          <p:nvPr/>
        </p:nvSpPr>
        <p:spPr>
          <a:xfrm>
            <a:off x="587776" y="2921261"/>
            <a:ext cx="256032" cy="173736"/>
          </a:xfrm>
          <a:prstGeom prst="rect">
            <a:avLst/>
          </a:prstGeom>
          <a:solidFill>
            <a:srgbClr val="F8F9FA"/>
          </a:solidFill>
          <a:ln w="6350">
            <a:solidFill>
              <a:srgbClr val="DDDDDD"/>
            </a:solidFill>
            <a:prstDash val="solid"/>
          </a:ln>
        </p:spPr>
      </p:sp>
      <p:sp>
        <p:nvSpPr>
          <p:cNvPr id="80" name="Text 72"/>
          <p:cNvSpPr txBox="1"/>
          <p:nvPr/>
        </p:nvSpPr>
        <p:spPr>
          <a:xfrm>
            <a:off x="587776" y="2921261"/>
            <a:ext cx="256032" cy="173736"/>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1" name="Shape 73"/>
          <p:cNvSpPr/>
          <p:nvPr/>
        </p:nvSpPr>
        <p:spPr>
          <a:xfrm>
            <a:off x="843808" y="2921261"/>
            <a:ext cx="1051560" cy="173736"/>
          </a:xfrm>
          <a:prstGeom prst="rect">
            <a:avLst/>
          </a:prstGeom>
          <a:solidFill>
            <a:srgbClr val="FFFFFF"/>
          </a:solidFill>
          <a:ln w="6350">
            <a:solidFill>
              <a:srgbClr val="E2E2E2"/>
            </a:solidFill>
            <a:prstDash val="solid"/>
          </a:ln>
        </p:spPr>
      </p:sp>
      <p:sp>
        <p:nvSpPr>
          <p:cNvPr id="82" name="Text 74"/>
          <p:cNvSpPr txBox="1"/>
          <p:nvPr/>
        </p:nvSpPr>
        <p:spPr>
          <a:xfrm>
            <a:off x="871240" y="2921261"/>
            <a:ext cx="99669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2026/8/3 10:01</a:t>
            </a:r>
            <a:endParaRPr lang="en-US" sz="700" dirty="0"/>
          </a:p>
        </p:txBody>
      </p:sp>
      <p:sp>
        <p:nvSpPr>
          <p:cNvPr id="83" name="Shape 75"/>
          <p:cNvSpPr/>
          <p:nvPr/>
        </p:nvSpPr>
        <p:spPr>
          <a:xfrm>
            <a:off x="1895368" y="2921261"/>
            <a:ext cx="457200" cy="173736"/>
          </a:xfrm>
          <a:prstGeom prst="rect">
            <a:avLst/>
          </a:prstGeom>
          <a:solidFill>
            <a:srgbClr val="FFFFFF"/>
          </a:solidFill>
          <a:ln w="6350">
            <a:solidFill>
              <a:srgbClr val="E2E2E2"/>
            </a:solidFill>
            <a:prstDash val="solid"/>
          </a:ln>
        </p:spPr>
      </p:sp>
      <p:sp>
        <p:nvSpPr>
          <p:cNvPr id="84" name="Text 76"/>
          <p:cNvSpPr txBox="1"/>
          <p:nvPr/>
        </p:nvSpPr>
        <p:spPr>
          <a:xfrm>
            <a:off x="1922800" y="2921261"/>
            <a:ext cx="40233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8A</a:t>
            </a:r>
            <a:endParaRPr lang="en-US" sz="700" dirty="0"/>
          </a:p>
        </p:txBody>
      </p:sp>
      <p:sp>
        <p:nvSpPr>
          <p:cNvPr id="85" name="Shape 77"/>
          <p:cNvSpPr/>
          <p:nvPr/>
        </p:nvSpPr>
        <p:spPr>
          <a:xfrm>
            <a:off x="2352568" y="2921261"/>
            <a:ext cx="822960" cy="173736"/>
          </a:xfrm>
          <a:prstGeom prst="rect">
            <a:avLst/>
          </a:prstGeom>
          <a:solidFill>
            <a:srgbClr val="FFFFFF"/>
          </a:solidFill>
          <a:ln w="6350">
            <a:solidFill>
              <a:srgbClr val="E2E2E2"/>
            </a:solidFill>
            <a:prstDash val="solid"/>
          </a:ln>
        </p:spPr>
      </p:sp>
      <p:sp>
        <p:nvSpPr>
          <p:cNvPr id="86" name="Text 78"/>
          <p:cNvSpPr txBox="1"/>
          <p:nvPr/>
        </p:nvSpPr>
        <p:spPr>
          <a:xfrm>
            <a:off x="2380000" y="2921261"/>
            <a:ext cx="76809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Nasi kuning</a:t>
            </a:r>
            <a:endParaRPr lang="en-US" sz="700" dirty="0"/>
          </a:p>
        </p:txBody>
      </p:sp>
      <p:sp>
        <p:nvSpPr>
          <p:cNvPr id="87" name="Shape 79"/>
          <p:cNvSpPr/>
          <p:nvPr/>
        </p:nvSpPr>
        <p:spPr>
          <a:xfrm>
            <a:off x="3175528" y="2921261"/>
            <a:ext cx="1097280" cy="173736"/>
          </a:xfrm>
          <a:prstGeom prst="rect">
            <a:avLst/>
          </a:prstGeom>
          <a:solidFill>
            <a:srgbClr val="FFFFFF"/>
          </a:solidFill>
          <a:ln w="6350">
            <a:solidFill>
              <a:srgbClr val="E2E2E2"/>
            </a:solidFill>
            <a:prstDash val="solid"/>
          </a:ln>
        </p:spPr>
      </p:sp>
      <p:sp>
        <p:nvSpPr>
          <p:cNvPr id="88" name="Text 80"/>
          <p:cNvSpPr txBox="1"/>
          <p:nvPr/>
        </p:nvSpPr>
        <p:spPr>
          <a:xfrm>
            <a:off x="3202960" y="2921261"/>
            <a:ext cx="104241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Mengenyangkan</a:t>
            </a:r>
            <a:endParaRPr lang="en-US" sz="700" dirty="0"/>
          </a:p>
        </p:txBody>
      </p:sp>
      <p:sp>
        <p:nvSpPr>
          <p:cNvPr id="89" name="Shape 81"/>
          <p:cNvSpPr/>
          <p:nvPr/>
        </p:nvSpPr>
        <p:spPr>
          <a:xfrm>
            <a:off x="587776" y="3094997"/>
            <a:ext cx="256032" cy="173736"/>
          </a:xfrm>
          <a:prstGeom prst="rect">
            <a:avLst/>
          </a:prstGeom>
          <a:solidFill>
            <a:srgbClr val="F8F9FA"/>
          </a:solidFill>
          <a:ln w="6350">
            <a:solidFill>
              <a:srgbClr val="DDDDDD"/>
            </a:solidFill>
            <a:prstDash val="solid"/>
          </a:ln>
        </p:spPr>
      </p:sp>
      <p:sp>
        <p:nvSpPr>
          <p:cNvPr id="90" name="Text 82"/>
          <p:cNvSpPr txBox="1"/>
          <p:nvPr/>
        </p:nvSpPr>
        <p:spPr>
          <a:xfrm>
            <a:off x="587776" y="3094997"/>
            <a:ext cx="256032" cy="173736"/>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3094997"/>
            <a:ext cx="1051560" cy="173736"/>
          </a:xfrm>
          <a:prstGeom prst="rect">
            <a:avLst/>
          </a:prstGeom>
          <a:solidFill>
            <a:srgbClr val="FFFFFF"/>
          </a:solidFill>
          <a:ln w="6350">
            <a:solidFill>
              <a:srgbClr val="E2E2E2"/>
            </a:solidFill>
            <a:prstDash val="solid"/>
          </a:ln>
        </p:spPr>
      </p:sp>
      <p:sp>
        <p:nvSpPr>
          <p:cNvPr id="92" name="Text 84"/>
          <p:cNvSpPr txBox="1"/>
          <p:nvPr/>
        </p:nvSpPr>
        <p:spPr>
          <a:xfrm>
            <a:off x="871240" y="3094997"/>
            <a:ext cx="99669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2026/8/3 10:02</a:t>
            </a:r>
            <a:endParaRPr lang="en-US" sz="700" dirty="0"/>
          </a:p>
        </p:txBody>
      </p:sp>
      <p:sp>
        <p:nvSpPr>
          <p:cNvPr id="93" name="Shape 85"/>
          <p:cNvSpPr/>
          <p:nvPr/>
        </p:nvSpPr>
        <p:spPr>
          <a:xfrm>
            <a:off x="1895368" y="3094997"/>
            <a:ext cx="457200" cy="173736"/>
          </a:xfrm>
          <a:prstGeom prst="rect">
            <a:avLst/>
          </a:prstGeom>
          <a:solidFill>
            <a:srgbClr val="FFFFFF"/>
          </a:solidFill>
          <a:ln w="6350">
            <a:solidFill>
              <a:srgbClr val="E2E2E2"/>
            </a:solidFill>
            <a:prstDash val="solid"/>
          </a:ln>
        </p:spPr>
      </p:sp>
      <p:sp>
        <p:nvSpPr>
          <p:cNvPr id="94" name="Text 86"/>
          <p:cNvSpPr txBox="1"/>
          <p:nvPr/>
        </p:nvSpPr>
        <p:spPr>
          <a:xfrm>
            <a:off x="1922800" y="3094997"/>
            <a:ext cx="40233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8B</a:t>
            </a:r>
            <a:endParaRPr lang="en-US" sz="700" dirty="0"/>
          </a:p>
        </p:txBody>
      </p:sp>
      <p:sp>
        <p:nvSpPr>
          <p:cNvPr id="95" name="Shape 87"/>
          <p:cNvSpPr/>
          <p:nvPr/>
        </p:nvSpPr>
        <p:spPr>
          <a:xfrm>
            <a:off x="2352568" y="3094997"/>
            <a:ext cx="822960" cy="173736"/>
          </a:xfrm>
          <a:prstGeom prst="rect">
            <a:avLst/>
          </a:prstGeom>
          <a:solidFill>
            <a:srgbClr val="FFFFFF"/>
          </a:solidFill>
          <a:ln w="6350">
            <a:solidFill>
              <a:srgbClr val="E2E2E2"/>
            </a:solidFill>
            <a:prstDash val="solid"/>
          </a:ln>
        </p:spPr>
      </p:sp>
      <p:sp>
        <p:nvSpPr>
          <p:cNvPr id="96" name="Text 88"/>
          <p:cNvSpPr txBox="1"/>
          <p:nvPr/>
        </p:nvSpPr>
        <p:spPr>
          <a:xfrm>
            <a:off x="2380000" y="3094997"/>
            <a:ext cx="76809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Mie goreng</a:t>
            </a:r>
            <a:endParaRPr lang="en-US" sz="700" dirty="0"/>
          </a:p>
        </p:txBody>
      </p:sp>
      <p:sp>
        <p:nvSpPr>
          <p:cNvPr id="97" name="Shape 89"/>
          <p:cNvSpPr/>
          <p:nvPr/>
        </p:nvSpPr>
        <p:spPr>
          <a:xfrm>
            <a:off x="3175528" y="3094997"/>
            <a:ext cx="1097280" cy="173736"/>
          </a:xfrm>
          <a:prstGeom prst="rect">
            <a:avLst/>
          </a:prstGeom>
          <a:solidFill>
            <a:srgbClr val="FFFFFF"/>
          </a:solidFill>
          <a:ln w="6350">
            <a:solidFill>
              <a:srgbClr val="E2E2E2"/>
            </a:solidFill>
            <a:prstDash val="solid"/>
          </a:ln>
        </p:spPr>
      </p:sp>
      <p:sp>
        <p:nvSpPr>
          <p:cNvPr id="98" name="Text 90"/>
          <p:cNvSpPr txBox="1"/>
          <p:nvPr/>
        </p:nvSpPr>
        <p:spPr>
          <a:xfrm>
            <a:off x="3202960" y="3094997"/>
            <a:ext cx="104241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Enak</a:t>
            </a:r>
            <a:endParaRPr lang="en-US" sz="700" dirty="0"/>
          </a:p>
        </p:txBody>
      </p:sp>
      <p:sp>
        <p:nvSpPr>
          <p:cNvPr id="99" name="Shape 91"/>
          <p:cNvSpPr/>
          <p:nvPr/>
        </p:nvSpPr>
        <p:spPr>
          <a:xfrm>
            <a:off x="587776" y="3268733"/>
            <a:ext cx="256032" cy="173736"/>
          </a:xfrm>
          <a:prstGeom prst="rect">
            <a:avLst/>
          </a:prstGeom>
          <a:solidFill>
            <a:srgbClr val="F8F9FA"/>
          </a:solidFill>
          <a:ln w="6350">
            <a:solidFill>
              <a:srgbClr val="DDDDDD"/>
            </a:solidFill>
            <a:prstDash val="solid"/>
          </a:ln>
        </p:spPr>
      </p:sp>
      <p:sp>
        <p:nvSpPr>
          <p:cNvPr id="100" name="Text 92"/>
          <p:cNvSpPr txBox="1"/>
          <p:nvPr/>
        </p:nvSpPr>
        <p:spPr>
          <a:xfrm>
            <a:off x="587776" y="3268733"/>
            <a:ext cx="256032" cy="173736"/>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1" name="Shape 93"/>
          <p:cNvSpPr/>
          <p:nvPr/>
        </p:nvSpPr>
        <p:spPr>
          <a:xfrm>
            <a:off x="843808" y="3268733"/>
            <a:ext cx="1051560" cy="173736"/>
          </a:xfrm>
          <a:prstGeom prst="rect">
            <a:avLst/>
          </a:prstGeom>
          <a:solidFill>
            <a:srgbClr val="FFFFFF"/>
          </a:solidFill>
          <a:ln w="6350">
            <a:solidFill>
              <a:srgbClr val="E2E2E2"/>
            </a:solidFill>
            <a:prstDash val="solid"/>
          </a:ln>
        </p:spPr>
      </p:sp>
      <p:sp>
        <p:nvSpPr>
          <p:cNvPr id="102" name="Text 94"/>
          <p:cNvSpPr txBox="1"/>
          <p:nvPr/>
        </p:nvSpPr>
        <p:spPr>
          <a:xfrm>
            <a:off x="871240" y="3268733"/>
            <a:ext cx="99669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2026/8/3 10:02</a:t>
            </a:r>
            <a:endParaRPr lang="en-US" sz="700" dirty="0"/>
          </a:p>
        </p:txBody>
      </p:sp>
      <p:sp>
        <p:nvSpPr>
          <p:cNvPr id="103" name="Shape 95"/>
          <p:cNvSpPr/>
          <p:nvPr/>
        </p:nvSpPr>
        <p:spPr>
          <a:xfrm>
            <a:off x="1895368" y="3268733"/>
            <a:ext cx="457200" cy="173736"/>
          </a:xfrm>
          <a:prstGeom prst="rect">
            <a:avLst/>
          </a:prstGeom>
          <a:solidFill>
            <a:srgbClr val="FFFFFF"/>
          </a:solidFill>
          <a:ln w="6350">
            <a:solidFill>
              <a:srgbClr val="E2E2E2"/>
            </a:solidFill>
            <a:prstDash val="solid"/>
          </a:ln>
        </p:spPr>
      </p:sp>
      <p:sp>
        <p:nvSpPr>
          <p:cNvPr id="104" name="Text 96"/>
          <p:cNvSpPr txBox="1"/>
          <p:nvPr/>
        </p:nvSpPr>
        <p:spPr>
          <a:xfrm>
            <a:off x="1922800" y="3268733"/>
            <a:ext cx="40233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8A</a:t>
            </a:r>
            <a:endParaRPr lang="en-US" sz="700" dirty="0"/>
          </a:p>
        </p:txBody>
      </p:sp>
      <p:sp>
        <p:nvSpPr>
          <p:cNvPr id="105" name="Shape 97"/>
          <p:cNvSpPr/>
          <p:nvPr/>
        </p:nvSpPr>
        <p:spPr>
          <a:xfrm>
            <a:off x="2352568" y="3268733"/>
            <a:ext cx="822960" cy="173736"/>
          </a:xfrm>
          <a:prstGeom prst="rect">
            <a:avLst/>
          </a:prstGeom>
          <a:solidFill>
            <a:srgbClr val="FFFFFF"/>
          </a:solidFill>
          <a:ln w="6350">
            <a:solidFill>
              <a:srgbClr val="E2E2E2"/>
            </a:solidFill>
            <a:prstDash val="solid"/>
          </a:ln>
        </p:spPr>
      </p:sp>
      <p:sp>
        <p:nvSpPr>
          <p:cNvPr id="106" name="Text 98"/>
          <p:cNvSpPr txBox="1"/>
          <p:nvPr/>
        </p:nvSpPr>
        <p:spPr>
          <a:xfrm>
            <a:off x="2380000" y="3268733"/>
            <a:ext cx="76809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Bubur ayam</a:t>
            </a:r>
            <a:endParaRPr lang="en-US" sz="700" dirty="0"/>
          </a:p>
        </p:txBody>
      </p:sp>
      <p:sp>
        <p:nvSpPr>
          <p:cNvPr id="107" name="Shape 99"/>
          <p:cNvSpPr/>
          <p:nvPr/>
        </p:nvSpPr>
        <p:spPr>
          <a:xfrm>
            <a:off x="3175528" y="3268733"/>
            <a:ext cx="1097280" cy="173736"/>
          </a:xfrm>
          <a:prstGeom prst="rect">
            <a:avLst/>
          </a:prstGeom>
          <a:solidFill>
            <a:srgbClr val="FFFFFF"/>
          </a:solidFill>
          <a:ln w="6350">
            <a:solidFill>
              <a:srgbClr val="E2E2E2"/>
            </a:solidFill>
            <a:prstDash val="solid"/>
          </a:ln>
        </p:spPr>
      </p:sp>
      <p:sp>
        <p:nvSpPr>
          <p:cNvPr id="108" name="Text 100"/>
          <p:cNvSpPr txBox="1"/>
          <p:nvPr/>
        </p:nvSpPr>
        <p:spPr>
          <a:xfrm>
            <a:off x="3202960" y="3268733"/>
            <a:ext cx="104241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Ringan</a:t>
            </a:r>
            <a:endParaRPr lang="en-US" sz="700" dirty="0"/>
          </a:p>
        </p:txBody>
      </p:sp>
      <p:sp>
        <p:nvSpPr>
          <p:cNvPr id="109" name="Shape 101"/>
          <p:cNvSpPr/>
          <p:nvPr/>
        </p:nvSpPr>
        <p:spPr>
          <a:xfrm>
            <a:off x="587776" y="3442469"/>
            <a:ext cx="256032" cy="173736"/>
          </a:xfrm>
          <a:prstGeom prst="rect">
            <a:avLst/>
          </a:prstGeom>
          <a:solidFill>
            <a:srgbClr val="F8F9FA"/>
          </a:solidFill>
          <a:ln w="6350">
            <a:solidFill>
              <a:srgbClr val="DDDDDD"/>
            </a:solidFill>
            <a:prstDash val="solid"/>
          </a:ln>
        </p:spPr>
      </p:sp>
      <p:sp>
        <p:nvSpPr>
          <p:cNvPr id="110" name="Text 102"/>
          <p:cNvSpPr txBox="1"/>
          <p:nvPr/>
        </p:nvSpPr>
        <p:spPr>
          <a:xfrm>
            <a:off x="587776" y="3442469"/>
            <a:ext cx="256032" cy="173736"/>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1" name="Shape 103"/>
          <p:cNvSpPr/>
          <p:nvPr/>
        </p:nvSpPr>
        <p:spPr>
          <a:xfrm>
            <a:off x="843808" y="3442469"/>
            <a:ext cx="1051560" cy="173736"/>
          </a:xfrm>
          <a:prstGeom prst="rect">
            <a:avLst/>
          </a:prstGeom>
          <a:solidFill>
            <a:srgbClr val="FFFFFF"/>
          </a:solidFill>
          <a:ln w="6350">
            <a:solidFill>
              <a:srgbClr val="E2E2E2"/>
            </a:solidFill>
            <a:prstDash val="solid"/>
          </a:ln>
        </p:spPr>
      </p:sp>
      <p:sp>
        <p:nvSpPr>
          <p:cNvPr id="112" name="Text 104"/>
          <p:cNvSpPr txBox="1"/>
          <p:nvPr/>
        </p:nvSpPr>
        <p:spPr>
          <a:xfrm>
            <a:off x="871240" y="3442469"/>
            <a:ext cx="99669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2026/8/3 10:03</a:t>
            </a:r>
            <a:endParaRPr lang="en-US" sz="700" dirty="0"/>
          </a:p>
        </p:txBody>
      </p:sp>
      <p:sp>
        <p:nvSpPr>
          <p:cNvPr id="113" name="Shape 105"/>
          <p:cNvSpPr/>
          <p:nvPr/>
        </p:nvSpPr>
        <p:spPr>
          <a:xfrm>
            <a:off x="1895368" y="3442469"/>
            <a:ext cx="457200" cy="173736"/>
          </a:xfrm>
          <a:prstGeom prst="rect">
            <a:avLst/>
          </a:prstGeom>
          <a:solidFill>
            <a:srgbClr val="FFFFFF"/>
          </a:solidFill>
          <a:ln w="6350">
            <a:solidFill>
              <a:srgbClr val="E2E2E2"/>
            </a:solidFill>
            <a:prstDash val="solid"/>
          </a:ln>
        </p:spPr>
      </p:sp>
      <p:sp>
        <p:nvSpPr>
          <p:cNvPr id="114" name="Text 106"/>
          <p:cNvSpPr txBox="1"/>
          <p:nvPr/>
        </p:nvSpPr>
        <p:spPr>
          <a:xfrm>
            <a:off x="1922800" y="3442469"/>
            <a:ext cx="40233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8B</a:t>
            </a:r>
            <a:endParaRPr lang="en-US" sz="700" dirty="0"/>
          </a:p>
        </p:txBody>
      </p:sp>
      <p:sp>
        <p:nvSpPr>
          <p:cNvPr id="115" name="Shape 107"/>
          <p:cNvSpPr/>
          <p:nvPr/>
        </p:nvSpPr>
        <p:spPr>
          <a:xfrm>
            <a:off x="2352568" y="3442469"/>
            <a:ext cx="822960" cy="173736"/>
          </a:xfrm>
          <a:prstGeom prst="rect">
            <a:avLst/>
          </a:prstGeom>
          <a:solidFill>
            <a:srgbClr val="FFFFFF"/>
          </a:solidFill>
          <a:ln w="6350">
            <a:solidFill>
              <a:srgbClr val="E2E2E2"/>
            </a:solidFill>
            <a:prstDash val="solid"/>
          </a:ln>
        </p:spPr>
      </p:sp>
      <p:sp>
        <p:nvSpPr>
          <p:cNvPr id="116" name="Text 108"/>
          <p:cNvSpPr txBox="1"/>
          <p:nvPr/>
        </p:nvSpPr>
        <p:spPr>
          <a:xfrm>
            <a:off x="2380000" y="3442469"/>
            <a:ext cx="76809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Nasi kuning</a:t>
            </a:r>
            <a:endParaRPr lang="en-US" sz="700" dirty="0"/>
          </a:p>
        </p:txBody>
      </p:sp>
      <p:sp>
        <p:nvSpPr>
          <p:cNvPr id="117" name="Shape 109"/>
          <p:cNvSpPr/>
          <p:nvPr/>
        </p:nvSpPr>
        <p:spPr>
          <a:xfrm>
            <a:off x="3175528" y="3442469"/>
            <a:ext cx="1097280" cy="173736"/>
          </a:xfrm>
          <a:prstGeom prst="rect">
            <a:avLst/>
          </a:prstGeom>
          <a:solidFill>
            <a:srgbClr val="FFFFFF"/>
          </a:solidFill>
          <a:ln w="6350">
            <a:solidFill>
              <a:srgbClr val="E2E2E2"/>
            </a:solidFill>
            <a:prstDash val="solid"/>
          </a:ln>
        </p:spPr>
      </p:sp>
      <p:sp>
        <p:nvSpPr>
          <p:cNvPr id="118" name="Text 110"/>
          <p:cNvSpPr txBox="1"/>
          <p:nvPr/>
        </p:nvSpPr>
        <p:spPr>
          <a:xfrm>
            <a:off x="3202960" y="3442469"/>
            <a:ext cx="1042416" cy="173736"/>
          </a:xfrm>
          <a:prstGeom prst="rect">
            <a:avLst/>
          </a:prstGeom>
          <a:noFill/>
          <a:ln/>
        </p:spPr>
        <p:txBody>
          <a:bodyPr wrap="square" lIns="0" tIns="0" rIns="0" bIns="0" rtlCol="0" anchor="ctr"/>
          <a:lstStyle/>
          <a:p>
            <a:pPr algn="l" indent="0" marL="0">
              <a:buNone/>
            </a:pPr>
            <a:r>
              <a:rPr lang="en-US" sz="700" dirty="0">
                <a:solidFill>
                  <a:srgbClr val="222222"/>
                </a:solidFill>
                <a:latin typeface="Calibri" pitchFamily="34" charset="0"/>
                <a:ea typeface="Calibri" pitchFamily="34" charset="-122"/>
                <a:cs typeface="Calibri" pitchFamily="34" charset="-120"/>
              </a:rPr>
              <a:t>Murah</a:t>
            </a:r>
            <a:endParaRPr lang="en-US" sz="700" dirty="0"/>
          </a:p>
        </p:txBody>
      </p:sp>
      <p:sp>
        <p:nvSpPr>
          <p:cNvPr id="119" name="Shape 111"/>
          <p:cNvSpPr/>
          <p:nvPr/>
        </p:nvSpPr>
        <p:spPr>
          <a:xfrm>
            <a:off x="587776" y="3794216"/>
            <a:ext cx="4950927" cy="201168"/>
          </a:xfrm>
          <a:prstGeom prst="rect">
            <a:avLst/>
          </a:prstGeom>
          <a:solidFill>
            <a:srgbClr val="F8F9FA"/>
          </a:solidFill>
          <a:ln w="12700">
            <a:solidFill>
              <a:srgbClr val="F8F9FA"/>
            </a:solidFill>
            <a:prstDash val="solid"/>
          </a:ln>
        </p:spPr>
      </p:sp>
      <p:sp>
        <p:nvSpPr>
          <p:cNvPr id="120" name="Text 112"/>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21" name="Shape 113"/>
          <p:cNvSpPr/>
          <p:nvPr/>
        </p:nvSpPr>
        <p:spPr>
          <a:xfrm>
            <a:off x="1136416" y="3794216"/>
            <a:ext cx="731520" cy="201168"/>
          </a:xfrm>
          <a:prstGeom prst="rect">
            <a:avLst/>
          </a:prstGeom>
          <a:solidFill>
            <a:srgbClr val="E1EFFE"/>
          </a:solidFill>
          <a:ln w="12700">
            <a:solidFill>
              <a:srgbClr val="E1EFFE"/>
            </a:solidFill>
            <a:prstDash val="solid"/>
          </a:ln>
        </p:spPr>
      </p:sp>
      <p:sp>
        <p:nvSpPr>
          <p:cNvPr id="122" name="Text 114"/>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Form Responses 1</a:t>
            </a:r>
            <a:endParaRPr lang="en-US" sz="700" dirty="0"/>
          </a:p>
        </p:txBody>
      </p:sp>
      <p:sp>
        <p:nvSpPr>
          <p:cNvPr id="123" name="Shape 115"/>
          <p:cNvSpPr/>
          <p:nvPr/>
        </p:nvSpPr>
        <p:spPr>
          <a:xfrm>
            <a:off x="825520" y="2555501"/>
            <a:ext cx="3465576" cy="1078992"/>
          </a:xfrm>
          <a:prstGeom prst="roundRect">
            <a:avLst>
              <a:gd name="adj" fmla="val 4237"/>
            </a:avLst>
          </a:prstGeom>
          <a:solidFill>
            <a:srgbClr val="FFFFFF">
              <a:alpha val="0"/>
            </a:srgbClr>
          </a:solidFill>
          <a:ln w="31750">
            <a:solidFill>
              <a:srgbClr val="E53935"/>
            </a:solidFill>
            <a:prstDash val="solid"/>
          </a:ln>
        </p:spPr>
      </p:sp>
      <p:sp>
        <p:nvSpPr>
          <p:cNvPr id="124" name="Shape 116"/>
          <p:cNvSpPr/>
          <p:nvPr/>
        </p:nvSpPr>
        <p:spPr>
          <a:xfrm>
            <a:off x="4153936" y="2418341"/>
            <a:ext cx="274320" cy="274320"/>
          </a:xfrm>
          <a:prstGeom prst="ellipse">
            <a:avLst/>
          </a:prstGeom>
          <a:solidFill>
            <a:srgbClr val="E53935"/>
          </a:solidFill>
          <a:ln w="12700">
            <a:solidFill>
              <a:srgbClr val="FFFFFF"/>
            </a:solidFill>
            <a:prstDash val="solid"/>
          </a:ln>
        </p:spPr>
      </p:sp>
      <p:sp>
        <p:nvSpPr>
          <p:cNvPr id="125" name="Text 117"/>
          <p:cNvSpPr txBox="1"/>
          <p:nvPr/>
        </p:nvSpPr>
        <p:spPr>
          <a:xfrm>
            <a:off x="4153936" y="24183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26" name="Text 11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27" name="Text 11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Link to Sheets › Create</a:t>
            </a:r>
            <a:endParaRPr lang="en-US" sz="1800" dirty="0"/>
          </a:p>
        </p:txBody>
      </p:sp>
      <p:sp>
        <p:nvSpPr>
          <p:cNvPr id="128" name="Text 12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Link to Sheets, pilih Create a new spreadsheet, klik Create. Semua jawaban tersusun dalam tabel Google Sheets.</a:t>
            </a:r>
            <a:endParaRPr lang="en-US" sz="1300" dirty="0"/>
          </a:p>
        </p:txBody>
      </p:sp>
      <p:sp>
        <p:nvSpPr>
          <p:cNvPr id="129" name="Shape 12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130" name="Image 6" descr="preencoded.png">    </p:cNvPr>
          <p:cNvPicPr>
            <a:picLocks noChangeAspect="1"/>
          </p:cNvPicPr>
          <p:nvPr/>
        </p:nvPicPr>
        <p:blipFill>
          <a:blip r:embed="rId7"/>
          <a:stretch>
            <a:fillRect/>
          </a:stretch>
        </p:blipFill>
        <p:spPr>
          <a:xfrm>
            <a:off x="6108192" y="3721608"/>
            <a:ext cx="201168" cy="201168"/>
          </a:xfrm>
          <a:prstGeom prst="rect">
            <a:avLst/>
          </a:prstGeom>
        </p:spPr>
      </p:pic>
      <p:sp>
        <p:nvSpPr>
          <p:cNvPr id="131" name="Text 12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Tabel inilah yang kita olah di Modul 2.</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Formulir Digital Kegiatan Santri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Formulir menjawab satu kebutuhan nyata pesantren dan disetujui guru.</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Memakai 2 bagian, jenis pertanyaan tepat, validasi, dan pesan konfirmasi.</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Sudah dibagikan dan diisi minimal 10 orang; formulir ditutup setelah selesai.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Hasil dipresentasikan dari tab Responses dan terhubung ke Google Sheets.</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 Google Forms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Formulir menjawab kebutuhan nyata</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Link berhasil dibagikan dan diisi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Hasil terbaca di Responses</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Terhubung ke Google Sheets</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temuan menarik dari hasil formulirmu?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formulir ini bisa membantu pengurus?</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Jaga kerahasiaan jawaban: hasil formulir hanya untuk yang berhak.</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2: Google Sheets untuk mengolah data.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2 Modul 1 - Google Forms</dc:title>
  <dc:subject>PptxGenJS Presentation</dc:subject>
  <dc:creator>PptxGenJS</dc:creator>
  <cp:lastModifiedBy>PptxGenJS</cp:lastModifiedBy>
  <cp:revision>1</cp:revision>
  <dcterms:created xsi:type="dcterms:W3CDTF">2026-10-01T20:02:53Z</dcterms:created>
  <dcterms:modified xsi:type="dcterms:W3CDTF">2026-10-01T20:02:53Z</dcterms:modified>
</cp:coreProperties>
</file>