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12: Proyek Akhir Kelas VIII — Proyek: Digital Information System
Terdiri dari 3 pertemuan (Pertemuan 34–36 Kelas VIII),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Proyek akhir memadukan Modul 1–11. Setiap kelompok memilih satu tema: perpustakaan, informasi kelas, kegiatan santri, tahfidz, atau media dakwah.
- Data dalam sistem tetap DATA FIKTIF atau data umum yang boleh dibuka. Dashboard yang ditautkan ke website hanya menampilkan ringkasan tanpa nama santri.
- Formulir yang disematkan di website publik harus aman: tanpa pertanyaan data pribadi, dan ditutup setelah masa uji.
- Pertemuan 36: undang pengurus pondok/pengguna nyata (misalnya pengelola perpustakaan) untuk mencoba sistem dan memberi masukan. Sistem yang baik dapat dilanjutkan penggunaannya dengan izin pimpinan.
CATATAN
Iframe (pertemuan 35) adalah tag HTML untuk menyematkan halaman lain, seperti Google Form, ke dalam website. Kode iframe diambil dari Google Forms: Send › ikon &lt; &gt; (Embed) › Copy.
Grafik Google Sheets dapat disematkan lewat titik tiga pada grafik › Publish chart › Embed. Lakukan hanya untuk grafik ringkasan tanpa data pribadi.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ke-34, dengan judul "Merancang Sistem Informasi". Kita memasuki proyek akhir Kelas VIII: membangun sistem informasi untuk pesantren.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kita sampai di modul terakhir Kelas VIII. Coba ingat: apa saja yang sudah kalian pelajari tahun ini?
(Tunggu jawaban: Forms, Sheets, database, dashboard, AI untuk data, Google Sites, HTML, CSS, GitHub, hosting, QR code.)
Masya Allah. Semuanya akan kita satukan dalam satu karya.
Sekarang pertanyaan hari ini. Coba pikirkan sejenak:
"Pernahkah kalian melihat sesuatu di pesantren yang bisa dibuat lebih mudah dengan teknologi?"
(Beri waktu 1 menit. Minta 2–3 santri menjawab. Hargai semua jawaban.)
Misalnya mencari buku di perpustakaan, mendaftar kegiatan, atau mencatat hafalan. Hari ini setiap kelompok memilih satu masalah nyata, lalu merancang SISTEM INFORMASI sederhana untuk menyelesaikannya. Inilah proyek akhir Kelas VIII: Digital Information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SISTEM INFORMASI adalah rangkaian alat dan langkah yang mengumpulkan data, mengolahnya, lalu menyajikannya sebagai informasi yang berguna.
Sistem kita memiliki tiga bagian, sesuai yang sudah dipelajari.
INPUT atau masukan: data masuk lewat Google Forms, seperti Modul 1.
OLAH: data tersimpan di Google Sheets, dirapikan seperti Modul 3, lalu diringkas dalam dashboard seperti Modul 4 dan 5.
OUTPUT atau keluaran: informasi tampil di website online seperti Modul 7 sampai 10, dan bisa diakses lewat papan QR seperti Modul 11.
Contoh di bawah: sistem perpustakaan. Santri mengusulkan buku lewat formulir, usulan direkap dan dibuat grafik buku terpopuler, lalu ditampilkan di website perpustakaan yang bisa dibuka lewat QR di rak buku.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kelompok memilih satu tema.
PERPUSTAKAAN DIGITAL: usulan buku, rekap, dashboard buku terpopuler, website, dan QR di perpustakaan.
INFORMASI KELAS: jadwal, pengumuman, dan piket dalam website kelas dan papan QR.
KEGIATAN SANTRI: pendaftaran ekskul, rekap peserta, dan dashboard.
TAHFIDZ: setoran hafalan dengan data fiktif, dashboard progres, dan QR di tempat halaqah.
MEDIA DAKWAH: kumpulan poster, nasihat, dan video karya santri dalam website dakwah.
Atau IDE SENDIRI, untuk masalah lain di pesantren, dengan persetujuan guru.
Pilih masalah yang benar-benar ada, dan pengguna yang benar-benar membutuhkan.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membangun, kelompok mengisi KARTU RANCANGAN PROYEK. Perhatikan contoh untuk perpustakaan.
MASALAH: santri sulit mengusulkan buku baru ke perpustakaan.
PENGGUNA: santri Kelas 8 dan pengelola perpustakaan.
FITUR: formulir usulan, dashboard buku terpopuler, website, dan QR di rak.
DATA: judul buku, kategori, dan alasan. Tanpa data pribadi.
UKURAN BERHASIL: minimal 15 usulan masuk, dan pengelola perpustakaan bisa membaca dashboard.
Ukuran berhasil membuat kita tahu, di akhir proyek, apakah sistem kita benar-benar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(Bentuk kelompok 4–5 santri. Bila memungkinkan, kelompok sama dengan kelompok GitHub agar repository bisa dipakai.)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Diskusikan dalam kelompok dan pilih satu tema. Usahakan setiap kelompok memilih tema yang berbeda.
Tuliskan masalahnya dalam satu kalimat yang jelas.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Sistem yang baik dimulai dari mendengar pengguna. Wawancarai singkat dua atau tiga calon pengguna: teman, pengurus, atau ustadz pengelola. Tanyakan tiga hal: apa kesulitannya, informasi apa yang dibutuhkan, dan di mana biasanya mereka mencari informasi.
Catat jawabannya di Google Docs kelompok. Ingat, ini tahap Understand dalam alur proyek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Di Google Docs kelompok, buat tabel kartu rancangan dengan lima baris: masalah, pengguna, fitur, data, dan ukuran berhasil. Isi berdasarkan hasil wawancara.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Di kertas, gambar diagram alur data: kotak-kotak yang dihubungkan panah. Formulir, panah, Sheets, panah, Dashboard, panah, Website, panah, QR.
Di dalam setiap kotak, tulis nama file atau tempatnya. Diagram ini menjadi peta kerja kelompok. Ingat flowchart yang akan kalian pelajari lebih dalam di Kelas 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Bagi peran dalam tim, seperti di pedoman kita.
PROJECT MANAGER: mengatur jadwal dan koordinasi.
DATA: membuat formulir dan mengelola Sheets.
DEVELOPER: membuat website dengan HTML dan CSS, dan mengelola GitHub.
DESAINER: membuat dashboard dan papan QR.
TESTER DAN PRESENTER: menguji sistem dan mempresentasikannya.
Walaupun berbeda peran, semua anggota saling membantu.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Tulis jadwal kerja di Google Docs: target pertemuan 35, semua komponen jadi dan terhubung; target pertemuan 36, uji, perbaikan, dan presentasi. Tulis penanggung jawab setiap target.
Tunjukkan kartu rancangan, diagram, peran, dan jadwal kepada guru untuk disetujui.
(Periksa rancangan setiap kelompok. Pastikan tidak ada data pribadi dan cakupannya cukup untuk dua pertemuan.)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Dokumen rancangan kelompok berisi: hasil wawancara, kartu rancangan, foto diagram alur data, serta pembagian peran dan jadwal yang sudah disetujui 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masalah dan pengguna jelas?
- ada diagram alur data?
- peran tim terbagi?
- rencana disetujui guru?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masalah apa yang ingin diselesaikan kelompokmu?
Pertanyaan kedua: siapa yang paling terbantu oleh sistem kalian?
(Minta 2–3 santri menjawab secara bergantian.)
Pesan adab kita hari ini: niatkan karya untuk memudahkan urusan orang lain. Rasulullah bersabda, maknanya: barang siapa memudahkan urusan saudaranya, Allah akan memudahkan urusannya. Hadits ini diriwayatkan oleh Muslim.
Pekan depan: membangun komponen sistem dan menghubungkannya.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ke-35, dengan judul "Membangun Sistem". Hari ini setiap anggota membangun bagiannya, lalu kita menghubungkan semuanya menjadi satu sistem.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merancang sistem informasi. Siapa yang ingat, tiga bagian sistem informasi kita?
(Tunggu jawaban: input berupa formulir, olah berupa Sheets dan dashboard, output berupa website dan QR.)
Sekarang pertanyaan hari ini. Coba pikirkan sejenak:
"Bagaimana cara menampilkan formulir Google langsung di dalam website buatan sendiri?"
(Beri waktu 1 menit. Minta 2–3 santri menjawab. Hargai semua jawaban.)
Dengan tag HTML bernama IFRAME, yang bisa menyematkan halaman lain ke dalam halaman kita. Hari ini kita membangun semua komponen dan menghubungkannya, termasuk menyematkan formulir ke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IFRAME adalah tag HTML untuk membuat jendela di dalam halaman, yang menampilkan halaman lain. Dengan iframe, formulir Google bisa tampil langsung di dalam website kita.
Perhatikan kodenya: iframe, dengan atribut src berisi alamat formulir, width 100 persen agar lebarnya penuh, dan height 600 untuk tinggi. Lalu tag penutup iframe.
Kita tidak perlu mengetik kode ini sendiri. Google Forms menyediakannya: klik Send, lalu ikon kurung sudut, yaitu Embed HTML, lalu Copy. Tempel kode itu di dalam body website.
Hasilnya seperti gambar di kanan: formulir tampil di dalam website, dan pengunjung bisa mengisinya tanpa pindah halaman.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 ini setiap peran mengerjakan bagiannya.
DATA: menyiapkan formulir tanpa pertanyaan data pribadi, menghubungkannya ke Sheets, dan mengisi lima data uji fiktif.
DESAINER: membuat dashboard ringkasan di Sheets: dua kartu angka dan satu grafik.
DEVELOPER: membuat website berisi header, deskripsi sistem, iframe formulir, dan link ke dashboard. Lalu mengunggah ke GitHub dan mengaktifkan Pages.
PROJECT MANAGER DAN TESTER: memantau jadwal, membuat QR code website, dan menyiapkan daftar uji untuk pekan depan.
Saling membantu jika ada anggota yang kesulitan.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Bekerja sesuai peran. Project manager mengingatkan waktu setiap 15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untuk peran Data. Buat formulir sesuai tema. Contoh perpustakaan: judul buku, kategori dengan dropdown, dan alasan. Tulis di deskripsi bahwa formulir tidak meminta nama atau data pribadi.
Hubungkan ke Sheets lewat Responses, Link to Sheets. Isi lima data uji fiktif agar dashboard bisa dibuat.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untuk peran Desainer. Di file Sheets hasil formulir, buat lembar baru bernama Dashboard. Isi dua kartu angka: jumlah usulan dengan COUNTA, dan kategori terbanyak. Lalu grafik batang usulan per kategori dengan COUNTIF, seperti Modul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untuk peran Developer. Buka formulir kelompok, klik Send. Pada Send via, klik ikon kurung sudut, yaitu Embed HTML, tanda a.
Muncul kode iframe. Ubah width menjadi 100 persen jika ada pilihannya. Klik Copy,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Buat index.html untuk website sistem, dengan CSS dari Modul 8: header berlogo, deskripsi sistem, kartu berisi subjudul Usulkan Buku, dan tempel kode iframe di dalam kartu. Tambahkan juga tombol menuju dashboard.
Untuk link dashboard, gunakan link Sheets dengan akses Viewer, atau grafik yang dipublikasikan. Ingat, hanya ringkasan tanpa data pribadi.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Simpan dan buka di browser. Formulir tampil di dalam halaman website kalian, tanda kotak merah.
Coba isi satu usulan uji. Lalu periksa Sheets: apakah data masuk, dan apakah dashboard ikut berubah? Jika ya, input, olah, dan output sistem kalian sudah terhubung!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Developer membuat repository baru, misalnya perpus, tanda hubung, digital, tanda hubung, kel1, atau memakai repository lama. Upload semua file, commit dengan pesan jelas, lalu aktifkan GitHub Pages seperti Modul 10.
Tunggu beberapa menit sampai muncul kotak hijau Your site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untuk Project Manager. Buka website online, klik kanan, Create QR code, lalu Download. Pindai dari HP: website terbuka, dan formulir bisa diisi langsung dari HP.
Catat semua yang belum sempurna di daftar uji. Pekan depan kita uji menyeluruh, perbaiki, dan presentasikan.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pekan depan, sistem kelompok harus memiliki: formulir yang terhubung ke Sheets, dashboard ringkasan, website online dengan formulir tersemat dan link dashboard, serta file QR dan daftar uji.
(Dampingi kelompok yang tertinggal di luar jam pelajaran bila perlu.)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formulir dan Sheets siap?
- website berisi formulir tersemat?
- website online di GitHub Pages?
- qR mengarah ke website?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komponen mana yang paling menantang?
Pertanyaan kedua: bagaimana kelompokmu bekerja sama hari ini?
(Minta 2–3 santri menjawab secara bergantian.)
Pesan adab kita hari ini: kerja sama yang baik adalah saling membantu, saling mengingatkan, dan menyelesaikan amanah tepat waktu. Allah memerintahkan kita tolong-menolong dalam kebaikan dan takwa.
Pekan depan: uji, perbaiki, dan presentasikan sistem.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ke-36, dengan judul "Uji, Presentasi &amp; Pameran". Hari ini kita menguji, menyempurnakan, dan mempresentasikan sistem informasi, sekaligus menutup Kelas VIII.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membangun sistem. Siapa yang ingat, tag HTML apa untuk menyematkan formulir ke website?
(Tunggu jawaban: iframe.)
Sekarang pertanyaan hari ini. Coba pikirkan sejenak:
"Bagaimana kita tahu sistem kita benar-benar bermanfaat bagi pengguna?"
(Beri waktu 1 menit. Minta 2–3 santri menjawab. Hargai semua jawaban.)
Dengan meminta pengguna nyata mencobanya, lalu mendengarkan masukannya, dan mengukurnya dengan ukuran berhasil yang kita tulis di kartu rancangan. Hari ini kita menguji, memperbaiki, dan mempresentasikan sistem.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 ini ada tiga tahap.
UJI PENGGUNA: pengguna nyata, misalnya teman kelas lain atau pengelola perpustakaan, mencoba sistem dari HP. Tester mencatat apa yang membingungkan atau tidak berfungsi. Jangan membantu pengguna selama uji, cukup amati.
PERBAIKI: perbaiki temuan, lalu commit dengan pesan jelas.
PRESENTASI: sampaikan masalah, solusi, demo sistem, hasil, dan pelajaran.
Contoh di bawah: pengguna bingung mencari formulir karena berada di bawah. Perbaikannya: pindahkan formulir ke atas halaman, commit, lalu uji ulang.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Presentasi setiap kelompok berlangsung lima menit dengan lima bagian.
MASALAH: masalah nyata apa yang diselesaikan dan siapa penggunanya.
SOLUSI: tunjukkan diagram alur sistem.
DEMO: bagian paling menarik. Pindai QR, isi formulir dari HP, lalu tunjukkan dashboard yang langsung berubah.
HASIL: apakah ukuran berhasil tercapai, dan apa kata pengguna.
PELAJARAN: kesulitan, error yang berhasil diperbaiki, dan rencana pengembangan.
Setiap anggota berbicara tentang bagian yang dikerjakannya.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(Sekitar 20 menit uji dan perbaikan, 30 menit presentasi. Jika waktu kurang, presentasi dapat dilanjutkan pada kesempatan berikutnya atau di pameran.)
(Undang pengguna nyata bila memungkinkan: santri kelas lain, pengelola perpustakaan, atau ustadz.)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Berikan QR kepada pengguna, dan satu tugas sederhana, misalnya: usulkan satu buku. Jangan menjelaskan cara memakainya.
Tester mengamati dan mencatat tanpa membantu: di mana pengguna bingung, berapa lama, dan apakah berhasil. Catatan seperti ini sangat berharga.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Setelah mencoba, tanyakan kepada pengguna: apa yang paling membantu, dan apa yang perlu diperbaiki? Catat di tabel daftar uji: pengguna, pujian, dan saran.
Terimalah masukan dengan lapang dada. Saran adalah hadiah untuk memperbaiki karya.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Pilih satu sampai tiga temuan terpenting. Perbaiki, lalu commit dengan pesan jelas, seperti: Pindahkan formulir ke bagian atas, atau Perbesar tombol dashboard.
Setelah website diperbarui, uji ulang dari 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Lengkapi README repository: masalah, solusi, alur sistem, alamat website, dan peran setiap anggota tim.
Setelah uji selesai, hapus data uji dari Sheets jika perlu, dan atur formulir sesuai arahan guru: ditutup, atau dibiarkan terbuka jika sistem akan dipakai sungguhan dengan izin pimpinan.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Setiap kelompok mempresentasikan sistemnya selama lima menit.
Tampilkan diagram alur. Lalu demo langsung: pindai QR dengan HP, isi formulir, dan tunjukkan dashboard yang berubah. Sampaikan hasil uji pengguna, ukuran berhasil, dan pelajaran.
Penonton memberi satu pujian dan satu saran. Guru menilai dengan rubrik proyek.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Setiap santri merapikan portofolio Kelas VIII: simpan link website online, link repository, dashboard, foto papan QR, dan file proyek akhir di folder Portofolio, Proyek, Kelas8.
Tulis refleksi singkat: apa yang paling dibanggakan, apa yang paling sulit, dan apa yang ingin dipelajari di Kelas 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akhir Kelas VIII dinyatakan selesai jika: sistem lengkap dan terhubung dari formulir sampai QR, sudah diuji pengguna nyata dengan temuan diperbaiki, README lengkap tanpa data pribadi, dan dipresentasikan dengan demo oleh semua anggota.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sistem diuji pengguna?
- temuan diperbaiki dan di-commit?
- ukuran berhasil dievaluasi?
- dipresentasikan?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pencapaian terbesarmu di Kelas VIII?
Pertanyaan kedua: apa yang ingin kamu pelajari di Kelas IX?
(Minta 2–3 santri menjawab secara bergantian.)
Pesan adab kita hari ini: bersyukurlah atas ilmu yang Allah berikan, dan rendah hatilah menerima masukan. Di Kelas VII kalian menjadi Digital User, di Kelas VIII menjadi Digital Creator yang membuat formulir, database, dashboard, website, dan sistem informasi.
Di Kelas IX, insya Allah kalian menjadi Digital Builder: belajar berpikir komputasional, JavaScript, dan membangun aplikasi sederhana dengan bantuan AI untuk menyelesaikan masalah nyata pesantren.
Pekan depan: Kelas IX: AI, Coding &amp; Digital Problem Solving. Sampai jumpa, insya Allah. Alhamdulillah, Kelas VIII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slideLayout" Target="../slideLayouts/slideLayout1.xml"/><Relationship Id="rId1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slideLayout" Target="../slideLayouts/slideLayout1.xml"/><Relationship Id="rId1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2.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slideLayout" Target="../slideLayouts/slideLayout1.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slideLayout" Target="../slideLayouts/slideLayout1.xml"/><Relationship Id="rId10"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1-10.png"/><Relationship Id="rId11" Type="http://schemas.openxmlformats.org/officeDocument/2006/relationships/slideLayout" Target="../slideLayouts/slideLayout1.xml"/><Relationship Id="rId1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slideLayout" Target="../slideLayouts/slideLayout1.xml"/><Relationship Id="rId9"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2.png"/><Relationship Id="rId7" Type="http://schemas.openxmlformats.org/officeDocument/2006/relationships/slideLayout" Target="../slideLayouts/slideLayout1.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image" Target="../media/image-45-9.png"/><Relationship Id="rId10" Type="http://schemas.openxmlformats.org/officeDocument/2006/relationships/image" Target="../media/image-45-10.png"/><Relationship Id="rId11" Type="http://schemas.openxmlformats.org/officeDocument/2006/relationships/image" Target="../media/image-45-11.png"/><Relationship Id="rId12" Type="http://schemas.openxmlformats.org/officeDocument/2006/relationships/image" Target="../media/image-45-12.png"/><Relationship Id="rId13" Type="http://schemas.openxmlformats.org/officeDocument/2006/relationships/image" Target="../media/image-45-13.png"/><Relationship Id="rId14" Type="http://schemas.openxmlformats.org/officeDocument/2006/relationships/image" Target="../media/image-45-14.png"/><Relationship Id="rId15" Type="http://schemas.openxmlformats.org/officeDocument/2006/relationships/slideLayout" Target="../slideLayouts/slideLayout1.xml"/><Relationship Id="rId1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2 WUSTHA  ·  SEMESTER 2  ·  MODUL 12</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Proyek Akhir Kelas VIII</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Digital Information System</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Setiap kelompok membangun sistem informasi sederhana untuk satu kebutuhan nyata pesantren, memadukan seluruh kemampuan Kelas VIII: formulir, database, dashboard, website online, dan papan QR.</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34</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Merancang Sistem Informasi</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35</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Membangun Sistem</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36</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Uji, Presentasi &amp; Pameran</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Google Forms, Google Sheets, Notepad, GitHub dan GitHub Pages, Canva, browser, HP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34</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Merancang Sistem Informasi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Masalah, pengguna, fitur, dan alur data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12: Proyek Akhir Kelas VIII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Pernahkah kalian melihat sesuatu di pesantren yang bisa dibuat lebih mudah dengan teknologi?</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34</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pengertian sistem informasi dan komponennya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Menentukan masalah, pengguna, dan fitur sistem</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diagram alur data dan pembagian peran</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Sistem Informasi Kita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Input: Formulir</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Data masuk lewat Google Forms</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Olah: Sheets</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Data tersimpan, diringkas, dan digrafikkan</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Output: Web dan QR</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Informasi tampil di website online dan papan QR</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Perpustakaan: santri mengusulkan buku lewat formulir → rekap dan grafik buku terpopuler → website perpustakaan + QR di rak buku.</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Pilihan Tema Proyek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Perpustakaan Digital</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Usulan buku (Forms) → rekap (Sheets) → dashboard → website + QR di perpustakaan.</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Informasi Kelas</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Jadwal, pengumuman, piket → website kelas + papan QR.</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Kegiatan Santri</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Pendaftaran ekskul → rekap peserta → dashboard → website kegiatan.</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Tahfidz</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Setoran hafalan fiktif → dashboard progres → website + QR di halaqah.</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Media Dakwah</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Kumpulan poster, nasihat, video → website dakwah + papan QR.</a:t>
            </a:r>
            <a:endParaRPr lang="en-US" sz="1250" dirty="0"/>
          </a:p>
        </p:txBody>
      </p:sp>
      <p:sp>
        <p:nvSpPr>
          <p:cNvPr id="34" name="Shape 25"/>
          <p:cNvSpPr/>
          <p:nvPr/>
        </p:nvSpPr>
        <p:spPr>
          <a:xfrm>
            <a:off x="6096000" y="2948940"/>
            <a:ext cx="2590800" cy="1668780"/>
          </a:xfrm>
          <a:prstGeom prst="roundRect">
            <a:avLst>
              <a:gd name="adj" fmla="val 6575"/>
            </a:avLst>
          </a:prstGeom>
          <a:solidFill>
            <a:srgbClr val="E6F2EC"/>
          </a:solidFill>
          <a:ln w="12700">
            <a:solidFill>
              <a:srgbClr val="E6F2EC"/>
            </a:solidFill>
            <a:prstDash val="solid"/>
          </a:ln>
        </p:spPr>
      </p:sp>
      <p:sp>
        <p:nvSpPr>
          <p:cNvPr id="35" name="Shape 26"/>
          <p:cNvSpPr/>
          <p:nvPr/>
        </p:nvSpPr>
        <p:spPr>
          <a:xfrm>
            <a:off x="6278880" y="3131820"/>
            <a:ext cx="548640" cy="548640"/>
          </a:xfrm>
          <a:prstGeom prst="ellipse">
            <a:avLst/>
          </a:prstGeom>
          <a:solidFill>
            <a:srgbClr val="0F4C3A"/>
          </a:solidFill>
          <a:ln/>
        </p:spPr>
      </p:sp>
      <p:pic>
        <p:nvPicPr>
          <p:cNvPr id="36" name="Image 7" descr="preencoded.png">    </p:cNvPr>
          <p:cNvPicPr>
            <a:picLocks noChangeAspect="1"/>
          </p:cNvPicPr>
          <p:nvPr/>
        </p:nvPicPr>
        <p:blipFill>
          <a:blip r:embed="rId8"/>
          <a:stretch>
            <a:fillRect/>
          </a:stretch>
        </p:blipFill>
        <p:spPr>
          <a:xfrm>
            <a:off x="6416040" y="3268980"/>
            <a:ext cx="274320" cy="274320"/>
          </a:xfrm>
          <a:prstGeom prst="rect">
            <a:avLst/>
          </a:prstGeom>
        </p:spPr>
      </p:pic>
      <p:sp>
        <p:nvSpPr>
          <p:cNvPr id="37" name="Text 27"/>
          <p:cNvSpPr txBox="1"/>
          <p:nvPr/>
        </p:nvSpPr>
        <p:spPr>
          <a:xfrm>
            <a:off x="69646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Ide Sendiri</a:t>
            </a:r>
            <a:endParaRPr lang="en-US" sz="1600" dirty="0"/>
          </a:p>
        </p:txBody>
      </p:sp>
      <p:sp>
        <p:nvSpPr>
          <p:cNvPr id="38" name="Text 28"/>
          <p:cNvSpPr txBox="1"/>
          <p:nvPr/>
        </p:nvSpPr>
        <p:spPr>
          <a:xfrm>
            <a:off x="62788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Masalah lain di pesantren, disetujui guru.</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Kartu Rancangan Proyek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2011680" cy="594360"/>
          </a:xfrm>
          <a:prstGeom prst="roundRect">
            <a:avLst>
              <a:gd name="adj" fmla="val 9231"/>
            </a:avLst>
          </a:prstGeom>
          <a:solidFill>
            <a:srgbClr val="0F4C3A"/>
          </a:solidFill>
          <a:ln w="12700">
            <a:solidFill>
              <a:srgbClr val="0F4C3A"/>
            </a:solidFill>
            <a:prstDash val="solid"/>
          </a:ln>
        </p:spPr>
      </p:sp>
      <p:sp>
        <p:nvSpPr>
          <p:cNvPr id="10" name="Text 6"/>
          <p:cNvSpPr txBox="1"/>
          <p:nvPr/>
        </p:nvSpPr>
        <p:spPr>
          <a:xfrm>
            <a:off x="548640" y="1143000"/>
            <a:ext cx="1828800" cy="5943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Masalah</a:t>
            </a:r>
            <a:endParaRPr lang="en-US" sz="1400" dirty="0"/>
          </a:p>
        </p:txBody>
      </p:sp>
      <p:sp>
        <p:nvSpPr>
          <p:cNvPr id="11" name="Shape 7"/>
          <p:cNvSpPr/>
          <p:nvPr/>
        </p:nvSpPr>
        <p:spPr>
          <a:xfrm>
            <a:off x="2560320" y="1143000"/>
            <a:ext cx="6126480" cy="594360"/>
          </a:xfrm>
          <a:prstGeom prst="roundRect">
            <a:avLst>
              <a:gd name="adj" fmla="val 9231"/>
            </a:avLst>
          </a:prstGeom>
          <a:solidFill>
            <a:srgbClr val="E6F2EC"/>
          </a:solidFill>
          <a:ln w="12700">
            <a:solidFill>
              <a:srgbClr val="E6F2EC"/>
            </a:solidFill>
            <a:prstDash val="solid"/>
          </a:ln>
        </p:spPr>
      </p:sp>
      <p:sp>
        <p:nvSpPr>
          <p:cNvPr id="12" name="Text 8"/>
          <p:cNvSpPr txBox="1"/>
          <p:nvPr/>
        </p:nvSpPr>
        <p:spPr>
          <a:xfrm>
            <a:off x="2697480" y="1143000"/>
            <a:ext cx="5852160" cy="594360"/>
          </a:xfrm>
          <a:prstGeom prst="rect">
            <a:avLst/>
          </a:prstGeom>
          <a:noFill/>
          <a:ln/>
        </p:spPr>
        <p:txBody>
          <a:bodyPr wrap="square" lIns="0" tIns="0" rIns="0" bIns="0" rtlCol="0" anchor="ctr"/>
          <a:lstStyle/>
          <a:p>
            <a:pPr indent="0" marL="0">
              <a:buNone/>
            </a:pPr>
            <a:r>
              <a:rPr lang="en-US" sz="1350" i="1" dirty="0">
                <a:solidFill>
                  <a:srgbClr val="1155CC"/>
                </a:solidFill>
                <a:latin typeface="Arial" pitchFamily="34" charset="0"/>
                <a:ea typeface="Arial" pitchFamily="34" charset="-122"/>
                <a:cs typeface="Arial" pitchFamily="34" charset="-120"/>
              </a:rPr>
              <a:t>Santri sulit mengusulkan buku baru ke perpustakaan.</a:t>
            </a:r>
            <a:endParaRPr lang="en-US" sz="1350" dirty="0"/>
          </a:p>
        </p:txBody>
      </p:sp>
      <p:sp>
        <p:nvSpPr>
          <p:cNvPr id="13" name="Shape 9"/>
          <p:cNvSpPr/>
          <p:nvPr/>
        </p:nvSpPr>
        <p:spPr>
          <a:xfrm>
            <a:off x="457200" y="1828800"/>
            <a:ext cx="2011680" cy="594360"/>
          </a:xfrm>
          <a:prstGeom prst="roundRect">
            <a:avLst>
              <a:gd name="adj" fmla="val 9231"/>
            </a:avLst>
          </a:prstGeom>
          <a:solidFill>
            <a:srgbClr val="0F4C3A"/>
          </a:solidFill>
          <a:ln w="12700">
            <a:solidFill>
              <a:srgbClr val="0F4C3A"/>
            </a:solidFill>
            <a:prstDash val="solid"/>
          </a:ln>
        </p:spPr>
      </p:sp>
      <p:sp>
        <p:nvSpPr>
          <p:cNvPr id="14" name="Text 10"/>
          <p:cNvSpPr txBox="1"/>
          <p:nvPr/>
        </p:nvSpPr>
        <p:spPr>
          <a:xfrm>
            <a:off x="548640" y="1828800"/>
            <a:ext cx="1828800" cy="5943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Pengguna</a:t>
            </a:r>
            <a:endParaRPr lang="en-US" sz="1400" dirty="0"/>
          </a:p>
        </p:txBody>
      </p:sp>
      <p:sp>
        <p:nvSpPr>
          <p:cNvPr id="15" name="Shape 11"/>
          <p:cNvSpPr/>
          <p:nvPr/>
        </p:nvSpPr>
        <p:spPr>
          <a:xfrm>
            <a:off x="2560320" y="1828800"/>
            <a:ext cx="6126480" cy="594360"/>
          </a:xfrm>
          <a:prstGeom prst="roundRect">
            <a:avLst>
              <a:gd name="adj" fmla="val 9231"/>
            </a:avLst>
          </a:prstGeom>
          <a:solidFill>
            <a:srgbClr val="E6F2EC"/>
          </a:solidFill>
          <a:ln w="12700">
            <a:solidFill>
              <a:srgbClr val="E6F2EC"/>
            </a:solidFill>
            <a:prstDash val="solid"/>
          </a:ln>
        </p:spPr>
      </p:sp>
      <p:sp>
        <p:nvSpPr>
          <p:cNvPr id="16" name="Text 12"/>
          <p:cNvSpPr txBox="1"/>
          <p:nvPr/>
        </p:nvSpPr>
        <p:spPr>
          <a:xfrm>
            <a:off x="2697480" y="1828800"/>
            <a:ext cx="5852160" cy="594360"/>
          </a:xfrm>
          <a:prstGeom prst="rect">
            <a:avLst/>
          </a:prstGeom>
          <a:noFill/>
          <a:ln/>
        </p:spPr>
        <p:txBody>
          <a:bodyPr wrap="square" lIns="0" tIns="0" rIns="0" bIns="0" rtlCol="0" anchor="ctr"/>
          <a:lstStyle/>
          <a:p>
            <a:pPr indent="0" marL="0">
              <a:buNone/>
            </a:pPr>
            <a:r>
              <a:rPr lang="en-US" sz="1350" i="1" dirty="0">
                <a:solidFill>
                  <a:srgbClr val="1155CC"/>
                </a:solidFill>
                <a:latin typeface="Arial" pitchFamily="34" charset="0"/>
                <a:ea typeface="Arial" pitchFamily="34" charset="-122"/>
                <a:cs typeface="Arial" pitchFamily="34" charset="-120"/>
              </a:rPr>
              <a:t>Santri Kelas 8 dan pengelola perpustakaan.</a:t>
            </a:r>
            <a:endParaRPr lang="en-US" sz="1350" dirty="0"/>
          </a:p>
        </p:txBody>
      </p:sp>
      <p:sp>
        <p:nvSpPr>
          <p:cNvPr id="17" name="Shape 13"/>
          <p:cNvSpPr/>
          <p:nvPr/>
        </p:nvSpPr>
        <p:spPr>
          <a:xfrm>
            <a:off x="457200" y="2514600"/>
            <a:ext cx="2011680" cy="594360"/>
          </a:xfrm>
          <a:prstGeom prst="roundRect">
            <a:avLst>
              <a:gd name="adj" fmla="val 9231"/>
            </a:avLst>
          </a:prstGeom>
          <a:solidFill>
            <a:srgbClr val="0F4C3A"/>
          </a:solidFill>
          <a:ln w="12700">
            <a:solidFill>
              <a:srgbClr val="0F4C3A"/>
            </a:solidFill>
            <a:prstDash val="solid"/>
          </a:ln>
        </p:spPr>
      </p:sp>
      <p:sp>
        <p:nvSpPr>
          <p:cNvPr id="18" name="Text 14"/>
          <p:cNvSpPr txBox="1"/>
          <p:nvPr/>
        </p:nvSpPr>
        <p:spPr>
          <a:xfrm>
            <a:off x="548640" y="2514600"/>
            <a:ext cx="1828800" cy="5943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Fitur</a:t>
            </a:r>
            <a:endParaRPr lang="en-US" sz="1400" dirty="0"/>
          </a:p>
        </p:txBody>
      </p:sp>
      <p:sp>
        <p:nvSpPr>
          <p:cNvPr id="19" name="Shape 15"/>
          <p:cNvSpPr/>
          <p:nvPr/>
        </p:nvSpPr>
        <p:spPr>
          <a:xfrm>
            <a:off x="2560320" y="2514600"/>
            <a:ext cx="6126480" cy="594360"/>
          </a:xfrm>
          <a:prstGeom prst="roundRect">
            <a:avLst>
              <a:gd name="adj" fmla="val 9231"/>
            </a:avLst>
          </a:prstGeom>
          <a:solidFill>
            <a:srgbClr val="E6F2EC"/>
          </a:solidFill>
          <a:ln w="12700">
            <a:solidFill>
              <a:srgbClr val="E6F2EC"/>
            </a:solidFill>
            <a:prstDash val="solid"/>
          </a:ln>
        </p:spPr>
      </p:sp>
      <p:sp>
        <p:nvSpPr>
          <p:cNvPr id="20" name="Text 16"/>
          <p:cNvSpPr txBox="1"/>
          <p:nvPr/>
        </p:nvSpPr>
        <p:spPr>
          <a:xfrm>
            <a:off x="2697480" y="2514600"/>
            <a:ext cx="5852160" cy="594360"/>
          </a:xfrm>
          <a:prstGeom prst="rect">
            <a:avLst/>
          </a:prstGeom>
          <a:noFill/>
          <a:ln/>
        </p:spPr>
        <p:txBody>
          <a:bodyPr wrap="square" lIns="0" tIns="0" rIns="0" bIns="0" rtlCol="0" anchor="ctr"/>
          <a:lstStyle/>
          <a:p>
            <a:pPr indent="0" marL="0">
              <a:buNone/>
            </a:pPr>
            <a:r>
              <a:rPr lang="en-US" sz="1350" i="1" dirty="0">
                <a:solidFill>
                  <a:srgbClr val="1155CC"/>
                </a:solidFill>
                <a:latin typeface="Arial" pitchFamily="34" charset="0"/>
                <a:ea typeface="Arial" pitchFamily="34" charset="-122"/>
                <a:cs typeface="Arial" pitchFamily="34" charset="-120"/>
              </a:rPr>
              <a:t>Formulir usulan, dashboard buku terpopuler, website, QR di rak.</a:t>
            </a:r>
            <a:endParaRPr lang="en-US" sz="1350" dirty="0"/>
          </a:p>
        </p:txBody>
      </p:sp>
      <p:sp>
        <p:nvSpPr>
          <p:cNvPr id="21" name="Shape 17"/>
          <p:cNvSpPr/>
          <p:nvPr/>
        </p:nvSpPr>
        <p:spPr>
          <a:xfrm>
            <a:off x="457200" y="3200400"/>
            <a:ext cx="2011680" cy="594360"/>
          </a:xfrm>
          <a:prstGeom prst="roundRect">
            <a:avLst>
              <a:gd name="adj" fmla="val 9231"/>
            </a:avLst>
          </a:prstGeom>
          <a:solidFill>
            <a:srgbClr val="0F4C3A"/>
          </a:solidFill>
          <a:ln w="12700">
            <a:solidFill>
              <a:srgbClr val="0F4C3A"/>
            </a:solidFill>
            <a:prstDash val="solid"/>
          </a:ln>
        </p:spPr>
      </p:sp>
      <p:sp>
        <p:nvSpPr>
          <p:cNvPr id="22" name="Text 18"/>
          <p:cNvSpPr txBox="1"/>
          <p:nvPr/>
        </p:nvSpPr>
        <p:spPr>
          <a:xfrm>
            <a:off x="548640" y="3200400"/>
            <a:ext cx="1828800" cy="5943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Data</a:t>
            </a:r>
            <a:endParaRPr lang="en-US" sz="1400" dirty="0"/>
          </a:p>
        </p:txBody>
      </p:sp>
      <p:sp>
        <p:nvSpPr>
          <p:cNvPr id="23" name="Shape 19"/>
          <p:cNvSpPr/>
          <p:nvPr/>
        </p:nvSpPr>
        <p:spPr>
          <a:xfrm>
            <a:off x="2560320" y="3200400"/>
            <a:ext cx="6126480" cy="594360"/>
          </a:xfrm>
          <a:prstGeom prst="roundRect">
            <a:avLst>
              <a:gd name="adj" fmla="val 9231"/>
            </a:avLst>
          </a:prstGeom>
          <a:solidFill>
            <a:srgbClr val="E6F2EC"/>
          </a:solidFill>
          <a:ln w="12700">
            <a:solidFill>
              <a:srgbClr val="E6F2EC"/>
            </a:solidFill>
            <a:prstDash val="solid"/>
          </a:ln>
        </p:spPr>
      </p:sp>
      <p:sp>
        <p:nvSpPr>
          <p:cNvPr id="24" name="Text 20"/>
          <p:cNvSpPr txBox="1"/>
          <p:nvPr/>
        </p:nvSpPr>
        <p:spPr>
          <a:xfrm>
            <a:off x="2697480" y="3200400"/>
            <a:ext cx="5852160" cy="594360"/>
          </a:xfrm>
          <a:prstGeom prst="rect">
            <a:avLst/>
          </a:prstGeom>
          <a:noFill/>
          <a:ln/>
        </p:spPr>
        <p:txBody>
          <a:bodyPr wrap="square" lIns="0" tIns="0" rIns="0" bIns="0" rtlCol="0" anchor="ctr"/>
          <a:lstStyle/>
          <a:p>
            <a:pPr indent="0" marL="0">
              <a:buNone/>
            </a:pPr>
            <a:r>
              <a:rPr lang="en-US" sz="1350" i="1" dirty="0">
                <a:solidFill>
                  <a:srgbClr val="1155CC"/>
                </a:solidFill>
                <a:latin typeface="Arial" pitchFamily="34" charset="0"/>
                <a:ea typeface="Arial" pitchFamily="34" charset="-122"/>
                <a:cs typeface="Arial" pitchFamily="34" charset="-120"/>
              </a:rPr>
              <a:t>Judul buku, kategori, alasan (tanpa data pribadi).</a:t>
            </a:r>
            <a:endParaRPr lang="en-US" sz="1350" dirty="0"/>
          </a:p>
        </p:txBody>
      </p:sp>
      <p:sp>
        <p:nvSpPr>
          <p:cNvPr id="25" name="Shape 21"/>
          <p:cNvSpPr/>
          <p:nvPr/>
        </p:nvSpPr>
        <p:spPr>
          <a:xfrm>
            <a:off x="457200" y="3886200"/>
            <a:ext cx="2011680" cy="594360"/>
          </a:xfrm>
          <a:prstGeom prst="roundRect">
            <a:avLst>
              <a:gd name="adj" fmla="val 9231"/>
            </a:avLst>
          </a:prstGeom>
          <a:solidFill>
            <a:srgbClr val="0F4C3A"/>
          </a:solidFill>
          <a:ln w="12700">
            <a:solidFill>
              <a:srgbClr val="0F4C3A"/>
            </a:solidFill>
            <a:prstDash val="solid"/>
          </a:ln>
        </p:spPr>
      </p:sp>
      <p:sp>
        <p:nvSpPr>
          <p:cNvPr id="26" name="Text 22"/>
          <p:cNvSpPr txBox="1"/>
          <p:nvPr/>
        </p:nvSpPr>
        <p:spPr>
          <a:xfrm>
            <a:off x="548640" y="3886200"/>
            <a:ext cx="1828800" cy="5943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Ukuran berhasil</a:t>
            </a:r>
            <a:endParaRPr lang="en-US" sz="1400" dirty="0"/>
          </a:p>
        </p:txBody>
      </p:sp>
      <p:sp>
        <p:nvSpPr>
          <p:cNvPr id="27" name="Shape 23"/>
          <p:cNvSpPr/>
          <p:nvPr/>
        </p:nvSpPr>
        <p:spPr>
          <a:xfrm>
            <a:off x="2560320" y="3886200"/>
            <a:ext cx="6126480" cy="594360"/>
          </a:xfrm>
          <a:prstGeom prst="roundRect">
            <a:avLst>
              <a:gd name="adj" fmla="val 9231"/>
            </a:avLst>
          </a:prstGeom>
          <a:solidFill>
            <a:srgbClr val="E6F2EC"/>
          </a:solidFill>
          <a:ln w="12700">
            <a:solidFill>
              <a:srgbClr val="E6F2EC"/>
            </a:solidFill>
            <a:prstDash val="solid"/>
          </a:ln>
        </p:spPr>
      </p:sp>
      <p:sp>
        <p:nvSpPr>
          <p:cNvPr id="28" name="Text 24"/>
          <p:cNvSpPr txBox="1"/>
          <p:nvPr/>
        </p:nvSpPr>
        <p:spPr>
          <a:xfrm>
            <a:off x="2697480" y="3886200"/>
            <a:ext cx="5852160" cy="594360"/>
          </a:xfrm>
          <a:prstGeom prst="rect">
            <a:avLst/>
          </a:prstGeom>
          <a:noFill/>
          <a:ln/>
        </p:spPr>
        <p:txBody>
          <a:bodyPr wrap="square" lIns="0" tIns="0" rIns="0" bIns="0" rtlCol="0" anchor="ctr"/>
          <a:lstStyle/>
          <a:p>
            <a:pPr indent="0" marL="0">
              <a:buNone/>
            </a:pPr>
            <a:r>
              <a:rPr lang="en-US" sz="1350" i="1" dirty="0">
                <a:solidFill>
                  <a:srgbClr val="1155CC"/>
                </a:solidFill>
                <a:latin typeface="Arial" pitchFamily="34" charset="0"/>
                <a:ea typeface="Arial" pitchFamily="34" charset="-122"/>
                <a:cs typeface="Arial" pitchFamily="34" charset="-120"/>
              </a:rPr>
              <a:t>Minimal 15 usulan masuk dan pengelola bisa membaca dashboard.</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Merancang Proyek Akhir</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Google Docs dan kertas</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Memilih tema dan wawancara pengguna</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Kartu rancangan dan alur data</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Peran dan jadwal</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Tema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1691640" cy="1325880"/>
          </a:xfrm>
          <a:prstGeom prst="roundRect">
            <a:avLst>
              <a:gd name="adj" fmla="val 5517"/>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566928" y="1252728"/>
            <a:ext cx="320040" cy="320040"/>
          </a:xfrm>
          <a:prstGeom prst="rect">
            <a:avLst/>
          </a:prstGeom>
        </p:spPr>
      </p:pic>
      <p:sp>
        <p:nvSpPr>
          <p:cNvPr id="11" name="Text 6"/>
          <p:cNvSpPr txBox="1"/>
          <p:nvPr/>
        </p:nvSpPr>
        <p:spPr>
          <a:xfrm>
            <a:off x="566928" y="1645920"/>
            <a:ext cx="1508760" cy="36576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Perpustakaan Digital</a:t>
            </a:r>
            <a:endParaRPr lang="en-US" sz="1200" dirty="0"/>
          </a:p>
        </p:txBody>
      </p:sp>
      <p:sp>
        <p:nvSpPr>
          <p:cNvPr id="12" name="Text 7"/>
          <p:cNvSpPr txBox="1"/>
          <p:nvPr/>
        </p:nvSpPr>
        <p:spPr>
          <a:xfrm>
            <a:off x="566928" y="2057400"/>
            <a:ext cx="1463040" cy="274320"/>
          </a:xfrm>
          <a:prstGeom prst="rect">
            <a:avLst/>
          </a:prstGeom>
          <a:noFill/>
          <a:ln/>
        </p:spPr>
        <p:txBody>
          <a:bodyPr wrap="square" lIns="0" tIns="0" rIns="0" bIns="0" rtlCol="0" anchor="t"/>
          <a:lstStyle/>
          <a:p>
            <a:pPr indent="0" marL="0">
              <a:buNone/>
            </a:pPr>
            <a:r>
              <a:rPr lang="en-US" sz="1100" b="1" dirty="0">
                <a:solidFill>
                  <a:srgbClr val="D4A017"/>
                </a:solidFill>
                <a:latin typeface="Calibri" pitchFamily="34" charset="0"/>
                <a:ea typeface="Calibri" pitchFamily="34" charset="-122"/>
                <a:cs typeface="Calibri" pitchFamily="34" charset="-120"/>
              </a:rPr>
              <a:t>✓ Dipilih</a:t>
            </a:r>
            <a:endParaRPr lang="en-US" sz="1100" dirty="0"/>
          </a:p>
        </p:txBody>
      </p:sp>
      <p:sp>
        <p:nvSpPr>
          <p:cNvPr id="13" name="Shape 8"/>
          <p:cNvSpPr/>
          <p:nvPr/>
        </p:nvSpPr>
        <p:spPr>
          <a:xfrm>
            <a:off x="2240280" y="1143000"/>
            <a:ext cx="1691640" cy="1325880"/>
          </a:xfrm>
          <a:prstGeom prst="roundRect">
            <a:avLst>
              <a:gd name="adj" fmla="val 5517"/>
            </a:avLst>
          </a:prstGeom>
          <a:solidFill>
            <a:srgbClr val="E6F2EC"/>
          </a:solidFill>
          <a:ln w="12700">
            <a:solidFill>
              <a:srgbClr val="E6F2EC"/>
            </a:solidFill>
            <a:prstDash val="solid"/>
          </a:ln>
        </p:spPr>
      </p:sp>
      <p:pic>
        <p:nvPicPr>
          <p:cNvPr id="14" name="Image 3" descr="preencoded.png">    </p:cNvPr>
          <p:cNvPicPr>
            <a:picLocks noChangeAspect="1"/>
          </p:cNvPicPr>
          <p:nvPr/>
        </p:nvPicPr>
        <p:blipFill>
          <a:blip r:embed="rId4"/>
          <a:stretch>
            <a:fillRect/>
          </a:stretch>
        </p:blipFill>
        <p:spPr>
          <a:xfrm>
            <a:off x="2350008" y="1252728"/>
            <a:ext cx="320040" cy="320040"/>
          </a:xfrm>
          <a:prstGeom prst="rect">
            <a:avLst/>
          </a:prstGeom>
        </p:spPr>
      </p:pic>
      <p:sp>
        <p:nvSpPr>
          <p:cNvPr id="15" name="Text 9"/>
          <p:cNvSpPr txBox="1"/>
          <p:nvPr/>
        </p:nvSpPr>
        <p:spPr>
          <a:xfrm>
            <a:off x="2350008" y="1645920"/>
            <a:ext cx="1508760" cy="365760"/>
          </a:xfrm>
          <a:prstGeom prst="rect">
            <a:avLst/>
          </a:prstGeom>
          <a:noFill/>
          <a:ln/>
        </p:spPr>
        <p:txBody>
          <a:bodyPr wrap="square" lIns="0" tIns="0" rIns="0" bIns="0" rtlCol="0" anchor="t"/>
          <a:lstStyle/>
          <a:p>
            <a:pPr indent="0" marL="0">
              <a:buNone/>
            </a:pPr>
            <a:r>
              <a:rPr lang="en-US" sz="1200" b="1" dirty="0">
                <a:solidFill>
                  <a:srgbClr val="0F4C3A"/>
                </a:solidFill>
                <a:latin typeface="Calibri" pitchFamily="34" charset="0"/>
                <a:ea typeface="Calibri" pitchFamily="34" charset="-122"/>
                <a:cs typeface="Calibri" pitchFamily="34" charset="-120"/>
              </a:rPr>
              <a:t>Informasi Kelas</a:t>
            </a:r>
            <a:endParaRPr lang="en-US" sz="1200" dirty="0"/>
          </a:p>
        </p:txBody>
      </p:sp>
      <p:sp>
        <p:nvSpPr>
          <p:cNvPr id="16" name="Shape 10"/>
          <p:cNvSpPr/>
          <p:nvPr/>
        </p:nvSpPr>
        <p:spPr>
          <a:xfrm>
            <a:off x="4023360" y="1143000"/>
            <a:ext cx="1691640" cy="1325880"/>
          </a:xfrm>
          <a:prstGeom prst="roundRect">
            <a:avLst>
              <a:gd name="adj" fmla="val 5517"/>
            </a:avLst>
          </a:prstGeom>
          <a:solidFill>
            <a:srgbClr val="E6F2EC"/>
          </a:solidFill>
          <a:ln w="12700">
            <a:solidFill>
              <a:srgbClr val="E6F2EC"/>
            </a:solidFill>
            <a:prstDash val="solid"/>
          </a:ln>
        </p:spPr>
      </p:sp>
      <p:pic>
        <p:nvPicPr>
          <p:cNvPr id="17" name="Image 4" descr="preencoded.png">    </p:cNvPr>
          <p:cNvPicPr>
            <a:picLocks noChangeAspect="1"/>
          </p:cNvPicPr>
          <p:nvPr/>
        </p:nvPicPr>
        <p:blipFill>
          <a:blip r:embed="rId5"/>
          <a:stretch>
            <a:fillRect/>
          </a:stretch>
        </p:blipFill>
        <p:spPr>
          <a:xfrm>
            <a:off x="4133088" y="1252728"/>
            <a:ext cx="320040" cy="320040"/>
          </a:xfrm>
          <a:prstGeom prst="rect">
            <a:avLst/>
          </a:prstGeom>
        </p:spPr>
      </p:pic>
      <p:sp>
        <p:nvSpPr>
          <p:cNvPr id="18" name="Text 11"/>
          <p:cNvSpPr txBox="1"/>
          <p:nvPr/>
        </p:nvSpPr>
        <p:spPr>
          <a:xfrm>
            <a:off x="4133088" y="1645920"/>
            <a:ext cx="1508760" cy="365760"/>
          </a:xfrm>
          <a:prstGeom prst="rect">
            <a:avLst/>
          </a:prstGeom>
          <a:noFill/>
          <a:ln/>
        </p:spPr>
        <p:txBody>
          <a:bodyPr wrap="square" lIns="0" tIns="0" rIns="0" bIns="0" rtlCol="0" anchor="t"/>
          <a:lstStyle/>
          <a:p>
            <a:pPr indent="0" marL="0">
              <a:buNone/>
            </a:pPr>
            <a:r>
              <a:rPr lang="en-US" sz="1200" b="1" dirty="0">
                <a:solidFill>
                  <a:srgbClr val="0F4C3A"/>
                </a:solidFill>
                <a:latin typeface="Calibri" pitchFamily="34" charset="0"/>
                <a:ea typeface="Calibri" pitchFamily="34" charset="-122"/>
                <a:cs typeface="Calibri" pitchFamily="34" charset="-120"/>
              </a:rPr>
              <a:t>Kegiatan Santri</a:t>
            </a:r>
            <a:endParaRPr lang="en-US" sz="1200" dirty="0"/>
          </a:p>
        </p:txBody>
      </p:sp>
      <p:sp>
        <p:nvSpPr>
          <p:cNvPr id="19" name="Shape 12"/>
          <p:cNvSpPr/>
          <p:nvPr/>
        </p:nvSpPr>
        <p:spPr>
          <a:xfrm>
            <a:off x="457200" y="2606040"/>
            <a:ext cx="1691640" cy="1325880"/>
          </a:xfrm>
          <a:prstGeom prst="roundRect">
            <a:avLst>
              <a:gd name="adj" fmla="val 5517"/>
            </a:avLst>
          </a:prstGeom>
          <a:solidFill>
            <a:srgbClr val="E6F2EC"/>
          </a:solidFill>
          <a:ln w="12700">
            <a:solidFill>
              <a:srgbClr val="E6F2EC"/>
            </a:solidFill>
            <a:prstDash val="solid"/>
          </a:ln>
        </p:spPr>
      </p:sp>
      <p:pic>
        <p:nvPicPr>
          <p:cNvPr id="20" name="Image 5" descr="preencoded.png">    </p:cNvPr>
          <p:cNvPicPr>
            <a:picLocks noChangeAspect="1"/>
          </p:cNvPicPr>
          <p:nvPr/>
        </p:nvPicPr>
        <p:blipFill>
          <a:blip r:embed="rId6"/>
          <a:stretch>
            <a:fillRect/>
          </a:stretch>
        </p:blipFill>
        <p:spPr>
          <a:xfrm>
            <a:off x="566928" y="2715768"/>
            <a:ext cx="320040" cy="320040"/>
          </a:xfrm>
          <a:prstGeom prst="rect">
            <a:avLst/>
          </a:prstGeom>
        </p:spPr>
      </p:pic>
      <p:sp>
        <p:nvSpPr>
          <p:cNvPr id="21" name="Text 13"/>
          <p:cNvSpPr txBox="1"/>
          <p:nvPr/>
        </p:nvSpPr>
        <p:spPr>
          <a:xfrm>
            <a:off x="566928" y="3108960"/>
            <a:ext cx="1508760" cy="365760"/>
          </a:xfrm>
          <a:prstGeom prst="rect">
            <a:avLst/>
          </a:prstGeom>
          <a:noFill/>
          <a:ln/>
        </p:spPr>
        <p:txBody>
          <a:bodyPr wrap="square" lIns="0" tIns="0" rIns="0" bIns="0" rtlCol="0" anchor="t"/>
          <a:lstStyle/>
          <a:p>
            <a:pPr indent="0" marL="0">
              <a:buNone/>
            </a:pPr>
            <a:r>
              <a:rPr lang="en-US" sz="1200" b="1" dirty="0">
                <a:solidFill>
                  <a:srgbClr val="0F4C3A"/>
                </a:solidFill>
                <a:latin typeface="Calibri" pitchFamily="34" charset="0"/>
                <a:ea typeface="Calibri" pitchFamily="34" charset="-122"/>
                <a:cs typeface="Calibri" pitchFamily="34" charset="-120"/>
              </a:rPr>
              <a:t>Tahfidz</a:t>
            </a:r>
            <a:endParaRPr lang="en-US" sz="1200" dirty="0"/>
          </a:p>
        </p:txBody>
      </p:sp>
      <p:sp>
        <p:nvSpPr>
          <p:cNvPr id="22" name="Shape 14"/>
          <p:cNvSpPr/>
          <p:nvPr/>
        </p:nvSpPr>
        <p:spPr>
          <a:xfrm>
            <a:off x="2240280" y="2606040"/>
            <a:ext cx="1691640" cy="1325880"/>
          </a:xfrm>
          <a:prstGeom prst="roundRect">
            <a:avLst>
              <a:gd name="adj" fmla="val 5517"/>
            </a:avLst>
          </a:prstGeom>
          <a:solidFill>
            <a:srgbClr val="E6F2EC"/>
          </a:solidFill>
          <a:ln w="12700">
            <a:solidFill>
              <a:srgbClr val="E6F2EC"/>
            </a:solidFill>
            <a:prstDash val="solid"/>
          </a:ln>
        </p:spPr>
      </p:sp>
      <p:pic>
        <p:nvPicPr>
          <p:cNvPr id="23" name="Image 6" descr="preencoded.png">    </p:cNvPr>
          <p:cNvPicPr>
            <a:picLocks noChangeAspect="1"/>
          </p:cNvPicPr>
          <p:nvPr/>
        </p:nvPicPr>
        <p:blipFill>
          <a:blip r:embed="rId7"/>
          <a:stretch>
            <a:fillRect/>
          </a:stretch>
        </p:blipFill>
        <p:spPr>
          <a:xfrm>
            <a:off x="2350008" y="2715768"/>
            <a:ext cx="320040" cy="320040"/>
          </a:xfrm>
          <a:prstGeom prst="rect">
            <a:avLst/>
          </a:prstGeom>
        </p:spPr>
      </p:pic>
      <p:sp>
        <p:nvSpPr>
          <p:cNvPr id="24" name="Text 15"/>
          <p:cNvSpPr txBox="1"/>
          <p:nvPr/>
        </p:nvSpPr>
        <p:spPr>
          <a:xfrm>
            <a:off x="2350008" y="3108960"/>
            <a:ext cx="1508760" cy="365760"/>
          </a:xfrm>
          <a:prstGeom prst="rect">
            <a:avLst/>
          </a:prstGeom>
          <a:noFill/>
          <a:ln/>
        </p:spPr>
        <p:txBody>
          <a:bodyPr wrap="square" lIns="0" tIns="0" rIns="0" bIns="0" rtlCol="0" anchor="t"/>
          <a:lstStyle/>
          <a:p>
            <a:pPr indent="0" marL="0">
              <a:buNone/>
            </a:pPr>
            <a:r>
              <a:rPr lang="en-US" sz="1200" b="1" dirty="0">
                <a:solidFill>
                  <a:srgbClr val="0F4C3A"/>
                </a:solidFill>
                <a:latin typeface="Calibri" pitchFamily="34" charset="0"/>
                <a:ea typeface="Calibri" pitchFamily="34" charset="-122"/>
                <a:cs typeface="Calibri" pitchFamily="34" charset="-120"/>
              </a:rPr>
              <a:t>Media Dakwah</a:t>
            </a:r>
            <a:endParaRPr lang="en-US" sz="1200" dirty="0"/>
          </a:p>
        </p:txBody>
      </p:sp>
      <p:sp>
        <p:nvSpPr>
          <p:cNvPr id="25" name="Shape 16"/>
          <p:cNvSpPr/>
          <p:nvPr/>
        </p:nvSpPr>
        <p:spPr>
          <a:xfrm>
            <a:off x="429768" y="1115568"/>
            <a:ext cx="1746504" cy="1380744"/>
          </a:xfrm>
          <a:prstGeom prst="roundRect">
            <a:avLst>
              <a:gd name="adj" fmla="val 3311"/>
            </a:avLst>
          </a:prstGeom>
          <a:solidFill>
            <a:srgbClr val="FFFFFF">
              <a:alpha val="0"/>
            </a:srgbClr>
          </a:solidFill>
          <a:ln w="31750">
            <a:solidFill>
              <a:srgbClr val="E53935"/>
            </a:solidFill>
            <a:prstDash val="solid"/>
          </a:ln>
        </p:spPr>
      </p:sp>
      <p:sp>
        <p:nvSpPr>
          <p:cNvPr id="26" name="Shape 17"/>
          <p:cNvSpPr/>
          <p:nvPr/>
        </p:nvSpPr>
        <p:spPr>
          <a:xfrm>
            <a:off x="2039112" y="978408"/>
            <a:ext cx="274320" cy="274320"/>
          </a:xfrm>
          <a:prstGeom prst="ellipse">
            <a:avLst/>
          </a:prstGeom>
          <a:solidFill>
            <a:srgbClr val="E53935"/>
          </a:solidFill>
          <a:ln w="12700">
            <a:solidFill>
              <a:srgbClr val="FFFFFF"/>
            </a:solidFill>
            <a:prstDash val="solid"/>
          </a:ln>
        </p:spPr>
      </p:sp>
      <p:sp>
        <p:nvSpPr>
          <p:cNvPr id="27" name="Text 18"/>
          <p:cNvSpPr txBox="1"/>
          <p:nvPr/>
        </p:nvSpPr>
        <p:spPr>
          <a:xfrm>
            <a:off x="2039112" y="9784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28" name="Image 7" descr="preencoded.png">    </p:cNvPr>
          <p:cNvPicPr>
            <a:picLocks noChangeAspect="1"/>
          </p:cNvPicPr>
          <p:nvPr/>
        </p:nvPicPr>
        <p:blipFill>
          <a:blip r:embed="rId8"/>
          <a:stretch>
            <a:fillRect/>
          </a:stretch>
        </p:blipFill>
        <p:spPr>
          <a:xfrm>
            <a:off x="1387602" y="1872234"/>
            <a:ext cx="237744" cy="237744"/>
          </a:xfrm>
          <a:prstGeom prst="rect">
            <a:avLst/>
          </a:prstGeom>
        </p:spPr>
      </p:pic>
      <p:sp>
        <p:nvSpPr>
          <p:cNvPr id="29" name="Text 1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30" name="Text 2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tema dan masalah nyata</a:t>
            </a:r>
            <a:endParaRPr lang="en-US" sz="1800" dirty="0"/>
          </a:p>
        </p:txBody>
      </p:sp>
      <p:sp>
        <p:nvSpPr>
          <p:cNvPr id="31" name="Text 2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Diskusikan dalam kelompok. Pilih satu tema dan tuliskan masalahnya dalam satu kalimat.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Tema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Rancangan_Proyek_Kel1 -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Rancangan_Proyek_Kel1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Wawancara Pengguna</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1. Apa kesulitan saat mengusulkan buku?</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"Tidak tahu harus menulis di mana."</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2. Informasi apa yang dibutuhkan?</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"Buku apa yang paling diminta santri."</a:t>
            </a:r>
            <a:endParaRPr lang="en-US" sz="800" dirty="0"/>
          </a:p>
        </p:txBody>
      </p:sp>
      <p:sp>
        <p:nvSpPr>
          <p:cNvPr id="74" name="Shape 63"/>
          <p:cNvSpPr/>
          <p:nvPr/>
        </p:nvSpPr>
        <p:spPr>
          <a:xfrm>
            <a:off x="1527048" y="2849506"/>
            <a:ext cx="3072384" cy="781304"/>
          </a:xfrm>
          <a:prstGeom prst="roundRect">
            <a:avLst>
              <a:gd name="adj" fmla="val 5852"/>
            </a:avLst>
          </a:prstGeom>
          <a:solidFill>
            <a:srgbClr val="FFFFFF">
              <a:alpha val="0"/>
            </a:srgbClr>
          </a:solidFill>
          <a:ln w="31750">
            <a:solidFill>
              <a:srgbClr val="E53935"/>
            </a:solidFill>
            <a:prstDash val="solid"/>
          </a:ln>
        </p:spPr>
      </p:sp>
      <p:sp>
        <p:nvSpPr>
          <p:cNvPr id="75" name="Shape 64"/>
          <p:cNvSpPr/>
          <p:nvPr/>
        </p:nvSpPr>
        <p:spPr>
          <a:xfrm>
            <a:off x="4462272" y="2712346"/>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77" name="Image 9" descr="preencoded.png">    </p:cNvPr>
          <p:cNvPicPr>
            <a:picLocks noChangeAspect="1"/>
          </p:cNvPicPr>
          <p:nvPr/>
        </p:nvPicPr>
        <p:blipFill>
          <a:blip r:embed="rId10"/>
          <a:stretch>
            <a:fillRect/>
          </a:stretch>
        </p:blipFill>
        <p:spPr>
          <a:xfrm>
            <a:off x="3214116" y="3276480"/>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Wawancara singkat calon pengguna</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Tanyakan 3 pertanyaan kepada calon pengguna (teman, pengurus, ustadz): apa kesulitannya, informasi apa yang dibutuhkan, di mana mereka biasa mencari informasi.</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Rancangan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Rancangan_Proyek_Kel1 -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Rancangan_Proyek_Kel1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Kartu Rancangan: Perpustakaan Digital</a:t>
            </a:r>
            <a:endParaRPr lang="en-US" sz="1100" dirty="0"/>
          </a:p>
        </p:txBody>
      </p:sp>
      <p:sp>
        <p:nvSpPr>
          <p:cNvPr id="70" name="Shape 59"/>
          <p:cNvSpPr/>
          <p:nvPr/>
        </p:nvSpPr>
        <p:spPr>
          <a:xfrm>
            <a:off x="1554480" y="2876938"/>
            <a:ext cx="150876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146304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Bagian</a:t>
            </a:r>
            <a:endParaRPr lang="en-US" sz="650" dirty="0"/>
          </a:p>
        </p:txBody>
      </p:sp>
      <p:sp>
        <p:nvSpPr>
          <p:cNvPr id="72" name="Shape 61"/>
          <p:cNvSpPr/>
          <p:nvPr/>
        </p:nvSpPr>
        <p:spPr>
          <a:xfrm>
            <a:off x="3063240" y="2876938"/>
            <a:ext cx="1508760" cy="182880"/>
          </a:xfrm>
          <a:prstGeom prst="rect">
            <a:avLst/>
          </a:prstGeom>
          <a:solidFill>
            <a:srgbClr val="D9EAD3"/>
          </a:solidFill>
          <a:ln w="6350">
            <a:solidFill>
              <a:srgbClr val="777777"/>
            </a:solidFill>
            <a:prstDash val="solid"/>
          </a:ln>
        </p:spPr>
      </p:sp>
      <p:sp>
        <p:nvSpPr>
          <p:cNvPr id="73" name="Text 62"/>
          <p:cNvSpPr txBox="1"/>
          <p:nvPr/>
        </p:nvSpPr>
        <p:spPr>
          <a:xfrm>
            <a:off x="3090672" y="2876938"/>
            <a:ext cx="146304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Isi</a:t>
            </a:r>
            <a:endParaRPr lang="en-US" sz="650" dirty="0"/>
          </a:p>
        </p:txBody>
      </p:sp>
      <p:sp>
        <p:nvSpPr>
          <p:cNvPr id="74" name="Shape 63"/>
          <p:cNvSpPr/>
          <p:nvPr/>
        </p:nvSpPr>
        <p:spPr>
          <a:xfrm>
            <a:off x="1554480" y="3059818"/>
            <a:ext cx="1508760" cy="182880"/>
          </a:xfrm>
          <a:prstGeom prst="rect">
            <a:avLst/>
          </a:prstGeom>
          <a:solidFill>
            <a:srgbClr val="FFFFFF"/>
          </a:solidFill>
          <a:ln w="6350">
            <a:solidFill>
              <a:srgbClr val="777777"/>
            </a:solidFill>
            <a:prstDash val="solid"/>
          </a:ln>
        </p:spPr>
      </p:sp>
      <p:sp>
        <p:nvSpPr>
          <p:cNvPr id="75" name="Text 64"/>
          <p:cNvSpPr txBox="1"/>
          <p:nvPr/>
        </p:nvSpPr>
        <p:spPr>
          <a:xfrm>
            <a:off x="1581912" y="305981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Masalah</a:t>
            </a:r>
            <a:endParaRPr lang="en-US" sz="650" dirty="0"/>
          </a:p>
        </p:txBody>
      </p:sp>
      <p:sp>
        <p:nvSpPr>
          <p:cNvPr id="76" name="Shape 65"/>
          <p:cNvSpPr/>
          <p:nvPr/>
        </p:nvSpPr>
        <p:spPr>
          <a:xfrm>
            <a:off x="3063240" y="3059818"/>
            <a:ext cx="1508760" cy="182880"/>
          </a:xfrm>
          <a:prstGeom prst="rect">
            <a:avLst/>
          </a:prstGeom>
          <a:solidFill>
            <a:srgbClr val="FFFFFF"/>
          </a:solidFill>
          <a:ln w="6350">
            <a:solidFill>
              <a:srgbClr val="777777"/>
            </a:solidFill>
            <a:prstDash val="solid"/>
          </a:ln>
        </p:spPr>
      </p:sp>
      <p:sp>
        <p:nvSpPr>
          <p:cNvPr id="77" name="Text 66"/>
          <p:cNvSpPr txBox="1"/>
          <p:nvPr/>
        </p:nvSpPr>
        <p:spPr>
          <a:xfrm>
            <a:off x="3090672" y="305981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Sulit mengusulkan buku</a:t>
            </a:r>
            <a:endParaRPr lang="en-US" sz="650" dirty="0"/>
          </a:p>
        </p:txBody>
      </p:sp>
      <p:sp>
        <p:nvSpPr>
          <p:cNvPr id="78" name="Shape 67"/>
          <p:cNvSpPr/>
          <p:nvPr/>
        </p:nvSpPr>
        <p:spPr>
          <a:xfrm>
            <a:off x="1554480" y="3242698"/>
            <a:ext cx="1508760" cy="182880"/>
          </a:xfrm>
          <a:prstGeom prst="rect">
            <a:avLst/>
          </a:prstGeom>
          <a:solidFill>
            <a:srgbClr val="FFFFFF"/>
          </a:solidFill>
          <a:ln w="6350">
            <a:solidFill>
              <a:srgbClr val="777777"/>
            </a:solidFill>
            <a:prstDash val="solid"/>
          </a:ln>
        </p:spPr>
      </p:sp>
      <p:sp>
        <p:nvSpPr>
          <p:cNvPr id="79" name="Text 68"/>
          <p:cNvSpPr txBox="1"/>
          <p:nvPr/>
        </p:nvSpPr>
        <p:spPr>
          <a:xfrm>
            <a:off x="1581912" y="324269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Pengguna</a:t>
            </a:r>
            <a:endParaRPr lang="en-US" sz="650" dirty="0"/>
          </a:p>
        </p:txBody>
      </p:sp>
      <p:sp>
        <p:nvSpPr>
          <p:cNvPr id="80" name="Shape 69"/>
          <p:cNvSpPr/>
          <p:nvPr/>
        </p:nvSpPr>
        <p:spPr>
          <a:xfrm>
            <a:off x="3063240" y="3242698"/>
            <a:ext cx="1508760" cy="182880"/>
          </a:xfrm>
          <a:prstGeom prst="rect">
            <a:avLst/>
          </a:prstGeom>
          <a:solidFill>
            <a:srgbClr val="FFFFFF"/>
          </a:solidFill>
          <a:ln w="6350">
            <a:solidFill>
              <a:srgbClr val="777777"/>
            </a:solidFill>
            <a:prstDash val="solid"/>
          </a:ln>
        </p:spPr>
      </p:sp>
      <p:sp>
        <p:nvSpPr>
          <p:cNvPr id="81" name="Text 70"/>
          <p:cNvSpPr txBox="1"/>
          <p:nvPr/>
        </p:nvSpPr>
        <p:spPr>
          <a:xfrm>
            <a:off x="3090672" y="324269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Santri &amp; pengelola</a:t>
            </a:r>
            <a:endParaRPr lang="en-US" sz="650" dirty="0"/>
          </a:p>
        </p:txBody>
      </p:sp>
      <p:sp>
        <p:nvSpPr>
          <p:cNvPr id="82" name="Shape 71"/>
          <p:cNvSpPr/>
          <p:nvPr/>
        </p:nvSpPr>
        <p:spPr>
          <a:xfrm>
            <a:off x="1554480" y="3425578"/>
            <a:ext cx="1508760" cy="182880"/>
          </a:xfrm>
          <a:prstGeom prst="rect">
            <a:avLst/>
          </a:prstGeom>
          <a:solidFill>
            <a:srgbClr val="FFFFFF"/>
          </a:solidFill>
          <a:ln w="6350">
            <a:solidFill>
              <a:srgbClr val="777777"/>
            </a:solidFill>
            <a:prstDash val="solid"/>
          </a:ln>
        </p:spPr>
      </p:sp>
      <p:sp>
        <p:nvSpPr>
          <p:cNvPr id="83" name="Text 72"/>
          <p:cNvSpPr txBox="1"/>
          <p:nvPr/>
        </p:nvSpPr>
        <p:spPr>
          <a:xfrm>
            <a:off x="1581912" y="342557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Fitur</a:t>
            </a:r>
            <a:endParaRPr lang="en-US" sz="650" dirty="0"/>
          </a:p>
        </p:txBody>
      </p:sp>
      <p:sp>
        <p:nvSpPr>
          <p:cNvPr id="84" name="Shape 73"/>
          <p:cNvSpPr/>
          <p:nvPr/>
        </p:nvSpPr>
        <p:spPr>
          <a:xfrm>
            <a:off x="3063240" y="3425578"/>
            <a:ext cx="1508760" cy="182880"/>
          </a:xfrm>
          <a:prstGeom prst="rect">
            <a:avLst/>
          </a:prstGeom>
          <a:solidFill>
            <a:srgbClr val="FFFFFF"/>
          </a:solidFill>
          <a:ln w="6350">
            <a:solidFill>
              <a:srgbClr val="777777"/>
            </a:solidFill>
            <a:prstDash val="solid"/>
          </a:ln>
        </p:spPr>
      </p:sp>
      <p:sp>
        <p:nvSpPr>
          <p:cNvPr id="85" name="Text 74"/>
          <p:cNvSpPr txBox="1"/>
          <p:nvPr/>
        </p:nvSpPr>
        <p:spPr>
          <a:xfrm>
            <a:off x="3090672" y="342557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Form, dashboard, web, QR</a:t>
            </a:r>
            <a:endParaRPr lang="en-US" sz="650" dirty="0"/>
          </a:p>
        </p:txBody>
      </p:sp>
      <p:sp>
        <p:nvSpPr>
          <p:cNvPr id="86" name="Shape 75"/>
          <p:cNvSpPr/>
          <p:nvPr/>
        </p:nvSpPr>
        <p:spPr>
          <a:xfrm>
            <a:off x="1554480" y="3608458"/>
            <a:ext cx="1508760" cy="182880"/>
          </a:xfrm>
          <a:prstGeom prst="rect">
            <a:avLst/>
          </a:prstGeom>
          <a:solidFill>
            <a:srgbClr val="FFFFFF"/>
          </a:solidFill>
          <a:ln w="6350">
            <a:solidFill>
              <a:srgbClr val="777777"/>
            </a:solidFill>
            <a:prstDash val="solid"/>
          </a:ln>
        </p:spPr>
      </p:sp>
      <p:sp>
        <p:nvSpPr>
          <p:cNvPr id="87" name="Text 76"/>
          <p:cNvSpPr txBox="1"/>
          <p:nvPr/>
        </p:nvSpPr>
        <p:spPr>
          <a:xfrm>
            <a:off x="1581912" y="360845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Berhasil</a:t>
            </a:r>
            <a:endParaRPr lang="en-US" sz="650" dirty="0"/>
          </a:p>
        </p:txBody>
      </p:sp>
      <p:sp>
        <p:nvSpPr>
          <p:cNvPr id="88" name="Shape 77"/>
          <p:cNvSpPr/>
          <p:nvPr/>
        </p:nvSpPr>
        <p:spPr>
          <a:xfrm>
            <a:off x="3063240" y="3608458"/>
            <a:ext cx="1508760" cy="182880"/>
          </a:xfrm>
          <a:prstGeom prst="rect">
            <a:avLst/>
          </a:prstGeom>
          <a:solidFill>
            <a:srgbClr val="FFFFFF"/>
          </a:solidFill>
          <a:ln w="6350">
            <a:solidFill>
              <a:srgbClr val="777777"/>
            </a:solidFill>
            <a:prstDash val="solid"/>
          </a:ln>
        </p:spPr>
      </p:sp>
      <p:sp>
        <p:nvSpPr>
          <p:cNvPr id="89" name="Text 78"/>
          <p:cNvSpPr txBox="1"/>
          <p:nvPr/>
        </p:nvSpPr>
        <p:spPr>
          <a:xfrm>
            <a:off x="3090672" y="3608458"/>
            <a:ext cx="146304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15 usulan masuk</a:t>
            </a:r>
            <a:endParaRPr lang="en-US" sz="650" dirty="0"/>
          </a:p>
        </p:txBody>
      </p:sp>
      <p:sp>
        <p:nvSpPr>
          <p:cNvPr id="90" name="Shape 79"/>
          <p:cNvSpPr/>
          <p:nvPr/>
        </p:nvSpPr>
        <p:spPr>
          <a:xfrm>
            <a:off x="1527048" y="2849506"/>
            <a:ext cx="3072384" cy="969264"/>
          </a:xfrm>
          <a:prstGeom prst="roundRect">
            <a:avLst>
              <a:gd name="adj" fmla="val 4717"/>
            </a:avLst>
          </a:prstGeom>
          <a:solidFill>
            <a:srgbClr val="FFFFFF">
              <a:alpha val="0"/>
            </a:srgbClr>
          </a:solidFill>
          <a:ln w="31750">
            <a:solidFill>
              <a:srgbClr val="E53935"/>
            </a:solidFill>
            <a:prstDash val="solid"/>
          </a:ln>
        </p:spPr>
      </p:sp>
      <p:sp>
        <p:nvSpPr>
          <p:cNvPr id="91" name="Shape 80"/>
          <p:cNvSpPr/>
          <p:nvPr/>
        </p:nvSpPr>
        <p:spPr>
          <a:xfrm>
            <a:off x="4462272" y="2712346"/>
            <a:ext cx="274320" cy="274320"/>
          </a:xfrm>
          <a:prstGeom prst="ellipse">
            <a:avLst/>
          </a:prstGeom>
          <a:solidFill>
            <a:srgbClr val="E53935"/>
          </a:solidFill>
          <a:ln w="12700">
            <a:solidFill>
              <a:srgbClr val="FFFFFF"/>
            </a:solidFill>
            <a:prstDash val="solid"/>
          </a:ln>
        </p:spPr>
      </p:sp>
      <p:sp>
        <p:nvSpPr>
          <p:cNvPr id="92" name="Text 81"/>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93" name="Image 9" descr="preencoded.png">    </p:cNvPr>
          <p:cNvPicPr>
            <a:picLocks noChangeAspect="1"/>
          </p:cNvPicPr>
          <p:nvPr/>
        </p:nvPicPr>
        <p:blipFill>
          <a:blip r:embed="rId10"/>
          <a:stretch>
            <a:fillRect/>
          </a:stretch>
        </p:blipFill>
        <p:spPr>
          <a:xfrm>
            <a:off x="3214116" y="3379858"/>
            <a:ext cx="237744" cy="237744"/>
          </a:xfrm>
          <a:prstGeom prst="rect">
            <a:avLst/>
          </a:prstGeom>
        </p:spPr>
      </p:pic>
      <p:sp>
        <p:nvSpPr>
          <p:cNvPr id="94" name="Text 8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95" name="Text 8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Isi kartu rancangan proyek</a:t>
            </a:r>
            <a:endParaRPr lang="en-US" sz="1800" dirty="0"/>
          </a:p>
        </p:txBody>
      </p:sp>
      <p:sp>
        <p:nvSpPr>
          <p:cNvPr id="96" name="Text 8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Google Docs, buat tabel: Masalah, Pengguna, Fitur, Data, Ukuran berhasil.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Rancangan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502920" y="1051560"/>
            <a:ext cx="5120640" cy="3611880"/>
          </a:xfrm>
          <a:prstGeom prst="rect">
            <a:avLst/>
          </a:prstGeom>
          <a:solidFill>
            <a:srgbClr val="FFFFFF"/>
          </a:solidFill>
          <a:ln w="12700">
            <a:solidFill>
              <a:srgbClr val="BBBBBB"/>
            </a:solidFill>
            <a:prstDash val="solid"/>
          </a:ln>
        </p:spPr>
      </p:sp>
      <p:sp>
        <p:nvSpPr>
          <p:cNvPr id="10" name="Shape 6"/>
          <p:cNvSpPr/>
          <p:nvPr/>
        </p:nvSpPr>
        <p:spPr>
          <a:xfrm>
            <a:off x="640080" y="1965960"/>
            <a:ext cx="868680" cy="868680"/>
          </a:xfrm>
          <a:prstGeom prst="rect">
            <a:avLst/>
          </a:prstGeom>
          <a:solidFill>
            <a:srgbClr val="FFFFFF"/>
          </a:solidFill>
          <a:ln w="15875">
            <a:solidFill>
              <a:srgbClr val="333333"/>
            </a:solidFill>
            <a:prstDash val="solid"/>
          </a:ln>
        </p:spPr>
      </p:sp>
      <p:sp>
        <p:nvSpPr>
          <p:cNvPr id="11" name="Text 7"/>
          <p:cNvSpPr txBox="1"/>
          <p:nvPr/>
        </p:nvSpPr>
        <p:spPr>
          <a:xfrm>
            <a:off x="640080" y="2039112"/>
            <a:ext cx="868680" cy="320040"/>
          </a:xfrm>
          <a:prstGeom prst="rect">
            <a:avLst/>
          </a:prstGeom>
          <a:noFill/>
          <a:ln/>
        </p:spPr>
        <p:txBody>
          <a:bodyPr wrap="square" lIns="0" tIns="0" rIns="0" bIns="0" rtlCol="0" anchor="t"/>
          <a:lstStyle/>
          <a:p>
            <a:pPr algn="ctr" indent="0" marL="0">
              <a:buNone/>
            </a:pPr>
            <a:r>
              <a:rPr lang="en-US" sz="1100" b="1" dirty="0">
                <a:solidFill>
                  <a:srgbClr val="1E2A26"/>
                </a:solidFill>
                <a:latin typeface="Arial" pitchFamily="34" charset="0"/>
                <a:ea typeface="Arial" pitchFamily="34" charset="-122"/>
                <a:cs typeface="Arial" pitchFamily="34" charset="-120"/>
              </a:rPr>
              <a:t>Formulir</a:t>
            </a:r>
            <a:endParaRPr lang="en-US" sz="1100" dirty="0"/>
          </a:p>
        </p:txBody>
      </p:sp>
      <p:sp>
        <p:nvSpPr>
          <p:cNvPr id="12" name="Text 8"/>
          <p:cNvSpPr txBox="1"/>
          <p:nvPr/>
        </p:nvSpPr>
        <p:spPr>
          <a:xfrm>
            <a:off x="640080" y="2377440"/>
            <a:ext cx="868680" cy="411480"/>
          </a:xfrm>
          <a:prstGeom prst="rect">
            <a:avLst/>
          </a:prstGeom>
          <a:noFill/>
          <a:ln/>
        </p:spPr>
        <p:txBody>
          <a:bodyPr wrap="square" lIns="0" tIns="0" rIns="0" bIns="0" rtlCol="0" anchor="t"/>
          <a:lstStyle/>
          <a:p>
            <a:pPr algn="ctr" indent="0" marL="0">
              <a:buNone/>
            </a:pPr>
            <a:r>
              <a:rPr lang="en-US" sz="850" i="1" dirty="0">
                <a:solidFill>
                  <a:srgbClr val="1155CC"/>
                </a:solidFill>
                <a:latin typeface="Arial" pitchFamily="34" charset="0"/>
                <a:ea typeface="Arial" pitchFamily="34" charset="-122"/>
                <a:cs typeface="Arial" pitchFamily="34" charset="-120"/>
              </a:rPr>
              <a:t>Usulan Buku</a:t>
            </a:r>
            <a:endParaRPr lang="en-US" sz="850" dirty="0"/>
          </a:p>
        </p:txBody>
      </p:sp>
      <p:sp>
        <p:nvSpPr>
          <p:cNvPr id="13" name="Text 9"/>
          <p:cNvSpPr txBox="1"/>
          <p:nvPr/>
        </p:nvSpPr>
        <p:spPr>
          <a:xfrm>
            <a:off x="1490472" y="2240280"/>
            <a:ext cx="228600" cy="320040"/>
          </a:xfrm>
          <a:prstGeom prst="rect">
            <a:avLst/>
          </a:prstGeom>
          <a:noFill/>
          <a:ln/>
        </p:spPr>
        <p:txBody>
          <a:bodyPr wrap="square" lIns="0" tIns="0" rIns="0" bIns="0" rtlCol="0" anchor="t"/>
          <a:lstStyle/>
          <a:p>
            <a:pPr algn="ctr" indent="0" marL="0">
              <a:buNone/>
            </a:pPr>
            <a:r>
              <a:rPr lang="en-US" sz="1600" b="1" dirty="0">
                <a:solidFill>
                  <a:srgbClr val="1E2A26"/>
                </a:solidFill>
                <a:latin typeface="Calibri" pitchFamily="34" charset="0"/>
                <a:ea typeface="Calibri" pitchFamily="34" charset="-122"/>
                <a:cs typeface="Calibri" pitchFamily="34" charset="-120"/>
              </a:rPr>
              <a:t>→</a:t>
            </a:r>
            <a:endParaRPr lang="en-US" sz="1600" dirty="0"/>
          </a:p>
        </p:txBody>
      </p:sp>
      <p:sp>
        <p:nvSpPr>
          <p:cNvPr id="14" name="Shape 10"/>
          <p:cNvSpPr/>
          <p:nvPr/>
        </p:nvSpPr>
        <p:spPr>
          <a:xfrm>
            <a:off x="1691640" y="1965960"/>
            <a:ext cx="868680" cy="868680"/>
          </a:xfrm>
          <a:prstGeom prst="rect">
            <a:avLst/>
          </a:prstGeom>
          <a:solidFill>
            <a:srgbClr val="FFFFFF"/>
          </a:solidFill>
          <a:ln w="15875">
            <a:solidFill>
              <a:srgbClr val="333333"/>
            </a:solidFill>
            <a:prstDash val="solid"/>
          </a:ln>
        </p:spPr>
      </p:sp>
      <p:sp>
        <p:nvSpPr>
          <p:cNvPr id="15" name="Text 11"/>
          <p:cNvSpPr txBox="1"/>
          <p:nvPr/>
        </p:nvSpPr>
        <p:spPr>
          <a:xfrm>
            <a:off x="1691640" y="2039112"/>
            <a:ext cx="868680" cy="320040"/>
          </a:xfrm>
          <a:prstGeom prst="rect">
            <a:avLst/>
          </a:prstGeom>
          <a:noFill/>
          <a:ln/>
        </p:spPr>
        <p:txBody>
          <a:bodyPr wrap="square" lIns="0" tIns="0" rIns="0" bIns="0" rtlCol="0" anchor="t"/>
          <a:lstStyle/>
          <a:p>
            <a:pPr algn="ctr" indent="0" marL="0">
              <a:buNone/>
            </a:pPr>
            <a:r>
              <a:rPr lang="en-US" sz="1100" b="1" dirty="0">
                <a:solidFill>
                  <a:srgbClr val="1E2A26"/>
                </a:solidFill>
                <a:latin typeface="Arial" pitchFamily="34" charset="0"/>
                <a:ea typeface="Arial" pitchFamily="34" charset="-122"/>
                <a:cs typeface="Arial" pitchFamily="34" charset="-120"/>
              </a:rPr>
              <a:t>Sheets</a:t>
            </a:r>
            <a:endParaRPr lang="en-US" sz="1100" dirty="0"/>
          </a:p>
        </p:txBody>
      </p:sp>
      <p:sp>
        <p:nvSpPr>
          <p:cNvPr id="16" name="Text 12"/>
          <p:cNvSpPr txBox="1"/>
          <p:nvPr/>
        </p:nvSpPr>
        <p:spPr>
          <a:xfrm>
            <a:off x="1691640" y="2377440"/>
            <a:ext cx="868680" cy="411480"/>
          </a:xfrm>
          <a:prstGeom prst="rect">
            <a:avLst/>
          </a:prstGeom>
          <a:noFill/>
          <a:ln/>
        </p:spPr>
        <p:txBody>
          <a:bodyPr wrap="square" lIns="0" tIns="0" rIns="0" bIns="0" rtlCol="0" anchor="t"/>
          <a:lstStyle/>
          <a:p>
            <a:pPr algn="ctr" indent="0" marL="0">
              <a:buNone/>
            </a:pPr>
            <a:r>
              <a:rPr lang="en-US" sz="850" i="1" dirty="0">
                <a:solidFill>
                  <a:srgbClr val="1155CC"/>
                </a:solidFill>
                <a:latin typeface="Arial" pitchFamily="34" charset="0"/>
                <a:ea typeface="Arial" pitchFamily="34" charset="-122"/>
                <a:cs typeface="Arial" pitchFamily="34" charset="-120"/>
              </a:rPr>
              <a:t>Rekap Usulan</a:t>
            </a:r>
            <a:endParaRPr lang="en-US" sz="850" dirty="0"/>
          </a:p>
        </p:txBody>
      </p:sp>
      <p:sp>
        <p:nvSpPr>
          <p:cNvPr id="17" name="Text 13"/>
          <p:cNvSpPr txBox="1"/>
          <p:nvPr/>
        </p:nvSpPr>
        <p:spPr>
          <a:xfrm>
            <a:off x="2542032" y="2240280"/>
            <a:ext cx="228600" cy="320040"/>
          </a:xfrm>
          <a:prstGeom prst="rect">
            <a:avLst/>
          </a:prstGeom>
          <a:noFill/>
          <a:ln/>
        </p:spPr>
        <p:txBody>
          <a:bodyPr wrap="square" lIns="0" tIns="0" rIns="0" bIns="0" rtlCol="0" anchor="t"/>
          <a:lstStyle/>
          <a:p>
            <a:pPr algn="ctr" indent="0" marL="0">
              <a:buNone/>
            </a:pPr>
            <a:r>
              <a:rPr lang="en-US" sz="1600" b="1" dirty="0">
                <a:solidFill>
                  <a:srgbClr val="1E2A26"/>
                </a:solidFill>
                <a:latin typeface="Calibri" pitchFamily="34" charset="0"/>
                <a:ea typeface="Calibri" pitchFamily="34" charset="-122"/>
                <a:cs typeface="Calibri" pitchFamily="34" charset="-120"/>
              </a:rPr>
              <a:t>→</a:t>
            </a:r>
            <a:endParaRPr lang="en-US" sz="1600" dirty="0"/>
          </a:p>
        </p:txBody>
      </p:sp>
      <p:sp>
        <p:nvSpPr>
          <p:cNvPr id="18" name="Shape 14"/>
          <p:cNvSpPr/>
          <p:nvPr/>
        </p:nvSpPr>
        <p:spPr>
          <a:xfrm>
            <a:off x="2743200" y="1965960"/>
            <a:ext cx="868680" cy="868680"/>
          </a:xfrm>
          <a:prstGeom prst="rect">
            <a:avLst/>
          </a:prstGeom>
          <a:solidFill>
            <a:srgbClr val="FFFFFF"/>
          </a:solidFill>
          <a:ln w="15875">
            <a:solidFill>
              <a:srgbClr val="333333"/>
            </a:solidFill>
            <a:prstDash val="solid"/>
          </a:ln>
        </p:spPr>
      </p:sp>
      <p:sp>
        <p:nvSpPr>
          <p:cNvPr id="19" name="Text 15"/>
          <p:cNvSpPr txBox="1"/>
          <p:nvPr/>
        </p:nvSpPr>
        <p:spPr>
          <a:xfrm>
            <a:off x="2743200" y="2039112"/>
            <a:ext cx="868680" cy="320040"/>
          </a:xfrm>
          <a:prstGeom prst="rect">
            <a:avLst/>
          </a:prstGeom>
          <a:noFill/>
          <a:ln/>
        </p:spPr>
        <p:txBody>
          <a:bodyPr wrap="square" lIns="0" tIns="0" rIns="0" bIns="0" rtlCol="0" anchor="t"/>
          <a:lstStyle/>
          <a:p>
            <a:pPr algn="ctr" indent="0" marL="0">
              <a:buNone/>
            </a:pPr>
            <a:r>
              <a:rPr lang="en-US" sz="1100" b="1" dirty="0">
                <a:solidFill>
                  <a:srgbClr val="1E2A26"/>
                </a:solidFill>
                <a:latin typeface="Arial" pitchFamily="34" charset="0"/>
                <a:ea typeface="Arial" pitchFamily="34" charset="-122"/>
                <a:cs typeface="Arial" pitchFamily="34" charset="-120"/>
              </a:rPr>
              <a:t>Dashboard</a:t>
            </a:r>
            <a:endParaRPr lang="en-US" sz="1100" dirty="0"/>
          </a:p>
        </p:txBody>
      </p:sp>
      <p:sp>
        <p:nvSpPr>
          <p:cNvPr id="20" name="Text 16"/>
          <p:cNvSpPr txBox="1"/>
          <p:nvPr/>
        </p:nvSpPr>
        <p:spPr>
          <a:xfrm>
            <a:off x="2743200" y="2377440"/>
            <a:ext cx="868680" cy="411480"/>
          </a:xfrm>
          <a:prstGeom prst="rect">
            <a:avLst/>
          </a:prstGeom>
          <a:noFill/>
          <a:ln/>
        </p:spPr>
        <p:txBody>
          <a:bodyPr wrap="square" lIns="0" tIns="0" rIns="0" bIns="0" rtlCol="0" anchor="t"/>
          <a:lstStyle/>
          <a:p>
            <a:pPr algn="ctr" indent="0" marL="0">
              <a:buNone/>
            </a:pPr>
            <a:r>
              <a:rPr lang="en-US" sz="850" i="1" dirty="0">
                <a:solidFill>
                  <a:srgbClr val="1155CC"/>
                </a:solidFill>
                <a:latin typeface="Arial" pitchFamily="34" charset="0"/>
                <a:ea typeface="Arial" pitchFamily="34" charset="-122"/>
                <a:cs typeface="Arial" pitchFamily="34" charset="-120"/>
              </a:rPr>
              <a:t>Buku Terpopuler</a:t>
            </a:r>
            <a:endParaRPr lang="en-US" sz="850" dirty="0"/>
          </a:p>
        </p:txBody>
      </p:sp>
      <p:sp>
        <p:nvSpPr>
          <p:cNvPr id="21" name="Text 17"/>
          <p:cNvSpPr txBox="1"/>
          <p:nvPr/>
        </p:nvSpPr>
        <p:spPr>
          <a:xfrm>
            <a:off x="3593592" y="2240280"/>
            <a:ext cx="228600" cy="320040"/>
          </a:xfrm>
          <a:prstGeom prst="rect">
            <a:avLst/>
          </a:prstGeom>
          <a:noFill/>
          <a:ln/>
        </p:spPr>
        <p:txBody>
          <a:bodyPr wrap="square" lIns="0" tIns="0" rIns="0" bIns="0" rtlCol="0" anchor="t"/>
          <a:lstStyle/>
          <a:p>
            <a:pPr algn="ctr" indent="0" marL="0">
              <a:buNone/>
            </a:pPr>
            <a:r>
              <a:rPr lang="en-US" sz="1600" b="1" dirty="0">
                <a:solidFill>
                  <a:srgbClr val="1E2A26"/>
                </a:solidFill>
                <a:latin typeface="Calibri" pitchFamily="34" charset="0"/>
                <a:ea typeface="Calibri" pitchFamily="34" charset="-122"/>
                <a:cs typeface="Calibri" pitchFamily="34" charset="-120"/>
              </a:rPr>
              <a:t>→</a:t>
            </a:r>
            <a:endParaRPr lang="en-US" sz="1600" dirty="0"/>
          </a:p>
        </p:txBody>
      </p:sp>
      <p:sp>
        <p:nvSpPr>
          <p:cNvPr id="22" name="Shape 18"/>
          <p:cNvSpPr/>
          <p:nvPr/>
        </p:nvSpPr>
        <p:spPr>
          <a:xfrm>
            <a:off x="3794760" y="1965960"/>
            <a:ext cx="868680" cy="868680"/>
          </a:xfrm>
          <a:prstGeom prst="rect">
            <a:avLst/>
          </a:prstGeom>
          <a:solidFill>
            <a:srgbClr val="FFFFFF"/>
          </a:solidFill>
          <a:ln w="15875">
            <a:solidFill>
              <a:srgbClr val="333333"/>
            </a:solidFill>
            <a:prstDash val="solid"/>
          </a:ln>
        </p:spPr>
      </p:sp>
      <p:sp>
        <p:nvSpPr>
          <p:cNvPr id="23" name="Text 19"/>
          <p:cNvSpPr txBox="1"/>
          <p:nvPr/>
        </p:nvSpPr>
        <p:spPr>
          <a:xfrm>
            <a:off x="3794760" y="2039112"/>
            <a:ext cx="868680" cy="320040"/>
          </a:xfrm>
          <a:prstGeom prst="rect">
            <a:avLst/>
          </a:prstGeom>
          <a:noFill/>
          <a:ln/>
        </p:spPr>
        <p:txBody>
          <a:bodyPr wrap="square" lIns="0" tIns="0" rIns="0" bIns="0" rtlCol="0" anchor="t"/>
          <a:lstStyle/>
          <a:p>
            <a:pPr algn="ctr" indent="0" marL="0">
              <a:buNone/>
            </a:pPr>
            <a:r>
              <a:rPr lang="en-US" sz="1100" b="1" dirty="0">
                <a:solidFill>
                  <a:srgbClr val="1E2A26"/>
                </a:solidFill>
                <a:latin typeface="Arial" pitchFamily="34" charset="0"/>
                <a:ea typeface="Arial" pitchFamily="34" charset="-122"/>
                <a:cs typeface="Arial" pitchFamily="34" charset="-120"/>
              </a:rPr>
              <a:t>Website</a:t>
            </a:r>
            <a:endParaRPr lang="en-US" sz="1100" dirty="0"/>
          </a:p>
        </p:txBody>
      </p:sp>
      <p:sp>
        <p:nvSpPr>
          <p:cNvPr id="24" name="Text 20"/>
          <p:cNvSpPr txBox="1"/>
          <p:nvPr/>
        </p:nvSpPr>
        <p:spPr>
          <a:xfrm>
            <a:off x="3794760" y="2377440"/>
            <a:ext cx="868680" cy="411480"/>
          </a:xfrm>
          <a:prstGeom prst="rect">
            <a:avLst/>
          </a:prstGeom>
          <a:noFill/>
          <a:ln/>
        </p:spPr>
        <p:txBody>
          <a:bodyPr wrap="square" lIns="0" tIns="0" rIns="0" bIns="0" rtlCol="0" anchor="t"/>
          <a:lstStyle/>
          <a:p>
            <a:pPr algn="ctr" indent="0" marL="0">
              <a:buNone/>
            </a:pPr>
            <a:r>
              <a:rPr lang="en-US" sz="850" i="1" dirty="0">
                <a:solidFill>
                  <a:srgbClr val="1155CC"/>
                </a:solidFill>
                <a:latin typeface="Arial" pitchFamily="34" charset="0"/>
                <a:ea typeface="Arial" pitchFamily="34" charset="-122"/>
                <a:cs typeface="Arial" pitchFamily="34" charset="-120"/>
              </a:rPr>
              <a:t>perpus-digital</a:t>
            </a:r>
            <a:endParaRPr lang="en-US" sz="850" dirty="0"/>
          </a:p>
        </p:txBody>
      </p:sp>
      <p:sp>
        <p:nvSpPr>
          <p:cNvPr id="25" name="Text 21"/>
          <p:cNvSpPr txBox="1"/>
          <p:nvPr/>
        </p:nvSpPr>
        <p:spPr>
          <a:xfrm>
            <a:off x="4645152" y="2240280"/>
            <a:ext cx="228600" cy="320040"/>
          </a:xfrm>
          <a:prstGeom prst="rect">
            <a:avLst/>
          </a:prstGeom>
          <a:noFill/>
          <a:ln/>
        </p:spPr>
        <p:txBody>
          <a:bodyPr wrap="square" lIns="0" tIns="0" rIns="0" bIns="0" rtlCol="0" anchor="t"/>
          <a:lstStyle/>
          <a:p>
            <a:pPr algn="ctr" indent="0" marL="0">
              <a:buNone/>
            </a:pPr>
            <a:r>
              <a:rPr lang="en-US" sz="1600" b="1" dirty="0">
                <a:solidFill>
                  <a:srgbClr val="1E2A26"/>
                </a:solidFill>
                <a:latin typeface="Calibri" pitchFamily="34" charset="0"/>
                <a:ea typeface="Calibri" pitchFamily="34" charset="-122"/>
                <a:cs typeface="Calibri" pitchFamily="34" charset="-120"/>
              </a:rPr>
              <a:t>→</a:t>
            </a:r>
            <a:endParaRPr lang="en-US" sz="1600" dirty="0"/>
          </a:p>
        </p:txBody>
      </p:sp>
      <p:sp>
        <p:nvSpPr>
          <p:cNvPr id="26" name="Shape 22"/>
          <p:cNvSpPr/>
          <p:nvPr/>
        </p:nvSpPr>
        <p:spPr>
          <a:xfrm>
            <a:off x="4846320" y="1965960"/>
            <a:ext cx="868680" cy="868680"/>
          </a:xfrm>
          <a:prstGeom prst="rect">
            <a:avLst/>
          </a:prstGeom>
          <a:solidFill>
            <a:srgbClr val="FFFFFF"/>
          </a:solidFill>
          <a:ln w="15875">
            <a:solidFill>
              <a:srgbClr val="333333"/>
            </a:solidFill>
            <a:prstDash val="solid"/>
          </a:ln>
        </p:spPr>
      </p:sp>
      <p:sp>
        <p:nvSpPr>
          <p:cNvPr id="27" name="Text 23"/>
          <p:cNvSpPr txBox="1"/>
          <p:nvPr/>
        </p:nvSpPr>
        <p:spPr>
          <a:xfrm>
            <a:off x="4846320" y="2039112"/>
            <a:ext cx="868680" cy="320040"/>
          </a:xfrm>
          <a:prstGeom prst="rect">
            <a:avLst/>
          </a:prstGeom>
          <a:noFill/>
          <a:ln/>
        </p:spPr>
        <p:txBody>
          <a:bodyPr wrap="square" lIns="0" tIns="0" rIns="0" bIns="0" rtlCol="0" anchor="t"/>
          <a:lstStyle/>
          <a:p>
            <a:pPr algn="ctr" indent="0" marL="0">
              <a:buNone/>
            </a:pPr>
            <a:r>
              <a:rPr lang="en-US" sz="1100" b="1" dirty="0">
                <a:solidFill>
                  <a:srgbClr val="1E2A26"/>
                </a:solidFill>
                <a:latin typeface="Arial" pitchFamily="34" charset="0"/>
                <a:ea typeface="Arial" pitchFamily="34" charset="-122"/>
                <a:cs typeface="Arial" pitchFamily="34" charset="-120"/>
              </a:rPr>
              <a:t>QR</a:t>
            </a:r>
            <a:endParaRPr lang="en-US" sz="1100" dirty="0"/>
          </a:p>
        </p:txBody>
      </p:sp>
      <p:sp>
        <p:nvSpPr>
          <p:cNvPr id="28" name="Text 24"/>
          <p:cNvSpPr txBox="1"/>
          <p:nvPr/>
        </p:nvSpPr>
        <p:spPr>
          <a:xfrm>
            <a:off x="4846320" y="2377440"/>
            <a:ext cx="868680" cy="411480"/>
          </a:xfrm>
          <a:prstGeom prst="rect">
            <a:avLst/>
          </a:prstGeom>
          <a:noFill/>
          <a:ln/>
        </p:spPr>
        <p:txBody>
          <a:bodyPr wrap="square" lIns="0" tIns="0" rIns="0" bIns="0" rtlCol="0" anchor="t"/>
          <a:lstStyle/>
          <a:p>
            <a:pPr algn="ctr" indent="0" marL="0">
              <a:buNone/>
            </a:pPr>
            <a:r>
              <a:rPr lang="en-US" sz="850" i="1" dirty="0">
                <a:solidFill>
                  <a:srgbClr val="1155CC"/>
                </a:solidFill>
                <a:latin typeface="Arial" pitchFamily="34" charset="0"/>
                <a:ea typeface="Arial" pitchFamily="34" charset="-122"/>
                <a:cs typeface="Arial" pitchFamily="34" charset="-120"/>
              </a:rPr>
              <a:t>Rak Buku</a:t>
            </a:r>
            <a:endParaRPr lang="en-US" sz="850" dirty="0"/>
          </a:p>
        </p:txBody>
      </p:sp>
      <p:sp>
        <p:nvSpPr>
          <p:cNvPr id="29" name="Text 25"/>
          <p:cNvSpPr txBox="1"/>
          <p:nvPr/>
        </p:nvSpPr>
        <p:spPr>
          <a:xfrm>
            <a:off x="640080" y="1280160"/>
            <a:ext cx="4572000" cy="365760"/>
          </a:xfrm>
          <a:prstGeom prst="rect">
            <a:avLst/>
          </a:prstGeom>
          <a:noFill/>
          <a:ln/>
        </p:spPr>
        <p:txBody>
          <a:bodyPr wrap="square" lIns="0" tIns="0" rIns="0" bIns="0" rtlCol="0" anchor="t"/>
          <a:lstStyle/>
          <a:p>
            <a:pPr indent="0" marL="0">
              <a:buNone/>
            </a:pPr>
            <a:r>
              <a:rPr lang="en-US" sz="1400" b="1" dirty="0">
                <a:solidFill>
                  <a:srgbClr val="1E2A26"/>
                </a:solidFill>
                <a:latin typeface="Arial" pitchFamily="34" charset="0"/>
                <a:ea typeface="Arial" pitchFamily="34" charset="-122"/>
                <a:cs typeface="Arial" pitchFamily="34" charset="-120"/>
              </a:rPr>
              <a:t>Diagram Alur Data – Kelompok 1</a:t>
            </a:r>
            <a:endParaRPr lang="en-US" sz="1400" dirty="0"/>
          </a:p>
        </p:txBody>
      </p:sp>
      <p:sp>
        <p:nvSpPr>
          <p:cNvPr id="30" name="Shape 26"/>
          <p:cNvSpPr/>
          <p:nvPr/>
        </p:nvSpPr>
        <p:spPr>
          <a:xfrm>
            <a:off x="576072" y="1901952"/>
            <a:ext cx="4974336" cy="996696"/>
          </a:xfrm>
          <a:prstGeom prst="roundRect">
            <a:avLst>
              <a:gd name="adj" fmla="val 4587"/>
            </a:avLst>
          </a:prstGeom>
          <a:solidFill>
            <a:srgbClr val="FFFFFF">
              <a:alpha val="0"/>
            </a:srgbClr>
          </a:solidFill>
          <a:ln w="31750">
            <a:solidFill>
              <a:srgbClr val="E53935"/>
            </a:solidFill>
            <a:prstDash val="solid"/>
          </a:ln>
        </p:spPr>
      </p:sp>
      <p:sp>
        <p:nvSpPr>
          <p:cNvPr id="31" name="Shape 27"/>
          <p:cNvSpPr/>
          <p:nvPr/>
        </p:nvSpPr>
        <p:spPr>
          <a:xfrm>
            <a:off x="5413248" y="1764792"/>
            <a:ext cx="274320" cy="274320"/>
          </a:xfrm>
          <a:prstGeom prst="ellipse">
            <a:avLst/>
          </a:prstGeom>
          <a:solidFill>
            <a:srgbClr val="E53935"/>
          </a:solidFill>
          <a:ln w="12700">
            <a:solidFill>
              <a:srgbClr val="FFFFFF"/>
            </a:solidFill>
            <a:prstDash val="solid"/>
          </a:ln>
        </p:spPr>
      </p:sp>
      <p:sp>
        <p:nvSpPr>
          <p:cNvPr id="32" name="Text 28"/>
          <p:cNvSpPr txBox="1"/>
          <p:nvPr/>
        </p:nvSpPr>
        <p:spPr>
          <a:xfrm>
            <a:off x="5413248" y="176479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3" name="Text 2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34" name="Text 3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Gambar diagram alur data</a:t>
            </a:r>
            <a:endParaRPr lang="en-US" sz="1800" dirty="0"/>
          </a:p>
        </p:txBody>
      </p:sp>
      <p:sp>
        <p:nvSpPr>
          <p:cNvPr id="35" name="Text 3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kertas, gambar kotak-kotak dan panah: Formulir → Sheets → Dashboard → Website → QR. Tulis nama file untuk setiap kotak.</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1691640" cy="1325880"/>
          </a:xfrm>
          <a:prstGeom prst="roundRect">
            <a:avLst>
              <a:gd name="adj" fmla="val 5517"/>
            </a:avLst>
          </a:prstGeom>
          <a:solidFill>
            <a:srgbClr val="E6F2EC"/>
          </a:solidFill>
          <a:ln w="12700">
            <a:solidFill>
              <a:srgbClr val="E6F2EC"/>
            </a:solidFill>
            <a:prstDash val="solid"/>
          </a:ln>
        </p:spPr>
      </p:sp>
      <p:sp>
        <p:nvSpPr>
          <p:cNvPr id="10" name="Shape 6"/>
          <p:cNvSpPr/>
          <p:nvPr/>
        </p:nvSpPr>
        <p:spPr>
          <a:xfrm>
            <a:off x="566928" y="1252728"/>
            <a:ext cx="457200" cy="45720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676656" y="1362456"/>
            <a:ext cx="237744" cy="237744"/>
          </a:xfrm>
          <a:prstGeom prst="rect">
            <a:avLst/>
          </a:prstGeom>
        </p:spPr>
      </p:pic>
      <p:sp>
        <p:nvSpPr>
          <p:cNvPr id="12" name="Text 7"/>
          <p:cNvSpPr txBox="1"/>
          <p:nvPr/>
        </p:nvSpPr>
        <p:spPr>
          <a:xfrm>
            <a:off x="566928" y="1783080"/>
            <a:ext cx="1508760" cy="320040"/>
          </a:xfrm>
          <a:prstGeom prst="rect">
            <a:avLst/>
          </a:prstGeom>
          <a:noFill/>
          <a:ln/>
        </p:spPr>
        <p:txBody>
          <a:bodyPr wrap="square" lIns="0" tIns="0" rIns="0" bIns="0" rtlCol="0" anchor="t"/>
          <a:lstStyle/>
          <a:p>
            <a:pPr indent="0" marL="0">
              <a:buNone/>
            </a:pPr>
            <a:r>
              <a:rPr lang="en-US" sz="1200" b="1" dirty="0">
                <a:solidFill>
                  <a:srgbClr val="0F4C3A"/>
                </a:solidFill>
                <a:latin typeface="Calibri" pitchFamily="34" charset="0"/>
                <a:ea typeface="Calibri" pitchFamily="34" charset="-122"/>
                <a:cs typeface="Calibri" pitchFamily="34" charset="-120"/>
              </a:rPr>
              <a:t>Project Manager</a:t>
            </a:r>
            <a:endParaRPr lang="en-US" sz="1200" dirty="0"/>
          </a:p>
        </p:txBody>
      </p:sp>
      <p:sp>
        <p:nvSpPr>
          <p:cNvPr id="13" name="Text 8"/>
          <p:cNvSpPr txBox="1"/>
          <p:nvPr/>
        </p:nvSpPr>
        <p:spPr>
          <a:xfrm>
            <a:off x="566928" y="2075688"/>
            <a:ext cx="1508760" cy="32004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Jadwal dan koordinasi</a:t>
            </a:r>
            <a:endParaRPr lang="en-US" sz="1100" dirty="0"/>
          </a:p>
        </p:txBody>
      </p:sp>
      <p:sp>
        <p:nvSpPr>
          <p:cNvPr id="14" name="Shape 9"/>
          <p:cNvSpPr/>
          <p:nvPr/>
        </p:nvSpPr>
        <p:spPr>
          <a:xfrm>
            <a:off x="2240280" y="1143000"/>
            <a:ext cx="1691640" cy="1325880"/>
          </a:xfrm>
          <a:prstGeom prst="roundRect">
            <a:avLst>
              <a:gd name="adj" fmla="val 5517"/>
            </a:avLst>
          </a:prstGeom>
          <a:solidFill>
            <a:srgbClr val="E6F2EC"/>
          </a:solidFill>
          <a:ln w="12700">
            <a:solidFill>
              <a:srgbClr val="E6F2EC"/>
            </a:solidFill>
            <a:prstDash val="solid"/>
          </a:ln>
        </p:spPr>
      </p:sp>
      <p:sp>
        <p:nvSpPr>
          <p:cNvPr id="15" name="Shape 10"/>
          <p:cNvSpPr/>
          <p:nvPr/>
        </p:nvSpPr>
        <p:spPr>
          <a:xfrm>
            <a:off x="2350008" y="1252728"/>
            <a:ext cx="457200" cy="45720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2459736" y="1362456"/>
            <a:ext cx="237744" cy="237744"/>
          </a:xfrm>
          <a:prstGeom prst="rect">
            <a:avLst/>
          </a:prstGeom>
        </p:spPr>
      </p:pic>
      <p:sp>
        <p:nvSpPr>
          <p:cNvPr id="17" name="Text 11"/>
          <p:cNvSpPr txBox="1"/>
          <p:nvPr/>
        </p:nvSpPr>
        <p:spPr>
          <a:xfrm>
            <a:off x="2350008" y="1783080"/>
            <a:ext cx="1508760" cy="320040"/>
          </a:xfrm>
          <a:prstGeom prst="rect">
            <a:avLst/>
          </a:prstGeom>
          <a:noFill/>
          <a:ln/>
        </p:spPr>
        <p:txBody>
          <a:bodyPr wrap="square" lIns="0" tIns="0" rIns="0" bIns="0" rtlCol="0" anchor="t"/>
          <a:lstStyle/>
          <a:p>
            <a:pPr indent="0" marL="0">
              <a:buNone/>
            </a:pPr>
            <a:r>
              <a:rPr lang="en-US" sz="1200" b="1" dirty="0">
                <a:solidFill>
                  <a:srgbClr val="0F4C3A"/>
                </a:solidFill>
                <a:latin typeface="Calibri" pitchFamily="34" charset="0"/>
                <a:ea typeface="Calibri" pitchFamily="34" charset="-122"/>
                <a:cs typeface="Calibri" pitchFamily="34" charset="-120"/>
              </a:rPr>
              <a:t>Data</a:t>
            </a:r>
            <a:endParaRPr lang="en-US" sz="1200" dirty="0"/>
          </a:p>
        </p:txBody>
      </p:sp>
      <p:sp>
        <p:nvSpPr>
          <p:cNvPr id="18" name="Text 12"/>
          <p:cNvSpPr txBox="1"/>
          <p:nvPr/>
        </p:nvSpPr>
        <p:spPr>
          <a:xfrm>
            <a:off x="2350008" y="2075688"/>
            <a:ext cx="1508760" cy="32004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Formulir dan Sheets</a:t>
            </a:r>
            <a:endParaRPr lang="en-US" sz="1100" dirty="0"/>
          </a:p>
        </p:txBody>
      </p:sp>
      <p:sp>
        <p:nvSpPr>
          <p:cNvPr id="19" name="Shape 13"/>
          <p:cNvSpPr/>
          <p:nvPr/>
        </p:nvSpPr>
        <p:spPr>
          <a:xfrm>
            <a:off x="4023360" y="1143000"/>
            <a:ext cx="1691640" cy="1325880"/>
          </a:xfrm>
          <a:prstGeom prst="roundRect">
            <a:avLst>
              <a:gd name="adj" fmla="val 5517"/>
            </a:avLst>
          </a:prstGeom>
          <a:solidFill>
            <a:srgbClr val="E6F2EC"/>
          </a:solidFill>
          <a:ln w="12700">
            <a:solidFill>
              <a:srgbClr val="E6F2EC"/>
            </a:solidFill>
            <a:prstDash val="solid"/>
          </a:ln>
        </p:spPr>
      </p:sp>
      <p:sp>
        <p:nvSpPr>
          <p:cNvPr id="20" name="Shape 14"/>
          <p:cNvSpPr/>
          <p:nvPr/>
        </p:nvSpPr>
        <p:spPr>
          <a:xfrm>
            <a:off x="4133088" y="1252728"/>
            <a:ext cx="457200" cy="45720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4242816" y="1362456"/>
            <a:ext cx="237744" cy="237744"/>
          </a:xfrm>
          <a:prstGeom prst="rect">
            <a:avLst/>
          </a:prstGeom>
        </p:spPr>
      </p:pic>
      <p:sp>
        <p:nvSpPr>
          <p:cNvPr id="22" name="Text 15"/>
          <p:cNvSpPr txBox="1"/>
          <p:nvPr/>
        </p:nvSpPr>
        <p:spPr>
          <a:xfrm>
            <a:off x="4133088" y="1783080"/>
            <a:ext cx="1508760" cy="320040"/>
          </a:xfrm>
          <a:prstGeom prst="rect">
            <a:avLst/>
          </a:prstGeom>
          <a:noFill/>
          <a:ln/>
        </p:spPr>
        <p:txBody>
          <a:bodyPr wrap="square" lIns="0" tIns="0" rIns="0" bIns="0" rtlCol="0" anchor="t"/>
          <a:lstStyle/>
          <a:p>
            <a:pPr indent="0" marL="0">
              <a:buNone/>
            </a:pPr>
            <a:r>
              <a:rPr lang="en-US" sz="1200" b="1" dirty="0">
                <a:solidFill>
                  <a:srgbClr val="0F4C3A"/>
                </a:solidFill>
                <a:latin typeface="Calibri" pitchFamily="34" charset="0"/>
                <a:ea typeface="Calibri" pitchFamily="34" charset="-122"/>
                <a:cs typeface="Calibri" pitchFamily="34" charset="-120"/>
              </a:rPr>
              <a:t>Developer</a:t>
            </a:r>
            <a:endParaRPr lang="en-US" sz="1200" dirty="0"/>
          </a:p>
        </p:txBody>
      </p:sp>
      <p:sp>
        <p:nvSpPr>
          <p:cNvPr id="23" name="Text 16"/>
          <p:cNvSpPr txBox="1"/>
          <p:nvPr/>
        </p:nvSpPr>
        <p:spPr>
          <a:xfrm>
            <a:off x="4133088" y="2075688"/>
            <a:ext cx="1508760" cy="32004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HTML, CSS, GitHub</a:t>
            </a:r>
            <a:endParaRPr lang="en-US" sz="1100" dirty="0"/>
          </a:p>
        </p:txBody>
      </p:sp>
      <p:sp>
        <p:nvSpPr>
          <p:cNvPr id="24" name="Shape 17"/>
          <p:cNvSpPr/>
          <p:nvPr/>
        </p:nvSpPr>
        <p:spPr>
          <a:xfrm>
            <a:off x="457200" y="2606040"/>
            <a:ext cx="1691640" cy="1325880"/>
          </a:xfrm>
          <a:prstGeom prst="roundRect">
            <a:avLst>
              <a:gd name="adj" fmla="val 5517"/>
            </a:avLst>
          </a:prstGeom>
          <a:solidFill>
            <a:srgbClr val="E6F2EC"/>
          </a:solidFill>
          <a:ln w="12700">
            <a:solidFill>
              <a:srgbClr val="E6F2EC"/>
            </a:solidFill>
            <a:prstDash val="solid"/>
          </a:ln>
        </p:spPr>
      </p:sp>
      <p:sp>
        <p:nvSpPr>
          <p:cNvPr id="25" name="Shape 18"/>
          <p:cNvSpPr/>
          <p:nvPr/>
        </p:nvSpPr>
        <p:spPr>
          <a:xfrm>
            <a:off x="566928" y="2715768"/>
            <a:ext cx="457200" cy="45720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676656" y="2825496"/>
            <a:ext cx="237744" cy="237744"/>
          </a:xfrm>
          <a:prstGeom prst="rect">
            <a:avLst/>
          </a:prstGeom>
        </p:spPr>
      </p:pic>
      <p:sp>
        <p:nvSpPr>
          <p:cNvPr id="27" name="Text 19"/>
          <p:cNvSpPr txBox="1"/>
          <p:nvPr/>
        </p:nvSpPr>
        <p:spPr>
          <a:xfrm>
            <a:off x="566928" y="3246120"/>
            <a:ext cx="1508760" cy="320040"/>
          </a:xfrm>
          <a:prstGeom prst="rect">
            <a:avLst/>
          </a:prstGeom>
          <a:noFill/>
          <a:ln/>
        </p:spPr>
        <p:txBody>
          <a:bodyPr wrap="square" lIns="0" tIns="0" rIns="0" bIns="0" rtlCol="0" anchor="t"/>
          <a:lstStyle/>
          <a:p>
            <a:pPr indent="0" marL="0">
              <a:buNone/>
            </a:pPr>
            <a:r>
              <a:rPr lang="en-US" sz="1200" b="1" dirty="0">
                <a:solidFill>
                  <a:srgbClr val="0F4C3A"/>
                </a:solidFill>
                <a:latin typeface="Calibri" pitchFamily="34" charset="0"/>
                <a:ea typeface="Calibri" pitchFamily="34" charset="-122"/>
                <a:cs typeface="Calibri" pitchFamily="34" charset="-120"/>
              </a:rPr>
              <a:t>Desainer</a:t>
            </a:r>
            <a:endParaRPr lang="en-US" sz="1200" dirty="0"/>
          </a:p>
        </p:txBody>
      </p:sp>
      <p:sp>
        <p:nvSpPr>
          <p:cNvPr id="28" name="Text 20"/>
          <p:cNvSpPr txBox="1"/>
          <p:nvPr/>
        </p:nvSpPr>
        <p:spPr>
          <a:xfrm>
            <a:off x="566928" y="3538728"/>
            <a:ext cx="1508760" cy="32004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Dashboard dan papan QR</a:t>
            </a:r>
            <a:endParaRPr lang="en-US" sz="1100" dirty="0"/>
          </a:p>
        </p:txBody>
      </p:sp>
      <p:sp>
        <p:nvSpPr>
          <p:cNvPr id="29" name="Shape 21"/>
          <p:cNvSpPr/>
          <p:nvPr/>
        </p:nvSpPr>
        <p:spPr>
          <a:xfrm>
            <a:off x="2240280" y="2606040"/>
            <a:ext cx="1691640" cy="1325880"/>
          </a:xfrm>
          <a:prstGeom prst="roundRect">
            <a:avLst>
              <a:gd name="adj" fmla="val 5517"/>
            </a:avLst>
          </a:prstGeom>
          <a:solidFill>
            <a:srgbClr val="E6F2EC"/>
          </a:solidFill>
          <a:ln w="12700">
            <a:solidFill>
              <a:srgbClr val="E6F2EC"/>
            </a:solidFill>
            <a:prstDash val="solid"/>
          </a:ln>
        </p:spPr>
      </p:sp>
      <p:sp>
        <p:nvSpPr>
          <p:cNvPr id="30" name="Shape 22"/>
          <p:cNvSpPr/>
          <p:nvPr/>
        </p:nvSpPr>
        <p:spPr>
          <a:xfrm>
            <a:off x="2350008" y="2715768"/>
            <a:ext cx="457200" cy="45720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2459736" y="2825496"/>
            <a:ext cx="237744" cy="237744"/>
          </a:xfrm>
          <a:prstGeom prst="rect">
            <a:avLst/>
          </a:prstGeom>
        </p:spPr>
      </p:pic>
      <p:sp>
        <p:nvSpPr>
          <p:cNvPr id="32" name="Text 23"/>
          <p:cNvSpPr txBox="1"/>
          <p:nvPr/>
        </p:nvSpPr>
        <p:spPr>
          <a:xfrm>
            <a:off x="2350008" y="3246120"/>
            <a:ext cx="1508760" cy="320040"/>
          </a:xfrm>
          <a:prstGeom prst="rect">
            <a:avLst/>
          </a:prstGeom>
          <a:noFill/>
          <a:ln/>
        </p:spPr>
        <p:txBody>
          <a:bodyPr wrap="square" lIns="0" tIns="0" rIns="0" bIns="0" rtlCol="0" anchor="t"/>
          <a:lstStyle/>
          <a:p>
            <a:pPr indent="0" marL="0">
              <a:buNone/>
            </a:pPr>
            <a:r>
              <a:rPr lang="en-US" sz="1200" b="1" dirty="0">
                <a:solidFill>
                  <a:srgbClr val="0F4C3A"/>
                </a:solidFill>
                <a:latin typeface="Calibri" pitchFamily="34" charset="0"/>
                <a:ea typeface="Calibri" pitchFamily="34" charset="-122"/>
                <a:cs typeface="Calibri" pitchFamily="34" charset="-120"/>
              </a:rPr>
              <a:t>Tester &amp; Presenter</a:t>
            </a:r>
            <a:endParaRPr lang="en-US" sz="1200" dirty="0"/>
          </a:p>
        </p:txBody>
      </p:sp>
      <p:sp>
        <p:nvSpPr>
          <p:cNvPr id="33" name="Text 24"/>
          <p:cNvSpPr txBox="1"/>
          <p:nvPr/>
        </p:nvSpPr>
        <p:spPr>
          <a:xfrm>
            <a:off x="2350008" y="3538728"/>
            <a:ext cx="1508760" cy="32004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Uji dan presentasi</a:t>
            </a:r>
            <a:endParaRPr lang="en-US" sz="1100" dirty="0"/>
          </a:p>
        </p:txBody>
      </p:sp>
      <p:sp>
        <p:nvSpPr>
          <p:cNvPr id="34" name="Shape 25"/>
          <p:cNvSpPr/>
          <p:nvPr/>
        </p:nvSpPr>
        <p:spPr>
          <a:xfrm>
            <a:off x="393192" y="1078992"/>
            <a:ext cx="5340096" cy="2871216"/>
          </a:xfrm>
          <a:prstGeom prst="roundRect">
            <a:avLst>
              <a:gd name="adj" fmla="val 1592"/>
            </a:avLst>
          </a:prstGeom>
          <a:solidFill>
            <a:srgbClr val="FFFFFF">
              <a:alpha val="0"/>
            </a:srgbClr>
          </a:solidFill>
          <a:ln w="31750">
            <a:solidFill>
              <a:srgbClr val="E53935"/>
            </a:solidFill>
            <a:prstDash val="solid"/>
          </a:ln>
        </p:spPr>
      </p:sp>
      <p:sp>
        <p:nvSpPr>
          <p:cNvPr id="35" name="Shape 26"/>
          <p:cNvSpPr/>
          <p:nvPr/>
        </p:nvSpPr>
        <p:spPr>
          <a:xfrm>
            <a:off x="5596128" y="941832"/>
            <a:ext cx="274320" cy="274320"/>
          </a:xfrm>
          <a:prstGeom prst="ellipse">
            <a:avLst/>
          </a:prstGeom>
          <a:solidFill>
            <a:srgbClr val="E53935"/>
          </a:solidFill>
          <a:ln w="12700">
            <a:solidFill>
              <a:srgbClr val="FFFFFF"/>
            </a:solidFill>
            <a:prstDash val="solid"/>
          </a:ln>
        </p:spPr>
      </p:sp>
      <p:sp>
        <p:nvSpPr>
          <p:cNvPr id="36" name="Text 27"/>
          <p:cNvSpPr txBox="1"/>
          <p:nvPr/>
        </p:nvSpPr>
        <p:spPr>
          <a:xfrm>
            <a:off x="5596128" y="9418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7" name="Text 2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38" name="Text 2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Bagi peran tim</a:t>
            </a:r>
            <a:endParaRPr lang="en-US" sz="1800" dirty="0"/>
          </a:p>
        </p:txBody>
      </p:sp>
      <p:sp>
        <p:nvSpPr>
          <p:cNvPr id="39" name="Text 3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Project Manager, Data (Forms &amp; Sheets), Developer (HTML/CSS &amp; GitHub), Desainer (dashboard, papan QR), Tester &amp; Presenter.</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Rancangan_Proyek_Kel1 -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Rancangan_Proyek_Kel1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Jadwal Kerja</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Pertemuan</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Target</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PJ</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35</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Form, Sheets, web, QR</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Semua</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36</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Uji, perbaiki, presentasi</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Tester</a:t>
            </a:r>
            <a:endParaRPr lang="en-US" sz="650" dirty="0"/>
          </a:p>
        </p:txBody>
      </p:sp>
      <p:sp>
        <p:nvSpPr>
          <p:cNvPr id="88" name="Shape 77"/>
          <p:cNvSpPr/>
          <p:nvPr/>
        </p:nvSpPr>
        <p:spPr>
          <a:xfrm>
            <a:off x="1527048" y="2849506"/>
            <a:ext cx="3072384" cy="603504"/>
          </a:xfrm>
          <a:prstGeom prst="roundRect">
            <a:avLst>
              <a:gd name="adj" fmla="val 7576"/>
            </a:avLst>
          </a:prstGeom>
          <a:solidFill>
            <a:srgbClr val="FFFFFF">
              <a:alpha val="0"/>
            </a:srgbClr>
          </a:solidFill>
          <a:ln w="31750">
            <a:solidFill>
              <a:srgbClr val="E53935"/>
            </a:solidFill>
            <a:prstDash val="solid"/>
          </a:ln>
        </p:spPr>
      </p:sp>
      <p:sp>
        <p:nvSpPr>
          <p:cNvPr id="89" name="Shape 78"/>
          <p:cNvSpPr/>
          <p:nvPr/>
        </p:nvSpPr>
        <p:spPr>
          <a:xfrm>
            <a:off x="4462272" y="2712346"/>
            <a:ext cx="274320" cy="274320"/>
          </a:xfrm>
          <a:prstGeom prst="ellipse">
            <a:avLst/>
          </a:prstGeom>
          <a:solidFill>
            <a:srgbClr val="E53935"/>
          </a:solidFill>
          <a:ln w="12700">
            <a:solidFill>
              <a:srgbClr val="FFFFFF"/>
            </a:solidFill>
            <a:prstDash val="solid"/>
          </a:ln>
        </p:spPr>
      </p:sp>
      <p:sp>
        <p:nvSpPr>
          <p:cNvPr id="90" name="Text 79"/>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91" name="Image 9" descr="preencoded.png">    </p:cNvPr>
          <p:cNvPicPr>
            <a:picLocks noChangeAspect="1"/>
          </p:cNvPicPr>
          <p:nvPr/>
        </p:nvPicPr>
        <p:blipFill>
          <a:blip r:embed="rId10"/>
          <a:stretch>
            <a:fillRect/>
          </a:stretch>
        </p:blipFill>
        <p:spPr>
          <a:xfrm>
            <a:off x="3214116" y="3178690"/>
            <a:ext cx="237744" cy="237744"/>
          </a:xfrm>
          <a:prstGeom prst="rect">
            <a:avLst/>
          </a:prstGeom>
        </p:spPr>
      </p:pic>
      <p:sp>
        <p:nvSpPr>
          <p:cNvPr id="92" name="Text 8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93" name="Text 8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jadwal 2 pekan, minta persetujuan</a:t>
            </a:r>
            <a:endParaRPr lang="en-US" sz="1800" dirty="0"/>
          </a:p>
        </p:txBody>
      </p:sp>
      <p:sp>
        <p:nvSpPr>
          <p:cNvPr id="94" name="Text 8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Tulis target pertemuan 35 (semua komponen jadi dan terhubung) dan 36 (uji, perbaiki, presentasi). Tunjukkan rancangan kepada guru.</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34</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Dokumen Rancangan_Proyek kelompok berisi: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Hasil wawancara singkat dengan calon pengguna.</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Kartu rancangan: masalah, pengguna, fitur, data, ukuran berhasil.</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Foto diagram alur data dari kertas.</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Pembagian peran dan jadwal, disetujui guru.</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Masalah dan pengguna jelas</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diagram alur data</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Peran tim terbagi</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Rencana disetujui guru</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Masalah apa yang ingin diselesaikan kelompokmu?</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Siapa yang paling terbantu oleh sistem kalian?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Niatkan karya untuk memudahkan urusan orang lain. Memudahkan urusan saudara adalah amal yang dicintai Allah.</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Membangun komponen sistem dan menghubungkannya.</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35</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Membangun Sistem</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Formulir, dashboard, website, dan QR yang terhubung</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12: Proyek Akhir Kelas VIII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cara menampilkan formulir Google langsung di dalam website buatan sendiri?</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35</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Membangun komponen sesuai peran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Menyematkan formulir ke website dengan iframe</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Menghubungkan semua komponen dan menerbitkannya</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Tag iframe: Jendela di Dalam Halaman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8229600" cy="1005840"/>
          </a:xfrm>
          <a:prstGeom prst="roundRect">
            <a:avLst>
              <a:gd name="adj" fmla="val 7273"/>
            </a:avLst>
          </a:prstGeom>
          <a:solidFill>
            <a:srgbClr val="FFFFFF"/>
          </a:solidFill>
          <a:ln w="19050">
            <a:solidFill>
              <a:srgbClr val="1F7A5C"/>
            </a:solidFill>
            <a:prstDash val="solid"/>
          </a:ln>
        </p:spPr>
      </p:sp>
      <p:sp>
        <p:nvSpPr>
          <p:cNvPr id="10" name="Text 6"/>
          <p:cNvSpPr txBox="1"/>
          <p:nvPr/>
        </p:nvSpPr>
        <p:spPr>
          <a:xfrm>
            <a:off x="548640" y="1188720"/>
            <a:ext cx="8046720" cy="914400"/>
          </a:xfrm>
          <a:prstGeom prst="rect">
            <a:avLst/>
          </a:prstGeom>
          <a:noFill/>
          <a:ln/>
        </p:spPr>
        <p:txBody>
          <a:bodyPr wrap="square" lIns="0" tIns="0" rIns="0" bIns="0" rtlCol="0" anchor="ctr"/>
          <a:lstStyle/>
          <a:p>
            <a:pPr algn="ctr" indent="0" marL="0">
              <a:buNone/>
            </a:pPr>
            <a:r>
              <a:rPr lang="en-US" sz="1300" dirty="0">
                <a:solidFill>
                  <a:srgbClr val="1A5FB4"/>
                </a:solidFill>
                <a:latin typeface="Courier New" pitchFamily="34" charset="0"/>
                <a:ea typeface="Courier New" pitchFamily="34" charset="-122"/>
                <a:cs typeface="Courier New" pitchFamily="34" charset="-120"/>
              </a:rPr>
              <a:t>&lt;iframe </a:t>
            </a:r>
            <a:pPr algn="ctr" indent="0" marL="0">
              <a:buNone/>
            </a:pPr>
            <a:r>
              <a:rPr lang="en-US" sz="1300" b="1" dirty="0">
                <a:solidFill>
                  <a:srgbClr val="E53935"/>
                </a:solidFill>
                <a:latin typeface="Courier New" pitchFamily="34" charset="0"/>
                <a:ea typeface="Courier New" pitchFamily="34" charset="-122"/>
                <a:cs typeface="Courier New" pitchFamily="34" charset="-120"/>
              </a:rPr>
              <a:t>src</a:t>
            </a:r>
            <a:pPr algn="ctr" indent="0" marL="0">
              <a:buNone/>
            </a:pPr>
            <a:r>
              <a:rPr lang="en-US" sz="1300" dirty="0">
                <a:solidFill>
                  <a:srgbClr val="1E2A26"/>
                </a:solidFill>
                <a:latin typeface="Courier New" pitchFamily="34" charset="0"/>
                <a:ea typeface="Courier New" pitchFamily="34" charset="-122"/>
                <a:cs typeface="Courier New" pitchFamily="34" charset="-120"/>
              </a:rPr>
              <a:t>="https://docs.google.com/forms/..." </a:t>
            </a:r>
            <a:pPr algn="ctr" indent="0" marL="0">
              <a:buNone/>
            </a:pPr>
            <a:r>
              <a:rPr lang="en-US" sz="1300" b="1" dirty="0">
                <a:solidFill>
                  <a:srgbClr val="E53935"/>
                </a:solidFill>
                <a:latin typeface="Courier New" pitchFamily="34" charset="0"/>
                <a:ea typeface="Courier New" pitchFamily="34" charset="-122"/>
                <a:cs typeface="Courier New" pitchFamily="34" charset="-120"/>
              </a:rPr>
              <a:t>width</a:t>
            </a:r>
            <a:pPr algn="ctr" indent="0" marL="0">
              <a:buNone/>
            </a:pPr>
            <a:r>
              <a:rPr lang="en-US" sz="1300" dirty="0">
                <a:solidFill>
                  <a:srgbClr val="1E2A26"/>
                </a:solidFill>
                <a:latin typeface="Courier New" pitchFamily="34" charset="0"/>
                <a:ea typeface="Courier New" pitchFamily="34" charset="-122"/>
                <a:cs typeface="Courier New" pitchFamily="34" charset="-120"/>
              </a:rPr>
              <a:t>="100%" </a:t>
            </a:r>
            <a:pPr algn="ctr" indent="0" marL="0">
              <a:buNone/>
            </a:pPr>
            <a:r>
              <a:rPr lang="en-US" sz="1300" b="1" dirty="0">
                <a:solidFill>
                  <a:srgbClr val="E53935"/>
                </a:solidFill>
                <a:latin typeface="Courier New" pitchFamily="34" charset="0"/>
                <a:ea typeface="Courier New" pitchFamily="34" charset="-122"/>
                <a:cs typeface="Courier New" pitchFamily="34" charset="-120"/>
              </a:rPr>
              <a:t>height</a:t>
            </a:r>
            <a:pPr algn="ctr" indent="0" marL="0">
              <a:buNone/>
            </a:pPr>
            <a:r>
              <a:rPr lang="en-US" sz="1300" dirty="0">
                <a:solidFill>
                  <a:srgbClr val="1E2A26"/>
                </a:solidFill>
                <a:latin typeface="Courier New" pitchFamily="34" charset="0"/>
                <a:ea typeface="Courier New" pitchFamily="34" charset="-122"/>
                <a:cs typeface="Courier New" pitchFamily="34" charset="-120"/>
              </a:rPr>
              <a:t>="600"&gt;</a:t>
            </a:r>
            <a:pPr algn="ctr" indent="0" marL="0">
              <a:buNone/>
            </a:pPr>
            <a:r>
              <a:rPr lang="en-US" sz="1300" dirty="0">
                <a:solidFill>
                  <a:srgbClr val="1A5FB4"/>
                </a:solidFill>
                <a:latin typeface="Courier New" pitchFamily="34" charset="0"/>
                <a:ea typeface="Courier New" pitchFamily="34" charset="-122"/>
                <a:cs typeface="Courier New" pitchFamily="34" charset="-120"/>
              </a:rPr>
              <a:t>&lt;/iframe&gt;</a:t>
            </a:r>
            <a:endParaRPr lang="en-US" sz="1300" dirty="0"/>
          </a:p>
        </p:txBody>
      </p:sp>
      <p:sp>
        <p:nvSpPr>
          <p:cNvPr id="11" name="Shape 7"/>
          <p:cNvSpPr/>
          <p:nvPr/>
        </p:nvSpPr>
        <p:spPr>
          <a:xfrm>
            <a:off x="457200" y="2377440"/>
            <a:ext cx="3931920" cy="2194560"/>
          </a:xfrm>
          <a:prstGeom prst="roundRect">
            <a:avLst>
              <a:gd name="adj" fmla="val 3333"/>
            </a:avLst>
          </a:prstGeom>
          <a:solidFill>
            <a:srgbClr val="E6F2EC"/>
          </a:solidFill>
          <a:ln w="12700">
            <a:solidFill>
              <a:srgbClr val="E6F2EC"/>
            </a:solidFill>
            <a:prstDash val="solid"/>
          </a:ln>
        </p:spPr>
      </p:sp>
      <p:sp>
        <p:nvSpPr>
          <p:cNvPr id="12" name="Text 8"/>
          <p:cNvSpPr txBox="1"/>
          <p:nvPr/>
        </p:nvSpPr>
        <p:spPr>
          <a:xfrm>
            <a:off x="640080" y="2468880"/>
            <a:ext cx="3657600" cy="320040"/>
          </a:xfrm>
          <a:prstGeom prst="rect">
            <a:avLst/>
          </a:prstGeom>
          <a:noFill/>
          <a:ln/>
        </p:spPr>
        <p:txBody>
          <a:bodyPr wrap="square" lIns="0" tIns="0" rIns="0" bIns="0" rtlCol="0" anchor="t"/>
          <a:lstStyle/>
          <a:p>
            <a:pPr indent="0" marL="0">
              <a:buNone/>
            </a:pPr>
            <a:r>
              <a:rPr lang="en-US" sz="1400" b="1" dirty="0">
                <a:solidFill>
                  <a:srgbClr val="0F4C3A"/>
                </a:solidFill>
                <a:latin typeface="Cambria" pitchFamily="34" charset="0"/>
                <a:ea typeface="Cambria" pitchFamily="34" charset="-122"/>
                <a:cs typeface="Cambria" pitchFamily="34" charset="-120"/>
              </a:rPr>
              <a:t>Cara mendapatkan kode</a:t>
            </a:r>
            <a:endParaRPr lang="en-US" sz="1400" dirty="0"/>
          </a:p>
        </p:txBody>
      </p:sp>
      <p:sp>
        <p:nvSpPr>
          <p:cNvPr id="13" name="Text 9"/>
          <p:cNvSpPr txBox="1"/>
          <p:nvPr/>
        </p:nvSpPr>
        <p:spPr>
          <a:xfrm>
            <a:off x="640080" y="2834640"/>
            <a:ext cx="3657600" cy="15544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Google Forms › Send › ikon &lt; &gt; (Embed HTML) › Copy</a:t>
            </a:r>
            <a:endParaRPr lang="en-US" sz="1300" dirty="0"/>
          </a:p>
          <a:p>
            <a:pPr indent="0" marL="0">
              <a:buNone/>
            </a:pPr>
            <a:endParaRPr lang="en-US" sz="1300" dirty="0"/>
          </a:p>
          <a:p>
            <a:pPr indent="0" marL="0">
              <a:buNone/>
            </a:pPr>
            <a:r>
              <a:rPr lang="en-US" sz="1300" dirty="0">
                <a:solidFill>
                  <a:srgbClr val="1E2A26"/>
                </a:solidFill>
                <a:latin typeface="Calibri" pitchFamily="34" charset="0"/>
                <a:ea typeface="Calibri" pitchFamily="34" charset="-122"/>
                <a:cs typeface="Calibri" pitchFamily="34" charset="-120"/>
              </a:rPr>
              <a:t>Tempel di dalam &lt;body&gt; website.</a:t>
            </a:r>
            <a:endParaRPr lang="en-US" sz="1300" dirty="0"/>
          </a:p>
        </p:txBody>
      </p:sp>
      <p:sp>
        <p:nvSpPr>
          <p:cNvPr id="14" name="Shape 10"/>
          <p:cNvSpPr/>
          <p:nvPr/>
        </p:nvSpPr>
        <p:spPr>
          <a:xfrm>
            <a:off x="4754880" y="2377440"/>
            <a:ext cx="3931920" cy="2194560"/>
          </a:xfrm>
          <a:prstGeom prst="roundRect">
            <a:avLst>
              <a:gd name="adj" fmla="val 3333"/>
            </a:avLst>
          </a:prstGeom>
          <a:solidFill>
            <a:srgbClr val="FFFFFF"/>
          </a:solidFill>
          <a:ln w="12700">
            <a:solidFill>
              <a:srgbClr val="BBBBBB"/>
            </a:solidFill>
            <a:prstDash val="solid"/>
          </a:ln>
        </p:spPr>
      </p:sp>
      <p:sp>
        <p:nvSpPr>
          <p:cNvPr id="15" name="Shape 11"/>
          <p:cNvSpPr/>
          <p:nvPr/>
        </p:nvSpPr>
        <p:spPr>
          <a:xfrm>
            <a:off x="4892040" y="2514600"/>
            <a:ext cx="3657600" cy="320040"/>
          </a:xfrm>
          <a:prstGeom prst="rect">
            <a:avLst/>
          </a:prstGeom>
          <a:solidFill>
            <a:srgbClr val="0F4C3A"/>
          </a:solidFill>
          <a:ln w="12700">
            <a:solidFill>
              <a:srgbClr val="0F4C3A"/>
            </a:solidFill>
            <a:prstDash val="solid"/>
          </a:ln>
        </p:spPr>
      </p:sp>
      <p:sp>
        <p:nvSpPr>
          <p:cNvPr id="16" name="Text 12"/>
          <p:cNvSpPr txBox="1"/>
          <p:nvPr/>
        </p:nvSpPr>
        <p:spPr>
          <a:xfrm>
            <a:off x="4983480" y="2514600"/>
            <a:ext cx="347472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Website Perpustakaan</a:t>
            </a:r>
            <a:endParaRPr lang="en-US" sz="1100" dirty="0"/>
          </a:p>
        </p:txBody>
      </p:sp>
      <p:sp>
        <p:nvSpPr>
          <p:cNvPr id="17" name="Shape 13"/>
          <p:cNvSpPr/>
          <p:nvPr/>
        </p:nvSpPr>
        <p:spPr>
          <a:xfrm>
            <a:off x="5029200" y="2971800"/>
            <a:ext cx="3383280" cy="1463040"/>
          </a:xfrm>
          <a:prstGeom prst="rect">
            <a:avLst/>
          </a:prstGeom>
          <a:solidFill>
            <a:srgbClr val="F0EBF8"/>
          </a:solidFill>
          <a:ln w="19050">
            <a:solidFill>
              <a:srgbClr val="673AB7"/>
            </a:solidFill>
            <a:prstDash val="dash"/>
          </a:ln>
        </p:spPr>
      </p:sp>
      <p:sp>
        <p:nvSpPr>
          <p:cNvPr id="18" name="Text 14"/>
          <p:cNvSpPr txBox="1"/>
          <p:nvPr/>
        </p:nvSpPr>
        <p:spPr>
          <a:xfrm>
            <a:off x="5029200" y="2971800"/>
            <a:ext cx="3383280" cy="1463040"/>
          </a:xfrm>
          <a:prstGeom prst="rect">
            <a:avLst/>
          </a:prstGeom>
          <a:noFill/>
          <a:ln/>
        </p:spPr>
        <p:txBody>
          <a:bodyPr wrap="square" lIns="0" tIns="0" rIns="0" bIns="0" rtlCol="0" anchor="ctr"/>
          <a:lstStyle/>
          <a:p>
            <a:pPr algn="ctr" indent="0" marL="0">
              <a:buNone/>
            </a:pPr>
            <a:r>
              <a:rPr lang="en-US" sz="1200" b="1" dirty="0">
                <a:solidFill>
                  <a:srgbClr val="673AB7"/>
                </a:solidFill>
                <a:latin typeface="Calibri" pitchFamily="34" charset="0"/>
                <a:ea typeface="Calibri" pitchFamily="34" charset="-122"/>
                <a:cs typeface="Calibri" pitchFamily="34" charset="-120"/>
              </a:rPr>
              <a:t>Formulir tampil di sini</a:t>
            </a:r>
            <a:endParaRPr lang="en-US" sz="1200" dirty="0"/>
          </a:p>
          <a:p>
            <a:pPr algn="ctr" indent="0" marL="0">
              <a:buNone/>
            </a:pPr>
            <a:r>
              <a:rPr lang="en-US" sz="1200" b="1" dirty="0">
                <a:solidFill>
                  <a:srgbClr val="673AB7"/>
                </a:solidFill>
                <a:latin typeface="Calibri" pitchFamily="34" charset="0"/>
                <a:ea typeface="Calibri" pitchFamily="34" charset="-122"/>
                <a:cs typeface="Calibri" pitchFamily="34" charset="-120"/>
              </a:rPr>
              <a:t>(iframe)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Pekerjaan Setiap Peran Hari Ini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Data</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Formulir siap (tanpa data pribadi), Link to Sheets, isi 5 data uji fiktif.</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Desainer</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Dashboard ringkasan di Sheets: 2 kartu angka + 1 grafik.</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Developer</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Website: header, deskripsi, iframe formulir, link dashboard. Upload ke GitHub, aktifkan Pages.</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PM &amp; Tester</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Memantau jadwal, membuat QR website, menyiapkan daftar uji.</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Membangun Digital Information System</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akhir · kerja sesuai peran</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Formulir dan dashboard</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Website dengan iframe</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Terbit, QR, dan uji singkat</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Data &amp; Dashboard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Usulan Buku Perpustakaan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Usulan Buku Perpustakaan</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Questions</a:t>
            </a:r>
            <a:endParaRPr lang="en-US" sz="750" dirty="0"/>
          </a:p>
        </p:txBody>
      </p:sp>
      <p:sp>
        <p:nvSpPr>
          <p:cNvPr id="34" name="Shape 25"/>
          <p:cNvSpPr/>
          <p:nvPr/>
        </p:nvSpPr>
        <p:spPr>
          <a:xfrm>
            <a:off x="2194560" y="2153165"/>
            <a:ext cx="502920" cy="22860"/>
          </a:xfrm>
          <a:prstGeom prst="rect">
            <a:avLst/>
          </a:prstGeom>
          <a:solidFill>
            <a:srgbClr val="673AB7"/>
          </a:solidFill>
          <a:ln w="12700">
            <a:solidFill>
              <a:srgbClr val="673AB7"/>
            </a:solidFill>
            <a:prstDash val="solid"/>
          </a:ln>
        </p:spPr>
      </p:sp>
      <p:sp>
        <p:nvSpPr>
          <p:cNvPr id="35" name="Text 26"/>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48640"/>
          </a:xfrm>
          <a:prstGeom prst="roundRect">
            <a:avLst>
              <a:gd name="adj" fmla="val 8333"/>
            </a:avLst>
          </a:prstGeom>
          <a:solidFill>
            <a:srgbClr val="FFFFFF"/>
          </a:solidFill>
          <a:ln w="12700">
            <a:solidFill>
              <a:srgbClr val="FFFFFF"/>
            </a:solidFill>
            <a:prstDash val="solid"/>
          </a:ln>
        </p:spPr>
      </p:sp>
      <p:sp>
        <p:nvSpPr>
          <p:cNvPr id="39" name="Shape 30"/>
          <p:cNvSpPr/>
          <p:nvPr/>
        </p:nvSpPr>
        <p:spPr>
          <a:xfrm>
            <a:off x="1463040" y="2272037"/>
            <a:ext cx="3200400" cy="45720"/>
          </a:xfrm>
          <a:prstGeom prst="rect">
            <a:avLst/>
          </a:prstGeom>
          <a:solidFill>
            <a:srgbClr val="673AB7"/>
          </a:solidFill>
          <a:ln w="12700">
            <a:solidFill>
              <a:srgbClr val="673AB7"/>
            </a:solidFill>
            <a:prstDash val="solid"/>
          </a:ln>
        </p:spPr>
      </p:sp>
      <p:sp>
        <p:nvSpPr>
          <p:cNvPr id="40" name="Text 31"/>
          <p:cNvSpPr txBox="1"/>
          <p:nvPr/>
        </p:nvSpPr>
        <p:spPr>
          <a:xfrm>
            <a:off x="1572768" y="2345189"/>
            <a:ext cx="3017520" cy="25603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Usulan Buku Perpustakaan</a:t>
            </a:r>
            <a:endParaRPr lang="en-US" sz="1300" dirty="0"/>
          </a:p>
        </p:txBody>
      </p:sp>
      <p:sp>
        <p:nvSpPr>
          <p:cNvPr id="41" name="Text 32"/>
          <p:cNvSpPr txBox="1"/>
          <p:nvPr/>
        </p:nvSpPr>
        <p:spPr>
          <a:xfrm>
            <a:off x="1572768" y="2601221"/>
            <a:ext cx="3017520" cy="182880"/>
          </a:xfrm>
          <a:prstGeom prst="rect">
            <a:avLst/>
          </a:prstGeom>
          <a:noFill/>
          <a:ln/>
        </p:spPr>
        <p:txBody>
          <a:bodyPr wrap="square" lIns="0" tIns="0" rIns="0" bIns="0" rtlCol="0" anchor="t"/>
          <a:lstStyle/>
          <a:p>
            <a:pPr indent="0" marL="0">
              <a:buNone/>
            </a:pPr>
            <a:r>
              <a:rPr lang="en-US" sz="750" dirty="0">
                <a:solidFill>
                  <a:srgbClr val="333333"/>
                </a:solidFill>
                <a:latin typeface="Calibri" pitchFamily="34" charset="0"/>
                <a:ea typeface="Calibri" pitchFamily="34" charset="-122"/>
                <a:cs typeface="Calibri" pitchFamily="34" charset="-120"/>
              </a:rPr>
              <a:t>Usulkan buku yang ingin kamu baca. Tanpa nama dan data pribadi.</a:t>
            </a:r>
            <a:endParaRPr lang="en-US" sz="750" dirty="0"/>
          </a:p>
        </p:txBody>
      </p:sp>
      <p:sp>
        <p:nvSpPr>
          <p:cNvPr id="42" name="Shape 33"/>
          <p:cNvSpPr/>
          <p:nvPr/>
        </p:nvSpPr>
        <p:spPr>
          <a:xfrm>
            <a:off x="1463040" y="2893829"/>
            <a:ext cx="3200400" cy="585216"/>
          </a:xfrm>
          <a:prstGeom prst="roundRect">
            <a:avLst>
              <a:gd name="adj" fmla="val 7813"/>
            </a:avLst>
          </a:prstGeom>
          <a:solidFill>
            <a:srgbClr val="FFFFFF"/>
          </a:solidFill>
          <a:ln w="12700">
            <a:solidFill>
              <a:srgbClr val="FFFFFF"/>
            </a:solidFill>
            <a:prstDash val="solid"/>
          </a:ln>
        </p:spPr>
      </p:sp>
      <p:sp>
        <p:nvSpPr>
          <p:cNvPr id="43" name="Text 34"/>
          <p:cNvSpPr txBox="1"/>
          <p:nvPr/>
        </p:nvSpPr>
        <p:spPr>
          <a:xfrm>
            <a:off x="1572768" y="2966981"/>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Judul buku *</a:t>
            </a:r>
            <a:endParaRPr lang="en-US" sz="850" dirty="0"/>
          </a:p>
        </p:txBody>
      </p:sp>
      <p:sp>
        <p:nvSpPr>
          <p:cNvPr id="44" name="Shape 35"/>
          <p:cNvSpPr/>
          <p:nvPr/>
        </p:nvSpPr>
        <p:spPr>
          <a:xfrm>
            <a:off x="1591056" y="3351029"/>
            <a:ext cx="1760220" cy="0"/>
          </a:xfrm>
          <a:prstGeom prst="line">
            <a:avLst/>
          </a:prstGeom>
          <a:noFill/>
          <a:ln w="9525">
            <a:solidFill>
              <a:srgbClr val="BBBBBB"/>
            </a:solidFill>
            <a:prstDash val="dash"/>
          </a:ln>
        </p:spPr>
      </p:sp>
      <p:sp>
        <p:nvSpPr>
          <p:cNvPr id="45" name="Text 36"/>
          <p:cNvSpPr txBox="1"/>
          <p:nvPr/>
        </p:nvSpPr>
        <p:spPr>
          <a:xfrm>
            <a:off x="1591056" y="3223013"/>
            <a:ext cx="1828800" cy="128016"/>
          </a:xfrm>
          <a:prstGeom prst="rect">
            <a:avLst/>
          </a:prstGeom>
          <a:noFill/>
          <a:ln/>
        </p:spPr>
        <p:txBody>
          <a:bodyPr wrap="square" lIns="0" tIns="0" rIns="0" bIns="0" rtlCol="0" anchor="t"/>
          <a:lstStyle/>
          <a:p>
            <a:pPr indent="0" marL="0">
              <a:buNone/>
            </a:pPr>
            <a:r>
              <a:rPr lang="en-US" sz="650" dirty="0">
                <a:solidFill>
                  <a:srgbClr val="888888"/>
                </a:solidFill>
                <a:latin typeface="Calibri" pitchFamily="34" charset="0"/>
                <a:ea typeface="Calibri" pitchFamily="34" charset="-122"/>
                <a:cs typeface="Calibri" pitchFamily="34" charset="-120"/>
              </a:rPr>
              <a:t>Short answer text</a:t>
            </a:r>
            <a:endParaRPr lang="en-US" sz="650" dirty="0"/>
          </a:p>
        </p:txBody>
      </p:sp>
      <p:sp>
        <p:nvSpPr>
          <p:cNvPr id="46" name="Shape 37"/>
          <p:cNvSpPr/>
          <p:nvPr/>
        </p:nvSpPr>
        <p:spPr>
          <a:xfrm>
            <a:off x="1463040" y="3552197"/>
            <a:ext cx="3200400" cy="1234440"/>
          </a:xfrm>
          <a:prstGeom prst="roundRect">
            <a:avLst>
              <a:gd name="adj" fmla="val 3704"/>
            </a:avLst>
          </a:prstGeom>
          <a:solidFill>
            <a:srgbClr val="FFFFFF"/>
          </a:solidFill>
          <a:ln w="12700">
            <a:solidFill>
              <a:srgbClr val="FFFFFF"/>
            </a:solidFill>
            <a:prstDash val="solid"/>
          </a:ln>
        </p:spPr>
      </p:sp>
      <p:sp>
        <p:nvSpPr>
          <p:cNvPr id="47" name="Shape 38"/>
          <p:cNvSpPr/>
          <p:nvPr/>
        </p:nvSpPr>
        <p:spPr>
          <a:xfrm>
            <a:off x="1463040" y="3552197"/>
            <a:ext cx="36576" cy="1234440"/>
          </a:xfrm>
          <a:prstGeom prst="rect">
            <a:avLst/>
          </a:prstGeom>
          <a:solidFill>
            <a:srgbClr val="4285F4"/>
          </a:solidFill>
          <a:ln w="12700">
            <a:solidFill>
              <a:srgbClr val="4285F4"/>
            </a:solidFill>
            <a:prstDash val="solid"/>
          </a:ln>
        </p:spPr>
      </p:sp>
      <p:sp>
        <p:nvSpPr>
          <p:cNvPr id="48" name="Text 39"/>
          <p:cNvSpPr txBox="1"/>
          <p:nvPr/>
        </p:nvSpPr>
        <p:spPr>
          <a:xfrm>
            <a:off x="1572768" y="3625349"/>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Kategori *</a:t>
            </a:r>
            <a:endParaRPr lang="en-US" sz="850" dirty="0"/>
          </a:p>
        </p:txBody>
      </p:sp>
      <p:sp>
        <p:nvSpPr>
          <p:cNvPr id="49" name="Shape 40"/>
          <p:cNvSpPr/>
          <p:nvPr/>
        </p:nvSpPr>
        <p:spPr>
          <a:xfrm>
            <a:off x="3520440" y="3616205"/>
            <a:ext cx="1051560" cy="219456"/>
          </a:xfrm>
          <a:prstGeom prst="roundRect">
            <a:avLst>
              <a:gd name="adj" fmla="val 12500"/>
            </a:avLst>
          </a:prstGeom>
          <a:solidFill>
            <a:srgbClr val="FFFFFF"/>
          </a:solidFill>
          <a:ln w="9525">
            <a:solidFill>
              <a:srgbClr val="CCCCCC"/>
            </a:solidFill>
            <a:prstDash val="solid"/>
          </a:ln>
        </p:spPr>
      </p:sp>
      <p:sp>
        <p:nvSpPr>
          <p:cNvPr id="50" name="Text 41"/>
          <p:cNvSpPr txBox="1"/>
          <p:nvPr/>
        </p:nvSpPr>
        <p:spPr>
          <a:xfrm>
            <a:off x="3566160" y="3616205"/>
            <a:ext cx="1005840" cy="219456"/>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Dropdown ▾</a:t>
            </a:r>
            <a:endParaRPr lang="en-US" sz="700" dirty="0"/>
          </a:p>
        </p:txBody>
      </p:sp>
      <p:sp>
        <p:nvSpPr>
          <p:cNvPr id="51" name="Shape 42"/>
          <p:cNvSpPr/>
          <p:nvPr/>
        </p:nvSpPr>
        <p:spPr>
          <a:xfrm>
            <a:off x="1591056" y="3927101"/>
            <a:ext cx="91440" cy="91440"/>
          </a:xfrm>
          <a:prstGeom prst="ellipse">
            <a:avLst/>
          </a:prstGeom>
          <a:solidFill>
            <a:srgbClr val="FFFFFF"/>
          </a:solidFill>
          <a:ln w="9525">
            <a:solidFill>
              <a:srgbClr val="888888"/>
            </a:solidFill>
            <a:prstDash val="solid"/>
          </a:ln>
        </p:spPr>
      </p:sp>
      <p:sp>
        <p:nvSpPr>
          <p:cNvPr id="52" name="Text 43"/>
          <p:cNvSpPr txBox="1"/>
          <p:nvPr/>
        </p:nvSpPr>
        <p:spPr>
          <a:xfrm>
            <a:off x="1737360" y="3899669"/>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Sirah</a:t>
            </a:r>
            <a:endParaRPr lang="en-US" sz="750" dirty="0"/>
          </a:p>
        </p:txBody>
      </p:sp>
      <p:sp>
        <p:nvSpPr>
          <p:cNvPr id="53" name="Shape 44"/>
          <p:cNvSpPr/>
          <p:nvPr/>
        </p:nvSpPr>
        <p:spPr>
          <a:xfrm>
            <a:off x="1591056" y="4082549"/>
            <a:ext cx="91440" cy="91440"/>
          </a:xfrm>
          <a:prstGeom prst="ellipse">
            <a:avLst/>
          </a:prstGeom>
          <a:solidFill>
            <a:srgbClr val="FFFFFF"/>
          </a:solidFill>
          <a:ln w="9525">
            <a:solidFill>
              <a:srgbClr val="888888"/>
            </a:solidFill>
            <a:prstDash val="solid"/>
          </a:ln>
        </p:spPr>
      </p:sp>
      <p:sp>
        <p:nvSpPr>
          <p:cNvPr id="54" name="Text 45"/>
          <p:cNvSpPr txBox="1"/>
          <p:nvPr/>
        </p:nvSpPr>
        <p:spPr>
          <a:xfrm>
            <a:off x="1737360" y="4055117"/>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Fiqih</a:t>
            </a:r>
            <a:endParaRPr lang="en-US" sz="750" dirty="0"/>
          </a:p>
        </p:txBody>
      </p:sp>
      <p:sp>
        <p:nvSpPr>
          <p:cNvPr id="55" name="Shape 46"/>
          <p:cNvSpPr/>
          <p:nvPr/>
        </p:nvSpPr>
        <p:spPr>
          <a:xfrm>
            <a:off x="1591056" y="4237997"/>
            <a:ext cx="91440" cy="91440"/>
          </a:xfrm>
          <a:prstGeom prst="ellipse">
            <a:avLst/>
          </a:prstGeom>
          <a:solidFill>
            <a:srgbClr val="FFFFFF"/>
          </a:solidFill>
          <a:ln w="9525">
            <a:solidFill>
              <a:srgbClr val="888888"/>
            </a:solidFill>
            <a:prstDash val="solid"/>
          </a:ln>
        </p:spPr>
      </p:sp>
      <p:sp>
        <p:nvSpPr>
          <p:cNvPr id="56" name="Text 47"/>
          <p:cNvSpPr txBox="1"/>
          <p:nvPr/>
        </p:nvSpPr>
        <p:spPr>
          <a:xfrm>
            <a:off x="1737360" y="4210565"/>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Sains</a:t>
            </a:r>
            <a:endParaRPr lang="en-US" sz="750" dirty="0"/>
          </a:p>
        </p:txBody>
      </p:sp>
      <p:sp>
        <p:nvSpPr>
          <p:cNvPr id="57" name="Shape 48"/>
          <p:cNvSpPr/>
          <p:nvPr/>
        </p:nvSpPr>
        <p:spPr>
          <a:xfrm>
            <a:off x="1591056" y="4393445"/>
            <a:ext cx="91440" cy="91440"/>
          </a:xfrm>
          <a:prstGeom prst="ellipse">
            <a:avLst/>
          </a:prstGeom>
          <a:solidFill>
            <a:srgbClr val="FFFFFF"/>
          </a:solidFill>
          <a:ln w="9525">
            <a:solidFill>
              <a:srgbClr val="888888"/>
            </a:solidFill>
            <a:prstDash val="solid"/>
          </a:ln>
        </p:spPr>
      </p:sp>
      <p:sp>
        <p:nvSpPr>
          <p:cNvPr id="58" name="Text 49"/>
          <p:cNvSpPr txBox="1"/>
          <p:nvPr/>
        </p:nvSpPr>
        <p:spPr>
          <a:xfrm>
            <a:off x="1737360" y="4366013"/>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Novel</a:t>
            </a:r>
            <a:endParaRPr lang="en-US" sz="750" dirty="0"/>
          </a:p>
        </p:txBody>
      </p:sp>
      <p:sp>
        <p:nvSpPr>
          <p:cNvPr id="59" name="Shape 50"/>
          <p:cNvSpPr/>
          <p:nvPr/>
        </p:nvSpPr>
        <p:spPr>
          <a:xfrm>
            <a:off x="1554480" y="4512317"/>
            <a:ext cx="3017520" cy="0"/>
          </a:xfrm>
          <a:prstGeom prst="line">
            <a:avLst/>
          </a:prstGeom>
          <a:noFill/>
          <a:ln w="9525">
            <a:solidFill>
              <a:srgbClr val="E0E0E0"/>
            </a:solidFill>
            <a:prstDash val="solid"/>
          </a:ln>
        </p:spPr>
      </p:sp>
      <p:sp>
        <p:nvSpPr>
          <p:cNvPr id="60" name="Text 51"/>
          <p:cNvSpPr txBox="1"/>
          <p:nvPr/>
        </p:nvSpPr>
        <p:spPr>
          <a:xfrm>
            <a:off x="3840480" y="4548893"/>
            <a:ext cx="4572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Required</a:t>
            </a:r>
            <a:endParaRPr lang="en-US" sz="700" dirty="0"/>
          </a:p>
        </p:txBody>
      </p:sp>
      <p:sp>
        <p:nvSpPr>
          <p:cNvPr id="61" name="Shape 52"/>
          <p:cNvSpPr/>
          <p:nvPr/>
        </p:nvSpPr>
        <p:spPr>
          <a:xfrm>
            <a:off x="4315968" y="4585469"/>
            <a:ext cx="237744" cy="109728"/>
          </a:xfrm>
          <a:prstGeom prst="roundRect">
            <a:avLst>
              <a:gd name="adj" fmla="val 50000"/>
            </a:avLst>
          </a:prstGeom>
          <a:solidFill>
            <a:srgbClr val="B39DDB"/>
          </a:solidFill>
          <a:ln w="12700">
            <a:solidFill>
              <a:srgbClr val="B39DDB"/>
            </a:solidFill>
            <a:prstDash val="solid"/>
          </a:ln>
        </p:spPr>
      </p:sp>
      <p:sp>
        <p:nvSpPr>
          <p:cNvPr id="62" name="Shape 53"/>
          <p:cNvSpPr/>
          <p:nvPr/>
        </p:nvSpPr>
        <p:spPr>
          <a:xfrm>
            <a:off x="4443984" y="4567181"/>
            <a:ext cx="146304" cy="146304"/>
          </a:xfrm>
          <a:prstGeom prst="ellipse">
            <a:avLst/>
          </a:prstGeom>
          <a:solidFill>
            <a:srgbClr val="673AB7"/>
          </a:solidFill>
          <a:ln w="6350">
            <a:solidFill>
              <a:srgbClr val="999999"/>
            </a:solidFill>
            <a:prstDash val="solid"/>
          </a:ln>
        </p:spPr>
      </p:sp>
      <p:sp>
        <p:nvSpPr>
          <p:cNvPr id="63" name="Shape 54"/>
          <p:cNvSpPr/>
          <p:nvPr/>
        </p:nvSpPr>
        <p:spPr>
          <a:xfrm>
            <a:off x="4736592" y="2884685"/>
            <a:ext cx="274320" cy="1005840"/>
          </a:xfrm>
          <a:prstGeom prst="roundRect">
            <a:avLst>
              <a:gd name="adj" fmla="val 16667"/>
            </a:avLst>
          </a:prstGeom>
          <a:solidFill>
            <a:srgbClr val="FFFFFF"/>
          </a:solidFill>
          <a:ln w="12700">
            <a:solidFill>
              <a:srgbClr val="FFFFFF"/>
            </a:solidFill>
            <a:prstDash val="solid"/>
          </a:ln>
        </p:spPr>
      </p:sp>
      <p:sp>
        <p:nvSpPr>
          <p:cNvPr id="64" name="Text 55"/>
          <p:cNvSpPr txBox="1"/>
          <p:nvPr/>
        </p:nvSpPr>
        <p:spPr>
          <a:xfrm>
            <a:off x="4736592" y="2902973"/>
            <a:ext cx="274320" cy="237744"/>
          </a:xfrm>
          <a:prstGeom prst="rect">
            <a:avLst/>
          </a:prstGeom>
          <a:noFill/>
          <a:ln/>
        </p:spPr>
        <p:txBody>
          <a:bodyPr wrap="square" lIns="0" tIns="0" rIns="0" bIns="0" rtlCol="0" anchor="ctr"/>
          <a:lstStyle/>
          <a:p>
            <a:pPr algn="ct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65" name="Text 56"/>
          <p:cNvSpPr txBox="1"/>
          <p:nvPr/>
        </p:nvSpPr>
        <p:spPr>
          <a:xfrm>
            <a:off x="4736592" y="3159005"/>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T</a:t>
            </a:r>
            <a:endParaRPr lang="en-US" sz="800" dirty="0"/>
          </a:p>
        </p:txBody>
      </p:sp>
      <p:sp>
        <p:nvSpPr>
          <p:cNvPr id="66" name="Text 57"/>
          <p:cNvSpPr txBox="1"/>
          <p:nvPr/>
        </p:nvSpPr>
        <p:spPr>
          <a:xfrm>
            <a:off x="4736592" y="3332741"/>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7" name="Text 58"/>
          <p:cNvSpPr txBox="1"/>
          <p:nvPr/>
        </p:nvSpPr>
        <p:spPr>
          <a:xfrm>
            <a:off x="4736592" y="3506477"/>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8" name="Text 59"/>
          <p:cNvSpPr txBox="1"/>
          <p:nvPr/>
        </p:nvSpPr>
        <p:spPr>
          <a:xfrm>
            <a:off x="4736592" y="3680213"/>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9" name="Shape 60"/>
          <p:cNvSpPr/>
          <p:nvPr/>
        </p:nvSpPr>
        <p:spPr>
          <a:xfrm>
            <a:off x="1435608" y="2244605"/>
            <a:ext cx="3255264" cy="603504"/>
          </a:xfrm>
          <a:prstGeom prst="roundRect">
            <a:avLst>
              <a:gd name="adj" fmla="val 7576"/>
            </a:avLst>
          </a:prstGeom>
          <a:solidFill>
            <a:srgbClr val="FFFFFF">
              <a:alpha val="0"/>
            </a:srgbClr>
          </a:solidFill>
          <a:ln w="31750">
            <a:solidFill>
              <a:srgbClr val="E53935"/>
            </a:solidFill>
            <a:prstDash val="solid"/>
          </a:ln>
        </p:spPr>
      </p:sp>
      <p:sp>
        <p:nvSpPr>
          <p:cNvPr id="70" name="Shape 61"/>
          <p:cNvSpPr/>
          <p:nvPr/>
        </p:nvSpPr>
        <p:spPr>
          <a:xfrm>
            <a:off x="4553712" y="2107445"/>
            <a:ext cx="274320" cy="274320"/>
          </a:xfrm>
          <a:prstGeom prst="ellipse">
            <a:avLst/>
          </a:prstGeom>
          <a:solidFill>
            <a:srgbClr val="E53935"/>
          </a:solidFill>
          <a:ln w="12700">
            <a:solidFill>
              <a:srgbClr val="FFFFFF"/>
            </a:solidFill>
            <a:prstDash val="solid"/>
          </a:ln>
        </p:spPr>
      </p:sp>
      <p:sp>
        <p:nvSpPr>
          <p:cNvPr id="71" name="Text 62"/>
          <p:cNvSpPr txBox="1"/>
          <p:nvPr/>
        </p:nvSpPr>
        <p:spPr>
          <a:xfrm>
            <a:off x="4553712" y="21074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2" name="Image 7" descr="preencoded.png">    </p:cNvPr>
          <p:cNvPicPr>
            <a:picLocks noChangeAspect="1"/>
          </p:cNvPicPr>
          <p:nvPr/>
        </p:nvPicPr>
        <p:blipFill>
          <a:blip r:embed="rId8"/>
          <a:stretch>
            <a:fillRect/>
          </a:stretch>
        </p:blipFill>
        <p:spPr>
          <a:xfrm>
            <a:off x="3223260" y="2573789"/>
            <a:ext cx="237744" cy="237744"/>
          </a:xfrm>
          <a:prstGeom prst="rect">
            <a:avLst/>
          </a:prstGeom>
        </p:spPr>
      </p:pic>
      <p:sp>
        <p:nvSpPr>
          <p:cNvPr id="73" name="Shape 63"/>
          <p:cNvSpPr/>
          <p:nvPr/>
        </p:nvSpPr>
        <p:spPr>
          <a:xfrm>
            <a:off x="1435608" y="3524765"/>
            <a:ext cx="3255264" cy="1289304"/>
          </a:xfrm>
          <a:prstGeom prst="roundRect">
            <a:avLst>
              <a:gd name="adj" fmla="val 3546"/>
            </a:avLst>
          </a:prstGeom>
          <a:solidFill>
            <a:srgbClr val="FFFFFF">
              <a:alpha val="0"/>
            </a:srgbClr>
          </a:solidFill>
          <a:ln w="31750">
            <a:solidFill>
              <a:srgbClr val="E53935"/>
            </a:solidFill>
            <a:prstDash val="solid"/>
          </a:ln>
        </p:spPr>
      </p:sp>
      <p:sp>
        <p:nvSpPr>
          <p:cNvPr id="74" name="Shape 64"/>
          <p:cNvSpPr/>
          <p:nvPr/>
        </p:nvSpPr>
        <p:spPr>
          <a:xfrm>
            <a:off x="4553712" y="3387605"/>
            <a:ext cx="274320" cy="274320"/>
          </a:xfrm>
          <a:prstGeom prst="ellipse">
            <a:avLst/>
          </a:prstGeom>
          <a:solidFill>
            <a:srgbClr val="E53935"/>
          </a:solidFill>
          <a:ln w="12700">
            <a:solidFill>
              <a:srgbClr val="FFFFFF"/>
            </a:solidFill>
            <a:prstDash val="solid"/>
          </a:ln>
        </p:spPr>
      </p:sp>
      <p:sp>
        <p:nvSpPr>
          <p:cNvPr id="75" name="Text 65"/>
          <p:cNvSpPr txBox="1"/>
          <p:nvPr/>
        </p:nvSpPr>
        <p:spPr>
          <a:xfrm>
            <a:off x="4553712" y="33876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6" name="Image 8" descr="preencoded.png">    </p:cNvPr>
          <p:cNvPicPr>
            <a:picLocks noChangeAspect="1"/>
          </p:cNvPicPr>
          <p:nvPr/>
        </p:nvPicPr>
        <p:blipFill>
          <a:blip r:embed="rId9"/>
          <a:stretch>
            <a:fillRect/>
          </a:stretch>
        </p:blipFill>
        <p:spPr>
          <a:xfrm>
            <a:off x="3223260" y="4231139"/>
            <a:ext cx="237744" cy="237744"/>
          </a:xfrm>
          <a:prstGeom prst="rect">
            <a:avLst/>
          </a:prstGeom>
        </p:spPr>
      </p:pic>
      <p:sp>
        <p:nvSpPr>
          <p:cNvPr id="77"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78"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Data: formulir siap dan terhubung ke Sheets</a:t>
            </a:r>
            <a:endParaRPr lang="en-US" sz="1800" dirty="0"/>
          </a:p>
        </p:txBody>
      </p:sp>
      <p:sp>
        <p:nvSpPr>
          <p:cNvPr id="79"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Buat formulir usulan (judul buku, kategori, alasan). Tanpa data pribadi. Responses › Link to Sheets. Isi 5 data uji fiktif.</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Data &amp; Dashboard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Usulan Buku Perpustakaan (Responses)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Usulan Buku Perpustakaan (Responses)</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6400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483888" y="2573789"/>
            <a:ext cx="640080" cy="119299"/>
          </a:xfrm>
          <a:prstGeom prst="rect">
            <a:avLst/>
          </a:prstGeom>
          <a:solidFill>
            <a:srgbClr val="F8F9FA"/>
          </a:solidFill>
          <a:ln w="6350">
            <a:solidFill>
              <a:srgbClr val="DDDDDD"/>
            </a:solidFill>
            <a:prstDash val="solid"/>
          </a:ln>
        </p:spPr>
      </p:sp>
      <p:sp>
        <p:nvSpPr>
          <p:cNvPr id="64" name="Text 56"/>
          <p:cNvSpPr txBox="1"/>
          <p:nvPr/>
        </p:nvSpPr>
        <p:spPr>
          <a:xfrm>
            <a:off x="148388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2396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12396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76404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76404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404128" y="2573789"/>
            <a:ext cx="640080" cy="119299"/>
          </a:xfrm>
          <a:prstGeom prst="rect">
            <a:avLst/>
          </a:prstGeom>
          <a:solidFill>
            <a:srgbClr val="F8F9FA"/>
          </a:solidFill>
          <a:ln w="6350">
            <a:solidFill>
              <a:srgbClr val="DDDDDD"/>
            </a:solidFill>
            <a:prstDash val="solid"/>
          </a:ln>
        </p:spPr>
      </p:sp>
      <p:sp>
        <p:nvSpPr>
          <p:cNvPr id="70" name="Text 62"/>
          <p:cNvSpPr txBox="1"/>
          <p:nvPr/>
        </p:nvSpPr>
        <p:spPr>
          <a:xfrm>
            <a:off x="34041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4044208" y="2573789"/>
            <a:ext cx="640080" cy="119299"/>
          </a:xfrm>
          <a:prstGeom prst="rect">
            <a:avLst/>
          </a:prstGeom>
          <a:solidFill>
            <a:srgbClr val="F8F9FA"/>
          </a:solidFill>
          <a:ln w="6350">
            <a:solidFill>
              <a:srgbClr val="DDDDDD"/>
            </a:solidFill>
            <a:prstDash val="solid"/>
          </a:ln>
        </p:spPr>
      </p:sp>
      <p:sp>
        <p:nvSpPr>
          <p:cNvPr id="72" name="Text 64"/>
          <p:cNvSpPr txBox="1"/>
          <p:nvPr/>
        </p:nvSpPr>
        <p:spPr>
          <a:xfrm>
            <a:off x="40442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640080" cy="119299"/>
          </a:xfrm>
          <a:prstGeom prst="rect">
            <a:avLst/>
          </a:prstGeom>
          <a:solidFill>
            <a:srgbClr val="FFFFFF"/>
          </a:solidFill>
          <a:ln w="6350">
            <a:solidFill>
              <a:srgbClr val="E2E2E2"/>
            </a:solidFill>
            <a:prstDash val="solid"/>
          </a:ln>
        </p:spPr>
      </p:sp>
      <p:sp>
        <p:nvSpPr>
          <p:cNvPr id="76" name="Shape 68"/>
          <p:cNvSpPr/>
          <p:nvPr/>
        </p:nvSpPr>
        <p:spPr>
          <a:xfrm>
            <a:off x="1483888" y="2693089"/>
            <a:ext cx="640080" cy="119299"/>
          </a:xfrm>
          <a:prstGeom prst="rect">
            <a:avLst/>
          </a:prstGeom>
          <a:solidFill>
            <a:srgbClr val="FFFFFF"/>
          </a:solidFill>
          <a:ln w="6350">
            <a:solidFill>
              <a:srgbClr val="E2E2E2"/>
            </a:solidFill>
            <a:prstDash val="solid"/>
          </a:ln>
        </p:spPr>
      </p:sp>
      <p:sp>
        <p:nvSpPr>
          <p:cNvPr id="77" name="Shape 69"/>
          <p:cNvSpPr/>
          <p:nvPr/>
        </p:nvSpPr>
        <p:spPr>
          <a:xfrm>
            <a:off x="2123968" y="2693089"/>
            <a:ext cx="640080" cy="119299"/>
          </a:xfrm>
          <a:prstGeom prst="rect">
            <a:avLst/>
          </a:prstGeom>
          <a:solidFill>
            <a:srgbClr val="FFFFFF"/>
          </a:solidFill>
          <a:ln w="6350">
            <a:solidFill>
              <a:srgbClr val="E2E2E2"/>
            </a:solidFill>
            <a:prstDash val="solid"/>
          </a:ln>
        </p:spPr>
      </p:sp>
      <p:sp>
        <p:nvSpPr>
          <p:cNvPr id="78" name="Shape 70"/>
          <p:cNvSpPr/>
          <p:nvPr/>
        </p:nvSpPr>
        <p:spPr>
          <a:xfrm>
            <a:off x="2764048" y="2693089"/>
            <a:ext cx="640080" cy="119299"/>
          </a:xfrm>
          <a:prstGeom prst="rect">
            <a:avLst/>
          </a:prstGeom>
          <a:solidFill>
            <a:srgbClr val="FFFFFF"/>
          </a:solidFill>
          <a:ln w="6350">
            <a:solidFill>
              <a:srgbClr val="E2E2E2"/>
            </a:solidFill>
            <a:prstDash val="solid"/>
          </a:ln>
        </p:spPr>
      </p:sp>
      <p:sp>
        <p:nvSpPr>
          <p:cNvPr id="79" name="Shape 71"/>
          <p:cNvSpPr/>
          <p:nvPr/>
        </p:nvSpPr>
        <p:spPr>
          <a:xfrm>
            <a:off x="3404128" y="2693089"/>
            <a:ext cx="640080" cy="119299"/>
          </a:xfrm>
          <a:prstGeom prst="rect">
            <a:avLst/>
          </a:prstGeom>
          <a:solidFill>
            <a:srgbClr val="FFFFFF"/>
          </a:solidFill>
          <a:ln w="6350">
            <a:solidFill>
              <a:srgbClr val="E2E2E2"/>
            </a:solidFill>
            <a:prstDash val="solid"/>
          </a:ln>
        </p:spPr>
      </p:sp>
      <p:sp>
        <p:nvSpPr>
          <p:cNvPr id="80" name="Shape 72"/>
          <p:cNvSpPr/>
          <p:nvPr/>
        </p:nvSpPr>
        <p:spPr>
          <a:xfrm>
            <a:off x="4044208" y="2693089"/>
            <a:ext cx="640080" cy="119299"/>
          </a:xfrm>
          <a:prstGeom prst="rect">
            <a:avLst/>
          </a:prstGeom>
          <a:solidFill>
            <a:srgbClr val="FFFFFF"/>
          </a:solidFill>
          <a:ln w="6350">
            <a:solidFill>
              <a:srgbClr val="E2E2E2"/>
            </a:solidFill>
            <a:prstDash val="solid"/>
          </a:ln>
        </p:spPr>
      </p:sp>
      <p:sp>
        <p:nvSpPr>
          <p:cNvPr id="81" name="Shape 73"/>
          <p:cNvSpPr/>
          <p:nvPr/>
        </p:nvSpPr>
        <p:spPr>
          <a:xfrm>
            <a:off x="587776" y="2812388"/>
            <a:ext cx="256032" cy="119299"/>
          </a:xfrm>
          <a:prstGeom prst="rect">
            <a:avLst/>
          </a:prstGeom>
          <a:solidFill>
            <a:srgbClr val="F8F9FA"/>
          </a:solidFill>
          <a:ln w="6350">
            <a:solidFill>
              <a:srgbClr val="DDDDDD"/>
            </a:solidFill>
            <a:prstDash val="solid"/>
          </a:ln>
        </p:spPr>
      </p:sp>
      <p:sp>
        <p:nvSpPr>
          <p:cNvPr id="82" name="Text 74"/>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3" name="Shape 75"/>
          <p:cNvSpPr/>
          <p:nvPr/>
        </p:nvSpPr>
        <p:spPr>
          <a:xfrm>
            <a:off x="843808" y="2812388"/>
            <a:ext cx="640080" cy="119299"/>
          </a:xfrm>
          <a:prstGeom prst="rect">
            <a:avLst/>
          </a:prstGeom>
          <a:solidFill>
            <a:srgbClr val="FFFFFF"/>
          </a:solidFill>
          <a:ln w="6350">
            <a:solidFill>
              <a:srgbClr val="E2E2E2"/>
            </a:solidFill>
            <a:prstDash val="solid"/>
          </a:ln>
        </p:spPr>
      </p:sp>
      <p:sp>
        <p:nvSpPr>
          <p:cNvPr id="84" name="Shape 76"/>
          <p:cNvSpPr/>
          <p:nvPr/>
        </p:nvSpPr>
        <p:spPr>
          <a:xfrm>
            <a:off x="1483888" y="2812388"/>
            <a:ext cx="640080" cy="119299"/>
          </a:xfrm>
          <a:prstGeom prst="rect">
            <a:avLst/>
          </a:prstGeom>
          <a:solidFill>
            <a:srgbClr val="FFFFFF"/>
          </a:solidFill>
          <a:ln w="6350">
            <a:solidFill>
              <a:srgbClr val="E2E2E2"/>
            </a:solidFill>
            <a:prstDash val="solid"/>
          </a:ln>
        </p:spPr>
      </p:sp>
      <p:sp>
        <p:nvSpPr>
          <p:cNvPr id="85" name="Shape 77"/>
          <p:cNvSpPr/>
          <p:nvPr/>
        </p:nvSpPr>
        <p:spPr>
          <a:xfrm>
            <a:off x="2123968" y="2812388"/>
            <a:ext cx="640080" cy="119299"/>
          </a:xfrm>
          <a:prstGeom prst="rect">
            <a:avLst/>
          </a:prstGeom>
          <a:solidFill>
            <a:srgbClr val="FFFFFF"/>
          </a:solidFill>
          <a:ln w="6350">
            <a:solidFill>
              <a:srgbClr val="E2E2E2"/>
            </a:solidFill>
            <a:prstDash val="solid"/>
          </a:ln>
        </p:spPr>
      </p:sp>
      <p:sp>
        <p:nvSpPr>
          <p:cNvPr id="86" name="Shape 78"/>
          <p:cNvSpPr/>
          <p:nvPr/>
        </p:nvSpPr>
        <p:spPr>
          <a:xfrm>
            <a:off x="2764048" y="2812388"/>
            <a:ext cx="640080" cy="119299"/>
          </a:xfrm>
          <a:prstGeom prst="rect">
            <a:avLst/>
          </a:prstGeom>
          <a:solidFill>
            <a:srgbClr val="FFFFFF"/>
          </a:solidFill>
          <a:ln w="6350">
            <a:solidFill>
              <a:srgbClr val="E2E2E2"/>
            </a:solidFill>
            <a:prstDash val="solid"/>
          </a:ln>
        </p:spPr>
      </p:sp>
      <p:sp>
        <p:nvSpPr>
          <p:cNvPr id="87" name="Shape 79"/>
          <p:cNvSpPr/>
          <p:nvPr/>
        </p:nvSpPr>
        <p:spPr>
          <a:xfrm>
            <a:off x="3404128" y="2812388"/>
            <a:ext cx="640080" cy="119299"/>
          </a:xfrm>
          <a:prstGeom prst="rect">
            <a:avLst/>
          </a:prstGeom>
          <a:solidFill>
            <a:srgbClr val="FFFFFF"/>
          </a:solidFill>
          <a:ln w="6350">
            <a:solidFill>
              <a:srgbClr val="E2E2E2"/>
            </a:solidFill>
            <a:prstDash val="solid"/>
          </a:ln>
        </p:spPr>
      </p:sp>
      <p:sp>
        <p:nvSpPr>
          <p:cNvPr id="88" name="Shape 80"/>
          <p:cNvSpPr/>
          <p:nvPr/>
        </p:nvSpPr>
        <p:spPr>
          <a:xfrm>
            <a:off x="4044208" y="2812388"/>
            <a:ext cx="640080" cy="119299"/>
          </a:xfrm>
          <a:prstGeom prst="rect">
            <a:avLst/>
          </a:prstGeom>
          <a:solidFill>
            <a:srgbClr val="FFFFFF"/>
          </a:solidFill>
          <a:ln w="6350">
            <a:solidFill>
              <a:srgbClr val="E2E2E2"/>
            </a:solidFill>
            <a:prstDash val="solid"/>
          </a:ln>
        </p:spPr>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640080" cy="119299"/>
          </a:xfrm>
          <a:prstGeom prst="rect">
            <a:avLst/>
          </a:prstGeom>
          <a:solidFill>
            <a:srgbClr val="FFFFFF"/>
          </a:solidFill>
          <a:ln w="6350">
            <a:solidFill>
              <a:srgbClr val="E2E2E2"/>
            </a:solidFill>
            <a:prstDash val="solid"/>
          </a:ln>
        </p:spPr>
      </p:sp>
      <p:sp>
        <p:nvSpPr>
          <p:cNvPr id="92" name="Shape 84"/>
          <p:cNvSpPr/>
          <p:nvPr/>
        </p:nvSpPr>
        <p:spPr>
          <a:xfrm>
            <a:off x="1483888" y="2931688"/>
            <a:ext cx="640080" cy="119299"/>
          </a:xfrm>
          <a:prstGeom prst="rect">
            <a:avLst/>
          </a:prstGeom>
          <a:solidFill>
            <a:srgbClr val="FFFFFF"/>
          </a:solidFill>
          <a:ln w="6350">
            <a:solidFill>
              <a:srgbClr val="E2E2E2"/>
            </a:solidFill>
            <a:prstDash val="solid"/>
          </a:ln>
        </p:spPr>
      </p:sp>
      <p:sp>
        <p:nvSpPr>
          <p:cNvPr id="93" name="Shape 85"/>
          <p:cNvSpPr/>
          <p:nvPr/>
        </p:nvSpPr>
        <p:spPr>
          <a:xfrm>
            <a:off x="2123968" y="2931688"/>
            <a:ext cx="640080" cy="119299"/>
          </a:xfrm>
          <a:prstGeom prst="rect">
            <a:avLst/>
          </a:prstGeom>
          <a:solidFill>
            <a:srgbClr val="FFFFFF"/>
          </a:solidFill>
          <a:ln w="6350">
            <a:solidFill>
              <a:srgbClr val="E2E2E2"/>
            </a:solidFill>
            <a:prstDash val="solid"/>
          </a:ln>
        </p:spPr>
      </p:sp>
      <p:sp>
        <p:nvSpPr>
          <p:cNvPr id="94" name="Shape 86"/>
          <p:cNvSpPr/>
          <p:nvPr/>
        </p:nvSpPr>
        <p:spPr>
          <a:xfrm>
            <a:off x="2764048" y="2931688"/>
            <a:ext cx="640080" cy="119299"/>
          </a:xfrm>
          <a:prstGeom prst="rect">
            <a:avLst/>
          </a:prstGeom>
          <a:solidFill>
            <a:srgbClr val="FFFFFF"/>
          </a:solidFill>
          <a:ln w="6350">
            <a:solidFill>
              <a:srgbClr val="E2E2E2"/>
            </a:solidFill>
            <a:prstDash val="solid"/>
          </a:ln>
        </p:spPr>
      </p:sp>
      <p:sp>
        <p:nvSpPr>
          <p:cNvPr id="95" name="Shape 87"/>
          <p:cNvSpPr/>
          <p:nvPr/>
        </p:nvSpPr>
        <p:spPr>
          <a:xfrm>
            <a:off x="3404128" y="2931688"/>
            <a:ext cx="640080" cy="119299"/>
          </a:xfrm>
          <a:prstGeom prst="rect">
            <a:avLst/>
          </a:prstGeom>
          <a:solidFill>
            <a:srgbClr val="FFFFFF"/>
          </a:solidFill>
          <a:ln w="6350">
            <a:solidFill>
              <a:srgbClr val="E2E2E2"/>
            </a:solidFill>
            <a:prstDash val="solid"/>
          </a:ln>
        </p:spPr>
      </p:sp>
      <p:sp>
        <p:nvSpPr>
          <p:cNvPr id="96" name="Shape 88"/>
          <p:cNvSpPr/>
          <p:nvPr/>
        </p:nvSpPr>
        <p:spPr>
          <a:xfrm>
            <a:off x="4044208" y="2931688"/>
            <a:ext cx="640080" cy="119299"/>
          </a:xfrm>
          <a:prstGeom prst="rect">
            <a:avLst/>
          </a:prstGeom>
          <a:solidFill>
            <a:srgbClr val="FFFFFF"/>
          </a:solidFill>
          <a:ln w="6350">
            <a:solidFill>
              <a:srgbClr val="E2E2E2"/>
            </a:solidFill>
            <a:prstDash val="solid"/>
          </a:ln>
        </p:spPr>
      </p:sp>
      <p:sp>
        <p:nvSpPr>
          <p:cNvPr id="97" name="Shape 89"/>
          <p:cNvSpPr/>
          <p:nvPr/>
        </p:nvSpPr>
        <p:spPr>
          <a:xfrm>
            <a:off x="587776" y="3050987"/>
            <a:ext cx="256032" cy="119299"/>
          </a:xfrm>
          <a:prstGeom prst="rect">
            <a:avLst/>
          </a:prstGeom>
          <a:solidFill>
            <a:srgbClr val="F8F9FA"/>
          </a:solidFill>
          <a:ln w="6350">
            <a:solidFill>
              <a:srgbClr val="DDDDDD"/>
            </a:solidFill>
            <a:prstDash val="solid"/>
          </a:ln>
        </p:spPr>
      </p:sp>
      <p:sp>
        <p:nvSpPr>
          <p:cNvPr id="98" name="Text 90"/>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9" name="Shape 91"/>
          <p:cNvSpPr/>
          <p:nvPr/>
        </p:nvSpPr>
        <p:spPr>
          <a:xfrm>
            <a:off x="843808" y="3050987"/>
            <a:ext cx="640080" cy="119299"/>
          </a:xfrm>
          <a:prstGeom prst="rect">
            <a:avLst/>
          </a:prstGeom>
          <a:solidFill>
            <a:srgbClr val="FFFFFF"/>
          </a:solidFill>
          <a:ln w="6350">
            <a:solidFill>
              <a:srgbClr val="E2E2E2"/>
            </a:solidFill>
            <a:prstDash val="solid"/>
          </a:ln>
        </p:spPr>
      </p:sp>
      <p:sp>
        <p:nvSpPr>
          <p:cNvPr id="100" name="Shape 92"/>
          <p:cNvSpPr/>
          <p:nvPr/>
        </p:nvSpPr>
        <p:spPr>
          <a:xfrm>
            <a:off x="1483888" y="3050987"/>
            <a:ext cx="640080" cy="119299"/>
          </a:xfrm>
          <a:prstGeom prst="rect">
            <a:avLst/>
          </a:prstGeom>
          <a:solidFill>
            <a:srgbClr val="FFFFFF"/>
          </a:solidFill>
          <a:ln w="6350">
            <a:solidFill>
              <a:srgbClr val="E2E2E2"/>
            </a:solidFill>
            <a:prstDash val="solid"/>
          </a:ln>
        </p:spPr>
      </p:sp>
      <p:sp>
        <p:nvSpPr>
          <p:cNvPr id="101" name="Shape 93"/>
          <p:cNvSpPr/>
          <p:nvPr/>
        </p:nvSpPr>
        <p:spPr>
          <a:xfrm>
            <a:off x="2123968" y="3050987"/>
            <a:ext cx="640080" cy="119299"/>
          </a:xfrm>
          <a:prstGeom prst="rect">
            <a:avLst/>
          </a:prstGeom>
          <a:solidFill>
            <a:srgbClr val="FFFFFF"/>
          </a:solidFill>
          <a:ln w="6350">
            <a:solidFill>
              <a:srgbClr val="E2E2E2"/>
            </a:solidFill>
            <a:prstDash val="solid"/>
          </a:ln>
        </p:spPr>
      </p:sp>
      <p:sp>
        <p:nvSpPr>
          <p:cNvPr id="102" name="Shape 94"/>
          <p:cNvSpPr/>
          <p:nvPr/>
        </p:nvSpPr>
        <p:spPr>
          <a:xfrm>
            <a:off x="2764048" y="3050987"/>
            <a:ext cx="640080" cy="119299"/>
          </a:xfrm>
          <a:prstGeom prst="rect">
            <a:avLst/>
          </a:prstGeom>
          <a:solidFill>
            <a:srgbClr val="FFFFFF"/>
          </a:solidFill>
          <a:ln w="6350">
            <a:solidFill>
              <a:srgbClr val="E2E2E2"/>
            </a:solidFill>
            <a:prstDash val="solid"/>
          </a:ln>
        </p:spPr>
      </p:sp>
      <p:sp>
        <p:nvSpPr>
          <p:cNvPr id="103" name="Shape 95"/>
          <p:cNvSpPr/>
          <p:nvPr/>
        </p:nvSpPr>
        <p:spPr>
          <a:xfrm>
            <a:off x="3404128" y="3050987"/>
            <a:ext cx="640080" cy="119299"/>
          </a:xfrm>
          <a:prstGeom prst="rect">
            <a:avLst/>
          </a:prstGeom>
          <a:solidFill>
            <a:srgbClr val="FFFFFF"/>
          </a:solidFill>
          <a:ln w="6350">
            <a:solidFill>
              <a:srgbClr val="E2E2E2"/>
            </a:solidFill>
            <a:prstDash val="solid"/>
          </a:ln>
        </p:spPr>
      </p:sp>
      <p:sp>
        <p:nvSpPr>
          <p:cNvPr id="104" name="Shape 96"/>
          <p:cNvSpPr/>
          <p:nvPr/>
        </p:nvSpPr>
        <p:spPr>
          <a:xfrm>
            <a:off x="4044208" y="3050987"/>
            <a:ext cx="640080" cy="119299"/>
          </a:xfrm>
          <a:prstGeom prst="rect">
            <a:avLst/>
          </a:prstGeom>
          <a:solidFill>
            <a:srgbClr val="FFFFFF"/>
          </a:solidFill>
          <a:ln w="6350">
            <a:solidFill>
              <a:srgbClr val="E2E2E2"/>
            </a:solidFill>
            <a:prstDash val="solid"/>
          </a:ln>
        </p:spPr>
      </p:sp>
      <p:sp>
        <p:nvSpPr>
          <p:cNvPr id="105" name="Shape 97"/>
          <p:cNvSpPr/>
          <p:nvPr/>
        </p:nvSpPr>
        <p:spPr>
          <a:xfrm>
            <a:off x="587776" y="3170287"/>
            <a:ext cx="256032" cy="119299"/>
          </a:xfrm>
          <a:prstGeom prst="rect">
            <a:avLst/>
          </a:prstGeom>
          <a:solidFill>
            <a:srgbClr val="F8F9FA"/>
          </a:solidFill>
          <a:ln w="6350">
            <a:solidFill>
              <a:srgbClr val="DDDDDD"/>
            </a:solidFill>
            <a:prstDash val="solid"/>
          </a:ln>
        </p:spPr>
      </p:sp>
      <p:sp>
        <p:nvSpPr>
          <p:cNvPr id="106" name="Text 98"/>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7" name="Shape 99"/>
          <p:cNvSpPr/>
          <p:nvPr/>
        </p:nvSpPr>
        <p:spPr>
          <a:xfrm>
            <a:off x="843808" y="3170287"/>
            <a:ext cx="640080" cy="119299"/>
          </a:xfrm>
          <a:prstGeom prst="rect">
            <a:avLst/>
          </a:prstGeom>
          <a:solidFill>
            <a:srgbClr val="FFFFFF"/>
          </a:solidFill>
          <a:ln w="6350">
            <a:solidFill>
              <a:srgbClr val="E2E2E2"/>
            </a:solidFill>
            <a:prstDash val="solid"/>
          </a:ln>
        </p:spPr>
      </p:sp>
      <p:sp>
        <p:nvSpPr>
          <p:cNvPr id="108" name="Shape 100"/>
          <p:cNvSpPr/>
          <p:nvPr/>
        </p:nvSpPr>
        <p:spPr>
          <a:xfrm>
            <a:off x="1483888" y="3170287"/>
            <a:ext cx="640080" cy="119299"/>
          </a:xfrm>
          <a:prstGeom prst="rect">
            <a:avLst/>
          </a:prstGeom>
          <a:solidFill>
            <a:srgbClr val="FFFFFF"/>
          </a:solidFill>
          <a:ln w="6350">
            <a:solidFill>
              <a:srgbClr val="E2E2E2"/>
            </a:solidFill>
            <a:prstDash val="solid"/>
          </a:ln>
        </p:spPr>
      </p:sp>
      <p:sp>
        <p:nvSpPr>
          <p:cNvPr id="109" name="Shape 101"/>
          <p:cNvSpPr/>
          <p:nvPr/>
        </p:nvSpPr>
        <p:spPr>
          <a:xfrm>
            <a:off x="2123968" y="3170287"/>
            <a:ext cx="640080" cy="119299"/>
          </a:xfrm>
          <a:prstGeom prst="rect">
            <a:avLst/>
          </a:prstGeom>
          <a:solidFill>
            <a:srgbClr val="FFFFFF"/>
          </a:solidFill>
          <a:ln w="6350">
            <a:solidFill>
              <a:srgbClr val="E2E2E2"/>
            </a:solidFill>
            <a:prstDash val="solid"/>
          </a:ln>
        </p:spPr>
      </p:sp>
      <p:sp>
        <p:nvSpPr>
          <p:cNvPr id="110" name="Shape 102"/>
          <p:cNvSpPr/>
          <p:nvPr/>
        </p:nvSpPr>
        <p:spPr>
          <a:xfrm>
            <a:off x="2764048" y="3170287"/>
            <a:ext cx="640080" cy="119299"/>
          </a:xfrm>
          <a:prstGeom prst="rect">
            <a:avLst/>
          </a:prstGeom>
          <a:solidFill>
            <a:srgbClr val="FFFFFF"/>
          </a:solidFill>
          <a:ln w="6350">
            <a:solidFill>
              <a:srgbClr val="E2E2E2"/>
            </a:solidFill>
            <a:prstDash val="solid"/>
          </a:ln>
        </p:spPr>
      </p:sp>
      <p:sp>
        <p:nvSpPr>
          <p:cNvPr id="111" name="Shape 103"/>
          <p:cNvSpPr/>
          <p:nvPr/>
        </p:nvSpPr>
        <p:spPr>
          <a:xfrm>
            <a:off x="3404128" y="3170287"/>
            <a:ext cx="640080" cy="119299"/>
          </a:xfrm>
          <a:prstGeom prst="rect">
            <a:avLst/>
          </a:prstGeom>
          <a:solidFill>
            <a:srgbClr val="FFFFFF"/>
          </a:solidFill>
          <a:ln w="6350">
            <a:solidFill>
              <a:srgbClr val="E2E2E2"/>
            </a:solidFill>
            <a:prstDash val="solid"/>
          </a:ln>
        </p:spPr>
      </p:sp>
      <p:sp>
        <p:nvSpPr>
          <p:cNvPr id="112" name="Shape 104"/>
          <p:cNvSpPr/>
          <p:nvPr/>
        </p:nvSpPr>
        <p:spPr>
          <a:xfrm>
            <a:off x="4044208" y="3170287"/>
            <a:ext cx="640080" cy="119299"/>
          </a:xfrm>
          <a:prstGeom prst="rect">
            <a:avLst/>
          </a:prstGeom>
          <a:solidFill>
            <a:srgbClr val="FFFFFF"/>
          </a:solidFill>
          <a:ln w="6350">
            <a:solidFill>
              <a:srgbClr val="E2E2E2"/>
            </a:solidFill>
            <a:prstDash val="solid"/>
          </a:ln>
        </p:spPr>
      </p:sp>
      <p:sp>
        <p:nvSpPr>
          <p:cNvPr id="113" name="Shape 105"/>
          <p:cNvSpPr/>
          <p:nvPr/>
        </p:nvSpPr>
        <p:spPr>
          <a:xfrm>
            <a:off x="587776" y="3289586"/>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5" name="Shape 107"/>
          <p:cNvSpPr/>
          <p:nvPr/>
        </p:nvSpPr>
        <p:spPr>
          <a:xfrm>
            <a:off x="843808" y="3289586"/>
            <a:ext cx="640080" cy="119299"/>
          </a:xfrm>
          <a:prstGeom prst="rect">
            <a:avLst/>
          </a:prstGeom>
          <a:solidFill>
            <a:srgbClr val="FFFFFF"/>
          </a:solidFill>
          <a:ln w="6350">
            <a:solidFill>
              <a:srgbClr val="E2E2E2"/>
            </a:solidFill>
            <a:prstDash val="solid"/>
          </a:ln>
        </p:spPr>
      </p:sp>
      <p:sp>
        <p:nvSpPr>
          <p:cNvPr id="116" name="Shape 108"/>
          <p:cNvSpPr/>
          <p:nvPr/>
        </p:nvSpPr>
        <p:spPr>
          <a:xfrm>
            <a:off x="1483888" y="3289586"/>
            <a:ext cx="640080" cy="119299"/>
          </a:xfrm>
          <a:prstGeom prst="rect">
            <a:avLst/>
          </a:prstGeom>
          <a:solidFill>
            <a:srgbClr val="FFFFFF"/>
          </a:solidFill>
          <a:ln w="6350">
            <a:solidFill>
              <a:srgbClr val="E2E2E2"/>
            </a:solidFill>
            <a:prstDash val="solid"/>
          </a:ln>
        </p:spPr>
      </p:sp>
      <p:sp>
        <p:nvSpPr>
          <p:cNvPr id="117" name="Shape 109"/>
          <p:cNvSpPr/>
          <p:nvPr/>
        </p:nvSpPr>
        <p:spPr>
          <a:xfrm>
            <a:off x="2123968" y="3289586"/>
            <a:ext cx="640080" cy="119299"/>
          </a:xfrm>
          <a:prstGeom prst="rect">
            <a:avLst/>
          </a:prstGeom>
          <a:solidFill>
            <a:srgbClr val="FFFFFF"/>
          </a:solidFill>
          <a:ln w="6350">
            <a:solidFill>
              <a:srgbClr val="E2E2E2"/>
            </a:solidFill>
            <a:prstDash val="solid"/>
          </a:ln>
        </p:spPr>
      </p:sp>
      <p:sp>
        <p:nvSpPr>
          <p:cNvPr id="118" name="Shape 110"/>
          <p:cNvSpPr/>
          <p:nvPr/>
        </p:nvSpPr>
        <p:spPr>
          <a:xfrm>
            <a:off x="2764048" y="3289586"/>
            <a:ext cx="640080" cy="119299"/>
          </a:xfrm>
          <a:prstGeom prst="rect">
            <a:avLst/>
          </a:prstGeom>
          <a:solidFill>
            <a:srgbClr val="FFFFFF"/>
          </a:solidFill>
          <a:ln w="6350">
            <a:solidFill>
              <a:srgbClr val="E2E2E2"/>
            </a:solidFill>
            <a:prstDash val="solid"/>
          </a:ln>
        </p:spPr>
      </p:sp>
      <p:sp>
        <p:nvSpPr>
          <p:cNvPr id="119" name="Shape 111"/>
          <p:cNvSpPr/>
          <p:nvPr/>
        </p:nvSpPr>
        <p:spPr>
          <a:xfrm>
            <a:off x="3404128" y="3289586"/>
            <a:ext cx="640080" cy="119299"/>
          </a:xfrm>
          <a:prstGeom prst="rect">
            <a:avLst/>
          </a:prstGeom>
          <a:solidFill>
            <a:srgbClr val="FFFFFF"/>
          </a:solidFill>
          <a:ln w="6350">
            <a:solidFill>
              <a:srgbClr val="E2E2E2"/>
            </a:solidFill>
            <a:prstDash val="solid"/>
          </a:ln>
        </p:spPr>
      </p:sp>
      <p:sp>
        <p:nvSpPr>
          <p:cNvPr id="120" name="Shape 112"/>
          <p:cNvSpPr/>
          <p:nvPr/>
        </p:nvSpPr>
        <p:spPr>
          <a:xfrm>
            <a:off x="4044208" y="3289586"/>
            <a:ext cx="640080" cy="119299"/>
          </a:xfrm>
          <a:prstGeom prst="rect">
            <a:avLst/>
          </a:prstGeom>
          <a:solidFill>
            <a:srgbClr val="FFFFFF"/>
          </a:solidFill>
          <a:ln w="6350">
            <a:solidFill>
              <a:srgbClr val="E2E2E2"/>
            </a:solidFill>
            <a:prstDash val="solid"/>
          </a:ln>
        </p:spPr>
      </p:sp>
      <p:sp>
        <p:nvSpPr>
          <p:cNvPr id="121" name="Shape 113"/>
          <p:cNvSpPr/>
          <p:nvPr/>
        </p:nvSpPr>
        <p:spPr>
          <a:xfrm>
            <a:off x="587776" y="3408885"/>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3" name="Shape 115"/>
          <p:cNvSpPr/>
          <p:nvPr/>
        </p:nvSpPr>
        <p:spPr>
          <a:xfrm>
            <a:off x="843808" y="3408885"/>
            <a:ext cx="640080" cy="119299"/>
          </a:xfrm>
          <a:prstGeom prst="rect">
            <a:avLst/>
          </a:prstGeom>
          <a:solidFill>
            <a:srgbClr val="FFFFFF"/>
          </a:solidFill>
          <a:ln w="6350">
            <a:solidFill>
              <a:srgbClr val="E2E2E2"/>
            </a:solidFill>
            <a:prstDash val="solid"/>
          </a:ln>
        </p:spPr>
      </p:sp>
      <p:sp>
        <p:nvSpPr>
          <p:cNvPr id="124" name="Shape 116"/>
          <p:cNvSpPr/>
          <p:nvPr/>
        </p:nvSpPr>
        <p:spPr>
          <a:xfrm>
            <a:off x="1483888" y="3408885"/>
            <a:ext cx="640080" cy="119299"/>
          </a:xfrm>
          <a:prstGeom prst="rect">
            <a:avLst/>
          </a:prstGeom>
          <a:solidFill>
            <a:srgbClr val="FFFFFF"/>
          </a:solidFill>
          <a:ln w="6350">
            <a:solidFill>
              <a:srgbClr val="E2E2E2"/>
            </a:solidFill>
            <a:prstDash val="solid"/>
          </a:ln>
        </p:spPr>
      </p:sp>
      <p:sp>
        <p:nvSpPr>
          <p:cNvPr id="125" name="Shape 117"/>
          <p:cNvSpPr/>
          <p:nvPr/>
        </p:nvSpPr>
        <p:spPr>
          <a:xfrm>
            <a:off x="2123968" y="3408885"/>
            <a:ext cx="640080" cy="119299"/>
          </a:xfrm>
          <a:prstGeom prst="rect">
            <a:avLst/>
          </a:prstGeom>
          <a:solidFill>
            <a:srgbClr val="FFFFFF"/>
          </a:solidFill>
          <a:ln w="6350">
            <a:solidFill>
              <a:srgbClr val="E2E2E2"/>
            </a:solidFill>
            <a:prstDash val="solid"/>
          </a:ln>
        </p:spPr>
      </p:sp>
      <p:sp>
        <p:nvSpPr>
          <p:cNvPr id="126" name="Shape 118"/>
          <p:cNvSpPr/>
          <p:nvPr/>
        </p:nvSpPr>
        <p:spPr>
          <a:xfrm>
            <a:off x="2764048" y="3408885"/>
            <a:ext cx="640080" cy="119299"/>
          </a:xfrm>
          <a:prstGeom prst="rect">
            <a:avLst/>
          </a:prstGeom>
          <a:solidFill>
            <a:srgbClr val="FFFFFF"/>
          </a:solidFill>
          <a:ln w="6350">
            <a:solidFill>
              <a:srgbClr val="E2E2E2"/>
            </a:solidFill>
            <a:prstDash val="solid"/>
          </a:ln>
        </p:spPr>
      </p:sp>
      <p:sp>
        <p:nvSpPr>
          <p:cNvPr id="127" name="Shape 119"/>
          <p:cNvSpPr/>
          <p:nvPr/>
        </p:nvSpPr>
        <p:spPr>
          <a:xfrm>
            <a:off x="3404128" y="3408885"/>
            <a:ext cx="640080" cy="119299"/>
          </a:xfrm>
          <a:prstGeom prst="rect">
            <a:avLst/>
          </a:prstGeom>
          <a:solidFill>
            <a:srgbClr val="FFFFFF"/>
          </a:solidFill>
          <a:ln w="6350">
            <a:solidFill>
              <a:srgbClr val="E2E2E2"/>
            </a:solidFill>
            <a:prstDash val="solid"/>
          </a:ln>
        </p:spPr>
      </p:sp>
      <p:sp>
        <p:nvSpPr>
          <p:cNvPr id="128" name="Shape 120"/>
          <p:cNvSpPr/>
          <p:nvPr/>
        </p:nvSpPr>
        <p:spPr>
          <a:xfrm>
            <a:off x="4044208" y="3408885"/>
            <a:ext cx="640080" cy="119299"/>
          </a:xfrm>
          <a:prstGeom prst="rect">
            <a:avLst/>
          </a:prstGeom>
          <a:solidFill>
            <a:srgbClr val="FFFFFF"/>
          </a:solidFill>
          <a:ln w="6350">
            <a:solidFill>
              <a:srgbClr val="E2E2E2"/>
            </a:solidFill>
            <a:prstDash val="solid"/>
          </a:ln>
        </p:spPr>
      </p:sp>
      <p:sp>
        <p:nvSpPr>
          <p:cNvPr id="129" name="Shape 121"/>
          <p:cNvSpPr/>
          <p:nvPr/>
        </p:nvSpPr>
        <p:spPr>
          <a:xfrm>
            <a:off x="587776" y="3528185"/>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1" name="Shape 123"/>
          <p:cNvSpPr/>
          <p:nvPr/>
        </p:nvSpPr>
        <p:spPr>
          <a:xfrm>
            <a:off x="843808" y="3528185"/>
            <a:ext cx="640080" cy="119299"/>
          </a:xfrm>
          <a:prstGeom prst="rect">
            <a:avLst/>
          </a:prstGeom>
          <a:solidFill>
            <a:srgbClr val="FFFFFF"/>
          </a:solidFill>
          <a:ln w="6350">
            <a:solidFill>
              <a:srgbClr val="E2E2E2"/>
            </a:solidFill>
            <a:prstDash val="solid"/>
          </a:ln>
        </p:spPr>
      </p:sp>
      <p:sp>
        <p:nvSpPr>
          <p:cNvPr id="132" name="Shape 124"/>
          <p:cNvSpPr/>
          <p:nvPr/>
        </p:nvSpPr>
        <p:spPr>
          <a:xfrm>
            <a:off x="1483888" y="3528185"/>
            <a:ext cx="640080" cy="119299"/>
          </a:xfrm>
          <a:prstGeom prst="rect">
            <a:avLst/>
          </a:prstGeom>
          <a:solidFill>
            <a:srgbClr val="FFFFFF"/>
          </a:solidFill>
          <a:ln w="6350">
            <a:solidFill>
              <a:srgbClr val="E2E2E2"/>
            </a:solidFill>
            <a:prstDash val="solid"/>
          </a:ln>
        </p:spPr>
      </p:sp>
      <p:sp>
        <p:nvSpPr>
          <p:cNvPr id="133" name="Shape 125"/>
          <p:cNvSpPr/>
          <p:nvPr/>
        </p:nvSpPr>
        <p:spPr>
          <a:xfrm>
            <a:off x="2123968" y="3528185"/>
            <a:ext cx="640080" cy="119299"/>
          </a:xfrm>
          <a:prstGeom prst="rect">
            <a:avLst/>
          </a:prstGeom>
          <a:solidFill>
            <a:srgbClr val="FFFFFF"/>
          </a:solidFill>
          <a:ln w="6350">
            <a:solidFill>
              <a:srgbClr val="E2E2E2"/>
            </a:solidFill>
            <a:prstDash val="solid"/>
          </a:ln>
        </p:spPr>
      </p:sp>
      <p:sp>
        <p:nvSpPr>
          <p:cNvPr id="134" name="Shape 126"/>
          <p:cNvSpPr/>
          <p:nvPr/>
        </p:nvSpPr>
        <p:spPr>
          <a:xfrm>
            <a:off x="2764048" y="3528185"/>
            <a:ext cx="640080" cy="119299"/>
          </a:xfrm>
          <a:prstGeom prst="rect">
            <a:avLst/>
          </a:prstGeom>
          <a:solidFill>
            <a:srgbClr val="FFFFFF"/>
          </a:solidFill>
          <a:ln w="6350">
            <a:solidFill>
              <a:srgbClr val="E2E2E2"/>
            </a:solidFill>
            <a:prstDash val="solid"/>
          </a:ln>
        </p:spPr>
      </p:sp>
      <p:sp>
        <p:nvSpPr>
          <p:cNvPr id="135" name="Shape 127"/>
          <p:cNvSpPr/>
          <p:nvPr/>
        </p:nvSpPr>
        <p:spPr>
          <a:xfrm>
            <a:off x="3404128" y="3528185"/>
            <a:ext cx="640080" cy="119299"/>
          </a:xfrm>
          <a:prstGeom prst="rect">
            <a:avLst/>
          </a:prstGeom>
          <a:solidFill>
            <a:srgbClr val="FFFFFF"/>
          </a:solidFill>
          <a:ln w="6350">
            <a:solidFill>
              <a:srgbClr val="E2E2E2"/>
            </a:solidFill>
            <a:prstDash val="solid"/>
          </a:ln>
        </p:spPr>
      </p:sp>
      <p:sp>
        <p:nvSpPr>
          <p:cNvPr id="136" name="Shape 128"/>
          <p:cNvSpPr/>
          <p:nvPr/>
        </p:nvSpPr>
        <p:spPr>
          <a:xfrm>
            <a:off x="4044208" y="3528185"/>
            <a:ext cx="640080" cy="119299"/>
          </a:xfrm>
          <a:prstGeom prst="rect">
            <a:avLst/>
          </a:prstGeom>
          <a:solidFill>
            <a:srgbClr val="FFFFFF"/>
          </a:solidFill>
          <a:ln w="6350">
            <a:solidFill>
              <a:srgbClr val="E2E2E2"/>
            </a:solidFill>
            <a:prstDash val="solid"/>
          </a:ln>
        </p:spPr>
      </p:sp>
      <p:sp>
        <p:nvSpPr>
          <p:cNvPr id="137" name="Shape 129"/>
          <p:cNvSpPr/>
          <p:nvPr/>
        </p:nvSpPr>
        <p:spPr>
          <a:xfrm>
            <a:off x="587776" y="3647484"/>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9" name="Shape 131"/>
          <p:cNvSpPr/>
          <p:nvPr/>
        </p:nvSpPr>
        <p:spPr>
          <a:xfrm>
            <a:off x="843808" y="3647484"/>
            <a:ext cx="640080" cy="119299"/>
          </a:xfrm>
          <a:prstGeom prst="rect">
            <a:avLst/>
          </a:prstGeom>
          <a:solidFill>
            <a:srgbClr val="FFFFFF"/>
          </a:solidFill>
          <a:ln w="6350">
            <a:solidFill>
              <a:srgbClr val="E2E2E2"/>
            </a:solidFill>
            <a:prstDash val="solid"/>
          </a:ln>
        </p:spPr>
      </p:sp>
      <p:sp>
        <p:nvSpPr>
          <p:cNvPr id="140" name="Shape 132"/>
          <p:cNvSpPr/>
          <p:nvPr/>
        </p:nvSpPr>
        <p:spPr>
          <a:xfrm>
            <a:off x="1483888" y="3647484"/>
            <a:ext cx="640080" cy="119299"/>
          </a:xfrm>
          <a:prstGeom prst="rect">
            <a:avLst/>
          </a:prstGeom>
          <a:solidFill>
            <a:srgbClr val="FFFFFF"/>
          </a:solidFill>
          <a:ln w="6350">
            <a:solidFill>
              <a:srgbClr val="E2E2E2"/>
            </a:solidFill>
            <a:prstDash val="solid"/>
          </a:ln>
        </p:spPr>
      </p:sp>
      <p:sp>
        <p:nvSpPr>
          <p:cNvPr id="141" name="Shape 133"/>
          <p:cNvSpPr/>
          <p:nvPr/>
        </p:nvSpPr>
        <p:spPr>
          <a:xfrm>
            <a:off x="2123968" y="3647484"/>
            <a:ext cx="640080" cy="119299"/>
          </a:xfrm>
          <a:prstGeom prst="rect">
            <a:avLst/>
          </a:prstGeom>
          <a:solidFill>
            <a:srgbClr val="FFFFFF"/>
          </a:solidFill>
          <a:ln w="6350">
            <a:solidFill>
              <a:srgbClr val="E2E2E2"/>
            </a:solidFill>
            <a:prstDash val="solid"/>
          </a:ln>
        </p:spPr>
      </p:sp>
      <p:sp>
        <p:nvSpPr>
          <p:cNvPr id="142" name="Shape 134"/>
          <p:cNvSpPr/>
          <p:nvPr/>
        </p:nvSpPr>
        <p:spPr>
          <a:xfrm>
            <a:off x="2764048" y="3647484"/>
            <a:ext cx="640080" cy="119299"/>
          </a:xfrm>
          <a:prstGeom prst="rect">
            <a:avLst/>
          </a:prstGeom>
          <a:solidFill>
            <a:srgbClr val="FFFFFF"/>
          </a:solidFill>
          <a:ln w="6350">
            <a:solidFill>
              <a:srgbClr val="E2E2E2"/>
            </a:solidFill>
            <a:prstDash val="solid"/>
          </a:ln>
        </p:spPr>
      </p:sp>
      <p:sp>
        <p:nvSpPr>
          <p:cNvPr id="143" name="Shape 135"/>
          <p:cNvSpPr/>
          <p:nvPr/>
        </p:nvSpPr>
        <p:spPr>
          <a:xfrm>
            <a:off x="3404128" y="3647484"/>
            <a:ext cx="640080" cy="119299"/>
          </a:xfrm>
          <a:prstGeom prst="rect">
            <a:avLst/>
          </a:prstGeom>
          <a:solidFill>
            <a:srgbClr val="FFFFFF"/>
          </a:solidFill>
          <a:ln w="6350">
            <a:solidFill>
              <a:srgbClr val="E2E2E2"/>
            </a:solidFill>
            <a:prstDash val="solid"/>
          </a:ln>
        </p:spPr>
      </p:sp>
      <p:sp>
        <p:nvSpPr>
          <p:cNvPr id="144" name="Shape 136"/>
          <p:cNvSpPr/>
          <p:nvPr/>
        </p:nvSpPr>
        <p:spPr>
          <a:xfrm>
            <a:off x="4044208" y="3647484"/>
            <a:ext cx="640080" cy="119299"/>
          </a:xfrm>
          <a:prstGeom prst="rect">
            <a:avLst/>
          </a:prstGeom>
          <a:solidFill>
            <a:srgbClr val="FFFFFF"/>
          </a:solidFill>
          <a:ln w="6350">
            <a:solidFill>
              <a:srgbClr val="E2E2E2"/>
            </a:solidFill>
            <a:prstDash val="solid"/>
          </a:ln>
        </p:spPr>
      </p:sp>
      <p:sp>
        <p:nvSpPr>
          <p:cNvPr id="145" name="Shape 137"/>
          <p:cNvSpPr/>
          <p:nvPr/>
        </p:nvSpPr>
        <p:spPr>
          <a:xfrm>
            <a:off x="587776" y="3794216"/>
            <a:ext cx="4950927" cy="201168"/>
          </a:xfrm>
          <a:prstGeom prst="rect">
            <a:avLst/>
          </a:prstGeom>
          <a:solidFill>
            <a:srgbClr val="F8F9FA"/>
          </a:solidFill>
          <a:ln w="12700">
            <a:solidFill>
              <a:srgbClr val="F8F9FA"/>
            </a:solidFill>
            <a:prstDash val="solid"/>
          </a:ln>
        </p:spPr>
      </p:sp>
      <p:sp>
        <p:nvSpPr>
          <p:cNvPr id="146" name="Text 138"/>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7" name="Text 139"/>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Form Responses 1</a:t>
            </a:r>
            <a:endParaRPr lang="en-US" sz="700" dirty="0"/>
          </a:p>
        </p:txBody>
      </p:sp>
      <p:sp>
        <p:nvSpPr>
          <p:cNvPr id="148" name="Shape 140"/>
          <p:cNvSpPr/>
          <p:nvPr/>
        </p:nvSpPr>
        <p:spPr>
          <a:xfrm>
            <a:off x="1913656" y="3794216"/>
            <a:ext cx="731520" cy="201168"/>
          </a:xfrm>
          <a:prstGeom prst="rect">
            <a:avLst/>
          </a:prstGeom>
          <a:solidFill>
            <a:srgbClr val="E1EFFE"/>
          </a:solidFill>
          <a:ln w="12700">
            <a:solidFill>
              <a:srgbClr val="E1EFFE"/>
            </a:solidFill>
            <a:prstDash val="solid"/>
          </a:ln>
        </p:spPr>
      </p:sp>
      <p:sp>
        <p:nvSpPr>
          <p:cNvPr id="149" name="Text 141"/>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Dashboard</a:t>
            </a:r>
            <a:endParaRPr lang="en-US" sz="700" dirty="0"/>
          </a:p>
        </p:txBody>
      </p:sp>
      <p:sp>
        <p:nvSpPr>
          <p:cNvPr id="150" name="Shape 142"/>
          <p:cNvSpPr/>
          <p:nvPr/>
        </p:nvSpPr>
        <p:spPr>
          <a:xfrm>
            <a:off x="660928" y="2400053"/>
            <a:ext cx="4804623" cy="1348443"/>
          </a:xfrm>
          <a:prstGeom prst="rect">
            <a:avLst/>
          </a:prstGeom>
          <a:solidFill>
            <a:srgbClr val="F3F6F4"/>
          </a:solidFill>
          <a:ln w="12700">
            <a:solidFill>
              <a:srgbClr val="F3F6F4"/>
            </a:solidFill>
            <a:prstDash val="solid"/>
          </a:ln>
        </p:spPr>
      </p:sp>
      <p:sp>
        <p:nvSpPr>
          <p:cNvPr id="151" name="Text 143"/>
          <p:cNvSpPr txBox="1"/>
          <p:nvPr/>
        </p:nvSpPr>
        <p:spPr>
          <a:xfrm>
            <a:off x="706648" y="2418341"/>
            <a:ext cx="4804623" cy="182880"/>
          </a:xfrm>
          <a:prstGeom prst="rect">
            <a:avLst/>
          </a:prstGeom>
          <a:noFill/>
          <a:ln/>
        </p:spPr>
        <p:txBody>
          <a:bodyPr wrap="square" lIns="0" tIns="0" rIns="0" bIns="0" rtlCol="0" anchor="t"/>
          <a:lstStyle/>
          <a:p>
            <a:pPr indent="0" marL="0">
              <a:buNone/>
            </a:pPr>
            <a:r>
              <a:rPr lang="en-US" sz="800" b="1" dirty="0">
                <a:solidFill>
                  <a:srgbClr val="0F4C3A"/>
                </a:solidFill>
                <a:latin typeface="Calibri" pitchFamily="34" charset="0"/>
                <a:ea typeface="Calibri" pitchFamily="34" charset="-122"/>
                <a:cs typeface="Calibri" pitchFamily="34" charset="-120"/>
              </a:rPr>
              <a:t>DASHBOARD USULAN BUKU</a:t>
            </a:r>
            <a:endParaRPr lang="en-US" sz="800" dirty="0"/>
          </a:p>
        </p:txBody>
      </p:sp>
      <p:sp>
        <p:nvSpPr>
          <p:cNvPr id="152" name="Shape 144"/>
          <p:cNvSpPr/>
          <p:nvPr/>
        </p:nvSpPr>
        <p:spPr>
          <a:xfrm>
            <a:off x="706648" y="2646941"/>
            <a:ext cx="2333732" cy="347472"/>
          </a:xfrm>
          <a:prstGeom prst="roundRect">
            <a:avLst>
              <a:gd name="adj" fmla="val 10526"/>
            </a:avLst>
          </a:prstGeom>
          <a:solidFill>
            <a:srgbClr val="FFFFFF"/>
          </a:solidFill>
          <a:ln w="9525">
            <a:solidFill>
              <a:srgbClr val="DDDDDD"/>
            </a:solidFill>
            <a:prstDash val="solid"/>
          </a:ln>
        </p:spPr>
      </p:sp>
      <p:sp>
        <p:nvSpPr>
          <p:cNvPr id="153" name="Shape 145"/>
          <p:cNvSpPr/>
          <p:nvPr/>
        </p:nvSpPr>
        <p:spPr>
          <a:xfrm>
            <a:off x="706648" y="2646941"/>
            <a:ext cx="45720" cy="347472"/>
          </a:xfrm>
          <a:prstGeom prst="rect">
            <a:avLst/>
          </a:prstGeom>
          <a:solidFill>
            <a:srgbClr val="1F7A5C"/>
          </a:solidFill>
          <a:ln w="12700">
            <a:solidFill>
              <a:srgbClr val="1F7A5C"/>
            </a:solidFill>
            <a:prstDash val="solid"/>
          </a:ln>
        </p:spPr>
      </p:sp>
      <p:sp>
        <p:nvSpPr>
          <p:cNvPr id="154" name="Text 146"/>
          <p:cNvSpPr txBox="1"/>
          <p:nvPr/>
        </p:nvSpPr>
        <p:spPr>
          <a:xfrm>
            <a:off x="798088" y="2674373"/>
            <a:ext cx="2196572" cy="121615"/>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Jumlah usulan</a:t>
            </a:r>
            <a:endParaRPr lang="en-US" sz="550" dirty="0"/>
          </a:p>
        </p:txBody>
      </p:sp>
      <p:sp>
        <p:nvSpPr>
          <p:cNvPr id="155" name="Text 147"/>
          <p:cNvSpPr txBox="1"/>
          <p:nvPr/>
        </p:nvSpPr>
        <p:spPr>
          <a:xfrm>
            <a:off x="798088" y="2768556"/>
            <a:ext cx="2196572" cy="208483"/>
          </a:xfrm>
          <a:prstGeom prst="rect">
            <a:avLst/>
          </a:prstGeom>
          <a:noFill/>
          <a:ln/>
        </p:spPr>
        <p:txBody>
          <a:bodyPr wrap="square" lIns="0" tIns="0" rIns="0" bIns="0" rtlCol="0" anchor="ctr"/>
          <a:lstStyle/>
          <a:p>
            <a:pPr indent="0" marL="0">
              <a:buNone/>
            </a:pPr>
            <a:r>
              <a:rPr lang="en-US" sz="1216" b="1" dirty="0">
                <a:solidFill>
                  <a:srgbClr val="1F7A5C"/>
                </a:solidFill>
                <a:latin typeface="Calibri" pitchFamily="34" charset="0"/>
                <a:ea typeface="Calibri" pitchFamily="34" charset="-122"/>
                <a:cs typeface="Calibri" pitchFamily="34" charset="-120"/>
              </a:rPr>
              <a:t>18</a:t>
            </a:r>
            <a:endParaRPr lang="en-US" sz="1216" dirty="0"/>
          </a:p>
        </p:txBody>
      </p:sp>
      <p:sp>
        <p:nvSpPr>
          <p:cNvPr id="156" name="Shape 148"/>
          <p:cNvSpPr/>
          <p:nvPr/>
        </p:nvSpPr>
        <p:spPr>
          <a:xfrm>
            <a:off x="3086100" y="2646941"/>
            <a:ext cx="2333732" cy="347472"/>
          </a:xfrm>
          <a:prstGeom prst="roundRect">
            <a:avLst>
              <a:gd name="adj" fmla="val 10526"/>
            </a:avLst>
          </a:prstGeom>
          <a:solidFill>
            <a:srgbClr val="FFFFFF"/>
          </a:solidFill>
          <a:ln w="9525">
            <a:solidFill>
              <a:srgbClr val="DDDDDD"/>
            </a:solidFill>
            <a:prstDash val="solid"/>
          </a:ln>
        </p:spPr>
      </p:sp>
      <p:sp>
        <p:nvSpPr>
          <p:cNvPr id="157" name="Shape 149"/>
          <p:cNvSpPr/>
          <p:nvPr/>
        </p:nvSpPr>
        <p:spPr>
          <a:xfrm>
            <a:off x="3086100" y="2646941"/>
            <a:ext cx="45720" cy="347472"/>
          </a:xfrm>
          <a:prstGeom prst="rect">
            <a:avLst/>
          </a:prstGeom>
          <a:solidFill>
            <a:srgbClr val="D4A017"/>
          </a:solidFill>
          <a:ln w="12700">
            <a:solidFill>
              <a:srgbClr val="D4A017"/>
            </a:solidFill>
            <a:prstDash val="solid"/>
          </a:ln>
        </p:spPr>
      </p:sp>
      <p:sp>
        <p:nvSpPr>
          <p:cNvPr id="158" name="Text 150"/>
          <p:cNvSpPr txBox="1"/>
          <p:nvPr/>
        </p:nvSpPr>
        <p:spPr>
          <a:xfrm>
            <a:off x="3177540" y="2674373"/>
            <a:ext cx="2196572" cy="121615"/>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Kategori terbanyak</a:t>
            </a:r>
            <a:endParaRPr lang="en-US" sz="550" dirty="0"/>
          </a:p>
        </p:txBody>
      </p:sp>
      <p:sp>
        <p:nvSpPr>
          <p:cNvPr id="159" name="Text 151"/>
          <p:cNvSpPr txBox="1"/>
          <p:nvPr/>
        </p:nvSpPr>
        <p:spPr>
          <a:xfrm>
            <a:off x="3177540" y="2768556"/>
            <a:ext cx="2196572" cy="208483"/>
          </a:xfrm>
          <a:prstGeom prst="rect">
            <a:avLst/>
          </a:prstGeom>
          <a:noFill/>
          <a:ln/>
        </p:spPr>
        <p:txBody>
          <a:bodyPr wrap="square" lIns="0" tIns="0" rIns="0" bIns="0" rtlCol="0" anchor="ctr"/>
          <a:lstStyle/>
          <a:p>
            <a:pPr indent="0" marL="0">
              <a:buNone/>
            </a:pPr>
            <a:r>
              <a:rPr lang="en-US" sz="1216" b="1" dirty="0">
                <a:solidFill>
                  <a:srgbClr val="D4A017"/>
                </a:solidFill>
                <a:latin typeface="Calibri" pitchFamily="34" charset="0"/>
                <a:ea typeface="Calibri" pitchFamily="34" charset="-122"/>
                <a:cs typeface="Calibri" pitchFamily="34" charset="-120"/>
              </a:rPr>
              <a:t>Sirah</a:t>
            </a:r>
            <a:endParaRPr lang="en-US" sz="1216" dirty="0"/>
          </a:p>
        </p:txBody>
      </p:sp>
      <p:sp>
        <p:nvSpPr>
          <p:cNvPr id="160" name="Shape 152"/>
          <p:cNvSpPr/>
          <p:nvPr/>
        </p:nvSpPr>
        <p:spPr>
          <a:xfrm>
            <a:off x="706648" y="3058421"/>
            <a:ext cx="4713183" cy="635211"/>
          </a:xfrm>
          <a:prstGeom prst="roundRect">
            <a:avLst>
              <a:gd name="adj" fmla="val 4319"/>
            </a:avLst>
          </a:prstGeom>
          <a:solidFill>
            <a:srgbClr val="FFFFFF"/>
          </a:solidFill>
          <a:ln w="9525">
            <a:solidFill>
              <a:srgbClr val="DDDDDD"/>
            </a:solidFill>
            <a:prstDash val="solid"/>
          </a:ln>
        </p:spPr>
      </p:sp>
      <p:sp>
        <p:nvSpPr>
          <p:cNvPr id="161" name="Text 153"/>
          <p:cNvSpPr txBox="1"/>
          <p:nvPr/>
        </p:nvSpPr>
        <p:spPr>
          <a:xfrm>
            <a:off x="706648" y="3076709"/>
            <a:ext cx="4713183" cy="146304"/>
          </a:xfrm>
          <a:prstGeom prst="rect">
            <a:avLst/>
          </a:prstGeom>
          <a:noFill/>
          <a:ln/>
        </p:spPr>
        <p:txBody>
          <a:bodyPr wrap="square" lIns="0" tIns="0" rIns="0" bIns="0" rtlCol="0" anchor="t"/>
          <a:lstStyle/>
          <a:p>
            <a:pPr algn="ctr" indent="0" marL="0">
              <a:buNone/>
            </a:pPr>
            <a:r>
              <a:rPr lang="en-US" sz="650" b="1" dirty="0">
                <a:solidFill>
                  <a:srgbClr val="1E2A26"/>
                </a:solidFill>
                <a:latin typeface="Calibri" pitchFamily="34" charset="0"/>
                <a:ea typeface="Calibri" pitchFamily="34" charset="-122"/>
                <a:cs typeface="Calibri" pitchFamily="34" charset="-120"/>
              </a:rPr>
              <a:t>Usulan per Kategori</a:t>
            </a:r>
            <a:endParaRPr lang="en-US" sz="650" dirty="0"/>
          </a:p>
        </p:txBody>
      </p:sp>
      <p:sp>
        <p:nvSpPr>
          <p:cNvPr id="162" name="Shape 154"/>
          <p:cNvSpPr/>
          <p:nvPr/>
        </p:nvSpPr>
        <p:spPr>
          <a:xfrm>
            <a:off x="1011980" y="3287021"/>
            <a:ext cx="784802" cy="223731"/>
          </a:xfrm>
          <a:prstGeom prst="rect">
            <a:avLst/>
          </a:prstGeom>
          <a:solidFill>
            <a:srgbClr val="1F7A5C"/>
          </a:solidFill>
          <a:ln w="12700">
            <a:solidFill>
              <a:srgbClr val="1F7A5C"/>
            </a:solidFill>
            <a:prstDash val="solid"/>
          </a:ln>
        </p:spPr>
      </p:sp>
      <p:sp>
        <p:nvSpPr>
          <p:cNvPr id="163" name="Text 155"/>
          <p:cNvSpPr txBox="1"/>
          <p:nvPr/>
        </p:nvSpPr>
        <p:spPr>
          <a:xfrm>
            <a:off x="798088" y="3519896"/>
            <a:ext cx="1212586"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Sirah</a:t>
            </a:r>
            <a:endParaRPr lang="en-US" sz="500" dirty="0"/>
          </a:p>
        </p:txBody>
      </p:sp>
      <p:sp>
        <p:nvSpPr>
          <p:cNvPr id="164" name="Shape 156"/>
          <p:cNvSpPr/>
          <p:nvPr/>
        </p:nvSpPr>
        <p:spPr>
          <a:xfrm>
            <a:off x="2133126" y="3350944"/>
            <a:ext cx="784802" cy="159808"/>
          </a:xfrm>
          <a:prstGeom prst="rect">
            <a:avLst/>
          </a:prstGeom>
          <a:solidFill>
            <a:srgbClr val="D4A017"/>
          </a:solidFill>
          <a:ln w="12700">
            <a:solidFill>
              <a:srgbClr val="D4A017"/>
            </a:solidFill>
            <a:prstDash val="solid"/>
          </a:ln>
        </p:spPr>
      </p:sp>
      <p:sp>
        <p:nvSpPr>
          <p:cNvPr id="165" name="Text 157"/>
          <p:cNvSpPr txBox="1"/>
          <p:nvPr/>
        </p:nvSpPr>
        <p:spPr>
          <a:xfrm>
            <a:off x="1919234" y="3519896"/>
            <a:ext cx="1212586"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Fiqih</a:t>
            </a:r>
            <a:endParaRPr lang="en-US" sz="500" dirty="0"/>
          </a:p>
        </p:txBody>
      </p:sp>
      <p:sp>
        <p:nvSpPr>
          <p:cNvPr id="166" name="Shape 158"/>
          <p:cNvSpPr/>
          <p:nvPr/>
        </p:nvSpPr>
        <p:spPr>
          <a:xfrm>
            <a:off x="3254272" y="3382906"/>
            <a:ext cx="784802" cy="127846"/>
          </a:xfrm>
          <a:prstGeom prst="rect">
            <a:avLst/>
          </a:prstGeom>
          <a:solidFill>
            <a:srgbClr val="1F7A5C"/>
          </a:solidFill>
          <a:ln w="12700">
            <a:solidFill>
              <a:srgbClr val="1F7A5C"/>
            </a:solidFill>
            <a:prstDash val="solid"/>
          </a:ln>
        </p:spPr>
      </p:sp>
      <p:sp>
        <p:nvSpPr>
          <p:cNvPr id="167" name="Text 159"/>
          <p:cNvSpPr txBox="1"/>
          <p:nvPr/>
        </p:nvSpPr>
        <p:spPr>
          <a:xfrm>
            <a:off x="3040380" y="3519896"/>
            <a:ext cx="1212586"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Sains</a:t>
            </a:r>
            <a:endParaRPr lang="en-US" sz="500" dirty="0"/>
          </a:p>
        </p:txBody>
      </p:sp>
      <p:sp>
        <p:nvSpPr>
          <p:cNvPr id="168" name="Shape 160"/>
          <p:cNvSpPr/>
          <p:nvPr/>
        </p:nvSpPr>
        <p:spPr>
          <a:xfrm>
            <a:off x="4375418" y="3446829"/>
            <a:ext cx="784802" cy="63923"/>
          </a:xfrm>
          <a:prstGeom prst="rect">
            <a:avLst/>
          </a:prstGeom>
          <a:solidFill>
            <a:srgbClr val="D4A017"/>
          </a:solidFill>
          <a:ln w="12700">
            <a:solidFill>
              <a:srgbClr val="D4A017"/>
            </a:solidFill>
            <a:prstDash val="solid"/>
          </a:ln>
        </p:spPr>
      </p:sp>
      <p:sp>
        <p:nvSpPr>
          <p:cNvPr id="169" name="Text 161"/>
          <p:cNvSpPr txBox="1"/>
          <p:nvPr/>
        </p:nvSpPr>
        <p:spPr>
          <a:xfrm>
            <a:off x="4161526" y="3519896"/>
            <a:ext cx="1212586"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Novel</a:t>
            </a:r>
            <a:endParaRPr lang="en-US" sz="500" dirty="0"/>
          </a:p>
        </p:txBody>
      </p:sp>
      <p:sp>
        <p:nvSpPr>
          <p:cNvPr id="170" name="Shape 162"/>
          <p:cNvSpPr/>
          <p:nvPr/>
        </p:nvSpPr>
        <p:spPr>
          <a:xfrm>
            <a:off x="816376" y="3510752"/>
            <a:ext cx="4530303" cy="0"/>
          </a:xfrm>
          <a:prstGeom prst="line">
            <a:avLst/>
          </a:prstGeom>
          <a:noFill/>
          <a:ln w="6350">
            <a:solidFill>
              <a:srgbClr val="888888"/>
            </a:solidFill>
            <a:prstDash val="solid"/>
          </a:ln>
        </p:spPr>
      </p:sp>
      <p:sp>
        <p:nvSpPr>
          <p:cNvPr id="171" name="Shape 163"/>
          <p:cNvSpPr/>
          <p:nvPr/>
        </p:nvSpPr>
        <p:spPr>
          <a:xfrm>
            <a:off x="642640" y="2381765"/>
            <a:ext cx="4841199" cy="1385019"/>
          </a:xfrm>
          <a:prstGeom prst="roundRect">
            <a:avLst>
              <a:gd name="adj" fmla="val 3301"/>
            </a:avLst>
          </a:prstGeom>
          <a:solidFill>
            <a:srgbClr val="FFFFFF">
              <a:alpha val="0"/>
            </a:srgbClr>
          </a:solidFill>
          <a:ln w="31750">
            <a:solidFill>
              <a:srgbClr val="E53935"/>
            </a:solidFill>
            <a:prstDash val="solid"/>
          </a:ln>
        </p:spPr>
      </p:sp>
      <p:sp>
        <p:nvSpPr>
          <p:cNvPr id="172" name="Shape 164"/>
          <p:cNvSpPr/>
          <p:nvPr/>
        </p:nvSpPr>
        <p:spPr>
          <a:xfrm>
            <a:off x="5346680" y="2244605"/>
            <a:ext cx="274320" cy="274320"/>
          </a:xfrm>
          <a:prstGeom prst="ellipse">
            <a:avLst/>
          </a:prstGeom>
          <a:solidFill>
            <a:srgbClr val="E53935"/>
          </a:solidFill>
          <a:ln w="12700">
            <a:solidFill>
              <a:srgbClr val="FFFFFF"/>
            </a:solidFill>
            <a:prstDash val="solid"/>
          </a:ln>
        </p:spPr>
      </p:sp>
      <p:sp>
        <p:nvSpPr>
          <p:cNvPr id="173" name="Text 165"/>
          <p:cNvSpPr txBox="1"/>
          <p:nvPr/>
        </p:nvSpPr>
        <p:spPr>
          <a:xfrm>
            <a:off x="5346680" y="22446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4" name="Text 1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175" name="Text 1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Desainer: dashboard ringkasan</a:t>
            </a:r>
            <a:endParaRPr lang="en-US" sz="1800" dirty="0"/>
          </a:p>
        </p:txBody>
      </p:sp>
      <p:sp>
        <p:nvSpPr>
          <p:cNvPr id="176" name="Text 1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Sheets hasil formulir, buat lembar Dashboard: COUNTA (jumlah usulan), COUNTIF per kategori, dan grafik batang.</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Website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Usulan Buku Perpustakaan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Usulan Buku Perpustakaan</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Questions</a:t>
            </a:r>
            <a:endParaRPr lang="en-US" sz="750" dirty="0"/>
          </a:p>
        </p:txBody>
      </p:sp>
      <p:sp>
        <p:nvSpPr>
          <p:cNvPr id="34" name="Shape 25"/>
          <p:cNvSpPr/>
          <p:nvPr/>
        </p:nvSpPr>
        <p:spPr>
          <a:xfrm>
            <a:off x="2194560" y="2153165"/>
            <a:ext cx="502920" cy="22860"/>
          </a:xfrm>
          <a:prstGeom prst="rect">
            <a:avLst/>
          </a:prstGeom>
          <a:solidFill>
            <a:srgbClr val="673AB7"/>
          </a:solidFill>
          <a:ln w="12700">
            <a:solidFill>
              <a:srgbClr val="673AB7"/>
            </a:solidFill>
            <a:prstDash val="solid"/>
          </a:ln>
        </p:spPr>
      </p:sp>
      <p:sp>
        <p:nvSpPr>
          <p:cNvPr id="35" name="Text 26"/>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48640"/>
          </a:xfrm>
          <a:prstGeom prst="roundRect">
            <a:avLst>
              <a:gd name="adj" fmla="val 8333"/>
            </a:avLst>
          </a:prstGeom>
          <a:solidFill>
            <a:srgbClr val="FFFFFF"/>
          </a:solidFill>
          <a:ln w="12700">
            <a:solidFill>
              <a:srgbClr val="FFFFFF"/>
            </a:solidFill>
            <a:prstDash val="solid"/>
          </a:ln>
        </p:spPr>
      </p:sp>
      <p:sp>
        <p:nvSpPr>
          <p:cNvPr id="39" name="Shape 30"/>
          <p:cNvSpPr/>
          <p:nvPr/>
        </p:nvSpPr>
        <p:spPr>
          <a:xfrm>
            <a:off x="1463040" y="2272037"/>
            <a:ext cx="3200400" cy="45720"/>
          </a:xfrm>
          <a:prstGeom prst="rect">
            <a:avLst/>
          </a:prstGeom>
          <a:solidFill>
            <a:srgbClr val="673AB7"/>
          </a:solidFill>
          <a:ln w="12700">
            <a:solidFill>
              <a:srgbClr val="673AB7"/>
            </a:solidFill>
            <a:prstDash val="solid"/>
          </a:ln>
        </p:spPr>
      </p:sp>
      <p:sp>
        <p:nvSpPr>
          <p:cNvPr id="40" name="Text 31"/>
          <p:cNvSpPr txBox="1"/>
          <p:nvPr/>
        </p:nvSpPr>
        <p:spPr>
          <a:xfrm>
            <a:off x="1572768" y="2345189"/>
            <a:ext cx="3017520" cy="25603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Usulan Buku Perpustakaan</a:t>
            </a:r>
            <a:endParaRPr lang="en-US" sz="1300" dirty="0"/>
          </a:p>
        </p:txBody>
      </p:sp>
      <p:sp>
        <p:nvSpPr>
          <p:cNvPr id="41" name="Text 32"/>
          <p:cNvSpPr txBox="1"/>
          <p:nvPr/>
        </p:nvSpPr>
        <p:spPr>
          <a:xfrm>
            <a:off x="1572768" y="2601221"/>
            <a:ext cx="3017520" cy="182880"/>
          </a:xfrm>
          <a:prstGeom prst="rect">
            <a:avLst/>
          </a:prstGeom>
          <a:noFill/>
          <a:ln/>
        </p:spPr>
        <p:txBody>
          <a:bodyPr wrap="square" lIns="0" tIns="0" rIns="0" bIns="0" rtlCol="0" anchor="t"/>
          <a:lstStyle/>
          <a:p>
            <a:pPr indent="0" marL="0">
              <a:buNone/>
            </a:pPr>
            <a:r>
              <a:rPr lang="en-US" sz="750" dirty="0">
                <a:solidFill>
                  <a:srgbClr val="333333"/>
                </a:solidFill>
                <a:latin typeface="Calibri" pitchFamily="34" charset="0"/>
                <a:ea typeface="Calibri" pitchFamily="34" charset="-122"/>
                <a:cs typeface="Calibri" pitchFamily="34" charset="-120"/>
              </a:rPr>
              <a:t>Usulkan buku...</a:t>
            </a:r>
            <a:endParaRPr lang="en-US" sz="750" dirty="0"/>
          </a:p>
        </p:txBody>
      </p:sp>
      <p:sp>
        <p:nvSpPr>
          <p:cNvPr id="42" name="Shape 33"/>
          <p:cNvSpPr/>
          <p:nvPr/>
        </p:nvSpPr>
        <p:spPr>
          <a:xfrm>
            <a:off x="4736592" y="2884685"/>
            <a:ext cx="274320" cy="1005840"/>
          </a:xfrm>
          <a:prstGeom prst="roundRect">
            <a:avLst>
              <a:gd name="adj" fmla="val 16667"/>
            </a:avLst>
          </a:prstGeom>
          <a:solidFill>
            <a:srgbClr val="FFFFFF"/>
          </a:solidFill>
          <a:ln w="12700">
            <a:solidFill>
              <a:srgbClr val="FFFFFF"/>
            </a:solidFill>
            <a:prstDash val="solid"/>
          </a:ln>
        </p:spPr>
      </p:sp>
      <p:sp>
        <p:nvSpPr>
          <p:cNvPr id="43" name="Text 34"/>
          <p:cNvSpPr txBox="1"/>
          <p:nvPr/>
        </p:nvSpPr>
        <p:spPr>
          <a:xfrm>
            <a:off x="4736592" y="2902973"/>
            <a:ext cx="274320" cy="237744"/>
          </a:xfrm>
          <a:prstGeom prst="rect">
            <a:avLst/>
          </a:prstGeom>
          <a:noFill/>
          <a:ln/>
        </p:spPr>
        <p:txBody>
          <a:bodyPr wrap="square" lIns="0" tIns="0" rIns="0" bIns="0" rtlCol="0" anchor="ctr"/>
          <a:lstStyle/>
          <a:p>
            <a:pPr algn="ct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44" name="Text 35"/>
          <p:cNvSpPr txBox="1"/>
          <p:nvPr/>
        </p:nvSpPr>
        <p:spPr>
          <a:xfrm>
            <a:off x="4736592" y="3159005"/>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T</a:t>
            </a:r>
            <a:endParaRPr lang="en-US" sz="800" dirty="0"/>
          </a:p>
        </p:txBody>
      </p:sp>
      <p:sp>
        <p:nvSpPr>
          <p:cNvPr id="45" name="Text 36"/>
          <p:cNvSpPr txBox="1"/>
          <p:nvPr/>
        </p:nvSpPr>
        <p:spPr>
          <a:xfrm>
            <a:off x="4736592" y="3332741"/>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46" name="Text 37"/>
          <p:cNvSpPr txBox="1"/>
          <p:nvPr/>
        </p:nvSpPr>
        <p:spPr>
          <a:xfrm>
            <a:off x="4736592" y="3506477"/>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47" name="Text 38"/>
          <p:cNvSpPr txBox="1"/>
          <p:nvPr/>
        </p:nvSpPr>
        <p:spPr>
          <a:xfrm>
            <a:off x="4736592" y="3680213"/>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48" name="Shape 39"/>
          <p:cNvSpPr/>
          <p:nvPr/>
        </p:nvSpPr>
        <p:spPr>
          <a:xfrm>
            <a:off x="1691640" y="1951997"/>
            <a:ext cx="2743200" cy="1280160"/>
          </a:xfrm>
          <a:prstGeom prst="roundRect">
            <a:avLst>
              <a:gd name="adj" fmla="val 4286"/>
            </a:avLst>
          </a:prstGeom>
          <a:solidFill>
            <a:srgbClr val="FFFFFF"/>
          </a:solidFill>
          <a:ln w="9525">
            <a:solidFill>
              <a:srgbClr val="BBBBBB"/>
            </a:solidFill>
            <a:prstDash val="solid"/>
          </a:ln>
        </p:spPr>
      </p:sp>
      <p:sp>
        <p:nvSpPr>
          <p:cNvPr id="49" name="Text 40"/>
          <p:cNvSpPr txBox="1"/>
          <p:nvPr/>
        </p:nvSpPr>
        <p:spPr>
          <a:xfrm>
            <a:off x="1828800" y="2025149"/>
            <a:ext cx="1828800" cy="22860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Send form</a:t>
            </a:r>
            <a:endParaRPr lang="en-US" sz="1100" dirty="0"/>
          </a:p>
        </p:txBody>
      </p:sp>
      <p:sp>
        <p:nvSpPr>
          <p:cNvPr id="50" name="Text 41"/>
          <p:cNvSpPr txBox="1"/>
          <p:nvPr/>
        </p:nvSpPr>
        <p:spPr>
          <a:xfrm>
            <a:off x="1828800" y="2299469"/>
            <a:ext cx="2377440" cy="1828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Send via      Email      Link      &lt; &gt;</a:t>
            </a:r>
            <a:endParaRPr lang="en-US" sz="750" dirty="0"/>
          </a:p>
        </p:txBody>
      </p:sp>
      <p:sp>
        <p:nvSpPr>
          <p:cNvPr id="51" name="Shape 42"/>
          <p:cNvSpPr/>
          <p:nvPr/>
        </p:nvSpPr>
        <p:spPr>
          <a:xfrm>
            <a:off x="3648456" y="2482349"/>
            <a:ext cx="237744" cy="22860"/>
          </a:xfrm>
          <a:prstGeom prst="rect">
            <a:avLst/>
          </a:prstGeom>
          <a:solidFill>
            <a:srgbClr val="673AB7"/>
          </a:solidFill>
          <a:ln w="12700">
            <a:solidFill>
              <a:srgbClr val="673AB7"/>
            </a:solidFill>
            <a:prstDash val="solid"/>
          </a:ln>
        </p:spPr>
      </p:sp>
      <p:sp>
        <p:nvSpPr>
          <p:cNvPr id="52" name="Shape 43"/>
          <p:cNvSpPr/>
          <p:nvPr/>
        </p:nvSpPr>
        <p:spPr>
          <a:xfrm>
            <a:off x="1828800" y="2573789"/>
            <a:ext cx="2468880" cy="320040"/>
          </a:xfrm>
          <a:prstGeom prst="rect">
            <a:avLst/>
          </a:prstGeom>
          <a:solidFill>
            <a:srgbClr val="F5F5F5"/>
          </a:solidFill>
          <a:ln w="12700">
            <a:solidFill>
              <a:srgbClr val="F5F5F5"/>
            </a:solidFill>
            <a:prstDash val="solid"/>
          </a:ln>
        </p:spPr>
      </p:sp>
      <p:sp>
        <p:nvSpPr>
          <p:cNvPr id="53" name="Text 44"/>
          <p:cNvSpPr txBox="1"/>
          <p:nvPr/>
        </p:nvSpPr>
        <p:spPr>
          <a:xfrm>
            <a:off x="1856232" y="2573789"/>
            <a:ext cx="2414016" cy="320040"/>
          </a:xfrm>
          <a:prstGeom prst="rect">
            <a:avLst/>
          </a:prstGeom>
          <a:noFill/>
          <a:ln/>
        </p:spPr>
        <p:txBody>
          <a:bodyPr wrap="square" lIns="0" tIns="0" rIns="0" bIns="0" rtlCol="0" anchor="ctr"/>
          <a:lstStyle/>
          <a:p>
            <a:pPr indent="0" marL="0">
              <a:buNone/>
            </a:pPr>
            <a:r>
              <a:rPr lang="en-US" sz="550" dirty="0">
                <a:solidFill>
                  <a:srgbClr val="1E2A26"/>
                </a:solidFill>
                <a:latin typeface="Courier New" pitchFamily="34" charset="0"/>
                <a:ea typeface="Courier New" pitchFamily="34" charset="-122"/>
                <a:cs typeface="Courier New" pitchFamily="34" charset="-120"/>
              </a:rPr>
              <a:t>&lt;iframe src="https://docs.google.com/forms/d/e/.../viewform?embedded=true" width="100%" height="600"&gt;</a:t>
            </a:r>
            <a:endParaRPr lang="en-US" sz="550" dirty="0"/>
          </a:p>
        </p:txBody>
      </p:sp>
      <p:sp>
        <p:nvSpPr>
          <p:cNvPr id="54" name="Text 45"/>
          <p:cNvSpPr txBox="1"/>
          <p:nvPr/>
        </p:nvSpPr>
        <p:spPr>
          <a:xfrm>
            <a:off x="3749040" y="2957837"/>
            <a:ext cx="548640" cy="201168"/>
          </a:xfrm>
          <a:prstGeom prst="rect">
            <a:avLst/>
          </a:prstGeom>
          <a:noFill/>
          <a:ln/>
        </p:spPr>
        <p:txBody>
          <a:bodyPr wrap="square" lIns="0" tIns="0" rIns="0" bIns="0" rtlCol="0" anchor="ctr"/>
          <a:lstStyle/>
          <a:p>
            <a:pPr algn="ctr" indent="0" marL="0">
              <a:buNone/>
            </a:pPr>
            <a:r>
              <a:rPr lang="en-US" sz="800" b="1" dirty="0">
                <a:solidFill>
                  <a:srgbClr val="673AB7"/>
                </a:solidFill>
                <a:latin typeface="Calibri" pitchFamily="34" charset="0"/>
                <a:ea typeface="Calibri" pitchFamily="34" charset="-122"/>
                <a:cs typeface="Calibri" pitchFamily="34" charset="-120"/>
              </a:rPr>
              <a:t>Copy</a:t>
            </a:r>
            <a:endParaRPr lang="en-US" sz="800" dirty="0"/>
          </a:p>
        </p:txBody>
      </p:sp>
      <p:sp>
        <p:nvSpPr>
          <p:cNvPr id="55" name="Shape 46"/>
          <p:cNvSpPr/>
          <p:nvPr/>
        </p:nvSpPr>
        <p:spPr>
          <a:xfrm>
            <a:off x="3602736" y="2253749"/>
            <a:ext cx="329184" cy="274320"/>
          </a:xfrm>
          <a:prstGeom prst="roundRect">
            <a:avLst>
              <a:gd name="adj" fmla="val 16667"/>
            </a:avLst>
          </a:prstGeom>
          <a:solidFill>
            <a:srgbClr val="FFFFFF">
              <a:alpha val="0"/>
            </a:srgbClr>
          </a:solidFill>
          <a:ln w="31750">
            <a:solidFill>
              <a:srgbClr val="E53935"/>
            </a:solidFill>
            <a:prstDash val="solid"/>
          </a:ln>
        </p:spPr>
      </p:sp>
      <p:sp>
        <p:nvSpPr>
          <p:cNvPr id="56" name="Shape 47"/>
          <p:cNvSpPr/>
          <p:nvPr/>
        </p:nvSpPr>
        <p:spPr>
          <a:xfrm>
            <a:off x="3794760" y="2116589"/>
            <a:ext cx="274320" cy="274320"/>
          </a:xfrm>
          <a:prstGeom prst="ellipse">
            <a:avLst/>
          </a:prstGeom>
          <a:solidFill>
            <a:srgbClr val="E53935"/>
          </a:solidFill>
          <a:ln w="12700">
            <a:solidFill>
              <a:srgbClr val="FFFFFF"/>
            </a:solidFill>
            <a:prstDash val="solid"/>
          </a:ln>
        </p:spPr>
      </p:sp>
      <p:sp>
        <p:nvSpPr>
          <p:cNvPr id="57" name="Text 48"/>
          <p:cNvSpPr txBox="1"/>
          <p:nvPr/>
        </p:nvSpPr>
        <p:spPr>
          <a:xfrm>
            <a:off x="3794760" y="21165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8" name="Image 7" descr="preencoded.png">    </p:cNvPr>
          <p:cNvPicPr>
            <a:picLocks noChangeAspect="1"/>
          </p:cNvPicPr>
          <p:nvPr/>
        </p:nvPicPr>
        <p:blipFill>
          <a:blip r:embed="rId8"/>
          <a:stretch>
            <a:fillRect/>
          </a:stretch>
        </p:blipFill>
        <p:spPr>
          <a:xfrm>
            <a:off x="3781044" y="2401882"/>
            <a:ext cx="237744" cy="237744"/>
          </a:xfrm>
          <a:prstGeom prst="rect">
            <a:avLst/>
          </a:prstGeom>
        </p:spPr>
      </p:pic>
      <p:sp>
        <p:nvSpPr>
          <p:cNvPr id="59" name="Shape 49"/>
          <p:cNvSpPr/>
          <p:nvPr/>
        </p:nvSpPr>
        <p:spPr>
          <a:xfrm>
            <a:off x="3721608" y="2930405"/>
            <a:ext cx="603504" cy="256032"/>
          </a:xfrm>
          <a:prstGeom prst="roundRect">
            <a:avLst>
              <a:gd name="adj" fmla="val 17857"/>
            </a:avLst>
          </a:prstGeom>
          <a:solidFill>
            <a:srgbClr val="FFFFFF">
              <a:alpha val="0"/>
            </a:srgbClr>
          </a:solidFill>
          <a:ln w="31750">
            <a:solidFill>
              <a:srgbClr val="E53935"/>
            </a:solidFill>
            <a:prstDash val="solid"/>
          </a:ln>
        </p:spPr>
      </p:sp>
      <p:sp>
        <p:nvSpPr>
          <p:cNvPr id="60" name="Shape 50"/>
          <p:cNvSpPr/>
          <p:nvPr/>
        </p:nvSpPr>
        <p:spPr>
          <a:xfrm>
            <a:off x="4187952" y="2793245"/>
            <a:ext cx="274320" cy="274320"/>
          </a:xfrm>
          <a:prstGeom prst="ellipse">
            <a:avLst/>
          </a:prstGeom>
          <a:solidFill>
            <a:srgbClr val="E53935"/>
          </a:solidFill>
          <a:ln w="12700">
            <a:solidFill>
              <a:srgbClr val="FFFFFF"/>
            </a:solidFill>
            <a:prstDash val="solid"/>
          </a:ln>
        </p:spPr>
      </p:sp>
      <p:sp>
        <p:nvSpPr>
          <p:cNvPr id="61" name="Text 51"/>
          <p:cNvSpPr txBox="1"/>
          <p:nvPr/>
        </p:nvSpPr>
        <p:spPr>
          <a:xfrm>
            <a:off x="4187952" y="27932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2" name="Image 8" descr="preencoded.png">    </p:cNvPr>
          <p:cNvPicPr>
            <a:picLocks noChangeAspect="1"/>
          </p:cNvPicPr>
          <p:nvPr/>
        </p:nvPicPr>
        <p:blipFill>
          <a:blip r:embed="rId9"/>
          <a:stretch>
            <a:fillRect/>
          </a:stretch>
        </p:blipFill>
        <p:spPr>
          <a:xfrm>
            <a:off x="4050792" y="3068480"/>
            <a:ext cx="237744" cy="237744"/>
          </a:xfrm>
          <a:prstGeom prst="rect">
            <a:avLst/>
          </a:prstGeom>
        </p:spPr>
      </p:pic>
      <p:sp>
        <p:nvSpPr>
          <p:cNvPr id="63" name="Text 5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64" name="Text 5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Developer: ambil kode embed formulir</a:t>
            </a:r>
            <a:endParaRPr lang="en-US" sz="1800" dirty="0"/>
          </a:p>
        </p:txBody>
      </p:sp>
      <p:sp>
        <p:nvSpPr>
          <p:cNvPr id="65" name="Text 5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Google Forms: Send › ikon &lt; &gt; (Embed HTML). Atur width 100%. Klik Copy.</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Website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&lt;header&gt;</a:t>
            </a:r>
            <a:endParaRPr lang="en-US" sz="900" dirty="0"/>
          </a:p>
        </p:txBody>
      </p:sp>
      <p:sp>
        <p:nvSpPr>
          <p:cNvPr id="29" name="Text 25"/>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0" name="Text 26"/>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&lt;img src="gambar/logo.png" alt="Logo pondok" width="50"&gt;</a:t>
            </a:r>
            <a:endParaRPr lang="en-US" sz="900" dirty="0"/>
          </a:p>
        </p:txBody>
      </p:sp>
      <p:sp>
        <p:nvSpPr>
          <p:cNvPr id="31" name="Text 27"/>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2" name="Text 28"/>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&lt;h1&gt;</a:t>
            </a:r>
            <a:pPr indent="0" marL="0">
              <a:buNone/>
            </a:pPr>
            <a:r>
              <a:rPr lang="en-US" sz="900" dirty="0">
                <a:solidFill>
                  <a:srgbClr val="222222"/>
                </a:solidFill>
                <a:latin typeface="Courier New" pitchFamily="34" charset="0"/>
                <a:ea typeface="Courier New" pitchFamily="34" charset="-122"/>
                <a:cs typeface="Courier New" pitchFamily="34" charset="-120"/>
              </a:rPr>
              <a:t>Perpustakaan Digital Kelas 8A</a:t>
            </a:r>
            <a:pPr indent="0" marL="0">
              <a:buNone/>
            </a:pPr>
            <a:r>
              <a:rPr lang="en-US" sz="900" dirty="0">
                <a:solidFill>
                  <a:srgbClr val="1A5FB4"/>
                </a:solidFill>
                <a:latin typeface="Courier New" pitchFamily="34" charset="0"/>
                <a:ea typeface="Courier New" pitchFamily="34" charset="-122"/>
                <a:cs typeface="Courier New" pitchFamily="34" charset="-120"/>
              </a:rPr>
              <a:t>&lt;/h1&gt;</a:t>
            </a:r>
            <a:endParaRPr lang="en-US" sz="900" dirty="0"/>
          </a:p>
        </p:txBody>
      </p:sp>
      <p:sp>
        <p:nvSpPr>
          <p:cNvPr id="33" name="Text 29"/>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4" name="Text 30"/>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&lt;/header&gt;</a:t>
            </a:r>
            <a:endParaRPr lang="en-US" sz="900" dirty="0"/>
          </a:p>
        </p:txBody>
      </p:sp>
      <p:sp>
        <p:nvSpPr>
          <p:cNvPr id="35" name="Text 31"/>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6" name="Text 32"/>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&lt;div class="card"&gt;</a:t>
            </a:r>
            <a:endParaRPr lang="en-US" sz="900" dirty="0"/>
          </a:p>
        </p:txBody>
      </p:sp>
      <p:sp>
        <p:nvSpPr>
          <p:cNvPr id="37" name="Text 33"/>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38" name="Text 34"/>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&lt;h2&gt;</a:t>
            </a:r>
            <a:pPr indent="0" marL="0">
              <a:buNone/>
            </a:pPr>
            <a:r>
              <a:rPr lang="en-US" sz="900" dirty="0">
                <a:solidFill>
                  <a:srgbClr val="222222"/>
                </a:solidFill>
                <a:latin typeface="Courier New" pitchFamily="34" charset="0"/>
                <a:ea typeface="Courier New" pitchFamily="34" charset="-122"/>
                <a:cs typeface="Courier New" pitchFamily="34" charset="-120"/>
              </a:rPr>
              <a:t>Usulkan Buku</a:t>
            </a:r>
            <a:pPr indent="0" marL="0">
              <a:buNone/>
            </a:pPr>
            <a:r>
              <a:rPr lang="en-US" sz="900" dirty="0">
                <a:solidFill>
                  <a:srgbClr val="1A5FB4"/>
                </a:solidFill>
                <a:latin typeface="Courier New" pitchFamily="34" charset="0"/>
                <a:ea typeface="Courier New" pitchFamily="34" charset="-122"/>
                <a:cs typeface="Courier New" pitchFamily="34" charset="-120"/>
              </a:rPr>
              <a:t>&lt;/h2&gt;</a:t>
            </a:r>
            <a:endParaRPr lang="en-US" sz="900" dirty="0"/>
          </a:p>
        </p:txBody>
      </p:sp>
      <p:sp>
        <p:nvSpPr>
          <p:cNvPr id="39" name="Shape 35"/>
          <p:cNvSpPr/>
          <p:nvPr/>
        </p:nvSpPr>
        <p:spPr>
          <a:xfrm>
            <a:off x="913668" y="2877704"/>
            <a:ext cx="4555175" cy="173736"/>
          </a:xfrm>
          <a:prstGeom prst="rect">
            <a:avLst/>
          </a:prstGeom>
          <a:solidFill>
            <a:srgbClr val="FFF59D"/>
          </a:solidFill>
          <a:ln w="12700">
            <a:solidFill>
              <a:srgbClr val="FFF59D"/>
            </a:solidFill>
            <a:prstDash val="solid"/>
          </a:ln>
        </p:spPr>
      </p:sp>
      <p:sp>
        <p:nvSpPr>
          <p:cNvPr id="40" name="Text 36"/>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1" name="Text 37"/>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&lt;iframe src="https://docs.google.com/forms/d/e/..."</a:t>
            </a:r>
            <a:endParaRPr lang="en-US" sz="900" dirty="0"/>
          </a:p>
        </p:txBody>
      </p:sp>
      <p:sp>
        <p:nvSpPr>
          <p:cNvPr id="42" name="Shape 38"/>
          <p:cNvSpPr/>
          <p:nvPr/>
        </p:nvSpPr>
        <p:spPr>
          <a:xfrm>
            <a:off x="913668" y="3051440"/>
            <a:ext cx="4555175" cy="173736"/>
          </a:xfrm>
          <a:prstGeom prst="rect">
            <a:avLst/>
          </a:prstGeom>
          <a:solidFill>
            <a:srgbClr val="FFF59D"/>
          </a:solidFill>
          <a:ln w="12700">
            <a:solidFill>
              <a:srgbClr val="FFF59D"/>
            </a:solidFill>
            <a:prstDash val="solid"/>
          </a:ln>
        </p:spPr>
      </p:sp>
      <p:sp>
        <p:nvSpPr>
          <p:cNvPr id="43" name="Text 39"/>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4" name="Text 40"/>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width="100%" height="600"&gt;</a:t>
            </a:r>
            <a:pPr indent="0" marL="0">
              <a:buNone/>
            </a:pPr>
            <a:r>
              <a:rPr lang="en-US" sz="900" dirty="0">
                <a:solidFill>
                  <a:srgbClr val="1A5FB4"/>
                </a:solidFill>
                <a:latin typeface="Courier New" pitchFamily="34" charset="0"/>
                <a:ea typeface="Courier New" pitchFamily="34" charset="-122"/>
                <a:cs typeface="Courier New" pitchFamily="34" charset="-120"/>
              </a:rPr>
              <a:t>&lt;/iframe&gt;</a:t>
            </a:r>
            <a:endParaRPr lang="en-US" sz="900" dirty="0"/>
          </a:p>
        </p:txBody>
      </p:sp>
      <p:sp>
        <p:nvSpPr>
          <p:cNvPr id="45" name="Text 41"/>
          <p:cNvSpPr txBox="1"/>
          <p:nvPr/>
        </p:nvSpPr>
        <p:spPr>
          <a:xfrm>
            <a:off x="639348" y="322517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10</a:t>
            </a:r>
            <a:endParaRPr lang="en-US" sz="800" dirty="0"/>
          </a:p>
        </p:txBody>
      </p:sp>
      <p:sp>
        <p:nvSpPr>
          <p:cNvPr id="46" name="Text 42"/>
          <p:cNvSpPr txBox="1"/>
          <p:nvPr/>
        </p:nvSpPr>
        <p:spPr>
          <a:xfrm>
            <a:off x="986820" y="322517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&lt;/div&gt;</a:t>
            </a:r>
            <a:endParaRPr lang="en-US" sz="900" dirty="0"/>
          </a:p>
        </p:txBody>
      </p:sp>
      <p:sp>
        <p:nvSpPr>
          <p:cNvPr id="47" name="Text 43"/>
          <p:cNvSpPr txBox="1"/>
          <p:nvPr/>
        </p:nvSpPr>
        <p:spPr>
          <a:xfrm>
            <a:off x="639348" y="339891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11</a:t>
            </a:r>
            <a:endParaRPr lang="en-US" sz="800" dirty="0"/>
          </a:p>
        </p:txBody>
      </p:sp>
      <p:sp>
        <p:nvSpPr>
          <p:cNvPr id="48" name="Text 44"/>
          <p:cNvSpPr txBox="1"/>
          <p:nvPr/>
        </p:nvSpPr>
        <p:spPr>
          <a:xfrm>
            <a:off x="986820" y="339891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&lt;a class="tombol" href="..."&gt;</a:t>
            </a:r>
            <a:pPr indent="0" marL="0">
              <a:buNone/>
            </a:pPr>
            <a:r>
              <a:rPr lang="en-US" sz="900" dirty="0">
                <a:solidFill>
                  <a:srgbClr val="222222"/>
                </a:solidFill>
                <a:latin typeface="Courier New" pitchFamily="34" charset="0"/>
                <a:ea typeface="Courier New" pitchFamily="34" charset="-122"/>
                <a:cs typeface="Courier New" pitchFamily="34" charset="-120"/>
              </a:rPr>
              <a:t>Lihat Buku Terpopuler</a:t>
            </a:r>
            <a:pPr indent="0" marL="0">
              <a:buNone/>
            </a:pPr>
            <a:r>
              <a:rPr lang="en-US" sz="900" dirty="0">
                <a:solidFill>
                  <a:srgbClr val="1A5FB4"/>
                </a:solidFill>
                <a:latin typeface="Courier New" pitchFamily="34" charset="0"/>
                <a:ea typeface="Courier New" pitchFamily="34" charset="-122"/>
                <a:cs typeface="Courier New" pitchFamily="34" charset="-120"/>
              </a:rPr>
              <a:t>&lt;/a&gt;</a:t>
            </a:r>
            <a:endParaRPr lang="en-US" sz="900" dirty="0"/>
          </a:p>
        </p:txBody>
      </p:sp>
      <p:sp>
        <p:nvSpPr>
          <p:cNvPr id="49" name="Text 45"/>
          <p:cNvSpPr txBox="1"/>
          <p:nvPr/>
        </p:nvSpPr>
        <p:spPr>
          <a:xfrm>
            <a:off x="639348" y="357264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12</a:t>
            </a:r>
            <a:endParaRPr lang="en-US" sz="800" dirty="0"/>
          </a:p>
        </p:txBody>
      </p:sp>
      <p:sp>
        <p:nvSpPr>
          <p:cNvPr id="50" name="Text 46"/>
          <p:cNvSpPr txBox="1"/>
          <p:nvPr/>
        </p:nvSpPr>
        <p:spPr>
          <a:xfrm>
            <a:off x="986820" y="3572648"/>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&lt;/body&gt;</a:t>
            </a:r>
            <a:endParaRPr lang="en-US" sz="900" dirty="0"/>
          </a:p>
        </p:txBody>
      </p:sp>
      <p:sp>
        <p:nvSpPr>
          <p:cNvPr id="51" name="Shape 47"/>
          <p:cNvSpPr/>
          <p:nvPr/>
        </p:nvSpPr>
        <p:spPr>
          <a:xfrm>
            <a:off x="913668" y="2859416"/>
            <a:ext cx="4555175" cy="384048"/>
          </a:xfrm>
          <a:prstGeom prst="roundRect">
            <a:avLst>
              <a:gd name="adj" fmla="val 11905"/>
            </a:avLst>
          </a:prstGeom>
          <a:solidFill>
            <a:srgbClr val="FFFFFF">
              <a:alpha val="0"/>
            </a:srgbClr>
          </a:solidFill>
          <a:ln w="31750">
            <a:solidFill>
              <a:srgbClr val="E53935"/>
            </a:solidFill>
            <a:prstDash val="solid"/>
          </a:ln>
        </p:spPr>
      </p:sp>
      <p:sp>
        <p:nvSpPr>
          <p:cNvPr id="52" name="Shape 48"/>
          <p:cNvSpPr/>
          <p:nvPr/>
        </p:nvSpPr>
        <p:spPr>
          <a:xfrm>
            <a:off x="5331684" y="2722256"/>
            <a:ext cx="274320" cy="274320"/>
          </a:xfrm>
          <a:prstGeom prst="ellipse">
            <a:avLst/>
          </a:prstGeom>
          <a:solidFill>
            <a:srgbClr val="E53935"/>
          </a:solidFill>
          <a:ln w="12700">
            <a:solidFill>
              <a:srgbClr val="FFFFFF"/>
            </a:solidFill>
            <a:prstDash val="solid"/>
          </a:ln>
        </p:spPr>
      </p:sp>
      <p:sp>
        <p:nvSpPr>
          <p:cNvPr id="53" name="Text 49"/>
          <p:cNvSpPr txBox="1"/>
          <p:nvPr/>
        </p:nvSpPr>
        <p:spPr>
          <a:xfrm>
            <a:off x="5331684" y="27222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54" name="Image 2" descr="preencoded.png">    </p:cNvPr>
          <p:cNvPicPr>
            <a:picLocks noChangeAspect="1"/>
          </p:cNvPicPr>
          <p:nvPr/>
        </p:nvPicPr>
        <p:blipFill>
          <a:blip r:embed="rId3"/>
          <a:stretch>
            <a:fillRect/>
          </a:stretch>
        </p:blipFill>
        <p:spPr>
          <a:xfrm>
            <a:off x="3417186" y="3068813"/>
            <a:ext cx="237744" cy="237744"/>
          </a:xfrm>
          <a:prstGeom prst="rect">
            <a:avLst/>
          </a:prstGeom>
        </p:spPr>
      </p:pic>
      <p:sp>
        <p:nvSpPr>
          <p:cNvPr id="55" name="Text 5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56" name="Text 5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Tempel iframe di index.html website sistem</a:t>
            </a:r>
            <a:endParaRPr lang="en-US" sz="1800" dirty="0"/>
          </a:p>
        </p:txBody>
      </p:sp>
      <p:sp>
        <p:nvSpPr>
          <p:cNvPr id="57" name="Text 5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Buat index.html baru (atau lanjutkan landing page): header, deskripsi, &lt;h2&gt;Usulkan Buku&lt;/h2&gt;, tempel iframe, link ke dashboard.</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Website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Perpustakaan Digital</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file:///C:/.../perpus-digital/index.html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57200"/>
          </a:xfrm>
          <a:prstGeom prst="rect">
            <a:avLst/>
          </a:prstGeom>
          <a:solidFill>
            <a:srgbClr val="0F4C3A"/>
          </a:solidFill>
          <a:ln w="12700">
            <a:solidFill>
              <a:srgbClr val="0F4C3A"/>
            </a:solidFill>
            <a:prstDash val="solid"/>
          </a:ln>
        </p:spPr>
      </p:sp>
      <p:pic>
        <p:nvPicPr>
          <p:cNvPr id="31" name="Image 5" descr="/home/claude/logo.png">    </p:cNvPr>
          <p:cNvPicPr>
            <a:picLocks noChangeAspect="1"/>
          </p:cNvPicPr>
          <p:nvPr/>
        </p:nvPicPr>
        <p:blipFill>
          <a:blip r:embed="rId6"/>
          <a:stretch>
            <a:fillRect/>
          </a:stretch>
        </p:blipFill>
        <p:spPr>
          <a:xfrm>
            <a:off x="679216" y="1750829"/>
            <a:ext cx="329184" cy="329184"/>
          </a:xfrm>
          <a:prstGeom prst="rect">
            <a:avLst/>
          </a:prstGeom>
        </p:spPr>
      </p:pic>
      <p:sp>
        <p:nvSpPr>
          <p:cNvPr id="32" name="Text 24"/>
          <p:cNvSpPr txBox="1"/>
          <p:nvPr/>
        </p:nvSpPr>
        <p:spPr>
          <a:xfrm>
            <a:off x="1063264" y="1769117"/>
            <a:ext cx="4365711" cy="310896"/>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Perpustakaan Digital Kelas 8A</a:t>
            </a:r>
            <a:endParaRPr lang="en-US" sz="1100" dirty="0"/>
          </a:p>
        </p:txBody>
      </p:sp>
      <p:sp>
        <p:nvSpPr>
          <p:cNvPr id="33" name="Shape 25"/>
          <p:cNvSpPr/>
          <p:nvPr/>
        </p:nvSpPr>
        <p:spPr>
          <a:xfrm>
            <a:off x="697504" y="2244605"/>
            <a:ext cx="2320016" cy="1641051"/>
          </a:xfrm>
          <a:prstGeom prst="roundRect">
            <a:avLst>
              <a:gd name="adj" fmla="val 2786"/>
            </a:avLst>
          </a:prstGeom>
          <a:solidFill>
            <a:srgbClr val="FFFFFF"/>
          </a:solidFill>
          <a:ln w="6350">
            <a:solidFill>
              <a:srgbClr val="DDDDDD"/>
            </a:solidFill>
            <a:prstDash val="solid"/>
          </a:ln>
        </p:spPr>
      </p:sp>
      <p:sp>
        <p:nvSpPr>
          <p:cNvPr id="34" name="Text 26"/>
          <p:cNvSpPr txBox="1"/>
          <p:nvPr/>
        </p:nvSpPr>
        <p:spPr>
          <a:xfrm>
            <a:off x="770656" y="2272037"/>
            <a:ext cx="2320016" cy="201168"/>
          </a:xfrm>
          <a:prstGeom prst="rect">
            <a:avLst/>
          </a:prstGeom>
          <a:noFill/>
          <a:ln/>
        </p:spPr>
        <p:txBody>
          <a:bodyPr wrap="square" lIns="0" tIns="0" rIns="0" bIns="0" rtlCol="0" anchor="t"/>
          <a:lstStyle/>
          <a:p>
            <a:pPr indent="0" marL="0">
              <a:buNone/>
            </a:pPr>
            <a:r>
              <a:rPr lang="en-US" sz="800" b="1" dirty="0">
                <a:solidFill>
                  <a:srgbClr val="1F7A5C"/>
                </a:solidFill>
                <a:latin typeface="Arial" pitchFamily="34" charset="0"/>
                <a:ea typeface="Arial" pitchFamily="34" charset="-122"/>
                <a:cs typeface="Arial" pitchFamily="34" charset="-120"/>
              </a:rPr>
              <a:t>Usulkan Buku</a:t>
            </a:r>
            <a:endParaRPr lang="en-US" sz="800" dirty="0"/>
          </a:p>
        </p:txBody>
      </p:sp>
      <p:sp>
        <p:nvSpPr>
          <p:cNvPr id="35" name="Shape 27"/>
          <p:cNvSpPr/>
          <p:nvPr/>
        </p:nvSpPr>
        <p:spPr>
          <a:xfrm>
            <a:off x="770656" y="2518925"/>
            <a:ext cx="2173712" cy="54864"/>
          </a:xfrm>
          <a:prstGeom prst="rect">
            <a:avLst/>
          </a:prstGeom>
          <a:solidFill>
            <a:srgbClr val="673AB7"/>
          </a:solidFill>
          <a:ln w="12700">
            <a:solidFill>
              <a:srgbClr val="673AB7"/>
            </a:solidFill>
            <a:prstDash val="solid"/>
          </a:ln>
        </p:spPr>
      </p:sp>
      <p:sp>
        <p:nvSpPr>
          <p:cNvPr id="36" name="Shape 28"/>
          <p:cNvSpPr/>
          <p:nvPr/>
        </p:nvSpPr>
        <p:spPr>
          <a:xfrm>
            <a:off x="770656" y="2610365"/>
            <a:ext cx="2173712" cy="228600"/>
          </a:xfrm>
          <a:prstGeom prst="rect">
            <a:avLst/>
          </a:prstGeom>
          <a:solidFill>
            <a:srgbClr val="F0EBF8"/>
          </a:solidFill>
          <a:ln w="12700">
            <a:solidFill>
              <a:srgbClr val="F0EBF8"/>
            </a:solidFill>
            <a:prstDash val="solid"/>
          </a:ln>
        </p:spPr>
      </p:sp>
      <p:sp>
        <p:nvSpPr>
          <p:cNvPr id="37" name="Shape 29"/>
          <p:cNvSpPr/>
          <p:nvPr/>
        </p:nvSpPr>
        <p:spPr>
          <a:xfrm>
            <a:off x="770656" y="2884685"/>
            <a:ext cx="2173712" cy="228600"/>
          </a:xfrm>
          <a:prstGeom prst="rect">
            <a:avLst/>
          </a:prstGeom>
          <a:solidFill>
            <a:srgbClr val="F0EBF8"/>
          </a:solidFill>
          <a:ln w="12700">
            <a:solidFill>
              <a:srgbClr val="F0EBF8"/>
            </a:solidFill>
            <a:prstDash val="solid"/>
          </a:ln>
        </p:spPr>
      </p:sp>
      <p:sp>
        <p:nvSpPr>
          <p:cNvPr id="38" name="Shape 30"/>
          <p:cNvSpPr/>
          <p:nvPr/>
        </p:nvSpPr>
        <p:spPr>
          <a:xfrm>
            <a:off x="3108960" y="2244605"/>
            <a:ext cx="2320016" cy="1641051"/>
          </a:xfrm>
          <a:prstGeom prst="roundRect">
            <a:avLst>
              <a:gd name="adj" fmla="val 2786"/>
            </a:avLst>
          </a:prstGeom>
          <a:solidFill>
            <a:srgbClr val="FFFFFF"/>
          </a:solidFill>
          <a:ln w="6350">
            <a:solidFill>
              <a:srgbClr val="DDDDDD"/>
            </a:solidFill>
            <a:prstDash val="solid"/>
          </a:ln>
        </p:spPr>
      </p:sp>
      <p:sp>
        <p:nvSpPr>
          <p:cNvPr id="39" name="Text 31"/>
          <p:cNvSpPr txBox="1"/>
          <p:nvPr/>
        </p:nvSpPr>
        <p:spPr>
          <a:xfrm>
            <a:off x="3182112" y="2272037"/>
            <a:ext cx="2320016" cy="201168"/>
          </a:xfrm>
          <a:prstGeom prst="rect">
            <a:avLst/>
          </a:prstGeom>
          <a:noFill/>
          <a:ln/>
        </p:spPr>
        <p:txBody>
          <a:bodyPr wrap="square" lIns="0" tIns="0" rIns="0" bIns="0" rtlCol="0" anchor="t"/>
          <a:lstStyle/>
          <a:p>
            <a:pPr indent="0" marL="0">
              <a:buNone/>
            </a:pPr>
            <a:r>
              <a:rPr lang="en-US" sz="800" b="1" dirty="0">
                <a:solidFill>
                  <a:srgbClr val="1F7A5C"/>
                </a:solidFill>
                <a:latin typeface="Arial" pitchFamily="34" charset="0"/>
                <a:ea typeface="Arial" pitchFamily="34" charset="-122"/>
                <a:cs typeface="Arial" pitchFamily="34" charset="-120"/>
              </a:rPr>
              <a:t>Buku Terpopuler</a:t>
            </a:r>
            <a:endParaRPr lang="en-US" sz="800" dirty="0"/>
          </a:p>
        </p:txBody>
      </p:sp>
      <p:sp>
        <p:nvSpPr>
          <p:cNvPr id="40" name="Shape 32"/>
          <p:cNvSpPr/>
          <p:nvPr/>
        </p:nvSpPr>
        <p:spPr>
          <a:xfrm>
            <a:off x="3154680" y="2518925"/>
            <a:ext cx="2228576" cy="1321011"/>
          </a:xfrm>
          <a:prstGeom prst="roundRect">
            <a:avLst>
              <a:gd name="adj" fmla="val 2077"/>
            </a:avLst>
          </a:prstGeom>
          <a:solidFill>
            <a:srgbClr val="FFFFFF"/>
          </a:solidFill>
          <a:ln w="9525">
            <a:solidFill>
              <a:srgbClr val="DDDDDD"/>
            </a:solidFill>
            <a:prstDash val="solid"/>
          </a:ln>
        </p:spPr>
      </p:sp>
      <p:sp>
        <p:nvSpPr>
          <p:cNvPr id="41" name="Text 33"/>
          <p:cNvSpPr txBox="1"/>
          <p:nvPr/>
        </p:nvSpPr>
        <p:spPr>
          <a:xfrm>
            <a:off x="3154680" y="2537213"/>
            <a:ext cx="2228576" cy="146304"/>
          </a:xfrm>
          <a:prstGeom prst="rect">
            <a:avLst/>
          </a:prstGeom>
          <a:noFill/>
          <a:ln/>
        </p:spPr>
        <p:txBody>
          <a:bodyPr wrap="square" lIns="0" tIns="0" rIns="0" bIns="0" rtlCol="0" anchor="t"/>
          <a:lstStyle/>
          <a:p>
            <a:pPr algn="ctr" indent="0" marL="0">
              <a:buNone/>
            </a:pPr>
            <a:endParaRPr lang="en-US" sz="650" dirty="0"/>
          </a:p>
        </p:txBody>
      </p:sp>
      <p:sp>
        <p:nvSpPr>
          <p:cNvPr id="42" name="Shape 34"/>
          <p:cNvSpPr/>
          <p:nvPr/>
        </p:nvSpPr>
        <p:spPr>
          <a:xfrm>
            <a:off x="3366839" y="2747525"/>
            <a:ext cx="349996" cy="909531"/>
          </a:xfrm>
          <a:prstGeom prst="rect">
            <a:avLst/>
          </a:prstGeom>
          <a:solidFill>
            <a:srgbClr val="1F7A5C"/>
          </a:solidFill>
          <a:ln w="12700">
            <a:solidFill>
              <a:srgbClr val="1F7A5C"/>
            </a:solidFill>
            <a:prstDash val="solid"/>
          </a:ln>
        </p:spPr>
      </p:sp>
      <p:sp>
        <p:nvSpPr>
          <p:cNvPr id="43" name="Text 35"/>
          <p:cNvSpPr txBox="1"/>
          <p:nvPr/>
        </p:nvSpPr>
        <p:spPr>
          <a:xfrm>
            <a:off x="3246120" y="3666200"/>
            <a:ext cx="591434"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Sirah</a:t>
            </a:r>
            <a:endParaRPr lang="en-US" sz="500" dirty="0"/>
          </a:p>
        </p:txBody>
      </p:sp>
      <p:sp>
        <p:nvSpPr>
          <p:cNvPr id="44" name="Shape 36"/>
          <p:cNvSpPr/>
          <p:nvPr/>
        </p:nvSpPr>
        <p:spPr>
          <a:xfrm>
            <a:off x="3866833" y="3007391"/>
            <a:ext cx="349996" cy="649665"/>
          </a:xfrm>
          <a:prstGeom prst="rect">
            <a:avLst/>
          </a:prstGeom>
          <a:solidFill>
            <a:srgbClr val="D4A017"/>
          </a:solidFill>
          <a:ln w="12700">
            <a:solidFill>
              <a:srgbClr val="D4A017"/>
            </a:solidFill>
            <a:prstDash val="solid"/>
          </a:ln>
        </p:spPr>
      </p:sp>
      <p:sp>
        <p:nvSpPr>
          <p:cNvPr id="45" name="Text 37"/>
          <p:cNvSpPr txBox="1"/>
          <p:nvPr/>
        </p:nvSpPr>
        <p:spPr>
          <a:xfrm>
            <a:off x="3746114" y="3666200"/>
            <a:ext cx="591434"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Fiqih</a:t>
            </a:r>
            <a:endParaRPr lang="en-US" sz="500" dirty="0"/>
          </a:p>
        </p:txBody>
      </p:sp>
      <p:sp>
        <p:nvSpPr>
          <p:cNvPr id="46" name="Shape 38"/>
          <p:cNvSpPr/>
          <p:nvPr/>
        </p:nvSpPr>
        <p:spPr>
          <a:xfrm>
            <a:off x="4366827" y="3137324"/>
            <a:ext cx="349996" cy="519732"/>
          </a:xfrm>
          <a:prstGeom prst="rect">
            <a:avLst/>
          </a:prstGeom>
          <a:solidFill>
            <a:srgbClr val="1F7A5C"/>
          </a:solidFill>
          <a:ln w="12700">
            <a:solidFill>
              <a:srgbClr val="1F7A5C"/>
            </a:solidFill>
            <a:prstDash val="solid"/>
          </a:ln>
        </p:spPr>
      </p:sp>
      <p:sp>
        <p:nvSpPr>
          <p:cNvPr id="47" name="Text 39"/>
          <p:cNvSpPr txBox="1"/>
          <p:nvPr/>
        </p:nvSpPr>
        <p:spPr>
          <a:xfrm>
            <a:off x="4246108" y="3666200"/>
            <a:ext cx="591434"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Sains</a:t>
            </a:r>
            <a:endParaRPr lang="en-US" sz="500" dirty="0"/>
          </a:p>
        </p:txBody>
      </p:sp>
      <p:sp>
        <p:nvSpPr>
          <p:cNvPr id="48" name="Shape 40"/>
          <p:cNvSpPr/>
          <p:nvPr/>
        </p:nvSpPr>
        <p:spPr>
          <a:xfrm>
            <a:off x="4866821" y="3397190"/>
            <a:ext cx="349996" cy="259866"/>
          </a:xfrm>
          <a:prstGeom prst="rect">
            <a:avLst/>
          </a:prstGeom>
          <a:solidFill>
            <a:srgbClr val="D4A017"/>
          </a:solidFill>
          <a:ln w="12700">
            <a:solidFill>
              <a:srgbClr val="D4A017"/>
            </a:solidFill>
            <a:prstDash val="solid"/>
          </a:ln>
        </p:spPr>
      </p:sp>
      <p:sp>
        <p:nvSpPr>
          <p:cNvPr id="49" name="Text 41"/>
          <p:cNvSpPr txBox="1"/>
          <p:nvPr/>
        </p:nvSpPr>
        <p:spPr>
          <a:xfrm>
            <a:off x="4746102" y="3666200"/>
            <a:ext cx="591434"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Novel</a:t>
            </a:r>
            <a:endParaRPr lang="en-US" sz="500" dirty="0"/>
          </a:p>
        </p:txBody>
      </p:sp>
      <p:sp>
        <p:nvSpPr>
          <p:cNvPr id="50" name="Shape 42"/>
          <p:cNvSpPr/>
          <p:nvPr/>
        </p:nvSpPr>
        <p:spPr>
          <a:xfrm>
            <a:off x="3264408" y="3657056"/>
            <a:ext cx="2045696" cy="0"/>
          </a:xfrm>
          <a:prstGeom prst="line">
            <a:avLst/>
          </a:prstGeom>
          <a:noFill/>
          <a:ln w="6350">
            <a:solidFill>
              <a:srgbClr val="888888"/>
            </a:solidFill>
            <a:prstDash val="solid"/>
          </a:ln>
        </p:spPr>
      </p:sp>
      <p:sp>
        <p:nvSpPr>
          <p:cNvPr id="51" name="Shape 43"/>
          <p:cNvSpPr/>
          <p:nvPr/>
        </p:nvSpPr>
        <p:spPr>
          <a:xfrm>
            <a:off x="679216" y="2226317"/>
            <a:ext cx="2356592" cy="1677627"/>
          </a:xfrm>
          <a:prstGeom prst="roundRect">
            <a:avLst>
              <a:gd name="adj" fmla="val 2725"/>
            </a:avLst>
          </a:prstGeom>
          <a:solidFill>
            <a:srgbClr val="FFFFFF">
              <a:alpha val="0"/>
            </a:srgbClr>
          </a:solidFill>
          <a:ln w="31750">
            <a:solidFill>
              <a:srgbClr val="E53935"/>
            </a:solidFill>
            <a:prstDash val="solid"/>
          </a:ln>
        </p:spPr>
      </p:sp>
      <p:sp>
        <p:nvSpPr>
          <p:cNvPr id="52" name="Shape 44"/>
          <p:cNvSpPr/>
          <p:nvPr/>
        </p:nvSpPr>
        <p:spPr>
          <a:xfrm>
            <a:off x="2898648" y="2089157"/>
            <a:ext cx="274320" cy="274320"/>
          </a:xfrm>
          <a:prstGeom prst="ellipse">
            <a:avLst/>
          </a:prstGeom>
          <a:solidFill>
            <a:srgbClr val="E53935"/>
          </a:solidFill>
          <a:ln w="12700">
            <a:solidFill>
              <a:srgbClr val="FFFFFF"/>
            </a:solidFill>
            <a:prstDash val="solid"/>
          </a:ln>
        </p:spPr>
      </p:sp>
      <p:sp>
        <p:nvSpPr>
          <p:cNvPr id="53" name="Text 45"/>
          <p:cNvSpPr txBox="1"/>
          <p:nvPr/>
        </p:nvSpPr>
        <p:spPr>
          <a:xfrm>
            <a:off x="2898648" y="208915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54" name="Image 6" descr="preencoded.png">    </p:cNvPr>
          <p:cNvPicPr>
            <a:picLocks noChangeAspect="1"/>
          </p:cNvPicPr>
          <p:nvPr/>
        </p:nvPicPr>
        <p:blipFill>
          <a:blip r:embed="rId7"/>
          <a:stretch>
            <a:fillRect/>
          </a:stretch>
        </p:blipFill>
        <p:spPr>
          <a:xfrm>
            <a:off x="1973513" y="3147183"/>
            <a:ext cx="237744" cy="237744"/>
          </a:xfrm>
          <a:prstGeom prst="rect">
            <a:avLst/>
          </a:prstGeom>
        </p:spPr>
      </p:pic>
      <p:sp>
        <p:nvSpPr>
          <p:cNvPr id="55" name="Text 4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6" name="Text 4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di komputer: formulir tampil di website</a:t>
            </a:r>
            <a:endParaRPr lang="en-US" sz="1800" dirty="0"/>
          </a:p>
        </p:txBody>
      </p:sp>
      <p:sp>
        <p:nvSpPr>
          <p:cNvPr id="57" name="Text 4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Simpan, buka di browser. Formulir tampil di dalam halaman. Coba isi satu usulan uji.</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Terbit &amp; QR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perpus-digital-kel1</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816376" y="2061725"/>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General</a:t>
            </a:r>
            <a:endParaRPr lang="en-US" sz="700" dirty="0"/>
          </a:p>
        </p:txBody>
      </p:sp>
      <p:sp>
        <p:nvSpPr>
          <p:cNvPr id="33" name="Text 25"/>
          <p:cNvSpPr txBox="1"/>
          <p:nvPr/>
        </p:nvSpPr>
        <p:spPr>
          <a:xfrm>
            <a:off x="816376" y="2281181"/>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Collaborators</a:t>
            </a:r>
            <a:endParaRPr lang="en-US" sz="700" dirty="0"/>
          </a:p>
        </p:txBody>
      </p:sp>
      <p:sp>
        <p:nvSpPr>
          <p:cNvPr id="34" name="Text 26"/>
          <p:cNvSpPr txBox="1"/>
          <p:nvPr/>
        </p:nvSpPr>
        <p:spPr>
          <a:xfrm>
            <a:off x="816376" y="2500637"/>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Branches</a:t>
            </a:r>
            <a:endParaRPr lang="en-US" sz="700" dirty="0"/>
          </a:p>
        </p:txBody>
      </p:sp>
      <p:sp>
        <p:nvSpPr>
          <p:cNvPr id="35" name="Shape 27"/>
          <p:cNvSpPr/>
          <p:nvPr/>
        </p:nvSpPr>
        <p:spPr>
          <a:xfrm>
            <a:off x="724936" y="2720093"/>
            <a:ext cx="1005840" cy="201168"/>
          </a:xfrm>
          <a:prstGeom prst="roundRect">
            <a:avLst>
              <a:gd name="adj" fmla="val 18182"/>
            </a:avLst>
          </a:prstGeom>
          <a:solidFill>
            <a:srgbClr val="EAEEF2"/>
          </a:solidFill>
          <a:ln w="12700">
            <a:solidFill>
              <a:srgbClr val="EAEEF2"/>
            </a:solidFill>
            <a:prstDash val="solid"/>
          </a:ln>
        </p:spPr>
      </p:sp>
      <p:sp>
        <p:nvSpPr>
          <p:cNvPr id="36" name="Shape 28"/>
          <p:cNvSpPr/>
          <p:nvPr/>
        </p:nvSpPr>
        <p:spPr>
          <a:xfrm>
            <a:off x="724936" y="2720093"/>
            <a:ext cx="36576" cy="201168"/>
          </a:xfrm>
          <a:prstGeom prst="rect">
            <a:avLst/>
          </a:prstGeom>
          <a:solidFill>
            <a:srgbClr val="FD8C73"/>
          </a:solidFill>
          <a:ln w="12700">
            <a:solidFill>
              <a:srgbClr val="FD8C73"/>
            </a:solidFill>
            <a:prstDash val="solid"/>
          </a:ln>
        </p:spPr>
      </p:sp>
      <p:sp>
        <p:nvSpPr>
          <p:cNvPr id="37" name="Text 29"/>
          <p:cNvSpPr txBox="1"/>
          <p:nvPr/>
        </p:nvSpPr>
        <p:spPr>
          <a:xfrm>
            <a:off x="816376" y="2720093"/>
            <a:ext cx="1005840" cy="201168"/>
          </a:xfrm>
          <a:prstGeom prst="rect">
            <a:avLst/>
          </a:prstGeom>
          <a:noFill/>
          <a:ln/>
        </p:spPr>
        <p:txBody>
          <a:bodyPr wrap="square" lIns="0" tIns="0" rIns="0" bIns="0" rtlCol="0" anchor="ctr"/>
          <a:lstStyle/>
          <a:p>
            <a:pPr indent="0" marL="0">
              <a:buNone/>
            </a:pPr>
            <a:r>
              <a:rPr lang="en-US" sz="700" b="1" dirty="0">
                <a:solidFill>
                  <a:srgbClr val="1E2A26"/>
                </a:solidFill>
                <a:latin typeface="Calibri" pitchFamily="34" charset="0"/>
                <a:ea typeface="Calibri" pitchFamily="34" charset="-122"/>
                <a:cs typeface="Calibri" pitchFamily="34" charset="-120"/>
              </a:rPr>
              <a:t>Pages</a:t>
            </a:r>
            <a:endParaRPr lang="en-US" sz="700" dirty="0"/>
          </a:p>
        </p:txBody>
      </p:sp>
      <p:sp>
        <p:nvSpPr>
          <p:cNvPr id="38" name="Text 30"/>
          <p:cNvSpPr txBox="1"/>
          <p:nvPr/>
        </p:nvSpPr>
        <p:spPr>
          <a:xfrm>
            <a:off x="816376" y="2939549"/>
            <a:ext cx="1005840"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Secrets</a:t>
            </a:r>
            <a:endParaRPr lang="en-US" sz="700" dirty="0"/>
          </a:p>
        </p:txBody>
      </p:sp>
      <p:sp>
        <p:nvSpPr>
          <p:cNvPr id="39" name="Text 31"/>
          <p:cNvSpPr txBox="1"/>
          <p:nvPr/>
        </p:nvSpPr>
        <p:spPr>
          <a:xfrm>
            <a:off x="1913656" y="2061725"/>
            <a:ext cx="27432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GitHub Pages</a:t>
            </a:r>
            <a:endParaRPr lang="en-US" sz="1100" dirty="0"/>
          </a:p>
        </p:txBody>
      </p:sp>
      <p:sp>
        <p:nvSpPr>
          <p:cNvPr id="40" name="Shape 32"/>
          <p:cNvSpPr/>
          <p:nvPr/>
        </p:nvSpPr>
        <p:spPr>
          <a:xfrm>
            <a:off x="1913656" y="2354333"/>
            <a:ext cx="3487887" cy="457200"/>
          </a:xfrm>
          <a:prstGeom prst="roundRect">
            <a:avLst>
              <a:gd name="adj" fmla="val 8000"/>
            </a:avLst>
          </a:prstGeom>
          <a:solidFill>
            <a:srgbClr val="DAFBE1"/>
          </a:solidFill>
          <a:ln w="9525">
            <a:solidFill>
              <a:srgbClr val="1F883D"/>
            </a:solidFill>
            <a:prstDash val="solid"/>
          </a:ln>
        </p:spPr>
      </p:sp>
      <p:sp>
        <p:nvSpPr>
          <p:cNvPr id="41" name="Text 33"/>
          <p:cNvSpPr txBox="1"/>
          <p:nvPr/>
        </p:nvSpPr>
        <p:spPr>
          <a:xfrm>
            <a:off x="2005096" y="2381765"/>
            <a:ext cx="182880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Your site is live at</a:t>
            </a:r>
            <a:endParaRPr lang="en-US" sz="700" dirty="0"/>
          </a:p>
        </p:txBody>
      </p:sp>
      <p:sp>
        <p:nvSpPr>
          <p:cNvPr id="42" name="Text 34"/>
          <p:cNvSpPr txBox="1"/>
          <p:nvPr/>
        </p:nvSpPr>
        <p:spPr>
          <a:xfrm>
            <a:off x="2005096" y="2555501"/>
            <a:ext cx="2482047" cy="201168"/>
          </a:xfrm>
          <a:prstGeom prst="rect">
            <a:avLst/>
          </a:prstGeom>
          <a:noFill/>
          <a:ln/>
        </p:spPr>
        <p:txBody>
          <a:bodyPr wrap="square" lIns="0" tIns="0" rIns="0" bIns="0" rtlCol="0" anchor="t"/>
          <a:lstStyle/>
          <a:p>
            <a:pPr indent="0" marL="0">
              <a:buNone/>
            </a:pPr>
            <a:r>
              <a:rPr lang="en-US" sz="700" b="1" dirty="0">
                <a:solidFill>
                  <a:srgbClr val="0969DA"/>
                </a:solidFill>
                <a:latin typeface="Calibri" pitchFamily="34" charset="0"/>
                <a:ea typeface="Calibri" pitchFamily="34" charset="-122"/>
                <a:cs typeface="Calibri" pitchFamily="34" charset="-120"/>
              </a:rPr>
              <a:t>https://santri-wu-kel1.github.io/perpus-digital-kel1/</a:t>
            </a:r>
            <a:endParaRPr lang="en-US" sz="700" dirty="0"/>
          </a:p>
        </p:txBody>
      </p:sp>
      <p:sp>
        <p:nvSpPr>
          <p:cNvPr id="43" name="Shape 35"/>
          <p:cNvSpPr/>
          <p:nvPr/>
        </p:nvSpPr>
        <p:spPr>
          <a:xfrm>
            <a:off x="4624304" y="2473205"/>
            <a:ext cx="685800" cy="219456"/>
          </a:xfrm>
          <a:prstGeom prst="roundRect">
            <a:avLst>
              <a:gd name="adj" fmla="val 16667"/>
            </a:avLst>
          </a:prstGeom>
          <a:solidFill>
            <a:srgbClr val="F6F8FA"/>
          </a:solidFill>
          <a:ln w="9525">
            <a:solidFill>
              <a:srgbClr val="D0D7DE"/>
            </a:solidFill>
            <a:prstDash val="solid"/>
          </a:ln>
        </p:spPr>
      </p:sp>
      <p:sp>
        <p:nvSpPr>
          <p:cNvPr id="44" name="Text 36"/>
          <p:cNvSpPr txBox="1"/>
          <p:nvPr/>
        </p:nvSpPr>
        <p:spPr>
          <a:xfrm>
            <a:off x="4624304" y="2473205"/>
            <a:ext cx="68580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Visit site</a:t>
            </a:r>
            <a:endParaRPr lang="en-US" sz="700" dirty="0"/>
          </a:p>
        </p:txBody>
      </p:sp>
      <p:sp>
        <p:nvSpPr>
          <p:cNvPr id="45" name="Text 37"/>
          <p:cNvSpPr txBox="1"/>
          <p:nvPr/>
        </p:nvSpPr>
        <p:spPr>
          <a:xfrm>
            <a:off x="1913656" y="2930405"/>
            <a:ext cx="2743200" cy="182880"/>
          </a:xfrm>
          <a:prstGeom prst="rect">
            <a:avLst/>
          </a:prstGeom>
          <a:noFill/>
          <a:ln/>
        </p:spPr>
        <p:txBody>
          <a:bodyPr wrap="square" lIns="0" tIns="0" rIns="0" bIns="0" rtlCol="0" anchor="t"/>
          <a:lstStyle/>
          <a:p>
            <a:pPr indent="0" marL="0">
              <a:buNone/>
            </a:pPr>
            <a:r>
              <a:rPr lang="en-US" sz="850" b="1" dirty="0">
                <a:solidFill>
                  <a:srgbClr val="1E2A26"/>
                </a:solidFill>
                <a:latin typeface="Calibri" pitchFamily="34" charset="0"/>
                <a:ea typeface="Calibri" pitchFamily="34" charset="-122"/>
                <a:cs typeface="Calibri" pitchFamily="34" charset="-120"/>
              </a:rPr>
              <a:t>Build and deployment</a:t>
            </a:r>
            <a:endParaRPr lang="en-US" sz="850" dirty="0"/>
          </a:p>
        </p:txBody>
      </p:sp>
      <p:sp>
        <p:nvSpPr>
          <p:cNvPr id="46" name="Text 38"/>
          <p:cNvSpPr txBox="1"/>
          <p:nvPr/>
        </p:nvSpPr>
        <p:spPr>
          <a:xfrm>
            <a:off x="1913656" y="3168149"/>
            <a:ext cx="914400" cy="146304"/>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Source</a:t>
            </a:r>
            <a:endParaRPr lang="en-US" sz="700" dirty="0"/>
          </a:p>
        </p:txBody>
      </p:sp>
      <p:sp>
        <p:nvSpPr>
          <p:cNvPr id="47" name="Shape 39"/>
          <p:cNvSpPr/>
          <p:nvPr/>
        </p:nvSpPr>
        <p:spPr>
          <a:xfrm>
            <a:off x="1913656" y="3323597"/>
            <a:ext cx="1371600" cy="201168"/>
          </a:xfrm>
          <a:prstGeom prst="roundRect">
            <a:avLst>
              <a:gd name="adj" fmla="val 18182"/>
            </a:avLst>
          </a:prstGeom>
          <a:solidFill>
            <a:srgbClr val="F6F8FA"/>
          </a:solidFill>
          <a:ln w="9525">
            <a:solidFill>
              <a:srgbClr val="D0D7DE"/>
            </a:solidFill>
            <a:prstDash val="solid"/>
          </a:ln>
        </p:spPr>
      </p:sp>
      <p:sp>
        <p:nvSpPr>
          <p:cNvPr id="48" name="Text 40"/>
          <p:cNvSpPr txBox="1"/>
          <p:nvPr/>
        </p:nvSpPr>
        <p:spPr>
          <a:xfrm>
            <a:off x="1968520" y="3323597"/>
            <a:ext cx="137160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Deploy from a branch ▾</a:t>
            </a:r>
            <a:endParaRPr lang="en-US" sz="650" dirty="0"/>
          </a:p>
        </p:txBody>
      </p:sp>
      <p:sp>
        <p:nvSpPr>
          <p:cNvPr id="49" name="Text 41"/>
          <p:cNvSpPr txBox="1"/>
          <p:nvPr/>
        </p:nvSpPr>
        <p:spPr>
          <a:xfrm>
            <a:off x="1913656" y="3616205"/>
            <a:ext cx="914400" cy="146304"/>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Branch</a:t>
            </a:r>
            <a:endParaRPr lang="en-US" sz="700" dirty="0"/>
          </a:p>
        </p:txBody>
      </p:sp>
      <p:sp>
        <p:nvSpPr>
          <p:cNvPr id="50" name="Shape 42"/>
          <p:cNvSpPr/>
          <p:nvPr/>
        </p:nvSpPr>
        <p:spPr>
          <a:xfrm>
            <a:off x="1913656" y="3771653"/>
            <a:ext cx="640080" cy="201168"/>
          </a:xfrm>
          <a:prstGeom prst="roundRect">
            <a:avLst>
              <a:gd name="adj" fmla="val 18182"/>
            </a:avLst>
          </a:prstGeom>
          <a:solidFill>
            <a:srgbClr val="F6F8FA"/>
          </a:solidFill>
          <a:ln w="9525">
            <a:solidFill>
              <a:srgbClr val="D0D7DE"/>
            </a:solidFill>
            <a:prstDash val="solid"/>
          </a:ln>
        </p:spPr>
      </p:sp>
      <p:sp>
        <p:nvSpPr>
          <p:cNvPr id="51" name="Text 43"/>
          <p:cNvSpPr txBox="1"/>
          <p:nvPr/>
        </p:nvSpPr>
        <p:spPr>
          <a:xfrm>
            <a:off x="1968520" y="3771653"/>
            <a:ext cx="64008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main ▾</a:t>
            </a:r>
            <a:endParaRPr lang="en-US" sz="650" dirty="0"/>
          </a:p>
        </p:txBody>
      </p:sp>
      <p:sp>
        <p:nvSpPr>
          <p:cNvPr id="52" name="Shape 44"/>
          <p:cNvSpPr/>
          <p:nvPr/>
        </p:nvSpPr>
        <p:spPr>
          <a:xfrm>
            <a:off x="2626888" y="3771653"/>
            <a:ext cx="640080" cy="201168"/>
          </a:xfrm>
          <a:prstGeom prst="roundRect">
            <a:avLst>
              <a:gd name="adj" fmla="val 18182"/>
            </a:avLst>
          </a:prstGeom>
          <a:solidFill>
            <a:srgbClr val="F6F8FA"/>
          </a:solidFill>
          <a:ln w="9525">
            <a:solidFill>
              <a:srgbClr val="D0D7DE"/>
            </a:solidFill>
            <a:prstDash val="solid"/>
          </a:ln>
        </p:spPr>
      </p:sp>
      <p:sp>
        <p:nvSpPr>
          <p:cNvPr id="53" name="Text 45"/>
          <p:cNvSpPr txBox="1"/>
          <p:nvPr/>
        </p:nvSpPr>
        <p:spPr>
          <a:xfrm>
            <a:off x="2681752" y="3771653"/>
            <a:ext cx="64008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 (root) ▾</a:t>
            </a:r>
            <a:endParaRPr lang="en-US" sz="650" dirty="0"/>
          </a:p>
        </p:txBody>
      </p:sp>
      <p:sp>
        <p:nvSpPr>
          <p:cNvPr id="54" name="Shape 46"/>
          <p:cNvSpPr/>
          <p:nvPr/>
        </p:nvSpPr>
        <p:spPr>
          <a:xfrm>
            <a:off x="3340120" y="3771653"/>
            <a:ext cx="457200" cy="201168"/>
          </a:xfrm>
          <a:prstGeom prst="roundRect">
            <a:avLst>
              <a:gd name="adj" fmla="val 18182"/>
            </a:avLst>
          </a:prstGeom>
          <a:solidFill>
            <a:srgbClr val="F6F8FA"/>
          </a:solidFill>
          <a:ln w="9525">
            <a:solidFill>
              <a:srgbClr val="D0D7DE"/>
            </a:solidFill>
            <a:prstDash val="solid"/>
          </a:ln>
        </p:spPr>
      </p:sp>
      <p:sp>
        <p:nvSpPr>
          <p:cNvPr id="55" name="Text 47"/>
          <p:cNvSpPr txBox="1"/>
          <p:nvPr/>
        </p:nvSpPr>
        <p:spPr>
          <a:xfrm>
            <a:off x="3340120" y="3771653"/>
            <a:ext cx="45720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Save</a:t>
            </a:r>
            <a:endParaRPr lang="en-US" sz="700" dirty="0"/>
          </a:p>
        </p:txBody>
      </p:sp>
      <p:sp>
        <p:nvSpPr>
          <p:cNvPr id="56" name="Shape 48"/>
          <p:cNvSpPr/>
          <p:nvPr/>
        </p:nvSpPr>
        <p:spPr>
          <a:xfrm>
            <a:off x="1895368" y="2336045"/>
            <a:ext cx="3524463" cy="493776"/>
          </a:xfrm>
          <a:prstGeom prst="roundRect">
            <a:avLst>
              <a:gd name="adj" fmla="val 9259"/>
            </a:avLst>
          </a:prstGeom>
          <a:solidFill>
            <a:srgbClr val="FFFFFF">
              <a:alpha val="0"/>
            </a:srgbClr>
          </a:solidFill>
          <a:ln w="31750">
            <a:solidFill>
              <a:srgbClr val="E53935"/>
            </a:solidFill>
            <a:prstDash val="solid"/>
          </a:ln>
        </p:spPr>
      </p:sp>
      <p:sp>
        <p:nvSpPr>
          <p:cNvPr id="57" name="Shape 49"/>
          <p:cNvSpPr/>
          <p:nvPr/>
        </p:nvSpPr>
        <p:spPr>
          <a:xfrm>
            <a:off x="5282672" y="2198885"/>
            <a:ext cx="274320" cy="274320"/>
          </a:xfrm>
          <a:prstGeom prst="ellipse">
            <a:avLst/>
          </a:prstGeom>
          <a:solidFill>
            <a:srgbClr val="E53935"/>
          </a:solidFill>
          <a:ln w="12700">
            <a:solidFill>
              <a:srgbClr val="FFFFFF"/>
            </a:solidFill>
            <a:prstDash val="solid"/>
          </a:ln>
        </p:spPr>
      </p:sp>
      <p:sp>
        <p:nvSpPr>
          <p:cNvPr id="58" name="Text 50"/>
          <p:cNvSpPr txBox="1"/>
          <p:nvPr/>
        </p:nvSpPr>
        <p:spPr>
          <a:xfrm>
            <a:off x="5282672"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59" name="Image 6" descr="preencoded.png">    </p:cNvPr>
          <p:cNvPicPr>
            <a:picLocks noChangeAspect="1"/>
          </p:cNvPicPr>
          <p:nvPr/>
        </p:nvPicPr>
        <p:blipFill>
          <a:blip r:embed="rId7"/>
          <a:stretch>
            <a:fillRect/>
          </a:stretch>
        </p:blipFill>
        <p:spPr>
          <a:xfrm>
            <a:off x="3831994" y="2605793"/>
            <a:ext cx="237744" cy="237744"/>
          </a:xfrm>
          <a:prstGeom prst="rect">
            <a:avLst/>
          </a:prstGeom>
        </p:spPr>
      </p:pic>
      <p:sp>
        <p:nvSpPr>
          <p:cNvPr id="60" name="Text 5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61" name="Text 5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Upload ke GitHub, aktifkan Pages</a:t>
            </a:r>
            <a:endParaRPr lang="en-US" sz="1800" dirty="0"/>
          </a:p>
        </p:txBody>
      </p:sp>
      <p:sp>
        <p:nvSpPr>
          <p:cNvPr id="62" name="Text 5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Buat repository baru: perpus-digital-kel1 (atau pakai repo lama). Upload file, commit, Settings › Pages › main › Save.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Terbit &amp; QR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Shape 7"/>
          <p:cNvSpPr/>
          <p:nvPr/>
        </p:nvSpPr>
        <p:spPr>
          <a:xfrm>
            <a:off x="2251710" y="1143000"/>
            <a:ext cx="1623060" cy="274320"/>
          </a:xfrm>
          <a:prstGeom prst="rect">
            <a:avLst/>
          </a:prstGeom>
          <a:solidFill>
            <a:srgbClr val="F1F3F4"/>
          </a:solidFill>
          <a:ln w="12700">
            <a:solidFill>
              <a:srgbClr val="F1F3F4"/>
            </a:solidFill>
            <a:prstDash val="solid"/>
          </a:ln>
        </p:spPr>
      </p:sp>
      <p:sp>
        <p:nvSpPr>
          <p:cNvPr id="12" name="Text 8"/>
          <p:cNvSpPr txBox="1"/>
          <p:nvPr/>
        </p:nvSpPr>
        <p:spPr>
          <a:xfrm>
            <a:off x="2297430" y="1143000"/>
            <a:ext cx="1531620" cy="274320"/>
          </a:xfrm>
          <a:prstGeom prst="rect">
            <a:avLst/>
          </a:prstGeom>
          <a:noFill/>
          <a:ln/>
        </p:spPr>
        <p:txBody>
          <a:bodyPr wrap="square" lIns="0" tIns="0" rIns="0" bIns="0" rtlCol="0" anchor="ctr"/>
          <a:lstStyle/>
          <a:p>
            <a:pPr indent="0" marL="0">
              <a:buNone/>
            </a:pPr>
            <a:r>
              <a:rPr lang="en-US" sz="600" dirty="0">
                <a:solidFill>
                  <a:srgbClr val="1E2A26"/>
                </a:solidFill>
                <a:latin typeface="Calibri" pitchFamily="34" charset="0"/>
                <a:ea typeface="Calibri" pitchFamily="34" charset="-122"/>
                <a:cs typeface="Calibri" pitchFamily="34" charset="-120"/>
              </a:rPr>
              <a:t>santri-wu-kel1.github.io/perpus...</a:t>
            </a:r>
            <a:endParaRPr lang="en-US" sz="600" dirty="0"/>
          </a:p>
        </p:txBody>
      </p:sp>
      <p:sp>
        <p:nvSpPr>
          <p:cNvPr id="13" name="Shape 9"/>
          <p:cNvSpPr/>
          <p:nvPr/>
        </p:nvSpPr>
        <p:spPr>
          <a:xfrm>
            <a:off x="2251710" y="1417320"/>
            <a:ext cx="1623060" cy="411480"/>
          </a:xfrm>
          <a:prstGeom prst="rect">
            <a:avLst/>
          </a:prstGeom>
          <a:solidFill>
            <a:srgbClr val="0F4C3A"/>
          </a:solidFill>
          <a:ln w="12700">
            <a:solidFill>
              <a:srgbClr val="0F4C3A"/>
            </a:solidFill>
            <a:prstDash val="solid"/>
          </a:ln>
        </p:spPr>
      </p:sp>
      <p:sp>
        <p:nvSpPr>
          <p:cNvPr id="14" name="Text 10"/>
          <p:cNvSpPr txBox="1"/>
          <p:nvPr/>
        </p:nvSpPr>
        <p:spPr>
          <a:xfrm>
            <a:off x="2324862" y="1435608"/>
            <a:ext cx="1531620" cy="365760"/>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Perpustakaan Digital</a:t>
            </a:r>
            <a:endParaRPr lang="en-US" sz="850" dirty="0"/>
          </a:p>
        </p:txBody>
      </p:sp>
      <p:sp>
        <p:nvSpPr>
          <p:cNvPr id="15" name="Shape 11"/>
          <p:cNvSpPr/>
          <p:nvPr/>
        </p:nvSpPr>
        <p:spPr>
          <a:xfrm>
            <a:off x="2251710" y="1828800"/>
            <a:ext cx="1623060" cy="2743200"/>
          </a:xfrm>
          <a:prstGeom prst="rect">
            <a:avLst/>
          </a:prstGeom>
          <a:solidFill>
            <a:srgbClr val="F3F8F5"/>
          </a:solidFill>
          <a:ln w="12700">
            <a:solidFill>
              <a:srgbClr val="F3F8F5"/>
            </a:solidFill>
            <a:prstDash val="solid"/>
          </a:ln>
        </p:spPr>
      </p:sp>
      <p:sp>
        <p:nvSpPr>
          <p:cNvPr id="16" name="Shape 12"/>
          <p:cNvSpPr/>
          <p:nvPr/>
        </p:nvSpPr>
        <p:spPr>
          <a:xfrm>
            <a:off x="2324862" y="1920240"/>
            <a:ext cx="1476756" cy="1280160"/>
          </a:xfrm>
          <a:prstGeom prst="rect">
            <a:avLst/>
          </a:prstGeom>
          <a:solidFill>
            <a:srgbClr val="F0EBF8"/>
          </a:solidFill>
          <a:ln w="12700">
            <a:solidFill>
              <a:srgbClr val="F0EBF8"/>
            </a:solidFill>
            <a:prstDash val="solid"/>
          </a:ln>
        </p:spPr>
      </p:sp>
      <p:sp>
        <p:nvSpPr>
          <p:cNvPr id="17" name="Shape 13"/>
          <p:cNvSpPr/>
          <p:nvPr/>
        </p:nvSpPr>
        <p:spPr>
          <a:xfrm>
            <a:off x="2388870" y="1984248"/>
            <a:ext cx="1348740" cy="45720"/>
          </a:xfrm>
          <a:prstGeom prst="rect">
            <a:avLst/>
          </a:prstGeom>
          <a:solidFill>
            <a:srgbClr val="673AB7"/>
          </a:solidFill>
          <a:ln w="12700">
            <a:solidFill>
              <a:srgbClr val="673AB7"/>
            </a:solidFill>
            <a:prstDash val="solid"/>
          </a:ln>
        </p:spPr>
      </p:sp>
      <p:sp>
        <p:nvSpPr>
          <p:cNvPr id="18" name="Text 14"/>
          <p:cNvSpPr txBox="1"/>
          <p:nvPr/>
        </p:nvSpPr>
        <p:spPr>
          <a:xfrm>
            <a:off x="2388870" y="2057400"/>
            <a:ext cx="1348740" cy="228600"/>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Usulan Buku Perpustakaan</a:t>
            </a:r>
            <a:endParaRPr lang="en-US" sz="700" dirty="0"/>
          </a:p>
        </p:txBody>
      </p:sp>
      <p:sp>
        <p:nvSpPr>
          <p:cNvPr id="19" name="Shape 15"/>
          <p:cNvSpPr/>
          <p:nvPr/>
        </p:nvSpPr>
        <p:spPr>
          <a:xfrm>
            <a:off x="2388870" y="2331720"/>
            <a:ext cx="1348740" cy="228600"/>
          </a:xfrm>
          <a:prstGeom prst="rect">
            <a:avLst/>
          </a:prstGeom>
          <a:solidFill>
            <a:srgbClr val="FFFFFF"/>
          </a:solidFill>
          <a:ln w="12700">
            <a:solidFill>
              <a:srgbClr val="FFFFFF"/>
            </a:solidFill>
            <a:prstDash val="solid"/>
          </a:ln>
        </p:spPr>
      </p:sp>
      <p:sp>
        <p:nvSpPr>
          <p:cNvPr id="20" name="Shape 16"/>
          <p:cNvSpPr/>
          <p:nvPr/>
        </p:nvSpPr>
        <p:spPr>
          <a:xfrm>
            <a:off x="2388870" y="2624328"/>
            <a:ext cx="1348740" cy="228600"/>
          </a:xfrm>
          <a:prstGeom prst="rect">
            <a:avLst/>
          </a:prstGeom>
          <a:solidFill>
            <a:srgbClr val="FFFFFF"/>
          </a:solidFill>
          <a:ln w="12700">
            <a:solidFill>
              <a:srgbClr val="FFFFFF"/>
            </a:solidFill>
            <a:prstDash val="solid"/>
          </a:ln>
        </p:spPr>
      </p:sp>
      <p:sp>
        <p:nvSpPr>
          <p:cNvPr id="21" name="Shape 17"/>
          <p:cNvSpPr/>
          <p:nvPr/>
        </p:nvSpPr>
        <p:spPr>
          <a:xfrm>
            <a:off x="2279142" y="1874520"/>
            <a:ext cx="1568196" cy="1371600"/>
          </a:xfrm>
          <a:prstGeom prst="roundRect">
            <a:avLst>
              <a:gd name="adj" fmla="val 3333"/>
            </a:avLst>
          </a:prstGeom>
          <a:solidFill>
            <a:srgbClr val="FFFFFF">
              <a:alpha val="0"/>
            </a:srgbClr>
          </a:solidFill>
          <a:ln w="31750">
            <a:solidFill>
              <a:srgbClr val="E53935"/>
            </a:solidFill>
            <a:prstDash val="solid"/>
          </a:ln>
        </p:spPr>
      </p:sp>
      <p:sp>
        <p:nvSpPr>
          <p:cNvPr id="22" name="Shape 18"/>
          <p:cNvSpPr/>
          <p:nvPr/>
        </p:nvSpPr>
        <p:spPr>
          <a:xfrm>
            <a:off x="3710178" y="1737360"/>
            <a:ext cx="274320" cy="274320"/>
          </a:xfrm>
          <a:prstGeom prst="ellipse">
            <a:avLst/>
          </a:prstGeom>
          <a:solidFill>
            <a:srgbClr val="E53935"/>
          </a:solidFill>
          <a:ln w="12700">
            <a:solidFill>
              <a:srgbClr val="FFFFFF"/>
            </a:solidFill>
            <a:prstDash val="solid"/>
          </a:ln>
        </p:spPr>
      </p:sp>
      <p:sp>
        <p:nvSpPr>
          <p:cNvPr id="23" name="Text 19"/>
          <p:cNvSpPr txBox="1"/>
          <p:nvPr/>
        </p:nvSpPr>
        <p:spPr>
          <a:xfrm>
            <a:off x="3710178" y="17373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24" name="Image 2" descr="preencoded.png">    </p:cNvPr>
          <p:cNvPicPr>
            <a:picLocks noChangeAspect="1"/>
          </p:cNvPicPr>
          <p:nvPr/>
        </p:nvPicPr>
        <p:blipFill>
          <a:blip r:embed="rId3"/>
          <a:stretch>
            <a:fillRect/>
          </a:stretch>
        </p:blipFill>
        <p:spPr>
          <a:xfrm>
            <a:off x="3139821" y="2627071"/>
            <a:ext cx="237744" cy="237744"/>
          </a:xfrm>
          <a:prstGeom prst="rect">
            <a:avLst/>
          </a:prstGeom>
        </p:spPr>
      </p:pic>
      <p:sp>
        <p:nvSpPr>
          <p:cNvPr id="25" name="Text 2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26" name="Text 2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PM: buat QR website, uji singkat dari HP</a:t>
            </a:r>
            <a:endParaRPr lang="en-US" sz="1800" dirty="0"/>
          </a:p>
        </p:txBody>
      </p:sp>
      <p:sp>
        <p:nvSpPr>
          <p:cNvPr id="27" name="Text 2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website online, klik kanan › Create QR code › Download. Pindai dari HP: website terbuka dan formulir bisa diisi.</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35</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Sebelum pekan depan, sistem kelompok harus memiliki: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Formulir tanpa data pribadi yang terhubung ke Sheets.</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Dashboard ringkasan dengan kartu angka dan grafik.</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Website online dengan formulir tersemat (iframe) dan link dashboard.</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File QR website dan daftar uji yang siap dipakai.</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Formulir dan Sheets siap</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Website berisi formulir tersemat</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Website online di GitHub Pages</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QR mengarah ke website</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Komponen mana yang paling menantang?</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kelompokmu bekerja sama hari ini?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Kerja sama yang baik: saling membantu, saling mengingatkan, dan menyelesaikan amanah tepat waktu.</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Uji, perbaiki, dan presentasikan sistem.</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36</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Uji, Presentasi &amp; Pameran</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Akhir Kelas VIII: Digital Information System</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12: Proyek Akhir Kelas VIII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kita tahu sistem kita benar-benar bermanfaat bagi pengguna?</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36</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Menguji sistem bersama pengguna nyata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Memperbaiki temuan dan mendokumentasikannya</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Mempresentasikan sistem dan merefleksikan perjalanan Kelas VIII</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Uji – Perbaiki –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Uji Pengguna</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Pengguna nyata mencoba sistem dari HP, tester mencatat</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Perbaiki</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Perbaiki temuan, commit dengan pesan jelas</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Presentasi</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Masalah, solusi, demo, hasil, dan pelajaran</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Pengguna bingung mencari formulir → pindahkan formulir ke atas halaman → commit "Pindahkan formulir ke bagian atas" → uji ulang.</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Isi Presentasi (5 Menit)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1. Masalah</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Masalah nyata apa dan siapa penggunanya.</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2. Solusi</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Diagram alur: formulir → Sheets → dashboard → website → QR.</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3. Demo</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Pindai QR, isi formulir, tunjukkan dashboard berubah.</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4. Hasil</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Ukuran berhasil tercapai? Masukan pengguna?</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5. Pelajaran</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Kesulitan, error yang diperbaiki, rencana pengembangan.</a:t>
            </a:r>
            <a:endParaRPr lang="en-US" sz="1250" dirty="0"/>
          </a:p>
        </p:txBody>
      </p:sp>
      <p:sp>
        <p:nvSpPr>
          <p:cNvPr id="34" name="Shape 25"/>
          <p:cNvSpPr/>
          <p:nvPr/>
        </p:nvSpPr>
        <p:spPr>
          <a:xfrm>
            <a:off x="6096000" y="2948940"/>
            <a:ext cx="2590800" cy="1668780"/>
          </a:xfrm>
          <a:prstGeom prst="roundRect">
            <a:avLst>
              <a:gd name="adj" fmla="val 6575"/>
            </a:avLst>
          </a:prstGeom>
          <a:solidFill>
            <a:srgbClr val="E6F2EC"/>
          </a:solidFill>
          <a:ln w="12700">
            <a:solidFill>
              <a:srgbClr val="E6F2EC"/>
            </a:solidFill>
            <a:prstDash val="solid"/>
          </a:ln>
        </p:spPr>
      </p:sp>
      <p:sp>
        <p:nvSpPr>
          <p:cNvPr id="35" name="Shape 26"/>
          <p:cNvSpPr/>
          <p:nvPr/>
        </p:nvSpPr>
        <p:spPr>
          <a:xfrm>
            <a:off x="6278880" y="3131820"/>
            <a:ext cx="548640" cy="548640"/>
          </a:xfrm>
          <a:prstGeom prst="ellipse">
            <a:avLst/>
          </a:prstGeom>
          <a:solidFill>
            <a:srgbClr val="0F4C3A"/>
          </a:solidFill>
          <a:ln/>
        </p:spPr>
      </p:sp>
      <p:pic>
        <p:nvPicPr>
          <p:cNvPr id="36" name="Image 7" descr="preencoded.png">    </p:cNvPr>
          <p:cNvPicPr>
            <a:picLocks noChangeAspect="1"/>
          </p:cNvPicPr>
          <p:nvPr/>
        </p:nvPicPr>
        <p:blipFill>
          <a:blip r:embed="rId8"/>
          <a:stretch>
            <a:fillRect/>
          </a:stretch>
        </p:blipFill>
        <p:spPr>
          <a:xfrm>
            <a:off x="6416040" y="3268980"/>
            <a:ext cx="274320" cy="274320"/>
          </a:xfrm>
          <a:prstGeom prst="rect">
            <a:avLst/>
          </a:prstGeom>
        </p:spPr>
      </p:pic>
      <p:sp>
        <p:nvSpPr>
          <p:cNvPr id="37" name="Text 27"/>
          <p:cNvSpPr txBox="1"/>
          <p:nvPr/>
        </p:nvSpPr>
        <p:spPr>
          <a:xfrm>
            <a:off x="69646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Peran Tim</a:t>
            </a:r>
            <a:endParaRPr lang="en-US" sz="1600" dirty="0"/>
          </a:p>
        </p:txBody>
      </p:sp>
      <p:sp>
        <p:nvSpPr>
          <p:cNvPr id="38" name="Text 28"/>
          <p:cNvSpPr txBox="1"/>
          <p:nvPr/>
        </p:nvSpPr>
        <p:spPr>
          <a:xfrm>
            <a:off x="62788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Setiap anggota berbicara tentang bagiannya.</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Menyelesaikan Proyek Akhir</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Uji pengguna · perbaikan · presentasi</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Uji pengguna</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Perbaikan dan README</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Presentasi dan refleksi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 Pengguna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1325880" y="1600200"/>
            <a:ext cx="548640" cy="548640"/>
          </a:xfrm>
          <a:prstGeom prst="ellipse">
            <a:avLst/>
          </a:prstGeom>
          <a:solidFill>
            <a:srgbClr val="E8C39E"/>
          </a:solidFill>
          <a:ln/>
        </p:spPr>
      </p:sp>
      <p:sp>
        <p:nvSpPr>
          <p:cNvPr id="11" name="Shape 7"/>
          <p:cNvSpPr/>
          <p:nvPr/>
        </p:nvSpPr>
        <p:spPr>
          <a:xfrm>
            <a:off x="1188720" y="2194560"/>
            <a:ext cx="822960" cy="1097280"/>
          </a:xfrm>
          <a:prstGeom prst="roundRect">
            <a:avLst>
              <a:gd name="adj" fmla="val 22222"/>
            </a:avLst>
          </a:prstGeom>
          <a:solidFill>
            <a:srgbClr val="1F7A5C"/>
          </a:solidFill>
          <a:ln w="12700">
            <a:solidFill>
              <a:srgbClr val="1F7A5C"/>
            </a:solidFill>
            <a:prstDash val="solid"/>
          </a:ln>
        </p:spPr>
      </p:sp>
      <p:sp>
        <p:nvSpPr>
          <p:cNvPr id="12" name="Shape 8"/>
          <p:cNvSpPr/>
          <p:nvPr/>
        </p:nvSpPr>
        <p:spPr>
          <a:xfrm>
            <a:off x="2171700" y="1965960"/>
            <a:ext cx="594360" cy="1188720"/>
          </a:xfrm>
          <a:prstGeom prst="roundRect">
            <a:avLst>
              <a:gd name="adj" fmla="val 27692"/>
            </a:avLst>
          </a:prstGeom>
          <a:solidFill>
            <a:srgbClr val="1A1A1A"/>
          </a:solidFill>
          <a:ln w="12700">
            <a:solidFill>
              <a:srgbClr val="1A1A1A"/>
            </a:solidFill>
            <a:prstDash val="solid"/>
          </a:ln>
        </p:spPr>
      </p:sp>
      <p:sp>
        <p:nvSpPr>
          <p:cNvPr id="13" name="Shape 9"/>
          <p:cNvSpPr/>
          <p:nvPr/>
        </p:nvSpPr>
        <p:spPr>
          <a:xfrm>
            <a:off x="2263140" y="2057400"/>
            <a:ext cx="411480" cy="1005840"/>
          </a:xfrm>
          <a:prstGeom prst="roundRect">
            <a:avLst>
              <a:gd name="adj" fmla="val 26667"/>
            </a:avLst>
          </a:prstGeom>
          <a:solidFill>
            <a:srgbClr val="FFFFFF"/>
          </a:solidFill>
          <a:ln w="12700">
            <a:solidFill>
              <a:srgbClr val="FFFFFF"/>
            </a:solidFill>
            <a:prstDash val="solid"/>
          </a:ln>
        </p:spPr>
      </p:sp>
      <p:sp>
        <p:nvSpPr>
          <p:cNvPr id="14" name="Shape 10"/>
          <p:cNvSpPr/>
          <p:nvPr/>
        </p:nvSpPr>
        <p:spPr>
          <a:xfrm>
            <a:off x="2263140" y="2057400"/>
            <a:ext cx="411480" cy="1005840"/>
          </a:xfrm>
          <a:prstGeom prst="roundRect">
            <a:avLst>
              <a:gd name="adj" fmla="val 11111"/>
            </a:avLst>
          </a:prstGeom>
          <a:solidFill>
            <a:srgbClr val="F0EBF8"/>
          </a:solidFill>
          <a:ln w="12700">
            <a:solidFill>
              <a:srgbClr val="F0EBF8"/>
            </a:solidFill>
            <a:prstDash val="solid"/>
          </a:ln>
        </p:spPr>
      </p:sp>
      <p:sp>
        <p:nvSpPr>
          <p:cNvPr id="15" name="Shape 11"/>
          <p:cNvSpPr/>
          <p:nvPr/>
        </p:nvSpPr>
        <p:spPr>
          <a:xfrm>
            <a:off x="3886200" y="1600200"/>
            <a:ext cx="548640" cy="548640"/>
          </a:xfrm>
          <a:prstGeom prst="ellipse">
            <a:avLst/>
          </a:prstGeom>
          <a:solidFill>
            <a:srgbClr val="E8C39E"/>
          </a:solidFill>
          <a:ln/>
        </p:spPr>
      </p:sp>
      <p:sp>
        <p:nvSpPr>
          <p:cNvPr id="16" name="Shape 12"/>
          <p:cNvSpPr/>
          <p:nvPr/>
        </p:nvSpPr>
        <p:spPr>
          <a:xfrm>
            <a:off x="3749040" y="2194560"/>
            <a:ext cx="822960" cy="1097280"/>
          </a:xfrm>
          <a:prstGeom prst="roundRect">
            <a:avLst>
              <a:gd name="adj" fmla="val 22222"/>
            </a:avLst>
          </a:prstGeom>
          <a:solidFill>
            <a:srgbClr val="D4A017"/>
          </a:solidFill>
          <a:ln w="12700">
            <a:solidFill>
              <a:srgbClr val="D4A017"/>
            </a:solidFill>
            <a:prstDash val="solid"/>
          </a:ln>
        </p:spPr>
      </p:sp>
      <p:sp>
        <p:nvSpPr>
          <p:cNvPr id="17" name="Shape 13"/>
          <p:cNvSpPr/>
          <p:nvPr/>
        </p:nvSpPr>
        <p:spPr>
          <a:xfrm>
            <a:off x="4617720" y="2240280"/>
            <a:ext cx="822960" cy="1005840"/>
          </a:xfrm>
          <a:prstGeom prst="rect">
            <a:avLst/>
          </a:prstGeom>
          <a:solidFill>
            <a:srgbClr val="FFFFFF"/>
          </a:solidFill>
          <a:ln w="9525">
            <a:solidFill>
              <a:srgbClr val="999999"/>
            </a:solidFill>
            <a:prstDash val="solid"/>
          </a:ln>
        </p:spPr>
      </p:sp>
      <p:sp>
        <p:nvSpPr>
          <p:cNvPr id="18" name="Text 14"/>
          <p:cNvSpPr txBox="1"/>
          <p:nvPr/>
        </p:nvSpPr>
        <p:spPr>
          <a:xfrm>
            <a:off x="4645152" y="2267712"/>
            <a:ext cx="777240" cy="914400"/>
          </a:xfrm>
          <a:prstGeom prst="rect">
            <a:avLst/>
          </a:prstGeom>
          <a:noFill/>
          <a:ln/>
        </p:spPr>
        <p:txBody>
          <a:bodyPr wrap="square" lIns="0" tIns="0" rIns="0" bIns="0" rtlCol="0" anchor="t"/>
          <a:lstStyle/>
          <a:p>
            <a:pPr indent="0" marL="0">
              <a:buNone/>
            </a:pPr>
            <a:r>
              <a:rPr lang="en-US" sz="700" dirty="0">
                <a:solidFill>
                  <a:srgbClr val="1155CC"/>
                </a:solidFill>
                <a:latin typeface="Arial" pitchFamily="34" charset="0"/>
                <a:ea typeface="Arial" pitchFamily="34" charset="-122"/>
                <a:cs typeface="Arial" pitchFamily="34" charset="-120"/>
              </a:rPr>
              <a:t>Catatan uji:</a:t>
            </a:r>
            <a:endParaRPr lang="en-US" sz="700" dirty="0"/>
          </a:p>
          <a:p>
            <a:pPr indent="0" marL="0">
              <a:buNone/>
            </a:pPr>
            <a:r>
              <a:rPr lang="en-US" sz="700" dirty="0">
                <a:solidFill>
                  <a:srgbClr val="1155CC"/>
                </a:solidFill>
                <a:latin typeface="Arial" pitchFamily="34" charset="0"/>
                <a:ea typeface="Arial" pitchFamily="34" charset="-122"/>
                <a:cs typeface="Arial" pitchFamily="34" charset="-120"/>
              </a:rPr>
              <a:t>• formulir di bawah</a:t>
            </a:r>
            <a:endParaRPr lang="en-US" sz="700" dirty="0"/>
          </a:p>
          <a:p>
            <a:pPr indent="0" marL="0">
              <a:buNone/>
            </a:pPr>
            <a:r>
              <a:rPr lang="en-US" sz="700" dirty="0">
                <a:solidFill>
                  <a:srgbClr val="1155CC"/>
                </a:solidFill>
                <a:latin typeface="Arial" pitchFamily="34" charset="0"/>
                <a:ea typeface="Arial" pitchFamily="34" charset="-122"/>
                <a:cs typeface="Arial" pitchFamily="34" charset="-120"/>
              </a:rPr>
              <a:t>• tombol kecil</a:t>
            </a:r>
            <a:endParaRPr lang="en-US" sz="700" dirty="0"/>
          </a:p>
        </p:txBody>
      </p:sp>
      <p:sp>
        <p:nvSpPr>
          <p:cNvPr id="19" name="Text 15"/>
          <p:cNvSpPr txBox="1"/>
          <p:nvPr/>
        </p:nvSpPr>
        <p:spPr>
          <a:xfrm>
            <a:off x="1051560" y="3429000"/>
            <a:ext cx="1097280" cy="274320"/>
          </a:xfrm>
          <a:prstGeom prst="rect">
            <a:avLst/>
          </a:prstGeom>
          <a:noFill/>
          <a:ln/>
        </p:spPr>
        <p:txBody>
          <a:bodyPr wrap="square" lIns="0" tIns="0" rIns="0" bIns="0" rtlCol="0" anchor="t"/>
          <a:lstStyle/>
          <a:p>
            <a:pPr algn="ctr" indent="0" marL="0">
              <a:buNone/>
            </a:pPr>
            <a:r>
              <a:rPr lang="en-US" sz="1200" b="1" dirty="0">
                <a:solidFill>
                  <a:srgbClr val="1E2A26"/>
                </a:solidFill>
                <a:latin typeface="Calibri" pitchFamily="34" charset="0"/>
                <a:ea typeface="Calibri" pitchFamily="34" charset="-122"/>
                <a:cs typeface="Calibri" pitchFamily="34" charset="-120"/>
              </a:rPr>
              <a:t>Pengguna</a:t>
            </a:r>
            <a:endParaRPr lang="en-US" sz="1200" dirty="0"/>
          </a:p>
        </p:txBody>
      </p:sp>
      <p:sp>
        <p:nvSpPr>
          <p:cNvPr id="20" name="Text 16"/>
          <p:cNvSpPr txBox="1"/>
          <p:nvPr/>
        </p:nvSpPr>
        <p:spPr>
          <a:xfrm>
            <a:off x="3611880" y="3429000"/>
            <a:ext cx="1097280" cy="274320"/>
          </a:xfrm>
          <a:prstGeom prst="rect">
            <a:avLst/>
          </a:prstGeom>
          <a:noFill/>
          <a:ln/>
        </p:spPr>
        <p:txBody>
          <a:bodyPr wrap="square" lIns="0" tIns="0" rIns="0" bIns="0" rtlCol="0" anchor="t"/>
          <a:lstStyle/>
          <a:p>
            <a:pPr algn="ctr" indent="0" marL="0">
              <a:buNone/>
            </a:pPr>
            <a:r>
              <a:rPr lang="en-US" sz="1200" b="1" dirty="0">
                <a:solidFill>
                  <a:srgbClr val="1E2A26"/>
                </a:solidFill>
                <a:latin typeface="Calibri" pitchFamily="34" charset="0"/>
                <a:ea typeface="Calibri" pitchFamily="34" charset="-122"/>
                <a:cs typeface="Calibri" pitchFamily="34" charset="-120"/>
              </a:rPr>
              <a:t>Tester</a:t>
            </a:r>
            <a:endParaRPr lang="en-US" sz="1200" dirty="0"/>
          </a:p>
        </p:txBody>
      </p:sp>
      <p:sp>
        <p:nvSpPr>
          <p:cNvPr id="21" name="Shape 17"/>
          <p:cNvSpPr/>
          <p:nvPr/>
        </p:nvSpPr>
        <p:spPr>
          <a:xfrm>
            <a:off x="4544568" y="2167128"/>
            <a:ext cx="969264" cy="1152144"/>
          </a:xfrm>
          <a:prstGeom prst="roundRect">
            <a:avLst>
              <a:gd name="adj" fmla="val 4717"/>
            </a:avLst>
          </a:prstGeom>
          <a:solidFill>
            <a:srgbClr val="FFFFFF">
              <a:alpha val="0"/>
            </a:srgbClr>
          </a:solidFill>
          <a:ln w="31750">
            <a:solidFill>
              <a:srgbClr val="E53935"/>
            </a:solidFill>
            <a:prstDash val="solid"/>
          </a:ln>
        </p:spPr>
      </p:sp>
      <p:sp>
        <p:nvSpPr>
          <p:cNvPr id="22" name="Shape 18"/>
          <p:cNvSpPr/>
          <p:nvPr/>
        </p:nvSpPr>
        <p:spPr>
          <a:xfrm>
            <a:off x="5376672" y="2029968"/>
            <a:ext cx="274320" cy="274320"/>
          </a:xfrm>
          <a:prstGeom prst="ellipse">
            <a:avLst/>
          </a:prstGeom>
          <a:solidFill>
            <a:srgbClr val="E53935"/>
          </a:solidFill>
          <a:ln w="12700">
            <a:solidFill>
              <a:srgbClr val="FFFFFF"/>
            </a:solidFill>
            <a:prstDash val="solid"/>
          </a:ln>
        </p:spPr>
      </p:sp>
      <p:sp>
        <p:nvSpPr>
          <p:cNvPr id="23" name="Text 19"/>
          <p:cNvSpPr txBox="1"/>
          <p:nvPr/>
        </p:nvSpPr>
        <p:spPr>
          <a:xfrm>
            <a:off x="5376672" y="20299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24" name="Image 2" descr="preencoded.png">    </p:cNvPr>
          <p:cNvPicPr>
            <a:picLocks noChangeAspect="1"/>
          </p:cNvPicPr>
          <p:nvPr/>
        </p:nvPicPr>
        <p:blipFill>
          <a:blip r:embed="rId3"/>
          <a:stretch>
            <a:fillRect/>
          </a:stretch>
        </p:blipFill>
        <p:spPr>
          <a:xfrm>
            <a:off x="5074920" y="2798064"/>
            <a:ext cx="237744" cy="237744"/>
          </a:xfrm>
          <a:prstGeom prst="rect">
            <a:avLst/>
          </a:prstGeom>
        </p:spPr>
      </p:pic>
      <p:sp>
        <p:nvSpPr>
          <p:cNvPr id="25" name="Text 2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26" name="Text 2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Pengguna mencoba dari HP, tester mengamati</a:t>
            </a:r>
            <a:endParaRPr lang="en-US" sz="1800" dirty="0"/>
          </a:p>
        </p:txBody>
      </p:sp>
      <p:sp>
        <p:nvSpPr>
          <p:cNvPr id="27" name="Text 2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Beri pengguna QR dan satu tugas: "Usulkan satu buku." Tester mencatat tanpa membantu: di mana pengguna bingung?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 Pengguna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Daftar_Uji_Kel1 -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Daftar_Uji_Kel1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Hasil Uji Pengguna</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Pengguna</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Pujian</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Saran</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Santri 8B</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Mudah dari HP</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Formulir di atas</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Pengelola</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Grafik jelas</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Tambah kategori</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Ustadz</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Bermanfaat</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Tombol lebih besar</a:t>
            </a:r>
            <a:endParaRPr lang="en-US" sz="650" dirty="0"/>
          </a:p>
        </p:txBody>
      </p:sp>
      <p:sp>
        <p:nvSpPr>
          <p:cNvPr id="94" name="Shape 83"/>
          <p:cNvSpPr/>
          <p:nvPr/>
        </p:nvSpPr>
        <p:spPr>
          <a:xfrm>
            <a:off x="1527048" y="2849506"/>
            <a:ext cx="3072384" cy="786384"/>
          </a:xfrm>
          <a:prstGeom prst="roundRect">
            <a:avLst>
              <a:gd name="adj" fmla="val 5814"/>
            </a:avLst>
          </a:prstGeom>
          <a:solidFill>
            <a:srgbClr val="FFFFFF">
              <a:alpha val="0"/>
            </a:srgbClr>
          </a:solidFill>
          <a:ln w="31750">
            <a:solidFill>
              <a:srgbClr val="E53935"/>
            </a:solidFill>
            <a:prstDash val="solid"/>
          </a:ln>
        </p:spPr>
      </p:sp>
      <p:sp>
        <p:nvSpPr>
          <p:cNvPr id="95" name="Shape 84"/>
          <p:cNvSpPr/>
          <p:nvPr/>
        </p:nvSpPr>
        <p:spPr>
          <a:xfrm>
            <a:off x="4462272" y="2712346"/>
            <a:ext cx="274320" cy="274320"/>
          </a:xfrm>
          <a:prstGeom prst="ellipse">
            <a:avLst/>
          </a:prstGeom>
          <a:solidFill>
            <a:srgbClr val="E53935"/>
          </a:solidFill>
          <a:ln w="12700">
            <a:solidFill>
              <a:srgbClr val="FFFFFF"/>
            </a:solidFill>
            <a:prstDash val="solid"/>
          </a:ln>
        </p:spPr>
      </p:sp>
      <p:sp>
        <p:nvSpPr>
          <p:cNvPr id="96" name="Text 8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97" name="Image 9" descr="preencoded.png">    </p:cNvPr>
          <p:cNvPicPr>
            <a:picLocks noChangeAspect="1"/>
          </p:cNvPicPr>
          <p:nvPr/>
        </p:nvPicPr>
        <p:blipFill>
          <a:blip r:embed="rId10"/>
          <a:stretch>
            <a:fillRect/>
          </a:stretch>
        </p:blipFill>
        <p:spPr>
          <a:xfrm>
            <a:off x="3214116" y="3279274"/>
            <a:ext cx="237744" cy="237744"/>
          </a:xfrm>
          <a:prstGeom prst="rect">
            <a:avLst/>
          </a:prstGeom>
        </p:spPr>
      </p:pic>
      <p:sp>
        <p:nvSpPr>
          <p:cNvPr id="98" name="Text 8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99" name="Text 8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Minta masukan: 1 pujian, 1 saran</a:t>
            </a:r>
            <a:endParaRPr lang="en-US" sz="1800" dirty="0"/>
          </a:p>
        </p:txBody>
      </p:sp>
      <p:sp>
        <p:nvSpPr>
          <p:cNvPr id="100" name="Text 8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Setelah mencoba, tanyakan: apa yang paling membantu? Apa yang perlu diperbaiki? Catat di daftar uji.</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Perbaikan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santri-wu-kel1 / perpus-digital-kel1</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18288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Commits</a:t>
            </a:r>
            <a:endParaRPr lang="en-US" sz="1100" dirty="0"/>
          </a:p>
        </p:txBody>
      </p:sp>
      <p:sp>
        <p:nvSpPr>
          <p:cNvPr id="33" name="Shape 25"/>
          <p:cNvSpPr/>
          <p:nvPr/>
        </p:nvSpPr>
        <p:spPr>
          <a:xfrm>
            <a:off x="724936" y="2381765"/>
            <a:ext cx="4676607" cy="292608"/>
          </a:xfrm>
          <a:prstGeom prst="rect">
            <a:avLst/>
          </a:prstGeom>
          <a:solidFill>
            <a:srgbClr val="FFFFFF"/>
          </a:solidFill>
          <a:ln w="6350">
            <a:solidFill>
              <a:srgbClr val="D0D7DE"/>
            </a:solidFill>
            <a:prstDash val="solid"/>
          </a:ln>
        </p:spPr>
      </p:sp>
      <p:sp>
        <p:nvSpPr>
          <p:cNvPr id="34" name="Text 26"/>
          <p:cNvSpPr txBox="1"/>
          <p:nvPr/>
        </p:nvSpPr>
        <p:spPr>
          <a:xfrm>
            <a:off x="816376" y="2381765"/>
            <a:ext cx="2805964"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Pindahkan formulir ke bagian atas</a:t>
            </a:r>
            <a:endParaRPr lang="en-US" sz="750" dirty="0"/>
          </a:p>
        </p:txBody>
      </p:sp>
      <p:sp>
        <p:nvSpPr>
          <p:cNvPr id="35" name="Text 27"/>
          <p:cNvSpPr txBox="1"/>
          <p:nvPr/>
        </p:nvSpPr>
        <p:spPr>
          <a:xfrm>
            <a:off x="816376" y="2528069"/>
            <a:ext cx="2805964" cy="13716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santri-wu-kel1 · baru saja</a:t>
            </a:r>
            <a:endParaRPr lang="en-US" sz="600" dirty="0"/>
          </a:p>
        </p:txBody>
      </p:sp>
      <p:sp>
        <p:nvSpPr>
          <p:cNvPr id="36" name="Text 28"/>
          <p:cNvSpPr txBox="1"/>
          <p:nvPr/>
        </p:nvSpPr>
        <p:spPr>
          <a:xfrm>
            <a:off x="4670024" y="2381765"/>
            <a:ext cx="640080" cy="292608"/>
          </a:xfrm>
          <a:prstGeom prst="rect">
            <a:avLst/>
          </a:prstGeom>
          <a:noFill/>
          <a:ln/>
        </p:spPr>
        <p:txBody>
          <a:bodyPr wrap="square" lIns="0" tIns="0" rIns="0" bIns="0" rtlCol="0" anchor="ctr"/>
          <a:lstStyle/>
          <a:p>
            <a:pPr indent="0" marL="0">
              <a:buNone/>
            </a:pPr>
            <a:r>
              <a:rPr lang="en-US" sz="650" dirty="0">
                <a:solidFill>
                  <a:srgbClr val="0969DA"/>
                </a:solidFill>
                <a:latin typeface="Courier New" pitchFamily="34" charset="0"/>
                <a:ea typeface="Courier New" pitchFamily="34" charset="-122"/>
                <a:cs typeface="Courier New" pitchFamily="34" charset="-120"/>
              </a:rPr>
              <a:t>c4e8a1f</a:t>
            </a:r>
            <a:endParaRPr lang="en-US" sz="650" dirty="0"/>
          </a:p>
        </p:txBody>
      </p:sp>
      <p:sp>
        <p:nvSpPr>
          <p:cNvPr id="37" name="Shape 29"/>
          <p:cNvSpPr/>
          <p:nvPr/>
        </p:nvSpPr>
        <p:spPr>
          <a:xfrm>
            <a:off x="724936" y="2710949"/>
            <a:ext cx="4676607" cy="292608"/>
          </a:xfrm>
          <a:prstGeom prst="rect">
            <a:avLst/>
          </a:prstGeom>
          <a:solidFill>
            <a:srgbClr val="FFFFFF"/>
          </a:solidFill>
          <a:ln w="6350">
            <a:solidFill>
              <a:srgbClr val="D0D7DE"/>
            </a:solidFill>
            <a:prstDash val="solid"/>
          </a:ln>
        </p:spPr>
      </p:sp>
      <p:sp>
        <p:nvSpPr>
          <p:cNvPr id="38" name="Text 30"/>
          <p:cNvSpPr txBox="1"/>
          <p:nvPr/>
        </p:nvSpPr>
        <p:spPr>
          <a:xfrm>
            <a:off x="816376" y="2710949"/>
            <a:ext cx="2805964"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Perbesar tombol dashboard</a:t>
            </a:r>
            <a:endParaRPr lang="en-US" sz="750" dirty="0"/>
          </a:p>
        </p:txBody>
      </p:sp>
      <p:sp>
        <p:nvSpPr>
          <p:cNvPr id="39" name="Text 31"/>
          <p:cNvSpPr txBox="1"/>
          <p:nvPr/>
        </p:nvSpPr>
        <p:spPr>
          <a:xfrm>
            <a:off x="816376" y="2857253"/>
            <a:ext cx="2805964" cy="13716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santri-wu-kel1 · baru saja</a:t>
            </a:r>
            <a:endParaRPr lang="en-US" sz="600" dirty="0"/>
          </a:p>
        </p:txBody>
      </p:sp>
      <p:sp>
        <p:nvSpPr>
          <p:cNvPr id="40" name="Text 32"/>
          <p:cNvSpPr txBox="1"/>
          <p:nvPr/>
        </p:nvSpPr>
        <p:spPr>
          <a:xfrm>
            <a:off x="4670024" y="2710949"/>
            <a:ext cx="640080" cy="292608"/>
          </a:xfrm>
          <a:prstGeom prst="rect">
            <a:avLst/>
          </a:prstGeom>
          <a:noFill/>
          <a:ln/>
        </p:spPr>
        <p:txBody>
          <a:bodyPr wrap="square" lIns="0" tIns="0" rIns="0" bIns="0" rtlCol="0" anchor="ctr"/>
          <a:lstStyle/>
          <a:p>
            <a:pPr indent="0" marL="0">
              <a:buNone/>
            </a:pPr>
            <a:r>
              <a:rPr lang="en-US" sz="650" dirty="0">
                <a:solidFill>
                  <a:srgbClr val="0969DA"/>
                </a:solidFill>
                <a:latin typeface="Courier New" pitchFamily="34" charset="0"/>
                <a:ea typeface="Courier New" pitchFamily="34" charset="-122"/>
                <a:cs typeface="Courier New" pitchFamily="34" charset="-120"/>
              </a:rPr>
              <a:t>8b2d7e3</a:t>
            </a:r>
            <a:endParaRPr lang="en-US" sz="650" dirty="0"/>
          </a:p>
        </p:txBody>
      </p:sp>
      <p:sp>
        <p:nvSpPr>
          <p:cNvPr id="41" name="Shape 33"/>
          <p:cNvSpPr/>
          <p:nvPr/>
        </p:nvSpPr>
        <p:spPr>
          <a:xfrm>
            <a:off x="724936" y="3040133"/>
            <a:ext cx="4676607" cy="292608"/>
          </a:xfrm>
          <a:prstGeom prst="rect">
            <a:avLst/>
          </a:prstGeom>
          <a:solidFill>
            <a:srgbClr val="FFFFFF"/>
          </a:solidFill>
          <a:ln w="6350">
            <a:solidFill>
              <a:srgbClr val="D0D7DE"/>
            </a:solidFill>
            <a:prstDash val="solid"/>
          </a:ln>
        </p:spPr>
      </p:sp>
      <p:sp>
        <p:nvSpPr>
          <p:cNvPr id="42" name="Text 34"/>
          <p:cNvSpPr txBox="1"/>
          <p:nvPr/>
        </p:nvSpPr>
        <p:spPr>
          <a:xfrm>
            <a:off x="816376" y="3040133"/>
            <a:ext cx="2805964"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Tambah iframe formulir usulan buku</a:t>
            </a:r>
            <a:endParaRPr lang="en-US" sz="750" dirty="0"/>
          </a:p>
        </p:txBody>
      </p:sp>
      <p:sp>
        <p:nvSpPr>
          <p:cNvPr id="43" name="Text 35"/>
          <p:cNvSpPr txBox="1"/>
          <p:nvPr/>
        </p:nvSpPr>
        <p:spPr>
          <a:xfrm>
            <a:off x="816376" y="3186437"/>
            <a:ext cx="2805964" cy="13716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santri-wu-kel1 · pekan lalu</a:t>
            </a:r>
            <a:endParaRPr lang="en-US" sz="600" dirty="0"/>
          </a:p>
        </p:txBody>
      </p:sp>
      <p:sp>
        <p:nvSpPr>
          <p:cNvPr id="44" name="Text 36"/>
          <p:cNvSpPr txBox="1"/>
          <p:nvPr/>
        </p:nvSpPr>
        <p:spPr>
          <a:xfrm>
            <a:off x="4670024" y="3040133"/>
            <a:ext cx="640080" cy="292608"/>
          </a:xfrm>
          <a:prstGeom prst="rect">
            <a:avLst/>
          </a:prstGeom>
          <a:noFill/>
          <a:ln/>
        </p:spPr>
        <p:txBody>
          <a:bodyPr wrap="square" lIns="0" tIns="0" rIns="0" bIns="0" rtlCol="0" anchor="ctr"/>
          <a:lstStyle/>
          <a:p>
            <a:pPr indent="0" marL="0">
              <a:buNone/>
            </a:pPr>
            <a:r>
              <a:rPr lang="en-US" sz="650" dirty="0">
                <a:solidFill>
                  <a:srgbClr val="0969DA"/>
                </a:solidFill>
                <a:latin typeface="Courier New" pitchFamily="34" charset="0"/>
                <a:ea typeface="Courier New" pitchFamily="34" charset="-122"/>
                <a:cs typeface="Courier New" pitchFamily="34" charset="-120"/>
              </a:rPr>
              <a:t>1f9a6c2</a:t>
            </a:r>
            <a:endParaRPr lang="en-US" sz="650" dirty="0"/>
          </a:p>
        </p:txBody>
      </p:sp>
      <p:sp>
        <p:nvSpPr>
          <p:cNvPr id="45" name="Shape 37"/>
          <p:cNvSpPr/>
          <p:nvPr/>
        </p:nvSpPr>
        <p:spPr>
          <a:xfrm>
            <a:off x="706648" y="2363477"/>
            <a:ext cx="4713183" cy="658368"/>
          </a:xfrm>
          <a:prstGeom prst="roundRect">
            <a:avLst>
              <a:gd name="adj" fmla="val 6944"/>
            </a:avLst>
          </a:prstGeom>
          <a:solidFill>
            <a:srgbClr val="FFFFFF">
              <a:alpha val="0"/>
            </a:srgbClr>
          </a:solidFill>
          <a:ln w="31750">
            <a:solidFill>
              <a:srgbClr val="E53935"/>
            </a:solidFill>
            <a:prstDash val="solid"/>
          </a:ln>
        </p:spPr>
      </p:sp>
      <p:sp>
        <p:nvSpPr>
          <p:cNvPr id="46" name="Shape 38"/>
          <p:cNvSpPr/>
          <p:nvPr/>
        </p:nvSpPr>
        <p:spPr>
          <a:xfrm>
            <a:off x="5282672" y="2226317"/>
            <a:ext cx="274320" cy="274320"/>
          </a:xfrm>
          <a:prstGeom prst="ellipse">
            <a:avLst/>
          </a:prstGeom>
          <a:solidFill>
            <a:srgbClr val="E53935"/>
          </a:solidFill>
          <a:ln w="12700">
            <a:solidFill>
              <a:srgbClr val="FFFFFF"/>
            </a:solidFill>
            <a:prstDash val="solid"/>
          </a:ln>
        </p:spPr>
      </p:sp>
      <p:sp>
        <p:nvSpPr>
          <p:cNvPr id="47" name="Text 39"/>
          <p:cNvSpPr txBox="1"/>
          <p:nvPr/>
        </p:nvSpPr>
        <p:spPr>
          <a:xfrm>
            <a:off x="5282672" y="22263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8" name="Image 6" descr="preencoded.png">    </p:cNvPr>
          <p:cNvPicPr>
            <a:picLocks noChangeAspect="1"/>
          </p:cNvPicPr>
          <p:nvPr/>
        </p:nvPicPr>
        <p:blipFill>
          <a:blip r:embed="rId7"/>
          <a:stretch>
            <a:fillRect/>
          </a:stretch>
        </p:blipFill>
        <p:spPr>
          <a:xfrm>
            <a:off x="3297070" y="2723751"/>
            <a:ext cx="237744" cy="237744"/>
          </a:xfrm>
          <a:prstGeom prst="rect">
            <a:avLst/>
          </a:prstGeom>
        </p:spPr>
      </p:pic>
      <p:sp>
        <p:nvSpPr>
          <p:cNvPr id="49" name="Text 4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50" name="Text 4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Perbaiki temuan terpenting, commit</a:t>
            </a:r>
            <a:endParaRPr lang="en-US" sz="1800" dirty="0"/>
          </a:p>
        </p:txBody>
      </p:sp>
      <p:sp>
        <p:nvSpPr>
          <p:cNvPr id="51" name="Text 4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1–3 temuan terpenting. Perbaiki di GitHub atau di komputer, commit dengan pesan jelas. Uji ulang dari HP.</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Perbaikan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2743200" cy="201168"/>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perpus-digital-kel1 / README.md</a:t>
            </a:r>
            <a:endParaRPr lang="en-US" sz="750" dirty="0"/>
          </a:p>
        </p:txBody>
      </p:sp>
      <p:sp>
        <p:nvSpPr>
          <p:cNvPr id="33" name="Shape 25"/>
          <p:cNvSpPr/>
          <p:nvPr/>
        </p:nvSpPr>
        <p:spPr>
          <a:xfrm>
            <a:off x="4487144" y="2043437"/>
            <a:ext cx="914400" cy="219456"/>
          </a:xfrm>
          <a:prstGeom prst="roundRect">
            <a:avLst>
              <a:gd name="adj" fmla="val 16667"/>
            </a:avLst>
          </a:prstGeom>
          <a:solidFill>
            <a:srgbClr val="1F883D"/>
          </a:solidFill>
          <a:ln w="12700">
            <a:solidFill>
              <a:srgbClr val="1F883D"/>
            </a:solidFill>
            <a:prstDash val="solid"/>
          </a:ln>
        </p:spPr>
      </p:sp>
      <p:sp>
        <p:nvSpPr>
          <p:cNvPr id="34" name="Text 26"/>
          <p:cNvSpPr txBox="1"/>
          <p:nvPr/>
        </p:nvSpPr>
        <p:spPr>
          <a:xfrm>
            <a:off x="4487144" y="2043437"/>
            <a:ext cx="914400"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Commit changes...</a:t>
            </a:r>
            <a:endParaRPr lang="en-US" sz="700" dirty="0"/>
          </a:p>
        </p:txBody>
      </p:sp>
      <p:sp>
        <p:nvSpPr>
          <p:cNvPr id="35" name="Shape 27"/>
          <p:cNvSpPr/>
          <p:nvPr/>
        </p:nvSpPr>
        <p:spPr>
          <a:xfrm>
            <a:off x="724936" y="2336045"/>
            <a:ext cx="4676607" cy="1613619"/>
          </a:xfrm>
          <a:prstGeom prst="rect">
            <a:avLst/>
          </a:prstGeom>
          <a:solidFill>
            <a:srgbClr val="FFFFFF"/>
          </a:solidFill>
          <a:ln w="9525">
            <a:solidFill>
              <a:srgbClr val="D0D7DE"/>
            </a:solidFill>
            <a:prstDash val="solid"/>
          </a:ln>
        </p:spPr>
      </p:sp>
      <p:sp>
        <p:nvSpPr>
          <p:cNvPr id="36" name="Text 28"/>
          <p:cNvSpPr txBox="1"/>
          <p:nvPr/>
        </p:nvSpPr>
        <p:spPr>
          <a:xfrm>
            <a:off x="724936" y="2381765"/>
            <a:ext cx="228600" cy="138380"/>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a:t>
            </a:r>
            <a:endParaRPr lang="en-US" sz="600" dirty="0"/>
          </a:p>
        </p:txBody>
      </p:sp>
      <p:sp>
        <p:nvSpPr>
          <p:cNvPr id="37" name="Text 29"/>
          <p:cNvSpPr txBox="1"/>
          <p:nvPr/>
        </p:nvSpPr>
        <p:spPr>
          <a:xfrm>
            <a:off x="1044976" y="2381765"/>
            <a:ext cx="4310847" cy="138380"/>
          </a:xfrm>
          <a:prstGeom prst="rect">
            <a:avLst/>
          </a:prstGeom>
          <a:noFill/>
          <a:ln/>
        </p:spPr>
        <p:txBody>
          <a:bodyPr wrap="square" lIns="0" tIns="0" rIns="0" bIns="0" rtlCol="0" anchor="ctr"/>
          <a:lstStyle/>
          <a:p>
            <a:pPr indent="0" marL="0">
              <a:buNone/>
            </a:pPr>
            <a:r>
              <a:rPr lang="en-US" sz="696" dirty="0">
                <a:solidFill>
                  <a:srgbClr val="222222"/>
                </a:solidFill>
                <a:latin typeface="Courier New" pitchFamily="34" charset="0"/>
                <a:ea typeface="Courier New" pitchFamily="34" charset="-122"/>
                <a:cs typeface="Courier New" pitchFamily="34" charset="-120"/>
              </a:rPr>
              <a:t># Perpustakaan Digital Kelas 8A</a:t>
            </a:r>
            <a:endParaRPr lang="en-US" sz="696" dirty="0"/>
          </a:p>
        </p:txBody>
      </p:sp>
      <p:sp>
        <p:nvSpPr>
          <p:cNvPr id="38" name="Text 30"/>
          <p:cNvSpPr txBox="1"/>
          <p:nvPr/>
        </p:nvSpPr>
        <p:spPr>
          <a:xfrm>
            <a:off x="724936" y="2520145"/>
            <a:ext cx="228600" cy="138380"/>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2</a:t>
            </a:r>
            <a:endParaRPr lang="en-US" sz="600" dirty="0"/>
          </a:p>
        </p:txBody>
      </p:sp>
      <p:sp>
        <p:nvSpPr>
          <p:cNvPr id="39" name="Text 31"/>
          <p:cNvSpPr txBox="1"/>
          <p:nvPr/>
        </p:nvSpPr>
        <p:spPr>
          <a:xfrm>
            <a:off x="1044976" y="2520145"/>
            <a:ext cx="4310847" cy="138380"/>
          </a:xfrm>
          <a:prstGeom prst="rect">
            <a:avLst/>
          </a:prstGeom>
          <a:noFill/>
          <a:ln/>
        </p:spPr>
        <p:txBody>
          <a:bodyPr wrap="square" lIns="0" tIns="0" rIns="0" bIns="0" rtlCol="0" anchor="ctr"/>
          <a:lstStyle/>
          <a:p>
            <a:pPr indent="0" marL="0">
              <a:buNone/>
            </a:pPr>
            <a:r>
              <a:rPr lang="en-US" sz="696" dirty="0">
                <a:solidFill>
                  <a:srgbClr val="222222"/>
                </a:solidFill>
                <a:latin typeface="Courier New" pitchFamily="34" charset="0"/>
                <a:ea typeface="Courier New" pitchFamily="34" charset="-122"/>
                <a:cs typeface="Courier New" pitchFamily="34" charset="-120"/>
              </a:rPr>
              <a:t>Sistem usulan buku untuk perpustakaan pondok.</a:t>
            </a:r>
            <a:endParaRPr lang="en-US" sz="696" dirty="0"/>
          </a:p>
        </p:txBody>
      </p:sp>
      <p:sp>
        <p:nvSpPr>
          <p:cNvPr id="40" name="Text 32"/>
          <p:cNvSpPr txBox="1"/>
          <p:nvPr/>
        </p:nvSpPr>
        <p:spPr>
          <a:xfrm>
            <a:off x="724936" y="2658525"/>
            <a:ext cx="228600" cy="138380"/>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3</a:t>
            </a:r>
            <a:endParaRPr lang="en-US" sz="600" dirty="0"/>
          </a:p>
        </p:txBody>
      </p:sp>
      <p:sp>
        <p:nvSpPr>
          <p:cNvPr id="41" name="Text 33"/>
          <p:cNvSpPr txBox="1"/>
          <p:nvPr/>
        </p:nvSpPr>
        <p:spPr>
          <a:xfrm>
            <a:off x="1044976" y="2658525"/>
            <a:ext cx="4310847" cy="138380"/>
          </a:xfrm>
          <a:prstGeom prst="rect">
            <a:avLst/>
          </a:prstGeom>
          <a:noFill/>
          <a:ln/>
        </p:spPr>
        <p:txBody>
          <a:bodyPr wrap="square" lIns="0" tIns="0" rIns="0" bIns="0" rtlCol="0" anchor="ctr"/>
          <a:lstStyle/>
          <a:p>
            <a:pPr indent="0" marL="0">
              <a:buNone/>
            </a:pPr>
            <a:r>
              <a:rPr lang="en-US" sz="696" dirty="0">
                <a:solidFill>
                  <a:srgbClr val="1E2A26"/>
                </a:solidFill>
                <a:latin typeface="Courier New" pitchFamily="34" charset="0"/>
                <a:ea typeface="Courier New" pitchFamily="34" charset="-122"/>
                <a:cs typeface="Courier New" pitchFamily="34" charset="-120"/>
              </a:rPr>
              <a:t> </a:t>
            </a:r>
            <a:endParaRPr lang="en-US" sz="696" dirty="0"/>
          </a:p>
        </p:txBody>
      </p:sp>
      <p:sp>
        <p:nvSpPr>
          <p:cNvPr id="42" name="Text 34"/>
          <p:cNvSpPr txBox="1"/>
          <p:nvPr/>
        </p:nvSpPr>
        <p:spPr>
          <a:xfrm>
            <a:off x="724936" y="2796905"/>
            <a:ext cx="228600" cy="138380"/>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4</a:t>
            </a:r>
            <a:endParaRPr lang="en-US" sz="600" dirty="0"/>
          </a:p>
        </p:txBody>
      </p:sp>
      <p:sp>
        <p:nvSpPr>
          <p:cNvPr id="43" name="Text 35"/>
          <p:cNvSpPr txBox="1"/>
          <p:nvPr/>
        </p:nvSpPr>
        <p:spPr>
          <a:xfrm>
            <a:off x="1044976" y="2796905"/>
            <a:ext cx="4310847" cy="138380"/>
          </a:xfrm>
          <a:prstGeom prst="rect">
            <a:avLst/>
          </a:prstGeom>
          <a:noFill/>
          <a:ln/>
        </p:spPr>
        <p:txBody>
          <a:bodyPr wrap="square" lIns="0" tIns="0" rIns="0" bIns="0" rtlCol="0" anchor="ctr"/>
          <a:lstStyle/>
          <a:p>
            <a:pPr indent="0" marL="0">
              <a:buNone/>
            </a:pPr>
            <a:r>
              <a:rPr lang="en-US" sz="696" dirty="0">
                <a:solidFill>
                  <a:srgbClr val="222222"/>
                </a:solidFill>
                <a:latin typeface="Courier New" pitchFamily="34" charset="0"/>
                <a:ea typeface="Courier New" pitchFamily="34" charset="-122"/>
                <a:cs typeface="Courier New" pitchFamily="34" charset="-120"/>
              </a:rPr>
              <a:t>## Alur sistem</a:t>
            </a:r>
            <a:endParaRPr lang="en-US" sz="696" dirty="0"/>
          </a:p>
        </p:txBody>
      </p:sp>
      <p:sp>
        <p:nvSpPr>
          <p:cNvPr id="44" name="Text 36"/>
          <p:cNvSpPr txBox="1"/>
          <p:nvPr/>
        </p:nvSpPr>
        <p:spPr>
          <a:xfrm>
            <a:off x="724936" y="2935285"/>
            <a:ext cx="228600" cy="138380"/>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5</a:t>
            </a:r>
            <a:endParaRPr lang="en-US" sz="600" dirty="0"/>
          </a:p>
        </p:txBody>
      </p:sp>
      <p:sp>
        <p:nvSpPr>
          <p:cNvPr id="45" name="Text 37"/>
          <p:cNvSpPr txBox="1"/>
          <p:nvPr/>
        </p:nvSpPr>
        <p:spPr>
          <a:xfrm>
            <a:off x="1044976" y="2935285"/>
            <a:ext cx="4310847" cy="138380"/>
          </a:xfrm>
          <a:prstGeom prst="rect">
            <a:avLst/>
          </a:prstGeom>
          <a:noFill/>
          <a:ln/>
        </p:spPr>
        <p:txBody>
          <a:bodyPr wrap="square" lIns="0" tIns="0" rIns="0" bIns="0" rtlCol="0" anchor="ctr"/>
          <a:lstStyle/>
          <a:p>
            <a:pPr indent="0" marL="0">
              <a:buNone/>
            </a:pPr>
            <a:r>
              <a:rPr lang="en-US" sz="696" dirty="0">
                <a:solidFill>
                  <a:srgbClr val="222222"/>
                </a:solidFill>
                <a:latin typeface="Courier New" pitchFamily="34" charset="0"/>
                <a:ea typeface="Courier New" pitchFamily="34" charset="-122"/>
                <a:cs typeface="Courier New" pitchFamily="34" charset="-120"/>
              </a:rPr>
              <a:t>Formulir -&gt; Sheets -&gt; Dashboard -&gt; Website -&gt; QR</a:t>
            </a:r>
            <a:endParaRPr lang="en-US" sz="696" dirty="0"/>
          </a:p>
        </p:txBody>
      </p:sp>
      <p:sp>
        <p:nvSpPr>
          <p:cNvPr id="46" name="Text 38"/>
          <p:cNvSpPr txBox="1"/>
          <p:nvPr/>
        </p:nvSpPr>
        <p:spPr>
          <a:xfrm>
            <a:off x="724936" y="3073665"/>
            <a:ext cx="228600" cy="138380"/>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6</a:t>
            </a:r>
            <a:endParaRPr lang="en-US" sz="600" dirty="0"/>
          </a:p>
        </p:txBody>
      </p:sp>
      <p:sp>
        <p:nvSpPr>
          <p:cNvPr id="47" name="Text 39"/>
          <p:cNvSpPr txBox="1"/>
          <p:nvPr/>
        </p:nvSpPr>
        <p:spPr>
          <a:xfrm>
            <a:off x="1044976" y="3073665"/>
            <a:ext cx="4310847" cy="138380"/>
          </a:xfrm>
          <a:prstGeom prst="rect">
            <a:avLst/>
          </a:prstGeom>
          <a:noFill/>
          <a:ln/>
        </p:spPr>
        <p:txBody>
          <a:bodyPr wrap="square" lIns="0" tIns="0" rIns="0" bIns="0" rtlCol="0" anchor="ctr"/>
          <a:lstStyle/>
          <a:p>
            <a:pPr indent="0" marL="0">
              <a:buNone/>
            </a:pPr>
            <a:r>
              <a:rPr lang="en-US" sz="696" dirty="0">
                <a:solidFill>
                  <a:srgbClr val="1E2A26"/>
                </a:solidFill>
                <a:latin typeface="Courier New" pitchFamily="34" charset="0"/>
                <a:ea typeface="Courier New" pitchFamily="34" charset="-122"/>
                <a:cs typeface="Courier New" pitchFamily="34" charset="-120"/>
              </a:rPr>
              <a:t> </a:t>
            </a:r>
            <a:endParaRPr lang="en-US" sz="696" dirty="0"/>
          </a:p>
        </p:txBody>
      </p:sp>
      <p:sp>
        <p:nvSpPr>
          <p:cNvPr id="48" name="Text 40"/>
          <p:cNvSpPr txBox="1"/>
          <p:nvPr/>
        </p:nvSpPr>
        <p:spPr>
          <a:xfrm>
            <a:off x="724936" y="3212044"/>
            <a:ext cx="228600" cy="138380"/>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7</a:t>
            </a:r>
            <a:endParaRPr lang="en-US" sz="600" dirty="0"/>
          </a:p>
        </p:txBody>
      </p:sp>
      <p:sp>
        <p:nvSpPr>
          <p:cNvPr id="49" name="Text 41"/>
          <p:cNvSpPr txBox="1"/>
          <p:nvPr/>
        </p:nvSpPr>
        <p:spPr>
          <a:xfrm>
            <a:off x="1044976" y="3212044"/>
            <a:ext cx="4310847" cy="138380"/>
          </a:xfrm>
          <a:prstGeom prst="rect">
            <a:avLst/>
          </a:prstGeom>
          <a:noFill/>
          <a:ln/>
        </p:spPr>
        <p:txBody>
          <a:bodyPr wrap="square" lIns="0" tIns="0" rIns="0" bIns="0" rtlCol="0" anchor="ctr"/>
          <a:lstStyle/>
          <a:p>
            <a:pPr indent="0" marL="0">
              <a:buNone/>
            </a:pPr>
            <a:r>
              <a:rPr lang="en-US" sz="696" dirty="0">
                <a:solidFill>
                  <a:srgbClr val="222222"/>
                </a:solidFill>
                <a:latin typeface="Courier New" pitchFamily="34" charset="0"/>
                <a:ea typeface="Courier New" pitchFamily="34" charset="-122"/>
                <a:cs typeface="Courier New" pitchFamily="34" charset="-120"/>
              </a:rPr>
              <a:t>## Website online</a:t>
            </a:r>
            <a:endParaRPr lang="en-US" sz="696" dirty="0"/>
          </a:p>
        </p:txBody>
      </p:sp>
      <p:sp>
        <p:nvSpPr>
          <p:cNvPr id="50" name="Text 42"/>
          <p:cNvSpPr txBox="1"/>
          <p:nvPr/>
        </p:nvSpPr>
        <p:spPr>
          <a:xfrm>
            <a:off x="724936" y="3350424"/>
            <a:ext cx="228600" cy="138380"/>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8</a:t>
            </a:r>
            <a:endParaRPr lang="en-US" sz="600" dirty="0"/>
          </a:p>
        </p:txBody>
      </p:sp>
      <p:sp>
        <p:nvSpPr>
          <p:cNvPr id="51" name="Text 43"/>
          <p:cNvSpPr txBox="1"/>
          <p:nvPr/>
        </p:nvSpPr>
        <p:spPr>
          <a:xfrm>
            <a:off x="1044976" y="3350424"/>
            <a:ext cx="4310847" cy="138380"/>
          </a:xfrm>
          <a:prstGeom prst="rect">
            <a:avLst/>
          </a:prstGeom>
          <a:noFill/>
          <a:ln/>
        </p:spPr>
        <p:txBody>
          <a:bodyPr wrap="square" lIns="0" tIns="0" rIns="0" bIns="0" rtlCol="0" anchor="ctr"/>
          <a:lstStyle/>
          <a:p>
            <a:pPr indent="0" marL="0">
              <a:buNone/>
            </a:pPr>
            <a:r>
              <a:rPr lang="en-US" sz="696" dirty="0">
                <a:solidFill>
                  <a:srgbClr val="A0522D"/>
                </a:solidFill>
                <a:latin typeface="Courier New" pitchFamily="34" charset="0"/>
                <a:ea typeface="Courier New" pitchFamily="34" charset="-122"/>
                <a:cs typeface="Courier New" pitchFamily="34" charset="-120"/>
              </a:rPr>
              <a:t>https://santri-wu-kel1.github.io/perpus-digital-kel1/</a:t>
            </a:r>
            <a:endParaRPr lang="en-US" sz="696" dirty="0"/>
          </a:p>
        </p:txBody>
      </p:sp>
      <p:sp>
        <p:nvSpPr>
          <p:cNvPr id="52" name="Text 44"/>
          <p:cNvSpPr txBox="1"/>
          <p:nvPr/>
        </p:nvSpPr>
        <p:spPr>
          <a:xfrm>
            <a:off x="724936" y="3488804"/>
            <a:ext cx="228600" cy="138380"/>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9</a:t>
            </a:r>
            <a:endParaRPr lang="en-US" sz="600" dirty="0"/>
          </a:p>
        </p:txBody>
      </p:sp>
      <p:sp>
        <p:nvSpPr>
          <p:cNvPr id="53" name="Text 45"/>
          <p:cNvSpPr txBox="1"/>
          <p:nvPr/>
        </p:nvSpPr>
        <p:spPr>
          <a:xfrm>
            <a:off x="1044976" y="3488804"/>
            <a:ext cx="4310847" cy="138380"/>
          </a:xfrm>
          <a:prstGeom prst="rect">
            <a:avLst/>
          </a:prstGeom>
          <a:noFill/>
          <a:ln/>
        </p:spPr>
        <p:txBody>
          <a:bodyPr wrap="square" lIns="0" tIns="0" rIns="0" bIns="0" rtlCol="0" anchor="ctr"/>
          <a:lstStyle/>
          <a:p>
            <a:pPr indent="0" marL="0">
              <a:buNone/>
            </a:pPr>
            <a:r>
              <a:rPr lang="en-US" sz="696" dirty="0">
                <a:solidFill>
                  <a:srgbClr val="1E2A26"/>
                </a:solidFill>
                <a:latin typeface="Courier New" pitchFamily="34" charset="0"/>
                <a:ea typeface="Courier New" pitchFamily="34" charset="-122"/>
                <a:cs typeface="Courier New" pitchFamily="34" charset="-120"/>
              </a:rPr>
              <a:t> </a:t>
            </a:r>
            <a:endParaRPr lang="en-US" sz="696" dirty="0"/>
          </a:p>
        </p:txBody>
      </p:sp>
      <p:sp>
        <p:nvSpPr>
          <p:cNvPr id="54" name="Text 46"/>
          <p:cNvSpPr txBox="1"/>
          <p:nvPr/>
        </p:nvSpPr>
        <p:spPr>
          <a:xfrm>
            <a:off x="724936" y="3627184"/>
            <a:ext cx="228600" cy="138380"/>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10</a:t>
            </a:r>
            <a:endParaRPr lang="en-US" sz="600" dirty="0"/>
          </a:p>
        </p:txBody>
      </p:sp>
      <p:sp>
        <p:nvSpPr>
          <p:cNvPr id="55" name="Text 47"/>
          <p:cNvSpPr txBox="1"/>
          <p:nvPr/>
        </p:nvSpPr>
        <p:spPr>
          <a:xfrm>
            <a:off x="1044976" y="3627184"/>
            <a:ext cx="4310847" cy="138380"/>
          </a:xfrm>
          <a:prstGeom prst="rect">
            <a:avLst/>
          </a:prstGeom>
          <a:noFill/>
          <a:ln/>
        </p:spPr>
        <p:txBody>
          <a:bodyPr wrap="square" lIns="0" tIns="0" rIns="0" bIns="0" rtlCol="0" anchor="ctr"/>
          <a:lstStyle/>
          <a:p>
            <a:pPr indent="0" marL="0">
              <a:buNone/>
            </a:pPr>
            <a:r>
              <a:rPr lang="en-US" sz="696" dirty="0">
                <a:solidFill>
                  <a:srgbClr val="222222"/>
                </a:solidFill>
                <a:latin typeface="Courier New" pitchFamily="34" charset="0"/>
                <a:ea typeface="Courier New" pitchFamily="34" charset="-122"/>
                <a:cs typeface="Courier New" pitchFamily="34" charset="-120"/>
              </a:rPr>
              <a:t>## Tim</a:t>
            </a:r>
            <a:endParaRPr lang="en-US" sz="696" dirty="0"/>
          </a:p>
        </p:txBody>
      </p:sp>
      <p:sp>
        <p:nvSpPr>
          <p:cNvPr id="56" name="Text 48"/>
          <p:cNvSpPr txBox="1"/>
          <p:nvPr/>
        </p:nvSpPr>
        <p:spPr>
          <a:xfrm>
            <a:off x="724936" y="3765564"/>
            <a:ext cx="228600" cy="138380"/>
          </a:xfrm>
          <a:prstGeom prst="rect">
            <a:avLst/>
          </a:prstGeom>
          <a:noFill/>
          <a:ln/>
        </p:spPr>
        <p:txBody>
          <a:bodyPr wrap="square" lIns="0" tIns="0" rIns="0" bIns="0" rtlCol="0" anchor="ctr"/>
          <a:lstStyle/>
          <a:p>
            <a:pPr algn="r" indent="0" marL="0">
              <a:buNone/>
            </a:pPr>
            <a:r>
              <a:rPr lang="en-US" sz="600" dirty="0">
                <a:solidFill>
                  <a:srgbClr val="999999"/>
                </a:solidFill>
                <a:latin typeface="Calibri" pitchFamily="34" charset="0"/>
                <a:ea typeface="Calibri" pitchFamily="34" charset="-122"/>
                <a:cs typeface="Calibri" pitchFamily="34" charset="-120"/>
              </a:rPr>
              <a:t>11</a:t>
            </a:r>
            <a:endParaRPr lang="en-US" sz="600" dirty="0"/>
          </a:p>
        </p:txBody>
      </p:sp>
      <p:sp>
        <p:nvSpPr>
          <p:cNvPr id="57" name="Text 49"/>
          <p:cNvSpPr txBox="1"/>
          <p:nvPr/>
        </p:nvSpPr>
        <p:spPr>
          <a:xfrm>
            <a:off x="1044976" y="3765564"/>
            <a:ext cx="4310847" cy="138380"/>
          </a:xfrm>
          <a:prstGeom prst="rect">
            <a:avLst/>
          </a:prstGeom>
          <a:noFill/>
          <a:ln/>
        </p:spPr>
        <p:txBody>
          <a:bodyPr wrap="square" lIns="0" tIns="0" rIns="0" bIns="0" rtlCol="0" anchor="ctr"/>
          <a:lstStyle/>
          <a:p>
            <a:pPr indent="0" marL="0">
              <a:buNone/>
            </a:pPr>
            <a:r>
              <a:rPr lang="en-US" sz="696" dirty="0">
                <a:solidFill>
                  <a:srgbClr val="222222"/>
                </a:solidFill>
                <a:latin typeface="Courier New" pitchFamily="34" charset="0"/>
                <a:ea typeface="Courier New" pitchFamily="34" charset="-122"/>
                <a:cs typeface="Courier New" pitchFamily="34" charset="-120"/>
              </a:rPr>
              <a:t>Ahmad (PM), Bilal (Data), Fauzan (Developer)...</a:t>
            </a:r>
            <a:endParaRPr lang="en-US" sz="696" dirty="0"/>
          </a:p>
        </p:txBody>
      </p:sp>
      <p:sp>
        <p:nvSpPr>
          <p:cNvPr id="58" name="Shape 50"/>
          <p:cNvSpPr/>
          <p:nvPr/>
        </p:nvSpPr>
        <p:spPr>
          <a:xfrm>
            <a:off x="980968" y="2363477"/>
            <a:ext cx="4402287" cy="1558755"/>
          </a:xfrm>
          <a:prstGeom prst="roundRect">
            <a:avLst>
              <a:gd name="adj" fmla="val 2933"/>
            </a:avLst>
          </a:prstGeom>
          <a:solidFill>
            <a:srgbClr val="FFFFFF">
              <a:alpha val="0"/>
            </a:srgbClr>
          </a:solidFill>
          <a:ln w="31750">
            <a:solidFill>
              <a:srgbClr val="E53935"/>
            </a:solidFill>
            <a:prstDash val="solid"/>
          </a:ln>
        </p:spPr>
      </p:sp>
      <p:sp>
        <p:nvSpPr>
          <p:cNvPr id="59" name="Shape 51"/>
          <p:cNvSpPr/>
          <p:nvPr/>
        </p:nvSpPr>
        <p:spPr>
          <a:xfrm>
            <a:off x="5246096" y="2226317"/>
            <a:ext cx="274320" cy="274320"/>
          </a:xfrm>
          <a:prstGeom prst="ellipse">
            <a:avLst/>
          </a:prstGeom>
          <a:solidFill>
            <a:srgbClr val="E53935"/>
          </a:solidFill>
          <a:ln w="12700">
            <a:solidFill>
              <a:srgbClr val="FFFFFF"/>
            </a:solidFill>
            <a:prstDash val="solid"/>
          </a:ln>
        </p:spPr>
      </p:sp>
      <p:sp>
        <p:nvSpPr>
          <p:cNvPr id="60" name="Text 52"/>
          <p:cNvSpPr txBox="1"/>
          <p:nvPr/>
        </p:nvSpPr>
        <p:spPr>
          <a:xfrm>
            <a:off x="5246096" y="22263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61" name="Image 6" descr="preencoded.png">    </p:cNvPr>
          <p:cNvPicPr>
            <a:picLocks noChangeAspect="1"/>
          </p:cNvPicPr>
          <p:nvPr/>
        </p:nvPicPr>
        <p:blipFill>
          <a:blip r:embed="rId7"/>
          <a:stretch>
            <a:fillRect/>
          </a:stretch>
        </p:blipFill>
        <p:spPr>
          <a:xfrm>
            <a:off x="3400398" y="3218963"/>
            <a:ext cx="237744" cy="237744"/>
          </a:xfrm>
          <a:prstGeom prst="rect">
            <a:avLst/>
          </a:prstGeom>
        </p:spPr>
      </p:pic>
      <p:sp>
        <p:nvSpPr>
          <p:cNvPr id="62" name="Text 5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63" name="Text 5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Lengkapi README dan tutup formulir uji</a:t>
            </a:r>
            <a:endParaRPr lang="en-US" sz="1800" dirty="0"/>
          </a:p>
        </p:txBody>
      </p:sp>
      <p:sp>
        <p:nvSpPr>
          <p:cNvPr id="64" name="Text 5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README: masalah, solusi, alur sistem, alamat website, peran tim. Setelah uji selesai, hapus data uji dan atur formulir sesuai arahan guru.</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Perpustakaan Digital</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https://santri-wu-kel1.github.io/perpus-digital-kel1/</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57200"/>
          </a:xfrm>
          <a:prstGeom prst="rect">
            <a:avLst/>
          </a:prstGeom>
          <a:solidFill>
            <a:srgbClr val="0F4C3A"/>
          </a:solidFill>
          <a:ln w="12700">
            <a:solidFill>
              <a:srgbClr val="0F4C3A"/>
            </a:solidFill>
            <a:prstDash val="solid"/>
          </a:ln>
        </p:spPr>
      </p:sp>
      <p:pic>
        <p:nvPicPr>
          <p:cNvPr id="31" name="Image 5" descr="/home/claude/logo.png">    </p:cNvPr>
          <p:cNvPicPr>
            <a:picLocks noChangeAspect="1"/>
          </p:cNvPicPr>
          <p:nvPr/>
        </p:nvPicPr>
        <p:blipFill>
          <a:blip r:embed="rId6"/>
          <a:stretch>
            <a:fillRect/>
          </a:stretch>
        </p:blipFill>
        <p:spPr>
          <a:xfrm>
            <a:off x="679216" y="1750829"/>
            <a:ext cx="329184" cy="329184"/>
          </a:xfrm>
          <a:prstGeom prst="rect">
            <a:avLst/>
          </a:prstGeom>
        </p:spPr>
      </p:pic>
      <p:sp>
        <p:nvSpPr>
          <p:cNvPr id="32" name="Text 24"/>
          <p:cNvSpPr txBox="1"/>
          <p:nvPr/>
        </p:nvSpPr>
        <p:spPr>
          <a:xfrm>
            <a:off x="1063264" y="1769117"/>
            <a:ext cx="4365711" cy="310896"/>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Perpustakaan Digital Kelas 8A</a:t>
            </a:r>
            <a:endParaRPr lang="en-US" sz="1100" dirty="0"/>
          </a:p>
        </p:txBody>
      </p:sp>
      <p:sp>
        <p:nvSpPr>
          <p:cNvPr id="33" name="Shape 25"/>
          <p:cNvSpPr/>
          <p:nvPr/>
        </p:nvSpPr>
        <p:spPr>
          <a:xfrm>
            <a:off x="697504" y="2244605"/>
            <a:ext cx="2320016" cy="1641051"/>
          </a:xfrm>
          <a:prstGeom prst="roundRect">
            <a:avLst>
              <a:gd name="adj" fmla="val 2786"/>
            </a:avLst>
          </a:prstGeom>
          <a:solidFill>
            <a:srgbClr val="FFFFFF"/>
          </a:solidFill>
          <a:ln w="6350">
            <a:solidFill>
              <a:srgbClr val="DDDDDD"/>
            </a:solidFill>
            <a:prstDash val="solid"/>
          </a:ln>
        </p:spPr>
      </p:sp>
      <p:sp>
        <p:nvSpPr>
          <p:cNvPr id="34" name="Text 26"/>
          <p:cNvSpPr txBox="1"/>
          <p:nvPr/>
        </p:nvSpPr>
        <p:spPr>
          <a:xfrm>
            <a:off x="770656" y="2272037"/>
            <a:ext cx="2320016" cy="201168"/>
          </a:xfrm>
          <a:prstGeom prst="rect">
            <a:avLst/>
          </a:prstGeom>
          <a:noFill/>
          <a:ln/>
        </p:spPr>
        <p:txBody>
          <a:bodyPr wrap="square" lIns="0" tIns="0" rIns="0" bIns="0" rtlCol="0" anchor="t"/>
          <a:lstStyle/>
          <a:p>
            <a:pPr indent="0" marL="0">
              <a:buNone/>
            </a:pPr>
            <a:r>
              <a:rPr lang="en-US" sz="800" b="1" dirty="0">
                <a:solidFill>
                  <a:srgbClr val="1F7A5C"/>
                </a:solidFill>
                <a:latin typeface="Arial" pitchFamily="34" charset="0"/>
                <a:ea typeface="Arial" pitchFamily="34" charset="-122"/>
                <a:cs typeface="Arial" pitchFamily="34" charset="-120"/>
              </a:rPr>
              <a:t>Usulkan Buku</a:t>
            </a:r>
            <a:endParaRPr lang="en-US" sz="800" dirty="0"/>
          </a:p>
        </p:txBody>
      </p:sp>
      <p:sp>
        <p:nvSpPr>
          <p:cNvPr id="35" name="Shape 27"/>
          <p:cNvSpPr/>
          <p:nvPr/>
        </p:nvSpPr>
        <p:spPr>
          <a:xfrm>
            <a:off x="770656" y="2518925"/>
            <a:ext cx="2173712" cy="54864"/>
          </a:xfrm>
          <a:prstGeom prst="rect">
            <a:avLst/>
          </a:prstGeom>
          <a:solidFill>
            <a:srgbClr val="673AB7"/>
          </a:solidFill>
          <a:ln w="12700">
            <a:solidFill>
              <a:srgbClr val="673AB7"/>
            </a:solidFill>
            <a:prstDash val="solid"/>
          </a:ln>
        </p:spPr>
      </p:sp>
      <p:sp>
        <p:nvSpPr>
          <p:cNvPr id="36" name="Shape 28"/>
          <p:cNvSpPr/>
          <p:nvPr/>
        </p:nvSpPr>
        <p:spPr>
          <a:xfrm>
            <a:off x="770656" y="2610365"/>
            <a:ext cx="2173712" cy="228600"/>
          </a:xfrm>
          <a:prstGeom prst="rect">
            <a:avLst/>
          </a:prstGeom>
          <a:solidFill>
            <a:srgbClr val="F0EBF8"/>
          </a:solidFill>
          <a:ln w="12700">
            <a:solidFill>
              <a:srgbClr val="F0EBF8"/>
            </a:solidFill>
            <a:prstDash val="solid"/>
          </a:ln>
        </p:spPr>
      </p:sp>
      <p:sp>
        <p:nvSpPr>
          <p:cNvPr id="37" name="Shape 29"/>
          <p:cNvSpPr/>
          <p:nvPr/>
        </p:nvSpPr>
        <p:spPr>
          <a:xfrm>
            <a:off x="770656" y="2884685"/>
            <a:ext cx="2173712" cy="228600"/>
          </a:xfrm>
          <a:prstGeom prst="rect">
            <a:avLst/>
          </a:prstGeom>
          <a:solidFill>
            <a:srgbClr val="F0EBF8"/>
          </a:solidFill>
          <a:ln w="12700">
            <a:solidFill>
              <a:srgbClr val="F0EBF8"/>
            </a:solidFill>
            <a:prstDash val="solid"/>
          </a:ln>
        </p:spPr>
      </p:sp>
      <p:sp>
        <p:nvSpPr>
          <p:cNvPr id="38" name="Shape 30"/>
          <p:cNvSpPr/>
          <p:nvPr/>
        </p:nvSpPr>
        <p:spPr>
          <a:xfrm>
            <a:off x="3108960" y="2244605"/>
            <a:ext cx="2320016" cy="1641051"/>
          </a:xfrm>
          <a:prstGeom prst="roundRect">
            <a:avLst>
              <a:gd name="adj" fmla="val 2786"/>
            </a:avLst>
          </a:prstGeom>
          <a:solidFill>
            <a:srgbClr val="FFFFFF"/>
          </a:solidFill>
          <a:ln w="6350">
            <a:solidFill>
              <a:srgbClr val="DDDDDD"/>
            </a:solidFill>
            <a:prstDash val="solid"/>
          </a:ln>
        </p:spPr>
      </p:sp>
      <p:sp>
        <p:nvSpPr>
          <p:cNvPr id="39" name="Text 31"/>
          <p:cNvSpPr txBox="1"/>
          <p:nvPr/>
        </p:nvSpPr>
        <p:spPr>
          <a:xfrm>
            <a:off x="3182112" y="2272037"/>
            <a:ext cx="2320016" cy="201168"/>
          </a:xfrm>
          <a:prstGeom prst="rect">
            <a:avLst/>
          </a:prstGeom>
          <a:noFill/>
          <a:ln/>
        </p:spPr>
        <p:txBody>
          <a:bodyPr wrap="square" lIns="0" tIns="0" rIns="0" bIns="0" rtlCol="0" anchor="t"/>
          <a:lstStyle/>
          <a:p>
            <a:pPr indent="0" marL="0">
              <a:buNone/>
            </a:pPr>
            <a:r>
              <a:rPr lang="en-US" sz="800" b="1" dirty="0">
                <a:solidFill>
                  <a:srgbClr val="1F7A5C"/>
                </a:solidFill>
                <a:latin typeface="Arial" pitchFamily="34" charset="0"/>
                <a:ea typeface="Arial" pitchFamily="34" charset="-122"/>
                <a:cs typeface="Arial" pitchFamily="34" charset="-120"/>
              </a:rPr>
              <a:t>Buku Terpopuler</a:t>
            </a:r>
            <a:endParaRPr lang="en-US" sz="800" dirty="0"/>
          </a:p>
        </p:txBody>
      </p:sp>
      <p:sp>
        <p:nvSpPr>
          <p:cNvPr id="40" name="Shape 32"/>
          <p:cNvSpPr/>
          <p:nvPr/>
        </p:nvSpPr>
        <p:spPr>
          <a:xfrm>
            <a:off x="3154680" y="2518925"/>
            <a:ext cx="2228576" cy="1321011"/>
          </a:xfrm>
          <a:prstGeom prst="roundRect">
            <a:avLst>
              <a:gd name="adj" fmla="val 2077"/>
            </a:avLst>
          </a:prstGeom>
          <a:solidFill>
            <a:srgbClr val="FFFFFF"/>
          </a:solidFill>
          <a:ln w="9525">
            <a:solidFill>
              <a:srgbClr val="DDDDDD"/>
            </a:solidFill>
            <a:prstDash val="solid"/>
          </a:ln>
        </p:spPr>
      </p:sp>
      <p:sp>
        <p:nvSpPr>
          <p:cNvPr id="41" name="Text 33"/>
          <p:cNvSpPr txBox="1"/>
          <p:nvPr/>
        </p:nvSpPr>
        <p:spPr>
          <a:xfrm>
            <a:off x="3154680" y="2537213"/>
            <a:ext cx="2228576" cy="146304"/>
          </a:xfrm>
          <a:prstGeom prst="rect">
            <a:avLst/>
          </a:prstGeom>
          <a:noFill/>
          <a:ln/>
        </p:spPr>
        <p:txBody>
          <a:bodyPr wrap="square" lIns="0" tIns="0" rIns="0" bIns="0" rtlCol="0" anchor="t"/>
          <a:lstStyle/>
          <a:p>
            <a:pPr algn="ctr" indent="0" marL="0">
              <a:buNone/>
            </a:pPr>
            <a:endParaRPr lang="en-US" sz="650" dirty="0"/>
          </a:p>
        </p:txBody>
      </p:sp>
      <p:sp>
        <p:nvSpPr>
          <p:cNvPr id="42" name="Shape 34"/>
          <p:cNvSpPr/>
          <p:nvPr/>
        </p:nvSpPr>
        <p:spPr>
          <a:xfrm>
            <a:off x="3366839" y="2747525"/>
            <a:ext cx="349996" cy="909531"/>
          </a:xfrm>
          <a:prstGeom prst="rect">
            <a:avLst/>
          </a:prstGeom>
          <a:solidFill>
            <a:srgbClr val="1F7A5C"/>
          </a:solidFill>
          <a:ln w="12700">
            <a:solidFill>
              <a:srgbClr val="1F7A5C"/>
            </a:solidFill>
            <a:prstDash val="solid"/>
          </a:ln>
        </p:spPr>
      </p:sp>
      <p:sp>
        <p:nvSpPr>
          <p:cNvPr id="43" name="Text 35"/>
          <p:cNvSpPr txBox="1"/>
          <p:nvPr/>
        </p:nvSpPr>
        <p:spPr>
          <a:xfrm>
            <a:off x="3246120" y="3666200"/>
            <a:ext cx="591434"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Sirah</a:t>
            </a:r>
            <a:endParaRPr lang="en-US" sz="500" dirty="0"/>
          </a:p>
        </p:txBody>
      </p:sp>
      <p:sp>
        <p:nvSpPr>
          <p:cNvPr id="44" name="Shape 36"/>
          <p:cNvSpPr/>
          <p:nvPr/>
        </p:nvSpPr>
        <p:spPr>
          <a:xfrm>
            <a:off x="3866833" y="3007391"/>
            <a:ext cx="349996" cy="649665"/>
          </a:xfrm>
          <a:prstGeom prst="rect">
            <a:avLst/>
          </a:prstGeom>
          <a:solidFill>
            <a:srgbClr val="D4A017"/>
          </a:solidFill>
          <a:ln w="12700">
            <a:solidFill>
              <a:srgbClr val="D4A017"/>
            </a:solidFill>
            <a:prstDash val="solid"/>
          </a:ln>
        </p:spPr>
      </p:sp>
      <p:sp>
        <p:nvSpPr>
          <p:cNvPr id="45" name="Text 37"/>
          <p:cNvSpPr txBox="1"/>
          <p:nvPr/>
        </p:nvSpPr>
        <p:spPr>
          <a:xfrm>
            <a:off x="3746114" y="3666200"/>
            <a:ext cx="591434"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Fiqih</a:t>
            </a:r>
            <a:endParaRPr lang="en-US" sz="500" dirty="0"/>
          </a:p>
        </p:txBody>
      </p:sp>
      <p:sp>
        <p:nvSpPr>
          <p:cNvPr id="46" name="Shape 38"/>
          <p:cNvSpPr/>
          <p:nvPr/>
        </p:nvSpPr>
        <p:spPr>
          <a:xfrm>
            <a:off x="4366827" y="3137324"/>
            <a:ext cx="349996" cy="519732"/>
          </a:xfrm>
          <a:prstGeom prst="rect">
            <a:avLst/>
          </a:prstGeom>
          <a:solidFill>
            <a:srgbClr val="1F7A5C"/>
          </a:solidFill>
          <a:ln w="12700">
            <a:solidFill>
              <a:srgbClr val="1F7A5C"/>
            </a:solidFill>
            <a:prstDash val="solid"/>
          </a:ln>
        </p:spPr>
      </p:sp>
      <p:sp>
        <p:nvSpPr>
          <p:cNvPr id="47" name="Text 39"/>
          <p:cNvSpPr txBox="1"/>
          <p:nvPr/>
        </p:nvSpPr>
        <p:spPr>
          <a:xfrm>
            <a:off x="4246108" y="3666200"/>
            <a:ext cx="591434"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Sains</a:t>
            </a:r>
            <a:endParaRPr lang="en-US" sz="500" dirty="0"/>
          </a:p>
        </p:txBody>
      </p:sp>
      <p:sp>
        <p:nvSpPr>
          <p:cNvPr id="48" name="Shape 40"/>
          <p:cNvSpPr/>
          <p:nvPr/>
        </p:nvSpPr>
        <p:spPr>
          <a:xfrm>
            <a:off x="4866821" y="3397190"/>
            <a:ext cx="349996" cy="259866"/>
          </a:xfrm>
          <a:prstGeom prst="rect">
            <a:avLst/>
          </a:prstGeom>
          <a:solidFill>
            <a:srgbClr val="D4A017"/>
          </a:solidFill>
          <a:ln w="12700">
            <a:solidFill>
              <a:srgbClr val="D4A017"/>
            </a:solidFill>
            <a:prstDash val="solid"/>
          </a:ln>
        </p:spPr>
      </p:sp>
      <p:sp>
        <p:nvSpPr>
          <p:cNvPr id="49" name="Text 41"/>
          <p:cNvSpPr txBox="1"/>
          <p:nvPr/>
        </p:nvSpPr>
        <p:spPr>
          <a:xfrm>
            <a:off x="4746102" y="3666200"/>
            <a:ext cx="591434"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Novel</a:t>
            </a:r>
            <a:endParaRPr lang="en-US" sz="500" dirty="0"/>
          </a:p>
        </p:txBody>
      </p:sp>
      <p:sp>
        <p:nvSpPr>
          <p:cNvPr id="50" name="Shape 42"/>
          <p:cNvSpPr/>
          <p:nvPr/>
        </p:nvSpPr>
        <p:spPr>
          <a:xfrm>
            <a:off x="3264408" y="3657056"/>
            <a:ext cx="2045696" cy="0"/>
          </a:xfrm>
          <a:prstGeom prst="line">
            <a:avLst/>
          </a:prstGeom>
          <a:noFill/>
          <a:ln w="6350">
            <a:solidFill>
              <a:srgbClr val="888888"/>
            </a:solidFill>
            <a:prstDash val="solid"/>
          </a:ln>
        </p:spPr>
      </p:sp>
      <p:sp>
        <p:nvSpPr>
          <p:cNvPr id="51" name="Shape 43"/>
          <p:cNvSpPr/>
          <p:nvPr/>
        </p:nvSpPr>
        <p:spPr>
          <a:xfrm>
            <a:off x="633496" y="1695965"/>
            <a:ext cx="4859487" cy="2281131"/>
          </a:xfrm>
          <a:prstGeom prst="roundRect">
            <a:avLst>
              <a:gd name="adj" fmla="val 2004"/>
            </a:avLst>
          </a:prstGeom>
          <a:solidFill>
            <a:srgbClr val="FFFFFF">
              <a:alpha val="0"/>
            </a:srgbClr>
          </a:solidFill>
          <a:ln w="31750">
            <a:solidFill>
              <a:srgbClr val="E53935"/>
            </a:solidFill>
            <a:prstDash val="solid"/>
          </a:ln>
        </p:spPr>
      </p:sp>
      <p:sp>
        <p:nvSpPr>
          <p:cNvPr id="52" name="Shape 44"/>
          <p:cNvSpPr/>
          <p:nvPr/>
        </p:nvSpPr>
        <p:spPr>
          <a:xfrm>
            <a:off x="5355824" y="1558805"/>
            <a:ext cx="274320" cy="274320"/>
          </a:xfrm>
          <a:prstGeom prst="ellipse">
            <a:avLst/>
          </a:prstGeom>
          <a:solidFill>
            <a:srgbClr val="E53935"/>
          </a:solidFill>
          <a:ln w="12700">
            <a:solidFill>
              <a:srgbClr val="FFFFFF"/>
            </a:solidFill>
            <a:prstDash val="solid"/>
          </a:ln>
        </p:spPr>
      </p:sp>
      <p:sp>
        <p:nvSpPr>
          <p:cNvPr id="53" name="Text 45"/>
          <p:cNvSpPr txBox="1"/>
          <p:nvPr/>
        </p:nvSpPr>
        <p:spPr>
          <a:xfrm>
            <a:off x="5355824"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4" name="Text 4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5" name="Text 4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Presentasi dan demo (5 menit per kelompok)</a:t>
            </a:r>
            <a:endParaRPr lang="en-US" sz="1800" dirty="0"/>
          </a:p>
        </p:txBody>
      </p:sp>
      <p:sp>
        <p:nvSpPr>
          <p:cNvPr id="56" name="Text 4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Tampilkan diagram, pindai QR, isi formulir dari HP, tunjukkan dashboard berubah. Sampaikan hasil dan pelajaran.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Refleksi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Proyek  ›  Kelas8</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Website_Saya</a:t>
            </a:r>
            <a:endParaRPr lang="en-US" sz="700" dirty="0"/>
          </a:p>
        </p:txBody>
      </p:sp>
      <p:pic>
        <p:nvPicPr>
          <p:cNvPr id="38"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39" name="Text 28"/>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Link_Website_Online</a:t>
            </a:r>
            <a:endParaRPr lang="en-US" sz="700" dirty="0"/>
          </a:p>
        </p:txBody>
      </p:sp>
      <p:pic>
        <p:nvPicPr>
          <p:cNvPr id="40" name="Image 9" descr="preencoded.png">    </p:cNvPr>
          <p:cNvPicPr>
            <a:picLocks noChangeAspect="1"/>
          </p:cNvPicPr>
          <p:nvPr/>
        </p:nvPicPr>
        <p:blipFill>
          <a:blip r:embed="rId10"/>
          <a:stretch>
            <a:fillRect/>
          </a:stretch>
        </p:blipFill>
        <p:spPr>
          <a:xfrm>
            <a:off x="3875593" y="1876189"/>
            <a:ext cx="292608" cy="292608"/>
          </a:xfrm>
          <a:prstGeom prst="rect">
            <a:avLst/>
          </a:prstGeom>
        </p:spPr>
      </p:pic>
      <p:sp>
        <p:nvSpPr>
          <p:cNvPr id="41" name="Text 29"/>
          <p:cNvSpPr txBox="1"/>
          <p:nvPr/>
        </p:nvSpPr>
        <p:spPr>
          <a:xfrm>
            <a:off x="361041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Link_Repository</a:t>
            </a:r>
            <a:endParaRPr lang="en-US" sz="700" dirty="0"/>
          </a:p>
        </p:txBody>
      </p:sp>
      <p:pic>
        <p:nvPicPr>
          <p:cNvPr id="42" name="Image 10" descr="preencoded.png">    </p:cNvPr>
          <p:cNvPicPr>
            <a:picLocks noChangeAspect="1"/>
          </p:cNvPicPr>
          <p:nvPr/>
        </p:nvPicPr>
        <p:blipFill>
          <a:blip r:embed="rId11"/>
          <a:stretch>
            <a:fillRect/>
          </a:stretch>
        </p:blipFill>
        <p:spPr>
          <a:xfrm>
            <a:off x="4744273" y="1876189"/>
            <a:ext cx="292608" cy="292608"/>
          </a:xfrm>
          <a:prstGeom prst="rect">
            <a:avLst/>
          </a:prstGeom>
        </p:spPr>
      </p:pic>
      <p:sp>
        <p:nvSpPr>
          <p:cNvPr id="43" name="Text 30"/>
          <p:cNvSpPr txBox="1"/>
          <p:nvPr/>
        </p:nvSpPr>
        <p:spPr>
          <a:xfrm>
            <a:off x="447909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Papan_Info_QR</a:t>
            </a:r>
            <a:endParaRPr lang="en-US" sz="700" dirty="0"/>
          </a:p>
        </p:txBody>
      </p:sp>
      <p:pic>
        <p:nvPicPr>
          <p:cNvPr id="44" name="Image 11" descr="preencoded.png">    </p:cNvPr>
          <p:cNvPicPr>
            <a:picLocks noChangeAspect="1"/>
          </p:cNvPicPr>
          <p:nvPr/>
        </p:nvPicPr>
        <p:blipFill>
          <a:blip r:embed="rId12"/>
          <a:stretch>
            <a:fillRect/>
          </a:stretch>
        </p:blipFill>
        <p:spPr>
          <a:xfrm>
            <a:off x="2138233" y="2534557"/>
            <a:ext cx="292608" cy="292608"/>
          </a:xfrm>
          <a:prstGeom prst="rect">
            <a:avLst/>
          </a:prstGeom>
        </p:spPr>
      </p:pic>
      <p:sp>
        <p:nvSpPr>
          <p:cNvPr id="45" name="Text 31"/>
          <p:cNvSpPr txBox="1"/>
          <p:nvPr/>
        </p:nvSpPr>
        <p:spPr>
          <a:xfrm>
            <a:off x="1873057" y="2863741"/>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Sistem_Perpus_Digital</a:t>
            </a:r>
            <a:endParaRPr lang="en-US" sz="700" dirty="0"/>
          </a:p>
        </p:txBody>
      </p:sp>
      <p:pic>
        <p:nvPicPr>
          <p:cNvPr id="46" name="Image 12" descr="preencoded.png">    </p:cNvPr>
          <p:cNvPicPr>
            <a:picLocks noChangeAspect="1"/>
          </p:cNvPicPr>
          <p:nvPr/>
        </p:nvPicPr>
        <p:blipFill>
          <a:blip r:embed="rId13"/>
          <a:stretch>
            <a:fillRect/>
          </a:stretch>
        </p:blipFill>
        <p:spPr>
          <a:xfrm>
            <a:off x="3006913" y="2534557"/>
            <a:ext cx="292608" cy="292608"/>
          </a:xfrm>
          <a:prstGeom prst="rect">
            <a:avLst/>
          </a:prstGeom>
        </p:spPr>
      </p:pic>
      <p:sp>
        <p:nvSpPr>
          <p:cNvPr id="47" name="Text 32"/>
          <p:cNvSpPr txBox="1"/>
          <p:nvPr/>
        </p:nvSpPr>
        <p:spPr>
          <a:xfrm>
            <a:off x="2741737" y="2863741"/>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Refleksi_Kelas8</a:t>
            </a:r>
            <a:endParaRPr lang="en-US" sz="700" dirty="0"/>
          </a:p>
        </p:txBody>
      </p:sp>
      <p:sp>
        <p:nvSpPr>
          <p:cNvPr id="48" name="Shape 33"/>
          <p:cNvSpPr/>
          <p:nvPr/>
        </p:nvSpPr>
        <p:spPr>
          <a:xfrm>
            <a:off x="1873057" y="1821325"/>
            <a:ext cx="3429000" cy="1298448"/>
          </a:xfrm>
          <a:prstGeom prst="roundRect">
            <a:avLst>
              <a:gd name="adj" fmla="val 3521"/>
            </a:avLst>
          </a:prstGeom>
          <a:solidFill>
            <a:srgbClr val="FFFFFF">
              <a:alpha val="0"/>
            </a:srgbClr>
          </a:solidFill>
          <a:ln w="31750">
            <a:solidFill>
              <a:srgbClr val="E53935"/>
            </a:solidFill>
            <a:prstDash val="solid"/>
          </a:ln>
        </p:spPr>
      </p:sp>
      <p:sp>
        <p:nvSpPr>
          <p:cNvPr id="49" name="Shape 34"/>
          <p:cNvSpPr/>
          <p:nvPr/>
        </p:nvSpPr>
        <p:spPr>
          <a:xfrm>
            <a:off x="5164897" y="1684165"/>
            <a:ext cx="274320" cy="274320"/>
          </a:xfrm>
          <a:prstGeom prst="ellipse">
            <a:avLst/>
          </a:prstGeom>
          <a:solidFill>
            <a:srgbClr val="E53935"/>
          </a:solidFill>
          <a:ln w="12700">
            <a:solidFill>
              <a:srgbClr val="FFFFFF"/>
            </a:solidFill>
            <a:prstDash val="solid"/>
          </a:ln>
        </p:spPr>
      </p:sp>
      <p:sp>
        <p:nvSpPr>
          <p:cNvPr id="50" name="Text 35"/>
          <p:cNvSpPr txBox="1"/>
          <p:nvPr/>
        </p:nvSpPr>
        <p:spPr>
          <a:xfrm>
            <a:off x="5164897" y="1684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51" name="Image 13" descr="preencoded.png">    </p:cNvPr>
          <p:cNvPicPr>
            <a:picLocks noChangeAspect="1"/>
          </p:cNvPicPr>
          <p:nvPr/>
        </p:nvPicPr>
        <p:blipFill>
          <a:blip r:embed="rId14"/>
          <a:stretch>
            <a:fillRect/>
          </a:stretch>
        </p:blipFill>
        <p:spPr>
          <a:xfrm>
            <a:off x="3757178" y="2533642"/>
            <a:ext cx="237744" cy="237744"/>
          </a:xfrm>
          <a:prstGeom prst="rect">
            <a:avLst/>
          </a:prstGeom>
        </p:spPr>
      </p:pic>
      <p:sp>
        <p:nvSpPr>
          <p:cNvPr id="52" name="Text 3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53" name="Text 3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Refleksi perjalanan Kelas VIII, rapikan portofolio</a:t>
            </a:r>
            <a:endParaRPr lang="en-US" sz="1800" dirty="0"/>
          </a:p>
        </p:txBody>
      </p:sp>
      <p:sp>
        <p:nvSpPr>
          <p:cNvPr id="54" name="Text 3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Simpan link website, repository, dashboard, dan foto papan QR di folder Portofolio › Proyek. Tulis refleksi singkat.</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Akhir: Digital Information System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Proyek akhir Kelas VIII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Sistem lengkap dan terhubung: formulir → Sheets → dashboard → website online → QR.</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Diuji pengguna nyata; temuan diperbaiki dan di-commit.</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README lengkap; tanpa data pribadi; ukuran berhasil dievaluasi.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Dipresentasikan dengan demo; setiap anggota menjelaskan bagiannya.</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12: Proyek Akhir Kelas VIII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Sistem diuji pengguna</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Temuan diperbaiki dan di-commit</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Ukuran berhasil dievaluasi</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Dipresentasikan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pencapaian terbesarmu di Kelas VIII?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ingin kamu pelajari di Kelas IX?</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Bersyukur atas ilmu, dan rendah hati menerima masukan.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Kelas IX: AI, Coding &amp; Digital Problem Solving. Sampai jumpa!</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2 Modul 12 - Proyek Akhir Kelas VIII</dc:title>
  <dc:subject>PptxGenJS Presentation</dc:subject>
  <dc:creator>PptxGenJS</dc:creator>
  <cp:lastModifiedBy>PptxGenJS</cp:lastModifiedBy>
  <cp:revision>1</cp:revision>
  <dcterms:created xsi:type="dcterms:W3CDTF">2026-10-02T01:41:46Z</dcterms:created>
  <dcterms:modified xsi:type="dcterms:W3CDTF">2026-10-02T01:41:46Z</dcterms:modified>
</cp:coreProperties>
</file>