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10: Hosting Gratis — Proyek: Website Online Gratis
Terdiri dari 3 pertemuan (Pertemuan 28–30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GitHub Pages gratis untuk repository Public. Website akan bisa dibuka SIAPA SAJA di internet. Karena itu pemeriksaan isi (tanpa data pribadi, tanpa foto wajah tanpa izin) WAJIB dilakukan sebelum diterbitkan.
- Website yang membawa nama pondok (misalnya landing page pondok) diterbitkan hanya dengan persetujuan pimpinan. Bila belum disetujui, terbitkan hanya halaman profil santri, atau tunda penerbitan dan cukup uji di komputer.
- Setelah menekan Save di GitHub Pages, perlu menunggu 1–5 menit sampai website aktif.
- Server internet membedakan huruf besar dan kecil pada nama file (Logo.png ≠ logo.png). Ini penyebab paling sering gambar tidak muncul setelah online.
CATATAN
Tidak perlu membeli domain. Alamat gratis berbentuk namaakun.github.io/nama-repo.
Alternatif hosting gratis lain: Netlify dan Cloudflare Pages (dikenalkan sebagai wawasan). Alur dasarnya sama: LOCAL → REPOSITORY → DEPLOY →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ke-28, dengan judul "Hosting, Domain &amp; GitHub Pages". Hari ini website buatan kalian sendiri akan bisa dibuka dari internet, secara gratis.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merapikan repository dengan README dan folder gambar. Siapa yang ingat, apa itu commit?
(Tunggu jawaban: menyimpan perubahan dengan catatan.)
Sekarang pertanyaan hari ini. Coba pikirkan sejenak:
"Website kalian sekarang hanya bisa dibuka di komputer sendiri. Bagaimana agar teman di rumah bisa membukanya?"
(Beri waktu 1 menit. Minta 2–3 santri menjawab. Hargai semua jawaban.)
Website harus disimpan di komputer yang menyala terus dan tersambung ke internet, yang disebut SERVER. Menyewa tempat di server disebut HOSTING. Kabar baiknya, ada hosting gratis: GitHub Pages. Hari ini kita memakainya.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kenali empat istilah.
SERVER: komputer yang menyala 24 jam dan selalu tersambung ke internet. File website disimpan di sini agar bisa dibuka kapan saja.
HOSTING: layanan penyimpanan website di server. Seperti menyewa tempat untuk berdagang. Ada yang berbayar dan ada yang gratis.
DOMAIN: alamat website, misalnya nama pondok titik sch titik id. Domain umumnya berbayar setiap tahun.
SUBDOMAIN GRATIS: alamat gratis yang diberikan penyedia hosting. Untuk GitHub Pages bentuknya nama akun titik github titik io. Kita tidak perlu membeli domain sama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alur lengkap yang kita jalani sejak Modul 7.
LOCAL ke REPOSITORY: website dibuat dan diuji di komputer sendiri, lalu disimpan di repository GitHub. Ini sudah kita lakukan.
DEPLOY, artinya menerbitkan: GitHub Pages mengambil isi repository dan memasangnya di server. Ini yang kita lakukan hari ini.
ONLINE: website bisa dibuka siapa saja dari mana saja lewat alamat github.io.
Contoh di bawah: dari folder Website Saya, ke repository, ke GitHub Pages, lalu menjadi alamat internet yang bisa dibuka di HP mana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menerbitkan, periksa sekali lagi.
Yang harus ADA:
Halaman utama bernama index.html, karena GitHub Pages membuka file itu pertama kali.
Isi yang benar, santun, dan bebas salah ketik.
Persetujuan guru. Untuk halaman yang membawa nama pondok, seperti landing page pondok, perlu persetujuan pimpinan.
Yang TIDAK BOLEH ADA:
Nama lengkap, alamat, atau nomor HP.
Foto wajah tanpa izin.
Kata sandi atau link file pribadi.
Ingat: setelah terbit, website bisa dibuka siapa saja di seluruh dunia.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Login ke akun GitHub kelompok dan buka repository website.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repository kelompok. Pastikan ada file index.html, karena itu halaman yang dibuka pertama kali.
Buka setiap file HTML dan periksa isinya: tanpa data pribadi, tanpa foto wajah tanpa izin.
(Guru memeriksa repository setiap kelompok dan memberi izin terbit. Untuk landing page pondok yang belum disetujui pimpinan, file pondok.html dapat dihapus dulu dari repository atau penerbitan ditunda.)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repository, klik tab Settings di bagian atas. Di menu sebelah kiri, gulir dan klik Pages.
Halaman pengaturan GitHub Pages terbuka.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Pada bagian Build and deployment, lihat pilihan Source. Pastikan tertulis Deploy from a branch, artinya terbitkan dari cabang repository. Biasanya sudah terpilih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Pada bagian Branch, klik kotak yang bertuliskan None, tanda a. Pilih main, tanda b. Main adalah cabang utama repository kalian.
Kotak di sebelahnya, yaitu folder, biarkan slash root, artinya ambil file dari folder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Save. GitHub mulai menerbitkan website kalian.
Proses ini butuh waktu sekitar satu sampai lima menit. Sambil menunggu, ingat kembali alur kita: local, repository, deploy, online. Inilah tahap deploy.
Setelah beberapa menit, muat ulang halaman ini dengan 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Setelah dimuat ulang, muncul kotak hijau bertuliskan Your site is live at, artinya website kalian sudah aktif di alamat, tanda a. Alamatnya: nama akun titik github titik io, garis miring, nama repository.
Klik Visit site,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Masya Allah, website buatan kalian sendiri sudah online!
Perhatikan kolom alamat, yang ditandai kotak merah. Dulu diawali file, sekarang diawali https, artinya halaman dari internet.
Salin alamat itu dan buka di HP. Website yang kalian tulis huruf demi huruf dengan Notepad, kini bisa dibuka dari mana saja di dunia.
(Sign out dari akun GitHub setelah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 di buku: alamat website online kelompok, penjelasan server, hosting, dan domain dengan kata-kata sendiri, alur penerbitan website kelompok, dan coba buka halaman pondok.html jika sudah diizinkan terbit.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menjelaskan hosting dan domain?
- gitHub Pages diaktifkan?
- website terbuka dari alamat github.io?
- isi sudah diperiksa sebelum terbit?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beda alamat file:/// dan https://?
Pertanyaan kedua: mengapa isi website harus diperiksa sebelum terbit?
(Minta 2–3 santri menjawab secara bergantian.)
Pesan adab kita hari ini: apa yang terbit di internet bisa dibaca siapa saja dan sulit ditarik kembali, karena bisa saja sudah disalin orang lain. Pikirkan baik-baik sebelum menerbitkan sesuatu.
Pekan depan: jejak digital, memperbarui website, dan memperbaiki error setelah online.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ke-29, dengan judul "Jejak Digital &amp; Merawat Website". Kita akan belajar menjaga jejak digital dan merawat website yang sudah online.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website kalian sudah online. Siapa yang ingat, berapa lama waktu yang dibutuhkan GitHub Pages untuk menerbitkan website?
(Tunggu jawaban: satu sampai lima menit.)
Sekarang pertanyaan hari ini. Coba pikirkan sejenak:
"Jika suatu hari kalian menemukan kesalahan di website yang sudah online, apa yang harus dilakukan?"
(Beri waktu 1 menit. Minta 2–3 santri menjawab. Hargai semua jawaban.)
Website yang sudah online tetap bisa diperbaiki dan diperbarui. Caranya sama dengan yang kita pelajari: ubah, commit, dan GitHub Pages otomatis memperbarui website. Tetapi kita juga perlu memahami jejak digital, karena yang pernah online bisa saja sudah tersimpan di tempat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JEJAK DIGITAL adalah semua yang pernah kita unggah, tulis, dan lakukan di internet: tulisan, foto, komentar, dan website.
Jejak digital bisa bertahan sangat lama, bahkan setelah kita menghapusnya. Mengapa? Karena orang lain bisa menyalin atau memotret layar. Mesin pencari juga bisa menyimpan salinan halaman. Ada pula situs yang mengarsipkan halaman-halaman internet.
Jejak digital membentuk nama baik atau reputasi kita. Di masa depan, sekolah, pondok, atau tempat kerja bisa mencari nama kita di internet.
Seorang muslim meyakini bahwa setiap amal dicatat. Jejak digital mengingatkan kita bahwa di dunia pun, perbuatan kita tercatat.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tinggalkan jejak digital yang baik.
Yang DITINGGALKAN: karya yang bermanfaat dan santun, seperti website dan poster dakwah kalian. Tulisan yang benar dengan sumber yang jelas. Pesan-pesan kebaikan.
Yang DIHINDARI: data pribadi diri sendiri dan orang lain. Ejekan, kata kasar, atau aib orang. Dan informasi yang belum diperiksa kebenarannya. Ingat pelajaran tabayyun.
Website yang kalian terbitkan adalah jejak digital pertama kalian sebagai pembuat website. Jadikan jejak yang membanggakan.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beberapa error yang sering muncul setelah website online, walaupun di komputer sendiri tampil benar.
GAMBAR TIDAK MUNCUL: penyebab paling sering adalah huruf besar-kecil. Di komputer Windows, Logo.png dengan L besar dan logo.png dianggap sama. Tetapi server internet membedakannya! Karena itu biasakan semua nama file huruf kecil.
404 NOT FOUND: artinya halaman tidak ditemukan. Biasanya nama file salah ketik di link, atau filenya belum diunggah.
PERUBAHAN BELUM TAMPIL: tunggu satu sampai lima menit, lalu muat ulang dengan Ctrl F5 agar browser tidak memakai salinan lama.
LINK FOLDER SALAH: gambar di folder gambar harus ditulis lengkap dengan nama foldernya.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Login ke akun GitHub kelompok. Buka website online kelompok di tab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repository, buka file index.html dan klik ikon pensil. Tambahkan satu bagian baru, misalnya kartu Adab Menuntut Ilmu dengan daftar bernomor.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Commit changes, tulis pesan yang jelas: Tambah kartu adab menuntut ilmu, lalu Commit changes lagi.
GitHub Pages otomatis menerbitkan ulang website setiap ada commit baru. Kita tidak perlu mengatur ulang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Tunggu satu sampai lima menit. Buka tab website online, lalu tekan Ctrl F5, tanda a. Ctrl F5 memaksa browser mengambil versi terbaru dari internet.
Kartu baru Adab Menuntut Ilmu kini tampil di website online. Inilah cara merawat website: ubah, commit, tunggu, periksa.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latihan memperbaiki error. Guru mencontohkan di layar: di file index.html, ubah src gambar menjadi gambar garis miring Logo.png dengan L huruf besar, padahal nama filenya logo.png huruf kecil. Commit.
Setelah website diperbarui, gambar tampil rusak seperti di layar: hanya ikon gambar kecil. Padahal di komputer Windows mungkin tetap tampil.
Siapa yang tahu penyebabnya?
(Tunggu jawaban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Mari analisis. Buka folder gambar di repository: nama filenya logo.png, huruf kecil semua. Di kode tertulis Logo.png dengan L besar.
Berbeda satu huruf saja! Server internet menganggapnya dua file yang berbeda, sehingga gambar tidak ditemukan.
Jika masih bingung, kita bisa bertanya kepada AI dengan menyertakan kode dan gejalanya. AI biasanya langsung menyebut kemungkinan huruf besar-kecil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Perbaiki src menjadi gambar garis miring logo.png dengan huruf kecil, tanda a. Commit dengan pesan: Perbaiki nama file logo, tanda b.
Tunggu sebentar, lalu Ctrl F5 di website. Gambar kembali tampil.
Pelajaran penting: biasakan semua nama file dan folder huruf kecil, tanpa spasi. Lalu setiap kelompok memeriksa semua src dan href di websitenya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bersama kelompok: pastikan semua nama file huruf kecil tanpa spasi, periksa semua src dan href, tambahkan satu isi baru dan pastikan tampil online, dan tulis tiga contoh jejak digital yang baik.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menjelaskan jejak digital?
- satu pembaruan berhasil tampil online?
- satu error berhasil diperbaiki?
- nama file sudah huruf kecil semua?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jejak digital seperti apa yang ingin kamu tinggalkan?
Pertanyaan kedua: mengapa nama file harus konsisten?
(Minta 2–3 santri menjawab secara bergantian.)
Pesan adab kita hari ini: setiap yang kita unggah akan dimintai pertanggungjawaban, di dunia dan di akhirat. Tinggalkan jejak digital yang baik, yang kelak kita banggakan, bukan yang kita sesali.
Pekan depan: proyek Website Online Gratis.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ke-30, dengan judul "Website Online Gratis". Hari ini kita menyelesaikan proyek Modul 10: website santri yang terbit, teruji, dan terawat.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memperbaiki error gambar. Siapa yang ingat, mengapa Logo.png dan logo.png dianggap berbeda di internet?
(Tunggu jawaban: server membedakan huruf besar dan kecil.)
Sekarang pertanyaan hari ini. Coba pikirkan sejenak:
"Website yang baik bukan hanya bisa dibuka. Apa lagi yang membuatnya baik?"
(Beri waktu 1 menit. Minta 2–3 santri menjawab. Hargai semua jawaban.)
Website yang baik itu benar isinya, rapi di semua layar, cepat dibuka, mudah digunakan, dan aman. Hari ini kita menguji website kelompok dengan daftar uji, memperbaikinya, lalu mempresentasikannya.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Seorang pembuat website selalu menguji karyanya. Ini enam hal yang diuji.
FUNGSI: semua link dan tombol bekerja, tidak ada halaman 404.
TAMPILAN: semua gambar tampil, teks terbaca, warna serasi.
RESPONSIF: rapi di komputer dan di HP.
AMAN DAN SANTUN: tanpa data pribadi, isinya benar dan santun.
DOKUMENTASI: README lengkap dan mencantumkan alamat website.
UJI PENGGUNA: kelompok lain mencoba website kita dan memberi masukan. Orang lain sering menemukan kesalahan yang tidak kita 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wawasan, selain GitHub Pages ada layanan hosting gratis lain.
NETLIFY: kita bahkan bisa menyeret folder website ke halamannya, dan website langsung online dengan alamat nama titik netlify titik app.
CLOUDFLARE PAGES: terhubung dengan repository GitHub, dengan alamat nama titik pages titik dev.
Alurnya sama persis dengan yang sudah kalian pelajari: local, repository, deploy, online. Ketiganya memiliki paket gratis untuk website sederhana seperti milik kita. Jadi kemampuan kalian bisa dipakai di layanan mana pun.
Ketersediaan dan aturan layanan gratis bisa berubah, jadi pembuat website perlu terus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membuka website online-nya. Siapkan kertas daftar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website online kelompok di komputer. Klik setiap link dan tombol, buka setiap halaman. Catat di kertas daftar uji jika ada yang error, gambar yang tidak tampil, atau salah ketik.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alamat website di HP yang disediakan. Periksa: apakah teks terbaca tanpa harus diperbesar? Apakah kartu bertumpuk rapi? Apakah tombol mudah diketuk dengan jari?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Uji silang. Tukarkan alamat website dengan kelompok lain. Setiap kelompok membuka website kelompok lain dan mengisi daftar uji: apakah semua link bekerja, gambar tampil, rapi di HP, tanpa data pribadi, dan README mencantumkan alamat.
Tulis satu pujian dan satu saran, lalu serahkan kepada kelompok pemilik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Perbaiki setiap temuan dari daftar uji, baik dari uji sendiri maupun dari kelompok lain. Setiap perbaikan di-commit dengan pesan jelas, misalnya: Perbaiki gambar logo dari hasil uji.
Riwayat commit kalian kini menceritakan perjalanan website dari awal sampai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Edit README.md dan tambahkan bagian baru: dua pagar, Website online, lalu di bawahnya alamat website kalian. Commit.
Sekarang siapa pun yang membuka repository langsung tahu alamat website-nya.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mempresentasikan website online-nya dalam tiga menit.
Buka website di proyektor. Ceritakan perjalanannya: menulis HTML, memperindah dengan CSS, menyimpan di GitHub, dan menerbitkan dengan GitHub Pages. Tunjukkan riwayat commit, dan ceritakan satu error yang berhasil kalian perbaiki.
(Beri apresiasi. Website-website ini adalah bukti bahwa santri bukan hanya pengguna teknologi, tetapi pembuat.)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kelompok dinyatakan selesai jika: website online tanpa error, rapi di komputer dan HP, lolos daftar uji silang dengan temuan sudah diperbaiki, dan README mencantumkan alamat website tanpa data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semua halaman terbuka tanpa error?
- rapi di komputer dan HP?
- rEADME berisi alamat website?
- dipresentasikan?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tantangan terbesar membuat website sendiri?
Pertanyaan kedua: apa yang ingin kamu tambahkan ke website ini?
(Minta 2–3 santri menjawab secara bergantian.)
Pesan adab kita hari ini: bersyukurlah atas kemampuan baru yang Allah berikan. Kemampuan membuat website adalah amanah: gunakan untuk kebaikan, dakwah, dan kemaslahatan, bukan untuk hal yang sia-sia.
Pekan depan: kita masuk Modul 11: QR Code dan Papan Informasi Digital. Alhamdulillah, Modul 10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1.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slideLayout" Target="../slideLayouts/slideLayout1.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2  ·  MODUL 10</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Hosting Gratis</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Website Online Gratis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menerbitkan website buatan sendiri ke internet secara gratis dengan GitHub Pages, memahami hosting dan domain, menjaga jejak digital, serta memperbarui dan memperbaiki website yang sudah online.</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28</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Hosting, Domain &amp; GitHub Pages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29</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Jejak Digital &amp; Merawat Website</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30</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Website Online Gratis</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GitHub dan GitHub Pages (gratis), repository dari Modul 9, browser, HP untuk uji tampilan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Hosting, Domain &amp; GitHub Pages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Dari komputer menuju internet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Hosting Gratis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Website kalian sekarang hanya bisa dibuka di komputer sendiri. Bagaimana agar teman di rumah bisa membukanya?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hosting, domain, dan subdomain gratis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alur LOCAL → REPOSITORY → DEPLOY → ONLINE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Menerbitkan repository dengan GitHub Pages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Hosting, Domain, dan Subdomain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Server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Komputer yang menyala 24 jam dan tersambung internet, tempat file website disimpan.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Hosting</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Layanan tempat menyimpan website di server. Ada yang berbayar, ada yang gratis.</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Domain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Alamat website, misalnya wihdatulummah.sch.id. Umumnya berbayar per tahun.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Subdomain Gratis</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Alamat gratis dari penyedia hosting: namaakun.github.io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Alur Menerbitkan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LOCAL + REPOSITORY</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Website dibuat dan diuji di komputer, lalu disimpan di GitHub (Modul 7–9)</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DEPLOY</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GitHub Pages menerbitkan isi repository ke server</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ONLINE</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Website bisa dibuka siapa saja lewat alamat github.io</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Folder Website_Saya → repo website-santri-kel1 → GitHub Pages → https://santri-wu-kel1.github.io/website-santri-kel1/</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Sebelum Menekan Terbit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Pastikan Ada</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Halaman utama bernama index.html</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Isi benar, santun, tanpa salah ketik</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Persetujuan guru (dan pimpinan untuk nama pondok)</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Pastikan Tidak Ada</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Nama lengkap, alamat, nomor HP</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Foto wajah tanpa izin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Kata sandi atau link file pribadi</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Menerbitkan dengan GitHub Pages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Pemeriksaan dan menu Pages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Memilih branch dan Save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website online</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9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gambar</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Pindahkan gambar ke folder gambar</a:t>
            </a:r>
            <a:endParaRPr lang="en-US" sz="650" dirty="0"/>
          </a:p>
        </p:txBody>
      </p:sp>
      <p:sp>
        <p:nvSpPr>
          <p:cNvPr id="49" name="Shape 40"/>
          <p:cNvSpPr/>
          <p:nvPr/>
        </p:nvSpPr>
        <p:spPr>
          <a:xfrm>
            <a:off x="724936" y="2957837"/>
            <a:ext cx="4676607" cy="201168"/>
          </a:xfrm>
          <a:prstGeom prst="rect">
            <a:avLst/>
          </a:prstGeom>
          <a:solidFill>
            <a:srgbClr val="FFFFFF"/>
          </a:solidFill>
          <a:ln w="6350">
            <a:solidFill>
              <a:srgbClr val="D0D7DE"/>
            </a:solidFill>
            <a:prstDash val="solid"/>
          </a:ln>
        </p:spPr>
      </p:sp>
      <p:pic>
        <p:nvPicPr>
          <p:cNvPr id="50" name="Image 7" descr="preencoded.png">    </p:cNvPr>
          <p:cNvPicPr>
            <a:picLocks noChangeAspect="1"/>
          </p:cNvPicPr>
          <p:nvPr/>
        </p:nvPicPr>
        <p:blipFill>
          <a:blip r:embed="rId8"/>
          <a:stretch>
            <a:fillRect/>
          </a:stretch>
        </p:blipFill>
        <p:spPr>
          <a:xfrm>
            <a:off x="798088" y="2994413"/>
            <a:ext cx="118872" cy="118872"/>
          </a:xfrm>
          <a:prstGeom prst="rect">
            <a:avLst/>
          </a:prstGeom>
        </p:spPr>
      </p:pic>
      <p:sp>
        <p:nvSpPr>
          <p:cNvPr id="51" name="Text 41"/>
          <p:cNvSpPr txBox="1"/>
          <p:nvPr/>
        </p:nvSpPr>
        <p:spPr>
          <a:xfrm>
            <a:off x="980968" y="2957837"/>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index.html</a:t>
            </a:r>
            <a:endParaRPr lang="en-US" sz="700" dirty="0"/>
          </a:p>
        </p:txBody>
      </p:sp>
      <p:sp>
        <p:nvSpPr>
          <p:cNvPr id="52" name="Text 42"/>
          <p:cNvSpPr txBox="1"/>
          <p:nvPr/>
        </p:nvSpPr>
        <p:spPr>
          <a:xfrm>
            <a:off x="2462296" y="2957837"/>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Perbarui alamat gambar</a:t>
            </a:r>
            <a:endParaRPr lang="en-US" sz="650" dirty="0"/>
          </a:p>
        </p:txBody>
      </p:sp>
      <p:sp>
        <p:nvSpPr>
          <p:cNvPr id="53" name="Shape 43"/>
          <p:cNvSpPr/>
          <p:nvPr/>
        </p:nvSpPr>
        <p:spPr>
          <a:xfrm>
            <a:off x="724936" y="3159005"/>
            <a:ext cx="4676607" cy="201168"/>
          </a:xfrm>
          <a:prstGeom prst="rect">
            <a:avLst/>
          </a:prstGeom>
          <a:solidFill>
            <a:srgbClr val="FFFFFF"/>
          </a:solidFill>
          <a:ln w="6350">
            <a:solidFill>
              <a:srgbClr val="D0D7DE"/>
            </a:solidFill>
            <a:prstDash val="solid"/>
          </a:ln>
        </p:spPr>
      </p:sp>
      <p:pic>
        <p:nvPicPr>
          <p:cNvPr id="54" name="Image 8" descr="preencoded.png">    </p:cNvPr>
          <p:cNvPicPr>
            <a:picLocks noChangeAspect="1"/>
          </p:cNvPicPr>
          <p:nvPr/>
        </p:nvPicPr>
        <p:blipFill>
          <a:blip r:embed="rId9"/>
          <a:stretch>
            <a:fillRect/>
          </a:stretch>
        </p:blipFill>
        <p:spPr>
          <a:xfrm>
            <a:off x="798088" y="3195581"/>
            <a:ext cx="118872" cy="118872"/>
          </a:xfrm>
          <a:prstGeom prst="rect">
            <a:avLst/>
          </a:prstGeom>
        </p:spPr>
      </p:pic>
      <p:sp>
        <p:nvSpPr>
          <p:cNvPr id="55" name="Text 44"/>
          <p:cNvSpPr txBox="1"/>
          <p:nvPr/>
        </p:nvSpPr>
        <p:spPr>
          <a:xfrm>
            <a:off x="980968" y="3159005"/>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pondok.html</a:t>
            </a:r>
            <a:endParaRPr lang="en-US" sz="700" dirty="0"/>
          </a:p>
        </p:txBody>
      </p:sp>
      <p:sp>
        <p:nvSpPr>
          <p:cNvPr id="56" name="Text 45"/>
          <p:cNvSpPr txBox="1"/>
          <p:nvPr/>
        </p:nvSpPr>
        <p:spPr>
          <a:xfrm>
            <a:off x="2462296" y="3159005"/>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Perbarui alamat gambar</a:t>
            </a:r>
            <a:endParaRPr lang="en-US" sz="650" dirty="0"/>
          </a:p>
        </p:txBody>
      </p:sp>
      <p:sp>
        <p:nvSpPr>
          <p:cNvPr id="57" name="Shape 46"/>
          <p:cNvSpPr/>
          <p:nvPr/>
        </p:nvSpPr>
        <p:spPr>
          <a:xfrm>
            <a:off x="724936" y="3360173"/>
            <a:ext cx="4676607" cy="201168"/>
          </a:xfrm>
          <a:prstGeom prst="rect">
            <a:avLst/>
          </a:prstGeom>
          <a:solidFill>
            <a:srgbClr val="FFFFFF"/>
          </a:solidFill>
          <a:ln w="6350">
            <a:solidFill>
              <a:srgbClr val="D0D7DE"/>
            </a:solidFill>
            <a:prstDash val="solid"/>
          </a:ln>
        </p:spPr>
      </p:sp>
      <p:pic>
        <p:nvPicPr>
          <p:cNvPr id="58" name="Image 9" descr="preencoded.png">    </p:cNvPr>
          <p:cNvPicPr>
            <a:picLocks noChangeAspect="1"/>
          </p:cNvPicPr>
          <p:nvPr/>
        </p:nvPicPr>
        <p:blipFill>
          <a:blip r:embed="rId10"/>
          <a:stretch>
            <a:fillRect/>
          </a:stretch>
        </p:blipFill>
        <p:spPr>
          <a:xfrm>
            <a:off x="798088" y="3396749"/>
            <a:ext cx="118872" cy="118872"/>
          </a:xfrm>
          <a:prstGeom prst="rect">
            <a:avLst/>
          </a:prstGeom>
        </p:spPr>
      </p:pic>
      <p:sp>
        <p:nvSpPr>
          <p:cNvPr id="59" name="Text 47"/>
          <p:cNvSpPr txBox="1"/>
          <p:nvPr/>
        </p:nvSpPr>
        <p:spPr>
          <a:xfrm>
            <a:off x="980968" y="3360173"/>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60" name="Text 48"/>
          <p:cNvSpPr txBox="1"/>
          <p:nvPr/>
        </p:nvSpPr>
        <p:spPr>
          <a:xfrm>
            <a:off x="2462296" y="3360173"/>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Lengkapi README</a:t>
            </a:r>
            <a:endParaRPr lang="en-US" sz="650" dirty="0"/>
          </a:p>
        </p:txBody>
      </p:sp>
      <p:sp>
        <p:nvSpPr>
          <p:cNvPr id="61" name="Shape 49"/>
          <p:cNvSpPr/>
          <p:nvPr/>
        </p:nvSpPr>
        <p:spPr>
          <a:xfrm>
            <a:off x="706648" y="2939549"/>
            <a:ext cx="4713183" cy="237744"/>
          </a:xfrm>
          <a:prstGeom prst="roundRect">
            <a:avLst>
              <a:gd name="adj" fmla="val 19231"/>
            </a:avLst>
          </a:prstGeom>
          <a:solidFill>
            <a:srgbClr val="FFFFFF">
              <a:alpha val="0"/>
            </a:srgbClr>
          </a:solidFill>
          <a:ln w="31750">
            <a:solidFill>
              <a:srgbClr val="E53935"/>
            </a:solidFill>
            <a:prstDash val="solid"/>
          </a:ln>
        </p:spPr>
      </p:sp>
      <p:sp>
        <p:nvSpPr>
          <p:cNvPr id="62" name="Shape 50"/>
          <p:cNvSpPr/>
          <p:nvPr/>
        </p:nvSpPr>
        <p:spPr>
          <a:xfrm>
            <a:off x="5282672" y="2802389"/>
            <a:ext cx="274320" cy="274320"/>
          </a:xfrm>
          <a:prstGeom prst="ellipse">
            <a:avLst/>
          </a:prstGeom>
          <a:solidFill>
            <a:srgbClr val="E53935"/>
          </a:solidFill>
          <a:ln w="12700">
            <a:solidFill>
              <a:srgbClr val="FFFFFF"/>
            </a:solidFill>
            <a:prstDash val="solid"/>
          </a:ln>
        </p:spPr>
      </p:sp>
      <p:sp>
        <p:nvSpPr>
          <p:cNvPr id="63" name="Text 51"/>
          <p:cNvSpPr txBox="1"/>
          <p:nvPr/>
        </p:nvSpPr>
        <p:spPr>
          <a:xfrm>
            <a:off x="5282672" y="28023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64" name="Image 10" descr="preencoded.png">    </p:cNvPr>
          <p:cNvPicPr>
            <a:picLocks noChangeAspect="1"/>
          </p:cNvPicPr>
          <p:nvPr/>
        </p:nvPicPr>
        <p:blipFill>
          <a:blip r:embed="rId11"/>
          <a:stretch>
            <a:fillRect/>
          </a:stretch>
        </p:blipFill>
        <p:spPr>
          <a:xfrm>
            <a:off x="3297070" y="3068480"/>
            <a:ext cx="237744" cy="237744"/>
          </a:xfrm>
          <a:prstGeom prst="rect">
            <a:avLst/>
          </a:prstGeom>
        </p:spPr>
      </p:pic>
      <p:sp>
        <p:nvSpPr>
          <p:cNvPr id="65"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6"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isi repository</a:t>
            </a:r>
            <a:endParaRPr lang="en-US" sz="1800" dirty="0"/>
          </a:p>
        </p:txBody>
      </p:sp>
      <p:sp>
        <p:nvSpPr>
          <p:cNvPr id="67"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Pastikan ada index.html. Buka setiap file HTML, periksa: tanpa data pribadi. Minta guru memeriksa dan memberi izin.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github.com/santri-wu-kel1/website-santri-kel1/settings/pages</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Text 32"/>
          <p:cNvSpPr txBox="1"/>
          <p:nvPr/>
        </p:nvSpPr>
        <p:spPr>
          <a:xfrm>
            <a:off x="1913656" y="238176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1" name="Text 33"/>
          <p:cNvSpPr txBox="1"/>
          <p:nvPr/>
        </p:nvSpPr>
        <p:spPr>
          <a:xfrm>
            <a:off x="1913656" y="261950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2" name="Shape 34"/>
          <p:cNvSpPr/>
          <p:nvPr/>
        </p:nvSpPr>
        <p:spPr>
          <a:xfrm>
            <a:off x="1913656" y="2774957"/>
            <a:ext cx="1371600" cy="201168"/>
          </a:xfrm>
          <a:prstGeom prst="roundRect">
            <a:avLst>
              <a:gd name="adj" fmla="val 18182"/>
            </a:avLst>
          </a:prstGeom>
          <a:solidFill>
            <a:srgbClr val="F6F8FA"/>
          </a:solidFill>
          <a:ln w="9525">
            <a:solidFill>
              <a:srgbClr val="D0D7DE"/>
            </a:solidFill>
            <a:prstDash val="solid"/>
          </a:ln>
        </p:spPr>
      </p:sp>
      <p:sp>
        <p:nvSpPr>
          <p:cNvPr id="43" name="Text 35"/>
          <p:cNvSpPr txBox="1"/>
          <p:nvPr/>
        </p:nvSpPr>
        <p:spPr>
          <a:xfrm>
            <a:off x="1968520" y="277495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4" name="Text 36"/>
          <p:cNvSpPr txBox="1"/>
          <p:nvPr/>
        </p:nvSpPr>
        <p:spPr>
          <a:xfrm>
            <a:off x="1913656" y="306756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45" name="Shape 37"/>
          <p:cNvSpPr/>
          <p:nvPr/>
        </p:nvSpPr>
        <p:spPr>
          <a:xfrm>
            <a:off x="1913656" y="3223013"/>
            <a:ext cx="640080" cy="201168"/>
          </a:xfrm>
          <a:prstGeom prst="roundRect">
            <a:avLst>
              <a:gd name="adj" fmla="val 18182"/>
            </a:avLst>
          </a:prstGeom>
          <a:solidFill>
            <a:srgbClr val="F6F8FA"/>
          </a:solidFill>
          <a:ln w="9525">
            <a:solidFill>
              <a:srgbClr val="D0D7DE"/>
            </a:solidFill>
            <a:prstDash val="solid"/>
          </a:ln>
        </p:spPr>
      </p:sp>
      <p:sp>
        <p:nvSpPr>
          <p:cNvPr id="46" name="Text 38"/>
          <p:cNvSpPr txBox="1"/>
          <p:nvPr/>
        </p:nvSpPr>
        <p:spPr>
          <a:xfrm>
            <a:off x="1968520"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None ▾</a:t>
            </a:r>
            <a:endParaRPr lang="en-US" sz="650" dirty="0"/>
          </a:p>
        </p:txBody>
      </p:sp>
      <p:sp>
        <p:nvSpPr>
          <p:cNvPr id="47" name="Shape 39"/>
          <p:cNvSpPr/>
          <p:nvPr/>
        </p:nvSpPr>
        <p:spPr>
          <a:xfrm>
            <a:off x="2626888" y="3223013"/>
            <a:ext cx="64008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2681752"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49" name="Shape 41"/>
          <p:cNvSpPr/>
          <p:nvPr/>
        </p:nvSpPr>
        <p:spPr>
          <a:xfrm>
            <a:off x="3340120" y="3223013"/>
            <a:ext cx="457200" cy="201168"/>
          </a:xfrm>
          <a:prstGeom prst="roundRect">
            <a:avLst>
              <a:gd name="adj" fmla="val 18182"/>
            </a:avLst>
          </a:prstGeom>
          <a:solidFill>
            <a:srgbClr val="F6F8FA"/>
          </a:solidFill>
          <a:ln w="9525">
            <a:solidFill>
              <a:srgbClr val="D0D7DE"/>
            </a:solidFill>
            <a:prstDash val="solid"/>
          </a:ln>
        </p:spPr>
      </p:sp>
      <p:sp>
        <p:nvSpPr>
          <p:cNvPr id="50" name="Text 42"/>
          <p:cNvSpPr txBox="1"/>
          <p:nvPr/>
        </p:nvSpPr>
        <p:spPr>
          <a:xfrm>
            <a:off x="3340120" y="322301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1" name="Shape 43"/>
          <p:cNvSpPr/>
          <p:nvPr/>
        </p:nvSpPr>
        <p:spPr>
          <a:xfrm>
            <a:off x="706648" y="2701805"/>
            <a:ext cx="1042416" cy="237744"/>
          </a:xfrm>
          <a:prstGeom prst="roundRect">
            <a:avLst>
              <a:gd name="adj" fmla="val 19231"/>
            </a:avLst>
          </a:prstGeom>
          <a:solidFill>
            <a:srgbClr val="FFFFFF">
              <a:alpha val="0"/>
            </a:srgbClr>
          </a:solidFill>
          <a:ln w="31750">
            <a:solidFill>
              <a:srgbClr val="E53935"/>
            </a:solidFill>
            <a:prstDash val="solid"/>
          </a:ln>
        </p:spPr>
      </p:sp>
      <p:sp>
        <p:nvSpPr>
          <p:cNvPr id="52" name="Shape 44"/>
          <p:cNvSpPr/>
          <p:nvPr/>
        </p:nvSpPr>
        <p:spPr>
          <a:xfrm>
            <a:off x="1611904" y="2564645"/>
            <a:ext cx="274320" cy="274320"/>
          </a:xfrm>
          <a:prstGeom prst="ellipse">
            <a:avLst/>
          </a:prstGeom>
          <a:solidFill>
            <a:srgbClr val="E53935"/>
          </a:solidFill>
          <a:ln w="12700">
            <a:solidFill>
              <a:srgbClr val="FFFFFF"/>
            </a:solidFill>
            <a:prstDash val="solid"/>
          </a:ln>
        </p:spPr>
      </p:sp>
      <p:sp>
        <p:nvSpPr>
          <p:cNvPr id="53" name="Text 45"/>
          <p:cNvSpPr txBox="1"/>
          <p:nvPr/>
        </p:nvSpPr>
        <p:spPr>
          <a:xfrm>
            <a:off x="1611904" y="25646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4" name="Image 6" descr="preencoded.png">    </p:cNvPr>
          <p:cNvPicPr>
            <a:picLocks noChangeAspect="1"/>
          </p:cNvPicPr>
          <p:nvPr/>
        </p:nvPicPr>
        <p:blipFill>
          <a:blip r:embed="rId7"/>
          <a:stretch>
            <a:fillRect/>
          </a:stretch>
        </p:blipFill>
        <p:spPr>
          <a:xfrm>
            <a:off x="1278148" y="2830736"/>
            <a:ext cx="237744" cy="237744"/>
          </a:xfrm>
          <a:prstGeom prst="rect">
            <a:avLst/>
          </a:prstGeom>
        </p:spPr>
      </p:pic>
      <p:sp>
        <p:nvSpPr>
          <p:cNvPr id="55"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6"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Settings › Pages</a:t>
            </a:r>
            <a:endParaRPr lang="en-US" sz="1800" dirty="0"/>
          </a:p>
        </p:txBody>
      </p:sp>
      <p:sp>
        <p:nvSpPr>
          <p:cNvPr id="57"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tab Settings di repository. Di menu kiri, klik Pages.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Mengaktifkan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Text 32"/>
          <p:cNvSpPr txBox="1"/>
          <p:nvPr/>
        </p:nvSpPr>
        <p:spPr>
          <a:xfrm>
            <a:off x="1913656" y="238176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1" name="Text 33"/>
          <p:cNvSpPr txBox="1"/>
          <p:nvPr/>
        </p:nvSpPr>
        <p:spPr>
          <a:xfrm>
            <a:off x="1913656" y="261950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2" name="Shape 34"/>
          <p:cNvSpPr/>
          <p:nvPr/>
        </p:nvSpPr>
        <p:spPr>
          <a:xfrm>
            <a:off x="1913656" y="2774957"/>
            <a:ext cx="1371600" cy="201168"/>
          </a:xfrm>
          <a:prstGeom prst="roundRect">
            <a:avLst>
              <a:gd name="adj" fmla="val 18182"/>
            </a:avLst>
          </a:prstGeom>
          <a:solidFill>
            <a:srgbClr val="F6F8FA"/>
          </a:solidFill>
          <a:ln w="9525">
            <a:solidFill>
              <a:srgbClr val="D0D7DE"/>
            </a:solidFill>
            <a:prstDash val="solid"/>
          </a:ln>
        </p:spPr>
      </p:sp>
      <p:sp>
        <p:nvSpPr>
          <p:cNvPr id="43" name="Text 35"/>
          <p:cNvSpPr txBox="1"/>
          <p:nvPr/>
        </p:nvSpPr>
        <p:spPr>
          <a:xfrm>
            <a:off x="1968520" y="277495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4" name="Text 36"/>
          <p:cNvSpPr txBox="1"/>
          <p:nvPr/>
        </p:nvSpPr>
        <p:spPr>
          <a:xfrm>
            <a:off x="1913656" y="306756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45" name="Shape 37"/>
          <p:cNvSpPr/>
          <p:nvPr/>
        </p:nvSpPr>
        <p:spPr>
          <a:xfrm>
            <a:off x="1913656" y="3223013"/>
            <a:ext cx="640080" cy="201168"/>
          </a:xfrm>
          <a:prstGeom prst="roundRect">
            <a:avLst>
              <a:gd name="adj" fmla="val 18182"/>
            </a:avLst>
          </a:prstGeom>
          <a:solidFill>
            <a:srgbClr val="F6F8FA"/>
          </a:solidFill>
          <a:ln w="9525">
            <a:solidFill>
              <a:srgbClr val="D0D7DE"/>
            </a:solidFill>
            <a:prstDash val="solid"/>
          </a:ln>
        </p:spPr>
      </p:sp>
      <p:sp>
        <p:nvSpPr>
          <p:cNvPr id="46" name="Text 38"/>
          <p:cNvSpPr txBox="1"/>
          <p:nvPr/>
        </p:nvSpPr>
        <p:spPr>
          <a:xfrm>
            <a:off x="1968520"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None ▾</a:t>
            </a:r>
            <a:endParaRPr lang="en-US" sz="650" dirty="0"/>
          </a:p>
        </p:txBody>
      </p:sp>
      <p:sp>
        <p:nvSpPr>
          <p:cNvPr id="47" name="Shape 39"/>
          <p:cNvSpPr/>
          <p:nvPr/>
        </p:nvSpPr>
        <p:spPr>
          <a:xfrm>
            <a:off x="2626888" y="3223013"/>
            <a:ext cx="64008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2681752"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49" name="Shape 41"/>
          <p:cNvSpPr/>
          <p:nvPr/>
        </p:nvSpPr>
        <p:spPr>
          <a:xfrm>
            <a:off x="3340120" y="3223013"/>
            <a:ext cx="457200" cy="201168"/>
          </a:xfrm>
          <a:prstGeom prst="roundRect">
            <a:avLst>
              <a:gd name="adj" fmla="val 18182"/>
            </a:avLst>
          </a:prstGeom>
          <a:solidFill>
            <a:srgbClr val="F6F8FA"/>
          </a:solidFill>
          <a:ln w="9525">
            <a:solidFill>
              <a:srgbClr val="D0D7DE"/>
            </a:solidFill>
            <a:prstDash val="solid"/>
          </a:ln>
        </p:spPr>
      </p:sp>
      <p:sp>
        <p:nvSpPr>
          <p:cNvPr id="50" name="Text 42"/>
          <p:cNvSpPr txBox="1"/>
          <p:nvPr/>
        </p:nvSpPr>
        <p:spPr>
          <a:xfrm>
            <a:off x="3340120" y="322301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1" name="Shape 43"/>
          <p:cNvSpPr/>
          <p:nvPr/>
        </p:nvSpPr>
        <p:spPr>
          <a:xfrm>
            <a:off x="1895368" y="2756669"/>
            <a:ext cx="1408176" cy="237744"/>
          </a:xfrm>
          <a:prstGeom prst="roundRect">
            <a:avLst>
              <a:gd name="adj" fmla="val 19231"/>
            </a:avLst>
          </a:prstGeom>
          <a:solidFill>
            <a:srgbClr val="FFFFFF">
              <a:alpha val="0"/>
            </a:srgbClr>
          </a:solidFill>
          <a:ln w="31750">
            <a:solidFill>
              <a:srgbClr val="E53935"/>
            </a:solidFill>
            <a:prstDash val="solid"/>
          </a:ln>
        </p:spPr>
      </p:sp>
      <p:sp>
        <p:nvSpPr>
          <p:cNvPr id="52" name="Shape 44"/>
          <p:cNvSpPr/>
          <p:nvPr/>
        </p:nvSpPr>
        <p:spPr>
          <a:xfrm>
            <a:off x="3166384" y="2619509"/>
            <a:ext cx="274320" cy="274320"/>
          </a:xfrm>
          <a:prstGeom prst="ellipse">
            <a:avLst/>
          </a:prstGeom>
          <a:solidFill>
            <a:srgbClr val="E53935"/>
          </a:solidFill>
          <a:ln w="12700">
            <a:solidFill>
              <a:srgbClr val="FFFFFF"/>
            </a:solidFill>
            <a:prstDash val="solid"/>
          </a:ln>
        </p:spPr>
      </p:sp>
      <p:sp>
        <p:nvSpPr>
          <p:cNvPr id="53" name="Text 45"/>
          <p:cNvSpPr txBox="1"/>
          <p:nvPr/>
        </p:nvSpPr>
        <p:spPr>
          <a:xfrm>
            <a:off x="3166384" y="26195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4" name="Image 6" descr="preencoded.png">    </p:cNvPr>
          <p:cNvPicPr>
            <a:picLocks noChangeAspect="1"/>
          </p:cNvPicPr>
          <p:nvPr/>
        </p:nvPicPr>
        <p:blipFill>
          <a:blip r:embed="rId7"/>
          <a:stretch>
            <a:fillRect/>
          </a:stretch>
        </p:blipFill>
        <p:spPr>
          <a:xfrm>
            <a:off x="2668036" y="2885600"/>
            <a:ext cx="237744" cy="237744"/>
          </a:xfrm>
          <a:prstGeom prst="rect">
            <a:avLst/>
          </a:prstGeom>
        </p:spPr>
      </p:pic>
      <p:sp>
        <p:nvSpPr>
          <p:cNvPr id="55"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6"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Source: Deploy from a branch</a:t>
            </a:r>
            <a:endParaRPr lang="en-US" sz="1800" dirty="0"/>
          </a:p>
        </p:txBody>
      </p:sp>
      <p:sp>
        <p:nvSpPr>
          <p:cNvPr id="57"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Build and deployment, pastikan Source: Deploy from a branch.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Mengaktifkan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Text 32"/>
          <p:cNvSpPr txBox="1"/>
          <p:nvPr/>
        </p:nvSpPr>
        <p:spPr>
          <a:xfrm>
            <a:off x="1913656" y="238176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1" name="Text 33"/>
          <p:cNvSpPr txBox="1"/>
          <p:nvPr/>
        </p:nvSpPr>
        <p:spPr>
          <a:xfrm>
            <a:off x="1913656" y="261950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2" name="Shape 34"/>
          <p:cNvSpPr/>
          <p:nvPr/>
        </p:nvSpPr>
        <p:spPr>
          <a:xfrm>
            <a:off x="1913656" y="2774957"/>
            <a:ext cx="1371600" cy="201168"/>
          </a:xfrm>
          <a:prstGeom prst="roundRect">
            <a:avLst>
              <a:gd name="adj" fmla="val 18182"/>
            </a:avLst>
          </a:prstGeom>
          <a:solidFill>
            <a:srgbClr val="F6F8FA"/>
          </a:solidFill>
          <a:ln w="9525">
            <a:solidFill>
              <a:srgbClr val="D0D7DE"/>
            </a:solidFill>
            <a:prstDash val="solid"/>
          </a:ln>
        </p:spPr>
      </p:sp>
      <p:sp>
        <p:nvSpPr>
          <p:cNvPr id="43" name="Text 35"/>
          <p:cNvSpPr txBox="1"/>
          <p:nvPr/>
        </p:nvSpPr>
        <p:spPr>
          <a:xfrm>
            <a:off x="1968520" y="277495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4" name="Text 36"/>
          <p:cNvSpPr txBox="1"/>
          <p:nvPr/>
        </p:nvSpPr>
        <p:spPr>
          <a:xfrm>
            <a:off x="1913656" y="306756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45" name="Shape 37"/>
          <p:cNvSpPr/>
          <p:nvPr/>
        </p:nvSpPr>
        <p:spPr>
          <a:xfrm>
            <a:off x="1913656" y="3223013"/>
            <a:ext cx="640080" cy="201168"/>
          </a:xfrm>
          <a:prstGeom prst="roundRect">
            <a:avLst>
              <a:gd name="adj" fmla="val 18182"/>
            </a:avLst>
          </a:prstGeom>
          <a:solidFill>
            <a:srgbClr val="F6F8FA"/>
          </a:solidFill>
          <a:ln w="9525">
            <a:solidFill>
              <a:srgbClr val="D0D7DE"/>
            </a:solidFill>
            <a:prstDash val="solid"/>
          </a:ln>
        </p:spPr>
      </p:sp>
      <p:sp>
        <p:nvSpPr>
          <p:cNvPr id="46" name="Text 38"/>
          <p:cNvSpPr txBox="1"/>
          <p:nvPr/>
        </p:nvSpPr>
        <p:spPr>
          <a:xfrm>
            <a:off x="1968520"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None ▾</a:t>
            </a:r>
            <a:endParaRPr lang="en-US" sz="650" dirty="0"/>
          </a:p>
        </p:txBody>
      </p:sp>
      <p:sp>
        <p:nvSpPr>
          <p:cNvPr id="47" name="Shape 39"/>
          <p:cNvSpPr/>
          <p:nvPr/>
        </p:nvSpPr>
        <p:spPr>
          <a:xfrm>
            <a:off x="2626888" y="3223013"/>
            <a:ext cx="64008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2681752"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49" name="Shape 41"/>
          <p:cNvSpPr/>
          <p:nvPr/>
        </p:nvSpPr>
        <p:spPr>
          <a:xfrm>
            <a:off x="3340120" y="3223013"/>
            <a:ext cx="457200" cy="201168"/>
          </a:xfrm>
          <a:prstGeom prst="roundRect">
            <a:avLst>
              <a:gd name="adj" fmla="val 18182"/>
            </a:avLst>
          </a:prstGeom>
          <a:solidFill>
            <a:srgbClr val="F6F8FA"/>
          </a:solidFill>
          <a:ln w="9525">
            <a:solidFill>
              <a:srgbClr val="D0D7DE"/>
            </a:solidFill>
            <a:prstDash val="solid"/>
          </a:ln>
        </p:spPr>
      </p:sp>
      <p:sp>
        <p:nvSpPr>
          <p:cNvPr id="50" name="Text 42"/>
          <p:cNvSpPr txBox="1"/>
          <p:nvPr/>
        </p:nvSpPr>
        <p:spPr>
          <a:xfrm>
            <a:off x="3340120" y="322301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1" name="Shape 43"/>
          <p:cNvSpPr/>
          <p:nvPr/>
        </p:nvSpPr>
        <p:spPr>
          <a:xfrm>
            <a:off x="1913656" y="3442469"/>
            <a:ext cx="731520" cy="457200"/>
          </a:xfrm>
          <a:prstGeom prst="rect">
            <a:avLst/>
          </a:prstGeom>
          <a:solidFill>
            <a:srgbClr val="FFFFFF"/>
          </a:solidFill>
          <a:ln w="9525">
            <a:solidFill>
              <a:srgbClr val="AAAAAA"/>
            </a:solidFill>
            <a:prstDash val="solid"/>
          </a:ln>
        </p:spPr>
      </p:sp>
      <p:sp>
        <p:nvSpPr>
          <p:cNvPr id="52" name="Text 44"/>
          <p:cNvSpPr txBox="1"/>
          <p:nvPr/>
        </p:nvSpPr>
        <p:spPr>
          <a:xfrm>
            <a:off x="2023384" y="3469901"/>
            <a:ext cx="5669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None</a:t>
            </a:r>
            <a:endParaRPr lang="en-US" sz="800" dirty="0"/>
          </a:p>
        </p:txBody>
      </p:sp>
      <p:sp>
        <p:nvSpPr>
          <p:cNvPr id="53" name="Text 45"/>
          <p:cNvSpPr txBox="1"/>
          <p:nvPr/>
        </p:nvSpPr>
        <p:spPr>
          <a:xfrm>
            <a:off x="2023384" y="3671069"/>
            <a:ext cx="5669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main</a:t>
            </a:r>
            <a:endParaRPr lang="en-US" sz="800" dirty="0"/>
          </a:p>
        </p:txBody>
      </p:sp>
      <p:sp>
        <p:nvSpPr>
          <p:cNvPr id="54" name="Shape 46"/>
          <p:cNvSpPr/>
          <p:nvPr/>
        </p:nvSpPr>
        <p:spPr>
          <a:xfrm>
            <a:off x="1895368" y="3204725"/>
            <a:ext cx="676656" cy="237744"/>
          </a:xfrm>
          <a:prstGeom prst="roundRect">
            <a:avLst>
              <a:gd name="adj" fmla="val 19231"/>
            </a:avLst>
          </a:prstGeom>
          <a:solidFill>
            <a:srgbClr val="FFFFFF">
              <a:alpha val="0"/>
            </a:srgbClr>
          </a:solidFill>
          <a:ln w="31750">
            <a:solidFill>
              <a:srgbClr val="E53935"/>
            </a:solidFill>
            <a:prstDash val="solid"/>
          </a:ln>
        </p:spPr>
      </p:sp>
      <p:sp>
        <p:nvSpPr>
          <p:cNvPr id="55" name="Shape 47"/>
          <p:cNvSpPr/>
          <p:nvPr/>
        </p:nvSpPr>
        <p:spPr>
          <a:xfrm>
            <a:off x="2434864" y="3067565"/>
            <a:ext cx="274320" cy="274320"/>
          </a:xfrm>
          <a:prstGeom prst="ellipse">
            <a:avLst/>
          </a:prstGeom>
          <a:solidFill>
            <a:srgbClr val="E53935"/>
          </a:solidFill>
          <a:ln w="12700">
            <a:solidFill>
              <a:srgbClr val="FFFFFF"/>
            </a:solidFill>
            <a:prstDash val="solid"/>
          </a:ln>
        </p:spPr>
      </p:sp>
      <p:sp>
        <p:nvSpPr>
          <p:cNvPr id="56" name="Text 48"/>
          <p:cNvSpPr txBox="1"/>
          <p:nvPr/>
        </p:nvSpPr>
        <p:spPr>
          <a:xfrm>
            <a:off x="2434864" y="30675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7" name="Image 6" descr="preencoded.png">    </p:cNvPr>
          <p:cNvPicPr>
            <a:picLocks noChangeAspect="1"/>
          </p:cNvPicPr>
          <p:nvPr/>
        </p:nvPicPr>
        <p:blipFill>
          <a:blip r:embed="rId7"/>
          <a:stretch>
            <a:fillRect/>
          </a:stretch>
        </p:blipFill>
        <p:spPr>
          <a:xfrm>
            <a:off x="2265700" y="3333656"/>
            <a:ext cx="237744" cy="237744"/>
          </a:xfrm>
          <a:prstGeom prst="rect">
            <a:avLst/>
          </a:prstGeom>
        </p:spPr>
      </p:pic>
      <p:sp>
        <p:nvSpPr>
          <p:cNvPr id="58" name="Shape 49"/>
          <p:cNvSpPr/>
          <p:nvPr/>
        </p:nvSpPr>
        <p:spPr>
          <a:xfrm>
            <a:off x="1931944" y="3652781"/>
            <a:ext cx="694944" cy="228600"/>
          </a:xfrm>
          <a:prstGeom prst="roundRect">
            <a:avLst>
              <a:gd name="adj" fmla="val 20000"/>
            </a:avLst>
          </a:prstGeom>
          <a:solidFill>
            <a:srgbClr val="FFFFFF">
              <a:alpha val="0"/>
            </a:srgbClr>
          </a:solidFill>
          <a:ln w="31750">
            <a:solidFill>
              <a:srgbClr val="E53935"/>
            </a:solidFill>
            <a:prstDash val="solid"/>
          </a:ln>
        </p:spPr>
      </p:sp>
      <p:sp>
        <p:nvSpPr>
          <p:cNvPr id="59" name="Shape 50"/>
          <p:cNvSpPr/>
          <p:nvPr/>
        </p:nvSpPr>
        <p:spPr>
          <a:xfrm>
            <a:off x="2489728" y="3515621"/>
            <a:ext cx="274320" cy="274320"/>
          </a:xfrm>
          <a:prstGeom prst="ellipse">
            <a:avLst/>
          </a:prstGeom>
          <a:solidFill>
            <a:srgbClr val="E53935"/>
          </a:solidFill>
          <a:ln w="12700">
            <a:solidFill>
              <a:srgbClr val="FFFFFF"/>
            </a:solidFill>
            <a:prstDash val="solid"/>
          </a:ln>
        </p:spPr>
      </p:sp>
      <p:sp>
        <p:nvSpPr>
          <p:cNvPr id="60" name="Text 51"/>
          <p:cNvSpPr txBox="1"/>
          <p:nvPr/>
        </p:nvSpPr>
        <p:spPr>
          <a:xfrm>
            <a:off x="2489728" y="3515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1" name="Image 7" descr="preencoded.png">    </p:cNvPr>
          <p:cNvPicPr>
            <a:picLocks noChangeAspect="1"/>
          </p:cNvPicPr>
          <p:nvPr/>
        </p:nvPicPr>
        <p:blipFill>
          <a:blip r:embed="rId8"/>
          <a:stretch>
            <a:fillRect/>
          </a:stretch>
        </p:blipFill>
        <p:spPr>
          <a:xfrm>
            <a:off x="2312335" y="3776682"/>
            <a:ext cx="237744" cy="237744"/>
          </a:xfrm>
          <a:prstGeom prst="rect">
            <a:avLst/>
          </a:prstGeom>
        </p:spPr>
      </p:pic>
      <p:sp>
        <p:nvSpPr>
          <p:cNvPr id="62"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3"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Branch: pilih main</a:t>
            </a:r>
            <a:endParaRPr lang="en-US" sz="1800" dirty="0"/>
          </a:p>
        </p:txBody>
      </p:sp>
      <p:sp>
        <p:nvSpPr>
          <p:cNvPr id="64"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Branch yang bertuliskan None. Pilih main. Folder biarkan / (root).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Mengaktifkan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Text 32"/>
          <p:cNvSpPr txBox="1"/>
          <p:nvPr/>
        </p:nvSpPr>
        <p:spPr>
          <a:xfrm>
            <a:off x="1913656" y="238176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1" name="Text 33"/>
          <p:cNvSpPr txBox="1"/>
          <p:nvPr/>
        </p:nvSpPr>
        <p:spPr>
          <a:xfrm>
            <a:off x="1913656" y="261950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2" name="Shape 34"/>
          <p:cNvSpPr/>
          <p:nvPr/>
        </p:nvSpPr>
        <p:spPr>
          <a:xfrm>
            <a:off x="1913656" y="2774957"/>
            <a:ext cx="1371600" cy="201168"/>
          </a:xfrm>
          <a:prstGeom prst="roundRect">
            <a:avLst>
              <a:gd name="adj" fmla="val 18182"/>
            </a:avLst>
          </a:prstGeom>
          <a:solidFill>
            <a:srgbClr val="F6F8FA"/>
          </a:solidFill>
          <a:ln w="9525">
            <a:solidFill>
              <a:srgbClr val="D0D7DE"/>
            </a:solidFill>
            <a:prstDash val="solid"/>
          </a:ln>
        </p:spPr>
      </p:sp>
      <p:sp>
        <p:nvSpPr>
          <p:cNvPr id="43" name="Text 35"/>
          <p:cNvSpPr txBox="1"/>
          <p:nvPr/>
        </p:nvSpPr>
        <p:spPr>
          <a:xfrm>
            <a:off x="1968520" y="277495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4" name="Text 36"/>
          <p:cNvSpPr txBox="1"/>
          <p:nvPr/>
        </p:nvSpPr>
        <p:spPr>
          <a:xfrm>
            <a:off x="1913656" y="306756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45" name="Shape 37"/>
          <p:cNvSpPr/>
          <p:nvPr/>
        </p:nvSpPr>
        <p:spPr>
          <a:xfrm>
            <a:off x="1913656" y="3223013"/>
            <a:ext cx="640080" cy="201168"/>
          </a:xfrm>
          <a:prstGeom prst="roundRect">
            <a:avLst>
              <a:gd name="adj" fmla="val 18182"/>
            </a:avLst>
          </a:prstGeom>
          <a:solidFill>
            <a:srgbClr val="F6F8FA"/>
          </a:solidFill>
          <a:ln w="9525">
            <a:solidFill>
              <a:srgbClr val="D0D7DE"/>
            </a:solidFill>
            <a:prstDash val="solid"/>
          </a:ln>
        </p:spPr>
      </p:sp>
      <p:sp>
        <p:nvSpPr>
          <p:cNvPr id="46" name="Text 38"/>
          <p:cNvSpPr txBox="1"/>
          <p:nvPr/>
        </p:nvSpPr>
        <p:spPr>
          <a:xfrm>
            <a:off x="1968520"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main ▾</a:t>
            </a:r>
            <a:endParaRPr lang="en-US" sz="650" dirty="0"/>
          </a:p>
        </p:txBody>
      </p:sp>
      <p:sp>
        <p:nvSpPr>
          <p:cNvPr id="47" name="Shape 39"/>
          <p:cNvSpPr/>
          <p:nvPr/>
        </p:nvSpPr>
        <p:spPr>
          <a:xfrm>
            <a:off x="2626888" y="3223013"/>
            <a:ext cx="64008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2681752" y="322301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49" name="Shape 41"/>
          <p:cNvSpPr/>
          <p:nvPr/>
        </p:nvSpPr>
        <p:spPr>
          <a:xfrm>
            <a:off x="3340120" y="3223013"/>
            <a:ext cx="457200" cy="201168"/>
          </a:xfrm>
          <a:prstGeom prst="roundRect">
            <a:avLst>
              <a:gd name="adj" fmla="val 18182"/>
            </a:avLst>
          </a:prstGeom>
          <a:solidFill>
            <a:srgbClr val="F6F8FA"/>
          </a:solidFill>
          <a:ln w="9525">
            <a:solidFill>
              <a:srgbClr val="D0D7DE"/>
            </a:solidFill>
            <a:prstDash val="solid"/>
          </a:ln>
        </p:spPr>
      </p:sp>
      <p:sp>
        <p:nvSpPr>
          <p:cNvPr id="50" name="Text 42"/>
          <p:cNvSpPr txBox="1"/>
          <p:nvPr/>
        </p:nvSpPr>
        <p:spPr>
          <a:xfrm>
            <a:off x="3340120" y="322301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1" name="Shape 43"/>
          <p:cNvSpPr/>
          <p:nvPr/>
        </p:nvSpPr>
        <p:spPr>
          <a:xfrm>
            <a:off x="3312688" y="3195581"/>
            <a:ext cx="512064" cy="256032"/>
          </a:xfrm>
          <a:prstGeom prst="roundRect">
            <a:avLst>
              <a:gd name="adj" fmla="val 17857"/>
            </a:avLst>
          </a:prstGeom>
          <a:solidFill>
            <a:srgbClr val="FFFFFF">
              <a:alpha val="0"/>
            </a:srgbClr>
          </a:solidFill>
          <a:ln w="31750">
            <a:solidFill>
              <a:srgbClr val="E53935"/>
            </a:solidFill>
            <a:prstDash val="solid"/>
          </a:ln>
        </p:spPr>
      </p:sp>
      <p:sp>
        <p:nvSpPr>
          <p:cNvPr id="52" name="Shape 44"/>
          <p:cNvSpPr/>
          <p:nvPr/>
        </p:nvSpPr>
        <p:spPr>
          <a:xfrm>
            <a:off x="3687592" y="3058421"/>
            <a:ext cx="274320" cy="274320"/>
          </a:xfrm>
          <a:prstGeom prst="ellipse">
            <a:avLst/>
          </a:prstGeom>
          <a:solidFill>
            <a:srgbClr val="E53935"/>
          </a:solidFill>
          <a:ln w="12700">
            <a:solidFill>
              <a:srgbClr val="FFFFFF"/>
            </a:solidFill>
            <a:prstDash val="solid"/>
          </a:ln>
        </p:spPr>
      </p:sp>
      <p:sp>
        <p:nvSpPr>
          <p:cNvPr id="53" name="Text 45"/>
          <p:cNvSpPr txBox="1"/>
          <p:nvPr/>
        </p:nvSpPr>
        <p:spPr>
          <a:xfrm>
            <a:off x="3687592" y="30584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4" name="Image 6" descr="preencoded.png">    </p:cNvPr>
          <p:cNvPicPr>
            <a:picLocks noChangeAspect="1"/>
          </p:cNvPicPr>
          <p:nvPr/>
        </p:nvPicPr>
        <p:blipFill>
          <a:blip r:embed="rId7"/>
          <a:stretch>
            <a:fillRect/>
          </a:stretch>
        </p:blipFill>
        <p:spPr>
          <a:xfrm>
            <a:off x="3591580" y="3333656"/>
            <a:ext cx="237744" cy="237744"/>
          </a:xfrm>
          <a:prstGeom prst="rect">
            <a:avLst/>
          </a:prstGeom>
        </p:spPr>
      </p:pic>
      <p:sp>
        <p:nvSpPr>
          <p:cNvPr id="55"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6"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Save, tunggu 1–5 menit</a:t>
            </a:r>
            <a:endParaRPr lang="en-US" sz="1800" dirty="0"/>
          </a:p>
        </p:txBody>
      </p:sp>
      <p:sp>
        <p:nvSpPr>
          <p:cNvPr id="57"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Save. GitHub mulai menerbitkan website. Tunggu 1–5 menit, lalu muat ulang halaman (F5).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Online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Shape 32"/>
          <p:cNvSpPr/>
          <p:nvPr/>
        </p:nvSpPr>
        <p:spPr>
          <a:xfrm>
            <a:off x="1913656" y="2354333"/>
            <a:ext cx="3487887" cy="457200"/>
          </a:xfrm>
          <a:prstGeom prst="roundRect">
            <a:avLst>
              <a:gd name="adj" fmla="val 8000"/>
            </a:avLst>
          </a:prstGeom>
          <a:solidFill>
            <a:srgbClr val="DAFBE1"/>
          </a:solidFill>
          <a:ln w="9525">
            <a:solidFill>
              <a:srgbClr val="1F883D"/>
            </a:solidFill>
            <a:prstDash val="solid"/>
          </a:ln>
        </p:spPr>
      </p:sp>
      <p:sp>
        <p:nvSpPr>
          <p:cNvPr id="41" name="Text 33"/>
          <p:cNvSpPr txBox="1"/>
          <p:nvPr/>
        </p:nvSpPr>
        <p:spPr>
          <a:xfrm>
            <a:off x="2005096" y="2381765"/>
            <a:ext cx="18288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Your site is live at</a:t>
            </a:r>
            <a:endParaRPr lang="en-US" sz="700" dirty="0"/>
          </a:p>
        </p:txBody>
      </p:sp>
      <p:sp>
        <p:nvSpPr>
          <p:cNvPr id="42" name="Text 34"/>
          <p:cNvSpPr txBox="1"/>
          <p:nvPr/>
        </p:nvSpPr>
        <p:spPr>
          <a:xfrm>
            <a:off x="2005096" y="2555501"/>
            <a:ext cx="2482047" cy="201168"/>
          </a:xfrm>
          <a:prstGeom prst="rect">
            <a:avLst/>
          </a:prstGeom>
          <a:noFill/>
          <a:ln/>
        </p:spPr>
        <p:txBody>
          <a:bodyPr wrap="square" lIns="0" tIns="0" rIns="0" bIns="0" rtlCol="0" anchor="t"/>
          <a:lstStyle/>
          <a:p>
            <a:pPr indent="0" marL="0">
              <a:buNone/>
            </a:pPr>
            <a:r>
              <a:rPr lang="en-US" sz="700" b="1" dirty="0">
                <a:solidFill>
                  <a:srgbClr val="0969DA"/>
                </a:solidFill>
                <a:latin typeface="Calibri" pitchFamily="34" charset="0"/>
                <a:ea typeface="Calibri" pitchFamily="34" charset="-122"/>
                <a:cs typeface="Calibri" pitchFamily="34" charset="-120"/>
              </a:rPr>
              <a:t>https://santri-wu-kel1.github.io/website-santri-kel1/</a:t>
            </a:r>
            <a:endParaRPr lang="en-US" sz="700" dirty="0"/>
          </a:p>
        </p:txBody>
      </p:sp>
      <p:sp>
        <p:nvSpPr>
          <p:cNvPr id="43" name="Shape 35"/>
          <p:cNvSpPr/>
          <p:nvPr/>
        </p:nvSpPr>
        <p:spPr>
          <a:xfrm>
            <a:off x="4624304" y="2473205"/>
            <a:ext cx="685800" cy="219456"/>
          </a:xfrm>
          <a:prstGeom prst="roundRect">
            <a:avLst>
              <a:gd name="adj" fmla="val 16667"/>
            </a:avLst>
          </a:prstGeom>
          <a:solidFill>
            <a:srgbClr val="F6F8FA"/>
          </a:solidFill>
          <a:ln w="9525">
            <a:solidFill>
              <a:srgbClr val="D0D7DE"/>
            </a:solidFill>
            <a:prstDash val="solid"/>
          </a:ln>
        </p:spPr>
      </p:sp>
      <p:sp>
        <p:nvSpPr>
          <p:cNvPr id="44" name="Text 36"/>
          <p:cNvSpPr txBox="1"/>
          <p:nvPr/>
        </p:nvSpPr>
        <p:spPr>
          <a:xfrm>
            <a:off x="4624304" y="2473205"/>
            <a:ext cx="68580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Visit site</a:t>
            </a:r>
            <a:endParaRPr lang="en-US" sz="700" dirty="0"/>
          </a:p>
        </p:txBody>
      </p:sp>
      <p:sp>
        <p:nvSpPr>
          <p:cNvPr id="45" name="Text 37"/>
          <p:cNvSpPr txBox="1"/>
          <p:nvPr/>
        </p:nvSpPr>
        <p:spPr>
          <a:xfrm>
            <a:off x="1913656" y="293040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6" name="Text 38"/>
          <p:cNvSpPr txBox="1"/>
          <p:nvPr/>
        </p:nvSpPr>
        <p:spPr>
          <a:xfrm>
            <a:off x="1913656" y="316814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7" name="Shape 39"/>
          <p:cNvSpPr/>
          <p:nvPr/>
        </p:nvSpPr>
        <p:spPr>
          <a:xfrm>
            <a:off x="1913656" y="3323597"/>
            <a:ext cx="137160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1968520" y="332359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9" name="Text 41"/>
          <p:cNvSpPr txBox="1"/>
          <p:nvPr/>
        </p:nvSpPr>
        <p:spPr>
          <a:xfrm>
            <a:off x="1913656" y="361620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50" name="Shape 42"/>
          <p:cNvSpPr/>
          <p:nvPr/>
        </p:nvSpPr>
        <p:spPr>
          <a:xfrm>
            <a:off x="1913656" y="3771653"/>
            <a:ext cx="640080" cy="201168"/>
          </a:xfrm>
          <a:prstGeom prst="roundRect">
            <a:avLst>
              <a:gd name="adj" fmla="val 18182"/>
            </a:avLst>
          </a:prstGeom>
          <a:solidFill>
            <a:srgbClr val="F6F8FA"/>
          </a:solidFill>
          <a:ln w="9525">
            <a:solidFill>
              <a:srgbClr val="D0D7DE"/>
            </a:solidFill>
            <a:prstDash val="solid"/>
          </a:ln>
        </p:spPr>
      </p:sp>
      <p:sp>
        <p:nvSpPr>
          <p:cNvPr id="51" name="Text 43"/>
          <p:cNvSpPr txBox="1"/>
          <p:nvPr/>
        </p:nvSpPr>
        <p:spPr>
          <a:xfrm>
            <a:off x="1968520" y="377165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main ▾</a:t>
            </a:r>
            <a:endParaRPr lang="en-US" sz="650" dirty="0"/>
          </a:p>
        </p:txBody>
      </p:sp>
      <p:sp>
        <p:nvSpPr>
          <p:cNvPr id="52" name="Shape 44"/>
          <p:cNvSpPr/>
          <p:nvPr/>
        </p:nvSpPr>
        <p:spPr>
          <a:xfrm>
            <a:off x="2626888" y="3771653"/>
            <a:ext cx="640080" cy="201168"/>
          </a:xfrm>
          <a:prstGeom prst="roundRect">
            <a:avLst>
              <a:gd name="adj" fmla="val 18182"/>
            </a:avLst>
          </a:prstGeom>
          <a:solidFill>
            <a:srgbClr val="F6F8FA"/>
          </a:solidFill>
          <a:ln w="9525">
            <a:solidFill>
              <a:srgbClr val="D0D7DE"/>
            </a:solidFill>
            <a:prstDash val="solid"/>
          </a:ln>
        </p:spPr>
      </p:sp>
      <p:sp>
        <p:nvSpPr>
          <p:cNvPr id="53" name="Text 45"/>
          <p:cNvSpPr txBox="1"/>
          <p:nvPr/>
        </p:nvSpPr>
        <p:spPr>
          <a:xfrm>
            <a:off x="2681752" y="377165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54" name="Shape 46"/>
          <p:cNvSpPr/>
          <p:nvPr/>
        </p:nvSpPr>
        <p:spPr>
          <a:xfrm>
            <a:off x="3340120" y="3771653"/>
            <a:ext cx="457200" cy="201168"/>
          </a:xfrm>
          <a:prstGeom prst="roundRect">
            <a:avLst>
              <a:gd name="adj" fmla="val 18182"/>
            </a:avLst>
          </a:prstGeom>
          <a:solidFill>
            <a:srgbClr val="F6F8FA"/>
          </a:solidFill>
          <a:ln w="9525">
            <a:solidFill>
              <a:srgbClr val="D0D7DE"/>
            </a:solidFill>
            <a:prstDash val="solid"/>
          </a:ln>
        </p:spPr>
      </p:sp>
      <p:sp>
        <p:nvSpPr>
          <p:cNvPr id="55" name="Text 47"/>
          <p:cNvSpPr txBox="1"/>
          <p:nvPr/>
        </p:nvSpPr>
        <p:spPr>
          <a:xfrm>
            <a:off x="3340120" y="377165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6" name="Shape 48"/>
          <p:cNvSpPr/>
          <p:nvPr/>
        </p:nvSpPr>
        <p:spPr>
          <a:xfrm>
            <a:off x="1895368" y="2336045"/>
            <a:ext cx="3524463" cy="493776"/>
          </a:xfrm>
          <a:prstGeom prst="roundRect">
            <a:avLst>
              <a:gd name="adj" fmla="val 9259"/>
            </a:avLst>
          </a:prstGeom>
          <a:solidFill>
            <a:srgbClr val="FFFFFF">
              <a:alpha val="0"/>
            </a:srgbClr>
          </a:solidFill>
          <a:ln w="31750">
            <a:solidFill>
              <a:srgbClr val="E53935"/>
            </a:solidFill>
            <a:prstDash val="solid"/>
          </a:ln>
        </p:spPr>
      </p:sp>
      <p:sp>
        <p:nvSpPr>
          <p:cNvPr id="57" name="Shape 49"/>
          <p:cNvSpPr/>
          <p:nvPr/>
        </p:nvSpPr>
        <p:spPr>
          <a:xfrm>
            <a:off x="5282672" y="2198885"/>
            <a:ext cx="274320" cy="274320"/>
          </a:xfrm>
          <a:prstGeom prst="ellipse">
            <a:avLst/>
          </a:prstGeom>
          <a:solidFill>
            <a:srgbClr val="E53935"/>
          </a:solidFill>
          <a:ln w="12700">
            <a:solidFill>
              <a:srgbClr val="FFFFFF"/>
            </a:solidFill>
            <a:prstDash val="solid"/>
          </a:ln>
        </p:spPr>
      </p:sp>
      <p:sp>
        <p:nvSpPr>
          <p:cNvPr id="58" name="Text 50"/>
          <p:cNvSpPr txBox="1"/>
          <p:nvPr/>
        </p:nvSpPr>
        <p:spPr>
          <a:xfrm>
            <a:off x="5282672"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9" name="Image 6" descr="preencoded.png">    </p:cNvPr>
          <p:cNvPicPr>
            <a:picLocks noChangeAspect="1"/>
          </p:cNvPicPr>
          <p:nvPr/>
        </p:nvPicPr>
        <p:blipFill>
          <a:blip r:embed="rId7"/>
          <a:stretch>
            <a:fillRect/>
          </a:stretch>
        </p:blipFill>
        <p:spPr>
          <a:xfrm>
            <a:off x="3831994" y="2605793"/>
            <a:ext cx="237744" cy="237744"/>
          </a:xfrm>
          <a:prstGeom prst="rect">
            <a:avLst/>
          </a:prstGeom>
        </p:spPr>
      </p:pic>
      <p:sp>
        <p:nvSpPr>
          <p:cNvPr id="60" name="Shape 51"/>
          <p:cNvSpPr/>
          <p:nvPr/>
        </p:nvSpPr>
        <p:spPr>
          <a:xfrm>
            <a:off x="4606016" y="2454917"/>
            <a:ext cx="722376" cy="256032"/>
          </a:xfrm>
          <a:prstGeom prst="roundRect">
            <a:avLst>
              <a:gd name="adj" fmla="val 17857"/>
            </a:avLst>
          </a:prstGeom>
          <a:solidFill>
            <a:srgbClr val="FFFFFF">
              <a:alpha val="0"/>
            </a:srgbClr>
          </a:solidFill>
          <a:ln w="31750">
            <a:solidFill>
              <a:srgbClr val="E53935"/>
            </a:solidFill>
            <a:prstDash val="solid"/>
          </a:ln>
        </p:spPr>
      </p:sp>
      <p:sp>
        <p:nvSpPr>
          <p:cNvPr id="61" name="Shape 52"/>
          <p:cNvSpPr/>
          <p:nvPr/>
        </p:nvSpPr>
        <p:spPr>
          <a:xfrm>
            <a:off x="5191232" y="2317757"/>
            <a:ext cx="274320" cy="274320"/>
          </a:xfrm>
          <a:prstGeom prst="ellipse">
            <a:avLst/>
          </a:prstGeom>
          <a:solidFill>
            <a:srgbClr val="E53935"/>
          </a:solidFill>
          <a:ln w="12700">
            <a:solidFill>
              <a:srgbClr val="FFFFFF"/>
            </a:solidFill>
            <a:prstDash val="solid"/>
          </a:ln>
        </p:spPr>
      </p:sp>
      <p:sp>
        <p:nvSpPr>
          <p:cNvPr id="62" name="Text 53"/>
          <p:cNvSpPr txBox="1"/>
          <p:nvPr/>
        </p:nvSpPr>
        <p:spPr>
          <a:xfrm>
            <a:off x="5191232" y="23177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3" name="Image 7" descr="preencoded.png">    </p:cNvPr>
          <p:cNvPicPr>
            <a:picLocks noChangeAspect="1"/>
          </p:cNvPicPr>
          <p:nvPr/>
        </p:nvPicPr>
        <p:blipFill>
          <a:blip r:embed="rId8"/>
          <a:stretch>
            <a:fillRect/>
          </a:stretch>
        </p:blipFill>
        <p:spPr>
          <a:xfrm>
            <a:off x="5001494" y="2593906"/>
            <a:ext cx="237744" cy="237744"/>
          </a:xfrm>
          <a:prstGeom prst="rect">
            <a:avLst/>
          </a:prstGeom>
        </p:spPr>
      </p:pic>
      <p:sp>
        <p:nvSpPr>
          <p:cNvPr id="64"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5"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Your site is live › Visit site</a:t>
            </a:r>
            <a:endParaRPr lang="en-US" sz="1800" dirty="0"/>
          </a:p>
        </p:txBody>
      </p:sp>
      <p:sp>
        <p:nvSpPr>
          <p:cNvPr id="66"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Muncul kotak hijau: Your site is live at https://... Klik Visit site.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Online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4548591" cy="182880"/>
          </a:xfrm>
          <a:prstGeom prst="rect">
            <a:avLst/>
          </a:prstGeom>
          <a:noFill/>
          <a:ln/>
        </p:spPr>
        <p:txBody>
          <a:bodyPr wrap="square" lIns="0" tIns="0" rIns="0" bIns="0" rtlCol="0" anchor="t"/>
          <a:lstStyle/>
          <a:p>
            <a:pPr algn="ctr" indent="0" marL="0">
              <a:buNone/>
            </a:pPr>
            <a:r>
              <a:rPr lang="en-US" sz="800" dirty="0">
                <a:solidFill>
                  <a:srgbClr val="1E2A26"/>
                </a:solidFill>
                <a:latin typeface="Arial" pitchFamily="34" charset="0"/>
                <a:ea typeface="Arial" pitchFamily="34" charset="-122"/>
                <a:cs typeface="Arial" pitchFamily="34" charset="-120"/>
              </a:rPr>
              <a:t>Nama saya </a:t>
            </a:r>
            <a:pPr algn="ctr" indent="0" marL="0">
              <a:buNone/>
            </a:pPr>
            <a:r>
              <a:rPr lang="en-US" sz="800" b="1" dirty="0">
                <a:solidFill>
                  <a:srgbClr val="1E2A26"/>
                </a:solidFill>
                <a:latin typeface="Arial" pitchFamily="34" charset="0"/>
                <a:ea typeface="Arial" pitchFamily="34" charset="-122"/>
                <a:cs typeface="Arial" pitchFamily="34" charset="-120"/>
              </a:rPr>
              <a:t>Ahmad</a:t>
            </a:r>
            <a:pPr algn="ct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914400"/>
          </a:xfrm>
          <a:prstGeom prst="roundRect">
            <a:avLst>
              <a:gd name="adj" fmla="val 8000"/>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1474305"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3210671" y="2701805"/>
            <a:ext cx="640080" cy="457200"/>
          </a:xfrm>
          <a:prstGeom prst="rect">
            <a:avLst/>
          </a:prstGeom>
          <a:solidFill>
            <a:srgbClr val="A7CBEE"/>
          </a:solidFill>
          <a:ln w="12700">
            <a:solidFill>
              <a:srgbClr val="A7CBEE"/>
            </a:solidFill>
            <a:prstDash val="solid"/>
          </a:ln>
        </p:spPr>
      </p:sp>
      <p:sp>
        <p:nvSpPr>
          <p:cNvPr id="36" name="Shape 29"/>
          <p:cNvSpPr/>
          <p:nvPr/>
        </p:nvSpPr>
        <p:spPr>
          <a:xfrm>
            <a:off x="3269643" y="2884685"/>
            <a:ext cx="365760" cy="274320"/>
          </a:xfrm>
          <a:prstGeom prst="triangle">
            <a:avLst/>
          </a:prstGeom>
          <a:solidFill>
            <a:srgbClr val="34A853"/>
          </a:solidFill>
          <a:ln/>
        </p:spPr>
      </p:sp>
      <p:sp>
        <p:nvSpPr>
          <p:cNvPr id="37" name="Shape 30"/>
          <p:cNvSpPr/>
          <p:nvPr/>
        </p:nvSpPr>
        <p:spPr>
          <a:xfrm>
            <a:off x="1301008" y="1421645"/>
            <a:ext cx="4073103" cy="237744"/>
          </a:xfrm>
          <a:prstGeom prst="roundRect">
            <a:avLst>
              <a:gd name="adj" fmla="val 19231"/>
            </a:avLst>
          </a:prstGeom>
          <a:solidFill>
            <a:srgbClr val="FFFFFF">
              <a:alpha val="0"/>
            </a:srgbClr>
          </a:solidFill>
          <a:ln w="31750">
            <a:solidFill>
              <a:srgbClr val="E53935"/>
            </a:solidFill>
            <a:prstDash val="solid"/>
          </a:ln>
        </p:spPr>
      </p:sp>
      <p:sp>
        <p:nvSpPr>
          <p:cNvPr id="38" name="Shape 31"/>
          <p:cNvSpPr/>
          <p:nvPr/>
        </p:nvSpPr>
        <p:spPr>
          <a:xfrm>
            <a:off x="5236952" y="1284485"/>
            <a:ext cx="274320" cy="274320"/>
          </a:xfrm>
          <a:prstGeom prst="ellipse">
            <a:avLst/>
          </a:prstGeom>
          <a:solidFill>
            <a:srgbClr val="E53935"/>
          </a:solidFill>
          <a:ln w="12700">
            <a:solidFill>
              <a:srgbClr val="FFFFFF"/>
            </a:solidFill>
            <a:prstDash val="solid"/>
          </a:ln>
        </p:spPr>
      </p:sp>
      <p:sp>
        <p:nvSpPr>
          <p:cNvPr id="39" name="Text 32"/>
          <p:cNvSpPr txBox="1"/>
          <p:nvPr/>
        </p:nvSpPr>
        <p:spPr>
          <a:xfrm>
            <a:off x="5236952" y="1284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0" name="Image 5" descr="preencoded.png">    </p:cNvPr>
          <p:cNvPicPr>
            <a:picLocks noChangeAspect="1"/>
          </p:cNvPicPr>
          <p:nvPr/>
        </p:nvPicPr>
        <p:blipFill>
          <a:blip r:embed="rId6"/>
          <a:stretch>
            <a:fillRect/>
          </a:stretch>
        </p:blipFill>
        <p:spPr>
          <a:xfrm>
            <a:off x="3539386" y="1550576"/>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Website online! Catat alamatnya</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Website terbuka dengan alamat https://... Salin alamatnya, buka di HP untuk membuktikan.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28</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Catat di buku dan kumpulkan: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Alamat website online kelompokmu (https://...github.io/...).</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Jelaskan dengan kata-katamu: server, hosting, domain.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Tuliskan alur LOCAL → REPOSITORY → DEPLOY → ONLINE untuk website kelompokmu.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Buka alamat pondok.html (tambahkan /pondok.html di akhir alamat), bila sudah diizinkan terbit.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hosting dan domain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GitHub Pages diaktifkan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Website terbuka dari alamat github.io</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Isi sudah diperiksa sebelum terbit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 alamat file:/// dan https://?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isi website harus diperiksa sebelum terbit?</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Apa yang terbit di internet bisa dibaca siapa saja dan sulit ditarik kembali. Pikirkan dulu sebelum menerbitkan.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Jejak digital, memperbarui website, dan memperbaiki error setelah online.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Jejak Digital &amp; Merawat Website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Memperbarui dan memperbaiki website online</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Hosting Gratis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suatu hari kalian menemukan kesalahan di website yang sudah online, apa yang harus dilakukan?</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jejak digital dan dampaknya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Memperbarui website online lewat commit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Memperbaiki error yang sering muncul setelah online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Jejak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Jejak Digital</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Jejak digital adalah semua yang pernah kita unggah, tulis, dan lakukan di internet. Jejak ini bisa bertahan lama, bahkan setelah dihapus.</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Bisa disalin, disimpan, atau difoto layar oleh orang lain</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Mesin pencari bisa menyimpan salinan halaman</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Membentuk nama baik (reputasi) kita di masa depan</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Jejak Digital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Tinggalkan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Karya yang bermanfaat dan santun</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Tulisan yang benar dengan sumber jelas</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Pesan kebaikan dan dakwah</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Hindari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Data pribadi diri dan orang lain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Ejekan, kata kasar, atau aib</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Informasi yang belum diperiksa kebenarannya</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Error yang Sering Muncul Setelah Online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Gambar Tidak Muncul</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file beda huruf besar-kecil: src="Logo.png" padahal file logo.png. Server membedakannya!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404 Not Found</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Halaman tidak ditemukan: nama file salah ketik atau file belum diunggah.</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Perubahan Belum Tampil</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Tunggu 1–5 menit, lalu muat ulang dengan Ctrl+F5.</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Link Folder Salah</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Gambar di folder gambar harus ditulis src="gambar/logo.png".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Merawat Website Online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Memperbarui isi website</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memperbaiki error gambar</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Memperbarui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index.html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Shape 28"/>
          <p:cNvSpPr/>
          <p:nvPr/>
        </p:nvSpPr>
        <p:spPr>
          <a:xfrm>
            <a:off x="999256" y="2381765"/>
            <a:ext cx="4383999" cy="155448"/>
          </a:xfrm>
          <a:prstGeom prst="rect">
            <a:avLst/>
          </a:prstGeom>
          <a:solidFill>
            <a:srgbClr val="DDF4E4"/>
          </a:solidFill>
          <a:ln w="12700">
            <a:solidFill>
              <a:srgbClr val="DDF4E4"/>
            </a:solidFill>
            <a:prstDash val="solid"/>
          </a:ln>
        </p:spPr>
      </p:sp>
      <p:sp>
        <p:nvSpPr>
          <p:cNvPr id="37" name="Text 29"/>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8" name="Text 30"/>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&lt;div class="card"&gt;</a:t>
            </a:r>
            <a:endParaRPr lang="en-US" sz="782" dirty="0"/>
          </a:p>
        </p:txBody>
      </p:sp>
      <p:sp>
        <p:nvSpPr>
          <p:cNvPr id="39" name="Shape 31"/>
          <p:cNvSpPr/>
          <p:nvPr/>
        </p:nvSpPr>
        <p:spPr>
          <a:xfrm>
            <a:off x="999256" y="2537213"/>
            <a:ext cx="4383999" cy="155448"/>
          </a:xfrm>
          <a:prstGeom prst="rect">
            <a:avLst/>
          </a:prstGeom>
          <a:solidFill>
            <a:srgbClr val="DDF4E4"/>
          </a:solidFill>
          <a:ln w="12700">
            <a:solidFill>
              <a:srgbClr val="DDF4E4"/>
            </a:solidFill>
            <a:prstDash val="solid"/>
          </a:ln>
        </p:spPr>
      </p:sp>
      <p:sp>
        <p:nvSpPr>
          <p:cNvPr id="40" name="Text 32"/>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41" name="Text 33"/>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&lt;h2&gt;</a:t>
            </a:r>
            <a:pPr indent="0" marL="0">
              <a:buNone/>
            </a:pPr>
            <a:r>
              <a:rPr lang="en-US" sz="782" dirty="0">
                <a:solidFill>
                  <a:srgbClr val="222222"/>
                </a:solidFill>
                <a:latin typeface="Courier New" pitchFamily="34" charset="0"/>
                <a:ea typeface="Courier New" pitchFamily="34" charset="-122"/>
                <a:cs typeface="Courier New" pitchFamily="34" charset="-120"/>
              </a:rPr>
              <a:t>Adab Menuntut Ilmu</a:t>
            </a:r>
            <a:pPr indent="0" marL="0">
              <a:buNone/>
            </a:pPr>
            <a:r>
              <a:rPr lang="en-US" sz="782" dirty="0">
                <a:solidFill>
                  <a:srgbClr val="1A5FB4"/>
                </a:solidFill>
                <a:latin typeface="Courier New" pitchFamily="34" charset="0"/>
                <a:ea typeface="Courier New" pitchFamily="34" charset="-122"/>
                <a:cs typeface="Courier New" pitchFamily="34" charset="-120"/>
              </a:rPr>
              <a:t>&lt;/h2&gt;</a:t>
            </a:r>
            <a:endParaRPr lang="en-US" sz="782" dirty="0"/>
          </a:p>
        </p:txBody>
      </p:sp>
      <p:sp>
        <p:nvSpPr>
          <p:cNvPr id="42" name="Shape 34"/>
          <p:cNvSpPr/>
          <p:nvPr/>
        </p:nvSpPr>
        <p:spPr>
          <a:xfrm>
            <a:off x="999256" y="2692661"/>
            <a:ext cx="4383999" cy="155448"/>
          </a:xfrm>
          <a:prstGeom prst="rect">
            <a:avLst/>
          </a:prstGeom>
          <a:solidFill>
            <a:srgbClr val="DDF4E4"/>
          </a:solidFill>
          <a:ln w="12700">
            <a:solidFill>
              <a:srgbClr val="DDF4E4"/>
            </a:solidFill>
            <a:prstDash val="solid"/>
          </a:ln>
        </p:spPr>
      </p:sp>
      <p:sp>
        <p:nvSpPr>
          <p:cNvPr id="43" name="Text 35"/>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4" name="Text 36"/>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&lt;ol&gt;</a:t>
            </a:r>
            <a:endParaRPr lang="en-US" sz="782" dirty="0"/>
          </a:p>
        </p:txBody>
      </p:sp>
      <p:sp>
        <p:nvSpPr>
          <p:cNvPr id="45" name="Shape 37"/>
          <p:cNvSpPr/>
          <p:nvPr/>
        </p:nvSpPr>
        <p:spPr>
          <a:xfrm>
            <a:off x="999256" y="2848109"/>
            <a:ext cx="4383999" cy="155448"/>
          </a:xfrm>
          <a:prstGeom prst="rect">
            <a:avLst/>
          </a:prstGeom>
          <a:solidFill>
            <a:srgbClr val="DDF4E4"/>
          </a:solidFill>
          <a:ln w="12700">
            <a:solidFill>
              <a:srgbClr val="DDF4E4"/>
            </a:solidFill>
            <a:prstDash val="solid"/>
          </a:ln>
        </p:spPr>
      </p:sp>
      <p:sp>
        <p:nvSpPr>
          <p:cNvPr id="46" name="Text 38"/>
          <p:cNvSpPr txBox="1"/>
          <p:nvPr/>
        </p:nvSpPr>
        <p:spPr>
          <a:xfrm>
            <a:off x="724936" y="284810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7" name="Text 39"/>
          <p:cNvSpPr txBox="1"/>
          <p:nvPr/>
        </p:nvSpPr>
        <p:spPr>
          <a:xfrm>
            <a:off x="1044976" y="2848109"/>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&lt;li&gt;</a:t>
            </a:r>
            <a:pPr indent="0" marL="0">
              <a:buNone/>
            </a:pPr>
            <a:r>
              <a:rPr lang="en-US" sz="782" dirty="0">
                <a:solidFill>
                  <a:srgbClr val="222222"/>
                </a:solidFill>
                <a:latin typeface="Courier New" pitchFamily="34" charset="0"/>
                <a:ea typeface="Courier New" pitchFamily="34" charset="-122"/>
                <a:cs typeface="Courier New" pitchFamily="34" charset="-120"/>
              </a:rPr>
              <a:t>Ikhlas karena Allah</a:t>
            </a:r>
            <a:pPr indent="0" marL="0">
              <a:buNone/>
            </a:pPr>
            <a:r>
              <a:rPr lang="en-US" sz="782" dirty="0">
                <a:solidFill>
                  <a:srgbClr val="1A5FB4"/>
                </a:solidFill>
                <a:latin typeface="Courier New" pitchFamily="34" charset="0"/>
                <a:ea typeface="Courier New" pitchFamily="34" charset="-122"/>
                <a:cs typeface="Courier New" pitchFamily="34" charset="-120"/>
              </a:rPr>
              <a:t>&lt;/li&gt;</a:t>
            </a:r>
            <a:endParaRPr lang="en-US" sz="782" dirty="0"/>
          </a:p>
        </p:txBody>
      </p:sp>
      <p:sp>
        <p:nvSpPr>
          <p:cNvPr id="48" name="Shape 40"/>
          <p:cNvSpPr/>
          <p:nvPr/>
        </p:nvSpPr>
        <p:spPr>
          <a:xfrm>
            <a:off x="999256" y="3003557"/>
            <a:ext cx="4383999" cy="155448"/>
          </a:xfrm>
          <a:prstGeom prst="rect">
            <a:avLst/>
          </a:prstGeom>
          <a:solidFill>
            <a:srgbClr val="DDF4E4"/>
          </a:solidFill>
          <a:ln w="12700">
            <a:solidFill>
              <a:srgbClr val="DDF4E4"/>
            </a:solidFill>
            <a:prstDash val="solid"/>
          </a:ln>
        </p:spPr>
      </p:sp>
      <p:sp>
        <p:nvSpPr>
          <p:cNvPr id="49" name="Text 41"/>
          <p:cNvSpPr txBox="1"/>
          <p:nvPr/>
        </p:nvSpPr>
        <p:spPr>
          <a:xfrm>
            <a:off x="724936" y="3003557"/>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50" name="Text 42"/>
          <p:cNvSpPr txBox="1"/>
          <p:nvPr/>
        </p:nvSpPr>
        <p:spPr>
          <a:xfrm>
            <a:off x="1044976" y="3003557"/>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&lt;li&gt;</a:t>
            </a:r>
            <a:pPr indent="0" marL="0">
              <a:buNone/>
            </a:pPr>
            <a:r>
              <a:rPr lang="en-US" sz="782" dirty="0">
                <a:solidFill>
                  <a:srgbClr val="222222"/>
                </a:solidFill>
                <a:latin typeface="Courier New" pitchFamily="34" charset="0"/>
                <a:ea typeface="Courier New" pitchFamily="34" charset="-122"/>
                <a:cs typeface="Courier New" pitchFamily="34" charset="-120"/>
              </a:rPr>
              <a:t>Menghormati guru</a:t>
            </a:r>
            <a:pPr indent="0" marL="0">
              <a:buNone/>
            </a:pPr>
            <a:r>
              <a:rPr lang="en-US" sz="782" dirty="0">
                <a:solidFill>
                  <a:srgbClr val="1A5FB4"/>
                </a:solidFill>
                <a:latin typeface="Courier New" pitchFamily="34" charset="0"/>
                <a:ea typeface="Courier New" pitchFamily="34" charset="-122"/>
                <a:cs typeface="Courier New" pitchFamily="34" charset="-120"/>
              </a:rPr>
              <a:t>&lt;/li&gt;</a:t>
            </a:r>
            <a:endParaRPr lang="en-US" sz="782" dirty="0"/>
          </a:p>
        </p:txBody>
      </p:sp>
      <p:sp>
        <p:nvSpPr>
          <p:cNvPr id="51" name="Shape 43"/>
          <p:cNvSpPr/>
          <p:nvPr/>
        </p:nvSpPr>
        <p:spPr>
          <a:xfrm>
            <a:off x="999256" y="3159005"/>
            <a:ext cx="4383999" cy="155448"/>
          </a:xfrm>
          <a:prstGeom prst="rect">
            <a:avLst/>
          </a:prstGeom>
          <a:solidFill>
            <a:srgbClr val="DDF4E4"/>
          </a:solidFill>
          <a:ln w="12700">
            <a:solidFill>
              <a:srgbClr val="DDF4E4"/>
            </a:solidFill>
            <a:prstDash val="solid"/>
          </a:ln>
        </p:spPr>
      </p:sp>
      <p:sp>
        <p:nvSpPr>
          <p:cNvPr id="52" name="Text 44"/>
          <p:cNvSpPr txBox="1"/>
          <p:nvPr/>
        </p:nvSpPr>
        <p:spPr>
          <a:xfrm>
            <a:off x="724936" y="315900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53" name="Text 45"/>
          <p:cNvSpPr txBox="1"/>
          <p:nvPr/>
        </p:nvSpPr>
        <p:spPr>
          <a:xfrm>
            <a:off x="1044976" y="3159005"/>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&lt;/ol&gt;</a:t>
            </a:r>
            <a:endParaRPr lang="en-US" sz="782" dirty="0"/>
          </a:p>
        </p:txBody>
      </p:sp>
      <p:sp>
        <p:nvSpPr>
          <p:cNvPr id="54" name="Shape 46"/>
          <p:cNvSpPr/>
          <p:nvPr/>
        </p:nvSpPr>
        <p:spPr>
          <a:xfrm>
            <a:off x="999256" y="3314453"/>
            <a:ext cx="4383999" cy="155448"/>
          </a:xfrm>
          <a:prstGeom prst="rect">
            <a:avLst/>
          </a:prstGeom>
          <a:solidFill>
            <a:srgbClr val="DDF4E4"/>
          </a:solidFill>
          <a:ln w="12700">
            <a:solidFill>
              <a:srgbClr val="DDF4E4"/>
            </a:solidFill>
            <a:prstDash val="solid"/>
          </a:ln>
        </p:spPr>
      </p:sp>
      <p:sp>
        <p:nvSpPr>
          <p:cNvPr id="55" name="Text 47"/>
          <p:cNvSpPr txBox="1"/>
          <p:nvPr/>
        </p:nvSpPr>
        <p:spPr>
          <a:xfrm>
            <a:off x="724936" y="331445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56" name="Text 48"/>
          <p:cNvSpPr txBox="1"/>
          <p:nvPr/>
        </p:nvSpPr>
        <p:spPr>
          <a:xfrm>
            <a:off x="1044976" y="331445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&lt;/div&gt;</a:t>
            </a:r>
            <a:endParaRPr lang="en-US" sz="782" dirty="0"/>
          </a:p>
        </p:txBody>
      </p:sp>
      <p:sp>
        <p:nvSpPr>
          <p:cNvPr id="57" name="Shape 49"/>
          <p:cNvSpPr/>
          <p:nvPr/>
        </p:nvSpPr>
        <p:spPr>
          <a:xfrm>
            <a:off x="980968" y="2363477"/>
            <a:ext cx="4402287" cy="1124712"/>
          </a:xfrm>
          <a:prstGeom prst="roundRect">
            <a:avLst>
              <a:gd name="adj" fmla="val 4065"/>
            </a:avLst>
          </a:prstGeom>
          <a:solidFill>
            <a:srgbClr val="FFFFFF">
              <a:alpha val="0"/>
            </a:srgbClr>
          </a:solidFill>
          <a:ln w="31750">
            <a:solidFill>
              <a:srgbClr val="E53935"/>
            </a:solidFill>
            <a:prstDash val="solid"/>
          </a:ln>
        </p:spPr>
      </p:sp>
      <p:sp>
        <p:nvSpPr>
          <p:cNvPr id="58" name="Shape 50"/>
          <p:cNvSpPr/>
          <p:nvPr/>
        </p:nvSpPr>
        <p:spPr>
          <a:xfrm>
            <a:off x="5246096" y="2226317"/>
            <a:ext cx="274320" cy="274320"/>
          </a:xfrm>
          <a:prstGeom prst="ellipse">
            <a:avLst/>
          </a:prstGeom>
          <a:solidFill>
            <a:srgbClr val="E53935"/>
          </a:solidFill>
          <a:ln w="12700">
            <a:solidFill>
              <a:srgbClr val="FFFFFF"/>
            </a:solidFill>
            <a:prstDash val="solid"/>
          </a:ln>
        </p:spPr>
      </p:sp>
      <p:sp>
        <p:nvSpPr>
          <p:cNvPr id="59" name="Text 51"/>
          <p:cNvSpPr txBox="1"/>
          <p:nvPr/>
        </p:nvSpPr>
        <p:spPr>
          <a:xfrm>
            <a:off x="5246096"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60" name="Image 6" descr="preencoded.png">    </p:cNvPr>
          <p:cNvPicPr>
            <a:picLocks noChangeAspect="1"/>
          </p:cNvPicPr>
          <p:nvPr/>
        </p:nvPicPr>
        <p:blipFill>
          <a:blip r:embed="rId7"/>
          <a:stretch>
            <a:fillRect/>
          </a:stretch>
        </p:blipFill>
        <p:spPr>
          <a:xfrm>
            <a:off x="3400398" y="2980240"/>
            <a:ext cx="237744" cy="237744"/>
          </a:xfrm>
          <a:prstGeom prst="rect">
            <a:avLst/>
          </a:prstGeom>
        </p:spPr>
      </p:pic>
      <p:sp>
        <p:nvSpPr>
          <p:cNvPr id="61"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2"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Edit index.html di GitHub</a:t>
            </a:r>
            <a:endParaRPr lang="en-US" sz="1800" dirty="0"/>
          </a:p>
        </p:txBody>
      </p:sp>
      <p:sp>
        <p:nvSpPr>
          <p:cNvPr id="63"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index.html di repository › ikon pensil. Tambahkan satu bagian baru, misalnya kartu Adab Menuntut Ilmu.</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Memperbarui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index.html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&lt;div class="card"&gt;</a:t>
            </a:r>
            <a:endParaRPr lang="en-US" sz="782" dirty="0"/>
          </a:p>
        </p:txBody>
      </p:sp>
      <p:sp>
        <p:nvSpPr>
          <p:cNvPr id="38" name="Text 30"/>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&lt;h2&gt;</a:t>
            </a:r>
            <a:pPr indent="0" marL="0">
              <a:buNone/>
            </a:pPr>
            <a:r>
              <a:rPr lang="en-US" sz="782" dirty="0">
                <a:solidFill>
                  <a:srgbClr val="222222"/>
                </a:solidFill>
                <a:latin typeface="Courier New" pitchFamily="34" charset="0"/>
                <a:ea typeface="Courier New" pitchFamily="34" charset="-122"/>
                <a:cs typeface="Courier New" pitchFamily="34" charset="-120"/>
              </a:rPr>
              <a:t>Adab Menuntut Ilmu</a:t>
            </a:r>
            <a:pPr indent="0" marL="0">
              <a:buNone/>
            </a:pPr>
            <a:r>
              <a:rPr lang="en-US" sz="782" dirty="0">
                <a:solidFill>
                  <a:srgbClr val="1A5FB4"/>
                </a:solidFill>
                <a:latin typeface="Courier New" pitchFamily="34" charset="0"/>
                <a:ea typeface="Courier New" pitchFamily="34" charset="-122"/>
                <a:cs typeface="Courier New" pitchFamily="34" charset="-120"/>
              </a:rPr>
              <a:t>&lt;/h2&gt;</a:t>
            </a:r>
            <a:endParaRPr lang="en-US" sz="782" dirty="0"/>
          </a:p>
        </p:txBody>
      </p:sp>
      <p:sp>
        <p:nvSpPr>
          <p:cNvPr id="40" name="Shape 32"/>
          <p:cNvSpPr/>
          <p:nvPr/>
        </p:nvSpPr>
        <p:spPr>
          <a:xfrm>
            <a:off x="4459712" y="2016005"/>
            <a:ext cx="969264" cy="274320"/>
          </a:xfrm>
          <a:prstGeom prst="roundRect">
            <a:avLst>
              <a:gd name="adj" fmla="val 16667"/>
            </a:avLst>
          </a:prstGeom>
          <a:solidFill>
            <a:srgbClr val="FFFFFF">
              <a:alpha val="0"/>
            </a:srgbClr>
          </a:solidFill>
          <a:ln w="31750">
            <a:solidFill>
              <a:srgbClr val="E53935"/>
            </a:solidFill>
            <a:prstDash val="solid"/>
          </a:ln>
        </p:spPr>
      </p:sp>
      <p:sp>
        <p:nvSpPr>
          <p:cNvPr id="41" name="Shape 33"/>
          <p:cNvSpPr/>
          <p:nvPr/>
        </p:nvSpPr>
        <p:spPr>
          <a:xfrm>
            <a:off x="5291816" y="1878845"/>
            <a:ext cx="274320" cy="274320"/>
          </a:xfrm>
          <a:prstGeom prst="ellipse">
            <a:avLst/>
          </a:prstGeom>
          <a:solidFill>
            <a:srgbClr val="E53935"/>
          </a:solidFill>
          <a:ln w="12700">
            <a:solidFill>
              <a:srgbClr val="FFFFFF"/>
            </a:solidFill>
            <a:prstDash val="solid"/>
          </a:ln>
        </p:spPr>
      </p:sp>
      <p:sp>
        <p:nvSpPr>
          <p:cNvPr id="42" name="Text 34"/>
          <p:cNvSpPr txBox="1"/>
          <p:nvPr/>
        </p:nvSpPr>
        <p:spPr>
          <a:xfrm>
            <a:off x="5291816" y="18788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3" name="Image 6" descr="preencoded.png">    </p:cNvPr>
          <p:cNvPicPr>
            <a:picLocks noChangeAspect="1"/>
          </p:cNvPicPr>
          <p:nvPr/>
        </p:nvPicPr>
        <p:blipFill>
          <a:blip r:embed="rId7"/>
          <a:stretch>
            <a:fillRect/>
          </a:stretch>
        </p:blipFill>
        <p:spPr>
          <a:xfrm>
            <a:off x="4990064" y="2164138"/>
            <a:ext cx="237744" cy="237744"/>
          </a:xfrm>
          <a:prstGeom prst="rect">
            <a:avLst/>
          </a:prstGeom>
        </p:spPr>
      </p:pic>
      <p:sp>
        <p:nvSpPr>
          <p:cNvPr id="44"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Commit dengan pesan jelas</a:t>
            </a:r>
            <a:endParaRPr lang="en-US" sz="1800" dirty="0"/>
          </a:p>
        </p:txBody>
      </p:sp>
      <p:sp>
        <p:nvSpPr>
          <p:cNvPr id="46"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Commit changes. Pesan: Tambah kartu adab menuntut ilmu. Commit.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Memperbarui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4548591" cy="182880"/>
          </a:xfrm>
          <a:prstGeom prst="rect">
            <a:avLst/>
          </a:prstGeom>
          <a:noFill/>
          <a:ln/>
        </p:spPr>
        <p:txBody>
          <a:bodyPr wrap="square" lIns="0" tIns="0" rIns="0" bIns="0" rtlCol="0" anchor="t"/>
          <a:lstStyle/>
          <a:p>
            <a:pPr algn="ctr" indent="0" marL="0">
              <a:buNone/>
            </a:pPr>
            <a:r>
              <a:rPr lang="en-US" sz="800" dirty="0">
                <a:solidFill>
                  <a:srgbClr val="1E2A26"/>
                </a:solidFill>
                <a:latin typeface="Arial" pitchFamily="34" charset="0"/>
                <a:ea typeface="Arial" pitchFamily="34" charset="-122"/>
                <a:cs typeface="Arial" pitchFamily="34" charset="-120"/>
              </a:rPr>
              <a:t>Nama saya </a:t>
            </a:r>
            <a:pPr algn="ctr" indent="0" marL="0">
              <a:buNone/>
            </a:pPr>
            <a:r>
              <a:rPr lang="en-US" sz="800" b="1" dirty="0">
                <a:solidFill>
                  <a:srgbClr val="1E2A26"/>
                </a:solidFill>
                <a:latin typeface="Arial" pitchFamily="34" charset="0"/>
                <a:ea typeface="Arial" pitchFamily="34" charset="-122"/>
                <a:cs typeface="Arial" pitchFamily="34" charset="-120"/>
              </a:rPr>
              <a:t>Ahmad</a:t>
            </a:r>
            <a:pPr algn="ct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914400"/>
          </a:xfrm>
          <a:prstGeom prst="roundRect">
            <a:avLst>
              <a:gd name="adj" fmla="val 8000"/>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1474305"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3210671" y="2701805"/>
            <a:ext cx="640080" cy="457200"/>
          </a:xfrm>
          <a:prstGeom prst="rect">
            <a:avLst/>
          </a:prstGeom>
          <a:solidFill>
            <a:srgbClr val="A7CBEE"/>
          </a:solidFill>
          <a:ln w="12700">
            <a:solidFill>
              <a:srgbClr val="A7CBEE"/>
            </a:solidFill>
            <a:prstDash val="solid"/>
          </a:ln>
        </p:spPr>
      </p:sp>
      <p:sp>
        <p:nvSpPr>
          <p:cNvPr id="36" name="Shape 29"/>
          <p:cNvSpPr/>
          <p:nvPr/>
        </p:nvSpPr>
        <p:spPr>
          <a:xfrm>
            <a:off x="3269643" y="2884685"/>
            <a:ext cx="365760" cy="274320"/>
          </a:xfrm>
          <a:prstGeom prst="triangle">
            <a:avLst/>
          </a:prstGeom>
          <a:solidFill>
            <a:srgbClr val="34A853"/>
          </a:solidFill>
          <a:ln/>
        </p:spPr>
      </p:sp>
      <p:sp>
        <p:nvSpPr>
          <p:cNvPr id="37" name="Shape 30"/>
          <p:cNvSpPr/>
          <p:nvPr/>
        </p:nvSpPr>
        <p:spPr>
          <a:xfrm>
            <a:off x="1588935" y="3433325"/>
            <a:ext cx="2948611" cy="228600"/>
          </a:xfrm>
          <a:prstGeom prst="roundRect">
            <a:avLst>
              <a:gd name="adj" fmla="val 24000"/>
            </a:avLst>
          </a:prstGeom>
          <a:solidFill>
            <a:srgbClr val="FFFFFF"/>
          </a:solidFill>
          <a:ln w="9525">
            <a:solidFill>
              <a:srgbClr val="DDDDDD"/>
            </a:solidFill>
            <a:prstDash val="solid"/>
          </a:ln>
        </p:spPr>
      </p:sp>
      <p:sp>
        <p:nvSpPr>
          <p:cNvPr id="38" name="Text 31"/>
          <p:cNvSpPr txBox="1"/>
          <p:nvPr/>
        </p:nvSpPr>
        <p:spPr>
          <a:xfrm>
            <a:off x="1698663" y="3433325"/>
            <a:ext cx="2948611" cy="228600"/>
          </a:xfrm>
          <a:prstGeom prst="rect">
            <a:avLst/>
          </a:prstGeom>
          <a:noFill/>
          <a:ln/>
        </p:spPr>
        <p:txBody>
          <a:bodyPr wrap="square" lIns="0" tIns="0" rIns="0" bIns="0" rtlCol="0" anchor="ctr"/>
          <a:lstStyle/>
          <a:p>
            <a:pPr indent="0" marL="0">
              <a:buNone/>
            </a:pPr>
            <a:r>
              <a:rPr lang="en-US" sz="900" b="1" dirty="0">
                <a:solidFill>
                  <a:srgbClr val="1F7A5C"/>
                </a:solidFill>
                <a:latin typeface="Arial" pitchFamily="34" charset="0"/>
                <a:ea typeface="Arial" pitchFamily="34" charset="-122"/>
                <a:cs typeface="Arial" pitchFamily="34" charset="-120"/>
              </a:rPr>
              <a:t>Adab Menuntut Ilmu</a:t>
            </a:r>
            <a:endParaRPr lang="en-US" sz="900" dirty="0"/>
          </a:p>
        </p:txBody>
      </p:sp>
      <p:sp>
        <p:nvSpPr>
          <p:cNvPr id="39" name="Shape 32"/>
          <p:cNvSpPr/>
          <p:nvPr/>
        </p:nvSpPr>
        <p:spPr>
          <a:xfrm>
            <a:off x="1035832" y="1430789"/>
            <a:ext cx="219456" cy="219456"/>
          </a:xfrm>
          <a:prstGeom prst="roundRect">
            <a:avLst>
              <a:gd name="adj" fmla="val 20833"/>
            </a:avLst>
          </a:prstGeom>
          <a:solidFill>
            <a:srgbClr val="FFFFFF">
              <a:alpha val="0"/>
            </a:srgbClr>
          </a:solidFill>
          <a:ln w="31750">
            <a:solidFill>
              <a:srgbClr val="E53935"/>
            </a:solidFill>
            <a:prstDash val="solid"/>
          </a:ln>
        </p:spPr>
      </p:sp>
      <p:sp>
        <p:nvSpPr>
          <p:cNvPr id="40" name="Shape 33"/>
          <p:cNvSpPr/>
          <p:nvPr/>
        </p:nvSpPr>
        <p:spPr>
          <a:xfrm>
            <a:off x="1118128" y="1293629"/>
            <a:ext cx="274320" cy="274320"/>
          </a:xfrm>
          <a:prstGeom prst="ellipse">
            <a:avLst/>
          </a:prstGeom>
          <a:solidFill>
            <a:srgbClr val="E53935"/>
          </a:solidFill>
          <a:ln w="12700">
            <a:solidFill>
              <a:srgbClr val="FFFFFF"/>
            </a:solidFill>
            <a:prstDash val="solid"/>
          </a:ln>
        </p:spPr>
      </p:sp>
      <p:sp>
        <p:nvSpPr>
          <p:cNvPr id="41" name="Text 34"/>
          <p:cNvSpPr txBox="1"/>
          <p:nvPr/>
        </p:nvSpPr>
        <p:spPr>
          <a:xfrm>
            <a:off x="1118128" y="12936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2" name="Image 5" descr="preencoded.png">    </p:cNvPr>
          <p:cNvPicPr>
            <a:picLocks noChangeAspect="1"/>
          </p:cNvPicPr>
          <p:nvPr/>
        </p:nvPicPr>
        <p:blipFill>
          <a:blip r:embed="rId6"/>
          <a:stretch>
            <a:fillRect/>
          </a:stretch>
        </p:blipFill>
        <p:spPr>
          <a:xfrm>
            <a:off x="1153790" y="1548747"/>
            <a:ext cx="237744" cy="237744"/>
          </a:xfrm>
          <a:prstGeom prst="rect">
            <a:avLst/>
          </a:prstGeom>
        </p:spPr>
      </p:pic>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Tunggu, lalu Ctrl+F5 di website</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Tunggu 1–5 menit. Buka tab website online, tekan Ctrl+F5. Kartu baru tampil.</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Memperbaiki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4548591" cy="182880"/>
          </a:xfrm>
          <a:prstGeom prst="rect">
            <a:avLst/>
          </a:prstGeom>
          <a:noFill/>
          <a:ln/>
        </p:spPr>
        <p:txBody>
          <a:bodyPr wrap="square" lIns="0" tIns="0" rIns="0" bIns="0" rtlCol="0" anchor="t"/>
          <a:lstStyle/>
          <a:p>
            <a:pPr algn="ctr" indent="0" marL="0">
              <a:buNone/>
            </a:pPr>
            <a:r>
              <a:rPr lang="en-US" sz="800" dirty="0">
                <a:solidFill>
                  <a:srgbClr val="1E2A26"/>
                </a:solidFill>
                <a:latin typeface="Arial" pitchFamily="34" charset="0"/>
                <a:ea typeface="Arial" pitchFamily="34" charset="-122"/>
                <a:cs typeface="Arial" pitchFamily="34" charset="-120"/>
              </a:rPr>
              <a:t>Nama saya </a:t>
            </a:r>
            <a:pPr algn="ctr" indent="0" marL="0">
              <a:buNone/>
            </a:pPr>
            <a:r>
              <a:rPr lang="en-US" sz="800" b="1" dirty="0">
                <a:solidFill>
                  <a:srgbClr val="1E2A26"/>
                </a:solidFill>
                <a:latin typeface="Arial" pitchFamily="34" charset="0"/>
                <a:ea typeface="Arial" pitchFamily="34" charset="-122"/>
                <a:cs typeface="Arial" pitchFamily="34" charset="-120"/>
              </a:rPr>
              <a:t>Ahmad</a:t>
            </a:r>
            <a:pPr algn="ct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914400"/>
          </a:xfrm>
          <a:prstGeom prst="roundRect">
            <a:avLst>
              <a:gd name="adj" fmla="val 8000"/>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1474305"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3210671" y="2701805"/>
            <a:ext cx="457200" cy="457200"/>
          </a:xfrm>
          <a:prstGeom prst="rect">
            <a:avLst/>
          </a:prstGeom>
          <a:solidFill>
            <a:srgbClr val="FFFFFF"/>
          </a:solidFill>
          <a:ln w="9525">
            <a:solidFill>
              <a:srgbClr val="BBBBBB"/>
            </a:solidFill>
            <a:prstDash val="solid"/>
          </a:ln>
        </p:spPr>
      </p:sp>
      <p:sp>
        <p:nvSpPr>
          <p:cNvPr id="36" name="Text 29"/>
          <p:cNvSpPr txBox="1"/>
          <p:nvPr/>
        </p:nvSpPr>
        <p:spPr>
          <a:xfrm>
            <a:off x="3210671" y="2701805"/>
            <a:ext cx="457200" cy="457200"/>
          </a:xfrm>
          <a:prstGeom prst="rect">
            <a:avLst/>
          </a:prstGeom>
          <a:noFill/>
          <a:ln/>
        </p:spPr>
        <p:txBody>
          <a:bodyPr wrap="square" lIns="0" tIns="0" rIns="0" bIns="0" rtlCol="0" anchor="ctr"/>
          <a:lstStyle/>
          <a:p>
            <a:pPr algn="ctr" indent="0" marL="0">
              <a:buNone/>
            </a:pPr>
            <a:r>
              <a:rPr lang="en-US" sz="800" dirty="0">
                <a:solidFill>
                  <a:srgbClr val="999999"/>
                </a:solidFill>
                <a:latin typeface="Calibri" pitchFamily="34" charset="0"/>
                <a:ea typeface="Calibri" pitchFamily="34" charset="-122"/>
                <a:cs typeface="Calibri" pitchFamily="34" charset="-120"/>
              </a:rPr>
              <a:t>✕</a:t>
            </a:r>
            <a:endParaRPr lang="en-US" sz="800" dirty="0"/>
          </a:p>
        </p:txBody>
      </p:sp>
      <p:sp>
        <p:nvSpPr>
          <p:cNvPr id="37" name="Shape 30"/>
          <p:cNvSpPr/>
          <p:nvPr/>
        </p:nvSpPr>
        <p:spPr>
          <a:xfrm>
            <a:off x="3183239" y="2674373"/>
            <a:ext cx="512064" cy="512064"/>
          </a:xfrm>
          <a:prstGeom prst="roundRect">
            <a:avLst>
              <a:gd name="adj" fmla="val 8929"/>
            </a:avLst>
          </a:prstGeom>
          <a:solidFill>
            <a:srgbClr val="FFFFFF">
              <a:alpha val="0"/>
            </a:srgbClr>
          </a:solidFill>
          <a:ln w="31750">
            <a:solidFill>
              <a:srgbClr val="E53935"/>
            </a:solidFill>
            <a:prstDash val="solid"/>
          </a:ln>
        </p:spPr>
      </p:sp>
      <p:sp>
        <p:nvSpPr>
          <p:cNvPr id="38" name="Shape 31"/>
          <p:cNvSpPr/>
          <p:nvPr/>
        </p:nvSpPr>
        <p:spPr>
          <a:xfrm>
            <a:off x="3558143" y="2537213"/>
            <a:ext cx="274320" cy="274320"/>
          </a:xfrm>
          <a:prstGeom prst="ellipse">
            <a:avLst/>
          </a:prstGeom>
          <a:solidFill>
            <a:srgbClr val="E53935"/>
          </a:solidFill>
          <a:ln w="12700">
            <a:solidFill>
              <a:srgbClr val="FFFFFF"/>
            </a:solidFill>
            <a:prstDash val="solid"/>
          </a:ln>
        </p:spPr>
      </p:sp>
      <p:sp>
        <p:nvSpPr>
          <p:cNvPr id="39" name="Text 32"/>
          <p:cNvSpPr txBox="1"/>
          <p:nvPr/>
        </p:nvSpPr>
        <p:spPr>
          <a:xfrm>
            <a:off x="3558143" y="25372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0" name="Image 5" descr="preencoded.png">    </p:cNvPr>
          <p:cNvPicPr>
            <a:picLocks noChangeAspect="1"/>
          </p:cNvPicPr>
          <p:nvPr/>
        </p:nvPicPr>
        <p:blipFill>
          <a:blip r:embed="rId6"/>
          <a:stretch>
            <a:fillRect/>
          </a:stretch>
        </p:blipFill>
        <p:spPr>
          <a:xfrm>
            <a:off x="3462131" y="2953265"/>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gambar tidak muncul</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mencontohkan: ubah src menjadi "gambar/Logo.png" (L besar). Commit. Setelah online, gambar rusak.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Memperbaiki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index.html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&lt;body&gt;</a:t>
            </a:r>
            <a:endParaRPr lang="en-US" sz="782" dirty="0"/>
          </a:p>
        </p:txBody>
      </p:sp>
      <p:sp>
        <p:nvSpPr>
          <p:cNvPr id="38" name="Text 30"/>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&lt;img src="gambar/Logo.png" alt="Logo pondok" width="60"&gt;</a:t>
            </a:r>
            <a:endParaRPr lang="en-US" sz="782" dirty="0"/>
          </a:p>
        </p:txBody>
      </p:sp>
      <p:sp>
        <p:nvSpPr>
          <p:cNvPr id="40" name="Text 32"/>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&lt;h1&gt;</a:t>
            </a:r>
            <a:pPr indent="0" marL="0">
              <a:buNone/>
            </a:pPr>
            <a:r>
              <a:rPr lang="en-US" sz="782" dirty="0">
                <a:solidFill>
                  <a:srgbClr val="222222"/>
                </a:solidFill>
                <a:latin typeface="Courier New" pitchFamily="34" charset="0"/>
                <a:ea typeface="Courier New" pitchFamily="34" charset="-122"/>
                <a:cs typeface="Courier New" pitchFamily="34" charset="-120"/>
              </a:rPr>
              <a:t>Assalamu'alaikum!</a:t>
            </a:r>
            <a:pPr indent="0" marL="0">
              <a:buNone/>
            </a:pPr>
            <a:r>
              <a:rPr lang="en-US" sz="782" dirty="0">
                <a:solidFill>
                  <a:srgbClr val="1A5FB4"/>
                </a:solidFill>
                <a:latin typeface="Courier New" pitchFamily="34" charset="0"/>
                <a:ea typeface="Courier New" pitchFamily="34" charset="-122"/>
                <a:cs typeface="Courier New" pitchFamily="34" charset="-120"/>
              </a:rPr>
              <a:t>&lt;/h1&gt;</a:t>
            </a:r>
            <a:endParaRPr lang="en-US" sz="782" dirty="0"/>
          </a:p>
        </p:txBody>
      </p:sp>
      <p:sp>
        <p:nvSpPr>
          <p:cNvPr id="42" name="Shape 34"/>
          <p:cNvSpPr/>
          <p:nvPr/>
        </p:nvSpPr>
        <p:spPr>
          <a:xfrm>
            <a:off x="999256" y="2537213"/>
            <a:ext cx="4365711" cy="155448"/>
          </a:xfrm>
          <a:prstGeom prst="rect">
            <a:avLst/>
          </a:prstGeom>
          <a:solidFill>
            <a:srgbClr val="FDECEA"/>
          </a:solidFill>
          <a:ln w="12700">
            <a:solidFill>
              <a:srgbClr val="FDECEA"/>
            </a:solidFill>
            <a:prstDash val="solid"/>
          </a:ln>
        </p:spPr>
      </p:sp>
      <p:sp>
        <p:nvSpPr>
          <p:cNvPr id="43" name="Text 35"/>
          <p:cNvSpPr txBox="1"/>
          <p:nvPr/>
        </p:nvSpPr>
        <p:spPr>
          <a:xfrm>
            <a:off x="1044976" y="2537213"/>
            <a:ext cx="4365711" cy="155448"/>
          </a:xfrm>
          <a:prstGeom prst="rect">
            <a:avLst/>
          </a:prstGeom>
          <a:noFill/>
          <a:ln/>
        </p:spPr>
        <p:txBody>
          <a:bodyPr wrap="square" lIns="0" tIns="0" rIns="0" bIns="0" rtlCol="0" anchor="ctr"/>
          <a:lstStyle/>
          <a:p>
            <a:pPr indent="0" marL="0">
              <a:buNone/>
            </a:pPr>
            <a:r>
              <a:rPr lang="en-US" sz="750" dirty="0">
                <a:solidFill>
                  <a:srgbClr val="1E2A26"/>
                </a:solidFill>
                <a:latin typeface="Courier New" pitchFamily="34" charset="0"/>
                <a:ea typeface="Courier New" pitchFamily="34" charset="-122"/>
                <a:cs typeface="Courier New" pitchFamily="34" charset="-120"/>
              </a:rPr>
              <a:t>  &lt;img src="gambar/Logo.png" alt="Logo pondok" width="60"&gt;</a:t>
            </a:r>
            <a:endParaRPr lang="en-US" sz="750" dirty="0"/>
          </a:p>
        </p:txBody>
      </p:sp>
      <p:sp>
        <p:nvSpPr>
          <p:cNvPr id="44" name="Shape 36"/>
          <p:cNvSpPr/>
          <p:nvPr/>
        </p:nvSpPr>
        <p:spPr>
          <a:xfrm>
            <a:off x="980968" y="2518925"/>
            <a:ext cx="4402287" cy="192024"/>
          </a:xfrm>
          <a:prstGeom prst="roundRect">
            <a:avLst>
              <a:gd name="adj" fmla="val 23810"/>
            </a:avLst>
          </a:prstGeom>
          <a:solidFill>
            <a:srgbClr val="FFFFFF">
              <a:alpha val="0"/>
            </a:srgbClr>
          </a:solidFill>
          <a:ln w="31750">
            <a:solidFill>
              <a:srgbClr val="E53935"/>
            </a:solidFill>
            <a:prstDash val="solid"/>
          </a:ln>
        </p:spPr>
      </p:sp>
      <p:sp>
        <p:nvSpPr>
          <p:cNvPr id="45" name="Shape 37"/>
          <p:cNvSpPr/>
          <p:nvPr/>
        </p:nvSpPr>
        <p:spPr>
          <a:xfrm>
            <a:off x="5246096" y="2381765"/>
            <a:ext cx="274320" cy="274320"/>
          </a:xfrm>
          <a:prstGeom prst="ellipse">
            <a:avLst/>
          </a:prstGeom>
          <a:solidFill>
            <a:srgbClr val="E53935"/>
          </a:solidFill>
          <a:ln w="12700">
            <a:solidFill>
              <a:srgbClr val="FFFFFF"/>
            </a:solidFill>
            <a:prstDash val="solid"/>
          </a:ln>
        </p:spPr>
      </p:sp>
      <p:sp>
        <p:nvSpPr>
          <p:cNvPr id="46" name="Text 38"/>
          <p:cNvSpPr txBox="1"/>
          <p:nvPr/>
        </p:nvSpPr>
        <p:spPr>
          <a:xfrm>
            <a:off x="5246096"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7" name="Image 6" descr="preencoded.png">    </p:cNvPr>
          <p:cNvPicPr>
            <a:picLocks noChangeAspect="1"/>
          </p:cNvPicPr>
          <p:nvPr/>
        </p:nvPicPr>
        <p:blipFill>
          <a:blip r:embed="rId7"/>
          <a:stretch>
            <a:fillRect/>
          </a:stretch>
        </p:blipFill>
        <p:spPr>
          <a:xfrm>
            <a:off x="3400398" y="2622710"/>
            <a:ext cx="237744" cy="237744"/>
          </a:xfrm>
          <a:prstGeom prst="rect">
            <a:avLst/>
          </a:prstGeom>
        </p:spPr>
      </p:pic>
      <p:sp>
        <p:nvSpPr>
          <p:cNvPr id="48"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9"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penyebab: bandingkan src dengan nama file</a:t>
            </a:r>
            <a:endParaRPr lang="en-US" sz="1800" dirty="0"/>
          </a:p>
        </p:txBody>
      </p:sp>
      <p:sp>
        <p:nvSpPr>
          <p:cNvPr id="50"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gambar di repository: nama file logo.png (huruf kecil). Di kode tertulis Logo.png. Berbeda!</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Memperbaiki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index.html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&lt;body&gt;</a:t>
            </a:r>
            <a:endParaRPr lang="en-US" sz="782" dirty="0"/>
          </a:p>
        </p:txBody>
      </p:sp>
      <p:sp>
        <p:nvSpPr>
          <p:cNvPr id="38" name="Shape 30"/>
          <p:cNvSpPr/>
          <p:nvPr/>
        </p:nvSpPr>
        <p:spPr>
          <a:xfrm>
            <a:off x="999256" y="2537213"/>
            <a:ext cx="4383999" cy="155448"/>
          </a:xfrm>
          <a:prstGeom prst="rect">
            <a:avLst/>
          </a:prstGeom>
          <a:solidFill>
            <a:srgbClr val="DDF4E4"/>
          </a:solidFill>
          <a:ln w="12700">
            <a:solidFill>
              <a:srgbClr val="DDF4E4"/>
            </a:solidFill>
            <a:prstDash val="solid"/>
          </a:ln>
        </p:spPr>
      </p:sp>
      <p:sp>
        <p:nvSpPr>
          <p:cNvPr id="39" name="Text 31"/>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40" name="Text 32"/>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&lt;img src="gambar/logo.png" alt="Logo pondok" width="60"&gt;</a:t>
            </a:r>
            <a:endParaRPr lang="en-US" sz="782" dirty="0"/>
          </a:p>
        </p:txBody>
      </p:sp>
      <p:sp>
        <p:nvSpPr>
          <p:cNvPr id="41" name="Text 33"/>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2" name="Text 34"/>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&lt;h1&gt;</a:t>
            </a:r>
            <a:pPr indent="0" marL="0">
              <a:buNone/>
            </a:pPr>
            <a:r>
              <a:rPr lang="en-US" sz="782" dirty="0">
                <a:solidFill>
                  <a:srgbClr val="222222"/>
                </a:solidFill>
                <a:latin typeface="Courier New" pitchFamily="34" charset="0"/>
                <a:ea typeface="Courier New" pitchFamily="34" charset="-122"/>
                <a:cs typeface="Courier New" pitchFamily="34" charset="-120"/>
              </a:rPr>
              <a:t>Assalamu'alaikum!</a:t>
            </a:r>
            <a:pPr indent="0" marL="0">
              <a:buNone/>
            </a:pPr>
            <a:r>
              <a:rPr lang="en-US" sz="782" dirty="0">
                <a:solidFill>
                  <a:srgbClr val="1A5FB4"/>
                </a:solidFill>
                <a:latin typeface="Courier New" pitchFamily="34" charset="0"/>
                <a:ea typeface="Courier New" pitchFamily="34" charset="-122"/>
                <a:cs typeface="Courier New" pitchFamily="34" charset="-120"/>
              </a:rPr>
              <a:t>&lt;/h1&gt;</a:t>
            </a:r>
            <a:endParaRPr lang="en-US" sz="782" dirty="0"/>
          </a:p>
        </p:txBody>
      </p:sp>
      <p:sp>
        <p:nvSpPr>
          <p:cNvPr id="43" name="Shape 35"/>
          <p:cNvSpPr/>
          <p:nvPr/>
        </p:nvSpPr>
        <p:spPr>
          <a:xfrm>
            <a:off x="980968" y="2518925"/>
            <a:ext cx="4402287" cy="192024"/>
          </a:xfrm>
          <a:prstGeom prst="roundRect">
            <a:avLst>
              <a:gd name="adj" fmla="val 23810"/>
            </a:avLst>
          </a:prstGeom>
          <a:solidFill>
            <a:srgbClr val="FFFFFF">
              <a:alpha val="0"/>
            </a:srgbClr>
          </a:solidFill>
          <a:ln w="31750">
            <a:solidFill>
              <a:srgbClr val="E53935"/>
            </a:solidFill>
            <a:prstDash val="solid"/>
          </a:ln>
        </p:spPr>
      </p:sp>
      <p:sp>
        <p:nvSpPr>
          <p:cNvPr id="44" name="Shape 36"/>
          <p:cNvSpPr/>
          <p:nvPr/>
        </p:nvSpPr>
        <p:spPr>
          <a:xfrm>
            <a:off x="5246096" y="2381765"/>
            <a:ext cx="274320" cy="274320"/>
          </a:xfrm>
          <a:prstGeom prst="ellipse">
            <a:avLst/>
          </a:prstGeom>
          <a:solidFill>
            <a:srgbClr val="E53935"/>
          </a:solidFill>
          <a:ln w="12700">
            <a:solidFill>
              <a:srgbClr val="FFFFFF"/>
            </a:solidFill>
            <a:prstDash val="solid"/>
          </a:ln>
        </p:spPr>
      </p:sp>
      <p:sp>
        <p:nvSpPr>
          <p:cNvPr id="45" name="Text 37"/>
          <p:cNvSpPr txBox="1"/>
          <p:nvPr/>
        </p:nvSpPr>
        <p:spPr>
          <a:xfrm>
            <a:off x="5246096"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6" name="Image 6" descr="preencoded.png">    </p:cNvPr>
          <p:cNvPicPr>
            <a:picLocks noChangeAspect="1"/>
          </p:cNvPicPr>
          <p:nvPr/>
        </p:nvPicPr>
        <p:blipFill>
          <a:blip r:embed="rId7"/>
          <a:stretch>
            <a:fillRect/>
          </a:stretch>
        </p:blipFill>
        <p:spPr>
          <a:xfrm>
            <a:off x="3400398" y="2622710"/>
            <a:ext cx="237744" cy="237744"/>
          </a:xfrm>
          <a:prstGeom prst="rect">
            <a:avLst/>
          </a:prstGeom>
        </p:spPr>
      </p:pic>
      <p:sp>
        <p:nvSpPr>
          <p:cNvPr id="47" name="Shape 38"/>
          <p:cNvSpPr/>
          <p:nvPr/>
        </p:nvSpPr>
        <p:spPr>
          <a:xfrm>
            <a:off x="4468856" y="2025149"/>
            <a:ext cx="950976" cy="256032"/>
          </a:xfrm>
          <a:prstGeom prst="roundRect">
            <a:avLst>
              <a:gd name="adj" fmla="val 17857"/>
            </a:avLst>
          </a:prstGeom>
          <a:solidFill>
            <a:srgbClr val="FFFFFF">
              <a:alpha val="0"/>
            </a:srgbClr>
          </a:solidFill>
          <a:ln w="31750">
            <a:solidFill>
              <a:srgbClr val="E53935"/>
            </a:solidFill>
            <a:prstDash val="solid"/>
          </a:ln>
        </p:spPr>
      </p:sp>
      <p:sp>
        <p:nvSpPr>
          <p:cNvPr id="48" name="Shape 39"/>
          <p:cNvSpPr/>
          <p:nvPr/>
        </p:nvSpPr>
        <p:spPr>
          <a:xfrm>
            <a:off x="5282672" y="1887989"/>
            <a:ext cx="274320" cy="274320"/>
          </a:xfrm>
          <a:prstGeom prst="ellipse">
            <a:avLst/>
          </a:prstGeom>
          <a:solidFill>
            <a:srgbClr val="E53935"/>
          </a:solidFill>
          <a:ln w="12700">
            <a:solidFill>
              <a:srgbClr val="FFFFFF"/>
            </a:solidFill>
            <a:prstDash val="solid"/>
          </a:ln>
        </p:spPr>
      </p:sp>
      <p:sp>
        <p:nvSpPr>
          <p:cNvPr id="49" name="Text 40"/>
          <p:cNvSpPr txBox="1"/>
          <p:nvPr/>
        </p:nvSpPr>
        <p:spPr>
          <a:xfrm>
            <a:off x="5282672"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0" name="Image 7" descr="preencoded.png">    </p:cNvPr>
          <p:cNvPicPr>
            <a:picLocks noChangeAspect="1"/>
          </p:cNvPicPr>
          <p:nvPr/>
        </p:nvPicPr>
        <p:blipFill>
          <a:blip r:embed="rId8"/>
          <a:stretch>
            <a:fillRect/>
          </a:stretch>
        </p:blipFill>
        <p:spPr>
          <a:xfrm>
            <a:off x="4990064" y="2164138"/>
            <a:ext cx="237744" cy="237744"/>
          </a:xfrm>
          <a:prstGeom prst="rect">
            <a:avLst/>
          </a:prstGeom>
        </p:spPr>
      </p:pic>
      <p:sp>
        <p:nvSpPr>
          <p:cNvPr id="51"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2"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commit, periksa lagi</a:t>
            </a:r>
            <a:endParaRPr lang="en-US" sz="1800" dirty="0"/>
          </a:p>
        </p:txBody>
      </p:sp>
      <p:sp>
        <p:nvSpPr>
          <p:cNvPr id="53"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Ubah menjadi src="gambar/logo.png". Commit: Perbaiki nama file logo. Tunggu, Ctrl+F5. Gambar kembali tampil.</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29</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bersama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Pastikan semua nama file di repository huruf kecil tanpa spasi.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Periksa semua src dan href: tidak ada gambar rusak atau 404.</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1 isi baru dan pastikan tampil online.</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buku: 3 contoh jejak digital yang baik.</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jejak digital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pembaruan berhasil tampil online</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error berhasil diperbaiki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Nama file sudah huruf kecil semua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Jejak digital seperti apa yang ingin kamu tinggalkan?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nama file harus konsisten?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Setiap yang kita unggah akan dimintai pertanggungjawaban. Tinggalkan jejak digital yang baik.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Website Online Gratis.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Website Online Gratis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website santri terbit dan terawat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Hosting Gratis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Website yang baik bukan hanya bisa dibuka. Apa lagi yang membuatnya baik?</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website online dengan daftar uji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Memperbaiki temuan dari pengujian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website online beserta proses pembuatannya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Daftar Uji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Fungsi</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Semua link dan tombol bekerja, tidak ada 404.</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Tampilan</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Semua gambar tampil, teks terbaca, warna serasi.</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Responsif</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Rapi di komputer dan di HP.</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Aman &amp; Santun</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Tanpa data pribadi, isi benar dan santun.</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Dokumentasi</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README lengkap dengan alamat website.</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Uji Pengguna</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Teman kelompok lain mencoba dan memberi masukan.</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Wawasan: Hosting Gratis Lainnya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606040" cy="2377440"/>
          </a:xfrm>
          <a:prstGeom prst="roundRect">
            <a:avLst>
              <a:gd name="adj" fmla="val 3846"/>
            </a:avLst>
          </a:prstGeom>
          <a:solidFill>
            <a:srgbClr val="0F4C3A"/>
          </a:solidFill>
          <a:ln w="12700">
            <a:solidFill>
              <a:srgbClr val="0F4C3A"/>
            </a:solidFill>
            <a:prstDash val="solid"/>
          </a:ln>
        </p:spPr>
      </p:sp>
      <p:sp>
        <p:nvSpPr>
          <p:cNvPr id="10" name="Text 6"/>
          <p:cNvSpPr txBox="1"/>
          <p:nvPr/>
        </p:nvSpPr>
        <p:spPr>
          <a:xfrm>
            <a:off x="594360" y="1325880"/>
            <a:ext cx="2331720" cy="4114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GitHub Pages</a:t>
            </a:r>
            <a:endParaRPr lang="en-US" sz="1700" dirty="0"/>
          </a:p>
        </p:txBody>
      </p:sp>
      <p:sp>
        <p:nvSpPr>
          <p:cNvPr id="11" name="Text 7"/>
          <p:cNvSpPr txBox="1"/>
          <p:nvPr/>
        </p:nvSpPr>
        <p:spPr>
          <a:xfrm>
            <a:off x="594360" y="1828800"/>
            <a:ext cx="2331720" cy="1005840"/>
          </a:xfrm>
          <a:prstGeom prst="rect">
            <a:avLst/>
          </a:prstGeom>
          <a:noFill/>
          <a:ln/>
        </p:spPr>
        <p:txBody>
          <a:bodyPr wrap="square" lIns="0" tIns="0" rIns="0" bIns="0" rtlCol="0" anchor="t"/>
          <a:lstStyle/>
          <a:p>
            <a:pPr indent="0" marL="0">
              <a:buNone/>
            </a:pPr>
            <a:r>
              <a:rPr lang="en-US" sz="1300" dirty="0">
                <a:solidFill>
                  <a:srgbClr val="BFE3D3"/>
                </a:solidFill>
                <a:latin typeface="Calibri" pitchFamily="34" charset="0"/>
                <a:ea typeface="Calibri" pitchFamily="34" charset="-122"/>
                <a:cs typeface="Calibri" pitchFamily="34" charset="-120"/>
              </a:rPr>
              <a:t>Dari repository GitHub. Alamat: nama.github.io</a:t>
            </a:r>
            <a:endParaRPr lang="en-US" sz="1300" dirty="0"/>
          </a:p>
        </p:txBody>
      </p:sp>
      <p:sp>
        <p:nvSpPr>
          <p:cNvPr id="12" name="Shape 8"/>
          <p:cNvSpPr/>
          <p:nvPr/>
        </p:nvSpPr>
        <p:spPr>
          <a:xfrm>
            <a:off x="594360" y="3017520"/>
            <a:ext cx="1463040" cy="347472"/>
          </a:xfrm>
          <a:prstGeom prst="roundRect">
            <a:avLst>
              <a:gd name="adj" fmla="val 50000"/>
            </a:avLst>
          </a:prstGeom>
          <a:solidFill>
            <a:srgbClr val="D4A017"/>
          </a:solidFill>
          <a:ln w="12700">
            <a:solidFill>
              <a:srgbClr val="D4A017"/>
            </a:solidFill>
            <a:prstDash val="solid"/>
          </a:ln>
        </p:spPr>
      </p:sp>
      <p:sp>
        <p:nvSpPr>
          <p:cNvPr id="13" name="Text 9"/>
          <p:cNvSpPr txBox="1"/>
          <p:nvPr/>
        </p:nvSpPr>
        <p:spPr>
          <a:xfrm>
            <a:off x="594360" y="3017520"/>
            <a:ext cx="146304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Yang kita pakai</a:t>
            </a:r>
            <a:endParaRPr lang="en-US" sz="1150" dirty="0"/>
          </a:p>
        </p:txBody>
      </p:sp>
      <p:sp>
        <p:nvSpPr>
          <p:cNvPr id="14" name="Shape 10"/>
          <p:cNvSpPr/>
          <p:nvPr/>
        </p:nvSpPr>
        <p:spPr>
          <a:xfrm>
            <a:off x="3246120" y="1188720"/>
            <a:ext cx="2606040" cy="2377440"/>
          </a:xfrm>
          <a:prstGeom prst="roundRect">
            <a:avLst>
              <a:gd name="adj" fmla="val 3846"/>
            </a:avLst>
          </a:prstGeom>
          <a:solidFill>
            <a:srgbClr val="E6F2EC"/>
          </a:solidFill>
          <a:ln w="12700">
            <a:solidFill>
              <a:srgbClr val="E6F2EC"/>
            </a:solidFill>
            <a:prstDash val="solid"/>
          </a:ln>
        </p:spPr>
      </p:sp>
      <p:sp>
        <p:nvSpPr>
          <p:cNvPr id="15" name="Text 11"/>
          <p:cNvSpPr txBox="1"/>
          <p:nvPr/>
        </p:nvSpPr>
        <p:spPr>
          <a:xfrm>
            <a:off x="3383280" y="1325880"/>
            <a:ext cx="2331720" cy="411480"/>
          </a:xfrm>
          <a:prstGeom prst="rect">
            <a:avLst/>
          </a:prstGeom>
          <a:noFill/>
          <a:ln/>
        </p:spPr>
        <p:txBody>
          <a:bodyPr wrap="square" lIns="0" tIns="0" rIns="0" bIns="0" rtlCol="0" anchor="t"/>
          <a:lstStyle/>
          <a:p>
            <a:pPr indent="0" marL="0">
              <a:buNone/>
            </a:pPr>
            <a:r>
              <a:rPr lang="en-US" sz="1700" b="1" dirty="0">
                <a:solidFill>
                  <a:srgbClr val="0F4C3A"/>
                </a:solidFill>
                <a:latin typeface="Cambria" pitchFamily="34" charset="0"/>
                <a:ea typeface="Cambria" pitchFamily="34" charset="-122"/>
                <a:cs typeface="Cambria" pitchFamily="34" charset="-120"/>
              </a:rPr>
              <a:t>Netlify</a:t>
            </a:r>
            <a:endParaRPr lang="en-US" sz="1700" dirty="0"/>
          </a:p>
        </p:txBody>
      </p:sp>
      <p:sp>
        <p:nvSpPr>
          <p:cNvPr id="16" name="Text 12"/>
          <p:cNvSpPr txBox="1"/>
          <p:nvPr/>
        </p:nvSpPr>
        <p:spPr>
          <a:xfrm>
            <a:off x="3383280" y="1828800"/>
            <a:ext cx="2331720" cy="100584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Bisa seret folder website ke halamannya. Alamat: nama.netlify.app</a:t>
            </a:r>
            <a:endParaRPr lang="en-US" sz="1300" dirty="0"/>
          </a:p>
        </p:txBody>
      </p:sp>
      <p:sp>
        <p:nvSpPr>
          <p:cNvPr id="17" name="Shape 13"/>
          <p:cNvSpPr/>
          <p:nvPr/>
        </p:nvSpPr>
        <p:spPr>
          <a:xfrm>
            <a:off x="3383280" y="3017520"/>
            <a:ext cx="1463040" cy="347472"/>
          </a:xfrm>
          <a:prstGeom prst="roundRect">
            <a:avLst>
              <a:gd name="adj" fmla="val 50000"/>
            </a:avLst>
          </a:prstGeom>
          <a:solidFill>
            <a:srgbClr val="FFFFFF"/>
          </a:solidFill>
          <a:ln w="12700">
            <a:solidFill>
              <a:srgbClr val="FFFFFF"/>
            </a:solidFill>
            <a:prstDash val="solid"/>
          </a:ln>
        </p:spPr>
      </p:sp>
      <p:sp>
        <p:nvSpPr>
          <p:cNvPr id="18" name="Text 14"/>
          <p:cNvSpPr txBox="1"/>
          <p:nvPr/>
        </p:nvSpPr>
        <p:spPr>
          <a:xfrm>
            <a:off x="3383280" y="3017520"/>
            <a:ext cx="1463040" cy="347472"/>
          </a:xfrm>
          <a:prstGeom prst="rect">
            <a:avLst/>
          </a:prstGeom>
          <a:noFill/>
          <a:ln/>
        </p:spPr>
        <p:txBody>
          <a:bodyPr wrap="square" lIns="0" tIns="0" rIns="0" bIns="0" rtlCol="0" anchor="ctr"/>
          <a:lstStyle/>
          <a:p>
            <a:pPr algn="ctr" indent="0" marL="0">
              <a:buNone/>
            </a:pPr>
            <a:r>
              <a:rPr lang="en-US" sz="1150" b="1" dirty="0">
                <a:solidFill>
                  <a:srgbClr val="1F7A5C"/>
                </a:solidFill>
                <a:latin typeface="Calibri" pitchFamily="34" charset="0"/>
                <a:ea typeface="Calibri" pitchFamily="34" charset="-122"/>
                <a:cs typeface="Calibri" pitchFamily="34" charset="-120"/>
              </a:rPr>
              <a:t>Alternatif</a:t>
            </a:r>
            <a:endParaRPr lang="en-US" sz="1150" dirty="0"/>
          </a:p>
        </p:txBody>
      </p:sp>
      <p:sp>
        <p:nvSpPr>
          <p:cNvPr id="19" name="Shape 15"/>
          <p:cNvSpPr/>
          <p:nvPr/>
        </p:nvSpPr>
        <p:spPr>
          <a:xfrm>
            <a:off x="6035040" y="1188720"/>
            <a:ext cx="2606040" cy="2377440"/>
          </a:xfrm>
          <a:prstGeom prst="roundRect">
            <a:avLst>
              <a:gd name="adj" fmla="val 3846"/>
            </a:avLst>
          </a:prstGeom>
          <a:solidFill>
            <a:srgbClr val="E6F2EC"/>
          </a:solidFill>
          <a:ln w="12700">
            <a:solidFill>
              <a:srgbClr val="E6F2EC"/>
            </a:solidFill>
            <a:prstDash val="solid"/>
          </a:ln>
        </p:spPr>
      </p:sp>
      <p:sp>
        <p:nvSpPr>
          <p:cNvPr id="20" name="Text 16"/>
          <p:cNvSpPr txBox="1"/>
          <p:nvPr/>
        </p:nvSpPr>
        <p:spPr>
          <a:xfrm>
            <a:off x="6172200" y="1325880"/>
            <a:ext cx="2331720" cy="411480"/>
          </a:xfrm>
          <a:prstGeom prst="rect">
            <a:avLst/>
          </a:prstGeom>
          <a:noFill/>
          <a:ln/>
        </p:spPr>
        <p:txBody>
          <a:bodyPr wrap="square" lIns="0" tIns="0" rIns="0" bIns="0" rtlCol="0" anchor="t"/>
          <a:lstStyle/>
          <a:p>
            <a:pPr indent="0" marL="0">
              <a:buNone/>
            </a:pPr>
            <a:r>
              <a:rPr lang="en-US" sz="1700" b="1" dirty="0">
                <a:solidFill>
                  <a:srgbClr val="0F4C3A"/>
                </a:solidFill>
                <a:latin typeface="Cambria" pitchFamily="34" charset="0"/>
                <a:ea typeface="Cambria" pitchFamily="34" charset="-122"/>
                <a:cs typeface="Cambria" pitchFamily="34" charset="-120"/>
              </a:rPr>
              <a:t>Cloudflare Pages</a:t>
            </a:r>
            <a:endParaRPr lang="en-US" sz="1700" dirty="0"/>
          </a:p>
        </p:txBody>
      </p:sp>
      <p:sp>
        <p:nvSpPr>
          <p:cNvPr id="21" name="Text 17"/>
          <p:cNvSpPr txBox="1"/>
          <p:nvPr/>
        </p:nvSpPr>
        <p:spPr>
          <a:xfrm>
            <a:off x="6172200" y="1828800"/>
            <a:ext cx="2331720" cy="100584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Terhubung ke GitHub. Alamat: nama.pages.dev</a:t>
            </a:r>
            <a:endParaRPr lang="en-US" sz="1300" dirty="0"/>
          </a:p>
        </p:txBody>
      </p:sp>
      <p:sp>
        <p:nvSpPr>
          <p:cNvPr id="22" name="Shape 18"/>
          <p:cNvSpPr/>
          <p:nvPr/>
        </p:nvSpPr>
        <p:spPr>
          <a:xfrm>
            <a:off x="6172200" y="3017520"/>
            <a:ext cx="1463040" cy="347472"/>
          </a:xfrm>
          <a:prstGeom prst="roundRect">
            <a:avLst>
              <a:gd name="adj" fmla="val 50000"/>
            </a:avLst>
          </a:prstGeom>
          <a:solidFill>
            <a:srgbClr val="FFFFFF"/>
          </a:solidFill>
          <a:ln w="12700">
            <a:solidFill>
              <a:srgbClr val="FFFFFF"/>
            </a:solidFill>
            <a:prstDash val="solid"/>
          </a:ln>
        </p:spPr>
      </p:sp>
      <p:sp>
        <p:nvSpPr>
          <p:cNvPr id="23" name="Text 19"/>
          <p:cNvSpPr txBox="1"/>
          <p:nvPr/>
        </p:nvSpPr>
        <p:spPr>
          <a:xfrm>
            <a:off x="6172200" y="3017520"/>
            <a:ext cx="1463040" cy="347472"/>
          </a:xfrm>
          <a:prstGeom prst="rect">
            <a:avLst/>
          </a:prstGeom>
          <a:noFill/>
          <a:ln/>
        </p:spPr>
        <p:txBody>
          <a:bodyPr wrap="square" lIns="0" tIns="0" rIns="0" bIns="0" rtlCol="0" anchor="ctr"/>
          <a:lstStyle/>
          <a:p>
            <a:pPr algn="ctr" indent="0" marL="0">
              <a:buNone/>
            </a:pPr>
            <a:r>
              <a:rPr lang="en-US" sz="1150" b="1" dirty="0">
                <a:solidFill>
                  <a:srgbClr val="1F7A5C"/>
                </a:solidFill>
                <a:latin typeface="Calibri" pitchFamily="34" charset="0"/>
                <a:ea typeface="Calibri" pitchFamily="34" charset="-122"/>
                <a:cs typeface="Calibri" pitchFamily="34" charset="-120"/>
              </a:rPr>
              <a:t>Alternatif</a:t>
            </a:r>
            <a:endParaRPr lang="en-US" sz="1150" dirty="0"/>
          </a:p>
        </p:txBody>
      </p:sp>
      <p:sp>
        <p:nvSpPr>
          <p:cNvPr id="24" name="Shape 20"/>
          <p:cNvSpPr/>
          <p:nvPr/>
        </p:nvSpPr>
        <p:spPr>
          <a:xfrm>
            <a:off x="457200" y="3794760"/>
            <a:ext cx="8229600" cy="777240"/>
          </a:xfrm>
          <a:prstGeom prst="roundRect">
            <a:avLst>
              <a:gd name="adj" fmla="val 11765"/>
            </a:avLst>
          </a:prstGeom>
          <a:solidFill>
            <a:srgbClr val="FBF1D3"/>
          </a:solidFill>
          <a:ln w="12700">
            <a:solidFill>
              <a:srgbClr val="FBF1D3"/>
            </a:solidFill>
            <a:prstDash val="solid"/>
          </a:ln>
        </p:spPr>
      </p:sp>
      <p:sp>
        <p:nvSpPr>
          <p:cNvPr id="25" name="Text 21"/>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Alurnya sama: LOCAL → REPOSITORY → DEPLOY → ONLINE. Semuanya memiliki paket gratis untuk website sederhana.</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Menguji dan Mempresentasikan Website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10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sendiri dan uji silang</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Memperbaiki dan dokumentasi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4548591" cy="182880"/>
          </a:xfrm>
          <a:prstGeom prst="rect">
            <a:avLst/>
          </a:prstGeom>
          <a:noFill/>
          <a:ln/>
        </p:spPr>
        <p:txBody>
          <a:bodyPr wrap="square" lIns="0" tIns="0" rIns="0" bIns="0" rtlCol="0" anchor="t"/>
          <a:lstStyle/>
          <a:p>
            <a:pPr algn="ctr" indent="0" marL="0">
              <a:buNone/>
            </a:pPr>
            <a:r>
              <a:rPr lang="en-US" sz="800" dirty="0">
                <a:solidFill>
                  <a:srgbClr val="1E2A26"/>
                </a:solidFill>
                <a:latin typeface="Arial" pitchFamily="34" charset="0"/>
                <a:ea typeface="Arial" pitchFamily="34" charset="-122"/>
                <a:cs typeface="Arial" pitchFamily="34" charset="-120"/>
              </a:rPr>
              <a:t>Nama saya </a:t>
            </a:r>
            <a:pPr algn="ctr" indent="0" marL="0">
              <a:buNone/>
            </a:pPr>
            <a:r>
              <a:rPr lang="en-US" sz="800" b="1" dirty="0">
                <a:solidFill>
                  <a:srgbClr val="1E2A26"/>
                </a:solidFill>
                <a:latin typeface="Arial" pitchFamily="34" charset="0"/>
                <a:ea typeface="Arial" pitchFamily="34" charset="-122"/>
                <a:cs typeface="Arial" pitchFamily="34" charset="-120"/>
              </a:rPr>
              <a:t>Ahmad</a:t>
            </a:r>
            <a:pPr algn="ct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914400"/>
          </a:xfrm>
          <a:prstGeom prst="roundRect">
            <a:avLst>
              <a:gd name="adj" fmla="val 8000"/>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1474305"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3210671" y="2701805"/>
            <a:ext cx="640080" cy="457200"/>
          </a:xfrm>
          <a:prstGeom prst="rect">
            <a:avLst/>
          </a:prstGeom>
          <a:solidFill>
            <a:srgbClr val="A7CBEE"/>
          </a:solidFill>
          <a:ln w="12700">
            <a:solidFill>
              <a:srgbClr val="A7CBEE"/>
            </a:solidFill>
            <a:prstDash val="solid"/>
          </a:ln>
        </p:spPr>
      </p:sp>
      <p:sp>
        <p:nvSpPr>
          <p:cNvPr id="36" name="Shape 29"/>
          <p:cNvSpPr/>
          <p:nvPr/>
        </p:nvSpPr>
        <p:spPr>
          <a:xfrm>
            <a:off x="3269643" y="2884685"/>
            <a:ext cx="365760" cy="274320"/>
          </a:xfrm>
          <a:prstGeom prst="triangle">
            <a:avLst/>
          </a:prstGeom>
          <a:solidFill>
            <a:srgbClr val="34A853"/>
          </a:solidFill>
          <a:ln/>
        </p:spPr>
      </p:sp>
      <p:sp>
        <p:nvSpPr>
          <p:cNvPr id="37" name="Shape 30"/>
          <p:cNvSpPr/>
          <p:nvPr/>
        </p:nvSpPr>
        <p:spPr>
          <a:xfrm>
            <a:off x="679216" y="1723397"/>
            <a:ext cx="4768047" cy="2226267"/>
          </a:xfrm>
          <a:prstGeom prst="roundRect">
            <a:avLst>
              <a:gd name="adj" fmla="val 2054"/>
            </a:avLst>
          </a:prstGeom>
          <a:solidFill>
            <a:srgbClr val="FFFFFF">
              <a:alpha val="0"/>
            </a:srgbClr>
          </a:solidFill>
          <a:ln w="31750">
            <a:solidFill>
              <a:srgbClr val="E53935"/>
            </a:solidFill>
            <a:prstDash val="solid"/>
          </a:ln>
        </p:spPr>
      </p:sp>
      <p:sp>
        <p:nvSpPr>
          <p:cNvPr id="38" name="Shape 31"/>
          <p:cNvSpPr/>
          <p:nvPr/>
        </p:nvSpPr>
        <p:spPr>
          <a:xfrm>
            <a:off x="5310104" y="1586237"/>
            <a:ext cx="274320" cy="274320"/>
          </a:xfrm>
          <a:prstGeom prst="ellipse">
            <a:avLst/>
          </a:prstGeom>
          <a:solidFill>
            <a:srgbClr val="E53935"/>
          </a:solidFill>
          <a:ln w="12700">
            <a:solidFill>
              <a:srgbClr val="FFFFFF"/>
            </a:solidFill>
            <a:prstDash val="solid"/>
          </a:ln>
        </p:spPr>
      </p:sp>
      <p:sp>
        <p:nvSpPr>
          <p:cNvPr id="39" name="Text 32"/>
          <p:cNvSpPr txBox="1"/>
          <p:nvPr/>
        </p:nvSpPr>
        <p:spPr>
          <a:xfrm>
            <a:off x="5310104"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1"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di komputer: klik setiap link</a:t>
            </a:r>
            <a:endParaRPr lang="en-US" sz="1800" dirty="0"/>
          </a:p>
        </p:txBody>
      </p:sp>
      <p:sp>
        <p:nvSpPr>
          <p:cNvPr id="42"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website online. Klik setiap link dan tombol. Catat yang error di kertas daftar uji.</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274320"/>
          </a:xfrm>
          <a:prstGeom prst="rect">
            <a:avLst/>
          </a:prstGeom>
          <a:solidFill>
            <a:srgbClr val="F1F3F4"/>
          </a:solidFill>
          <a:ln w="12700">
            <a:solidFill>
              <a:srgbClr val="F1F3F4"/>
            </a:solidFill>
            <a:prstDash val="solid"/>
          </a:ln>
        </p:spPr>
      </p:sp>
      <p:sp>
        <p:nvSpPr>
          <p:cNvPr id="12" name="Text 8"/>
          <p:cNvSpPr txBox="1"/>
          <p:nvPr/>
        </p:nvSpPr>
        <p:spPr>
          <a:xfrm>
            <a:off x="2297430" y="1143000"/>
            <a:ext cx="1531620" cy="27432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santri-wu-kel1.github.io/...</a:t>
            </a:r>
            <a:endParaRPr lang="en-US" sz="650" dirty="0"/>
          </a:p>
        </p:txBody>
      </p:sp>
      <p:sp>
        <p:nvSpPr>
          <p:cNvPr id="13" name="Shape 9"/>
          <p:cNvSpPr/>
          <p:nvPr/>
        </p:nvSpPr>
        <p:spPr>
          <a:xfrm>
            <a:off x="2251710" y="1417320"/>
            <a:ext cx="1623060" cy="3154680"/>
          </a:xfrm>
          <a:prstGeom prst="rect">
            <a:avLst/>
          </a:prstGeom>
          <a:solidFill>
            <a:srgbClr val="F3F8F5"/>
          </a:solidFill>
          <a:ln w="12700">
            <a:solidFill>
              <a:srgbClr val="F3F8F5"/>
            </a:solidFill>
            <a:prstDash val="solid"/>
          </a:ln>
        </p:spPr>
      </p:sp>
      <p:sp>
        <p:nvSpPr>
          <p:cNvPr id="14" name="Text 10"/>
          <p:cNvSpPr txBox="1"/>
          <p:nvPr/>
        </p:nvSpPr>
        <p:spPr>
          <a:xfrm>
            <a:off x="2251710" y="1508760"/>
            <a:ext cx="1623060" cy="274320"/>
          </a:xfrm>
          <a:prstGeom prst="rect">
            <a:avLst/>
          </a:prstGeom>
          <a:noFill/>
          <a:ln/>
        </p:spPr>
        <p:txBody>
          <a:bodyPr wrap="square" lIns="0" tIns="0" rIns="0" bIns="0" rtlCol="0" anchor="t"/>
          <a:lstStyle/>
          <a:p>
            <a:pPr algn="ctr" indent="0" marL="0">
              <a:buNone/>
            </a:pPr>
            <a:r>
              <a:rPr lang="en-US" sz="1100" b="1" dirty="0">
                <a:solidFill>
                  <a:srgbClr val="0F4C3A"/>
                </a:solidFill>
                <a:latin typeface="Arial" pitchFamily="34" charset="0"/>
                <a:ea typeface="Arial" pitchFamily="34" charset="-122"/>
                <a:cs typeface="Arial" pitchFamily="34" charset="-120"/>
              </a:rPr>
              <a:t>Assalamu'alaikum!</a:t>
            </a:r>
            <a:endParaRPr lang="en-US" sz="1100" dirty="0"/>
          </a:p>
        </p:txBody>
      </p:sp>
      <p:sp>
        <p:nvSpPr>
          <p:cNvPr id="15" name="Shape 11"/>
          <p:cNvSpPr/>
          <p:nvPr/>
        </p:nvSpPr>
        <p:spPr>
          <a:xfrm>
            <a:off x="2361438" y="1920240"/>
            <a:ext cx="1403604" cy="685800"/>
          </a:xfrm>
          <a:prstGeom prst="roundRect">
            <a:avLst>
              <a:gd name="adj" fmla="val 8000"/>
            </a:avLst>
          </a:prstGeom>
          <a:solidFill>
            <a:srgbClr val="FFFFFF"/>
          </a:solidFill>
          <a:ln w="9525">
            <a:solidFill>
              <a:srgbClr val="DDDDDD"/>
            </a:solidFill>
            <a:prstDash val="solid"/>
          </a:ln>
        </p:spPr>
      </p:sp>
      <p:sp>
        <p:nvSpPr>
          <p:cNvPr id="16" name="Text 12"/>
          <p:cNvSpPr txBox="1"/>
          <p:nvPr/>
        </p:nvSpPr>
        <p:spPr>
          <a:xfrm>
            <a:off x="2434590" y="1965960"/>
            <a:ext cx="1348740"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Hobi Saya</a:t>
            </a:r>
            <a:endParaRPr lang="en-US" sz="800" dirty="0"/>
          </a:p>
        </p:txBody>
      </p:sp>
      <p:sp>
        <p:nvSpPr>
          <p:cNvPr id="17" name="Shape 13"/>
          <p:cNvSpPr/>
          <p:nvPr/>
        </p:nvSpPr>
        <p:spPr>
          <a:xfrm>
            <a:off x="2361438" y="2697480"/>
            <a:ext cx="1403604" cy="685800"/>
          </a:xfrm>
          <a:prstGeom prst="roundRect">
            <a:avLst>
              <a:gd name="adj" fmla="val 8000"/>
            </a:avLst>
          </a:prstGeom>
          <a:solidFill>
            <a:srgbClr val="FFFFFF"/>
          </a:solidFill>
          <a:ln w="9525">
            <a:solidFill>
              <a:srgbClr val="DDDDDD"/>
            </a:solidFill>
            <a:prstDash val="solid"/>
          </a:ln>
        </p:spPr>
      </p:sp>
      <p:sp>
        <p:nvSpPr>
          <p:cNvPr id="18" name="Text 14"/>
          <p:cNvSpPr txBox="1"/>
          <p:nvPr/>
        </p:nvSpPr>
        <p:spPr>
          <a:xfrm>
            <a:off x="2434590" y="2743200"/>
            <a:ext cx="1348740"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Adab Menuntut Ilmu</a:t>
            </a:r>
            <a:endParaRPr lang="en-US" sz="800" dirty="0"/>
          </a:p>
        </p:txBody>
      </p:sp>
      <p:sp>
        <p:nvSpPr>
          <p:cNvPr id="19" name="Shape 15"/>
          <p:cNvSpPr/>
          <p:nvPr/>
        </p:nvSpPr>
        <p:spPr>
          <a:xfrm>
            <a:off x="2233422" y="1124712"/>
            <a:ext cx="1659636" cy="3465576"/>
          </a:xfrm>
          <a:prstGeom prst="roundRect">
            <a:avLst>
              <a:gd name="adj" fmla="val 2755"/>
            </a:avLst>
          </a:prstGeom>
          <a:solidFill>
            <a:srgbClr val="FFFFFF">
              <a:alpha val="0"/>
            </a:srgbClr>
          </a:solidFill>
          <a:ln w="31750">
            <a:solidFill>
              <a:srgbClr val="E53935"/>
            </a:solidFill>
            <a:prstDash val="solid"/>
          </a:ln>
        </p:spPr>
      </p:sp>
      <p:sp>
        <p:nvSpPr>
          <p:cNvPr id="20" name="Shape 16"/>
          <p:cNvSpPr/>
          <p:nvPr/>
        </p:nvSpPr>
        <p:spPr>
          <a:xfrm>
            <a:off x="3755898" y="987552"/>
            <a:ext cx="274320" cy="274320"/>
          </a:xfrm>
          <a:prstGeom prst="ellipse">
            <a:avLst/>
          </a:prstGeom>
          <a:solidFill>
            <a:srgbClr val="E53935"/>
          </a:solidFill>
          <a:ln w="12700">
            <a:solidFill>
              <a:srgbClr val="FFFFFF"/>
            </a:solidFill>
            <a:prstDash val="solid"/>
          </a:ln>
        </p:spPr>
      </p:sp>
      <p:sp>
        <p:nvSpPr>
          <p:cNvPr id="21" name="Text 17"/>
          <p:cNvSpPr txBox="1"/>
          <p:nvPr/>
        </p:nvSpPr>
        <p:spPr>
          <a:xfrm>
            <a:off x="3755898" y="987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3"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di HP</a:t>
            </a:r>
            <a:endParaRPr lang="en-US" sz="1800" dirty="0"/>
          </a:p>
        </p:txBody>
      </p:sp>
      <p:sp>
        <p:nvSpPr>
          <p:cNvPr id="24"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alamat website di HP. Periksa: teks terbaca tanpa diperbesar, kartu bertumpuk rapi, tombol mudah diketuk.</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868680" y="1161288"/>
            <a:ext cx="4389120" cy="36576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Daftar Uji – Website Kelompok 2</a:t>
            </a:r>
            <a:endParaRPr lang="en-US" sz="1500" dirty="0"/>
          </a:p>
        </p:txBody>
      </p:sp>
      <p:sp>
        <p:nvSpPr>
          <p:cNvPr id="11" name="Text 7"/>
          <p:cNvSpPr txBox="1"/>
          <p:nvPr/>
        </p:nvSpPr>
        <p:spPr>
          <a:xfrm>
            <a:off x="960120" y="1645920"/>
            <a:ext cx="2743200" cy="347472"/>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Semua link bekerja</a:t>
            </a:r>
            <a:endParaRPr lang="en-US" sz="1300" dirty="0"/>
          </a:p>
        </p:txBody>
      </p:sp>
      <p:sp>
        <p:nvSpPr>
          <p:cNvPr id="12" name="Text 8"/>
          <p:cNvSpPr txBox="1"/>
          <p:nvPr/>
        </p:nvSpPr>
        <p:spPr>
          <a:xfrm>
            <a:off x="3886200" y="1645920"/>
            <a:ext cx="1280160" cy="347472"/>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a:t>
            </a:r>
            <a:endParaRPr lang="en-US" sz="1300" dirty="0"/>
          </a:p>
        </p:txBody>
      </p:sp>
      <p:sp>
        <p:nvSpPr>
          <p:cNvPr id="13" name="Text 9"/>
          <p:cNvSpPr txBox="1"/>
          <p:nvPr/>
        </p:nvSpPr>
        <p:spPr>
          <a:xfrm>
            <a:off x="960120" y="2057400"/>
            <a:ext cx="2743200" cy="347472"/>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Semua gambar tampil</a:t>
            </a:r>
            <a:endParaRPr lang="en-US" sz="1300" dirty="0"/>
          </a:p>
        </p:txBody>
      </p:sp>
      <p:sp>
        <p:nvSpPr>
          <p:cNvPr id="14" name="Text 10"/>
          <p:cNvSpPr txBox="1"/>
          <p:nvPr/>
        </p:nvSpPr>
        <p:spPr>
          <a:xfrm>
            <a:off x="3886200" y="2057400"/>
            <a:ext cx="1280160" cy="347472"/>
          </a:xfrm>
          <a:prstGeom prst="rect">
            <a:avLst/>
          </a:prstGeom>
          <a:noFill/>
          <a:ln/>
        </p:spPr>
        <p:txBody>
          <a:bodyPr wrap="square" lIns="0" tIns="0" rIns="0" bIns="0" rtlCol="0" anchor="ctr"/>
          <a:lstStyle/>
          <a:p>
            <a:pPr indent="0" marL="0">
              <a:buNone/>
            </a:pPr>
            <a:r>
              <a:rPr lang="en-US" sz="1300" b="1" dirty="0">
                <a:solidFill>
                  <a:srgbClr val="E53935"/>
                </a:solidFill>
                <a:latin typeface="Calibri" pitchFamily="34" charset="0"/>
                <a:ea typeface="Calibri" pitchFamily="34" charset="-122"/>
                <a:cs typeface="Calibri" pitchFamily="34" charset="-120"/>
              </a:rPr>
              <a:t>✗ logo</a:t>
            </a:r>
            <a:endParaRPr lang="en-US" sz="1300" dirty="0"/>
          </a:p>
        </p:txBody>
      </p:sp>
      <p:sp>
        <p:nvSpPr>
          <p:cNvPr id="15" name="Text 11"/>
          <p:cNvSpPr txBox="1"/>
          <p:nvPr/>
        </p:nvSpPr>
        <p:spPr>
          <a:xfrm>
            <a:off x="960120" y="2468880"/>
            <a:ext cx="2743200" cy="347472"/>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Rapi di HP</a:t>
            </a:r>
            <a:endParaRPr lang="en-US" sz="1300" dirty="0"/>
          </a:p>
        </p:txBody>
      </p:sp>
      <p:sp>
        <p:nvSpPr>
          <p:cNvPr id="16" name="Text 12"/>
          <p:cNvSpPr txBox="1"/>
          <p:nvPr/>
        </p:nvSpPr>
        <p:spPr>
          <a:xfrm>
            <a:off x="3886200" y="2468880"/>
            <a:ext cx="1280160" cy="347472"/>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a:t>
            </a:r>
            <a:endParaRPr lang="en-US" sz="1300" dirty="0"/>
          </a:p>
        </p:txBody>
      </p:sp>
      <p:sp>
        <p:nvSpPr>
          <p:cNvPr id="17" name="Text 13"/>
          <p:cNvSpPr txBox="1"/>
          <p:nvPr/>
        </p:nvSpPr>
        <p:spPr>
          <a:xfrm>
            <a:off x="960120" y="2880360"/>
            <a:ext cx="2743200" cy="347472"/>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Tanpa data pribadi</a:t>
            </a:r>
            <a:endParaRPr lang="en-US" sz="1300" dirty="0"/>
          </a:p>
        </p:txBody>
      </p:sp>
      <p:sp>
        <p:nvSpPr>
          <p:cNvPr id="18" name="Text 14"/>
          <p:cNvSpPr txBox="1"/>
          <p:nvPr/>
        </p:nvSpPr>
        <p:spPr>
          <a:xfrm>
            <a:off x="3886200" y="2880360"/>
            <a:ext cx="1280160" cy="347472"/>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a:t>
            </a:r>
            <a:endParaRPr lang="en-US" sz="1300" dirty="0"/>
          </a:p>
        </p:txBody>
      </p:sp>
      <p:sp>
        <p:nvSpPr>
          <p:cNvPr id="19" name="Text 15"/>
          <p:cNvSpPr txBox="1"/>
          <p:nvPr/>
        </p:nvSpPr>
        <p:spPr>
          <a:xfrm>
            <a:off x="960120" y="3291840"/>
            <a:ext cx="2743200" cy="347472"/>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README ada alamat</a:t>
            </a:r>
            <a:endParaRPr lang="en-US" sz="1300" dirty="0"/>
          </a:p>
        </p:txBody>
      </p:sp>
      <p:sp>
        <p:nvSpPr>
          <p:cNvPr id="20" name="Text 16"/>
          <p:cNvSpPr txBox="1"/>
          <p:nvPr/>
        </p:nvSpPr>
        <p:spPr>
          <a:xfrm>
            <a:off x="3886200" y="3291840"/>
            <a:ext cx="1280160" cy="347472"/>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a:t>
            </a:r>
            <a:endParaRPr lang="en-US" sz="1300" dirty="0"/>
          </a:p>
        </p:txBody>
      </p:sp>
      <p:sp>
        <p:nvSpPr>
          <p:cNvPr id="21" name="Text 17"/>
          <p:cNvSpPr txBox="1"/>
          <p:nvPr/>
        </p:nvSpPr>
        <p:spPr>
          <a:xfrm>
            <a:off x="960120" y="3749040"/>
            <a:ext cx="4206240" cy="365760"/>
          </a:xfrm>
          <a:prstGeom prst="rect">
            <a:avLst/>
          </a:prstGeom>
          <a:noFill/>
          <a:ln/>
        </p:spPr>
        <p:txBody>
          <a:bodyPr wrap="square" lIns="0" tIns="0" rIns="0" bIns="0" rtlCol="0" anchor="t"/>
          <a:lstStyle/>
          <a:p>
            <a:pPr indent="0" marL="0">
              <a:buNone/>
            </a:pPr>
            <a:r>
              <a:rPr lang="en-US" sz="1200" i="1" dirty="0">
                <a:solidFill>
                  <a:srgbClr val="1155CC"/>
                </a:solidFill>
                <a:latin typeface="Arial" pitchFamily="34" charset="0"/>
                <a:ea typeface="Arial" pitchFamily="34" charset="-122"/>
                <a:cs typeface="Arial" pitchFamily="34" charset="-120"/>
              </a:rPr>
              <a:t>Pujian: warna rapi. Saran: perbaiki logo.</a:t>
            </a:r>
            <a:endParaRPr lang="en-US" sz="1200" dirty="0"/>
          </a:p>
        </p:txBody>
      </p:sp>
      <p:sp>
        <p:nvSpPr>
          <p:cNvPr id="22" name="Shape 18"/>
          <p:cNvSpPr/>
          <p:nvPr/>
        </p:nvSpPr>
        <p:spPr>
          <a:xfrm>
            <a:off x="850392" y="1581912"/>
            <a:ext cx="4517136" cy="2139696"/>
          </a:xfrm>
          <a:prstGeom prst="roundRect">
            <a:avLst>
              <a:gd name="adj" fmla="val 2137"/>
            </a:avLst>
          </a:prstGeom>
          <a:solidFill>
            <a:srgbClr val="FFFFFF">
              <a:alpha val="0"/>
            </a:srgbClr>
          </a:solidFill>
          <a:ln w="31750">
            <a:solidFill>
              <a:srgbClr val="E53935"/>
            </a:solidFill>
            <a:prstDash val="solid"/>
          </a:ln>
        </p:spPr>
      </p:sp>
      <p:sp>
        <p:nvSpPr>
          <p:cNvPr id="23" name="Shape 19"/>
          <p:cNvSpPr/>
          <p:nvPr/>
        </p:nvSpPr>
        <p:spPr>
          <a:xfrm>
            <a:off x="5230368" y="1444752"/>
            <a:ext cx="274320" cy="274320"/>
          </a:xfrm>
          <a:prstGeom prst="ellipse">
            <a:avLst/>
          </a:prstGeom>
          <a:solidFill>
            <a:srgbClr val="E53935"/>
          </a:solidFill>
          <a:ln w="12700">
            <a:solidFill>
              <a:srgbClr val="FFFFFF"/>
            </a:solidFill>
            <a:prstDash val="solid"/>
          </a:ln>
        </p:spPr>
      </p:sp>
      <p:sp>
        <p:nvSpPr>
          <p:cNvPr id="24" name="Text 20"/>
          <p:cNvSpPr txBox="1"/>
          <p:nvPr/>
        </p:nvSpPr>
        <p:spPr>
          <a:xfrm>
            <a:off x="5230368" y="14447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6" name="Text 2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silang: tukar alamat dengan kelompok lain</a:t>
            </a:r>
            <a:endParaRPr lang="en-US" sz="1800" dirty="0"/>
          </a:p>
        </p:txBody>
      </p:sp>
      <p:sp>
        <p:nvSpPr>
          <p:cNvPr id="27" name="Text 2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membuka website kelompok lain, mengisi daftar uji, dan memberi 1 pujian dan 1 saran.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Perbaikan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18288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Commits</a:t>
            </a:r>
            <a:endParaRPr lang="en-US" sz="1100" dirty="0"/>
          </a:p>
        </p:txBody>
      </p:sp>
      <p:sp>
        <p:nvSpPr>
          <p:cNvPr id="33" name="Shape 25"/>
          <p:cNvSpPr/>
          <p:nvPr/>
        </p:nvSpPr>
        <p:spPr>
          <a:xfrm>
            <a:off x="724936" y="2381765"/>
            <a:ext cx="4676607" cy="292608"/>
          </a:xfrm>
          <a:prstGeom prst="rect">
            <a:avLst/>
          </a:prstGeom>
          <a:solidFill>
            <a:srgbClr val="FFFFFF"/>
          </a:solidFill>
          <a:ln w="6350">
            <a:solidFill>
              <a:srgbClr val="D0D7DE"/>
            </a:solidFill>
            <a:prstDash val="solid"/>
          </a:ln>
        </p:spPr>
      </p:sp>
      <p:sp>
        <p:nvSpPr>
          <p:cNvPr id="34" name="Text 26"/>
          <p:cNvSpPr txBox="1"/>
          <p:nvPr/>
        </p:nvSpPr>
        <p:spPr>
          <a:xfrm>
            <a:off x="816376" y="2381765"/>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Perbaiki gambar logo dari hasil uji</a:t>
            </a:r>
            <a:endParaRPr lang="en-US" sz="750" dirty="0"/>
          </a:p>
        </p:txBody>
      </p:sp>
      <p:sp>
        <p:nvSpPr>
          <p:cNvPr id="35" name="Text 27"/>
          <p:cNvSpPr txBox="1"/>
          <p:nvPr/>
        </p:nvSpPr>
        <p:spPr>
          <a:xfrm>
            <a:off x="816376" y="2528069"/>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baru saja</a:t>
            </a:r>
            <a:endParaRPr lang="en-US" sz="600" dirty="0"/>
          </a:p>
        </p:txBody>
      </p:sp>
      <p:sp>
        <p:nvSpPr>
          <p:cNvPr id="36" name="Text 28"/>
          <p:cNvSpPr txBox="1"/>
          <p:nvPr/>
        </p:nvSpPr>
        <p:spPr>
          <a:xfrm>
            <a:off x="4670024" y="2381765"/>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9d2f1a7</a:t>
            </a:r>
            <a:endParaRPr lang="en-US" sz="650" dirty="0"/>
          </a:p>
        </p:txBody>
      </p:sp>
      <p:sp>
        <p:nvSpPr>
          <p:cNvPr id="37" name="Shape 29"/>
          <p:cNvSpPr/>
          <p:nvPr/>
        </p:nvSpPr>
        <p:spPr>
          <a:xfrm>
            <a:off x="724936" y="2710949"/>
            <a:ext cx="4676607" cy="292608"/>
          </a:xfrm>
          <a:prstGeom prst="rect">
            <a:avLst/>
          </a:prstGeom>
          <a:solidFill>
            <a:srgbClr val="FFFFFF"/>
          </a:solidFill>
          <a:ln w="6350">
            <a:solidFill>
              <a:srgbClr val="D0D7DE"/>
            </a:solidFill>
            <a:prstDash val="solid"/>
          </a:ln>
        </p:spPr>
      </p:sp>
      <p:sp>
        <p:nvSpPr>
          <p:cNvPr id="38" name="Text 30"/>
          <p:cNvSpPr txBox="1"/>
          <p:nvPr/>
        </p:nvSpPr>
        <p:spPr>
          <a:xfrm>
            <a:off x="816376" y="2710949"/>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Tambah kartu adab menuntut ilmu</a:t>
            </a:r>
            <a:endParaRPr lang="en-US" sz="750" dirty="0"/>
          </a:p>
        </p:txBody>
      </p:sp>
      <p:sp>
        <p:nvSpPr>
          <p:cNvPr id="39" name="Text 31"/>
          <p:cNvSpPr txBox="1"/>
          <p:nvPr/>
        </p:nvSpPr>
        <p:spPr>
          <a:xfrm>
            <a:off x="816376" y="2857253"/>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minggu lalu</a:t>
            </a:r>
            <a:endParaRPr lang="en-US" sz="600" dirty="0"/>
          </a:p>
        </p:txBody>
      </p:sp>
      <p:sp>
        <p:nvSpPr>
          <p:cNvPr id="40" name="Text 32"/>
          <p:cNvSpPr txBox="1"/>
          <p:nvPr/>
        </p:nvSpPr>
        <p:spPr>
          <a:xfrm>
            <a:off x="4670024" y="2710949"/>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5b3c8e1</a:t>
            </a:r>
            <a:endParaRPr lang="en-US" sz="650" dirty="0"/>
          </a:p>
        </p:txBody>
      </p:sp>
      <p:sp>
        <p:nvSpPr>
          <p:cNvPr id="41" name="Shape 33"/>
          <p:cNvSpPr/>
          <p:nvPr/>
        </p:nvSpPr>
        <p:spPr>
          <a:xfrm>
            <a:off x="724936" y="3040133"/>
            <a:ext cx="4676607" cy="292608"/>
          </a:xfrm>
          <a:prstGeom prst="rect">
            <a:avLst/>
          </a:prstGeom>
          <a:solidFill>
            <a:srgbClr val="FFFFFF"/>
          </a:solidFill>
          <a:ln w="6350">
            <a:solidFill>
              <a:srgbClr val="D0D7DE"/>
            </a:solidFill>
            <a:prstDash val="solid"/>
          </a:ln>
        </p:spPr>
      </p:sp>
      <p:sp>
        <p:nvSpPr>
          <p:cNvPr id="42" name="Text 34"/>
          <p:cNvSpPr txBox="1"/>
          <p:nvPr/>
        </p:nvSpPr>
        <p:spPr>
          <a:xfrm>
            <a:off x="816376" y="3040133"/>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Perbaiki nama file logo</a:t>
            </a:r>
            <a:endParaRPr lang="en-US" sz="750" dirty="0"/>
          </a:p>
        </p:txBody>
      </p:sp>
      <p:sp>
        <p:nvSpPr>
          <p:cNvPr id="43" name="Text 35"/>
          <p:cNvSpPr txBox="1"/>
          <p:nvPr/>
        </p:nvSpPr>
        <p:spPr>
          <a:xfrm>
            <a:off x="816376" y="3186437"/>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minggu lalu</a:t>
            </a:r>
            <a:endParaRPr lang="en-US" sz="600" dirty="0"/>
          </a:p>
        </p:txBody>
      </p:sp>
      <p:sp>
        <p:nvSpPr>
          <p:cNvPr id="44" name="Text 36"/>
          <p:cNvSpPr txBox="1"/>
          <p:nvPr/>
        </p:nvSpPr>
        <p:spPr>
          <a:xfrm>
            <a:off x="4670024" y="3040133"/>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2a7d4f0</a:t>
            </a:r>
            <a:endParaRPr lang="en-US" sz="650" dirty="0"/>
          </a:p>
        </p:txBody>
      </p:sp>
      <p:sp>
        <p:nvSpPr>
          <p:cNvPr id="45" name="Shape 37"/>
          <p:cNvSpPr/>
          <p:nvPr/>
        </p:nvSpPr>
        <p:spPr>
          <a:xfrm>
            <a:off x="706648" y="2363477"/>
            <a:ext cx="4713183" cy="329184"/>
          </a:xfrm>
          <a:prstGeom prst="roundRect">
            <a:avLst>
              <a:gd name="adj" fmla="val 13889"/>
            </a:avLst>
          </a:prstGeom>
          <a:solidFill>
            <a:srgbClr val="FFFFFF">
              <a:alpha val="0"/>
            </a:srgbClr>
          </a:solidFill>
          <a:ln w="31750">
            <a:solidFill>
              <a:srgbClr val="E53935"/>
            </a:solidFill>
            <a:prstDash val="solid"/>
          </a:ln>
        </p:spPr>
      </p:sp>
      <p:sp>
        <p:nvSpPr>
          <p:cNvPr id="46" name="Shape 38"/>
          <p:cNvSpPr/>
          <p:nvPr/>
        </p:nvSpPr>
        <p:spPr>
          <a:xfrm>
            <a:off x="5282672" y="2226317"/>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282672"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8" name="Image 6" descr="preencoded.png">    </p:cNvPr>
          <p:cNvPicPr>
            <a:picLocks noChangeAspect="1"/>
          </p:cNvPicPr>
          <p:nvPr/>
        </p:nvPicPr>
        <p:blipFill>
          <a:blip r:embed="rId7"/>
          <a:stretch>
            <a:fillRect/>
          </a:stretch>
        </p:blipFill>
        <p:spPr>
          <a:xfrm>
            <a:off x="3297070" y="2542700"/>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temuan, commit</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Perbaiki setiap temuan dari daftar uji. Commit dengan pesan jelas, misalnya: Perbaiki gambar logo dari hasil uji.</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Perbaikan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README.md</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Website Santri Kelompok 1</a:t>
            </a:r>
            <a:endParaRPr lang="en-US" sz="782" dirty="0"/>
          </a:p>
        </p:txBody>
      </p:sp>
      <p:sp>
        <p:nvSpPr>
          <p:cNvPr id="38" name="Text 30"/>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Website Kelas 8A PP Wihdatul Ummah Poso.</a:t>
            </a:r>
            <a:endParaRPr lang="en-US" sz="782" dirty="0"/>
          </a:p>
        </p:txBody>
      </p:sp>
      <p:sp>
        <p:nvSpPr>
          <p:cNvPr id="40" name="Text 32"/>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1E2A26"/>
                </a:solidFill>
                <a:latin typeface="Courier New" pitchFamily="34" charset="0"/>
                <a:ea typeface="Courier New" pitchFamily="34" charset="-122"/>
                <a:cs typeface="Courier New" pitchFamily="34" charset="-120"/>
              </a:rPr>
              <a:t> </a:t>
            </a:r>
            <a:endParaRPr lang="en-US" sz="782" dirty="0"/>
          </a:p>
        </p:txBody>
      </p:sp>
      <p:sp>
        <p:nvSpPr>
          <p:cNvPr id="42" name="Shape 34"/>
          <p:cNvSpPr/>
          <p:nvPr/>
        </p:nvSpPr>
        <p:spPr>
          <a:xfrm>
            <a:off x="999256" y="2848109"/>
            <a:ext cx="4383999" cy="155448"/>
          </a:xfrm>
          <a:prstGeom prst="rect">
            <a:avLst/>
          </a:prstGeom>
          <a:solidFill>
            <a:srgbClr val="DDF4E4"/>
          </a:solidFill>
          <a:ln w="12700">
            <a:solidFill>
              <a:srgbClr val="DDF4E4"/>
            </a:solidFill>
            <a:prstDash val="solid"/>
          </a:ln>
        </p:spPr>
      </p:sp>
      <p:sp>
        <p:nvSpPr>
          <p:cNvPr id="43" name="Text 35"/>
          <p:cNvSpPr txBox="1"/>
          <p:nvPr/>
        </p:nvSpPr>
        <p:spPr>
          <a:xfrm>
            <a:off x="724936" y="284810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4" name="Text 36"/>
          <p:cNvSpPr txBox="1"/>
          <p:nvPr/>
        </p:nvSpPr>
        <p:spPr>
          <a:xfrm>
            <a:off x="1044976" y="2848109"/>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Website online</a:t>
            </a:r>
            <a:endParaRPr lang="en-US" sz="782" dirty="0"/>
          </a:p>
        </p:txBody>
      </p:sp>
      <p:sp>
        <p:nvSpPr>
          <p:cNvPr id="45" name="Shape 37"/>
          <p:cNvSpPr/>
          <p:nvPr/>
        </p:nvSpPr>
        <p:spPr>
          <a:xfrm>
            <a:off x="999256" y="3003557"/>
            <a:ext cx="4383999" cy="155448"/>
          </a:xfrm>
          <a:prstGeom prst="rect">
            <a:avLst/>
          </a:prstGeom>
          <a:solidFill>
            <a:srgbClr val="DDF4E4"/>
          </a:solidFill>
          <a:ln w="12700">
            <a:solidFill>
              <a:srgbClr val="DDF4E4"/>
            </a:solidFill>
            <a:prstDash val="solid"/>
          </a:ln>
        </p:spPr>
      </p:sp>
      <p:sp>
        <p:nvSpPr>
          <p:cNvPr id="46" name="Text 38"/>
          <p:cNvSpPr txBox="1"/>
          <p:nvPr/>
        </p:nvSpPr>
        <p:spPr>
          <a:xfrm>
            <a:off x="724936" y="3003557"/>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47" name="Text 39"/>
          <p:cNvSpPr txBox="1"/>
          <p:nvPr/>
        </p:nvSpPr>
        <p:spPr>
          <a:xfrm>
            <a:off x="1044976" y="3003557"/>
            <a:ext cx="4310847" cy="155448"/>
          </a:xfrm>
          <a:prstGeom prst="rect">
            <a:avLst/>
          </a:prstGeom>
          <a:noFill/>
          <a:ln/>
        </p:spPr>
        <p:txBody>
          <a:bodyPr wrap="square" lIns="0" tIns="0" rIns="0" bIns="0" rtlCol="0" anchor="ctr"/>
          <a:lstStyle/>
          <a:p>
            <a:pPr indent="0" marL="0">
              <a:buNone/>
            </a:pPr>
            <a:r>
              <a:rPr lang="en-US" sz="782" dirty="0">
                <a:solidFill>
                  <a:srgbClr val="A0522D"/>
                </a:solidFill>
                <a:latin typeface="Courier New" pitchFamily="34" charset="0"/>
                <a:ea typeface="Courier New" pitchFamily="34" charset="-122"/>
                <a:cs typeface="Courier New" pitchFamily="34" charset="-120"/>
              </a:rPr>
              <a:t>https://santri-wu-kel1.github.io/website-santri-kel1/</a:t>
            </a:r>
            <a:endParaRPr lang="en-US" sz="782" dirty="0"/>
          </a:p>
        </p:txBody>
      </p:sp>
      <p:sp>
        <p:nvSpPr>
          <p:cNvPr id="48" name="Text 40"/>
          <p:cNvSpPr txBox="1"/>
          <p:nvPr/>
        </p:nvSpPr>
        <p:spPr>
          <a:xfrm>
            <a:off x="724936" y="315900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49" name="Text 41"/>
          <p:cNvSpPr txBox="1"/>
          <p:nvPr/>
        </p:nvSpPr>
        <p:spPr>
          <a:xfrm>
            <a:off x="1044976" y="3159005"/>
            <a:ext cx="4310847" cy="155448"/>
          </a:xfrm>
          <a:prstGeom prst="rect">
            <a:avLst/>
          </a:prstGeom>
          <a:noFill/>
          <a:ln/>
        </p:spPr>
        <p:txBody>
          <a:bodyPr wrap="square" lIns="0" tIns="0" rIns="0" bIns="0" rtlCol="0" anchor="ctr"/>
          <a:lstStyle/>
          <a:p>
            <a:pPr indent="0" marL="0">
              <a:buNone/>
            </a:pPr>
            <a:r>
              <a:rPr lang="en-US" sz="782" dirty="0">
                <a:solidFill>
                  <a:srgbClr val="1E2A26"/>
                </a:solidFill>
                <a:latin typeface="Courier New" pitchFamily="34" charset="0"/>
                <a:ea typeface="Courier New" pitchFamily="34" charset="-122"/>
                <a:cs typeface="Courier New" pitchFamily="34" charset="-120"/>
              </a:rPr>
              <a:t> </a:t>
            </a:r>
            <a:endParaRPr lang="en-US" sz="782" dirty="0"/>
          </a:p>
        </p:txBody>
      </p:sp>
      <p:sp>
        <p:nvSpPr>
          <p:cNvPr id="50" name="Text 42"/>
          <p:cNvSpPr txBox="1"/>
          <p:nvPr/>
        </p:nvSpPr>
        <p:spPr>
          <a:xfrm>
            <a:off x="724936" y="331445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51" name="Text 43"/>
          <p:cNvSpPr txBox="1"/>
          <p:nvPr/>
        </p:nvSpPr>
        <p:spPr>
          <a:xfrm>
            <a:off x="1044976" y="331445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Isi</a:t>
            </a:r>
            <a:endParaRPr lang="en-US" sz="782" dirty="0"/>
          </a:p>
        </p:txBody>
      </p:sp>
      <p:sp>
        <p:nvSpPr>
          <p:cNvPr id="52" name="Text 44"/>
          <p:cNvSpPr txBox="1"/>
          <p:nvPr/>
        </p:nvSpPr>
        <p:spPr>
          <a:xfrm>
            <a:off x="724936" y="346990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8</a:t>
            </a:r>
            <a:endParaRPr lang="en-US" sz="600" dirty="0"/>
          </a:p>
        </p:txBody>
      </p:sp>
      <p:sp>
        <p:nvSpPr>
          <p:cNvPr id="53" name="Text 45"/>
          <p:cNvSpPr txBox="1"/>
          <p:nvPr/>
        </p:nvSpPr>
        <p:spPr>
          <a:xfrm>
            <a:off x="1044976" y="346990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index.html: halaman profil santri</a:t>
            </a:r>
            <a:endParaRPr lang="en-US" sz="782" dirty="0"/>
          </a:p>
        </p:txBody>
      </p:sp>
      <p:sp>
        <p:nvSpPr>
          <p:cNvPr id="54" name="Shape 46"/>
          <p:cNvSpPr/>
          <p:nvPr/>
        </p:nvSpPr>
        <p:spPr>
          <a:xfrm>
            <a:off x="980968" y="2829821"/>
            <a:ext cx="4402287" cy="347472"/>
          </a:xfrm>
          <a:prstGeom prst="roundRect">
            <a:avLst>
              <a:gd name="adj" fmla="val 13158"/>
            </a:avLst>
          </a:prstGeom>
          <a:solidFill>
            <a:srgbClr val="FFFFFF">
              <a:alpha val="0"/>
            </a:srgbClr>
          </a:solidFill>
          <a:ln w="31750">
            <a:solidFill>
              <a:srgbClr val="E53935"/>
            </a:solidFill>
            <a:prstDash val="solid"/>
          </a:ln>
        </p:spPr>
      </p:sp>
      <p:sp>
        <p:nvSpPr>
          <p:cNvPr id="55" name="Shape 47"/>
          <p:cNvSpPr/>
          <p:nvPr/>
        </p:nvSpPr>
        <p:spPr>
          <a:xfrm>
            <a:off x="5246096" y="2692661"/>
            <a:ext cx="274320" cy="274320"/>
          </a:xfrm>
          <a:prstGeom prst="ellipse">
            <a:avLst/>
          </a:prstGeom>
          <a:solidFill>
            <a:srgbClr val="E53935"/>
          </a:solidFill>
          <a:ln w="12700">
            <a:solidFill>
              <a:srgbClr val="FFFFFF"/>
            </a:solidFill>
            <a:prstDash val="solid"/>
          </a:ln>
        </p:spPr>
      </p:sp>
      <p:sp>
        <p:nvSpPr>
          <p:cNvPr id="56" name="Text 48"/>
          <p:cNvSpPr txBox="1"/>
          <p:nvPr/>
        </p:nvSpPr>
        <p:spPr>
          <a:xfrm>
            <a:off x="5246096" y="2692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7" name="Image 6" descr="preencoded.png">    </p:cNvPr>
          <p:cNvPicPr>
            <a:picLocks noChangeAspect="1"/>
          </p:cNvPicPr>
          <p:nvPr/>
        </p:nvPicPr>
        <p:blipFill>
          <a:blip r:embed="rId7"/>
          <a:stretch>
            <a:fillRect/>
          </a:stretch>
        </p:blipFill>
        <p:spPr>
          <a:xfrm>
            <a:off x="3400398" y="3019102"/>
            <a:ext cx="237744" cy="237744"/>
          </a:xfrm>
          <a:prstGeom prst="rect">
            <a:avLst/>
          </a:prstGeom>
        </p:spPr>
      </p:pic>
      <p:sp>
        <p:nvSpPr>
          <p:cNvPr id="58"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9"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alamat website ke README</a:t>
            </a:r>
            <a:endParaRPr lang="en-US" sz="1800" dirty="0"/>
          </a:p>
        </p:txBody>
      </p:sp>
      <p:sp>
        <p:nvSpPr>
          <p:cNvPr id="60"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Edit README.md. Tambahkan bagian ## Website online dengan alamat https://... Commit.</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4548591" cy="182880"/>
          </a:xfrm>
          <a:prstGeom prst="rect">
            <a:avLst/>
          </a:prstGeom>
          <a:noFill/>
          <a:ln/>
        </p:spPr>
        <p:txBody>
          <a:bodyPr wrap="square" lIns="0" tIns="0" rIns="0" bIns="0" rtlCol="0" anchor="t"/>
          <a:lstStyle/>
          <a:p>
            <a:pPr algn="ctr" indent="0" marL="0">
              <a:buNone/>
            </a:pPr>
            <a:r>
              <a:rPr lang="en-US" sz="800" dirty="0">
                <a:solidFill>
                  <a:srgbClr val="1E2A26"/>
                </a:solidFill>
                <a:latin typeface="Arial" pitchFamily="34" charset="0"/>
                <a:ea typeface="Arial" pitchFamily="34" charset="-122"/>
                <a:cs typeface="Arial" pitchFamily="34" charset="-120"/>
              </a:rPr>
              <a:t>Nama saya </a:t>
            </a:r>
            <a:pPr algn="ctr" indent="0" marL="0">
              <a:buNone/>
            </a:pPr>
            <a:r>
              <a:rPr lang="en-US" sz="800" b="1" dirty="0">
                <a:solidFill>
                  <a:srgbClr val="1E2A26"/>
                </a:solidFill>
                <a:latin typeface="Arial" pitchFamily="34" charset="0"/>
                <a:ea typeface="Arial" pitchFamily="34" charset="-122"/>
                <a:cs typeface="Arial" pitchFamily="34" charset="-120"/>
              </a:rPr>
              <a:t>Ahmad</a:t>
            </a:r>
            <a:pPr algn="ct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914400"/>
          </a:xfrm>
          <a:prstGeom prst="roundRect">
            <a:avLst>
              <a:gd name="adj" fmla="val 8000"/>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1474305"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3210671" y="2701805"/>
            <a:ext cx="640080" cy="457200"/>
          </a:xfrm>
          <a:prstGeom prst="rect">
            <a:avLst/>
          </a:prstGeom>
          <a:solidFill>
            <a:srgbClr val="A7CBEE"/>
          </a:solidFill>
          <a:ln w="12700">
            <a:solidFill>
              <a:srgbClr val="A7CBEE"/>
            </a:solidFill>
            <a:prstDash val="solid"/>
          </a:ln>
        </p:spPr>
      </p:sp>
      <p:sp>
        <p:nvSpPr>
          <p:cNvPr id="36" name="Shape 29"/>
          <p:cNvSpPr/>
          <p:nvPr/>
        </p:nvSpPr>
        <p:spPr>
          <a:xfrm>
            <a:off x="3269643" y="2884685"/>
            <a:ext cx="365760" cy="274320"/>
          </a:xfrm>
          <a:prstGeom prst="triangle">
            <a:avLst/>
          </a:prstGeom>
          <a:solidFill>
            <a:srgbClr val="34A853"/>
          </a:solidFill>
          <a:ln/>
        </p:spPr>
      </p:sp>
      <p:sp>
        <p:nvSpPr>
          <p:cNvPr id="37" name="Shape 30"/>
          <p:cNvSpPr/>
          <p:nvPr/>
        </p:nvSpPr>
        <p:spPr>
          <a:xfrm>
            <a:off x="1301008" y="1421645"/>
            <a:ext cx="4073103" cy="237744"/>
          </a:xfrm>
          <a:prstGeom prst="roundRect">
            <a:avLst>
              <a:gd name="adj" fmla="val 19231"/>
            </a:avLst>
          </a:prstGeom>
          <a:solidFill>
            <a:srgbClr val="FFFFFF">
              <a:alpha val="0"/>
            </a:srgbClr>
          </a:solidFill>
          <a:ln w="31750">
            <a:solidFill>
              <a:srgbClr val="E53935"/>
            </a:solidFill>
            <a:prstDash val="solid"/>
          </a:ln>
        </p:spPr>
      </p:sp>
      <p:sp>
        <p:nvSpPr>
          <p:cNvPr id="38" name="Shape 31"/>
          <p:cNvSpPr/>
          <p:nvPr/>
        </p:nvSpPr>
        <p:spPr>
          <a:xfrm>
            <a:off x="5236952" y="1284485"/>
            <a:ext cx="274320" cy="274320"/>
          </a:xfrm>
          <a:prstGeom prst="ellipse">
            <a:avLst/>
          </a:prstGeom>
          <a:solidFill>
            <a:srgbClr val="E53935"/>
          </a:solidFill>
          <a:ln w="12700">
            <a:solidFill>
              <a:srgbClr val="FFFFFF"/>
            </a:solidFill>
            <a:prstDash val="solid"/>
          </a:ln>
        </p:spPr>
      </p:sp>
      <p:sp>
        <p:nvSpPr>
          <p:cNvPr id="39" name="Text 32"/>
          <p:cNvSpPr txBox="1"/>
          <p:nvPr/>
        </p:nvSpPr>
        <p:spPr>
          <a:xfrm>
            <a:off x="5236952" y="1284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0" name="Image 5" descr="preencoded.png">    </p:cNvPr>
          <p:cNvPicPr>
            <a:picLocks noChangeAspect="1"/>
          </p:cNvPicPr>
          <p:nvPr/>
        </p:nvPicPr>
        <p:blipFill>
          <a:blip r:embed="rId6"/>
          <a:stretch>
            <a:fillRect/>
          </a:stretch>
        </p:blipFill>
        <p:spPr>
          <a:xfrm>
            <a:off x="3539386" y="1550576"/>
            <a:ext cx="237744" cy="237744"/>
          </a:xfrm>
          <a:prstGeom prst="rect">
            <a:avLst/>
          </a:prstGeom>
        </p:spPr>
      </p:pic>
      <p:sp>
        <p:nvSpPr>
          <p:cNvPr id="41" name="Shape 33"/>
          <p:cNvSpPr/>
          <p:nvPr/>
        </p:nvSpPr>
        <p:spPr>
          <a:xfrm>
            <a:off x="679216" y="1723397"/>
            <a:ext cx="4768047" cy="2226267"/>
          </a:xfrm>
          <a:prstGeom prst="roundRect">
            <a:avLst>
              <a:gd name="adj" fmla="val 2054"/>
            </a:avLst>
          </a:prstGeom>
          <a:solidFill>
            <a:srgbClr val="FFFFFF">
              <a:alpha val="0"/>
            </a:srgbClr>
          </a:solidFill>
          <a:ln w="31750">
            <a:solidFill>
              <a:srgbClr val="E53935"/>
            </a:solidFill>
            <a:prstDash val="solid"/>
          </a:ln>
        </p:spPr>
      </p:sp>
      <p:sp>
        <p:nvSpPr>
          <p:cNvPr id="42" name="Shape 34"/>
          <p:cNvSpPr/>
          <p:nvPr/>
        </p:nvSpPr>
        <p:spPr>
          <a:xfrm>
            <a:off x="5310104" y="1586237"/>
            <a:ext cx="274320" cy="274320"/>
          </a:xfrm>
          <a:prstGeom prst="ellipse">
            <a:avLst/>
          </a:prstGeom>
          <a:solidFill>
            <a:srgbClr val="E53935"/>
          </a:solidFill>
          <a:ln w="12700">
            <a:solidFill>
              <a:srgbClr val="FFFFFF"/>
            </a:solidFill>
            <a:prstDash val="solid"/>
          </a:ln>
        </p:spPr>
      </p:sp>
      <p:sp>
        <p:nvSpPr>
          <p:cNvPr id="43" name="Text 35"/>
          <p:cNvSpPr txBox="1"/>
          <p:nvPr/>
        </p:nvSpPr>
        <p:spPr>
          <a:xfrm>
            <a:off x="5310104"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4"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5"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Presentasikan website online (3 menit)</a:t>
            </a:r>
            <a:endParaRPr lang="en-US" sz="1800" dirty="0"/>
          </a:p>
        </p:txBody>
      </p:sp>
      <p:sp>
        <p:nvSpPr>
          <p:cNvPr id="46"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website di proyektor. Ceritakan perjalanan: HTML, CSS, GitHub, Pages. Tunjukkan riwayat commit dan satu error yang berhasil diperbaiki.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Website Online Gratis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Website online di GitHub Pages dan semua halaman terbuka tanpa error.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Rapi di komputer dan HP; semua gambar tampil.</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Lolos daftar uji silang; temuan sudah diperbaiki dan di-commit.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README mencantumkan alamat website; tanpa data pribadi.</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10: Hosting Gratis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halaman terbuka tanpa error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Rapi di komputer dan HP</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README berisi alamat website</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Dipresentasikan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tantangan terbesar membuat website sendiri?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ingin kamu tambahkan ke website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Bersyukurlah atas kemampuan baru. Gunakan untuk kebaikan dan kemaslahatan.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11: QR Code dan Papan Informasi Digital.</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10 - Hosting Gratis</dc:title>
  <dc:subject>PptxGenJS Presentation</dc:subject>
  <dc:creator>PptxGenJS</dc:creator>
  <cp:lastModifiedBy>PptxGenJS</cp:lastModifiedBy>
  <cp:revision>1</cp:revision>
  <dcterms:created xsi:type="dcterms:W3CDTF">2026-10-02T01:35:07Z</dcterms:created>
  <dcterms:modified xsi:type="dcterms:W3CDTF">2026-10-02T01:35:07Z</dcterms:modified>
</cp:coreProperties>
</file>