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10: AI untuk Belajar — Proyek: AI Study Assistant
Terdiri dari 3 pertemuan (Pertemuan 28–30),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Seperti Modul 9, AI DIOPERASIKAN OLEH GURU di layar proyektor dengan akun pesantren, karena layanan AI memiliki batas usia minimal pengguna. Santri menyusun prompt di Google Docs atau kertas.
- Siapkan satu bab materi dari mapel lain (misalnya IPA, Bahasa Arab, atau Sejarah Islam) yang dirasa sulit oleh santri. Siapkan juga bukunya untuk verifikasi.
- Pertemuan 30: buat satu dokumen Google Docs bersama berjudul "AI Study Assistant Kelas 1", bagikan ke akun kelas sebagai Editor.
- Coba prompt contoh di slide sebelum kelas.
CATATAN
Jawaban AI berbeda setiap kali ditanya. Gunakan jawaban yang muncul di layar sebagai bahan diskusi.
Tegaskan selalu: santri merangkum dan menjawab SENDIRI terlebih dahulu, baru membandingkan dengan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ke-28, dengan judul "AI untuk Memahami Materi". Kita akan belajar menggunakan AI sebagai teman belajar untuk memahami pelajaran yang sulit.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menyusun Panduan Bijak Menggunakan AI. Siapa yang ingat empat rambunya?
(Tunggu jawaban: jujur, paham, aman, periksa.)
Sekarang pertanyaan hari ini. Coba pikirkan sejenak:
"Pernahkah kalian membaca satu bab pelajaran tetapi belum paham juga?"
(Beri waktu 1 menit. Minta 2–3 santri menjawab. Hargai semua jawaban.)
Itu wajar, setiap orang pernah mengalaminya. Biasanya kita bertanya kepada guru atau teman. AI juga bisa membantu menjelaskan ulang dengan cara yang berbeda. Syaratnya: kita tetap membaca, berpikir, dan merangkum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cara cerdas menggunakan AI untuk memahami pelajaran.
Pertama, JELASKAN SEDERHANA. Minta AI menjelaskan materi dengan bahasa sehari-hari, seolah-olah menjelaskan kepada anak SMP.
Kedua, MINTA PERUMPAMAAN. Perumpamaan membuat konsep yang sulit menjadi mudah. Kita bisa meminta: berikan perumpamaan dari kehidupan pesantren. Para ulama dan Al-Qur'an pun banyak menggunakan perumpamaan untuk menjelaskan.
Ketiga, RANGKUM SENDIRI DULU. Ini yang paling penting. Buat rangkuman dengan kata-kata sendiri lebih dahulu, baru setelah itu bandingkan dengan rangkuman AI. Jika kita langsung melihat rangkuman AI, otak kita tidak berlatih.
Keempat, MINTA DITANYA BALIK. Minta AI mengajukan pertanyaan kepada kita untuk menguji apakah kita sudah paham.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perbedaan dua cara ini.
Cara yang BENAR, AI sebagai teman belajar:
Baca materi dan rangkum sendiri dahulu.
Tanyakan kepada AI hanya bagian yang belum dipahami.
Setelah itu, jelaskan ulang dengan kata-kata sendiri. Jika kita bisa menjelaskan kepada teman, berarti kita sudah paham.
Cara yang SALAH, AI sebagai joki, yaitu orang yang mengerjakan tugas orang lain:
Langsung meminta AI merangkum tanpa membaca.
Menyalin jawaban AI ke buku tugas.
Tidak membaca materi sama sekali.
Cara yang salah mungkin terasa cepat, tetapi kita tidak mendapatkan ilmu apa pun. Ilmu itu masuk ke kepala orang yang berusaha.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(Bagikan satu bab materi dari mapel lain yang dirasa sulit, atau minta santri memilih sendiri dari buku pelajarannya.)
Sekarang kita praktikkan cara belajar yang benar dengan AI. Ingat: rangkum sendiri lebih dahulu.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Pilih satu bagian materi, kira-kira satu sampai dua halaman, dari buku pelajaran yang belum kalian pahami. Misalnya bab fotosintesis di IPA, bab isim dan fi'il di Bahasa Arab, atau bab hijrah di Sejarah Islam.
Baca dengan teliti. Tandai kalimat yang belum dipahami dengan pensil.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Google Docs, buat dokumen bernama Belajar AI, garis bawah, nama kalian.
Tulis rangkuman materi dengan kata-kata sendiri dalam tiga sampai lima kalimat, tanda a. Jangan melihat buku saat menulis. Tutup bukunya, lalu tulis apa yang kalian ingat dan pahami.
Di bawahnya, tulis bagian yang belum dipahami, tanda b. Misalnya: belum paham, apa itu klorofil?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Tulis prompt untuk bertanya kepada AI tentang bagian yang belum kalian pahami.
Gunakan resep prompt: konteks, tugas, dan format. Contoh: Saya santri kelas 1 SMP. Jelaskan apa itu klorofil dengan bahasa sederhana dan satu perumpamaan dari kehidupan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Saya akan mengetikkan beberapa prompt kalian ke AI di layar.
(Pilih 3–4 prompt dari santri yang berbeda, ketikkan, lalu bacakan jawabannya.)
Perhatikan perumpamaannya. Apakah membuat kalian lebih mudah memahami? Perumpamaan yang baik membuat konsep yang abstrak menjadi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Bandingkan rangkuman kalian dengan penjelasan AI dan buku. Buat tabel tiga kolom: sudah benar, perlu ditambah, dan perlu dicek.
Kolom sudah benar: bagian rangkuman kalian yang sesuai.
Kolom perlu ditambah: hal penting yang belum ada di rangkuman kalian.
Kolom perlu dicek: bagian penjelasan AI yang harus dicocokkan dengan buku.
Lalu perbaiki rangkuman kalian dengan kata-kata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Ini ujian yang sesungguhnya. Tutup catatan dan layar. Jelaskan materi tadi kepada teman sebangku selama satu menit, dengan kata-kata sendiri.
Teman memberi penilaian: paham, cukup, atau belum. Lalu bergantian.
Jika kalian bisa menjelaskan kepada orang lain, insya Allah kalian benar-benar paham. Inilah tujuan sebenarnya belajar dengan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Belajar AI milik kalian harus berisi empat hal.
Satu, rangkuman sendiri dan bagian yang belum dipahami.
Dua, prompt penjelasan.
Tiga, tabel perbandingan.
Empat, rangkuman yang sudah diperbaiki.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rangkuman sendiri dibuat lebih dahulu?
- prompt jelas dan lengkap?
- perbandingan sudah dicatat?
- mampu menjelaskan materi dengan kata sendiri?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apakah penjelasan AI membantumu memahami materi?
Pertanyaan kedua: mengapa kita harus merangkum sendiri lebih dahulu?
(Minta 2–3 santri menjawab secara bergantian.)
Pesan adab kita hari ini: ilmu diraih dengan kesungguhan. Imam Syafi'i rahimahullah mengatakan bahwa ilmu tidak akan diraih kecuali dengan kecerdasan, semangat, kesungguhan, bekal, bimbingan guru, dan waktu yang panjang. AI hanyalah alat bantu; kesungguhan tetap harus datang dari diri kita.
Pekan depan: kita menggunakan AI untuk membuat soal latihan dan bertukar ide.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ke-29, dengan judul "Latihan Soal &amp; Brainstorming". Kita akan memakai AI untuk membuat soal latihan dan menggali ide-ide baru.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memahami materi dengan AI. Siapa yang ingat, apa yang harus dilakukan sebelum melihat rangkuman AI?
(Tunggu jawaban: merangkum sendiri lebih dahulu.)
Sekarang pertanyaan hari ini. Coba pikirkan sejenak:
"Bagaimana cara kalian bersiap menghadapi ujian?"
(Beri waktu 1 menit. Minta 2–3 santri menjawab. Hargai semua jawaban.)
Salah satu cara terbaik adalah berlatih mengerjakan soal. Semakin banyak berlatih, semakin siap kita. AI bisa membantu membuatkan soal latihan kapan saja. Hari ini kita juga belajar memakai AI untuk menggali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cara berlatih soal dengan AI dalam tiga langkah.
Pertama, MINTA SOAL. Minta AI membuat soal tentang materi tertentu. Penting: minta kunci jawaban diletakkan di bagian paling akhir, agar tidak langsung terlihat.
Kedua, KERJAKAN SENDIRI. Tutup atau jangan gulir ke kunci jawaban. Kerjakan soal di kertas dengan jujur.
Ketiga, PERIKSA DAN PAHAMI. Cocokkan jawaban kalian dengan kunci. Untuk soal yang salah, minta AI menjelaskan mengapa jawaban yang benar adalah itu.
Satu hal penting: kunci jawaban AI pun bisa salah. Jika ragu, cocokkan dengan buku atau tanyakan kepada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membuat soal, AI juga bisa membantu brainstorming. Brainstorming artinya badai otak, yaitu kegiatan mengumpulkan sebanyak mungkin ide, lalu memilih dan mengembangkan yang terbaik.
Misalnya kelas kita ingin mengadakan kegiatan di hari Ahad. Kita bisa meminta AI memberi sepuluh ide kegiatan. Daftar itu menjadi bahan diskusi.
Tetapi ingat: AI hanya memberi bahan. Yang memilih, menggabungkan, dan mengembangkan ide adalah kita. Sering kali, ide terbaik justru muncul dari pikiran kita sendiri setelah melihat ide-ide dari AI. Dan kita yang paling memahami keadaan pesantren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Siapkan selembar kertas untuk menjawab soal. Saya akan meminta AI membuat soal di layar, lalu kalian mengerjakannya dengan jujur.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Saya mengetik prompt untuk membuat soal tentang materi pekan lalu:
"Buatkan 5 soal pilihan ganda tingkat SMP tentang fotosintesis. Letakkan kunci jawaban dan penjelasannya di bagian paling akhir."
(Ganti fotosintesis dengan materi yang dipelajari santri pekan lalu.)
Perhatikan, saya meminta kunci jawaban diletakkan di bagian paling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Soal-soal muncul di layar. Saya hanya akan menampilkan bagian soal, tanpa menggulir ke kunci jawaban.
Kerjakan di kertas kalian dengan jujur. Tulis nomor dan huruf jawabannya. Jangan bertanya kepada teman dan jangan mengintip.
(Beri waktu 5–7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saya gulir ke bagian kunci jawaban.
Cocokkan jawaban kalian sendiri. Beri tanda benar atau salah, lalu hitung berapa yang benar.
Ingat, nilai latihan ini bukan untuk rapor. Yang penting kita tahu bagian mana yang belum dipahami.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Siapa yang salah di nomor 1? Nomor 2?
(Tanyakan satu per satu. Pilih soal yang paling banyak salah.)
Untuk soal itu, saya minta AI menjelaskan mengapa jawabannya demikian.
(Ketik prompt penjelasan, bacakan jawabannya, lalu minta seorang santri mencocokkan dengan buku.)
Apakah penjelasan AI sesuai dengan buku? Jika berbeda, kita ikuti buku dan tanyakan kepada guru mapel.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brainstorming.
Langkah kelima. Saya meminta AI memberi sepuluh ide kegiatan kelas yang bermanfaat untuk hari Ahad di pesantren.
(Bacakan daftar ide yang muncul.)
Daftar ini adalah bahan. Sekarang giliran kalian berpikir.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Dalam kelompok, diskusikan ide-ide tadi. Pilih satu ide terbaik, atau gabungkan beberapa ide menjadi satu yang lebih menarik. Kalian juga boleh mengusulkan ide sendiri yang lebih baik.
Kembangkan ide tersebut di Google Docs: kapan dilaksanakan, siapa petugasnya, apa yang dibutuhkan, dan mengapa ide ini bermanfaat.
Lalu presentasikan dalam satu menit. Siapa tahu, ide terbaik benar-benar bisa dilaksanakan di kelas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empat hal.
Satu, lembar jawaban lima soal dengan jumlah jawaban benar.
Dua, catatan soal yang salah beserta penjelasan yang sudah dicek ke buku.
Tiga, rencana ide kegiatan kelompok.
Empat, satu prompt soal latihan buatan kalian sendiri untuk mapel lain.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soal dikerjakan tanpa melihat kunci?
- soal yang salah sudah dipahami?
- kunci AI dicocokkan dengan buku?
- ide dipilih dan dikembangkan sendiri?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apakah kunci jawaban AI selalu benar?
Pertanyaan kedua: ide mana yang kamu pilih dan mengapa?
(Minta 2–3 santri menjawab secara bergantian.)
Pesan adab kita hari ini: jujurlah kepada diri sendiri. Latihan soal hanya bermanfaat jika dikerjakan dengan sungguh-sungguh tanpa mengintip. Orang yang curang dalam latihan sebenarnya menipu dirinya sendiri.
Pekan depan: proyek AI Study Assistant, yaitu kumpulan prompt belajar untuk seluruh kelas.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ke-30, dengan judul "AI Study Assistant". Hari ini kita menyelesaikan proyek Modul 10: menyusun kumpulan prompt belajar yang bisa dipakai seluruh kelas.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berlatih soal dan brainstorming dengan AI. Siapa yang ingat, mengapa kunci jawaban diminta di bagian paling akhir?
(Tunggu jawaban: agar kita mengerjakan sendiri tanpa mengintip.)
Sekarang pertanyaan hari ini. Coba pikirkan sejenak:
"Jika ada teman yang kesulitan belajar, bagaimana kalian bisa membantunya?"
(Beri waktu 1 menit. Minta 2–3 santri menjawab. Hargai semua jawaban.)
Kita bisa membantu dengan menjelaskan, atau dengan membuatkan panduan belajar yang bisa dipakai kapan saja. Hari ini kita membuat panduan itu: AI Study Assistant, kumpulan prompt belajar yang sudah teruji, untuk seluruh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Study Assistant adalah dokumen berisi prompt-prompt belajar yang sudah teruji. Isinya ada empat.
Pertama, dibagi PER MATA PELAJARAN. Setiap kelompok bertanggung jawab atas satu mapel, misalnya IPA, Matematika, Bahasa Arab, Bahasa Inggris, atau Sejarah Islam.
Kedua, setiap mapel memiliki EMPAT JENIS PROMPT: prompt untuk menjelaskan materi, merangkum, membuat soal latihan, dan menguji pemahaman.
Ketiga, SUDAH DIUJI. Setiap prompt sudah dicoba, diperbaiki jika hasilnya kurang baik, dan diberi contoh potongan hasilnya.
Keempat, CATATAN BIJAK, berisi pengingat cara belajar yang benar dengan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prompt bisa dipakai berulang kali oleh siapa saja, kita membuat prompt dengan bagian yang bisa diganti. Bagian itu ditandai dengan kurung siku.
Perhatikan contoh di layar: Kamu adalah guru, kurung siku nama mapel, yang sabar. Saya santri kelas 1 SMP. Jelaskan, kurung siku nama materi, dengan bahasa sederhana, dalam, kurung siku jumlah, poin, dengan satu perumpamaan dari kehidupan pesantren.
Bagian dalam kurung siku diganti sesuai kebutuhan. Misalnya nama mapel diganti Bahasa Arab, nama materi diganti isim dan fi'il, dan jumlah diganti tiga.
Dengan cara ini, satu prompt bisa dipakai untuk ratusan materi yang berbeda. Inilah yang disebut prompt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Setiap kelompok mendapat satu mata pelajaran.)
Sekarang kita menyusun AI Study Assistant bersama dalam satu dokumen.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Google Drive, klik Shared with me, lalu buka dokumen AI Study Assistant Kelas 1 yang dibagikan guru.
Tekan Ctrl dan End untuk ke akhir dokumen, lalu Ctrl dan Enter untuk membuat halaman baru. Ketik nama mapel kelompok kalian dengan gaya Heading 1, dan di bawahnya nama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Tulis empat prompt template untuk mapel kalian, masing-masing dengan judul tebal:
Satu, Menjelaskan: prompt untuk meminta penjelasan materi.
Dua, Merangkum: prompt untuk merangkum teks.
Tiga, Membuat Soal: prompt untuk membuat soal latihan dengan kunci di akhir.
Empat, Menguji Pemahaman: prompt yang meminta AI mengajukan pertanyaan kepada kita.
Gunakan kurung siku untuk bagian yang bisa diganti.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Setiap kelompok mengisi kurung siku dengan materi nyata dari buku, lalu saya cobakan ke AI di layar.
(Coba satu atau dua prompt dari setiap kelompok, bergantian.)
Perhatikan apakah AI melakukan apa yang diminta. Pada contoh di layar, prompt menguji pemahaman membuat AI bertanya kepada kita satu per satu. Ini sangat bagus untuk berlatih.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Jika hasil dari AI kurang sesuai, perbaiki prompt kalian. Misalnya tambahkan konteks yang lebih jelas, atau format yang lebih spesifik.
Di bawah setiap prompt, tambahkan contoh potongan hasilnya, dua sampai tiga baris saja, ditulis miring. Lalu tulis status: sudah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Rapikan bagian kelompok kalian agar seragam dengan kelompok lain: nama mapel dengan Heading 1, judul prompt tebal, prompt dalam paragraf biasa, dan contoh hasil miring.
Pemeriksa ejaan di kelompok membaca ulang seluruh bagian.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langkah terakhir. Bersama-sama, kita tulis Catatan Bijak di akhir dokumen.
(Guru mengetik di layar sambil meminta usulan santri.)
Satu, rangkum sendiri sebelum bertanya kepada AI.
Dua, kerjakan soal tanpa mengintip kunci.
Tiga, periksa jawaban AI dengan buku.
Empat, jangan memasukkan data pribadi.
Lima, untuk urusan agama, bertanyalah kepada ustadz.
Lalu kita sisipkan daftar isi otomatis di awal dokumen, seperti di Modul 3: Insert, Table of contents.
Alhamdulillah, AI Study Assistant Kelas 1 sudah jadi. Dokumen ini bisa dipakai oleh seluruh santri, bahkan adik kelas kalian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kelompok dinyatakan selesai jika empat syarat ini terpenuhi.
Satu, ada empat prompt template.
Dua, setiap prompt memakai kurung siku untuk bagian yang diganti.
Tiga, setiap prompt sudah diuji, dengan contoh hasil dan status.
Empat, format rapi, seragam, dan tanpa salah ketik.
(Tampilkan dokumen di layar. Minta setiap kelompok menjelaskan satu prompt terbaiknya.)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setiap mapel punya 4 prompt?
- semua prompt sudah diuji?
- ada catatan bijak?
- dokumen rapi dan mudah dibaca?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prompt mana yang paling bermanfaat?
Pertanyaan kedua: bagaimana panduan ini bisa membantu teman-teman?
(Minta 2–3 santri menjawab secara bergantian.)
Pesan adab kita hari ini: ilmu yang dibagikan akan menjadi amal jariyah. Rasulullah bersabda, maknanya: apabila manusia meninggal, terputuslah amalnya kecuali tiga perkara, salah satunya ilmu yang bermanfaat. Semoga panduan yang kalian susun ini terus bermanfaat bagi adik-adik kelas.
Pekan depan: kita masuk Modul 11, Digital Storytelling. Alhamdulillah, Modul 10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slideLayout" Target="../slideLayouts/slideLayout1.xml"/><Relationship Id="rId11"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slideLayout" Target="../slideLayouts/slideLayout1.xml"/><Relationship Id="rId1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slideLayout" Target="../slideLayouts/slideLayout1.xml"/><Relationship Id="rId11"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slideLayout" Target="../slideLayouts/slideLayout1.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10</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untuk Belajar</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AI Study Assistant</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memanfaatkan AI sebagai teman belajar: memahami materi, membandingkan rangkuman, membuat soal latihan, dan bertukar ide, lalu menyusun kumpulan prompt belajar yang sudah teruji.</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28</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 untuk Memahami Materi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29</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Latihan Soal &amp; Brainstorming</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30</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 Study Assistant</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Layanan AI gratis (dioperasikan guru di proyektor), Google Docs, buku pelajaran mapel lain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AI untuk Memahami Materi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Menjelaskan, merangkum, dan membuat perumpamaan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AI untuk Belajar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membaca satu bab pelajaran tetapi belum paham juga?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menjelaskan materi dengan bahasa sederhana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membuat perumpamaan yang dekat dengan kehidupan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Membandingkan rangkuman sendiri dengan rangkuman AI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Cara Belajar dengan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Jelaskan Sederhana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Minta AI menjelaskan seperti kepada anak SMP, dengan bahasa sehari-hari.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Minta Perumpamaan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"Berikan perumpamaan dari kehidupan pesantren."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Rangkum Sendiri Dulu</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Buat rangkumanmu dahulu, baru bandingkan dengan rangkuman AI.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Minta Ditanya Balik</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Minta AI mengajukan pertanyaan untuk menguji pemahamanmu.</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Cara Belajar dengan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Benar: AI sebagai Teman Belajar</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Baca materi dan rangkum sendiri dulu</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Tanya AI bagian yang belum paham</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Jelaskan ulang dengan kata sendiri</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Salah: AI sebagai Joki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Langsung minta AI merangkum</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Menyalin jawaban AI ke buku tugas</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Tidak membaca materi sama sekali</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Belajar Memahami Materi dengan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Santri merangkum · guru mengoperasikan AI</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Membaca dan merangkum sendiri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Bertanya kepada AI dan membandingkan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Menjelaskan ulang</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Merangkum Sendiri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868680" y="1051560"/>
            <a:ext cx="4389120" cy="3611880"/>
          </a:xfrm>
          <a:prstGeom prst="rect">
            <a:avLst/>
          </a:prstGeom>
          <a:solidFill>
            <a:srgbClr val="FFFFFF"/>
          </a:solidFill>
          <a:ln w="12700">
            <a:solidFill>
              <a:srgbClr val="BBBBBB"/>
            </a:solidFill>
            <a:prstDash val="solid"/>
          </a:ln>
        </p:spPr>
      </p:sp>
      <p:sp>
        <p:nvSpPr>
          <p:cNvPr id="10" name="Shape 6"/>
          <p:cNvSpPr/>
          <p:nvPr/>
        </p:nvSpPr>
        <p:spPr>
          <a:xfrm>
            <a:off x="3044952" y="1051560"/>
            <a:ext cx="36576" cy="3611880"/>
          </a:xfrm>
          <a:prstGeom prst="rect">
            <a:avLst/>
          </a:prstGeom>
          <a:solidFill>
            <a:srgbClr val="DDDDDD"/>
          </a:solidFill>
          <a:ln w="12700">
            <a:solidFill>
              <a:srgbClr val="DDDDDD"/>
            </a:solidFill>
            <a:prstDash val="solid"/>
          </a:ln>
        </p:spPr>
      </p:sp>
      <p:sp>
        <p:nvSpPr>
          <p:cNvPr id="11" name="Text 7"/>
          <p:cNvSpPr txBox="1"/>
          <p:nvPr/>
        </p:nvSpPr>
        <p:spPr>
          <a:xfrm>
            <a:off x="1051560" y="1188720"/>
            <a:ext cx="2103120" cy="27432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Bab 3 · Fotosintesis</a:t>
            </a:r>
            <a:endParaRPr lang="en-US" sz="1200" dirty="0"/>
          </a:p>
        </p:txBody>
      </p:sp>
      <p:sp>
        <p:nvSpPr>
          <p:cNvPr id="12" name="Shape 8"/>
          <p:cNvSpPr/>
          <p:nvPr/>
        </p:nvSpPr>
        <p:spPr>
          <a:xfrm>
            <a:off x="1051560" y="1600200"/>
            <a:ext cx="1920240" cy="54864"/>
          </a:xfrm>
          <a:prstGeom prst="rect">
            <a:avLst/>
          </a:prstGeom>
          <a:solidFill>
            <a:srgbClr val="BBBBBB"/>
          </a:solidFill>
          <a:ln w="12700">
            <a:solidFill>
              <a:srgbClr val="BBBBBB"/>
            </a:solidFill>
            <a:prstDash val="solid"/>
          </a:ln>
        </p:spPr>
      </p:sp>
      <p:sp>
        <p:nvSpPr>
          <p:cNvPr id="13" name="Shape 9"/>
          <p:cNvSpPr/>
          <p:nvPr/>
        </p:nvSpPr>
        <p:spPr>
          <a:xfrm>
            <a:off x="1051560" y="1856232"/>
            <a:ext cx="1645920" cy="54864"/>
          </a:xfrm>
          <a:prstGeom prst="rect">
            <a:avLst/>
          </a:prstGeom>
          <a:solidFill>
            <a:srgbClr val="BBBBBB"/>
          </a:solidFill>
          <a:ln w="12700">
            <a:solidFill>
              <a:srgbClr val="BBBBBB"/>
            </a:solidFill>
            <a:prstDash val="solid"/>
          </a:ln>
        </p:spPr>
      </p:sp>
      <p:sp>
        <p:nvSpPr>
          <p:cNvPr id="14" name="Shape 10"/>
          <p:cNvSpPr/>
          <p:nvPr/>
        </p:nvSpPr>
        <p:spPr>
          <a:xfrm>
            <a:off x="1051560" y="2112264"/>
            <a:ext cx="1371600" cy="54864"/>
          </a:xfrm>
          <a:prstGeom prst="rect">
            <a:avLst/>
          </a:prstGeom>
          <a:solidFill>
            <a:srgbClr val="BBBBBB"/>
          </a:solidFill>
          <a:ln w="12700">
            <a:solidFill>
              <a:srgbClr val="BBBBBB"/>
            </a:solidFill>
            <a:prstDash val="solid"/>
          </a:ln>
        </p:spPr>
      </p:sp>
      <p:sp>
        <p:nvSpPr>
          <p:cNvPr id="15" name="Shape 11"/>
          <p:cNvSpPr/>
          <p:nvPr/>
        </p:nvSpPr>
        <p:spPr>
          <a:xfrm>
            <a:off x="1051560" y="2368296"/>
            <a:ext cx="1920240" cy="54864"/>
          </a:xfrm>
          <a:prstGeom prst="rect">
            <a:avLst/>
          </a:prstGeom>
          <a:solidFill>
            <a:srgbClr val="BBBBBB"/>
          </a:solidFill>
          <a:ln w="12700">
            <a:solidFill>
              <a:srgbClr val="BBBBBB"/>
            </a:solidFill>
            <a:prstDash val="solid"/>
          </a:ln>
        </p:spPr>
      </p:sp>
      <p:sp>
        <p:nvSpPr>
          <p:cNvPr id="16" name="Shape 12"/>
          <p:cNvSpPr/>
          <p:nvPr/>
        </p:nvSpPr>
        <p:spPr>
          <a:xfrm>
            <a:off x="1051560" y="2624328"/>
            <a:ext cx="1645920" cy="54864"/>
          </a:xfrm>
          <a:prstGeom prst="rect">
            <a:avLst/>
          </a:prstGeom>
          <a:solidFill>
            <a:srgbClr val="BBBBBB"/>
          </a:solidFill>
          <a:ln w="12700">
            <a:solidFill>
              <a:srgbClr val="BBBBBB"/>
            </a:solidFill>
            <a:prstDash val="solid"/>
          </a:ln>
        </p:spPr>
      </p:sp>
      <p:sp>
        <p:nvSpPr>
          <p:cNvPr id="17" name="Shape 13"/>
          <p:cNvSpPr/>
          <p:nvPr/>
        </p:nvSpPr>
        <p:spPr>
          <a:xfrm>
            <a:off x="1051560" y="2880360"/>
            <a:ext cx="1371600" cy="54864"/>
          </a:xfrm>
          <a:prstGeom prst="rect">
            <a:avLst/>
          </a:prstGeom>
          <a:solidFill>
            <a:srgbClr val="BBBBBB"/>
          </a:solidFill>
          <a:ln w="12700">
            <a:solidFill>
              <a:srgbClr val="BBBBBB"/>
            </a:solidFill>
            <a:prstDash val="solid"/>
          </a:ln>
        </p:spPr>
      </p:sp>
      <p:sp>
        <p:nvSpPr>
          <p:cNvPr id="18" name="Shape 14"/>
          <p:cNvSpPr/>
          <p:nvPr/>
        </p:nvSpPr>
        <p:spPr>
          <a:xfrm>
            <a:off x="1051560" y="3136392"/>
            <a:ext cx="1920240" cy="54864"/>
          </a:xfrm>
          <a:prstGeom prst="rect">
            <a:avLst/>
          </a:prstGeom>
          <a:solidFill>
            <a:srgbClr val="BBBBBB"/>
          </a:solidFill>
          <a:ln w="12700">
            <a:solidFill>
              <a:srgbClr val="BBBBBB"/>
            </a:solidFill>
            <a:prstDash val="solid"/>
          </a:ln>
        </p:spPr>
      </p:sp>
      <p:sp>
        <p:nvSpPr>
          <p:cNvPr id="19" name="Shape 15"/>
          <p:cNvSpPr/>
          <p:nvPr/>
        </p:nvSpPr>
        <p:spPr>
          <a:xfrm>
            <a:off x="1051560" y="3392424"/>
            <a:ext cx="1645920" cy="54864"/>
          </a:xfrm>
          <a:prstGeom prst="rect">
            <a:avLst/>
          </a:prstGeom>
          <a:solidFill>
            <a:srgbClr val="BBBBBB"/>
          </a:solidFill>
          <a:ln w="12700">
            <a:solidFill>
              <a:srgbClr val="BBBBBB"/>
            </a:solidFill>
            <a:prstDash val="solid"/>
          </a:ln>
        </p:spPr>
      </p:sp>
      <p:sp>
        <p:nvSpPr>
          <p:cNvPr id="20" name="Shape 16"/>
          <p:cNvSpPr/>
          <p:nvPr/>
        </p:nvSpPr>
        <p:spPr>
          <a:xfrm>
            <a:off x="1051560" y="3648456"/>
            <a:ext cx="1371600" cy="54864"/>
          </a:xfrm>
          <a:prstGeom prst="rect">
            <a:avLst/>
          </a:prstGeom>
          <a:solidFill>
            <a:srgbClr val="BBBBBB"/>
          </a:solidFill>
          <a:ln w="12700">
            <a:solidFill>
              <a:srgbClr val="BBBBBB"/>
            </a:solidFill>
            <a:prstDash val="solid"/>
          </a:ln>
        </p:spPr>
      </p:sp>
      <p:sp>
        <p:nvSpPr>
          <p:cNvPr id="21" name="Shape 17"/>
          <p:cNvSpPr/>
          <p:nvPr/>
        </p:nvSpPr>
        <p:spPr>
          <a:xfrm>
            <a:off x="1051560" y="3904488"/>
            <a:ext cx="1920240" cy="54864"/>
          </a:xfrm>
          <a:prstGeom prst="rect">
            <a:avLst/>
          </a:prstGeom>
          <a:solidFill>
            <a:srgbClr val="BBBBBB"/>
          </a:solidFill>
          <a:ln w="12700">
            <a:solidFill>
              <a:srgbClr val="BBBBBB"/>
            </a:solidFill>
            <a:prstDash val="solid"/>
          </a:ln>
        </p:spPr>
      </p:sp>
      <p:sp>
        <p:nvSpPr>
          <p:cNvPr id="22" name="Shape 18"/>
          <p:cNvSpPr/>
          <p:nvPr/>
        </p:nvSpPr>
        <p:spPr>
          <a:xfrm>
            <a:off x="1051560" y="4160520"/>
            <a:ext cx="1645920" cy="54864"/>
          </a:xfrm>
          <a:prstGeom prst="rect">
            <a:avLst/>
          </a:prstGeom>
          <a:solidFill>
            <a:srgbClr val="BBBBBB"/>
          </a:solidFill>
          <a:ln w="12700">
            <a:solidFill>
              <a:srgbClr val="BBBBBB"/>
            </a:solidFill>
            <a:prstDash val="solid"/>
          </a:ln>
        </p:spPr>
      </p:sp>
      <p:sp>
        <p:nvSpPr>
          <p:cNvPr id="23" name="Shape 19"/>
          <p:cNvSpPr/>
          <p:nvPr/>
        </p:nvSpPr>
        <p:spPr>
          <a:xfrm>
            <a:off x="3246120" y="1325880"/>
            <a:ext cx="1920240" cy="54864"/>
          </a:xfrm>
          <a:prstGeom prst="rect">
            <a:avLst/>
          </a:prstGeom>
          <a:solidFill>
            <a:srgbClr val="BBBBBB"/>
          </a:solidFill>
          <a:ln w="12700">
            <a:solidFill>
              <a:srgbClr val="BBBBBB"/>
            </a:solidFill>
            <a:prstDash val="solid"/>
          </a:ln>
        </p:spPr>
      </p:sp>
      <p:sp>
        <p:nvSpPr>
          <p:cNvPr id="24" name="Shape 20"/>
          <p:cNvSpPr/>
          <p:nvPr/>
        </p:nvSpPr>
        <p:spPr>
          <a:xfrm>
            <a:off x="3246120" y="1581912"/>
            <a:ext cx="1691640" cy="54864"/>
          </a:xfrm>
          <a:prstGeom prst="rect">
            <a:avLst/>
          </a:prstGeom>
          <a:solidFill>
            <a:srgbClr val="BBBBBB"/>
          </a:solidFill>
          <a:ln w="12700">
            <a:solidFill>
              <a:srgbClr val="BBBBBB"/>
            </a:solidFill>
            <a:prstDash val="solid"/>
          </a:ln>
        </p:spPr>
      </p:sp>
      <p:sp>
        <p:nvSpPr>
          <p:cNvPr id="25" name="Shape 21"/>
          <p:cNvSpPr/>
          <p:nvPr/>
        </p:nvSpPr>
        <p:spPr>
          <a:xfrm>
            <a:off x="3246120" y="1837944"/>
            <a:ext cx="1463040" cy="54864"/>
          </a:xfrm>
          <a:prstGeom prst="rect">
            <a:avLst/>
          </a:prstGeom>
          <a:solidFill>
            <a:srgbClr val="BBBBBB"/>
          </a:solidFill>
          <a:ln w="12700">
            <a:solidFill>
              <a:srgbClr val="BBBBBB"/>
            </a:solidFill>
            <a:prstDash val="solid"/>
          </a:ln>
        </p:spPr>
      </p:sp>
      <p:sp>
        <p:nvSpPr>
          <p:cNvPr id="26" name="Shape 22"/>
          <p:cNvSpPr/>
          <p:nvPr/>
        </p:nvSpPr>
        <p:spPr>
          <a:xfrm>
            <a:off x="3246120" y="2093976"/>
            <a:ext cx="1234440" cy="54864"/>
          </a:xfrm>
          <a:prstGeom prst="rect">
            <a:avLst/>
          </a:prstGeom>
          <a:solidFill>
            <a:srgbClr val="BBBBBB"/>
          </a:solidFill>
          <a:ln w="12700">
            <a:solidFill>
              <a:srgbClr val="BBBBBB"/>
            </a:solidFill>
            <a:prstDash val="solid"/>
          </a:ln>
        </p:spPr>
      </p:sp>
      <p:sp>
        <p:nvSpPr>
          <p:cNvPr id="27" name="Shape 23"/>
          <p:cNvSpPr/>
          <p:nvPr/>
        </p:nvSpPr>
        <p:spPr>
          <a:xfrm>
            <a:off x="3246120" y="2350008"/>
            <a:ext cx="1920240" cy="54864"/>
          </a:xfrm>
          <a:prstGeom prst="rect">
            <a:avLst/>
          </a:prstGeom>
          <a:solidFill>
            <a:srgbClr val="BBBBBB"/>
          </a:solidFill>
          <a:ln w="12700">
            <a:solidFill>
              <a:srgbClr val="BBBBBB"/>
            </a:solidFill>
            <a:prstDash val="solid"/>
          </a:ln>
        </p:spPr>
      </p:sp>
      <p:sp>
        <p:nvSpPr>
          <p:cNvPr id="28" name="Shape 24"/>
          <p:cNvSpPr/>
          <p:nvPr/>
        </p:nvSpPr>
        <p:spPr>
          <a:xfrm>
            <a:off x="3246120" y="2606040"/>
            <a:ext cx="1691640" cy="54864"/>
          </a:xfrm>
          <a:prstGeom prst="rect">
            <a:avLst/>
          </a:prstGeom>
          <a:solidFill>
            <a:srgbClr val="BBBBBB"/>
          </a:solidFill>
          <a:ln w="12700">
            <a:solidFill>
              <a:srgbClr val="BBBBBB"/>
            </a:solidFill>
            <a:prstDash val="solid"/>
          </a:ln>
        </p:spPr>
      </p:sp>
      <p:sp>
        <p:nvSpPr>
          <p:cNvPr id="29" name="Shape 25"/>
          <p:cNvSpPr/>
          <p:nvPr/>
        </p:nvSpPr>
        <p:spPr>
          <a:xfrm>
            <a:off x="3246120" y="2862072"/>
            <a:ext cx="1463040" cy="54864"/>
          </a:xfrm>
          <a:prstGeom prst="rect">
            <a:avLst/>
          </a:prstGeom>
          <a:solidFill>
            <a:srgbClr val="BBBBBB"/>
          </a:solidFill>
          <a:ln w="12700">
            <a:solidFill>
              <a:srgbClr val="BBBBBB"/>
            </a:solidFill>
            <a:prstDash val="solid"/>
          </a:ln>
        </p:spPr>
      </p:sp>
      <p:sp>
        <p:nvSpPr>
          <p:cNvPr id="30" name="Shape 26"/>
          <p:cNvSpPr/>
          <p:nvPr/>
        </p:nvSpPr>
        <p:spPr>
          <a:xfrm>
            <a:off x="3246120" y="3118104"/>
            <a:ext cx="1234440" cy="54864"/>
          </a:xfrm>
          <a:prstGeom prst="rect">
            <a:avLst/>
          </a:prstGeom>
          <a:solidFill>
            <a:srgbClr val="BBBBBB"/>
          </a:solidFill>
          <a:ln w="12700">
            <a:solidFill>
              <a:srgbClr val="BBBBBB"/>
            </a:solidFill>
            <a:prstDash val="solid"/>
          </a:ln>
        </p:spPr>
      </p:sp>
      <p:sp>
        <p:nvSpPr>
          <p:cNvPr id="31" name="Shape 27"/>
          <p:cNvSpPr/>
          <p:nvPr/>
        </p:nvSpPr>
        <p:spPr>
          <a:xfrm>
            <a:off x="3246120" y="3374136"/>
            <a:ext cx="1920240" cy="54864"/>
          </a:xfrm>
          <a:prstGeom prst="rect">
            <a:avLst/>
          </a:prstGeom>
          <a:solidFill>
            <a:srgbClr val="BBBBBB"/>
          </a:solidFill>
          <a:ln w="12700">
            <a:solidFill>
              <a:srgbClr val="BBBBBB"/>
            </a:solidFill>
            <a:prstDash val="solid"/>
          </a:ln>
        </p:spPr>
      </p:sp>
      <p:sp>
        <p:nvSpPr>
          <p:cNvPr id="32" name="Shape 28"/>
          <p:cNvSpPr/>
          <p:nvPr/>
        </p:nvSpPr>
        <p:spPr>
          <a:xfrm>
            <a:off x="3246120" y="3630168"/>
            <a:ext cx="1691640" cy="54864"/>
          </a:xfrm>
          <a:prstGeom prst="rect">
            <a:avLst/>
          </a:prstGeom>
          <a:solidFill>
            <a:srgbClr val="BBBBBB"/>
          </a:solidFill>
          <a:ln w="12700">
            <a:solidFill>
              <a:srgbClr val="BBBBBB"/>
            </a:solidFill>
            <a:prstDash val="solid"/>
          </a:ln>
        </p:spPr>
      </p:sp>
      <p:sp>
        <p:nvSpPr>
          <p:cNvPr id="33" name="Shape 29"/>
          <p:cNvSpPr/>
          <p:nvPr/>
        </p:nvSpPr>
        <p:spPr>
          <a:xfrm>
            <a:off x="3246120" y="3886200"/>
            <a:ext cx="1463040" cy="54864"/>
          </a:xfrm>
          <a:prstGeom prst="rect">
            <a:avLst/>
          </a:prstGeom>
          <a:solidFill>
            <a:srgbClr val="BBBBBB"/>
          </a:solidFill>
          <a:ln w="12700">
            <a:solidFill>
              <a:srgbClr val="BBBBBB"/>
            </a:solidFill>
            <a:prstDash val="solid"/>
          </a:ln>
        </p:spPr>
      </p:sp>
      <p:sp>
        <p:nvSpPr>
          <p:cNvPr id="34" name="Shape 30"/>
          <p:cNvSpPr/>
          <p:nvPr/>
        </p:nvSpPr>
        <p:spPr>
          <a:xfrm>
            <a:off x="3246120" y="4142232"/>
            <a:ext cx="1234440" cy="54864"/>
          </a:xfrm>
          <a:prstGeom prst="rect">
            <a:avLst/>
          </a:prstGeom>
          <a:solidFill>
            <a:srgbClr val="BBBBBB"/>
          </a:solidFill>
          <a:ln w="12700">
            <a:solidFill>
              <a:srgbClr val="BBBBBB"/>
            </a:solidFill>
            <a:prstDash val="solid"/>
          </a:ln>
        </p:spPr>
      </p:sp>
      <p:sp>
        <p:nvSpPr>
          <p:cNvPr id="35" name="Shape 31"/>
          <p:cNvSpPr/>
          <p:nvPr/>
        </p:nvSpPr>
        <p:spPr>
          <a:xfrm>
            <a:off x="3246120" y="2148840"/>
            <a:ext cx="1645920" cy="320040"/>
          </a:xfrm>
          <a:prstGeom prst="rect">
            <a:avLst/>
          </a:prstGeom>
          <a:solidFill>
            <a:srgbClr val="FFF59D"/>
          </a:solidFill>
          <a:ln w="12700">
            <a:solidFill>
              <a:srgbClr val="FFF59D"/>
            </a:solidFill>
            <a:prstDash val="solid"/>
          </a:ln>
        </p:spPr>
      </p:sp>
      <p:sp>
        <p:nvSpPr>
          <p:cNvPr id="36" name="Shape 32"/>
          <p:cNvSpPr/>
          <p:nvPr/>
        </p:nvSpPr>
        <p:spPr>
          <a:xfrm>
            <a:off x="941832" y="1124712"/>
            <a:ext cx="4242816" cy="3465576"/>
          </a:xfrm>
          <a:prstGeom prst="roundRect">
            <a:avLst>
              <a:gd name="adj" fmla="val 1319"/>
            </a:avLst>
          </a:prstGeom>
          <a:solidFill>
            <a:srgbClr val="FFFFFF">
              <a:alpha val="0"/>
            </a:srgbClr>
          </a:solidFill>
          <a:ln w="31750">
            <a:solidFill>
              <a:srgbClr val="E53935"/>
            </a:solidFill>
            <a:prstDash val="solid"/>
          </a:ln>
        </p:spPr>
      </p:sp>
      <p:sp>
        <p:nvSpPr>
          <p:cNvPr id="37" name="Shape 33"/>
          <p:cNvSpPr/>
          <p:nvPr/>
        </p:nvSpPr>
        <p:spPr>
          <a:xfrm>
            <a:off x="5047488" y="987552"/>
            <a:ext cx="274320" cy="274320"/>
          </a:xfrm>
          <a:prstGeom prst="ellipse">
            <a:avLst/>
          </a:prstGeom>
          <a:solidFill>
            <a:srgbClr val="E53935"/>
          </a:solidFill>
          <a:ln w="12700">
            <a:solidFill>
              <a:srgbClr val="FFFFFF"/>
            </a:solidFill>
            <a:prstDash val="solid"/>
          </a:ln>
        </p:spPr>
      </p:sp>
      <p:sp>
        <p:nvSpPr>
          <p:cNvPr id="38" name="Text 34"/>
          <p:cNvSpPr txBox="1"/>
          <p:nvPr/>
        </p:nvSpPr>
        <p:spPr>
          <a:xfrm>
            <a:off x="504748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9"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0"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materi yang sulit dan baca</a:t>
            </a:r>
            <a:endParaRPr lang="en-US" sz="1800" dirty="0"/>
          </a:p>
        </p:txBody>
      </p:sp>
      <p:sp>
        <p:nvSpPr>
          <p:cNvPr id="41"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satu bagian (1–2 halaman) dari buku pelajaran yang belum kamu pahami. Baca dengan teliti.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Merangkum Sendiri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Belajar_AI_Ahmad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Belajar_AI_Ahmad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Rangkuman Saya: Fotosintesis</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Tumbuhan membuat makanan sendiri di daun.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Butuh cahaya matahari, air, dan udara.</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Hasilnya makanan dan oksigen.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Belum paham: apa itu klorofil?</a:t>
            </a:r>
            <a:endParaRPr lang="en-US" sz="800" dirty="0"/>
          </a:p>
        </p:txBody>
      </p:sp>
      <p:sp>
        <p:nvSpPr>
          <p:cNvPr id="74" name="Shape 63"/>
          <p:cNvSpPr/>
          <p:nvPr/>
        </p:nvSpPr>
        <p:spPr>
          <a:xfrm>
            <a:off x="1527048" y="2849506"/>
            <a:ext cx="3072384" cy="588264"/>
          </a:xfrm>
          <a:prstGeom prst="roundRect">
            <a:avLst>
              <a:gd name="adj" fmla="val 777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7" name="Image 9" descr="preencoded.png">    </p:cNvPr>
          <p:cNvPicPr>
            <a:picLocks noChangeAspect="1"/>
          </p:cNvPicPr>
          <p:nvPr/>
        </p:nvPicPr>
        <p:blipFill>
          <a:blip r:embed="rId10"/>
          <a:stretch>
            <a:fillRect/>
          </a:stretch>
        </p:blipFill>
        <p:spPr>
          <a:xfrm>
            <a:off x="3214116" y="3170308"/>
            <a:ext cx="237744" cy="237744"/>
          </a:xfrm>
          <a:prstGeom prst="rect">
            <a:avLst/>
          </a:prstGeom>
        </p:spPr>
      </p:pic>
      <p:sp>
        <p:nvSpPr>
          <p:cNvPr id="78" name="Shape 66"/>
          <p:cNvSpPr/>
          <p:nvPr/>
        </p:nvSpPr>
        <p:spPr>
          <a:xfrm>
            <a:off x="1527048" y="3428626"/>
            <a:ext cx="3072384" cy="202184"/>
          </a:xfrm>
          <a:prstGeom prst="roundRect">
            <a:avLst>
              <a:gd name="adj" fmla="val 22613"/>
            </a:avLst>
          </a:prstGeom>
          <a:solidFill>
            <a:srgbClr val="FFFFFF">
              <a:alpha val="0"/>
            </a:srgbClr>
          </a:solidFill>
          <a:ln w="31750">
            <a:solidFill>
              <a:srgbClr val="E53935"/>
            </a:solidFill>
            <a:prstDash val="solid"/>
          </a:ln>
        </p:spPr>
      </p:sp>
      <p:sp>
        <p:nvSpPr>
          <p:cNvPr id="79" name="Shape 67"/>
          <p:cNvSpPr/>
          <p:nvPr/>
        </p:nvSpPr>
        <p:spPr>
          <a:xfrm>
            <a:off x="4462272" y="3291466"/>
            <a:ext cx="274320" cy="274320"/>
          </a:xfrm>
          <a:prstGeom prst="ellipse">
            <a:avLst/>
          </a:prstGeom>
          <a:solidFill>
            <a:srgbClr val="E53935"/>
          </a:solidFill>
          <a:ln w="12700">
            <a:solidFill>
              <a:srgbClr val="FFFFFF"/>
            </a:solidFill>
            <a:prstDash val="solid"/>
          </a:ln>
        </p:spPr>
      </p:sp>
      <p:sp>
        <p:nvSpPr>
          <p:cNvPr id="80" name="Text 68"/>
          <p:cNvSpPr txBox="1"/>
          <p:nvPr/>
        </p:nvSpPr>
        <p:spPr>
          <a:xfrm>
            <a:off x="4462272" y="32914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1" name="Image 10" descr="preencoded.png">    </p:cNvPr>
          <p:cNvPicPr>
            <a:picLocks noChangeAspect="1"/>
          </p:cNvPicPr>
          <p:nvPr/>
        </p:nvPicPr>
        <p:blipFill>
          <a:blip r:embed="rId11"/>
          <a:stretch>
            <a:fillRect/>
          </a:stretch>
        </p:blipFill>
        <p:spPr>
          <a:xfrm>
            <a:off x="3214116" y="3537084"/>
            <a:ext cx="237744" cy="237744"/>
          </a:xfrm>
          <a:prstGeom prst="rect">
            <a:avLst/>
          </a:prstGeom>
        </p:spPr>
      </p:pic>
      <p:sp>
        <p:nvSpPr>
          <p:cNvPr id="82" name="Text 6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3" name="Text 7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Rangkum sendiri dalam 3–5 kalimat</a:t>
            </a:r>
            <a:endParaRPr lang="en-US" sz="1800" dirty="0"/>
          </a:p>
        </p:txBody>
      </p:sp>
      <p:sp>
        <p:nvSpPr>
          <p:cNvPr id="84" name="Text 7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Docs, buat dokumen Belajar_AI_NamaKamu. Tulis rangkuman dengan kata-katamu sendiri. Tulis juga bagian yang belum dipahami.</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Belajar_AI_Ahmad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Belajar_AI_Ahmad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Saya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santri kelas 1 SMP. Jelaskan apa itu</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klorofil dengan bahasa sederhana dan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satu perumpamaan dari kehidupan pesantren.</a:t>
            </a:r>
            <a:endParaRPr lang="en-US" sz="800" dirty="0"/>
          </a:p>
        </p:txBody>
      </p:sp>
      <p:sp>
        <p:nvSpPr>
          <p:cNvPr id="73" name="Shape 62"/>
          <p:cNvSpPr/>
          <p:nvPr/>
        </p:nvSpPr>
        <p:spPr>
          <a:xfrm>
            <a:off x="1527048" y="2849506"/>
            <a:ext cx="3072384" cy="588264"/>
          </a:xfrm>
          <a:prstGeom prst="roundRect">
            <a:avLst>
              <a:gd name="adj" fmla="val 7772"/>
            </a:avLst>
          </a:prstGeom>
          <a:solidFill>
            <a:srgbClr val="FFFFFF">
              <a:alpha val="0"/>
            </a:srgbClr>
          </a:solidFill>
          <a:ln w="31750">
            <a:solidFill>
              <a:srgbClr val="E53935"/>
            </a:solidFill>
            <a:prstDash val="solid"/>
          </a:ln>
        </p:spPr>
      </p:sp>
      <p:sp>
        <p:nvSpPr>
          <p:cNvPr id="74" name="Shape 63"/>
          <p:cNvSpPr/>
          <p:nvPr/>
        </p:nvSpPr>
        <p:spPr>
          <a:xfrm>
            <a:off x="446227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6" name="Image 9" descr="preencoded.png">    </p:cNvPr>
          <p:cNvPicPr>
            <a:picLocks noChangeAspect="1"/>
          </p:cNvPicPr>
          <p:nvPr/>
        </p:nvPicPr>
        <p:blipFill>
          <a:blip r:embed="rId10"/>
          <a:stretch>
            <a:fillRect/>
          </a:stretch>
        </p:blipFill>
        <p:spPr>
          <a:xfrm>
            <a:off x="3214116" y="3170308"/>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prompt penjelasan</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prompt yang meminta AI menjelaskan bagian yang belum kamu pahami, dengan bahasa sederhana dan perumpamaan.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Bertanya kepada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Saya santri kelas 1 SMP. Jelaskan apa itu klorofil dengan bahasa sederhana dan satu perumpamaan dari kehidupan pesantren.</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6400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Klorofil adalah zat hijau di daun yang menangkap cahaya matahari. Perumpamaannya seperti santri piket dapur yang menerima bahan makanan: tanpa dia, dapur tidak bisa memasak. Tanpa klorofil, daun tidak bisa membuat makanan.</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694944"/>
          </a:xfrm>
          <a:prstGeom prst="roundRect">
            <a:avLst>
              <a:gd name="adj" fmla="val 6579"/>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3" name="Image 7" descr="preencoded.png">    </p:cNvPr>
          <p:cNvPicPr>
            <a:picLocks noChangeAspect="1"/>
          </p:cNvPicPr>
          <p:nvPr/>
        </p:nvPicPr>
        <p:blipFill>
          <a:blip r:embed="rId8"/>
          <a:stretch>
            <a:fillRect/>
          </a:stretch>
        </p:blipFill>
        <p:spPr>
          <a:xfrm>
            <a:off x="3793132" y="266980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mencobakan prompt di layar</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mengetikkan beberapa prompt santri ke AI. Semua memperhatikan jawabannya.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Membandingkan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Belajar_AI_Ahmad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Belajar_AI_Ahmad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Perbandingan</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Sudah benar</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Perlu ditambah</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Perlu dicek</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Butuh cahaya, air</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Peran klorofil</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Contoh dari AI</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Hasilnya oksigen</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Karbon dioksida</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(cocokkan buku)</a:t>
            </a:r>
            <a:endParaRPr lang="en-US" sz="650" dirty="0"/>
          </a:p>
        </p:txBody>
      </p:sp>
      <p:sp>
        <p:nvSpPr>
          <p:cNvPr id="88" name="Shape 77"/>
          <p:cNvSpPr/>
          <p:nvPr/>
        </p:nvSpPr>
        <p:spPr>
          <a:xfrm>
            <a:off x="1527048" y="2849506"/>
            <a:ext cx="3072384" cy="603504"/>
          </a:xfrm>
          <a:prstGeom prst="roundRect">
            <a:avLst>
              <a:gd name="adj" fmla="val 7576"/>
            </a:avLst>
          </a:prstGeom>
          <a:solidFill>
            <a:srgbClr val="FFFFFF">
              <a:alpha val="0"/>
            </a:srgbClr>
          </a:solidFill>
          <a:ln w="31750">
            <a:solidFill>
              <a:srgbClr val="E53935"/>
            </a:solidFill>
            <a:prstDash val="solid"/>
          </a:ln>
        </p:spPr>
      </p:sp>
      <p:sp>
        <p:nvSpPr>
          <p:cNvPr id="89" name="Shape 78"/>
          <p:cNvSpPr/>
          <p:nvPr/>
        </p:nvSpPr>
        <p:spPr>
          <a:xfrm>
            <a:off x="4462272" y="2712346"/>
            <a:ext cx="274320" cy="274320"/>
          </a:xfrm>
          <a:prstGeom prst="ellipse">
            <a:avLst/>
          </a:prstGeom>
          <a:solidFill>
            <a:srgbClr val="E53935"/>
          </a:solidFill>
          <a:ln w="12700">
            <a:solidFill>
              <a:srgbClr val="FFFFFF"/>
            </a:solidFill>
            <a:prstDash val="solid"/>
          </a:ln>
        </p:spPr>
      </p:sp>
      <p:sp>
        <p:nvSpPr>
          <p:cNvPr id="90" name="Text 79"/>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91" name="Image 9" descr="preencoded.png">    </p:cNvPr>
          <p:cNvPicPr>
            <a:picLocks noChangeAspect="1"/>
          </p:cNvPicPr>
          <p:nvPr/>
        </p:nvPicPr>
        <p:blipFill>
          <a:blip r:embed="rId10"/>
          <a:stretch>
            <a:fillRect/>
          </a:stretch>
        </p:blipFill>
        <p:spPr>
          <a:xfrm>
            <a:off x="3214116" y="3178690"/>
            <a:ext cx="237744" cy="237744"/>
          </a:xfrm>
          <a:prstGeom prst="rect">
            <a:avLst/>
          </a:prstGeom>
        </p:spPr>
      </p:pic>
      <p:sp>
        <p:nvSpPr>
          <p:cNvPr id="92" name="Text 8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93" name="Text 8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rangkumanmu dengan penjelasan AI</a:t>
            </a:r>
            <a:endParaRPr lang="en-US" sz="1800" dirty="0"/>
          </a:p>
        </p:txBody>
      </p:sp>
      <p:sp>
        <p:nvSpPr>
          <p:cNvPr id="94" name="Text 8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di Docs: apa yang sudah benar di rangkumanmu, apa yang perlu ditambah, dan apakah ada bagian AI yang perlu dicek.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Menjelaskan Ulang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874520" y="1783080"/>
            <a:ext cx="640080" cy="640080"/>
          </a:xfrm>
          <a:prstGeom prst="ellipse">
            <a:avLst/>
          </a:prstGeom>
          <a:solidFill>
            <a:srgbClr val="E8C39E"/>
          </a:solidFill>
          <a:ln/>
        </p:spPr>
      </p:sp>
      <p:sp>
        <p:nvSpPr>
          <p:cNvPr id="11" name="Shape 7"/>
          <p:cNvSpPr/>
          <p:nvPr/>
        </p:nvSpPr>
        <p:spPr>
          <a:xfrm>
            <a:off x="1737360" y="2468880"/>
            <a:ext cx="914400" cy="1188720"/>
          </a:xfrm>
          <a:prstGeom prst="roundRect">
            <a:avLst>
              <a:gd name="adj" fmla="val 25000"/>
            </a:avLst>
          </a:prstGeom>
          <a:solidFill>
            <a:srgbClr val="1F7A5C"/>
          </a:solidFill>
          <a:ln w="12700">
            <a:solidFill>
              <a:srgbClr val="1F7A5C"/>
            </a:solidFill>
            <a:prstDash val="solid"/>
          </a:ln>
        </p:spPr>
      </p:sp>
      <p:sp>
        <p:nvSpPr>
          <p:cNvPr id="12" name="Shape 8"/>
          <p:cNvSpPr/>
          <p:nvPr/>
        </p:nvSpPr>
        <p:spPr>
          <a:xfrm>
            <a:off x="3886200" y="1783080"/>
            <a:ext cx="640080" cy="640080"/>
          </a:xfrm>
          <a:prstGeom prst="ellipse">
            <a:avLst/>
          </a:prstGeom>
          <a:solidFill>
            <a:srgbClr val="E8C39E"/>
          </a:solidFill>
          <a:ln/>
        </p:spPr>
      </p:sp>
      <p:sp>
        <p:nvSpPr>
          <p:cNvPr id="13" name="Shape 9"/>
          <p:cNvSpPr/>
          <p:nvPr/>
        </p:nvSpPr>
        <p:spPr>
          <a:xfrm>
            <a:off x="3749040" y="2468880"/>
            <a:ext cx="914400" cy="1188720"/>
          </a:xfrm>
          <a:prstGeom prst="roundRect">
            <a:avLst>
              <a:gd name="adj" fmla="val 25000"/>
            </a:avLst>
          </a:prstGeom>
          <a:solidFill>
            <a:srgbClr val="D4A017"/>
          </a:solidFill>
          <a:ln w="12700">
            <a:solidFill>
              <a:srgbClr val="D4A017"/>
            </a:solidFill>
            <a:prstDash val="solid"/>
          </a:ln>
        </p:spPr>
      </p:sp>
      <p:sp>
        <p:nvSpPr>
          <p:cNvPr id="14" name="Shape 10"/>
          <p:cNvSpPr/>
          <p:nvPr/>
        </p:nvSpPr>
        <p:spPr>
          <a:xfrm>
            <a:off x="777240" y="1188720"/>
            <a:ext cx="2011680" cy="502920"/>
          </a:xfrm>
          <a:prstGeom prst="roundRect">
            <a:avLst>
              <a:gd name="adj" fmla="val 27273"/>
            </a:avLst>
          </a:prstGeom>
          <a:solidFill>
            <a:srgbClr val="FFFFFF"/>
          </a:solidFill>
          <a:ln w="12700">
            <a:solidFill>
              <a:srgbClr val="BBBBBB"/>
            </a:solidFill>
            <a:prstDash val="solid"/>
          </a:ln>
        </p:spPr>
      </p:sp>
      <p:sp>
        <p:nvSpPr>
          <p:cNvPr id="15" name="Text 11"/>
          <p:cNvSpPr txBox="1"/>
          <p:nvPr/>
        </p:nvSpPr>
        <p:spPr>
          <a:xfrm>
            <a:off x="868680" y="1188720"/>
            <a:ext cx="1828800" cy="502920"/>
          </a:xfrm>
          <a:prstGeom prst="rect">
            <a:avLst/>
          </a:prstGeom>
          <a:noFill/>
          <a:ln/>
        </p:spPr>
        <p:txBody>
          <a:bodyPr wrap="square" lIns="0" tIns="0" rIns="0" bIns="0" rtlCol="0" anchor="ctr"/>
          <a:lstStyle/>
          <a:p>
            <a:pPr indent="0" marL="0">
              <a:buNone/>
            </a:pPr>
            <a:r>
              <a:rPr lang="en-US" sz="1200" i="1" dirty="0">
                <a:solidFill>
                  <a:srgbClr val="1E2A26"/>
                </a:solidFill>
                <a:latin typeface="Calibri" pitchFamily="34" charset="0"/>
                <a:ea typeface="Calibri" pitchFamily="34" charset="-122"/>
                <a:cs typeface="Calibri" pitchFamily="34" charset="-120"/>
              </a:rPr>
              <a:t>Klorofil itu seperti...</a:t>
            </a:r>
            <a:endParaRPr lang="en-US" sz="1200" dirty="0"/>
          </a:p>
        </p:txBody>
      </p:sp>
      <p:pic>
        <p:nvPicPr>
          <p:cNvPr id="16" name="Image 2" descr="preencoded.png">    </p:cNvPr>
          <p:cNvPicPr>
            <a:picLocks noChangeAspect="1"/>
          </p:cNvPicPr>
          <p:nvPr/>
        </p:nvPicPr>
        <p:blipFill>
          <a:blip r:embed="rId3"/>
          <a:stretch>
            <a:fillRect/>
          </a:stretch>
        </p:blipFill>
        <p:spPr>
          <a:xfrm>
            <a:off x="4892040" y="1234440"/>
            <a:ext cx="457200" cy="457200"/>
          </a:xfrm>
          <a:prstGeom prst="rect">
            <a:avLst/>
          </a:prstGeom>
        </p:spPr>
      </p:pic>
      <p:sp>
        <p:nvSpPr>
          <p:cNvPr id="17" name="Text 12"/>
          <p:cNvSpPr txBox="1"/>
          <p:nvPr/>
        </p:nvSpPr>
        <p:spPr>
          <a:xfrm>
            <a:off x="4709160" y="1737360"/>
            <a:ext cx="822960" cy="27432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1 menit</a:t>
            </a:r>
            <a:endParaRPr lang="en-US" sz="1200" dirty="0"/>
          </a:p>
        </p:txBody>
      </p:sp>
      <p:sp>
        <p:nvSpPr>
          <p:cNvPr id="18" name="Text 1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9" name="Text 1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Jelaskan kepada teman sebangku</a:t>
            </a:r>
            <a:endParaRPr lang="en-US" sz="1800" dirty="0"/>
          </a:p>
        </p:txBody>
      </p:sp>
      <p:sp>
        <p:nvSpPr>
          <p:cNvPr id="20" name="Text 1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Tanpa melihat catatan, jelaskan materi kepada teman dalam 1 menit. Teman memberi nilai: paham, cukup, atau belum.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Belajar_AI milikmu harus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Rangkuman sendiri (sebelum melihat AI) dan bagian yang belum dipahami.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Prompt penjelasan dengan konteks, tugas, dan format.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perbandingan: sudah benar, perlu ditambah, perlu dicek.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Rangkuman yang sudah diperbaiki dengan kata-katamu sendiri.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Rangkuman sendiri dibuat lebih dahulu</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Prompt jelas dan lengkap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Perbandingan sudah dicatat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Mampu menjelaskan materi dengan kata sendiri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Apakah penjelasan AI membantumu memahami materi?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kita harus merangkum sendiri lebih dahulu?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Ilmu diraih dengan kesungguhan. AI adalah alat bantu; kesungguhan tetap milikmu.</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AI untuk membuat soal latihan dan bertukar ide.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Latihan Soal &amp; Brainstorming</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AI sebagai teman berlatih dan berpikir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AI untuk Belajar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kalian bersiap menghadapi ujian?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membuat soal latihan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Mengerjakan soal secara jujur lalu memeriksa jawabannya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AI untuk brainstorming ide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Berlatih Soal dengan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Minta Soal</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Minta AI membuat soal, kunci jawaban diletakkan di akhir</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Kerjakan Sendiri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Tutup kunci jawaban, kerjakan dengan jujur di kertas</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Periksa &amp; Pahami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Cocokkan jawaban, minta penjelasan untuk yang salah</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Prompt: "Buatkan 5 soal pilihan ganda tingkat SMP tentang fotosintesis. Letakkan kunci jawaban dan penjelasannya di bagian paling akhir."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Brainstorming dengan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Brainstorming</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Brainstorming adalah mengumpulkan sebanyak mungkin ide, lalu memilih dan mengembangkan yang terbaik.</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Minta AI memberi 10 ide sebagai bahan</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Kita yang memilih, menggabungkan, dan mengembangkan</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Ide terbaik sering lahir dari pikiran kita sendiri</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Berlatih Soal dan Brainstorming</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Guru mengoperasikan AI · santri mengerjakan</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soal bersama</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Brainstorming ide kegiatan kelas</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 Soal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Buatkan 5 soal pilihan ganda tingkat SMP tentang fotosintesis. Let...</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meminta AI membuat 5 soal</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 prompt soal tentang materi pekan lalu. Kunci jawaban diminta di bagian akhir.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 Soal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Buatkan 5 soal pilihan ganda tingkat SMP tentang fotosintesis. Letakkan kunci jawaban dan penjelasannya di bagian paling akhir.</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91440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Di bagian tumbuhan manakah fotosintesis terutama terjadi?</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a. Akar  b. Batang  c. Daun  d. Bunga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Zat hijau daun disebut...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   a. Klorofil  b. Stomata  c. Glukosa  d. Oksigen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969264"/>
          </a:xfrm>
          <a:prstGeom prst="roundRect">
            <a:avLst>
              <a:gd name="adj" fmla="val 4717"/>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3" name="Image 7" descr="preencoded.png">    </p:cNvPr>
          <p:cNvPicPr>
            <a:picLocks noChangeAspect="1"/>
          </p:cNvPicPr>
          <p:nvPr/>
        </p:nvPicPr>
        <p:blipFill>
          <a:blip r:embed="rId8"/>
          <a:stretch>
            <a:fillRect/>
          </a:stretch>
        </p:blipFill>
        <p:spPr>
          <a:xfrm>
            <a:off x="3793132" y="2820677"/>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Santri mengerjakan soal di kertas</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menampilkan soal saja, kunci jawaban belum digulir. Santri menjawab sendiri di kertas.</a:t>
            </a:r>
            <a:endParaRPr lang="en-US" sz="1300" dirty="0"/>
          </a:p>
        </p:txBody>
      </p:sp>
      <p:sp>
        <p:nvSpPr>
          <p:cNvPr id="47"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49"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mengintip kunci. Latihan ini untuk dirimu sendiri.</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 Soal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pic>
        <p:nvPicPr>
          <p:cNvPr id="31" name="Image 5" descr="preencoded.png">    </p:cNvPr>
          <p:cNvPicPr>
            <a:picLocks noChangeAspect="1"/>
          </p:cNvPicPr>
          <p:nvPr/>
        </p:nvPicPr>
        <p:blipFill>
          <a:blip r:embed="rId6"/>
          <a:stretch>
            <a:fillRect/>
          </a:stretch>
        </p:blipFill>
        <p:spPr>
          <a:xfrm>
            <a:off x="1593616" y="1805693"/>
            <a:ext cx="182880" cy="182880"/>
          </a:xfrm>
          <a:prstGeom prst="rect">
            <a:avLst/>
          </a:prstGeom>
        </p:spPr>
      </p:pic>
      <p:sp>
        <p:nvSpPr>
          <p:cNvPr id="32" name="Text 24"/>
          <p:cNvSpPr txBox="1"/>
          <p:nvPr/>
        </p:nvSpPr>
        <p:spPr>
          <a:xfrm>
            <a:off x="1849648" y="1805693"/>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KUNCI JAWABAN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1. c (Daun) — fotosintesis terjadi di daun karena ada klorofil.</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a (Klorofil) — zat hijau yang menangkap cahaya.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b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4. d ...</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5. a ...</a:t>
            </a:r>
            <a:endParaRPr lang="en-US" sz="750" dirty="0"/>
          </a:p>
        </p:txBody>
      </p:sp>
      <p:sp>
        <p:nvSpPr>
          <p:cNvPr id="33" name="Shape 25"/>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4" name="Text 26"/>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5" name="Shape 27"/>
          <p:cNvSpPr/>
          <p:nvPr/>
        </p:nvSpPr>
        <p:spPr>
          <a:xfrm>
            <a:off x="5127224" y="3620480"/>
            <a:ext cx="219456" cy="219456"/>
          </a:xfrm>
          <a:prstGeom prst="ellipse">
            <a:avLst/>
          </a:prstGeom>
          <a:solidFill>
            <a:srgbClr val="BBBBBB"/>
          </a:solidFill>
          <a:ln/>
        </p:spPr>
      </p:sp>
      <p:pic>
        <p:nvPicPr>
          <p:cNvPr id="36"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7" name="Text 28"/>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8" name="Shape 29"/>
          <p:cNvSpPr/>
          <p:nvPr/>
        </p:nvSpPr>
        <p:spPr>
          <a:xfrm>
            <a:off x="1822216" y="1778261"/>
            <a:ext cx="3588471" cy="832104"/>
          </a:xfrm>
          <a:prstGeom prst="roundRect">
            <a:avLst>
              <a:gd name="adj" fmla="val 5495"/>
            </a:avLst>
          </a:prstGeom>
          <a:solidFill>
            <a:srgbClr val="FFFFFF">
              <a:alpha val="0"/>
            </a:srgbClr>
          </a:solidFill>
          <a:ln w="31750">
            <a:solidFill>
              <a:srgbClr val="E53935"/>
            </a:solidFill>
            <a:prstDash val="solid"/>
          </a:ln>
        </p:spPr>
      </p:sp>
      <p:sp>
        <p:nvSpPr>
          <p:cNvPr id="39" name="Shape 30"/>
          <p:cNvSpPr/>
          <p:nvPr/>
        </p:nvSpPr>
        <p:spPr>
          <a:xfrm>
            <a:off x="5273528" y="1641101"/>
            <a:ext cx="274320" cy="274320"/>
          </a:xfrm>
          <a:prstGeom prst="ellipse">
            <a:avLst/>
          </a:prstGeom>
          <a:solidFill>
            <a:srgbClr val="E53935"/>
          </a:solidFill>
          <a:ln w="12700">
            <a:solidFill>
              <a:srgbClr val="FFFFFF"/>
            </a:solidFill>
            <a:prstDash val="solid"/>
          </a:ln>
        </p:spPr>
      </p:sp>
      <p:sp>
        <p:nvSpPr>
          <p:cNvPr id="40" name="Text 31"/>
          <p:cNvSpPr txBox="1"/>
          <p:nvPr/>
        </p:nvSpPr>
        <p:spPr>
          <a:xfrm>
            <a:off x="5273528" y="16411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1" name="Image 7" descr="preencoded.png">    </p:cNvPr>
          <p:cNvPicPr>
            <a:picLocks noChangeAspect="1"/>
          </p:cNvPicPr>
          <p:nvPr/>
        </p:nvPicPr>
        <p:blipFill>
          <a:blip r:embed="rId8"/>
          <a:stretch>
            <a:fillRect/>
          </a:stretch>
        </p:blipFill>
        <p:spPr>
          <a:xfrm>
            <a:off x="3793132" y="2233175"/>
            <a:ext cx="237744" cy="237744"/>
          </a:xfrm>
          <a:prstGeom prst="rect">
            <a:avLst/>
          </a:prstGeom>
        </p:spPr>
      </p:pic>
      <p:sp>
        <p:nvSpPr>
          <p:cNvPr id="42"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3"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Cocokkan dengan kunci jawaban</a:t>
            </a:r>
            <a:endParaRPr lang="en-US" sz="1800" dirty="0"/>
          </a:p>
        </p:txBody>
      </p:sp>
      <p:sp>
        <p:nvSpPr>
          <p:cNvPr id="44"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menggulir ke kunci jawaban. Santri memeriksa sendiri dan menghitung jawaban benar.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 Soal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Jelaskan mengapa jawaban soal nomor 3 adalah b, dengan bahasa sederhana.</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45720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Karena tumbuhan mengambil karbon dioksida dari udara melalui lubang kecil di daun yang disebut stomata. Bayangkan stomata seperti jendela kamar asrama yang dibuka agar udara masuk.</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512064"/>
          </a:xfrm>
          <a:prstGeom prst="roundRect">
            <a:avLst>
              <a:gd name="adj" fmla="val 8929"/>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3" name="Image 7" descr="preencoded.png">    </p:cNvPr>
          <p:cNvPicPr>
            <a:picLocks noChangeAspect="1"/>
          </p:cNvPicPr>
          <p:nvPr/>
        </p:nvPicPr>
        <p:blipFill>
          <a:blip r:embed="rId8"/>
          <a:stretch>
            <a:fillRect/>
          </a:stretch>
        </p:blipFill>
        <p:spPr>
          <a:xfrm>
            <a:off x="3793132" y="2569217"/>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penjelasan soal yang banyak salah</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Tanyakan soal yang paling banyak salah. Guru meminta AI menjelaskan. Lalu cocokkan dengan buku.</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Brainstorming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Berikan 10 ide kegiatan kelas yang bermanfaat untuk santri SMP di pesantren pada hari Ahad. Singkat saja.</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8229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Lomba hafalan surat pendek</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Kerja bakti membersihkan masjid</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Membuat mading dakwah</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4. Kajian kisah sahabat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5. Olahraga bersama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6. ...</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877824"/>
          </a:xfrm>
          <a:prstGeom prst="roundRect">
            <a:avLst>
              <a:gd name="adj" fmla="val 5208"/>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77038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10 ide kegiatan kelas</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meminta AI memberi 10 ide kegiatan kelas yang bermanfaat untuk hari Ahad di pesantren.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Brainstorming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Ide_Kegiatan_Kelompok_1 -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Ide_Kegiatan_Kelompok_1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Ide Pilihan Kami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Lomba hafalan + kerja bakti masjid</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Waktu: Ahad pagi, 07.00–10.00</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Petugas: ketua kelas, seksi kebersihan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Alat: sapu, kain pel, hadiah buku</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Alasan: melatih hafalan dan kebersihan</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gabungkan, dan kembangkan ide</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Dalam kelompok, pilih 1 ide terbaik atau gabungkan beberapa ide. Kembangkan: kapan, siapa, apa yang dibutuhkan.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 hasil kerja berikut:</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Lembar jawaban 5 soal dengan jumlah jawaban benar.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soal yang salah beserta penjelasan yang sudah dicek ke buku.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Rencana ide kegiatan kelompok: waktu, petugas, alat, alasan.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prompt soal latihan buatanmu untuk mapel lain.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Soal dikerjakan tanpa melihat kunci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Soal yang salah sudah dipahami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Kunci AI dicocokkan dengan buku</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Ide dipilih dan dikembangkan sendiri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Apakah kunci jawaban AI selalu benar?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Ide mana yang kamu pilih dan mengapa?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Jujur kepada diri sendiri: latihan hanya bermanfaat jika dikerjakan dengan sungguh-sungguh.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AI Study Assistant, kumpulan prompt belajar.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AI Study Assistant</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kumpulan prompt belajar santri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AI untuk Belajar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ada teman yang kesulitan belajar, bagaimana kalian bisa membantunya?</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prompt belajar untuk satu mata pelajaran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dan memperbaiki prompt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dokumen AI Study Assistant kelas yang rapi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Isi AI Study Assistant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 Mata Pelajaran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bagian untuk setiap mapel: IPA, Matematika, Bahasa Arab, Bahasa Inggris, Sejarah Islam.</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Empat Jenis Prompt</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Menjelaskan, merangkum, membuat soal, dan menguji pemahaman.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Sudah Diuji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Setiap prompt sudah dicoba dan diperbaiki, dengan contoh potongan hasilnya.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Catatan Bijak</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Pengingat: rangkum sendiri dulu, periksa jawaban, jangan menyontek.</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Prompt yang Bisa Dipakai Ulang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325880"/>
          </a:xfrm>
          <a:prstGeom prst="roundRect">
            <a:avLst>
              <a:gd name="adj" fmla="val 5517"/>
            </a:avLst>
          </a:prstGeom>
          <a:solidFill>
            <a:srgbClr val="FFFFFF"/>
          </a:solidFill>
          <a:ln w="19050">
            <a:solidFill>
              <a:srgbClr val="1F7A5C"/>
            </a:solidFill>
            <a:prstDash val="solid"/>
          </a:ln>
        </p:spPr>
      </p:sp>
      <p:sp>
        <p:nvSpPr>
          <p:cNvPr id="10" name="Text 6"/>
          <p:cNvSpPr txBox="1"/>
          <p:nvPr/>
        </p:nvSpPr>
        <p:spPr>
          <a:xfrm>
            <a:off x="685800" y="1234440"/>
            <a:ext cx="7772400" cy="1143000"/>
          </a:xfrm>
          <a:prstGeom prst="rect">
            <a:avLst/>
          </a:prstGeom>
          <a:noFill/>
          <a:ln/>
        </p:spPr>
        <p:txBody>
          <a:bodyPr wrap="square" lIns="0" tIns="0" rIns="0" bIns="0" rtlCol="0" anchor="ctr"/>
          <a:lstStyle/>
          <a:p>
            <a:pPr indent="0" marL="0">
              <a:buNone/>
            </a:pPr>
            <a:r>
              <a:rPr lang="en-US" sz="1500" dirty="0">
                <a:solidFill>
                  <a:srgbClr val="1E2A26"/>
                </a:solidFill>
                <a:latin typeface="Georgia" pitchFamily="34" charset="0"/>
                <a:ea typeface="Georgia" pitchFamily="34" charset="-122"/>
                <a:cs typeface="Georgia" pitchFamily="34" charset="-120"/>
              </a:rPr>
              <a:t>Kamu adalah guru </a:t>
            </a:r>
            <a:pPr indent="0" marL="0">
              <a:buNone/>
            </a:pPr>
            <a:r>
              <a:rPr lang="en-US" sz="1500" b="1" dirty="0">
                <a:solidFill>
                  <a:srgbClr val="E53935"/>
                </a:solidFill>
                <a:latin typeface="Georgia" pitchFamily="34" charset="0"/>
                <a:ea typeface="Georgia" pitchFamily="34" charset="-122"/>
                <a:cs typeface="Georgia" pitchFamily="34" charset="-120"/>
              </a:rPr>
              <a:t>[nama mapel]</a:t>
            </a:r>
            <a:pPr indent="0" marL="0">
              <a:buNone/>
            </a:pPr>
            <a:r>
              <a:rPr lang="en-US" sz="1500" dirty="0">
                <a:solidFill>
                  <a:srgbClr val="1E2A26"/>
                </a:solidFill>
                <a:latin typeface="Georgia" pitchFamily="34" charset="0"/>
                <a:ea typeface="Georgia" pitchFamily="34" charset="-122"/>
                <a:cs typeface="Georgia" pitchFamily="34" charset="-120"/>
              </a:rPr>
              <a:t> yang sabar. Saya santri kelas 1 SMP. Jelaskan </a:t>
            </a:r>
            <a:pPr indent="0" marL="0">
              <a:buNone/>
            </a:pPr>
            <a:r>
              <a:rPr lang="en-US" sz="1500" b="1" dirty="0">
                <a:solidFill>
                  <a:srgbClr val="E53935"/>
                </a:solidFill>
                <a:latin typeface="Georgia" pitchFamily="34" charset="0"/>
                <a:ea typeface="Georgia" pitchFamily="34" charset="-122"/>
                <a:cs typeface="Georgia" pitchFamily="34" charset="-120"/>
              </a:rPr>
              <a:t>[nama materi]</a:t>
            </a:r>
            <a:pPr indent="0" marL="0">
              <a:buNone/>
            </a:pPr>
            <a:r>
              <a:rPr lang="en-US" sz="1500" dirty="0">
                <a:solidFill>
                  <a:srgbClr val="1E2A26"/>
                </a:solidFill>
                <a:latin typeface="Georgia" pitchFamily="34" charset="0"/>
                <a:ea typeface="Georgia" pitchFamily="34" charset="-122"/>
                <a:cs typeface="Georgia" pitchFamily="34" charset="-120"/>
              </a:rPr>
              <a:t> dengan bahasa sederhana, dalam </a:t>
            </a:r>
            <a:pPr indent="0" marL="0">
              <a:buNone/>
            </a:pPr>
            <a:r>
              <a:rPr lang="en-US" sz="1500" b="1" dirty="0">
                <a:solidFill>
                  <a:srgbClr val="E53935"/>
                </a:solidFill>
                <a:latin typeface="Georgia" pitchFamily="34" charset="0"/>
                <a:ea typeface="Georgia" pitchFamily="34" charset="-122"/>
                <a:cs typeface="Georgia" pitchFamily="34" charset="-120"/>
              </a:rPr>
              <a:t>[jumlah]</a:t>
            </a:r>
            <a:pPr indent="0" marL="0">
              <a:buNone/>
            </a:pPr>
            <a:r>
              <a:rPr lang="en-US" sz="1500" dirty="0">
                <a:solidFill>
                  <a:srgbClr val="1E2A26"/>
                </a:solidFill>
                <a:latin typeface="Georgia" pitchFamily="34" charset="0"/>
                <a:ea typeface="Georgia" pitchFamily="34" charset="-122"/>
                <a:cs typeface="Georgia" pitchFamily="34" charset="-120"/>
              </a:rPr>
              <a:t> poin, dengan satu perumpamaan dari kehidupan pesantren.</a:t>
            </a:r>
            <a:endParaRPr lang="en-US" sz="1500" dirty="0"/>
          </a:p>
        </p:txBody>
      </p:sp>
      <p:sp>
        <p:nvSpPr>
          <p:cNvPr id="11" name="Text 7"/>
          <p:cNvSpPr txBox="1"/>
          <p:nvPr/>
        </p:nvSpPr>
        <p:spPr>
          <a:xfrm>
            <a:off x="457200" y="2651760"/>
            <a:ext cx="8229600" cy="320040"/>
          </a:xfrm>
          <a:prstGeom prst="rect">
            <a:avLst/>
          </a:prstGeom>
          <a:noFill/>
          <a:ln/>
        </p:spPr>
        <p:txBody>
          <a:bodyPr wrap="square" lIns="0" tIns="0" rIns="0" bIns="0" rtlCol="0" anchor="t"/>
          <a:lstStyle/>
          <a:p>
            <a:pPr indent="0" marL="0">
              <a:buNone/>
            </a:pPr>
            <a:r>
              <a:rPr lang="en-US" sz="1350" i="1" dirty="0">
                <a:solidFill>
                  <a:srgbClr val="5F6F68"/>
                </a:solidFill>
                <a:latin typeface="Calibri" pitchFamily="34" charset="0"/>
                <a:ea typeface="Calibri" pitchFamily="34" charset="-122"/>
                <a:cs typeface="Calibri" pitchFamily="34" charset="-120"/>
              </a:rPr>
              <a:t>Bagian dalam kurung siku [ ] diganti sesuai kebutuhan. Contoh:</a:t>
            </a:r>
            <a:endParaRPr lang="en-US" sz="1350" dirty="0"/>
          </a:p>
        </p:txBody>
      </p:sp>
      <p:sp>
        <p:nvSpPr>
          <p:cNvPr id="12" name="Shape 8"/>
          <p:cNvSpPr/>
          <p:nvPr/>
        </p:nvSpPr>
        <p:spPr>
          <a:xfrm>
            <a:off x="457200" y="3063240"/>
            <a:ext cx="2606040" cy="1463040"/>
          </a:xfrm>
          <a:prstGeom prst="roundRect">
            <a:avLst>
              <a:gd name="adj" fmla="val 6250"/>
            </a:avLst>
          </a:prstGeom>
          <a:solidFill>
            <a:srgbClr val="E6F2EC"/>
          </a:solidFill>
          <a:ln w="12700">
            <a:solidFill>
              <a:srgbClr val="E6F2EC"/>
            </a:solidFill>
            <a:prstDash val="solid"/>
          </a:ln>
        </p:spPr>
      </p:sp>
      <p:sp>
        <p:nvSpPr>
          <p:cNvPr id="13" name="Text 9"/>
          <p:cNvSpPr txBox="1"/>
          <p:nvPr/>
        </p:nvSpPr>
        <p:spPr>
          <a:xfrm>
            <a:off x="640080" y="3200400"/>
            <a:ext cx="2286000" cy="41148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[nama mapel]</a:t>
            </a:r>
            <a:endParaRPr lang="en-US" sz="1500" dirty="0"/>
          </a:p>
        </p:txBody>
      </p:sp>
      <p:sp>
        <p:nvSpPr>
          <p:cNvPr id="14" name="Text 10"/>
          <p:cNvSpPr txBox="1"/>
          <p:nvPr/>
        </p:nvSpPr>
        <p:spPr>
          <a:xfrm>
            <a:off x="640080" y="3611880"/>
            <a:ext cx="2286000" cy="320040"/>
          </a:xfrm>
          <a:prstGeom prst="rect">
            <a:avLst/>
          </a:prstGeom>
          <a:noFill/>
          <a:ln/>
        </p:spPr>
        <p:txBody>
          <a:bodyPr wrap="square" lIns="0" tIns="0" rIns="0" bIns="0" rtlCol="0" anchor="t"/>
          <a:lstStyle/>
          <a:p>
            <a:pPr indent="0" marL="0">
              <a:buNone/>
            </a:pPr>
            <a:r>
              <a:rPr lang="en-US" sz="1600" b="1" dirty="0">
                <a:solidFill>
                  <a:srgbClr val="D4A017"/>
                </a:solidFill>
                <a:latin typeface="Calibri" pitchFamily="34" charset="0"/>
                <a:ea typeface="Calibri" pitchFamily="34" charset="-122"/>
                <a:cs typeface="Calibri" pitchFamily="34" charset="-120"/>
              </a:rPr>
              <a:t>↓</a:t>
            </a:r>
            <a:endParaRPr lang="en-US" sz="1600" dirty="0"/>
          </a:p>
        </p:txBody>
      </p:sp>
      <p:sp>
        <p:nvSpPr>
          <p:cNvPr id="15" name="Text 11"/>
          <p:cNvSpPr txBox="1"/>
          <p:nvPr/>
        </p:nvSpPr>
        <p:spPr>
          <a:xfrm>
            <a:off x="640080" y="3931920"/>
            <a:ext cx="2286000" cy="411480"/>
          </a:xfrm>
          <a:prstGeom prst="rect">
            <a:avLst/>
          </a:prstGeom>
          <a:noFill/>
          <a:ln/>
        </p:spPr>
        <p:txBody>
          <a:bodyPr wrap="square" lIns="0" tIns="0" rIns="0" bIns="0" rtlCol="0" anchor="t"/>
          <a:lstStyle/>
          <a:p>
            <a:pPr indent="0" marL="0">
              <a:buNone/>
            </a:pPr>
            <a:r>
              <a:rPr lang="en-US" sz="1500" b="1" dirty="0">
                <a:solidFill>
                  <a:srgbClr val="0F4C3A"/>
                </a:solidFill>
                <a:latin typeface="Calibri" pitchFamily="34" charset="0"/>
                <a:ea typeface="Calibri" pitchFamily="34" charset="-122"/>
                <a:cs typeface="Calibri" pitchFamily="34" charset="-120"/>
              </a:rPr>
              <a:t>Bahasa Arab</a:t>
            </a:r>
            <a:endParaRPr lang="en-US" sz="1500" dirty="0"/>
          </a:p>
        </p:txBody>
      </p:sp>
      <p:sp>
        <p:nvSpPr>
          <p:cNvPr id="16" name="Shape 12"/>
          <p:cNvSpPr/>
          <p:nvPr/>
        </p:nvSpPr>
        <p:spPr>
          <a:xfrm>
            <a:off x="3246120" y="3063240"/>
            <a:ext cx="2606040" cy="1463040"/>
          </a:xfrm>
          <a:prstGeom prst="roundRect">
            <a:avLst>
              <a:gd name="adj" fmla="val 6250"/>
            </a:avLst>
          </a:prstGeom>
          <a:solidFill>
            <a:srgbClr val="E6F2EC"/>
          </a:solidFill>
          <a:ln w="12700">
            <a:solidFill>
              <a:srgbClr val="E6F2EC"/>
            </a:solidFill>
            <a:prstDash val="solid"/>
          </a:ln>
        </p:spPr>
      </p:sp>
      <p:sp>
        <p:nvSpPr>
          <p:cNvPr id="17" name="Text 13"/>
          <p:cNvSpPr txBox="1"/>
          <p:nvPr/>
        </p:nvSpPr>
        <p:spPr>
          <a:xfrm>
            <a:off x="3429000" y="3200400"/>
            <a:ext cx="2286000" cy="41148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[nama materi]</a:t>
            </a:r>
            <a:endParaRPr lang="en-US" sz="1500" dirty="0"/>
          </a:p>
        </p:txBody>
      </p:sp>
      <p:sp>
        <p:nvSpPr>
          <p:cNvPr id="18" name="Text 14"/>
          <p:cNvSpPr txBox="1"/>
          <p:nvPr/>
        </p:nvSpPr>
        <p:spPr>
          <a:xfrm>
            <a:off x="3429000" y="3611880"/>
            <a:ext cx="2286000" cy="320040"/>
          </a:xfrm>
          <a:prstGeom prst="rect">
            <a:avLst/>
          </a:prstGeom>
          <a:noFill/>
          <a:ln/>
        </p:spPr>
        <p:txBody>
          <a:bodyPr wrap="square" lIns="0" tIns="0" rIns="0" bIns="0" rtlCol="0" anchor="t"/>
          <a:lstStyle/>
          <a:p>
            <a:pPr indent="0" marL="0">
              <a:buNone/>
            </a:pPr>
            <a:r>
              <a:rPr lang="en-US" sz="1600" b="1" dirty="0">
                <a:solidFill>
                  <a:srgbClr val="D4A017"/>
                </a:solidFill>
                <a:latin typeface="Calibri" pitchFamily="34" charset="0"/>
                <a:ea typeface="Calibri" pitchFamily="34" charset="-122"/>
                <a:cs typeface="Calibri" pitchFamily="34" charset="-120"/>
              </a:rPr>
              <a:t>↓</a:t>
            </a:r>
            <a:endParaRPr lang="en-US" sz="1600" dirty="0"/>
          </a:p>
        </p:txBody>
      </p:sp>
      <p:sp>
        <p:nvSpPr>
          <p:cNvPr id="19" name="Text 15"/>
          <p:cNvSpPr txBox="1"/>
          <p:nvPr/>
        </p:nvSpPr>
        <p:spPr>
          <a:xfrm>
            <a:off x="3429000" y="3931920"/>
            <a:ext cx="2286000" cy="411480"/>
          </a:xfrm>
          <a:prstGeom prst="rect">
            <a:avLst/>
          </a:prstGeom>
          <a:noFill/>
          <a:ln/>
        </p:spPr>
        <p:txBody>
          <a:bodyPr wrap="square" lIns="0" tIns="0" rIns="0" bIns="0" rtlCol="0" anchor="t"/>
          <a:lstStyle/>
          <a:p>
            <a:pPr indent="0" marL="0">
              <a:buNone/>
            </a:pPr>
            <a:r>
              <a:rPr lang="en-US" sz="1500" b="1" dirty="0">
                <a:solidFill>
                  <a:srgbClr val="0F4C3A"/>
                </a:solidFill>
                <a:latin typeface="Calibri" pitchFamily="34" charset="0"/>
                <a:ea typeface="Calibri" pitchFamily="34" charset="-122"/>
                <a:cs typeface="Calibri" pitchFamily="34" charset="-120"/>
              </a:rPr>
              <a:t>isim dan fi'il</a:t>
            </a:r>
            <a:endParaRPr lang="en-US" sz="1500" dirty="0"/>
          </a:p>
        </p:txBody>
      </p:sp>
      <p:sp>
        <p:nvSpPr>
          <p:cNvPr id="20" name="Shape 16"/>
          <p:cNvSpPr/>
          <p:nvPr/>
        </p:nvSpPr>
        <p:spPr>
          <a:xfrm>
            <a:off x="6035040" y="3063240"/>
            <a:ext cx="2606040" cy="1463040"/>
          </a:xfrm>
          <a:prstGeom prst="roundRect">
            <a:avLst>
              <a:gd name="adj" fmla="val 6250"/>
            </a:avLst>
          </a:prstGeom>
          <a:solidFill>
            <a:srgbClr val="E6F2EC"/>
          </a:solidFill>
          <a:ln w="12700">
            <a:solidFill>
              <a:srgbClr val="E6F2EC"/>
            </a:solidFill>
            <a:prstDash val="solid"/>
          </a:ln>
        </p:spPr>
      </p:sp>
      <p:sp>
        <p:nvSpPr>
          <p:cNvPr id="21" name="Text 17"/>
          <p:cNvSpPr txBox="1"/>
          <p:nvPr/>
        </p:nvSpPr>
        <p:spPr>
          <a:xfrm>
            <a:off x="6217920" y="3200400"/>
            <a:ext cx="2286000" cy="41148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[jumlah]</a:t>
            </a:r>
            <a:endParaRPr lang="en-US" sz="1500" dirty="0"/>
          </a:p>
        </p:txBody>
      </p:sp>
      <p:sp>
        <p:nvSpPr>
          <p:cNvPr id="22" name="Text 18"/>
          <p:cNvSpPr txBox="1"/>
          <p:nvPr/>
        </p:nvSpPr>
        <p:spPr>
          <a:xfrm>
            <a:off x="6217920" y="3611880"/>
            <a:ext cx="2286000" cy="320040"/>
          </a:xfrm>
          <a:prstGeom prst="rect">
            <a:avLst/>
          </a:prstGeom>
          <a:noFill/>
          <a:ln/>
        </p:spPr>
        <p:txBody>
          <a:bodyPr wrap="square" lIns="0" tIns="0" rIns="0" bIns="0" rtlCol="0" anchor="t"/>
          <a:lstStyle/>
          <a:p>
            <a:pPr indent="0" marL="0">
              <a:buNone/>
            </a:pPr>
            <a:r>
              <a:rPr lang="en-US" sz="1600" b="1" dirty="0">
                <a:solidFill>
                  <a:srgbClr val="D4A017"/>
                </a:solidFill>
                <a:latin typeface="Calibri" pitchFamily="34" charset="0"/>
                <a:ea typeface="Calibri" pitchFamily="34" charset="-122"/>
                <a:cs typeface="Calibri" pitchFamily="34" charset="-120"/>
              </a:rPr>
              <a:t>↓</a:t>
            </a:r>
            <a:endParaRPr lang="en-US" sz="1600" dirty="0"/>
          </a:p>
        </p:txBody>
      </p:sp>
      <p:sp>
        <p:nvSpPr>
          <p:cNvPr id="23" name="Text 19"/>
          <p:cNvSpPr txBox="1"/>
          <p:nvPr/>
        </p:nvSpPr>
        <p:spPr>
          <a:xfrm>
            <a:off x="6217920" y="3931920"/>
            <a:ext cx="2286000" cy="411480"/>
          </a:xfrm>
          <a:prstGeom prst="rect">
            <a:avLst/>
          </a:prstGeom>
          <a:noFill/>
          <a:ln/>
        </p:spPr>
        <p:txBody>
          <a:bodyPr wrap="square" lIns="0" tIns="0" rIns="0" bIns="0" rtlCol="0" anchor="t"/>
          <a:lstStyle/>
          <a:p>
            <a:pPr indent="0" marL="0">
              <a:buNone/>
            </a:pPr>
            <a:r>
              <a:rPr lang="en-US" sz="1500" b="1" dirty="0">
                <a:solidFill>
                  <a:srgbClr val="0F4C3A"/>
                </a:solidFill>
                <a:latin typeface="Calibri" pitchFamily="34" charset="0"/>
                <a:ea typeface="Calibri" pitchFamily="34" charset="-122"/>
                <a:cs typeface="Calibri" pitchFamily="34" charset="-120"/>
              </a:rPr>
              <a:t>3</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AI Study Assistant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10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dokumen bersama dan menulis prompt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dan memperbaiki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Merapikan dan menutup dengan catatan bijak</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AI Study Assistant Kelas 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AI Study Assistant Kelas 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Heading 1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Bahasa Arab</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Disusun oleh: Kelompok 2</a:t>
            </a:r>
            <a:endParaRPr lang="en-US" sz="800" dirty="0"/>
          </a:p>
        </p:txBody>
      </p:sp>
      <p:sp>
        <p:nvSpPr>
          <p:cNvPr id="71" name="Shape 60"/>
          <p:cNvSpPr/>
          <p:nvPr/>
        </p:nvSpPr>
        <p:spPr>
          <a:xfrm>
            <a:off x="1527048" y="2601221"/>
            <a:ext cx="3072384" cy="257429"/>
          </a:xfrm>
          <a:prstGeom prst="roundRect">
            <a:avLst>
              <a:gd name="adj" fmla="val 17760"/>
            </a:avLst>
          </a:prstGeom>
          <a:solidFill>
            <a:srgbClr val="FFFFFF">
              <a:alpha val="0"/>
            </a:srgbClr>
          </a:solidFill>
          <a:ln w="31750">
            <a:solidFill>
              <a:srgbClr val="E53935"/>
            </a:solidFill>
            <a:prstDash val="solid"/>
          </a:ln>
        </p:spPr>
      </p:sp>
      <p:sp>
        <p:nvSpPr>
          <p:cNvPr id="72" name="Shape 61"/>
          <p:cNvSpPr/>
          <p:nvPr/>
        </p:nvSpPr>
        <p:spPr>
          <a:xfrm>
            <a:off x="4462272" y="2464061"/>
            <a:ext cx="274320" cy="274320"/>
          </a:xfrm>
          <a:prstGeom prst="ellipse">
            <a:avLst/>
          </a:prstGeom>
          <a:solidFill>
            <a:srgbClr val="E53935"/>
          </a:solidFill>
          <a:ln w="12700">
            <a:solidFill>
              <a:srgbClr val="FFFFFF"/>
            </a:solidFill>
            <a:prstDash val="solid"/>
          </a:ln>
        </p:spPr>
      </p:sp>
      <p:sp>
        <p:nvSpPr>
          <p:cNvPr id="73" name="Text 62"/>
          <p:cNvSpPr txBox="1"/>
          <p:nvPr/>
        </p:nvSpPr>
        <p:spPr>
          <a:xfrm>
            <a:off x="446227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4" name="Image 9" descr="preencoded.png">    </p:cNvPr>
          <p:cNvPicPr>
            <a:picLocks noChangeAspect="1"/>
          </p:cNvPicPr>
          <p:nvPr/>
        </p:nvPicPr>
        <p:blipFill>
          <a:blip r:embed="rId10"/>
          <a:stretch>
            <a:fillRect/>
          </a:stretch>
        </p:blipFill>
        <p:spPr>
          <a:xfrm>
            <a:off x="3214116" y="2740064"/>
            <a:ext cx="237744" cy="237744"/>
          </a:xfrm>
          <a:prstGeom prst="rect">
            <a:avLst/>
          </a:prstGeom>
        </p:spPr>
      </p:pic>
      <p:sp>
        <p:nvSpPr>
          <p:cNvPr id="75"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6"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dokumen bersama, cari bagian mapelmu</a:t>
            </a:r>
            <a:endParaRPr lang="en-US" sz="1800" dirty="0"/>
          </a:p>
        </p:txBody>
      </p:sp>
      <p:sp>
        <p:nvSpPr>
          <p:cNvPr id="77"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Drive › Shared with me › AI Study Assistant Kelas 1. Tekan Ctrl + End, lalu Ctrl + Enter untuk halaman baru. Tulis nama mapel (Heading 1).</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Prompt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AI Study Assistant Kelas 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AI Study Assistant Kelas 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Bahasa Arab</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1. Menjelaskan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adalah guru Bahasa Arab yang sabar.</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Jelaskan [materi] dalam [jumlah] poin...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2. Merangkum</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Rangkum teks berikut menjadi 5 poin: [teks]</a:t>
            </a:r>
            <a:endParaRPr lang="en-US" sz="800" dirty="0"/>
          </a:p>
        </p:txBody>
      </p:sp>
      <p:sp>
        <p:nvSpPr>
          <p:cNvPr id="75" name="Text 64"/>
          <p:cNvSpPr txBox="1"/>
          <p:nvPr/>
        </p:nvSpPr>
        <p:spPr>
          <a:xfrm>
            <a:off x="1554480" y="38421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3. Membuat Soal ...</a:t>
            </a:r>
            <a:endParaRPr lang="en-US" sz="800" dirty="0"/>
          </a:p>
        </p:txBody>
      </p:sp>
      <p:sp>
        <p:nvSpPr>
          <p:cNvPr id="76" name="Shape 65"/>
          <p:cNvSpPr/>
          <p:nvPr/>
        </p:nvSpPr>
        <p:spPr>
          <a:xfrm>
            <a:off x="1527048" y="2849506"/>
            <a:ext cx="3072384" cy="1167384"/>
          </a:xfrm>
          <a:prstGeom prst="roundRect">
            <a:avLst>
              <a:gd name="adj" fmla="val 3916"/>
            </a:avLst>
          </a:prstGeom>
          <a:solidFill>
            <a:srgbClr val="FFFFFF">
              <a:alpha val="0"/>
            </a:srgbClr>
          </a:solidFill>
          <a:ln w="31750">
            <a:solidFill>
              <a:srgbClr val="E53935"/>
            </a:solidFill>
            <a:prstDash val="solid"/>
          </a:ln>
        </p:spPr>
      </p:sp>
      <p:sp>
        <p:nvSpPr>
          <p:cNvPr id="77" name="Shape 66"/>
          <p:cNvSpPr/>
          <p:nvPr/>
        </p:nvSpPr>
        <p:spPr>
          <a:xfrm>
            <a:off x="4462272" y="2712346"/>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9" name="Image 9" descr="preencoded.png">    </p:cNvPr>
          <p:cNvPicPr>
            <a:picLocks noChangeAspect="1"/>
          </p:cNvPicPr>
          <p:nvPr/>
        </p:nvPicPr>
        <p:blipFill>
          <a:blip r:embed="rId10"/>
          <a:stretch>
            <a:fillRect/>
          </a:stretch>
        </p:blipFill>
        <p:spPr>
          <a:xfrm>
            <a:off x="3214116" y="3488824"/>
            <a:ext cx="237744" cy="237744"/>
          </a:xfrm>
          <a:prstGeom prst="rect">
            <a:avLst/>
          </a:prstGeom>
        </p:spPr>
      </p:pic>
      <p:sp>
        <p:nvSpPr>
          <p:cNvPr id="80"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1"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4 prompt template</a:t>
            </a:r>
            <a:endParaRPr lang="en-US" sz="1800" dirty="0"/>
          </a:p>
        </p:txBody>
      </p:sp>
      <p:sp>
        <p:nvSpPr>
          <p:cNvPr id="82"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4 prompt: Menjelaskan, Merangkum, Membuat Soal, Menguji Pemahaman. Gunakan [kurung siku] untuk bagian yang diganti.</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694944"/>
          </a:xfrm>
          <a:prstGeom prst="roundRect">
            <a:avLst>
              <a:gd name="adj" fmla="val 13158"/>
            </a:avLst>
          </a:prstGeom>
          <a:solidFill>
            <a:srgbClr val="E3E9F5"/>
          </a:solidFill>
          <a:ln w="12700">
            <a:solidFill>
              <a:srgbClr val="E3E9F5"/>
            </a:solidFill>
            <a:prstDash val="solid"/>
          </a:ln>
        </p:spPr>
      </p:sp>
      <p:sp>
        <p:nvSpPr>
          <p:cNvPr id="32" name="Text 25"/>
          <p:cNvSpPr txBox="1"/>
          <p:nvPr/>
        </p:nvSpPr>
        <p:spPr>
          <a:xfrm>
            <a:off x="2648468" y="1805693"/>
            <a:ext cx="2707356" cy="69494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Kamu adalah guru Bahasa Arab yang sabar. Saya santri kelas 1 SMP. Ajukan 3 pertanyaan kepada saya untuk menguji pemahaman tentang isim dan fi'il. Tunggu jawaban saya sebelum memberi pertanyaan berikutnya.</a:t>
            </a:r>
            <a:endParaRPr lang="en-US" sz="750" dirty="0"/>
          </a:p>
        </p:txBody>
      </p:sp>
      <p:pic>
        <p:nvPicPr>
          <p:cNvPr id="33" name="Image 5" descr="preencoded.png">    </p:cNvPr>
          <p:cNvPicPr>
            <a:picLocks noChangeAspect="1"/>
          </p:cNvPicPr>
          <p:nvPr/>
        </p:nvPicPr>
        <p:blipFill>
          <a:blip r:embed="rId6"/>
          <a:stretch>
            <a:fillRect/>
          </a:stretch>
        </p:blipFill>
        <p:spPr>
          <a:xfrm>
            <a:off x="1593616" y="2592077"/>
            <a:ext cx="182880" cy="182880"/>
          </a:xfrm>
          <a:prstGeom prst="rect">
            <a:avLst/>
          </a:prstGeom>
        </p:spPr>
      </p:pic>
      <p:sp>
        <p:nvSpPr>
          <p:cNvPr id="34" name="Text 26"/>
          <p:cNvSpPr txBox="1"/>
          <p:nvPr/>
        </p:nvSpPr>
        <p:spPr>
          <a:xfrm>
            <a:off x="1849648" y="2592077"/>
            <a:ext cx="3533607" cy="27432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Baik! Pertanyaan pertama: Apakah kata "kitab" termasuk isim atau fi'il? Jelaskan alasanmu.</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2529596" y="1778261"/>
            <a:ext cx="2945100" cy="749808"/>
          </a:xfrm>
          <a:prstGeom prst="roundRect">
            <a:avLst>
              <a:gd name="adj" fmla="val 6098"/>
            </a:avLst>
          </a:prstGeom>
          <a:solidFill>
            <a:srgbClr val="FFFFFF">
              <a:alpha val="0"/>
            </a:srgbClr>
          </a:solidFill>
          <a:ln w="31750">
            <a:solidFill>
              <a:srgbClr val="E53935"/>
            </a:solidFill>
            <a:prstDash val="solid"/>
          </a:ln>
        </p:spPr>
      </p:sp>
      <p:sp>
        <p:nvSpPr>
          <p:cNvPr id="41" name="Shape 32"/>
          <p:cNvSpPr/>
          <p:nvPr/>
        </p:nvSpPr>
        <p:spPr>
          <a:xfrm>
            <a:off x="5337536" y="1641101"/>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337536" y="16411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3" name="Image 7" descr="preencoded.png">    </p:cNvPr>
          <p:cNvPicPr>
            <a:picLocks noChangeAspect="1"/>
          </p:cNvPicPr>
          <p:nvPr/>
        </p:nvPicPr>
        <p:blipFill>
          <a:blip r:embed="rId8"/>
          <a:stretch>
            <a:fillRect/>
          </a:stretch>
        </p:blipFill>
        <p:spPr>
          <a:xfrm>
            <a:off x="4146658" y="2187912"/>
            <a:ext cx="237744" cy="237744"/>
          </a:xfrm>
          <a:prstGeom prst="rect">
            <a:avLst/>
          </a:prstGeom>
        </p:spPr>
      </p:pic>
      <p:sp>
        <p:nvSpPr>
          <p:cNvPr id="44" name="Shape 34"/>
          <p:cNvSpPr/>
          <p:nvPr/>
        </p:nvSpPr>
        <p:spPr>
          <a:xfrm>
            <a:off x="1822216" y="2564645"/>
            <a:ext cx="3588471" cy="329184"/>
          </a:xfrm>
          <a:prstGeom prst="roundRect">
            <a:avLst>
              <a:gd name="adj" fmla="val 13889"/>
            </a:avLst>
          </a:prstGeom>
          <a:solidFill>
            <a:srgbClr val="FFFFFF">
              <a:alpha val="0"/>
            </a:srgbClr>
          </a:solidFill>
          <a:ln w="31750">
            <a:solidFill>
              <a:srgbClr val="E53935"/>
            </a:solidFill>
            <a:prstDash val="solid"/>
          </a:ln>
        </p:spPr>
      </p:sp>
      <p:sp>
        <p:nvSpPr>
          <p:cNvPr id="45" name="Shape 35"/>
          <p:cNvSpPr/>
          <p:nvPr/>
        </p:nvSpPr>
        <p:spPr>
          <a:xfrm>
            <a:off x="5273528" y="2427485"/>
            <a:ext cx="274320" cy="274320"/>
          </a:xfrm>
          <a:prstGeom prst="ellipse">
            <a:avLst/>
          </a:prstGeom>
          <a:solidFill>
            <a:srgbClr val="E53935"/>
          </a:solidFill>
          <a:ln w="12700">
            <a:solidFill>
              <a:srgbClr val="FFFFFF"/>
            </a:solidFill>
            <a:prstDash val="solid"/>
          </a:ln>
        </p:spPr>
      </p:sp>
      <p:sp>
        <p:nvSpPr>
          <p:cNvPr id="46" name="Text 36"/>
          <p:cNvSpPr txBox="1"/>
          <p:nvPr/>
        </p:nvSpPr>
        <p:spPr>
          <a:xfrm>
            <a:off x="5273528" y="2427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7" name="Image 8" descr="preencoded.png">    </p:cNvPr>
          <p:cNvPicPr>
            <a:picLocks noChangeAspect="1"/>
          </p:cNvPicPr>
          <p:nvPr/>
        </p:nvPicPr>
        <p:blipFill>
          <a:blip r:embed="rId9"/>
          <a:stretch>
            <a:fillRect/>
          </a:stretch>
        </p:blipFill>
        <p:spPr>
          <a:xfrm>
            <a:off x="3793132" y="2742953"/>
            <a:ext cx="237744" cy="237744"/>
          </a:xfrm>
          <a:prstGeom prst="rect">
            <a:avLst/>
          </a:prstGeom>
        </p:spPr>
      </p:pic>
      <p:sp>
        <p:nvSpPr>
          <p:cNvPr id="48"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9"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menguji prompt di layar</a:t>
            </a:r>
            <a:endParaRPr lang="en-US" sz="1800" dirty="0"/>
          </a:p>
        </p:txBody>
      </p:sp>
      <p:sp>
        <p:nvSpPr>
          <p:cNvPr id="50"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mengisi kurung siku dengan materi nyata. Guru mencobakan prompt ke AI di layar.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AI Study Assistant Kelas 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AI Study Assistant Kelas 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4. Menguji Pemahaman</a:t>
            </a:r>
            <a:endParaRPr lang="en-US" sz="800" dirty="0"/>
          </a:p>
        </p:txBody>
      </p:sp>
      <p:sp>
        <p:nvSpPr>
          <p:cNvPr id="70" name="Text 59"/>
          <p:cNvSpPr txBox="1"/>
          <p:nvPr/>
        </p:nvSpPr>
        <p:spPr>
          <a:xfrm>
            <a:off x="1554480" y="282169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Ajukan 3 pertanyaan tentang [materi]...</a:t>
            </a:r>
            <a:endParaRPr lang="en-US" sz="800" dirty="0"/>
          </a:p>
        </p:txBody>
      </p:sp>
      <p:sp>
        <p:nvSpPr>
          <p:cNvPr id="71" name="Text 60"/>
          <p:cNvSpPr txBox="1"/>
          <p:nvPr/>
        </p:nvSpPr>
        <p:spPr>
          <a:xfrm>
            <a:off x="1554480" y="301473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Contoh hasil: "Apakah kata kitab termasuk</a:t>
            </a:r>
            <a:endParaRPr lang="en-US" sz="800" dirty="0"/>
          </a:p>
        </p:txBody>
      </p:sp>
      <p:sp>
        <p:nvSpPr>
          <p:cNvPr id="72" name="Text 61"/>
          <p:cNvSpPr txBox="1"/>
          <p:nvPr/>
        </p:nvSpPr>
        <p:spPr>
          <a:xfrm>
            <a:off x="1554480" y="320777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isim atau fi'il? Jelaskan alasanmu."</a:t>
            </a:r>
            <a:endParaRPr lang="en-US" sz="800" dirty="0"/>
          </a:p>
        </p:txBody>
      </p:sp>
      <p:sp>
        <p:nvSpPr>
          <p:cNvPr id="73" name="Text 62"/>
          <p:cNvSpPr txBox="1"/>
          <p:nvPr/>
        </p:nvSpPr>
        <p:spPr>
          <a:xfrm>
            <a:off x="1554480" y="3400813"/>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Status: sudah diuji ✓</a:t>
            </a:r>
            <a:endParaRPr lang="en-US" sz="800" dirty="0"/>
          </a:p>
        </p:txBody>
      </p:sp>
      <p:sp>
        <p:nvSpPr>
          <p:cNvPr id="74" name="Shape 63"/>
          <p:cNvSpPr/>
          <p:nvPr/>
        </p:nvSpPr>
        <p:spPr>
          <a:xfrm>
            <a:off x="1527048" y="2987301"/>
            <a:ext cx="3072384" cy="588264"/>
          </a:xfrm>
          <a:prstGeom prst="roundRect">
            <a:avLst>
              <a:gd name="adj" fmla="val 7772"/>
            </a:avLst>
          </a:prstGeom>
          <a:solidFill>
            <a:srgbClr val="FFFFFF">
              <a:alpha val="0"/>
            </a:srgbClr>
          </a:solidFill>
          <a:ln w="31750">
            <a:solidFill>
              <a:srgbClr val="E53935"/>
            </a:solidFill>
            <a:prstDash val="solid"/>
          </a:ln>
        </p:spPr>
      </p:sp>
      <p:sp>
        <p:nvSpPr>
          <p:cNvPr id="75" name="Shape 64"/>
          <p:cNvSpPr/>
          <p:nvPr/>
        </p:nvSpPr>
        <p:spPr>
          <a:xfrm>
            <a:off x="4462272" y="2850141"/>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8501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7" name="Image 9" descr="preencoded.png">    </p:cNvPr>
          <p:cNvPicPr>
            <a:picLocks noChangeAspect="1"/>
          </p:cNvPicPr>
          <p:nvPr/>
        </p:nvPicPr>
        <p:blipFill>
          <a:blip r:embed="rId10"/>
          <a:stretch>
            <a:fillRect/>
          </a:stretch>
        </p:blipFill>
        <p:spPr>
          <a:xfrm>
            <a:off x="3214116" y="3308103"/>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prompt dan tambahkan contoh hasil</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hasilnya kurang baik, perbaiki prompt (tambah konteks atau format). Tempel potongan hasil terbaik sebagai contoh.</a:t>
            </a:r>
            <a:endParaRPr lang="en-US" sz="1300" dirty="0"/>
          </a:p>
        </p:txBody>
      </p:sp>
      <p:sp>
        <p:nvSpPr>
          <p:cNvPr id="81" name="Shape 6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3" name="Text 7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Contoh hasil cukup 2–3 baris, ditulis miring.</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AI Study Assistant Kelas 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AI Study Assistant Kelas 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Bahasa Arab</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Disusun oleh: Kelompok 2</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1. Menjelaskan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Kamu adalah guru Bahasa Arab yang sabar...</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Contoh hasil: "Isim adalah kata benda..."</a:t>
            </a:r>
            <a:endParaRPr lang="en-US" sz="800" dirty="0"/>
          </a:p>
        </p:txBody>
      </p:sp>
      <p:sp>
        <p:nvSpPr>
          <p:cNvPr id="74" name="Shape 63"/>
          <p:cNvSpPr/>
          <p:nvPr/>
        </p:nvSpPr>
        <p:spPr>
          <a:xfrm>
            <a:off x="1261872" y="2427485"/>
            <a:ext cx="3602736" cy="1586187"/>
          </a:xfrm>
          <a:prstGeom prst="roundRect">
            <a:avLst>
              <a:gd name="adj" fmla="val 2882"/>
            </a:avLst>
          </a:prstGeom>
          <a:solidFill>
            <a:srgbClr val="FFFFFF">
              <a:alpha val="0"/>
            </a:srgbClr>
          </a:solidFill>
          <a:ln w="31750">
            <a:solidFill>
              <a:srgbClr val="E53935"/>
            </a:solidFill>
            <a:prstDash val="solid"/>
          </a:ln>
        </p:spPr>
      </p:sp>
      <p:sp>
        <p:nvSpPr>
          <p:cNvPr id="75" name="Shape 64"/>
          <p:cNvSpPr/>
          <p:nvPr/>
        </p:nvSpPr>
        <p:spPr>
          <a:xfrm>
            <a:off x="4727448" y="2290325"/>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72744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Rapikan format bagian kelompokmu</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Judul prompt tebal, prompt dalam paragraf biasa, contoh hasil miring. Periksa ejaan.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AI Study Assistant Kelas 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AI Study Assistant Kelas 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Catatan Bijak</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Rangkum sendiri sebelum bertanya AI.</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Kerjakan soal tanpa mengintip kunci.</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Periksa jawaban AI dengan buku.</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Jangan masukkan data pribadi.</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Urusan agama: tanya ustadz.</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Catatan Bijak di akhir dokumen</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menulis bersama kelas: 5 catatan bijak belajar dengan AI. Lalu sisipkan daftar isi di awal dokumen.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AI Study Assistant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Bagian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4 prompt template: menjelaskan, merangkum, soal, menguji pemahaman.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prompt memakai [kurung siku] untuk bagian yang diganti.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Setiap prompt sudah diuji, dengan contoh hasil dan status.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Format rapi dan seragam, tanpa salah ketik.</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10: AI untuk Belajar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mapel punya 4 prompt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prompt sudah diuji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catatan bijak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Dokumen rapi dan mudah dibaca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Prompt mana yang paling bermanfaat?</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panduan ini bisa membantu teman-teman?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Ilmu yang dibagikan akan menjadi amal jariyah.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11: Digital Storytelling, bercerita dengan media digital.</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10 - AI untuk Belajar</dc:title>
  <dc:subject>PptxGenJS Presentation</dc:subject>
  <dc:creator>PptxGenJS</dc:creator>
  <cp:lastModifiedBy>PptxGenJS</cp:lastModifiedBy>
  <cp:revision>1</cp:revision>
  <dcterms:created xsi:type="dcterms:W3CDTF">2026-10-01T05:41:45Z</dcterms:created>
  <dcterms:modified xsi:type="dcterms:W3CDTF">2026-10-01T05:41:45Z</dcterms:modified>
</cp:coreProperties>
</file>