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9: AI Dasar — Proyek: Panduan Bijak Menggunakan AI
Terdiri dari 3 pertemuan (Pertemuan 25–27),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PENTING: setiap layanan AI menetapkan usia minimal pengguna. Periksa ketentuan layanan yang akan dipakai. Pada modul ini, AI DIOPERASIKAN OLEH GURU di komputer yang tersambung ke proyektor, memakai akun pesantren. Santri menuliskan prompt di kertas atau Google Docs, lalu guru mengetikkannya ke AI di layar.
- Jangan pernah memasukkan data pribadi santri (nama lengkap, alamat, nomor HP, foto) ke AI.
- Coba terlebih dahulu prompt-prompt contoh di slide sebelum kelas, agar guru mengetahui jawaban yang akan muncul.
- Jawaban AI berbeda-beda setiap kali ditanya. Itu wajar; gunakan jawaban yang muncul di layar sebagai bahan diskusi.
- Pertemuan 26: siapkan buku pelajaran IPA atau mapel lain untuk mencocokkan jawaban AI.
CATATAN
Gambar layar AI di slide adalah ilustrasi umum. Tampilan layanan AI yang dipakai mungkin berbeda, tetapi bagian utamanya sama: kotak untuk mengetik pertanyaan (prompt), tombol kirim, dan area jawaban.
Untuk urusan agama, tegaskan kepada santri bahwa rujukan utama adalah ustadz dan kitab, bukan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ke-25, dengan judul "Apa Itu AI?". Kita akan berkenalan dengan kecerdasan buatan: apa yang bisa dilakukannya, dan apa yang tidak bisa.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Video Adab Santri sudah jadi. Hari ini kita masuk Modul 9 yang sangat menarik: kecerdasan buatan, atau AI.
Sekarang pertanyaan hari ini. Coba pikirkan sejenak:
"Menurut kalian, apakah komputer bisa berpikir seperti manusia?"
(Beri waktu 1 menit. Minta 2–3 santri menjawab. Hargai semua jawaban.)
Pertanyaan yang bagus. Ada yang menjawab bisa, ada yang menjawab tidak. Hari ini kita akan melihat bahwa AI memang tampak pintar, tetapi cara kerjanya sangat berbeda dengan akal manusia yang Allah anugerahkan kepada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adalah singkatan dari Artificial Intelligence, artinya kecerdasan buatan. AI adalah program komputer yang dibuat agar bisa melakukan hal-hal yang biasanya memerlukan kecerdasan, seperti memahami bahasa, mengenali gambar, atau menjawab pertanyaan.
Bagaimana caranya? AI belajar dari data dalam jumlah yang sangat besar. Bayangkan seorang santri yang membaca jutaan buku. Ia akan hafal banyak pola kalimat. Ketika ditanya, ia menyusun jawaban berdasarkan pola yang pernah ia baca. Kurang lebih seperti itulah AI bekerja.
Tetapi ingat tiga hal penting.
Pertama, AI tidak berpikir seperti manusia. Ia mengenali pola, bukan memahami dengan akal dan hati.
Kedua, AI tidak memiliki iman, akhlak, atau perasaan.
Ketiga, karena hanya menyusun pola, AI bisa salah, bahkan bisa mengarang sesuatu yang terdengar meyakinkan padahal tidak benar.
Akal manusia adalah anugerah Allah yang jauh lebih mulia. AI hanyalah alat buatan manusia.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kita sadari, AI sudah ada di sekitar kita.
Pertama, ASISTEN SUARA di HP, yang bisa menjalankan perintah seperti setel alarm jam empat.
Kedua, PENERJEMAH OTOMATIS, yang bisa menerjemahkan bahasa Arab atau Inggris.
Ketiga, PENGENAL WAJAH, yang membuka kunci HP dengan wajah pemiliknya.
Keempat, REKOMENDASI, misalnya aplikasi video yang menyarankan video berikutnya sesuai kebiasaan kita. Hati-hati, rekomendasi ini bisa membuat kita lupa waktu.
Kelima, CHATBOT, yaitu AI yang bisa diajak bercakap-cakap dan menjawab pertanyaan, seperti Gemini dan Claude. Inilah yang akan kita pelajari di modul ini.
Keenam, PETA DIGITAL yang memperkirakan kemacetan dan rute tercepat.
Coba pikirkan: AI apa lagi yang pernah kalian lihat?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bandingkan kemampuan dan keterbatasan AI.
Di kolom hijau, hal yang BISA dilakukan AI dengan cukup baik:
Menjelaskan materi pelajaran dengan bahasa yang sederhana.
Merangkum tulisan panjang, menerjemahkan, dan memberi ide.
Membantu menulis, bahkan membantu membuat dan memeriksa kode komputer, yang akan kalian pelajari di kelas 3.
Di kolom merah, yang TIDAK BISA dilakukan AI, atau sering salah:
AI tidak selalu benar. AI bisa mengarang fakta, nama, angka, bahkan sumber yang sebenarnya tidak ada, tetapi disampaikan dengan sangat meyakinkan. Ini disebut halusinasi AI.
AI tidak bisa menggantikan guru dan ulama, karena ilmu agama membutuhkan sanad, adab, dan bimbingan.
AI tidak memiliki iman, akhlak, dan rasa tanggung jawab. Yang bertanggung jawab atas penggunaannya adalah kita, manusia.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(Guru membuka layanan AI di komputer yang tersambung ke proyektor, dengan akun pesantren. Santri memperhatikan layar.)
Sekarang kita berkenalan langsung dengan AI. Saya yang akan mengetik di layar, dan kalian memperhatikan serta mencatat. Setelah itu kalian berdiskusi dalam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(Guru menampilkan halaman layanan AI di layar.)
Langkah pertama. Perhatikan tampilan layanan AI ini. Ada area obrolan yang luas di tengah. Di bagian bawah ada kotak untuk mengetik pertanyaan, tanda a. Pertanyaan atau perintah kepada AI disebut PROMPT. Di sebelah kanannya ada tombol kirim, tanda b.
Perhatikan juga tulisan kecil di bagian paling bawah. Hampir semua layanan AI menuliskan peringatan bahwa AI dapat membuat kesalahan. Pembuatnya sendiri mengakui bahwa AI bisa 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Saya akan mengetik pertanyaan pertama.
(Guru mengetik di layar:) "Jelaskan apa itu kecerdasan buatan kepada santri SMP dengan bahasa sederhana dan satu contoh dari kehidupan sehari-hari."
(Klik tombol kirim.)
Perhatikan, saya tidak hanya mengetik "AI itu apa". Saya menyebutkan untuk siapa jawabannya, dan meminta satu contoh. Nanti kita akan belajar mengapa ini penting.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Dalam beberapa detik, AI menuliskan jawaban.
(Bacakan jawaban AI yang muncul di layar.)
Bagaimana menurut kalian? Apakah jawabannya mudah dipahami? Apakah contohnya tepat?
Perhatikan bahwa jawaban di layar kalian mungkin berbeda dengan contoh di slide ini. AI menyusun jawaban baru setiap kali ditanya.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Sekarang kita uji keterbatasan AI. Saya akan bertanya tentang hal yang jawabannya kita ketahui dengan pasti, yaitu tentang pesantren kita sendiri.
(Guru mengetik, misalnya: Siapa nama mudir Pondok Pesantren Wihdatul Ummah Poso dan berapa jumlah santrinya?)
Perhatikan jawabannya. Ada AI yang jujur mengatakan tidak tahu. Tetapi ada juga AI yang mengarang jawaban, dengan nama dan angka yang terdengar meyakinkan padahal salah. Inilah yang disebut halusinasi AI.
(Diskusikan jawaban yang muncul di layar: benar, salah, atau mengaku tidak tahu?)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Sekarang saya bertanya tentang fakta yang bisa kita cocokkan sendiri.
(Guru mengetik, misalnya: Berapa jumlah surat dalam Al-Qur'an dan apa nama surat terpendek?)
Kalian pasti sudah tahu jawabannya. Coba periksa: apakah jawaban AI benar? Cocokkan dengan mushaf.
Pelajarannya: jawaban AI harus selalu kita periksa ke sumber yang terpercaya, terutama untuk hal-hal penting. Untuk urusan agama, rujukan kita adalah ustadz dan kitab.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Sekarang berdiskusilah dalam kelompok. Tulis di kertas dengan tiga kolom seperti di layar.
Kolom pertama: lima contoh AI di sekitar kita.
Kolom kedua: tiga hal yang bisa dilakukan AI.
Kolom ketiga: tiga keterbatasan AI.
Setelah 15 menit, setiap kelompok mempresentasikan hasilnya dalam satu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 pertanyaan ini di buku tulis kalian.
Satu: apa pengertian AI menurut bahasa kalian sendiri?
Dua: apa itu halusinasi AI? Berikan contoh dari kegiatan hari ini.
Tiga: mengapa jawaban AI harus diperiksa?
Empat: untuk urusan agama, kepada siapa kita merujuk?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5 contoh AI?
- kemampuan dan keterbatasan disebutkan?
- memahami bahwa AI bisa salah?
- hasil diskusi ditulis rapi?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apakah jawaban AI selalu benar?
Pertanyaan kedua: mengapa AI tidak boleh menggantikan guru?
(Minta 2–3 santri menjawab secara bergantian.)
Pesan adab kita hari ini: akal adalah nikmat Allah yang sangat mulia. Allah berkali-kali mengajak kita berpikir di dalam Al-Qur'an. Gunakan AI untuk membantu berpikir, bukan untuk berhenti berpikir.
Pekan depan: kita belajar membuat prompt yang baik dan memeriksa jawaban 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ke-26, dengan judul "Prompt &amp; Verifikasi". Kita akan belajar cara bertanya yang baik kepada AI, dan cara memeriksa jawabannya.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berkenalan dengan AI. Siapa yang ingat, apa itu halusinasi AI?
(Tunggu jawaban: ketika AI mengarang jawaban yang terdengar meyakinkan padahal salah.)
Sekarang pertanyaan hari ini. Coba pikirkan sejenak:
"Jika kita bertanya kepada ustadz dengan tidak jelas, bagaimana jawabannya?"
(Beri waktu 1 menit. Minta 2–3 santri menjawab. Hargai semua jawaban.)
Jawabannya juga kurang tepat, karena ustadz tidak tahu apa yang sebenarnya kita maksud. Bertanya kepada AI pun begitu. Perintah atau pertanyaan kepada AI disebut PROMPT. Prompt yang jelas menghasilkan jawaban yang tepat.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yang baik memiliki empat bahan, seperti resep masakan.
Bahan pertama, PERAN. Beri tahu AI harus berperan sebagai siapa. Contoh: Kamu adalah guru IPA yang sabar.
Bahan kedua, KONTEKS. Beri tahu siapa kita dan keadaan kita. Contoh: Saya santri kelas 1 SMP. Dengan konteks ini, AI akan memakai bahasa yang sesuai usia kita.
Bahan ketiga, TUGAS. Apa yang kita minta dengan jelas. Contoh: Jelaskan proses fotosintesis.
Bahan keempat, FORMAT. Dalam bentuk apa jawaban yang kita inginkan. Contoh: dalam lima poin singkat dengan satu contoh. Bisa juga tabel, daftar, atau paragraf pendek.
Jika digabung menjadi: Kamu adalah guru IPA yang sabar. Saya santri kelas 1 SMP. Jelaskan proses fotosintesis dalam lima poin singkat dengan satu contoh.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perbandingan ini.
Prompt pendek, di kolom merah, hanya satu kata: fotosintesis. AI tidak tahu siapa yang bertanya dan jawaban seperti apa yang diinginkan. Akibatnya, jawabannya bisa sangat panjang dan penuh istilah sulit untuk mahasiswa.
Prompt lengkap, di kolom hijau, memiliki peran, konteks, tugas, dan format. Jawabannya akan jauh lebih sesuai: singkat, bahasa sederhana, dan ada contoh.
Sebentar lagi kita akan membuktikannya di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mendapat jawaban dari AI, kita wajib memeriksanya. Ini disebut VERIFIKASI. Ingat pelajaran tabayyun di Modul 4? Verifikasi jawaban AI adalah tabayyun di era AI.
Langkah pertama, BACA JAWABAN AI dan pahami isinya. Tandai fakta-fakta penting seperti angka, nama, tanggal, dan istilah.
Langkah kedua, COCOKKAN dengan sumber terpercaya: buku pelajaran, guru, atau situs yang terpercaya.
Langkah ketiga, PUTUSKAN: benar, salah, atau perlu ditanyakan kepada guru.
Contohnya di bawah: AI menulis bahwa tumbuhan menghasilkan oksigen dan glukosa saat fotosintesis. Kita cocokkan dengan buku IPA. Ternyata benar.
Untuk urusan agama, verifikasi dilakukan dengan bertanya kepada ustadz.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(Guru mengoperasikan AI di layar proyektor. Siapkan buku IPA atau mapel lain untuk verifikasi.)
Sekarang kita buktikan perbedaan prompt pendek dan prompt lengkap, lalu kalian menyusun prompt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Saya mengetik prompt pendek, hanya satu kata: fotosintesis. Lalu kirim.
(Bacakan sebagian jawaban AI di layar.)
Bagaimana? Apakah mudah dipahami? Biasanya jawabannya panjang, dengan istilah sulit seperti fotoautotrof, tilakoid, dan siklus Calvin. Jawaban itu tidak salah, tetapi tidak sesuai untuk santri kelas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Saya klik Obrolan baru, tanda a, agar AI memulai dari awal. Lalu saya ketik prompt lengkap, tanda b:
"Kamu adalah guru IPA yang sabar. Saya santri kelas 1 SMP. Jelaskan proses fotosintesis dalam 5 poin singkat dengan satu contoh."
Perhatikan keempat bahannya: peran, konteks, tugas, dan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Bandingkan jawaban ini dengan jawaban sebelumnya.
(Bacakan jawaban AI di layar.)
Jawaban dari prompt lengkap jauh lebih singkat, sederhana, dan sesuai usia kalian. Ada contoh dari kehidupan sehari-hari. Itulah kekuatan prompt yang baik.
Sekarang mari kita periksa. Buka buku IPA kalian di bab fotosintesis. Apakah poin-poin dari AI sesuai dengan buku?
(Lakukan verifikasi bersama.)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Sekarang giliran kalian. Di Google Docs atau di kertas, tulis tiga prompt untuk tiga mata pelajaran yang berbeda, misalnya Bahasa Arab, Matematika, dan Sejarah Islam.
Pastikan setiap prompt memiliki empat bahan: peran, konteks, tugas, dan format.
Contoh: Kamu adalah guru Bahasa Arab yang sabar. Saya santri kelas 1 SMP. Jelaskan perbedaan isim dan fi'il dalam tiga poin dengan contoh.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Setiap kelompok memilih satu prompt terbaik dari anggotanya. Saya akan mengetikkannya ke AI di layar.
(Ketik prompt dari setiap kelompok bergantian, lalu bacakan jawabannya.)
Perhatikan, apakah jawabannya sesuai dengan yang diminta di prompt? Apakah formatnya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Untuk setiap jawaban AI, lakukan verifikasi. Cocokkan dengan buku pelajaran atau tanyakan kepada guru mapel.
Catat hasilnya dalam tabel seperti di layar: prompt apa, dicocokkan dengan apa, dan hasilnya benar, salah, atau perlu ditanyakan.
Jika AI keliru, jangan kecewa. Itu temuan yang sangat berharga, karena membuktikan bahwa verifikasi itu penting.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Kumpulkan hasil kerja kalian yang berisi empat hal.
Satu, tiga prompt lengkap untuk tiga pelajaran berbeda.
Dua, tanda pada setiap prompt: mana bagian peran, konteks, tugas, dan format. Boleh digarisbawahi dengan warna berbeda.
Tiga, tabel verifikasi.
Empat, satu kalimat tentang apa yang kalian pelajari hari ini.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setiap prompt memiliki 4 bahan?
- jawaban AI sudah dicocokkan?
- ada catatan jika AI keliru?
- bahasa prompt santun?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bahan prompt mana yang paling mengubah jawaban?
Pertanyaan kedua: bagaimana cara memeriksa jawaban AI?
(Minta 2–3 santri menjawab secara bergantian.)
Pesan adab kita hari ini: untuk urusan agama, bertanyalah kepada ustadz. AI boleh membantu menjelaskan pelajaran umum, tetapi ilmu agama diambil dari para ulama yang memiliki sanad dan adab. Allah memerintahkan kita bertanya kepada ahli ilmu jika kita tidak mengetahui.
Pekan depan: kita membahas etika AI dan menyusun Panduan Bijak Menggunakan 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ke-27, dengan judul "Etika AI". Hari ini kita menyelesaikan proyek Modul 9: menyusun Panduan Bijak Menggunakan AI.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resep prompt. Siapa yang ingat empat bahannya?
(Tunggu jawaban: peran, konteks, tugas, format.)
Sekarang pertanyaan hari ini. Coba pikirkan sejenak:
"Bolehkah tugas yang seluruhnya dikerjakan AI diakui sebagai karya kita sendiri?"
(Beri waktu 1 menit. Minta 2–3 santri menjawab. Hargai semua jawaban.)
Tidak boleh, karena itu termasuk tidak jujur. Hari ini kita membahas etika, yaitu aturan baik dan buruk dalam menggunakan AI, lalu menyusunnya menjadi Panduan Bijak Menggunakan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rambu utama dalam menggunakan AI. Mudah diingat: Jujur, Paham, Aman, Periksa.
Rambu pertama, JUJUR. Jika kita dibantu AI, akuilah. Jangan menyerahkan tulisan atau karya buatan AI lalu mengakuinya sebagai karya sendiri. Itu sama dengan menyontek.
Rambu kedua, PAHAM. Kita wajib memahami dan mampu menjelaskan setiap hasil pekerjaan kita. Jika guru bertanya dan kita tidak bisa menjelaskan, berarti kita belum belajar, hanya menyalin.
Rambu ketiga, AMAN. Jangan pernah memasukkan kata sandi, alamat rumah, nomor HP, foto, atau data pribadi kita maupun teman ke AI. Data yang kita ketik bisa disimpan oleh perusahaan pembuat AI.
Rambu keempat, PERIKSA. Informasi penting dari AI selalu dicek ulang ke sumber terpercaya, seperti yang kita latih pekan lalu.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diskusikan tiga kasus. Untuk setiap kasus, tanyakan kepada santri: boleh atau tidak, dan mengapa? Baru setelah itu buka jawabannya.
Kasus A. Ahmad meminta AI menuliskan karangan, lalu mengumpulkannya kepada guru atas namanya sendiri.
(Tunggu jawaban.) Jawabannya: TIDAK BOLEH. Ini tidak jujur, sama dengan plagiat.
Kasus B. Bilal tidak paham sebuah soal Matematika. Ia meminta AI menjelaskan langkah-langkahnya, lalu mengerjakan soal-soal lain sendiri.
(Tunggu jawaban.) Jawabannya: BOLEH. AI membantunya memahami, bukan menggantikan usahanya. Inilah cara yang benar.
Kasus C. Fauzan mengetik alamat rumah dan nomor HP orang tuanya ke AI agar dibuatkan surat.
(Tunggu jawaban.) Jawabannya: TIDAK BOLEH. Ia membocorkan data pribadi. Suratnya bisa dibuat dengan menulis alamat sendiri setelahnya, tanpa memberikan data asli ke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kelas menjadi kelompok 3–5 santri.)
Sekarang setiap kelompok menyusun Panduan Bijak Menggunakan AI. Panduan terbaik akan dicetak dan ditempel di ruang komputer pesantren.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Diskusikan dalam kelompok, lalu tulis sepuluh aturan bijak menggunakan AI di Google Docs.
Pastikan aturan kalian mencakup empat rambu: jujur, paham, aman, dan periksa. Tambahkan juga aturan lain yang kalian anggap penting, misalnya tentang adab, waktu penggunaan, atau urusan agama.
Tulis dengan kalimat singkat dan jelas, seperti contoh di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bawah setiap aturan, tulis satu kalimat alasannya. Contohnya: aturan periksa jawaban AI ke sumber terpercaya, alasannya karena AI bisa salah dan mengarang fakta.
Alasan membuat pembaca memahami mengapa aturan itu penting, bukan sekadar menghafal.
(Periksa aturan setiap kelompok. Pastikan isinya benar dan sesuai nilai pesantren.)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Sekarang kita desain panduannya agar menarik. Buka canva.com, masuk dengan akun pesantren, lalu cari poster dan pilih Poster Portrait, seperti di Modul 5.
Beri nama desain: Panduan AI, garis bawah, Kelompok, dan nomornya.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Tambahkan judul besar, misalnya Bijak Menggunakan AI. Lalu salin sepuluh aturan dari Google Docs: blok aturan di Docs, tekan Ctrl C, lalu di Canva tambahkan kotak teks dan tekan Ctrl V.
Terapkan empat prinsip desain dari Modul 5: kontras, perataan, pengulangan, dan kedekatan. Tambahkan satu ikon atau gambar yang sesuai.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Pasang identitas: klik Uploads, klik logo pondok, lalu letakkan di bagian bawah bersama nama kelompok, tanda a.
Setelah selesai, klik Share, Download, pastikan PNG, lalu klik Download, tanda b. Pindahkan file dari folder Downloads ke folder Portofolio,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Setiap kelompok menampilkan panduannya di layar dan menjelaskan tiga aturan terpenting beserta alasannya, dalam waktu dua menit.
Kelompok lain menyimak, lalu memberi satu pujian dan satu saran.
(Pilih satu atau dua panduan terbaik untuk dicetak dan ditempel di ruang komputer.)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kelompok dinyatakan selesai jika empat syarat ini terpenuhi.
Satu, berisi sepuluh aturan yang jelas dengan alasan singkat.
Dua, mencakup rambu jujur, paham, aman, dan periksa.
Tiga, didesain rapi dengan prinsip desain dan logo pondok.
Empat, tersimpan sebagai PNG di folder Proyek dan sudah dipresentasikan.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10 aturan yang jelas?
- mencakup jujur, paham, aman, periksa?
- desain rapi dengan logo pondok?
- tersimpan di folder Proyek?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aturan mana yang paling penting menurutmu?
Pertanyaan kedua: bagaimana AI bisa menjadi sumber kebaikan?
(Minta 2–3 santri menjawab secara bergantian.)
Pesan adab kita hari ini: kejujuran adalah akhlak utama penuntut ilmu, termasuk saat menggunakan teknologi. Rasulullah bersabda, maknanya: hendaklah kalian berlaku jujur, karena kejujuran membawa kepada kebaikan, dan kebaikan membawa ke surga. Hadits ini diriwayatkan oleh Bukhari dan Muslim.
Pekan depan: kita masuk Modul 10, menggunakan AI sebagai teman belajar. Alhamdulillah, Modul 9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1.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slideLayout" Target="../slideLayouts/slideLayout1.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slideLayout" Target="../slideLayouts/slideLayout1.xml"/><Relationship Id="rId1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slideLayout" Target="../slideLayouts/slideLayout1.xml"/><Relationship Id="rId1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image" Target="../media/image-41-11.png"/><Relationship Id="rId12" Type="http://schemas.openxmlformats.org/officeDocument/2006/relationships/slideLayout" Target="../slideLayouts/slideLayout1.xml"/><Relationship Id="rId1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slideLayout" Target="../slideLayouts/slideLayout1.xml"/><Relationship Id="rId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3-10.png"/><Relationship Id="rId11" Type="http://schemas.openxmlformats.org/officeDocument/2006/relationships/image" Target="../media/image-43-11.png"/><Relationship Id="rId12" Type="http://schemas.openxmlformats.org/officeDocument/2006/relationships/image" Target="../media/image-43-12.png"/><Relationship Id="rId13" Type="http://schemas.openxmlformats.org/officeDocument/2006/relationships/slideLayout" Target="../slideLayouts/slideLayout1.xml"/><Relationship Id="rId1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image" Target="../media/image-44-11.png"/><Relationship Id="rId12" Type="http://schemas.openxmlformats.org/officeDocument/2006/relationships/image" Target="../media/image-44-2.png"/><Relationship Id="rId13" Type="http://schemas.openxmlformats.org/officeDocument/2006/relationships/image" Target="../media/image-44-13.png"/><Relationship Id="rId14" Type="http://schemas.openxmlformats.org/officeDocument/2006/relationships/image" Target="../media/image-44-14.png"/><Relationship Id="rId15" Type="http://schemas.openxmlformats.org/officeDocument/2006/relationships/slideLayout" Target="../slideLayouts/slideLayout1.xml"/><Relationship Id="rId1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2.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2  ·  MODUL 9</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AI Dasar</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Panduan Bijak Menggunakan AI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memahami apa itu kecerdasan buatan (AI), kemampuan dan keterbatasannya, cara membuat prompt yang baik, cara memeriksa jawaban AI, serta etika penggunaannya.</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25</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Apa Itu AI?</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26</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Prompt &amp; Verifikasi</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27</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Etika AI</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Layanan AI dengan akses gratis (misalnya Gemini atau Claude) dioperasikan guru di proyektor, Google Docs atau Canva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Apa Itu AI?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Kemampuan dan keterbatasan kecerdasan buatan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9: AI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Menurut kalian, apakah komputer bisa berpikir seperti manusia?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AI secara sederhana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Menyebutkan contoh AI dalam kehidupan sehari-hari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Menyebutkan kemampuan dan keterbatasan AI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Kecerdasan Buatan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Artificial Intelligence</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AI adalah program komputer yang belajar dari data dalam jumlah sangat besar untuk mengenali pola dan menghasilkan jawaban.</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AI = Artificial Intelligence = kecerdasan buatan</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Belajar dari jutaan contoh, bukan berpikir seperti manusia</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Tidak memiliki iman, akhlak, maupun perasaan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AI di Sekitar Kita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Asisten Suara</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Menjawab perintah suara di HP, misalnya "setel alarm jam 4".</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Penerjemah</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Menerjemahkan bahasa Arab, Inggris, dan bahasa lain secara otomatis.</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Pengenal Wajah</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Membuka kunci HP dengan wajah, atau mengelompokkan foto.</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Rekomendasi</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Menyarankan video atau produk berdasarkan kebiasaan pengguna.</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Chatbot</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Menjawab pertanyaan dalam bentuk percakapan, misalnya Gemini atau Claude.</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Peta Digital</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Memperkirakan kemacetan dan rute tercepat.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Kemampuan dan Keterbatasan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AI Bisa</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Menjelaskan materi dengan bahasa sederhana</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Merangkum, menerjemahkan, memberi ide</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Membantu menulis dan memeriksa kode</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AI Tidak Bisa / Bisa Salah</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Selalu benar: AI bisa mengarang fakta</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Menggantikan guru dan ulama</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Memiliki iman, akhlak, dan rasa tanggung jawab</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Berkenalan dengan AI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Guru mengoperasikan AI di layar · santri mengamati dan berdiskusi</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Bertanya kepada AI</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Menguji keterbatasan AI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Diskusi kelompok</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Bertanya kepada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2" name="Text 25"/>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3" name="Shape 26"/>
          <p:cNvSpPr/>
          <p:nvPr/>
        </p:nvSpPr>
        <p:spPr>
          <a:xfrm>
            <a:off x="5127224" y="3620480"/>
            <a:ext cx="219456" cy="219456"/>
          </a:xfrm>
          <a:prstGeom prst="ellipse">
            <a:avLst/>
          </a:prstGeom>
          <a:solidFill>
            <a:srgbClr val="BBBBBB"/>
          </a:solidFill>
          <a:ln/>
        </p:spPr>
      </p:sp>
      <p:pic>
        <p:nvPicPr>
          <p:cNvPr id="34" name="Image 5" descr="preencoded.png">    </p:cNvPr>
          <p:cNvPicPr>
            <a:picLocks noChangeAspect="1"/>
          </p:cNvPicPr>
          <p:nvPr/>
        </p:nvPicPr>
        <p:blipFill>
          <a:blip r:embed="rId6"/>
          <a:stretch>
            <a:fillRect/>
          </a:stretch>
        </p:blipFill>
        <p:spPr>
          <a:xfrm>
            <a:off x="5182088" y="3675344"/>
            <a:ext cx="109728" cy="109728"/>
          </a:xfrm>
          <a:prstGeom prst="rect">
            <a:avLst/>
          </a:prstGeom>
        </p:spPr>
      </p:pic>
      <p:sp>
        <p:nvSpPr>
          <p:cNvPr id="35" name="Text 27"/>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36" name="Shape 28"/>
          <p:cNvSpPr/>
          <p:nvPr/>
        </p:nvSpPr>
        <p:spPr>
          <a:xfrm>
            <a:off x="1566184" y="3556472"/>
            <a:ext cx="3862791" cy="347472"/>
          </a:xfrm>
          <a:prstGeom prst="roundRect">
            <a:avLst>
              <a:gd name="adj" fmla="val 13158"/>
            </a:avLst>
          </a:prstGeom>
          <a:solidFill>
            <a:srgbClr val="FFFFFF">
              <a:alpha val="0"/>
            </a:srgbClr>
          </a:solidFill>
          <a:ln w="31750">
            <a:solidFill>
              <a:srgbClr val="E53935"/>
            </a:solidFill>
            <a:prstDash val="solid"/>
          </a:ln>
        </p:spPr>
      </p:sp>
      <p:sp>
        <p:nvSpPr>
          <p:cNvPr id="37" name="Shape 29"/>
          <p:cNvSpPr/>
          <p:nvPr/>
        </p:nvSpPr>
        <p:spPr>
          <a:xfrm>
            <a:off x="5291816" y="3419312"/>
            <a:ext cx="274320" cy="274320"/>
          </a:xfrm>
          <a:prstGeom prst="ellipse">
            <a:avLst/>
          </a:prstGeom>
          <a:solidFill>
            <a:srgbClr val="E53935"/>
          </a:solidFill>
          <a:ln w="12700">
            <a:solidFill>
              <a:srgbClr val="FFFFFF"/>
            </a:solidFill>
            <a:prstDash val="solid"/>
          </a:ln>
        </p:spPr>
      </p:sp>
      <p:sp>
        <p:nvSpPr>
          <p:cNvPr id="38" name="Text 30"/>
          <p:cNvSpPr txBox="1"/>
          <p:nvPr/>
        </p:nvSpPr>
        <p:spPr>
          <a:xfrm>
            <a:off x="5291816" y="3419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39" name="Image 6" descr="preencoded.png">    </p:cNvPr>
          <p:cNvPicPr>
            <a:picLocks noChangeAspect="1"/>
          </p:cNvPicPr>
          <p:nvPr/>
        </p:nvPicPr>
        <p:blipFill>
          <a:blip r:embed="rId7"/>
          <a:stretch>
            <a:fillRect/>
          </a:stretch>
        </p:blipFill>
        <p:spPr>
          <a:xfrm>
            <a:off x="3687976" y="3744838"/>
            <a:ext cx="237744" cy="237744"/>
          </a:xfrm>
          <a:prstGeom prst="rect">
            <a:avLst/>
          </a:prstGeom>
        </p:spPr>
      </p:pic>
      <p:sp>
        <p:nvSpPr>
          <p:cNvPr id="40" name="Shape 31"/>
          <p:cNvSpPr/>
          <p:nvPr/>
        </p:nvSpPr>
        <p:spPr>
          <a:xfrm>
            <a:off x="5099792" y="3593048"/>
            <a:ext cx="274320" cy="274320"/>
          </a:xfrm>
          <a:prstGeom prst="roundRect">
            <a:avLst>
              <a:gd name="adj" fmla="val 16667"/>
            </a:avLst>
          </a:prstGeom>
          <a:solidFill>
            <a:srgbClr val="FFFFFF">
              <a:alpha val="0"/>
            </a:srgbClr>
          </a:solidFill>
          <a:ln w="31750">
            <a:solidFill>
              <a:srgbClr val="E53935"/>
            </a:solidFill>
            <a:prstDash val="solid"/>
          </a:ln>
        </p:spPr>
      </p:sp>
      <p:sp>
        <p:nvSpPr>
          <p:cNvPr id="41" name="Shape 32"/>
          <p:cNvSpPr/>
          <p:nvPr/>
        </p:nvSpPr>
        <p:spPr>
          <a:xfrm>
            <a:off x="5236952" y="3455888"/>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36952" y="34558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3" name="Image 7" descr="preencoded.png">    </p:cNvPr>
          <p:cNvPicPr>
            <a:picLocks noChangeAspect="1"/>
          </p:cNvPicPr>
          <p:nvPr/>
        </p:nvPicPr>
        <p:blipFill>
          <a:blip r:embed="rId8"/>
          <a:stretch>
            <a:fillRect/>
          </a:stretch>
        </p:blipFill>
        <p:spPr>
          <a:xfrm>
            <a:off x="5247924" y="374118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Kenali bagian-bagian layar AI</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Area obrolan di tengah, kotak pertanyaan (prompt) di bawah, dan tombol kirim di kanan.</a:t>
            </a:r>
            <a:endParaRPr lang="en-US" sz="1300" dirty="0"/>
          </a:p>
        </p:txBody>
      </p:sp>
      <p:sp>
        <p:nvSpPr>
          <p:cNvPr id="47" name="Shape 3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8"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49" name="Text 3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Perhatikan tulisan kecil: AI dapat membuat kesalahan.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Bertanya kepada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2" name="Text 25"/>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Jelaskan apa itu kecerdasan buatan kepada santri SMP dengan ...</a:t>
            </a:r>
            <a:endParaRPr lang="en-US" sz="750" dirty="0"/>
          </a:p>
        </p:txBody>
      </p:sp>
      <p:sp>
        <p:nvSpPr>
          <p:cNvPr id="33" name="Shape 26"/>
          <p:cNvSpPr/>
          <p:nvPr/>
        </p:nvSpPr>
        <p:spPr>
          <a:xfrm>
            <a:off x="5127224" y="3620480"/>
            <a:ext cx="219456" cy="219456"/>
          </a:xfrm>
          <a:prstGeom prst="ellipse">
            <a:avLst/>
          </a:prstGeom>
          <a:solidFill>
            <a:srgbClr val="0B57D0"/>
          </a:solidFill>
          <a:ln/>
        </p:spPr>
      </p:sp>
      <p:pic>
        <p:nvPicPr>
          <p:cNvPr id="34" name="Image 5" descr="preencoded.png">    </p:cNvPr>
          <p:cNvPicPr>
            <a:picLocks noChangeAspect="1"/>
          </p:cNvPicPr>
          <p:nvPr/>
        </p:nvPicPr>
        <p:blipFill>
          <a:blip r:embed="rId6"/>
          <a:stretch>
            <a:fillRect/>
          </a:stretch>
        </p:blipFill>
        <p:spPr>
          <a:xfrm>
            <a:off x="5182088" y="3675344"/>
            <a:ext cx="109728" cy="109728"/>
          </a:xfrm>
          <a:prstGeom prst="rect">
            <a:avLst/>
          </a:prstGeom>
        </p:spPr>
      </p:pic>
      <p:sp>
        <p:nvSpPr>
          <p:cNvPr id="35" name="Text 27"/>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36" name="Shape 28"/>
          <p:cNvSpPr/>
          <p:nvPr/>
        </p:nvSpPr>
        <p:spPr>
          <a:xfrm>
            <a:off x="1566184" y="3556472"/>
            <a:ext cx="3862791" cy="347472"/>
          </a:xfrm>
          <a:prstGeom prst="roundRect">
            <a:avLst>
              <a:gd name="adj" fmla="val 13158"/>
            </a:avLst>
          </a:prstGeom>
          <a:solidFill>
            <a:srgbClr val="FFFFFF">
              <a:alpha val="0"/>
            </a:srgbClr>
          </a:solidFill>
          <a:ln w="31750">
            <a:solidFill>
              <a:srgbClr val="E53935"/>
            </a:solidFill>
            <a:prstDash val="solid"/>
          </a:ln>
        </p:spPr>
      </p:sp>
      <p:sp>
        <p:nvSpPr>
          <p:cNvPr id="37" name="Shape 29"/>
          <p:cNvSpPr/>
          <p:nvPr/>
        </p:nvSpPr>
        <p:spPr>
          <a:xfrm>
            <a:off x="5291816" y="3419312"/>
            <a:ext cx="274320" cy="274320"/>
          </a:xfrm>
          <a:prstGeom prst="ellipse">
            <a:avLst/>
          </a:prstGeom>
          <a:solidFill>
            <a:srgbClr val="E53935"/>
          </a:solidFill>
          <a:ln w="12700">
            <a:solidFill>
              <a:srgbClr val="FFFFFF"/>
            </a:solidFill>
            <a:prstDash val="solid"/>
          </a:ln>
        </p:spPr>
      </p:sp>
      <p:sp>
        <p:nvSpPr>
          <p:cNvPr id="38" name="Text 30"/>
          <p:cNvSpPr txBox="1"/>
          <p:nvPr/>
        </p:nvSpPr>
        <p:spPr>
          <a:xfrm>
            <a:off x="5291816" y="3419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39" name="Image 6" descr="preencoded.png">    </p:cNvPr>
          <p:cNvPicPr>
            <a:picLocks noChangeAspect="1"/>
          </p:cNvPicPr>
          <p:nvPr/>
        </p:nvPicPr>
        <p:blipFill>
          <a:blip r:embed="rId7"/>
          <a:stretch>
            <a:fillRect/>
          </a:stretch>
        </p:blipFill>
        <p:spPr>
          <a:xfrm>
            <a:off x="3687976" y="3744838"/>
            <a:ext cx="237744" cy="237744"/>
          </a:xfrm>
          <a:prstGeom prst="rect">
            <a:avLst/>
          </a:prstGeom>
        </p:spPr>
      </p:pic>
      <p:sp>
        <p:nvSpPr>
          <p:cNvPr id="40" name="Shape 31"/>
          <p:cNvSpPr/>
          <p:nvPr/>
        </p:nvSpPr>
        <p:spPr>
          <a:xfrm>
            <a:off x="5099792" y="3593048"/>
            <a:ext cx="274320" cy="274320"/>
          </a:xfrm>
          <a:prstGeom prst="roundRect">
            <a:avLst>
              <a:gd name="adj" fmla="val 16667"/>
            </a:avLst>
          </a:prstGeom>
          <a:solidFill>
            <a:srgbClr val="FFFFFF">
              <a:alpha val="0"/>
            </a:srgbClr>
          </a:solidFill>
          <a:ln w="31750">
            <a:solidFill>
              <a:srgbClr val="E53935"/>
            </a:solidFill>
            <a:prstDash val="solid"/>
          </a:ln>
        </p:spPr>
      </p:sp>
      <p:sp>
        <p:nvSpPr>
          <p:cNvPr id="41" name="Shape 32"/>
          <p:cNvSpPr/>
          <p:nvPr/>
        </p:nvSpPr>
        <p:spPr>
          <a:xfrm>
            <a:off x="5236952" y="3455888"/>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36952" y="34558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3" name="Image 7" descr="preencoded.png">    </p:cNvPr>
          <p:cNvPicPr>
            <a:picLocks noChangeAspect="1"/>
          </p:cNvPicPr>
          <p:nvPr/>
        </p:nvPicPr>
        <p:blipFill>
          <a:blip r:embed="rId8"/>
          <a:stretch>
            <a:fillRect/>
          </a:stretch>
        </p:blipFill>
        <p:spPr>
          <a:xfrm>
            <a:off x="5247924" y="374118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mengetik prompt pertama</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mengetik pertanyaan di layar, lalu menekan tombol kirim.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Bertanya kepada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Jelaskan apa itu kecerdasan buatan kepada santri SMP dengan bahasa sederhana dan satu contoh dari kehidupan sehari-hari.</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50292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Kecerdasan buatan (AI) adalah program komputer yang belajar dari banyak sekali contoh, lalu bisa mengenali pola dan menghasilkan jawaban. Contohnya: aplikasi peta di HP yang bisa memperkirakan jalan mana yang macet, karena sudah mempelajari data perjalanan jutaan orang.</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557784"/>
          </a:xfrm>
          <a:prstGeom prst="roundRect">
            <a:avLst>
              <a:gd name="adj" fmla="val 8197"/>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3" name="Image 7" descr="preencoded.png">    </p:cNvPr>
          <p:cNvPicPr>
            <a:picLocks noChangeAspect="1"/>
          </p:cNvPicPr>
          <p:nvPr/>
        </p:nvPicPr>
        <p:blipFill>
          <a:blip r:embed="rId8"/>
          <a:stretch>
            <a:fillRect/>
          </a:stretch>
        </p:blipFill>
        <p:spPr>
          <a:xfrm>
            <a:off x="3793132" y="2594363"/>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Baca dan diskusikan jawabannya</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AI menjawab dalam beberapa detik. Baca bersama. Apakah jawabannya mudah dipahami? Apakah contohnya tepat?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 Keterbatasan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Siapa nama mudir Pondok Pesantren Wihdatul Ummah Poso dan berapa jumlah santrinya?</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50292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Maaf, saya tidak memiliki informasi yang pasti tentang hal tersebut. Saya sarankan menghubungi pesantren secara langsung. (Catatan: AI lain bisa saja mengarang jawaban yang terdengar meyakinkan.)</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557784"/>
          </a:xfrm>
          <a:prstGeom prst="roundRect">
            <a:avLst>
              <a:gd name="adj" fmla="val 8197"/>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3" name="Image 7" descr="preencoded.png">    </p:cNvPr>
          <p:cNvPicPr>
            <a:picLocks noChangeAspect="1"/>
          </p:cNvPicPr>
          <p:nvPr/>
        </p:nvPicPr>
        <p:blipFill>
          <a:blip r:embed="rId8"/>
          <a:stretch>
            <a:fillRect/>
          </a:stretch>
        </p:blipFill>
        <p:spPr>
          <a:xfrm>
            <a:off x="3793132" y="2594363"/>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pertanyaan yang jawabannya kita ketahui</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bertanya tentang hal yang kita ketahui pasti, misalnya tentang pesantren kita sendiri. Apakah AI tahu?</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 Keterbatasan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283464"/>
          </a:xfrm>
          <a:prstGeom prst="roundRect">
            <a:avLst>
              <a:gd name="adj" fmla="val 32258"/>
            </a:avLst>
          </a:prstGeom>
          <a:solidFill>
            <a:srgbClr val="E3E9F5"/>
          </a:solidFill>
          <a:ln w="12700">
            <a:solidFill>
              <a:srgbClr val="E3E9F5"/>
            </a:solidFill>
            <a:prstDash val="solid"/>
          </a:ln>
        </p:spPr>
      </p:sp>
      <p:sp>
        <p:nvSpPr>
          <p:cNvPr id="32" name="Text 25"/>
          <p:cNvSpPr txBox="1"/>
          <p:nvPr/>
        </p:nvSpPr>
        <p:spPr>
          <a:xfrm>
            <a:off x="2648468" y="1805693"/>
            <a:ext cx="2707356" cy="28346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Berapa jumlah surat dalam Al-Qur'an dan apa nama surat terpendek?</a:t>
            </a:r>
            <a:endParaRPr lang="en-US" sz="750" dirty="0"/>
          </a:p>
        </p:txBody>
      </p:sp>
      <p:pic>
        <p:nvPicPr>
          <p:cNvPr id="33" name="Image 5" descr="preencoded.png">    </p:cNvPr>
          <p:cNvPicPr>
            <a:picLocks noChangeAspect="1"/>
          </p:cNvPicPr>
          <p:nvPr/>
        </p:nvPicPr>
        <p:blipFill>
          <a:blip r:embed="rId6"/>
          <a:stretch>
            <a:fillRect/>
          </a:stretch>
        </p:blipFill>
        <p:spPr>
          <a:xfrm>
            <a:off x="1593616" y="2180597"/>
            <a:ext cx="182880" cy="182880"/>
          </a:xfrm>
          <a:prstGeom prst="rect">
            <a:avLst/>
          </a:prstGeom>
        </p:spPr>
      </p:pic>
      <p:sp>
        <p:nvSpPr>
          <p:cNvPr id="34" name="Text 26"/>
          <p:cNvSpPr txBox="1"/>
          <p:nvPr/>
        </p:nvSpPr>
        <p:spPr>
          <a:xfrm>
            <a:off x="1849648" y="2180597"/>
            <a:ext cx="3533607" cy="36576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Al-Qur'an terdiri dari 114 surat. Surat terpendek adalah Surat Al-Kautsar yang terdiri dari 3 ayat.</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153165"/>
            <a:ext cx="3588471" cy="420624"/>
          </a:xfrm>
          <a:prstGeom prst="roundRect">
            <a:avLst>
              <a:gd name="adj" fmla="val 10870"/>
            </a:avLst>
          </a:prstGeom>
          <a:solidFill>
            <a:srgbClr val="FFFFFF">
              <a:alpha val="0"/>
            </a:srgbClr>
          </a:solidFill>
          <a:ln w="31750">
            <a:solidFill>
              <a:srgbClr val="E53935"/>
            </a:solidFill>
            <a:prstDash val="solid"/>
          </a:ln>
        </p:spPr>
      </p:sp>
      <p:sp>
        <p:nvSpPr>
          <p:cNvPr id="41" name="Shape 32"/>
          <p:cNvSpPr/>
          <p:nvPr/>
        </p:nvSpPr>
        <p:spPr>
          <a:xfrm>
            <a:off x="5273528" y="201600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0160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3" name="Image 7" descr="preencoded.png">    </p:cNvPr>
          <p:cNvPicPr>
            <a:picLocks noChangeAspect="1"/>
          </p:cNvPicPr>
          <p:nvPr/>
        </p:nvPicPr>
        <p:blipFill>
          <a:blip r:embed="rId8"/>
          <a:stretch>
            <a:fillRect/>
          </a:stretch>
        </p:blipFill>
        <p:spPr>
          <a:xfrm>
            <a:off x="3793132" y="2381765"/>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hitungan atau fakta yang bisa dicek</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menanyakan satu fakta yang bisa dicocokkan dengan buku. Santri memeriksa: apakah AI benar?</a:t>
            </a:r>
            <a:endParaRPr lang="en-US" sz="1300" dirty="0"/>
          </a:p>
        </p:txBody>
      </p:sp>
      <p:sp>
        <p:nvSpPr>
          <p:cNvPr id="47" name="Shape 3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8"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49" name="Text 3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Jawaban AI wajib dicek ke sumber terpercaya.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Diskusi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1691640" cy="3611880"/>
          </a:xfrm>
          <a:prstGeom prst="roundRect">
            <a:avLst>
              <a:gd name="adj" fmla="val 4324"/>
            </a:avLst>
          </a:prstGeom>
          <a:solidFill>
            <a:srgbClr val="FFFFFF"/>
          </a:solidFill>
          <a:ln w="19050">
            <a:solidFill>
              <a:srgbClr val="0078D4"/>
            </a:solidFill>
            <a:prstDash val="solid"/>
          </a:ln>
        </p:spPr>
      </p:sp>
      <p:sp>
        <p:nvSpPr>
          <p:cNvPr id="10" name="Shape 6"/>
          <p:cNvSpPr/>
          <p:nvPr/>
        </p:nvSpPr>
        <p:spPr>
          <a:xfrm>
            <a:off x="411480" y="1051560"/>
            <a:ext cx="1691640" cy="457200"/>
          </a:xfrm>
          <a:prstGeom prst="roundRect">
            <a:avLst>
              <a:gd name="adj" fmla="val 16000"/>
            </a:avLst>
          </a:prstGeom>
          <a:solidFill>
            <a:srgbClr val="0078D4"/>
          </a:solidFill>
          <a:ln w="12700">
            <a:solidFill>
              <a:srgbClr val="0078D4"/>
            </a:solidFill>
            <a:prstDash val="solid"/>
          </a:ln>
        </p:spPr>
      </p:sp>
      <p:sp>
        <p:nvSpPr>
          <p:cNvPr id="11" name="Text 7"/>
          <p:cNvSpPr txBox="1"/>
          <p:nvPr/>
        </p:nvSpPr>
        <p:spPr>
          <a:xfrm>
            <a:off x="411480" y="1051560"/>
            <a:ext cx="16916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Contoh AI</a:t>
            </a:r>
            <a:endParaRPr lang="en-US" sz="1200" dirty="0"/>
          </a:p>
        </p:txBody>
      </p:sp>
      <p:sp>
        <p:nvSpPr>
          <p:cNvPr id="12" name="Text 8"/>
          <p:cNvSpPr txBox="1"/>
          <p:nvPr/>
        </p:nvSpPr>
        <p:spPr>
          <a:xfrm>
            <a:off x="521208" y="1691640"/>
            <a:ext cx="274320" cy="274320"/>
          </a:xfrm>
          <a:prstGeom prst="rect">
            <a:avLst/>
          </a:prstGeom>
          <a:noFill/>
          <a:ln/>
        </p:spPr>
        <p:txBody>
          <a:bodyPr wrap="square" lIns="0" tIns="0" rIns="0" bIns="0" rtlCol="0" anchor="t"/>
          <a:lstStyle/>
          <a:p>
            <a:pPr indent="0" marL="0">
              <a:buNone/>
            </a:pPr>
            <a:r>
              <a:rPr lang="en-US" sz="1200" b="1" dirty="0">
                <a:solidFill>
                  <a:srgbClr val="0078D4"/>
                </a:solidFill>
                <a:latin typeface="Calibri" pitchFamily="34" charset="0"/>
                <a:ea typeface="Calibri" pitchFamily="34" charset="-122"/>
                <a:cs typeface="Calibri" pitchFamily="34" charset="-120"/>
              </a:rPr>
              <a:t>1.</a:t>
            </a:r>
            <a:endParaRPr lang="en-US" sz="1200" dirty="0"/>
          </a:p>
        </p:txBody>
      </p:sp>
      <p:sp>
        <p:nvSpPr>
          <p:cNvPr id="13" name="Shape 9"/>
          <p:cNvSpPr/>
          <p:nvPr/>
        </p:nvSpPr>
        <p:spPr>
          <a:xfrm>
            <a:off x="777240" y="1947672"/>
            <a:ext cx="1188720" cy="0"/>
          </a:xfrm>
          <a:prstGeom prst="line">
            <a:avLst/>
          </a:prstGeom>
          <a:noFill/>
          <a:ln w="9525">
            <a:solidFill>
              <a:srgbClr val="AAAAAA"/>
            </a:solidFill>
            <a:prstDash val="dash"/>
          </a:ln>
        </p:spPr>
      </p:sp>
      <p:sp>
        <p:nvSpPr>
          <p:cNvPr id="14" name="Text 10"/>
          <p:cNvSpPr txBox="1"/>
          <p:nvPr/>
        </p:nvSpPr>
        <p:spPr>
          <a:xfrm>
            <a:off x="521208" y="2240280"/>
            <a:ext cx="274320" cy="274320"/>
          </a:xfrm>
          <a:prstGeom prst="rect">
            <a:avLst/>
          </a:prstGeom>
          <a:noFill/>
          <a:ln/>
        </p:spPr>
        <p:txBody>
          <a:bodyPr wrap="square" lIns="0" tIns="0" rIns="0" bIns="0" rtlCol="0" anchor="t"/>
          <a:lstStyle/>
          <a:p>
            <a:pPr indent="0" marL="0">
              <a:buNone/>
            </a:pPr>
            <a:r>
              <a:rPr lang="en-US" sz="1200" b="1" dirty="0">
                <a:solidFill>
                  <a:srgbClr val="0078D4"/>
                </a:solidFill>
                <a:latin typeface="Calibri" pitchFamily="34" charset="0"/>
                <a:ea typeface="Calibri" pitchFamily="34" charset="-122"/>
                <a:cs typeface="Calibri" pitchFamily="34" charset="-120"/>
              </a:rPr>
              <a:t>2.</a:t>
            </a:r>
            <a:endParaRPr lang="en-US" sz="1200" dirty="0"/>
          </a:p>
        </p:txBody>
      </p:sp>
      <p:sp>
        <p:nvSpPr>
          <p:cNvPr id="15" name="Shape 11"/>
          <p:cNvSpPr/>
          <p:nvPr/>
        </p:nvSpPr>
        <p:spPr>
          <a:xfrm>
            <a:off x="777240" y="2496312"/>
            <a:ext cx="1188720" cy="0"/>
          </a:xfrm>
          <a:prstGeom prst="line">
            <a:avLst/>
          </a:prstGeom>
          <a:noFill/>
          <a:ln w="9525">
            <a:solidFill>
              <a:srgbClr val="AAAAAA"/>
            </a:solidFill>
            <a:prstDash val="dash"/>
          </a:ln>
        </p:spPr>
      </p:sp>
      <p:sp>
        <p:nvSpPr>
          <p:cNvPr id="16" name="Text 12"/>
          <p:cNvSpPr txBox="1"/>
          <p:nvPr/>
        </p:nvSpPr>
        <p:spPr>
          <a:xfrm>
            <a:off x="521208" y="2788920"/>
            <a:ext cx="274320" cy="274320"/>
          </a:xfrm>
          <a:prstGeom prst="rect">
            <a:avLst/>
          </a:prstGeom>
          <a:noFill/>
          <a:ln/>
        </p:spPr>
        <p:txBody>
          <a:bodyPr wrap="square" lIns="0" tIns="0" rIns="0" bIns="0" rtlCol="0" anchor="t"/>
          <a:lstStyle/>
          <a:p>
            <a:pPr indent="0" marL="0">
              <a:buNone/>
            </a:pPr>
            <a:r>
              <a:rPr lang="en-US" sz="1200" b="1" dirty="0">
                <a:solidFill>
                  <a:srgbClr val="0078D4"/>
                </a:solidFill>
                <a:latin typeface="Calibri" pitchFamily="34" charset="0"/>
                <a:ea typeface="Calibri" pitchFamily="34" charset="-122"/>
                <a:cs typeface="Calibri" pitchFamily="34" charset="-120"/>
              </a:rPr>
              <a:t>3.</a:t>
            </a:r>
            <a:endParaRPr lang="en-US" sz="1200" dirty="0"/>
          </a:p>
        </p:txBody>
      </p:sp>
      <p:sp>
        <p:nvSpPr>
          <p:cNvPr id="17" name="Shape 13"/>
          <p:cNvSpPr/>
          <p:nvPr/>
        </p:nvSpPr>
        <p:spPr>
          <a:xfrm>
            <a:off x="777240" y="3044952"/>
            <a:ext cx="1188720" cy="0"/>
          </a:xfrm>
          <a:prstGeom prst="line">
            <a:avLst/>
          </a:prstGeom>
          <a:noFill/>
          <a:ln w="9525">
            <a:solidFill>
              <a:srgbClr val="AAAAAA"/>
            </a:solidFill>
            <a:prstDash val="dash"/>
          </a:ln>
        </p:spPr>
      </p:sp>
      <p:sp>
        <p:nvSpPr>
          <p:cNvPr id="18" name="Text 14"/>
          <p:cNvSpPr txBox="1"/>
          <p:nvPr/>
        </p:nvSpPr>
        <p:spPr>
          <a:xfrm>
            <a:off x="521208" y="3337560"/>
            <a:ext cx="274320" cy="274320"/>
          </a:xfrm>
          <a:prstGeom prst="rect">
            <a:avLst/>
          </a:prstGeom>
          <a:noFill/>
          <a:ln/>
        </p:spPr>
        <p:txBody>
          <a:bodyPr wrap="square" lIns="0" tIns="0" rIns="0" bIns="0" rtlCol="0" anchor="t"/>
          <a:lstStyle/>
          <a:p>
            <a:pPr indent="0" marL="0">
              <a:buNone/>
            </a:pPr>
            <a:r>
              <a:rPr lang="en-US" sz="1200" b="1" dirty="0">
                <a:solidFill>
                  <a:srgbClr val="0078D4"/>
                </a:solidFill>
                <a:latin typeface="Calibri" pitchFamily="34" charset="0"/>
                <a:ea typeface="Calibri" pitchFamily="34" charset="-122"/>
                <a:cs typeface="Calibri" pitchFamily="34" charset="-120"/>
              </a:rPr>
              <a:t>4.</a:t>
            </a:r>
            <a:endParaRPr lang="en-US" sz="1200" dirty="0"/>
          </a:p>
        </p:txBody>
      </p:sp>
      <p:sp>
        <p:nvSpPr>
          <p:cNvPr id="19" name="Shape 15"/>
          <p:cNvSpPr/>
          <p:nvPr/>
        </p:nvSpPr>
        <p:spPr>
          <a:xfrm>
            <a:off x="777240" y="3593592"/>
            <a:ext cx="1188720" cy="0"/>
          </a:xfrm>
          <a:prstGeom prst="line">
            <a:avLst/>
          </a:prstGeom>
          <a:noFill/>
          <a:ln w="9525">
            <a:solidFill>
              <a:srgbClr val="AAAAAA"/>
            </a:solidFill>
            <a:prstDash val="dash"/>
          </a:ln>
        </p:spPr>
      </p:sp>
      <p:sp>
        <p:nvSpPr>
          <p:cNvPr id="20" name="Text 16"/>
          <p:cNvSpPr txBox="1"/>
          <p:nvPr/>
        </p:nvSpPr>
        <p:spPr>
          <a:xfrm>
            <a:off x="521208" y="3886200"/>
            <a:ext cx="274320" cy="274320"/>
          </a:xfrm>
          <a:prstGeom prst="rect">
            <a:avLst/>
          </a:prstGeom>
          <a:noFill/>
          <a:ln/>
        </p:spPr>
        <p:txBody>
          <a:bodyPr wrap="square" lIns="0" tIns="0" rIns="0" bIns="0" rtlCol="0" anchor="t"/>
          <a:lstStyle/>
          <a:p>
            <a:pPr indent="0" marL="0">
              <a:buNone/>
            </a:pPr>
            <a:r>
              <a:rPr lang="en-US" sz="1200" b="1" dirty="0">
                <a:solidFill>
                  <a:srgbClr val="0078D4"/>
                </a:solidFill>
                <a:latin typeface="Calibri" pitchFamily="34" charset="0"/>
                <a:ea typeface="Calibri" pitchFamily="34" charset="-122"/>
                <a:cs typeface="Calibri" pitchFamily="34" charset="-120"/>
              </a:rPr>
              <a:t>5.</a:t>
            </a:r>
            <a:endParaRPr lang="en-US" sz="1200" dirty="0"/>
          </a:p>
        </p:txBody>
      </p:sp>
      <p:sp>
        <p:nvSpPr>
          <p:cNvPr id="21" name="Shape 17"/>
          <p:cNvSpPr/>
          <p:nvPr/>
        </p:nvSpPr>
        <p:spPr>
          <a:xfrm>
            <a:off x="777240" y="4142232"/>
            <a:ext cx="1188720" cy="0"/>
          </a:xfrm>
          <a:prstGeom prst="line">
            <a:avLst/>
          </a:prstGeom>
          <a:noFill/>
          <a:ln w="9525">
            <a:solidFill>
              <a:srgbClr val="AAAAAA"/>
            </a:solidFill>
            <a:prstDash val="dash"/>
          </a:ln>
        </p:spPr>
      </p:sp>
      <p:sp>
        <p:nvSpPr>
          <p:cNvPr id="22" name="Shape 18"/>
          <p:cNvSpPr/>
          <p:nvPr/>
        </p:nvSpPr>
        <p:spPr>
          <a:xfrm>
            <a:off x="2212848" y="1051560"/>
            <a:ext cx="1691640" cy="3611880"/>
          </a:xfrm>
          <a:prstGeom prst="roundRect">
            <a:avLst>
              <a:gd name="adj" fmla="val 4324"/>
            </a:avLst>
          </a:prstGeom>
          <a:solidFill>
            <a:srgbClr val="FFFFFF"/>
          </a:solidFill>
          <a:ln w="19050">
            <a:solidFill>
              <a:srgbClr val="1F7A5C"/>
            </a:solidFill>
            <a:prstDash val="solid"/>
          </a:ln>
        </p:spPr>
      </p:sp>
      <p:sp>
        <p:nvSpPr>
          <p:cNvPr id="23" name="Shape 19"/>
          <p:cNvSpPr/>
          <p:nvPr/>
        </p:nvSpPr>
        <p:spPr>
          <a:xfrm>
            <a:off x="2212848" y="1051560"/>
            <a:ext cx="1691640" cy="457200"/>
          </a:xfrm>
          <a:prstGeom prst="roundRect">
            <a:avLst>
              <a:gd name="adj" fmla="val 16000"/>
            </a:avLst>
          </a:prstGeom>
          <a:solidFill>
            <a:srgbClr val="1F7A5C"/>
          </a:solidFill>
          <a:ln w="12700">
            <a:solidFill>
              <a:srgbClr val="1F7A5C"/>
            </a:solidFill>
            <a:prstDash val="solid"/>
          </a:ln>
        </p:spPr>
      </p:sp>
      <p:sp>
        <p:nvSpPr>
          <p:cNvPr id="24" name="Text 20"/>
          <p:cNvSpPr txBox="1"/>
          <p:nvPr/>
        </p:nvSpPr>
        <p:spPr>
          <a:xfrm>
            <a:off x="2212848" y="1051560"/>
            <a:ext cx="16916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Kemampuan AI</a:t>
            </a:r>
            <a:endParaRPr lang="en-US" sz="1200" dirty="0"/>
          </a:p>
        </p:txBody>
      </p:sp>
      <p:sp>
        <p:nvSpPr>
          <p:cNvPr id="25" name="Text 21"/>
          <p:cNvSpPr txBox="1"/>
          <p:nvPr/>
        </p:nvSpPr>
        <p:spPr>
          <a:xfrm>
            <a:off x="2322576" y="1691640"/>
            <a:ext cx="274320" cy="274320"/>
          </a:xfrm>
          <a:prstGeom prst="rect">
            <a:avLst/>
          </a:prstGeom>
          <a:noFill/>
          <a:ln/>
        </p:spPr>
        <p:txBody>
          <a:bodyPr wrap="square" lIns="0" tIns="0" rIns="0" bIns="0" rtlCol="0" anchor="t"/>
          <a:lstStyle/>
          <a:p>
            <a:pPr indent="0" marL="0">
              <a:buNone/>
            </a:pPr>
            <a:r>
              <a:rPr lang="en-US" sz="1200" b="1" dirty="0">
                <a:solidFill>
                  <a:srgbClr val="1F7A5C"/>
                </a:solidFill>
                <a:latin typeface="Calibri" pitchFamily="34" charset="0"/>
                <a:ea typeface="Calibri" pitchFamily="34" charset="-122"/>
                <a:cs typeface="Calibri" pitchFamily="34" charset="-120"/>
              </a:rPr>
              <a:t>1.</a:t>
            </a:r>
            <a:endParaRPr lang="en-US" sz="1200" dirty="0"/>
          </a:p>
        </p:txBody>
      </p:sp>
      <p:sp>
        <p:nvSpPr>
          <p:cNvPr id="26" name="Shape 22"/>
          <p:cNvSpPr/>
          <p:nvPr/>
        </p:nvSpPr>
        <p:spPr>
          <a:xfrm>
            <a:off x="2578608" y="1947672"/>
            <a:ext cx="1188720" cy="0"/>
          </a:xfrm>
          <a:prstGeom prst="line">
            <a:avLst/>
          </a:prstGeom>
          <a:noFill/>
          <a:ln w="9525">
            <a:solidFill>
              <a:srgbClr val="AAAAAA"/>
            </a:solidFill>
            <a:prstDash val="dash"/>
          </a:ln>
        </p:spPr>
      </p:sp>
      <p:sp>
        <p:nvSpPr>
          <p:cNvPr id="27" name="Text 23"/>
          <p:cNvSpPr txBox="1"/>
          <p:nvPr/>
        </p:nvSpPr>
        <p:spPr>
          <a:xfrm>
            <a:off x="2322576" y="2240280"/>
            <a:ext cx="274320" cy="274320"/>
          </a:xfrm>
          <a:prstGeom prst="rect">
            <a:avLst/>
          </a:prstGeom>
          <a:noFill/>
          <a:ln/>
        </p:spPr>
        <p:txBody>
          <a:bodyPr wrap="square" lIns="0" tIns="0" rIns="0" bIns="0" rtlCol="0" anchor="t"/>
          <a:lstStyle/>
          <a:p>
            <a:pPr indent="0" marL="0">
              <a:buNone/>
            </a:pPr>
            <a:r>
              <a:rPr lang="en-US" sz="1200" b="1" dirty="0">
                <a:solidFill>
                  <a:srgbClr val="1F7A5C"/>
                </a:solidFill>
                <a:latin typeface="Calibri" pitchFamily="34" charset="0"/>
                <a:ea typeface="Calibri" pitchFamily="34" charset="-122"/>
                <a:cs typeface="Calibri" pitchFamily="34" charset="-120"/>
              </a:rPr>
              <a:t>2.</a:t>
            </a:r>
            <a:endParaRPr lang="en-US" sz="1200" dirty="0"/>
          </a:p>
        </p:txBody>
      </p:sp>
      <p:sp>
        <p:nvSpPr>
          <p:cNvPr id="28" name="Shape 24"/>
          <p:cNvSpPr/>
          <p:nvPr/>
        </p:nvSpPr>
        <p:spPr>
          <a:xfrm>
            <a:off x="2578608" y="2496312"/>
            <a:ext cx="1188720" cy="0"/>
          </a:xfrm>
          <a:prstGeom prst="line">
            <a:avLst/>
          </a:prstGeom>
          <a:noFill/>
          <a:ln w="9525">
            <a:solidFill>
              <a:srgbClr val="AAAAAA"/>
            </a:solidFill>
            <a:prstDash val="dash"/>
          </a:ln>
        </p:spPr>
      </p:sp>
      <p:sp>
        <p:nvSpPr>
          <p:cNvPr id="29" name="Text 25"/>
          <p:cNvSpPr txBox="1"/>
          <p:nvPr/>
        </p:nvSpPr>
        <p:spPr>
          <a:xfrm>
            <a:off x="2322576" y="2788920"/>
            <a:ext cx="274320" cy="274320"/>
          </a:xfrm>
          <a:prstGeom prst="rect">
            <a:avLst/>
          </a:prstGeom>
          <a:noFill/>
          <a:ln/>
        </p:spPr>
        <p:txBody>
          <a:bodyPr wrap="square" lIns="0" tIns="0" rIns="0" bIns="0" rtlCol="0" anchor="t"/>
          <a:lstStyle/>
          <a:p>
            <a:pPr indent="0" marL="0">
              <a:buNone/>
            </a:pPr>
            <a:r>
              <a:rPr lang="en-US" sz="1200" b="1" dirty="0">
                <a:solidFill>
                  <a:srgbClr val="1F7A5C"/>
                </a:solidFill>
                <a:latin typeface="Calibri" pitchFamily="34" charset="0"/>
                <a:ea typeface="Calibri" pitchFamily="34" charset="-122"/>
                <a:cs typeface="Calibri" pitchFamily="34" charset="-120"/>
              </a:rPr>
              <a:t>3.</a:t>
            </a:r>
            <a:endParaRPr lang="en-US" sz="1200" dirty="0"/>
          </a:p>
        </p:txBody>
      </p:sp>
      <p:sp>
        <p:nvSpPr>
          <p:cNvPr id="30" name="Shape 26"/>
          <p:cNvSpPr/>
          <p:nvPr/>
        </p:nvSpPr>
        <p:spPr>
          <a:xfrm>
            <a:off x="2578608" y="3044952"/>
            <a:ext cx="1188720" cy="0"/>
          </a:xfrm>
          <a:prstGeom prst="line">
            <a:avLst/>
          </a:prstGeom>
          <a:noFill/>
          <a:ln w="9525">
            <a:solidFill>
              <a:srgbClr val="AAAAAA"/>
            </a:solidFill>
            <a:prstDash val="dash"/>
          </a:ln>
        </p:spPr>
      </p:sp>
      <p:sp>
        <p:nvSpPr>
          <p:cNvPr id="31" name="Shape 27"/>
          <p:cNvSpPr/>
          <p:nvPr/>
        </p:nvSpPr>
        <p:spPr>
          <a:xfrm>
            <a:off x="4014216" y="1051560"/>
            <a:ext cx="1691640" cy="3611880"/>
          </a:xfrm>
          <a:prstGeom prst="roundRect">
            <a:avLst>
              <a:gd name="adj" fmla="val 4324"/>
            </a:avLst>
          </a:prstGeom>
          <a:solidFill>
            <a:srgbClr val="FFFFFF"/>
          </a:solidFill>
          <a:ln w="19050">
            <a:solidFill>
              <a:srgbClr val="E53935"/>
            </a:solidFill>
            <a:prstDash val="solid"/>
          </a:ln>
        </p:spPr>
      </p:sp>
      <p:sp>
        <p:nvSpPr>
          <p:cNvPr id="32" name="Shape 28"/>
          <p:cNvSpPr/>
          <p:nvPr/>
        </p:nvSpPr>
        <p:spPr>
          <a:xfrm>
            <a:off x="4014216" y="1051560"/>
            <a:ext cx="1691640" cy="457200"/>
          </a:xfrm>
          <a:prstGeom prst="roundRect">
            <a:avLst>
              <a:gd name="adj" fmla="val 16000"/>
            </a:avLst>
          </a:prstGeom>
          <a:solidFill>
            <a:srgbClr val="E53935"/>
          </a:solidFill>
          <a:ln w="12700">
            <a:solidFill>
              <a:srgbClr val="E53935"/>
            </a:solidFill>
            <a:prstDash val="solid"/>
          </a:ln>
        </p:spPr>
      </p:sp>
      <p:sp>
        <p:nvSpPr>
          <p:cNvPr id="33" name="Text 29"/>
          <p:cNvSpPr txBox="1"/>
          <p:nvPr/>
        </p:nvSpPr>
        <p:spPr>
          <a:xfrm>
            <a:off x="4014216" y="1051560"/>
            <a:ext cx="16916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Keterbatasan AI</a:t>
            </a:r>
            <a:endParaRPr lang="en-US" sz="1200" dirty="0"/>
          </a:p>
        </p:txBody>
      </p:sp>
      <p:sp>
        <p:nvSpPr>
          <p:cNvPr id="34" name="Text 30"/>
          <p:cNvSpPr txBox="1"/>
          <p:nvPr/>
        </p:nvSpPr>
        <p:spPr>
          <a:xfrm>
            <a:off x="4123944" y="1691640"/>
            <a:ext cx="274320" cy="274320"/>
          </a:xfrm>
          <a:prstGeom prst="rect">
            <a:avLst/>
          </a:prstGeom>
          <a:noFill/>
          <a:ln/>
        </p:spPr>
        <p:txBody>
          <a:bodyPr wrap="square" lIns="0" tIns="0" rIns="0" bIns="0" rtlCol="0" anchor="t"/>
          <a:lstStyle/>
          <a:p>
            <a:pPr indent="0" marL="0">
              <a:buNone/>
            </a:pPr>
            <a:r>
              <a:rPr lang="en-US" sz="1200" b="1" dirty="0">
                <a:solidFill>
                  <a:srgbClr val="E53935"/>
                </a:solidFill>
                <a:latin typeface="Calibri" pitchFamily="34" charset="0"/>
                <a:ea typeface="Calibri" pitchFamily="34" charset="-122"/>
                <a:cs typeface="Calibri" pitchFamily="34" charset="-120"/>
              </a:rPr>
              <a:t>1.</a:t>
            </a:r>
            <a:endParaRPr lang="en-US" sz="1200" dirty="0"/>
          </a:p>
        </p:txBody>
      </p:sp>
      <p:sp>
        <p:nvSpPr>
          <p:cNvPr id="35" name="Shape 31"/>
          <p:cNvSpPr/>
          <p:nvPr/>
        </p:nvSpPr>
        <p:spPr>
          <a:xfrm>
            <a:off x="4379976" y="1947672"/>
            <a:ext cx="1188720" cy="0"/>
          </a:xfrm>
          <a:prstGeom prst="line">
            <a:avLst/>
          </a:prstGeom>
          <a:noFill/>
          <a:ln w="9525">
            <a:solidFill>
              <a:srgbClr val="AAAAAA"/>
            </a:solidFill>
            <a:prstDash val="dash"/>
          </a:ln>
        </p:spPr>
      </p:sp>
      <p:sp>
        <p:nvSpPr>
          <p:cNvPr id="36" name="Text 32"/>
          <p:cNvSpPr txBox="1"/>
          <p:nvPr/>
        </p:nvSpPr>
        <p:spPr>
          <a:xfrm>
            <a:off x="4123944" y="2240280"/>
            <a:ext cx="274320" cy="274320"/>
          </a:xfrm>
          <a:prstGeom prst="rect">
            <a:avLst/>
          </a:prstGeom>
          <a:noFill/>
          <a:ln/>
        </p:spPr>
        <p:txBody>
          <a:bodyPr wrap="square" lIns="0" tIns="0" rIns="0" bIns="0" rtlCol="0" anchor="t"/>
          <a:lstStyle/>
          <a:p>
            <a:pPr indent="0" marL="0">
              <a:buNone/>
            </a:pPr>
            <a:r>
              <a:rPr lang="en-US" sz="1200" b="1" dirty="0">
                <a:solidFill>
                  <a:srgbClr val="E53935"/>
                </a:solidFill>
                <a:latin typeface="Calibri" pitchFamily="34" charset="0"/>
                <a:ea typeface="Calibri" pitchFamily="34" charset="-122"/>
                <a:cs typeface="Calibri" pitchFamily="34" charset="-120"/>
              </a:rPr>
              <a:t>2.</a:t>
            </a:r>
            <a:endParaRPr lang="en-US" sz="1200" dirty="0"/>
          </a:p>
        </p:txBody>
      </p:sp>
      <p:sp>
        <p:nvSpPr>
          <p:cNvPr id="37" name="Shape 33"/>
          <p:cNvSpPr/>
          <p:nvPr/>
        </p:nvSpPr>
        <p:spPr>
          <a:xfrm>
            <a:off x="4379976" y="2496312"/>
            <a:ext cx="1188720" cy="0"/>
          </a:xfrm>
          <a:prstGeom prst="line">
            <a:avLst/>
          </a:prstGeom>
          <a:noFill/>
          <a:ln w="9525">
            <a:solidFill>
              <a:srgbClr val="AAAAAA"/>
            </a:solidFill>
            <a:prstDash val="dash"/>
          </a:ln>
        </p:spPr>
      </p:sp>
      <p:sp>
        <p:nvSpPr>
          <p:cNvPr id="38" name="Text 34"/>
          <p:cNvSpPr txBox="1"/>
          <p:nvPr/>
        </p:nvSpPr>
        <p:spPr>
          <a:xfrm>
            <a:off x="4123944" y="2788920"/>
            <a:ext cx="274320" cy="274320"/>
          </a:xfrm>
          <a:prstGeom prst="rect">
            <a:avLst/>
          </a:prstGeom>
          <a:noFill/>
          <a:ln/>
        </p:spPr>
        <p:txBody>
          <a:bodyPr wrap="square" lIns="0" tIns="0" rIns="0" bIns="0" rtlCol="0" anchor="t"/>
          <a:lstStyle/>
          <a:p>
            <a:pPr indent="0" marL="0">
              <a:buNone/>
            </a:pPr>
            <a:r>
              <a:rPr lang="en-US" sz="1200" b="1" dirty="0">
                <a:solidFill>
                  <a:srgbClr val="E53935"/>
                </a:solidFill>
                <a:latin typeface="Calibri" pitchFamily="34" charset="0"/>
                <a:ea typeface="Calibri" pitchFamily="34" charset="-122"/>
                <a:cs typeface="Calibri" pitchFamily="34" charset="-120"/>
              </a:rPr>
              <a:t>3.</a:t>
            </a:r>
            <a:endParaRPr lang="en-US" sz="1200" dirty="0"/>
          </a:p>
        </p:txBody>
      </p:sp>
      <p:sp>
        <p:nvSpPr>
          <p:cNvPr id="39" name="Shape 35"/>
          <p:cNvSpPr/>
          <p:nvPr/>
        </p:nvSpPr>
        <p:spPr>
          <a:xfrm>
            <a:off x="4379976" y="3044952"/>
            <a:ext cx="1188720" cy="0"/>
          </a:xfrm>
          <a:prstGeom prst="line">
            <a:avLst/>
          </a:prstGeom>
          <a:noFill/>
          <a:ln w="9525">
            <a:solidFill>
              <a:srgbClr val="AAAAAA"/>
            </a:solidFill>
            <a:prstDash val="dash"/>
          </a:ln>
        </p:spPr>
      </p:sp>
      <p:sp>
        <p:nvSpPr>
          <p:cNvPr id="40" name="Text 3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1" name="Text 3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Diskusi kelompok, tulis di kertas</a:t>
            </a:r>
            <a:endParaRPr lang="en-US" sz="1800" dirty="0"/>
          </a:p>
        </p:txBody>
      </p:sp>
      <p:sp>
        <p:nvSpPr>
          <p:cNvPr id="42" name="Text 3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Kelompok menuliskan: 5 contoh AI, 3 kemampuan AI, 3 keterbatasan AI. Lalu presentasi singkat.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25</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Jawab di buku tulismu: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Apa pengertian AI menurut bahasamu sendiri?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Apa itu halusinasi AI? Berikan contoh dari kegiatan hari ini.</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Mengapa jawaban AI harus diperiksa?</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Untuk urusan agama, kepada siapa kita merujuk?</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5 contoh AI</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Kemampuan dan keterbatasan disebutkan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Memahami bahwa AI bisa salah</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Hasil diskusi ditulis rapi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Apakah jawaban AI selalu benar?</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AI tidak boleh menggantikan guru?</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Akal adalah nikmat Allah. Gunakan AI untuk membantu berpikir, bukan untuk berhenti berpikir.</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Belajar membuat prompt dan memeriksa jawaban AI.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Prompt &amp; Verifikasi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Bertanya dengan baik, memeriksa dengan teliti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9: AI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kita bertanya kepada ustadz dengan tidak jelas, bagaimana jawabannya?</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prompt</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prompt dengan 4 bahan: peran, konteks, tugas, format</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Memverifikasi jawaban AI dengan sumber terpercaya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Resep Prompt yang Baik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Peran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Siapa AI itu? "Kamu adalah guru IPA yang sabar."</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Konteks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Siapa kita? "Saya santri kelas 1 SMP."</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Tugas</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Apa yang diminta? "Jelaskan proses fotosintesis."</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Format</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Bentuk jawaban? "Dalam 5 poin singkat dengan satu contoh."</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Prompt Pendek vs Prompt Lengkap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Prompt Lengkap</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Kamu adalah guru IPA yang sabar.</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Saya santri kelas 1 SMP.</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Jelaskan fotosintesis dalam 5 poin singkat.</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Prompt Pendek</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fotosintesis</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(tanpa peran, konteks, dan format)</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Jawaban panjang, istilah sulit</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Verifikasi: Periksa Sebelum Percaya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Baca Jawaban AI</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Pahami isinya, tandai fakta penting: angka, nama, tanggal</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Cocokkan</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Bandingkan dengan buku pelajaran, guru, atau situs terpercaya</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Putuskan</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Benar, salah, atau perlu ditanyakan kepada guru</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AI menulis "tumbuhan menghasilkan oksigen dan glukosa" → cocokkan dengan buku IPA halaman fotosintesis → benar.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Berlatih Membuat Prompt</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Guru mengetik di layar · santri menyusun prompt</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Membandingkan prompt pendek dan lengkap</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Santri menyusun dan menguji prompt</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Membandingkan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4724888" y="1805693"/>
            <a:ext cx="722376" cy="283464"/>
          </a:xfrm>
          <a:prstGeom prst="roundRect">
            <a:avLst>
              <a:gd name="adj" fmla="val 32258"/>
            </a:avLst>
          </a:prstGeom>
          <a:solidFill>
            <a:srgbClr val="E3E9F5"/>
          </a:solidFill>
          <a:ln w="12700">
            <a:solidFill>
              <a:srgbClr val="E3E9F5"/>
            </a:solidFill>
            <a:prstDash val="solid"/>
          </a:ln>
        </p:spPr>
      </p:sp>
      <p:sp>
        <p:nvSpPr>
          <p:cNvPr id="32" name="Text 25"/>
          <p:cNvSpPr txBox="1"/>
          <p:nvPr/>
        </p:nvSpPr>
        <p:spPr>
          <a:xfrm>
            <a:off x="4816328" y="1805693"/>
            <a:ext cx="539496" cy="28346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fotosintesis</a:t>
            </a:r>
            <a:endParaRPr lang="en-US" sz="750" dirty="0"/>
          </a:p>
        </p:txBody>
      </p:sp>
      <p:pic>
        <p:nvPicPr>
          <p:cNvPr id="33" name="Image 5" descr="preencoded.png">    </p:cNvPr>
          <p:cNvPicPr>
            <a:picLocks noChangeAspect="1"/>
          </p:cNvPicPr>
          <p:nvPr/>
        </p:nvPicPr>
        <p:blipFill>
          <a:blip r:embed="rId6"/>
          <a:stretch>
            <a:fillRect/>
          </a:stretch>
        </p:blipFill>
        <p:spPr>
          <a:xfrm>
            <a:off x="1593616" y="2180597"/>
            <a:ext cx="182880" cy="182880"/>
          </a:xfrm>
          <a:prstGeom prst="rect">
            <a:avLst/>
          </a:prstGeom>
        </p:spPr>
      </p:pic>
      <p:sp>
        <p:nvSpPr>
          <p:cNvPr id="34" name="Text 26"/>
          <p:cNvSpPr txBox="1"/>
          <p:nvPr/>
        </p:nvSpPr>
        <p:spPr>
          <a:xfrm>
            <a:off x="1849648" y="2180597"/>
            <a:ext cx="3533607" cy="82296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Fotosintesis adalah proses biokimia di mana organisme fotoautotrof, seperti tumbuhan, alga, dan beberapa bakteri, mengonversi energi cahaya menjadi energi kimia melalui reaksi terang di membran tilakoid dan siklus Calvin di stroma kloroplas, menghasilkan glukosa (C6H12O6) dan melepaskan oksigen sebagai produk sampingan...</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153165"/>
            <a:ext cx="3588471" cy="877824"/>
          </a:xfrm>
          <a:prstGeom prst="roundRect">
            <a:avLst>
              <a:gd name="adj" fmla="val 5208"/>
            </a:avLst>
          </a:prstGeom>
          <a:solidFill>
            <a:srgbClr val="FFFFFF">
              <a:alpha val="0"/>
            </a:srgbClr>
          </a:solidFill>
          <a:ln w="31750">
            <a:solidFill>
              <a:srgbClr val="E53935"/>
            </a:solidFill>
            <a:prstDash val="solid"/>
          </a:ln>
        </p:spPr>
      </p:sp>
      <p:sp>
        <p:nvSpPr>
          <p:cNvPr id="41" name="Shape 32"/>
          <p:cNvSpPr/>
          <p:nvPr/>
        </p:nvSpPr>
        <p:spPr>
          <a:xfrm>
            <a:off x="5273528" y="201600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0160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3" name="Image 7" descr="preencoded.png">    </p:cNvPr>
          <p:cNvPicPr>
            <a:picLocks noChangeAspect="1"/>
          </p:cNvPicPr>
          <p:nvPr/>
        </p:nvPicPr>
        <p:blipFill>
          <a:blip r:embed="rId8"/>
          <a:stretch>
            <a:fillRect/>
          </a:stretch>
        </p:blipFill>
        <p:spPr>
          <a:xfrm>
            <a:off x="3793132" y="2633225"/>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mengetik prompt pendek</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hanya: fotosintesis. Kirim. Perhatikan panjang dan bahasa jawabannya.</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Membandingkan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2" name="Text 25"/>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Kamu adalah guru IPA yang sabar. Saya santri kelas 1 SMP. Jela...</a:t>
            </a:r>
            <a:endParaRPr lang="en-US" sz="750" dirty="0"/>
          </a:p>
        </p:txBody>
      </p:sp>
      <p:sp>
        <p:nvSpPr>
          <p:cNvPr id="33" name="Shape 26"/>
          <p:cNvSpPr/>
          <p:nvPr/>
        </p:nvSpPr>
        <p:spPr>
          <a:xfrm>
            <a:off x="5127224" y="3620480"/>
            <a:ext cx="219456" cy="219456"/>
          </a:xfrm>
          <a:prstGeom prst="ellipse">
            <a:avLst/>
          </a:prstGeom>
          <a:solidFill>
            <a:srgbClr val="0B57D0"/>
          </a:solidFill>
          <a:ln/>
        </p:spPr>
      </p:sp>
      <p:pic>
        <p:nvPicPr>
          <p:cNvPr id="34" name="Image 5" descr="preencoded.png">    </p:cNvPr>
          <p:cNvPicPr>
            <a:picLocks noChangeAspect="1"/>
          </p:cNvPicPr>
          <p:nvPr/>
        </p:nvPicPr>
        <p:blipFill>
          <a:blip r:embed="rId6"/>
          <a:stretch>
            <a:fillRect/>
          </a:stretch>
        </p:blipFill>
        <p:spPr>
          <a:xfrm>
            <a:off x="5182088" y="3675344"/>
            <a:ext cx="109728" cy="109728"/>
          </a:xfrm>
          <a:prstGeom prst="rect">
            <a:avLst/>
          </a:prstGeom>
        </p:spPr>
      </p:pic>
      <p:sp>
        <p:nvSpPr>
          <p:cNvPr id="35" name="Text 27"/>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36" name="Shape 28"/>
          <p:cNvSpPr/>
          <p:nvPr/>
        </p:nvSpPr>
        <p:spPr>
          <a:xfrm>
            <a:off x="633496" y="1759973"/>
            <a:ext cx="822960" cy="292608"/>
          </a:xfrm>
          <a:prstGeom prst="roundRect">
            <a:avLst>
              <a:gd name="adj" fmla="val 15625"/>
            </a:avLst>
          </a:prstGeom>
          <a:solidFill>
            <a:srgbClr val="FFFFFF">
              <a:alpha val="0"/>
            </a:srgbClr>
          </a:solidFill>
          <a:ln w="31750">
            <a:solidFill>
              <a:srgbClr val="E53935"/>
            </a:solidFill>
            <a:prstDash val="solid"/>
          </a:ln>
        </p:spPr>
      </p:sp>
      <p:sp>
        <p:nvSpPr>
          <p:cNvPr id="37" name="Shape 29"/>
          <p:cNvSpPr/>
          <p:nvPr/>
        </p:nvSpPr>
        <p:spPr>
          <a:xfrm>
            <a:off x="1319296" y="1622813"/>
            <a:ext cx="274320" cy="274320"/>
          </a:xfrm>
          <a:prstGeom prst="ellipse">
            <a:avLst/>
          </a:prstGeom>
          <a:solidFill>
            <a:srgbClr val="E53935"/>
          </a:solidFill>
          <a:ln w="12700">
            <a:solidFill>
              <a:srgbClr val="FFFFFF"/>
            </a:solidFill>
            <a:prstDash val="solid"/>
          </a:ln>
        </p:spPr>
      </p:sp>
      <p:sp>
        <p:nvSpPr>
          <p:cNvPr id="38" name="Text 30"/>
          <p:cNvSpPr txBox="1"/>
          <p:nvPr/>
        </p:nvSpPr>
        <p:spPr>
          <a:xfrm>
            <a:off x="1319296" y="162281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39" name="Image 6" descr="preencoded.png">    </p:cNvPr>
          <p:cNvPicPr>
            <a:picLocks noChangeAspect="1"/>
          </p:cNvPicPr>
          <p:nvPr/>
        </p:nvPicPr>
        <p:blipFill>
          <a:blip r:embed="rId7"/>
          <a:stretch>
            <a:fillRect/>
          </a:stretch>
        </p:blipFill>
        <p:spPr>
          <a:xfrm>
            <a:off x="1083381" y="1918164"/>
            <a:ext cx="237744" cy="237744"/>
          </a:xfrm>
          <a:prstGeom prst="rect">
            <a:avLst/>
          </a:prstGeom>
        </p:spPr>
      </p:pic>
      <p:sp>
        <p:nvSpPr>
          <p:cNvPr id="40" name="Shape 31"/>
          <p:cNvSpPr/>
          <p:nvPr/>
        </p:nvSpPr>
        <p:spPr>
          <a:xfrm>
            <a:off x="1566184" y="3556472"/>
            <a:ext cx="3862791" cy="347472"/>
          </a:xfrm>
          <a:prstGeom prst="roundRect">
            <a:avLst>
              <a:gd name="adj" fmla="val 13158"/>
            </a:avLst>
          </a:prstGeom>
          <a:solidFill>
            <a:srgbClr val="FFFFFF">
              <a:alpha val="0"/>
            </a:srgbClr>
          </a:solidFill>
          <a:ln w="31750">
            <a:solidFill>
              <a:srgbClr val="E53935"/>
            </a:solidFill>
            <a:prstDash val="solid"/>
          </a:ln>
        </p:spPr>
      </p:sp>
      <p:sp>
        <p:nvSpPr>
          <p:cNvPr id="41" name="Shape 32"/>
          <p:cNvSpPr/>
          <p:nvPr/>
        </p:nvSpPr>
        <p:spPr>
          <a:xfrm>
            <a:off x="5291816" y="3419312"/>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91816" y="3419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3" name="Image 7" descr="preencoded.png">    </p:cNvPr>
          <p:cNvPicPr>
            <a:picLocks noChangeAspect="1"/>
          </p:cNvPicPr>
          <p:nvPr/>
        </p:nvPicPr>
        <p:blipFill>
          <a:blip r:embed="rId8"/>
          <a:stretch>
            <a:fillRect/>
          </a:stretch>
        </p:blipFill>
        <p:spPr>
          <a:xfrm>
            <a:off x="3687976" y="3744838"/>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mengetik prompt lengkap</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Obrolan baru, lalu ketik prompt dengan 4 bahan: peran, konteks, tugas, format.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Membandingkan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Kamu adalah guru IPA yang sabar. Saya santri kelas 1 SMP. Jelaskan proses fotosintesis dalam 5 poin singkat dengan satu contoh.</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96012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1. Tumbuhan membuat makanannya sendiri.</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2. Bahannya: air dari akar dan udara (karbon dioksida) dari daun.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3. Energinya dari cahaya matahari.</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4. Hasilnya: makanan (gula) dan oksigen.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5. Contoh: pohon mangga di halaman pesantren membuat oksigen yang kita hirup.</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1014984"/>
          </a:xfrm>
          <a:prstGeom prst="roundRect">
            <a:avLst>
              <a:gd name="adj" fmla="val 4505"/>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3" name="Image 7" descr="preencoded.png">    </p:cNvPr>
          <p:cNvPicPr>
            <a:picLocks noChangeAspect="1"/>
          </p:cNvPicPr>
          <p:nvPr/>
        </p:nvPicPr>
        <p:blipFill>
          <a:blip r:embed="rId8"/>
          <a:stretch>
            <a:fillRect/>
          </a:stretch>
        </p:blipFill>
        <p:spPr>
          <a:xfrm>
            <a:off x="3793132" y="2845823"/>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Bandingkan kedua jawaban</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Jawaban prompt lengkap lebih singkat, sederhana, dan sesuai usia. Itulah kekuatan prompt yang baik.</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Prompt_Saya_Ahmad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Prompt_Saya_Ahmad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Prompt Saya</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1. Kamu adalah guru Bahasa Arab yang sabar.</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Saya santri kelas 1 SMP. Jelaskan perbedaan</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isim dan fi'il dalam 3 poin dengan contoh.</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2. Kamu adalah guru Matematika...</a:t>
            </a:r>
            <a:endParaRPr lang="en-US" sz="800" dirty="0"/>
          </a:p>
        </p:txBody>
      </p:sp>
      <p:sp>
        <p:nvSpPr>
          <p:cNvPr id="74" name="Shape 63"/>
          <p:cNvSpPr/>
          <p:nvPr/>
        </p:nvSpPr>
        <p:spPr>
          <a:xfrm>
            <a:off x="1527048" y="2849506"/>
            <a:ext cx="3072384" cy="588264"/>
          </a:xfrm>
          <a:prstGeom prst="roundRect">
            <a:avLst>
              <a:gd name="adj" fmla="val 7772"/>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7" name="Image 9" descr="preencoded.png">    </p:cNvPr>
          <p:cNvPicPr>
            <a:picLocks noChangeAspect="1"/>
          </p:cNvPicPr>
          <p:nvPr/>
        </p:nvPicPr>
        <p:blipFill>
          <a:blip r:embed="rId10"/>
          <a:stretch>
            <a:fillRect/>
          </a:stretch>
        </p:blipFill>
        <p:spPr>
          <a:xfrm>
            <a:off x="3214116" y="3170308"/>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Santri menulis 3 prompt lengkap</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Google Docs atau kertas, tulis 3 prompt untuk 3 pelajaran berbeda. Pastikan setiap prompt memiliki 4 bahan.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Kamu adalah guru Bahasa Arab yang sabar. Saya santri kelas 1 SMP. Jelaskan perbedaan isim dan fi'il dalam 3 poin dengan contoh.</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6400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1. Isim adalah kata benda, contoh: كِتَابٌ (buku).</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2. Fi'il adalah kata kerja yang terkait waktu, contoh: كَتَبَ (telah menulis).</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3. Isim bisa menerima "al", fi'il tidak.</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2529596" y="1778261"/>
            <a:ext cx="2945100" cy="475488"/>
          </a:xfrm>
          <a:prstGeom prst="roundRect">
            <a:avLst>
              <a:gd name="adj" fmla="val 9615"/>
            </a:avLst>
          </a:prstGeom>
          <a:solidFill>
            <a:srgbClr val="FFFFFF">
              <a:alpha val="0"/>
            </a:srgbClr>
          </a:solidFill>
          <a:ln w="31750">
            <a:solidFill>
              <a:srgbClr val="E53935"/>
            </a:solidFill>
            <a:prstDash val="solid"/>
          </a:ln>
        </p:spPr>
      </p:sp>
      <p:sp>
        <p:nvSpPr>
          <p:cNvPr id="41" name="Shape 32"/>
          <p:cNvSpPr/>
          <p:nvPr/>
        </p:nvSpPr>
        <p:spPr>
          <a:xfrm>
            <a:off x="5337536" y="1641101"/>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337536" y="16411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3" name="Image 7" descr="preencoded.png">    </p:cNvPr>
          <p:cNvPicPr>
            <a:picLocks noChangeAspect="1"/>
          </p:cNvPicPr>
          <p:nvPr/>
        </p:nvPicPr>
        <p:blipFill>
          <a:blip r:embed="rId8"/>
          <a:stretch>
            <a:fillRect/>
          </a:stretch>
        </p:blipFill>
        <p:spPr>
          <a:xfrm>
            <a:off x="4146658" y="2037036"/>
            <a:ext cx="237744" cy="237744"/>
          </a:xfrm>
          <a:prstGeom prst="rect">
            <a:avLst/>
          </a:prstGeom>
        </p:spPr>
      </p:pic>
      <p:sp>
        <p:nvSpPr>
          <p:cNvPr id="44" name="Shape 34"/>
          <p:cNvSpPr/>
          <p:nvPr/>
        </p:nvSpPr>
        <p:spPr>
          <a:xfrm>
            <a:off x="1822216" y="2290325"/>
            <a:ext cx="3588471" cy="694944"/>
          </a:xfrm>
          <a:prstGeom prst="roundRect">
            <a:avLst>
              <a:gd name="adj" fmla="val 6579"/>
            </a:avLst>
          </a:prstGeom>
          <a:solidFill>
            <a:srgbClr val="FFFFFF">
              <a:alpha val="0"/>
            </a:srgbClr>
          </a:solidFill>
          <a:ln w="31750">
            <a:solidFill>
              <a:srgbClr val="E53935"/>
            </a:solidFill>
            <a:prstDash val="solid"/>
          </a:ln>
        </p:spPr>
      </p:sp>
      <p:sp>
        <p:nvSpPr>
          <p:cNvPr id="45" name="Shape 35"/>
          <p:cNvSpPr/>
          <p:nvPr/>
        </p:nvSpPr>
        <p:spPr>
          <a:xfrm>
            <a:off x="5273528" y="2153165"/>
            <a:ext cx="274320" cy="274320"/>
          </a:xfrm>
          <a:prstGeom prst="ellipse">
            <a:avLst/>
          </a:prstGeom>
          <a:solidFill>
            <a:srgbClr val="E53935"/>
          </a:solidFill>
          <a:ln w="12700">
            <a:solidFill>
              <a:srgbClr val="FFFFFF"/>
            </a:solidFill>
            <a:prstDash val="solid"/>
          </a:ln>
        </p:spPr>
      </p:sp>
      <p:sp>
        <p:nvSpPr>
          <p:cNvPr id="46" name="Text 36"/>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7" name="Image 8" descr="preencoded.png">    </p:cNvPr>
          <p:cNvPicPr>
            <a:picLocks noChangeAspect="1"/>
          </p:cNvPicPr>
          <p:nvPr/>
        </p:nvPicPr>
        <p:blipFill>
          <a:blip r:embed="rId9"/>
          <a:stretch>
            <a:fillRect/>
          </a:stretch>
        </p:blipFill>
        <p:spPr>
          <a:xfrm>
            <a:off x="3793132" y="2669801"/>
            <a:ext cx="237744" cy="237744"/>
          </a:xfrm>
          <a:prstGeom prst="rect">
            <a:avLst/>
          </a:prstGeom>
        </p:spPr>
      </p:pic>
      <p:sp>
        <p:nvSpPr>
          <p:cNvPr id="48" name="Text 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9" name="Text 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mencobakan prompt terbaik di layar</a:t>
            </a:r>
            <a:endParaRPr lang="en-US" sz="1800" dirty="0"/>
          </a:p>
        </p:txBody>
      </p:sp>
      <p:sp>
        <p:nvSpPr>
          <p:cNvPr id="50" name="Text 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kelompok memilih 1 prompt terbaik. Guru mengetikkannya ke AI di layar.</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Menyusun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Prompt_Saya_Ahmad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Prompt_Saya_Ahmad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Hasil Verifikasi</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Prompt</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Dicocokkan dengan</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Hasil</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Bahasa Arab</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Buku Nahwu</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Benar</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Matematika</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Guru Matematika</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Perlu ditanya</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Sejarah</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Buku Tarikh</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 tahun salah</a:t>
            </a:r>
            <a:endParaRPr lang="en-US" sz="650" dirty="0"/>
          </a:p>
        </p:txBody>
      </p:sp>
      <p:sp>
        <p:nvSpPr>
          <p:cNvPr id="94" name="Shape 83"/>
          <p:cNvSpPr/>
          <p:nvPr/>
        </p:nvSpPr>
        <p:spPr>
          <a:xfrm>
            <a:off x="1527048" y="2849506"/>
            <a:ext cx="3072384" cy="786384"/>
          </a:xfrm>
          <a:prstGeom prst="roundRect">
            <a:avLst>
              <a:gd name="adj" fmla="val 5814"/>
            </a:avLst>
          </a:prstGeom>
          <a:solidFill>
            <a:srgbClr val="FFFFFF">
              <a:alpha val="0"/>
            </a:srgbClr>
          </a:solidFill>
          <a:ln w="31750">
            <a:solidFill>
              <a:srgbClr val="E53935"/>
            </a:solidFill>
            <a:prstDash val="solid"/>
          </a:ln>
        </p:spPr>
      </p:sp>
      <p:sp>
        <p:nvSpPr>
          <p:cNvPr id="95" name="Shape 84"/>
          <p:cNvSpPr/>
          <p:nvPr/>
        </p:nvSpPr>
        <p:spPr>
          <a:xfrm>
            <a:off x="4462272" y="2712346"/>
            <a:ext cx="274320" cy="274320"/>
          </a:xfrm>
          <a:prstGeom prst="ellipse">
            <a:avLst/>
          </a:prstGeom>
          <a:solidFill>
            <a:srgbClr val="E53935"/>
          </a:solidFill>
          <a:ln w="12700">
            <a:solidFill>
              <a:srgbClr val="FFFFFF"/>
            </a:solidFill>
            <a:prstDash val="solid"/>
          </a:ln>
        </p:spPr>
      </p:sp>
      <p:sp>
        <p:nvSpPr>
          <p:cNvPr id="96" name="Text 8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97" name="Image 9" descr="preencoded.png">    </p:cNvPr>
          <p:cNvPicPr>
            <a:picLocks noChangeAspect="1"/>
          </p:cNvPicPr>
          <p:nvPr/>
        </p:nvPicPr>
        <p:blipFill>
          <a:blip r:embed="rId10"/>
          <a:stretch>
            <a:fillRect/>
          </a:stretch>
        </p:blipFill>
        <p:spPr>
          <a:xfrm>
            <a:off x="3214116" y="3279274"/>
            <a:ext cx="237744" cy="237744"/>
          </a:xfrm>
          <a:prstGeom prst="rect">
            <a:avLst/>
          </a:prstGeom>
        </p:spPr>
      </p:pic>
      <p:sp>
        <p:nvSpPr>
          <p:cNvPr id="98" name="Text 8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99" name="Text 8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Verifikasi dan catat hasilnya</a:t>
            </a:r>
            <a:endParaRPr lang="en-US" sz="1800" dirty="0"/>
          </a:p>
        </p:txBody>
      </p:sp>
      <p:sp>
        <p:nvSpPr>
          <p:cNvPr id="100" name="Text 8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Cocokkan jawaban AI dengan buku atau guru mapel. Catat: benar, salah, atau perlu ditanyakan.</a:t>
            </a:r>
            <a:endParaRPr lang="en-US" sz="1300" dirty="0"/>
          </a:p>
        </p:txBody>
      </p:sp>
      <p:sp>
        <p:nvSpPr>
          <p:cNvPr id="101" name="Shape 8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02"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103" name="Text 9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AI keliru, catat bagian yang salah. Itu temuan yang berharga!</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26</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Kumpulkan dokumen atau kertas berisi: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3 prompt lengkap untuk 3 pelajaran berbeda.</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Tanda pada setiap prompt: mana peran, konteks, tugas, dan format.</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verifikasi: dicocokkan dengan apa, dan hasilnya.</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Satu kalimat: apa yang kamu pelajari tentang prompt hari ini.</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prompt memiliki 4 bahan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Jawaban AI sudah dicocokkan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catatan jika AI keliru</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Bahasa prompt santun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Bahan prompt mana yang paling mengubah jawaban?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cara memeriksa jawaban AI?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Untuk urusan agama, bertanyalah kepada ustadz. AI boleh membantu, tetapi rujukan utama tetap para ulama.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Etika AI dan menyusun Panduan Bijak Menggunakan AI.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27</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Etika AI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Panduan Bijak Menggunakan AI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9: AI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Bolehkah tugas yang seluruhnya dikerjakan AI diakui sebagai karya kita sendiri?</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rambu-rambu etika penggunaan AI</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Menilai contoh kasus penggunaan AI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Panduan Bijak Menggunakan AI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Rambu Penggunaan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Jujur</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Akui bantuan AI. Jangan menyerahkan hasil AI sebagai karya sendiri.</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Paham</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Kita wajib memahami dan mampu menjelaskan setiap hasil pekerjaan.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Aman</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Jangan masukkan kata sandi, alamat, nomor HP, foto, atau data pribadi.</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Periksa</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Informasi penting dari AI selalu dicek ulang ke sumber terpercaya.</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Boleh atau Tidak? Tiga Kasus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2606040" cy="3474720"/>
          </a:xfrm>
          <a:prstGeom prst="roundRect">
            <a:avLst>
              <a:gd name="adj" fmla="val 3509"/>
            </a:avLst>
          </a:prstGeom>
          <a:solidFill>
            <a:srgbClr val="E6F2EC"/>
          </a:solidFill>
          <a:ln w="12700">
            <a:solidFill>
              <a:srgbClr val="E6F2EC"/>
            </a:solidFill>
            <a:prstDash val="solid"/>
          </a:ln>
        </p:spPr>
      </p:sp>
      <p:sp>
        <p:nvSpPr>
          <p:cNvPr id="10" name="Text 6"/>
          <p:cNvSpPr txBox="1"/>
          <p:nvPr/>
        </p:nvSpPr>
        <p:spPr>
          <a:xfrm>
            <a:off x="640080" y="1234440"/>
            <a:ext cx="22860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Kasus A</a:t>
            </a:r>
            <a:endParaRPr lang="en-US" sz="1600" dirty="0"/>
          </a:p>
        </p:txBody>
      </p:sp>
      <p:sp>
        <p:nvSpPr>
          <p:cNvPr id="11" name="Text 7"/>
          <p:cNvSpPr txBox="1"/>
          <p:nvPr/>
        </p:nvSpPr>
        <p:spPr>
          <a:xfrm>
            <a:off x="640080" y="1645920"/>
            <a:ext cx="2286000" cy="1554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Ahmad meminta AI menuliskan karangan, lalu mengumpulkannya kepada guru atas namanya sendiri.</a:t>
            </a:r>
            <a:endParaRPr lang="en-US" sz="1250" dirty="0"/>
          </a:p>
        </p:txBody>
      </p:sp>
      <p:sp>
        <p:nvSpPr>
          <p:cNvPr id="12" name="Shape 8"/>
          <p:cNvSpPr/>
          <p:nvPr/>
        </p:nvSpPr>
        <p:spPr>
          <a:xfrm>
            <a:off x="640080" y="3291840"/>
            <a:ext cx="2240280" cy="411480"/>
          </a:xfrm>
          <a:prstGeom prst="roundRect">
            <a:avLst>
              <a:gd name="adj" fmla="val 48889"/>
            </a:avLst>
          </a:prstGeom>
          <a:solidFill>
            <a:srgbClr val="E53935"/>
          </a:solidFill>
          <a:ln w="12700">
            <a:solidFill>
              <a:srgbClr val="E53935"/>
            </a:solidFill>
            <a:prstDash val="solid"/>
          </a:ln>
        </p:spPr>
      </p:sp>
      <p:sp>
        <p:nvSpPr>
          <p:cNvPr id="13" name="Text 9"/>
          <p:cNvSpPr txBox="1"/>
          <p:nvPr/>
        </p:nvSpPr>
        <p:spPr>
          <a:xfrm>
            <a:off x="640080" y="3291840"/>
            <a:ext cx="22402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TIDAK BOLEH</a:t>
            </a:r>
            <a:endParaRPr lang="en-US" sz="1300" dirty="0"/>
          </a:p>
        </p:txBody>
      </p:sp>
      <p:sp>
        <p:nvSpPr>
          <p:cNvPr id="14" name="Text 10"/>
          <p:cNvSpPr txBox="1"/>
          <p:nvPr/>
        </p:nvSpPr>
        <p:spPr>
          <a:xfrm>
            <a:off x="640080" y="3794760"/>
            <a:ext cx="2286000" cy="685800"/>
          </a:xfrm>
          <a:prstGeom prst="rect">
            <a:avLst/>
          </a:prstGeom>
          <a:noFill/>
          <a:ln/>
        </p:spPr>
        <p:txBody>
          <a:bodyPr wrap="square" lIns="0" tIns="0" rIns="0" bIns="0" rtlCol="0" anchor="t"/>
          <a:lstStyle/>
          <a:p>
            <a:pPr indent="0" marL="0">
              <a:buNone/>
            </a:pPr>
            <a:r>
              <a:rPr lang="en-US" sz="1200" i="1" dirty="0">
                <a:solidFill>
                  <a:srgbClr val="1E2A26"/>
                </a:solidFill>
                <a:latin typeface="Calibri" pitchFamily="34" charset="0"/>
                <a:ea typeface="Calibri" pitchFamily="34" charset="-122"/>
                <a:cs typeface="Calibri" pitchFamily="34" charset="-120"/>
              </a:rPr>
              <a:t>Tidak jujur (plagiat).</a:t>
            </a:r>
            <a:endParaRPr lang="en-US" sz="1200" dirty="0"/>
          </a:p>
        </p:txBody>
      </p:sp>
      <p:sp>
        <p:nvSpPr>
          <p:cNvPr id="15" name="Shape 11"/>
          <p:cNvSpPr/>
          <p:nvPr/>
        </p:nvSpPr>
        <p:spPr>
          <a:xfrm>
            <a:off x="3246120" y="1143000"/>
            <a:ext cx="2606040" cy="3474720"/>
          </a:xfrm>
          <a:prstGeom prst="roundRect">
            <a:avLst>
              <a:gd name="adj" fmla="val 3509"/>
            </a:avLst>
          </a:prstGeom>
          <a:solidFill>
            <a:srgbClr val="E6F2EC"/>
          </a:solidFill>
          <a:ln w="12700">
            <a:solidFill>
              <a:srgbClr val="E6F2EC"/>
            </a:solidFill>
            <a:prstDash val="solid"/>
          </a:ln>
        </p:spPr>
      </p:sp>
      <p:sp>
        <p:nvSpPr>
          <p:cNvPr id="16" name="Text 12"/>
          <p:cNvSpPr txBox="1"/>
          <p:nvPr/>
        </p:nvSpPr>
        <p:spPr>
          <a:xfrm>
            <a:off x="3429000" y="1234440"/>
            <a:ext cx="22860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Kasus B</a:t>
            </a:r>
            <a:endParaRPr lang="en-US" sz="1600" dirty="0"/>
          </a:p>
        </p:txBody>
      </p:sp>
      <p:sp>
        <p:nvSpPr>
          <p:cNvPr id="17" name="Text 13"/>
          <p:cNvSpPr txBox="1"/>
          <p:nvPr/>
        </p:nvSpPr>
        <p:spPr>
          <a:xfrm>
            <a:off x="3429000" y="1645920"/>
            <a:ext cx="2286000" cy="1554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Bilal tidak paham soal Matematika. Ia meminta AI menjelaskan langkah-langkahnya, lalu mengerjakan soal lain sendiri.</a:t>
            </a:r>
            <a:endParaRPr lang="en-US" sz="1250" dirty="0"/>
          </a:p>
        </p:txBody>
      </p:sp>
      <p:sp>
        <p:nvSpPr>
          <p:cNvPr id="18" name="Shape 14"/>
          <p:cNvSpPr/>
          <p:nvPr/>
        </p:nvSpPr>
        <p:spPr>
          <a:xfrm>
            <a:off x="3429000" y="3291840"/>
            <a:ext cx="2240280" cy="411480"/>
          </a:xfrm>
          <a:prstGeom prst="roundRect">
            <a:avLst>
              <a:gd name="adj" fmla="val 48889"/>
            </a:avLst>
          </a:prstGeom>
          <a:solidFill>
            <a:srgbClr val="1F7A5C"/>
          </a:solidFill>
          <a:ln w="12700">
            <a:solidFill>
              <a:srgbClr val="1F7A5C"/>
            </a:solidFill>
            <a:prstDash val="solid"/>
          </a:ln>
        </p:spPr>
      </p:sp>
      <p:sp>
        <p:nvSpPr>
          <p:cNvPr id="19" name="Text 15"/>
          <p:cNvSpPr txBox="1"/>
          <p:nvPr/>
        </p:nvSpPr>
        <p:spPr>
          <a:xfrm>
            <a:off x="3429000" y="3291840"/>
            <a:ext cx="22402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BOLEH</a:t>
            </a:r>
            <a:endParaRPr lang="en-US" sz="1300" dirty="0"/>
          </a:p>
        </p:txBody>
      </p:sp>
      <p:sp>
        <p:nvSpPr>
          <p:cNvPr id="20" name="Text 16"/>
          <p:cNvSpPr txBox="1"/>
          <p:nvPr/>
        </p:nvSpPr>
        <p:spPr>
          <a:xfrm>
            <a:off x="3429000" y="3794760"/>
            <a:ext cx="2286000" cy="685800"/>
          </a:xfrm>
          <a:prstGeom prst="rect">
            <a:avLst/>
          </a:prstGeom>
          <a:noFill/>
          <a:ln/>
        </p:spPr>
        <p:txBody>
          <a:bodyPr wrap="square" lIns="0" tIns="0" rIns="0" bIns="0" rtlCol="0" anchor="t"/>
          <a:lstStyle/>
          <a:p>
            <a:pPr indent="0" marL="0">
              <a:buNone/>
            </a:pPr>
            <a:r>
              <a:rPr lang="en-US" sz="1200" i="1" dirty="0">
                <a:solidFill>
                  <a:srgbClr val="1E2A26"/>
                </a:solidFill>
                <a:latin typeface="Calibri" pitchFamily="34" charset="0"/>
                <a:ea typeface="Calibri" pitchFamily="34" charset="-122"/>
                <a:cs typeface="Calibri" pitchFamily="34" charset="-120"/>
              </a:rPr>
              <a:t>AI membantu memahami, bukan menggantikan.</a:t>
            </a:r>
            <a:endParaRPr lang="en-US" sz="1200" dirty="0"/>
          </a:p>
        </p:txBody>
      </p:sp>
      <p:sp>
        <p:nvSpPr>
          <p:cNvPr id="21" name="Shape 17"/>
          <p:cNvSpPr/>
          <p:nvPr/>
        </p:nvSpPr>
        <p:spPr>
          <a:xfrm>
            <a:off x="6035040" y="1143000"/>
            <a:ext cx="2606040" cy="3474720"/>
          </a:xfrm>
          <a:prstGeom prst="roundRect">
            <a:avLst>
              <a:gd name="adj" fmla="val 3509"/>
            </a:avLst>
          </a:prstGeom>
          <a:solidFill>
            <a:srgbClr val="E6F2EC"/>
          </a:solidFill>
          <a:ln w="12700">
            <a:solidFill>
              <a:srgbClr val="E6F2EC"/>
            </a:solidFill>
            <a:prstDash val="solid"/>
          </a:ln>
        </p:spPr>
      </p:sp>
      <p:sp>
        <p:nvSpPr>
          <p:cNvPr id="22" name="Text 18"/>
          <p:cNvSpPr txBox="1"/>
          <p:nvPr/>
        </p:nvSpPr>
        <p:spPr>
          <a:xfrm>
            <a:off x="6217920" y="1234440"/>
            <a:ext cx="22860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Kasus C</a:t>
            </a:r>
            <a:endParaRPr lang="en-US" sz="1600" dirty="0"/>
          </a:p>
        </p:txBody>
      </p:sp>
      <p:sp>
        <p:nvSpPr>
          <p:cNvPr id="23" name="Text 19"/>
          <p:cNvSpPr txBox="1"/>
          <p:nvPr/>
        </p:nvSpPr>
        <p:spPr>
          <a:xfrm>
            <a:off x="6217920" y="1645920"/>
            <a:ext cx="2286000" cy="1554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Fauzan mengetik alamat rumah dan nomor HP orang tuanya ke AI agar dibuatkan surat.</a:t>
            </a:r>
            <a:endParaRPr lang="en-US" sz="1250" dirty="0"/>
          </a:p>
        </p:txBody>
      </p:sp>
      <p:sp>
        <p:nvSpPr>
          <p:cNvPr id="24" name="Shape 20"/>
          <p:cNvSpPr/>
          <p:nvPr/>
        </p:nvSpPr>
        <p:spPr>
          <a:xfrm>
            <a:off x="6217920" y="3291840"/>
            <a:ext cx="2240280" cy="411480"/>
          </a:xfrm>
          <a:prstGeom prst="roundRect">
            <a:avLst>
              <a:gd name="adj" fmla="val 48889"/>
            </a:avLst>
          </a:prstGeom>
          <a:solidFill>
            <a:srgbClr val="E53935"/>
          </a:solidFill>
          <a:ln w="12700">
            <a:solidFill>
              <a:srgbClr val="E53935"/>
            </a:solidFill>
            <a:prstDash val="solid"/>
          </a:ln>
        </p:spPr>
      </p:sp>
      <p:sp>
        <p:nvSpPr>
          <p:cNvPr id="25" name="Text 21"/>
          <p:cNvSpPr txBox="1"/>
          <p:nvPr/>
        </p:nvSpPr>
        <p:spPr>
          <a:xfrm>
            <a:off x="6217920" y="3291840"/>
            <a:ext cx="22402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TIDAK BOLEH</a:t>
            </a:r>
            <a:endParaRPr lang="en-US" sz="1300" dirty="0"/>
          </a:p>
        </p:txBody>
      </p:sp>
      <p:sp>
        <p:nvSpPr>
          <p:cNvPr id="26" name="Text 22"/>
          <p:cNvSpPr txBox="1"/>
          <p:nvPr/>
        </p:nvSpPr>
        <p:spPr>
          <a:xfrm>
            <a:off x="6217920" y="3794760"/>
            <a:ext cx="2286000" cy="685800"/>
          </a:xfrm>
          <a:prstGeom prst="rect">
            <a:avLst/>
          </a:prstGeom>
          <a:noFill/>
          <a:ln/>
        </p:spPr>
        <p:txBody>
          <a:bodyPr wrap="square" lIns="0" tIns="0" rIns="0" bIns="0" rtlCol="0" anchor="t"/>
          <a:lstStyle/>
          <a:p>
            <a:pPr indent="0" marL="0">
              <a:buNone/>
            </a:pPr>
            <a:r>
              <a:rPr lang="en-US" sz="1200" i="1" dirty="0">
                <a:solidFill>
                  <a:srgbClr val="1E2A26"/>
                </a:solidFill>
                <a:latin typeface="Calibri" pitchFamily="34" charset="0"/>
                <a:ea typeface="Calibri" pitchFamily="34" charset="-122"/>
                <a:cs typeface="Calibri" pitchFamily="34" charset="-120"/>
              </a:rPr>
              <a:t>Membocorkan data pribadi.</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Menyusun Panduan Bijak Menggunakan AI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9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Merumuskan 10 aturan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Mendesain panduan di Canva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Merumuskan Aturan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Panduan_AI_Kelompok_1 -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Panduan_AI_Kelompok_1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10 Aturan Bijak Menggunakan AI</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AI adalah alat bantu, bukan pengganti berpikir.</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Akui jika dibantu AI.</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Pahami dan bisa menjelaskan hasilnya.</a:t>
            </a:r>
            <a:endParaRPr lang="en-US" sz="750" dirty="0"/>
          </a:p>
        </p:txBody>
      </p:sp>
      <p:sp>
        <p:nvSpPr>
          <p:cNvPr id="73" name="Text 62"/>
          <p:cNvSpPr txBox="1"/>
          <p:nvPr/>
        </p:nvSpPr>
        <p:spPr>
          <a:xfrm>
            <a:off x="1645920" y="331870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4. Jangan masukkan data pribadi.</a:t>
            </a:r>
            <a:endParaRPr lang="en-US" sz="750" dirty="0"/>
          </a:p>
        </p:txBody>
      </p:sp>
      <p:sp>
        <p:nvSpPr>
          <p:cNvPr id="74" name="Text 63"/>
          <p:cNvSpPr txBox="1"/>
          <p:nvPr/>
        </p:nvSpPr>
        <p:spPr>
          <a:xfrm>
            <a:off x="1645920" y="3465964"/>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5. Periksa jawaban AI ke sumber terpercaya.</a:t>
            </a:r>
            <a:endParaRPr lang="en-US" sz="750" dirty="0"/>
          </a:p>
        </p:txBody>
      </p:sp>
      <p:sp>
        <p:nvSpPr>
          <p:cNvPr id="75" name="Text 64"/>
          <p:cNvSpPr txBox="1"/>
          <p:nvPr/>
        </p:nvSpPr>
        <p:spPr>
          <a:xfrm>
            <a:off x="1645920" y="361322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6. Urusan agama tanyakan kepada ustadz.</a:t>
            </a:r>
            <a:endParaRPr lang="en-US" sz="750" dirty="0"/>
          </a:p>
        </p:txBody>
      </p:sp>
      <p:sp>
        <p:nvSpPr>
          <p:cNvPr id="76" name="Shape 65"/>
          <p:cNvSpPr/>
          <p:nvPr/>
        </p:nvSpPr>
        <p:spPr>
          <a:xfrm>
            <a:off x="1527048" y="2849506"/>
            <a:ext cx="3072384" cy="929259"/>
          </a:xfrm>
          <a:prstGeom prst="roundRect">
            <a:avLst>
              <a:gd name="adj" fmla="val 4920"/>
            </a:avLst>
          </a:prstGeom>
          <a:solidFill>
            <a:srgbClr val="FFFFFF">
              <a:alpha val="0"/>
            </a:srgbClr>
          </a:solidFill>
          <a:ln w="31750">
            <a:solidFill>
              <a:srgbClr val="E53935"/>
            </a:solidFill>
            <a:prstDash val="solid"/>
          </a:ln>
        </p:spPr>
      </p:sp>
      <p:sp>
        <p:nvSpPr>
          <p:cNvPr id="77" name="Shape 66"/>
          <p:cNvSpPr/>
          <p:nvPr/>
        </p:nvSpPr>
        <p:spPr>
          <a:xfrm>
            <a:off x="4462272" y="2712346"/>
            <a:ext cx="274320" cy="274320"/>
          </a:xfrm>
          <a:prstGeom prst="ellipse">
            <a:avLst/>
          </a:prstGeom>
          <a:solidFill>
            <a:srgbClr val="E53935"/>
          </a:solidFill>
          <a:ln w="12700">
            <a:solidFill>
              <a:srgbClr val="FFFFFF"/>
            </a:solidFill>
            <a:prstDash val="solid"/>
          </a:ln>
        </p:spPr>
      </p:sp>
      <p:sp>
        <p:nvSpPr>
          <p:cNvPr id="78" name="Text 67"/>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9" name="Image 9" descr="preencoded.png">    </p:cNvPr>
          <p:cNvPicPr>
            <a:picLocks noChangeAspect="1"/>
          </p:cNvPicPr>
          <p:nvPr/>
        </p:nvPicPr>
        <p:blipFill>
          <a:blip r:embed="rId10"/>
          <a:stretch>
            <a:fillRect/>
          </a:stretch>
        </p:blipFill>
        <p:spPr>
          <a:xfrm>
            <a:off x="3214116" y="3357855"/>
            <a:ext cx="237744" cy="237744"/>
          </a:xfrm>
          <a:prstGeom prst="rect">
            <a:avLst/>
          </a:prstGeom>
        </p:spPr>
      </p:pic>
      <p:sp>
        <p:nvSpPr>
          <p:cNvPr id="80" name="Text 6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81" name="Text 6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10 aturan bijak menggunakan AI</a:t>
            </a:r>
            <a:endParaRPr lang="en-US" sz="1800" dirty="0"/>
          </a:p>
        </p:txBody>
      </p:sp>
      <p:sp>
        <p:nvSpPr>
          <p:cNvPr id="82" name="Text 7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Diskusikan dalam kelompok. Tulis 10 aturan di Google Docs. Pastikan mencakup Jujur, Paham, Aman, Periksa.</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Merumuskan Aturan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Panduan_AI_Kelompok_1 -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Panduan_AI_Kelompok_1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10 Aturan Bijak Menggunakan AI</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5. Periksa jawaban AI ke sumber terpercaya.</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Karena AI bisa salah dan mengarang fakta.</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6. Urusan agama tanyakan kepada ustadz.</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Karena ilmu agama diambil dari ulama.</a:t>
            </a:r>
            <a:endParaRPr lang="en-US" sz="800" dirty="0"/>
          </a:p>
        </p:txBody>
      </p:sp>
      <p:sp>
        <p:nvSpPr>
          <p:cNvPr id="74" name="Shape 63"/>
          <p:cNvSpPr/>
          <p:nvPr/>
        </p:nvSpPr>
        <p:spPr>
          <a:xfrm>
            <a:off x="1527048" y="3042546"/>
            <a:ext cx="3072384" cy="202184"/>
          </a:xfrm>
          <a:prstGeom prst="roundRect">
            <a:avLst>
              <a:gd name="adj" fmla="val 22613"/>
            </a:avLst>
          </a:prstGeom>
          <a:solidFill>
            <a:srgbClr val="FFFFFF">
              <a:alpha val="0"/>
            </a:srgbClr>
          </a:solidFill>
          <a:ln w="31750">
            <a:solidFill>
              <a:srgbClr val="E53935"/>
            </a:solidFill>
            <a:prstDash val="solid"/>
          </a:ln>
        </p:spPr>
      </p:sp>
      <p:sp>
        <p:nvSpPr>
          <p:cNvPr id="75" name="Shape 64"/>
          <p:cNvSpPr/>
          <p:nvPr/>
        </p:nvSpPr>
        <p:spPr>
          <a:xfrm>
            <a:off x="4462272" y="290538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9053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7" name="Image 9" descr="preencoded.png">    </p:cNvPr>
          <p:cNvPicPr>
            <a:picLocks noChangeAspect="1"/>
          </p:cNvPicPr>
          <p:nvPr/>
        </p:nvPicPr>
        <p:blipFill>
          <a:blip r:embed="rId10"/>
          <a:stretch>
            <a:fillRect/>
          </a:stretch>
        </p:blipFill>
        <p:spPr>
          <a:xfrm>
            <a:off x="3214116" y="3151004"/>
            <a:ext cx="237744" cy="237744"/>
          </a:xfrm>
          <a:prstGeom prst="rect">
            <a:avLst/>
          </a:prstGeom>
        </p:spPr>
      </p:pic>
      <p:sp>
        <p:nvSpPr>
          <p:cNvPr id="78" name="Shape 66"/>
          <p:cNvSpPr/>
          <p:nvPr/>
        </p:nvSpPr>
        <p:spPr>
          <a:xfrm>
            <a:off x="1527048" y="3428626"/>
            <a:ext cx="3072384" cy="202184"/>
          </a:xfrm>
          <a:prstGeom prst="roundRect">
            <a:avLst>
              <a:gd name="adj" fmla="val 22613"/>
            </a:avLst>
          </a:prstGeom>
          <a:solidFill>
            <a:srgbClr val="FFFFFF">
              <a:alpha val="0"/>
            </a:srgbClr>
          </a:solidFill>
          <a:ln w="31750">
            <a:solidFill>
              <a:srgbClr val="E53935"/>
            </a:solidFill>
            <a:prstDash val="solid"/>
          </a:ln>
        </p:spPr>
      </p:sp>
      <p:sp>
        <p:nvSpPr>
          <p:cNvPr id="79" name="Shape 67"/>
          <p:cNvSpPr/>
          <p:nvPr/>
        </p:nvSpPr>
        <p:spPr>
          <a:xfrm>
            <a:off x="4462272" y="3291466"/>
            <a:ext cx="274320" cy="274320"/>
          </a:xfrm>
          <a:prstGeom prst="ellipse">
            <a:avLst/>
          </a:prstGeom>
          <a:solidFill>
            <a:srgbClr val="E53935"/>
          </a:solidFill>
          <a:ln w="12700">
            <a:solidFill>
              <a:srgbClr val="FFFFFF"/>
            </a:solidFill>
            <a:prstDash val="solid"/>
          </a:ln>
        </p:spPr>
      </p:sp>
      <p:sp>
        <p:nvSpPr>
          <p:cNvPr id="80" name="Text 68"/>
          <p:cNvSpPr txBox="1"/>
          <p:nvPr/>
        </p:nvSpPr>
        <p:spPr>
          <a:xfrm>
            <a:off x="4462272" y="32914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1" name="Image 10" descr="preencoded.png">    </p:cNvPr>
          <p:cNvPicPr>
            <a:picLocks noChangeAspect="1"/>
          </p:cNvPicPr>
          <p:nvPr/>
        </p:nvPicPr>
        <p:blipFill>
          <a:blip r:embed="rId11"/>
          <a:stretch>
            <a:fillRect/>
          </a:stretch>
        </p:blipFill>
        <p:spPr>
          <a:xfrm>
            <a:off x="3214116" y="3537084"/>
            <a:ext cx="237744" cy="237744"/>
          </a:xfrm>
          <a:prstGeom prst="rect">
            <a:avLst/>
          </a:prstGeom>
        </p:spPr>
      </p:pic>
      <p:sp>
        <p:nvSpPr>
          <p:cNvPr id="82" name="Text 6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83" name="Text 7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penjelasan singkat setiap aturan</a:t>
            </a:r>
            <a:endParaRPr lang="en-US" sz="1800" dirty="0"/>
          </a:p>
        </p:txBody>
      </p:sp>
      <p:sp>
        <p:nvSpPr>
          <p:cNvPr id="84" name="Text 7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bawah setiap aturan, tulis satu kalimat alasan. Contoh: "Karena AI bisa salah."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Mendesain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1005840"/>
          </a:xfrm>
          <a:prstGeom prst="rect">
            <a:avLst/>
          </a:prstGeom>
          <a:solidFill>
            <a:srgbClr val="7D2AE8"/>
          </a:solidFill>
          <a:ln w="12700">
            <a:solidFill>
              <a:srgbClr val="7D2AE8"/>
            </a:solidFill>
            <a:prstDash val="solid"/>
          </a:ln>
        </p:spPr>
      </p:sp>
      <p:sp>
        <p:nvSpPr>
          <p:cNvPr id="29" name="Text 22"/>
          <p:cNvSpPr txBox="1"/>
          <p:nvPr/>
        </p:nvSpPr>
        <p:spPr>
          <a:xfrm>
            <a:off x="587776" y="1805693"/>
            <a:ext cx="4950927"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What will you design today?</a:t>
            </a:r>
            <a:endParaRPr lang="en-US" sz="1200" dirty="0"/>
          </a:p>
        </p:txBody>
      </p:sp>
      <p:sp>
        <p:nvSpPr>
          <p:cNvPr id="30" name="Shape 23"/>
          <p:cNvSpPr/>
          <p:nvPr/>
        </p:nvSpPr>
        <p:spPr>
          <a:xfrm>
            <a:off x="1691640" y="2198885"/>
            <a:ext cx="2743200" cy="274320"/>
          </a:xfrm>
          <a:prstGeom prst="roundRect">
            <a:avLst>
              <a:gd name="adj" fmla="val 50000"/>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1801368" y="2272037"/>
            <a:ext cx="128016" cy="128016"/>
          </a:xfrm>
          <a:prstGeom prst="rect">
            <a:avLst/>
          </a:prstGeom>
        </p:spPr>
      </p:pic>
      <p:sp>
        <p:nvSpPr>
          <p:cNvPr id="32" name="Text 24"/>
          <p:cNvSpPr txBox="1"/>
          <p:nvPr/>
        </p:nvSpPr>
        <p:spPr>
          <a:xfrm>
            <a:off x="2011680" y="2198885"/>
            <a:ext cx="2377440" cy="274320"/>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poster</a:t>
            </a:r>
            <a:endParaRPr lang="en-US" sz="850" dirty="0"/>
          </a:p>
        </p:txBody>
      </p:sp>
      <p:sp>
        <p:nvSpPr>
          <p:cNvPr id="33" name="Shape 25"/>
          <p:cNvSpPr/>
          <p:nvPr/>
        </p:nvSpPr>
        <p:spPr>
          <a:xfrm>
            <a:off x="1691640" y="2509781"/>
            <a:ext cx="2743200" cy="658368"/>
          </a:xfrm>
          <a:prstGeom prst="rect">
            <a:avLst/>
          </a:prstGeom>
          <a:solidFill>
            <a:srgbClr val="FFFFFF"/>
          </a:solidFill>
          <a:ln w="9525">
            <a:solidFill>
              <a:srgbClr val="AAAAAA"/>
            </a:solidFill>
            <a:prstDash val="solid"/>
          </a:ln>
        </p:spPr>
      </p:sp>
      <p:sp>
        <p:nvSpPr>
          <p:cNvPr id="34" name="Text 26"/>
          <p:cNvSpPr txBox="1"/>
          <p:nvPr/>
        </p:nvSpPr>
        <p:spPr>
          <a:xfrm>
            <a:off x="1801368" y="2537213"/>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(Portrait - 42 × 59.4 cm)</a:t>
            </a:r>
            <a:endParaRPr lang="en-US" sz="800" dirty="0"/>
          </a:p>
        </p:txBody>
      </p:sp>
      <p:sp>
        <p:nvSpPr>
          <p:cNvPr id="35" name="Text 27"/>
          <p:cNvSpPr txBox="1"/>
          <p:nvPr/>
        </p:nvSpPr>
        <p:spPr>
          <a:xfrm>
            <a:off x="1801368" y="2738381"/>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(Landscape)</a:t>
            </a:r>
            <a:endParaRPr lang="en-US" sz="800" dirty="0"/>
          </a:p>
        </p:txBody>
      </p:sp>
      <p:sp>
        <p:nvSpPr>
          <p:cNvPr id="36" name="Text 28"/>
          <p:cNvSpPr txBox="1"/>
          <p:nvPr/>
        </p:nvSpPr>
        <p:spPr>
          <a:xfrm>
            <a:off x="1801368" y="2939549"/>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templates</a:t>
            </a:r>
            <a:endParaRPr lang="en-US" sz="800" dirty="0"/>
          </a:p>
        </p:txBody>
      </p:sp>
      <p:sp>
        <p:nvSpPr>
          <p:cNvPr id="37" name="Shape 29"/>
          <p:cNvSpPr/>
          <p:nvPr/>
        </p:nvSpPr>
        <p:spPr>
          <a:xfrm>
            <a:off x="1709928" y="2518925"/>
            <a:ext cx="2706624" cy="228600"/>
          </a:xfrm>
          <a:prstGeom prst="roundRect">
            <a:avLst>
              <a:gd name="adj" fmla="val 20000"/>
            </a:avLst>
          </a:prstGeom>
          <a:solidFill>
            <a:srgbClr val="FFFFFF">
              <a:alpha val="0"/>
            </a:srgbClr>
          </a:solidFill>
          <a:ln w="31750">
            <a:solidFill>
              <a:srgbClr val="E53935"/>
            </a:solidFill>
            <a:prstDash val="solid"/>
          </a:ln>
        </p:spPr>
      </p:sp>
      <p:sp>
        <p:nvSpPr>
          <p:cNvPr id="38" name="Shape 30"/>
          <p:cNvSpPr/>
          <p:nvPr/>
        </p:nvSpPr>
        <p:spPr>
          <a:xfrm>
            <a:off x="4279392" y="2381765"/>
            <a:ext cx="274320" cy="274320"/>
          </a:xfrm>
          <a:prstGeom prst="ellipse">
            <a:avLst/>
          </a:prstGeom>
          <a:solidFill>
            <a:srgbClr val="E53935"/>
          </a:solidFill>
          <a:ln w="12700">
            <a:solidFill>
              <a:srgbClr val="FFFFFF"/>
            </a:solidFill>
            <a:prstDash val="solid"/>
          </a:ln>
        </p:spPr>
      </p:sp>
      <p:sp>
        <p:nvSpPr>
          <p:cNvPr id="39" name="Text 31"/>
          <p:cNvSpPr txBox="1"/>
          <p:nvPr/>
        </p:nvSpPr>
        <p:spPr>
          <a:xfrm>
            <a:off x="4279392" y="23817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0" name="Image 6" descr="preencoded.png">    </p:cNvPr>
          <p:cNvPicPr>
            <a:picLocks noChangeAspect="1"/>
          </p:cNvPicPr>
          <p:nvPr/>
        </p:nvPicPr>
        <p:blipFill>
          <a:blip r:embed="rId7"/>
          <a:stretch>
            <a:fillRect/>
          </a:stretch>
        </p:blipFill>
        <p:spPr>
          <a:xfrm>
            <a:off x="3196742" y="2642826"/>
            <a:ext cx="237744" cy="237744"/>
          </a:xfrm>
          <a:prstGeom prst="rect">
            <a:avLst/>
          </a:prstGeom>
        </p:spPr>
      </p:pic>
      <p:sp>
        <p:nvSpPr>
          <p:cNvPr id="41" name="Text 3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2" name="Text 3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Canva, buat Poster (Portrait)</a:t>
            </a:r>
            <a:endParaRPr lang="en-US" sz="1800" dirty="0"/>
          </a:p>
        </p:txBody>
      </p:sp>
      <p:sp>
        <p:nvSpPr>
          <p:cNvPr id="43" name="Text 3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Masuk Canva dengan akun pesantren. Cari poster, pilih Poster (Portrait). Beri nama Panduan_AI_Kelompok_N.</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Mendesain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Panduan_AI_Kelompok_1</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1136416" y="2025149"/>
            <a:ext cx="4310847" cy="219456"/>
          </a:xfrm>
          <a:prstGeom prst="roundRect">
            <a:avLst>
              <a:gd name="adj" fmla="val 16667"/>
            </a:avLst>
          </a:prstGeom>
          <a:solidFill>
            <a:srgbClr val="FFFFFF"/>
          </a:solidFill>
          <a:ln w="12700">
            <a:solidFill>
              <a:srgbClr val="FFFFFF"/>
            </a:solidFill>
            <a:prstDash val="solid"/>
          </a:ln>
        </p:spPr>
      </p:sp>
      <p:sp>
        <p:nvSpPr>
          <p:cNvPr id="46" name="Text 34"/>
          <p:cNvSpPr txBox="1"/>
          <p:nvPr/>
        </p:nvSpPr>
        <p:spPr>
          <a:xfrm>
            <a:off x="1182136"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Lato ▾</a:t>
            </a:r>
            <a:endParaRPr lang="en-US" sz="750" dirty="0"/>
          </a:p>
        </p:txBody>
      </p:sp>
      <p:sp>
        <p:nvSpPr>
          <p:cNvPr id="47" name="Text 35"/>
          <p:cNvSpPr txBox="1"/>
          <p:nvPr/>
        </p:nvSpPr>
        <p:spPr>
          <a:xfrm>
            <a:off x="1721632" y="2043437"/>
            <a:ext cx="2743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28</a:t>
            </a:r>
            <a:endParaRPr lang="en-US" sz="750" dirty="0"/>
          </a:p>
        </p:txBody>
      </p:sp>
      <p:sp>
        <p:nvSpPr>
          <p:cNvPr id="48" name="Text 36"/>
          <p:cNvSpPr txBox="1"/>
          <p:nvPr/>
        </p:nvSpPr>
        <p:spPr>
          <a:xfrm>
            <a:off x="2032528" y="2043437"/>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49" name="Text 37"/>
          <p:cNvSpPr txBox="1"/>
          <p:nvPr/>
        </p:nvSpPr>
        <p:spPr>
          <a:xfrm>
            <a:off x="2251984" y="2043437"/>
            <a:ext cx="182880" cy="182880"/>
          </a:xfrm>
          <a:prstGeom prst="rect">
            <a:avLst/>
          </a:prstGeom>
          <a:noFill/>
          <a:ln/>
        </p:spPr>
        <p:txBody>
          <a:bodyPr wrap="square" lIns="0" tIns="0" rIns="0" bIns="0" rtlCol="0" anchor="ctr"/>
          <a:lstStyle/>
          <a:p>
            <a:pPr algn="ctr" indent="0" marL="0">
              <a:buNone/>
            </a:pPr>
            <a:r>
              <a:rPr lang="en-US" sz="750" b="1" dirty="0">
                <a:solidFill>
                  <a:srgbClr val="222222"/>
                </a:solidFill>
                <a:latin typeface="Calibri" pitchFamily="34" charset="0"/>
                <a:ea typeface="Calibri" pitchFamily="34" charset="-122"/>
                <a:cs typeface="Calibri" pitchFamily="34" charset="-120"/>
              </a:rPr>
              <a:t>B</a:t>
            </a:r>
            <a:endParaRPr lang="en-US" sz="750" dirty="0"/>
          </a:p>
        </p:txBody>
      </p:sp>
      <p:sp>
        <p:nvSpPr>
          <p:cNvPr id="50" name="Text 38"/>
          <p:cNvSpPr txBox="1"/>
          <p:nvPr/>
        </p:nvSpPr>
        <p:spPr>
          <a:xfrm>
            <a:off x="2471440"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I</a:t>
            </a:r>
            <a:endParaRPr lang="en-US" sz="750" dirty="0"/>
          </a:p>
        </p:txBody>
      </p:sp>
      <p:sp>
        <p:nvSpPr>
          <p:cNvPr id="51" name="Text 39"/>
          <p:cNvSpPr txBox="1"/>
          <p:nvPr/>
        </p:nvSpPr>
        <p:spPr>
          <a:xfrm>
            <a:off x="2690896"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a:t>
            </a:r>
            <a:endParaRPr lang="en-US" sz="750" dirty="0"/>
          </a:p>
        </p:txBody>
      </p:sp>
      <p:sp>
        <p:nvSpPr>
          <p:cNvPr id="52" name="Text 40"/>
          <p:cNvSpPr txBox="1"/>
          <p:nvPr/>
        </p:nvSpPr>
        <p:spPr>
          <a:xfrm>
            <a:off x="2910352"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Position</a:t>
            </a:r>
            <a:endParaRPr lang="en-US" sz="750" dirty="0"/>
          </a:p>
        </p:txBody>
      </p:sp>
      <p:sp>
        <p:nvSpPr>
          <p:cNvPr id="53" name="Shape 41"/>
          <p:cNvSpPr/>
          <p:nvPr/>
        </p:nvSpPr>
        <p:spPr>
          <a:xfrm>
            <a:off x="2737588" y="2317757"/>
            <a:ext cx="1108504" cy="1522179"/>
          </a:xfrm>
          <a:prstGeom prst="rect">
            <a:avLst/>
          </a:prstGeom>
          <a:solidFill>
            <a:srgbClr val="FFFFFF"/>
          </a:solidFill>
          <a:ln w="12700">
            <a:solidFill>
              <a:srgbClr val="FFFFFF"/>
            </a:solidFill>
            <a:prstDash val="solid"/>
          </a:ln>
        </p:spPr>
      </p:sp>
      <p:sp>
        <p:nvSpPr>
          <p:cNvPr id="54" name="Shape 42"/>
          <p:cNvSpPr/>
          <p:nvPr/>
        </p:nvSpPr>
        <p:spPr>
          <a:xfrm>
            <a:off x="2737588" y="2317757"/>
            <a:ext cx="1108504" cy="1522179"/>
          </a:xfrm>
          <a:prstGeom prst="rect">
            <a:avLst/>
          </a:prstGeom>
          <a:solidFill>
            <a:srgbClr val="0F4C3A"/>
          </a:solidFill>
          <a:ln w="12700">
            <a:solidFill>
              <a:srgbClr val="0F4C3A"/>
            </a:solidFill>
            <a:prstDash val="solid"/>
          </a:ln>
        </p:spPr>
      </p:sp>
      <p:sp>
        <p:nvSpPr>
          <p:cNvPr id="55" name="Text 43"/>
          <p:cNvSpPr txBox="1"/>
          <p:nvPr/>
        </p:nvSpPr>
        <p:spPr>
          <a:xfrm>
            <a:off x="2793013" y="2378644"/>
            <a:ext cx="997654" cy="152218"/>
          </a:xfrm>
          <a:prstGeom prst="rect">
            <a:avLst/>
          </a:prstGeom>
          <a:noFill/>
          <a:ln/>
        </p:spPr>
        <p:txBody>
          <a:bodyPr wrap="square" lIns="0" tIns="0" rIns="0" bIns="0" rtlCol="0" anchor="ctr"/>
          <a:lstStyle/>
          <a:p>
            <a:pPr algn="ctr" indent="0" marL="0">
              <a:buNone/>
            </a:pPr>
            <a:r>
              <a:rPr lang="en-US" sz="1000" b="1" dirty="0">
                <a:solidFill>
                  <a:srgbClr val="D4A017"/>
                </a:solidFill>
                <a:latin typeface="Arial" pitchFamily="34" charset="0"/>
                <a:ea typeface="Arial" pitchFamily="34" charset="-122"/>
                <a:cs typeface="Arial" pitchFamily="34" charset="-120"/>
              </a:rPr>
              <a:t>BIJAK MENGGUNAKAN AI</a:t>
            </a:r>
            <a:endParaRPr lang="en-US" sz="1000" dirty="0"/>
          </a:p>
        </p:txBody>
      </p:sp>
      <p:pic>
        <p:nvPicPr>
          <p:cNvPr id="56" name="Image 10" descr="preencoded.png">    </p:cNvPr>
          <p:cNvPicPr>
            <a:picLocks noChangeAspect="1"/>
          </p:cNvPicPr>
          <p:nvPr/>
        </p:nvPicPr>
        <p:blipFill>
          <a:blip r:embed="rId11"/>
          <a:stretch>
            <a:fillRect/>
          </a:stretch>
        </p:blipFill>
        <p:spPr>
          <a:xfrm>
            <a:off x="3158819" y="2546084"/>
            <a:ext cx="266041" cy="243549"/>
          </a:xfrm>
          <a:prstGeom prst="rect">
            <a:avLst/>
          </a:prstGeom>
        </p:spPr>
      </p:pic>
      <p:sp>
        <p:nvSpPr>
          <p:cNvPr id="57" name="Text 44"/>
          <p:cNvSpPr txBox="1"/>
          <p:nvPr/>
        </p:nvSpPr>
        <p:spPr>
          <a:xfrm>
            <a:off x="2804098" y="2835298"/>
            <a:ext cx="975484" cy="684980"/>
          </a:xfrm>
          <a:prstGeom prst="rect">
            <a:avLst/>
          </a:prstGeom>
          <a:noFill/>
          <a:ln/>
        </p:spPr>
        <p:txBody>
          <a:bodyPr wrap="square" lIns="0" tIns="0" rIns="0" bIns="0" rtlCol="0" anchor="ctr"/>
          <a:lstStyle/>
          <a:p>
            <a:pPr algn="l" indent="0" marL="0">
              <a:buNone/>
            </a:pPr>
            <a:r>
              <a:rPr lang="en-US" sz="600" dirty="0">
                <a:solidFill>
                  <a:srgbClr val="FFFFFF"/>
                </a:solidFill>
                <a:latin typeface="Arial" pitchFamily="34" charset="0"/>
                <a:ea typeface="Arial" pitchFamily="34" charset="-122"/>
                <a:cs typeface="Arial" pitchFamily="34" charset="-120"/>
              </a:rPr>
              <a:t>1. Alat bantu, bukan pengganti berpikir</a:t>
            </a:r>
            <a:endParaRPr lang="en-US" sz="600" dirty="0"/>
          </a:p>
          <a:p>
            <a:pPr algn="l" indent="0" marL="0">
              <a:buNone/>
            </a:pPr>
            <a:r>
              <a:rPr lang="en-US" sz="600" dirty="0">
                <a:solidFill>
                  <a:srgbClr val="FFFFFF"/>
                </a:solidFill>
                <a:latin typeface="Arial" pitchFamily="34" charset="0"/>
                <a:ea typeface="Arial" pitchFamily="34" charset="-122"/>
                <a:cs typeface="Arial" pitchFamily="34" charset="-120"/>
              </a:rPr>
              <a:t>2. Akui bantuan AI</a:t>
            </a:r>
            <a:endParaRPr lang="en-US" sz="600" dirty="0"/>
          </a:p>
          <a:p>
            <a:pPr algn="l" indent="0" marL="0">
              <a:buNone/>
            </a:pPr>
            <a:r>
              <a:rPr lang="en-US" sz="600" dirty="0">
                <a:solidFill>
                  <a:srgbClr val="FFFFFF"/>
                </a:solidFill>
                <a:latin typeface="Arial" pitchFamily="34" charset="0"/>
                <a:ea typeface="Arial" pitchFamily="34" charset="-122"/>
                <a:cs typeface="Arial" pitchFamily="34" charset="-120"/>
              </a:rPr>
              <a:t>3. Pahami hasilnya</a:t>
            </a:r>
            <a:endParaRPr lang="en-US" sz="600" dirty="0"/>
          </a:p>
          <a:p>
            <a:pPr algn="l" indent="0" marL="0">
              <a:buNone/>
            </a:pPr>
            <a:r>
              <a:rPr lang="en-US" sz="600" dirty="0">
                <a:solidFill>
                  <a:srgbClr val="FFFFFF"/>
                </a:solidFill>
                <a:latin typeface="Arial" pitchFamily="34" charset="0"/>
                <a:ea typeface="Arial" pitchFamily="34" charset="-122"/>
                <a:cs typeface="Arial" pitchFamily="34" charset="-120"/>
              </a:rPr>
              <a:t>4. Jaga data pribadi</a:t>
            </a:r>
            <a:endParaRPr lang="en-US" sz="600" dirty="0"/>
          </a:p>
          <a:p>
            <a:pPr algn="l" indent="0" marL="0">
              <a:buNone/>
            </a:pPr>
            <a:r>
              <a:rPr lang="en-US" sz="600" dirty="0">
                <a:solidFill>
                  <a:srgbClr val="FFFFFF"/>
                </a:solidFill>
                <a:latin typeface="Arial" pitchFamily="34" charset="0"/>
                <a:ea typeface="Arial" pitchFamily="34" charset="-122"/>
                <a:cs typeface="Arial" pitchFamily="34" charset="-120"/>
              </a:rPr>
              <a:t>5. Periksa jawaban AI</a:t>
            </a:r>
            <a:endParaRPr lang="en-US" sz="600" dirty="0"/>
          </a:p>
          <a:p>
            <a:pPr algn="l" indent="0" marL="0">
              <a:buNone/>
            </a:pPr>
            <a:r>
              <a:rPr lang="en-US" sz="600" dirty="0">
                <a:solidFill>
                  <a:srgbClr val="FFFFFF"/>
                </a:solidFill>
                <a:latin typeface="Arial" pitchFamily="34" charset="0"/>
                <a:ea typeface="Arial" pitchFamily="34" charset="-122"/>
                <a:cs typeface="Arial" pitchFamily="34" charset="-120"/>
              </a:rPr>
              <a:t>6. Agama: tanya ustadz</a:t>
            </a:r>
            <a:endParaRPr lang="en-US" sz="600" dirty="0"/>
          </a:p>
          <a:p>
            <a:pPr algn="l" indent="0" marL="0">
              <a:buNone/>
            </a:pPr>
            <a:r>
              <a:rPr lang="en-US" sz="600" dirty="0">
                <a:solidFill>
                  <a:srgbClr val="FFFFFF"/>
                </a:solidFill>
                <a:latin typeface="Arial" pitchFamily="34" charset="0"/>
                <a:ea typeface="Arial" pitchFamily="34" charset="-122"/>
                <a:cs typeface="Arial" pitchFamily="34" charset="-120"/>
              </a:rPr>
              <a:t>7. ...</a:t>
            </a:r>
            <a:endParaRPr lang="en-US" sz="600" dirty="0"/>
          </a:p>
        </p:txBody>
      </p:sp>
      <p:sp>
        <p:nvSpPr>
          <p:cNvPr id="58" name="Shape 45"/>
          <p:cNvSpPr/>
          <p:nvPr/>
        </p:nvSpPr>
        <p:spPr>
          <a:xfrm>
            <a:off x="2785810" y="2817010"/>
            <a:ext cx="1012060" cy="721556"/>
          </a:xfrm>
          <a:prstGeom prst="rect">
            <a:avLst/>
          </a:prstGeom>
          <a:solidFill>
            <a:srgbClr val="FFFFFF">
              <a:alpha val="0"/>
            </a:srgbClr>
          </a:solidFill>
          <a:ln w="15240">
            <a:solidFill>
              <a:srgbClr val="8B3DFF"/>
            </a:solidFill>
            <a:prstDash val="solid"/>
          </a:ln>
        </p:spPr>
      </p:sp>
      <p:sp>
        <p:nvSpPr>
          <p:cNvPr id="59" name="Shape 46"/>
          <p:cNvSpPr/>
          <p:nvPr/>
        </p:nvSpPr>
        <p:spPr>
          <a:xfrm>
            <a:off x="2776666" y="2807866"/>
            <a:ext cx="1030348" cy="739844"/>
          </a:xfrm>
          <a:prstGeom prst="roundRect">
            <a:avLst>
              <a:gd name="adj" fmla="val 6180"/>
            </a:avLst>
          </a:prstGeom>
          <a:solidFill>
            <a:srgbClr val="FFFFFF">
              <a:alpha val="0"/>
            </a:srgbClr>
          </a:solidFill>
          <a:ln w="31750">
            <a:solidFill>
              <a:srgbClr val="E53935"/>
            </a:solidFill>
            <a:prstDash val="solid"/>
          </a:ln>
        </p:spPr>
      </p:sp>
      <p:sp>
        <p:nvSpPr>
          <p:cNvPr id="60" name="Shape 47"/>
          <p:cNvSpPr/>
          <p:nvPr/>
        </p:nvSpPr>
        <p:spPr>
          <a:xfrm>
            <a:off x="3669854" y="2670706"/>
            <a:ext cx="274320" cy="274320"/>
          </a:xfrm>
          <a:prstGeom prst="ellipse">
            <a:avLst/>
          </a:prstGeom>
          <a:solidFill>
            <a:srgbClr val="E53935"/>
          </a:solidFill>
          <a:ln w="12700">
            <a:solidFill>
              <a:srgbClr val="FFFFFF"/>
            </a:solidFill>
            <a:prstDash val="solid"/>
          </a:ln>
        </p:spPr>
      </p:sp>
      <p:sp>
        <p:nvSpPr>
          <p:cNvPr id="61" name="Text 48"/>
          <p:cNvSpPr txBox="1"/>
          <p:nvPr/>
        </p:nvSpPr>
        <p:spPr>
          <a:xfrm>
            <a:off x="3669854" y="267070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62" name="Image 11" descr="preencoded.png">    </p:cNvPr>
          <p:cNvPicPr>
            <a:picLocks noChangeAspect="1"/>
          </p:cNvPicPr>
          <p:nvPr/>
        </p:nvPicPr>
        <p:blipFill>
          <a:blip r:embed="rId12"/>
          <a:stretch>
            <a:fillRect/>
          </a:stretch>
        </p:blipFill>
        <p:spPr>
          <a:xfrm>
            <a:off x="3340614" y="3212037"/>
            <a:ext cx="237744" cy="237744"/>
          </a:xfrm>
          <a:prstGeom prst="rect">
            <a:avLst/>
          </a:prstGeom>
        </p:spPr>
      </p:pic>
      <p:sp>
        <p:nvSpPr>
          <p:cNvPr id="63"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4"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Masukkan judul dan 10 aturan</a:t>
            </a:r>
            <a:endParaRPr lang="en-US" sz="1800" dirty="0"/>
          </a:p>
        </p:txBody>
      </p:sp>
      <p:sp>
        <p:nvSpPr>
          <p:cNvPr id="65"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judul besar, lalu salin 10 aturan dari Google Docs (Ctrl+C, Ctrl+V). Terapkan 4 prinsip desain.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Mendesain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Panduan_AI_Kelompok_1</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2737588" y="2317757"/>
            <a:ext cx="1108504" cy="1522179"/>
          </a:xfrm>
          <a:prstGeom prst="rect">
            <a:avLst/>
          </a:prstGeom>
          <a:solidFill>
            <a:srgbClr val="FFFFFF"/>
          </a:solidFill>
          <a:ln w="12700">
            <a:solidFill>
              <a:srgbClr val="FFFFFF"/>
            </a:solidFill>
            <a:prstDash val="solid"/>
          </a:ln>
        </p:spPr>
      </p:sp>
      <p:sp>
        <p:nvSpPr>
          <p:cNvPr id="46" name="Shape 34"/>
          <p:cNvSpPr/>
          <p:nvPr/>
        </p:nvSpPr>
        <p:spPr>
          <a:xfrm>
            <a:off x="2737588" y="2317757"/>
            <a:ext cx="1108504" cy="1522179"/>
          </a:xfrm>
          <a:prstGeom prst="rect">
            <a:avLst/>
          </a:prstGeom>
          <a:solidFill>
            <a:srgbClr val="0F4C3A"/>
          </a:solidFill>
          <a:ln w="12700">
            <a:solidFill>
              <a:srgbClr val="0F4C3A"/>
            </a:solidFill>
            <a:prstDash val="solid"/>
          </a:ln>
        </p:spPr>
      </p:sp>
      <p:sp>
        <p:nvSpPr>
          <p:cNvPr id="47" name="Text 35"/>
          <p:cNvSpPr txBox="1"/>
          <p:nvPr/>
        </p:nvSpPr>
        <p:spPr>
          <a:xfrm>
            <a:off x="2793013" y="2378644"/>
            <a:ext cx="997654" cy="152218"/>
          </a:xfrm>
          <a:prstGeom prst="rect">
            <a:avLst/>
          </a:prstGeom>
          <a:noFill/>
          <a:ln/>
        </p:spPr>
        <p:txBody>
          <a:bodyPr wrap="square" lIns="0" tIns="0" rIns="0" bIns="0" rtlCol="0" anchor="ctr"/>
          <a:lstStyle/>
          <a:p>
            <a:pPr algn="ctr" indent="0" marL="0">
              <a:buNone/>
            </a:pPr>
            <a:r>
              <a:rPr lang="en-US" sz="1000" b="1" dirty="0">
                <a:solidFill>
                  <a:srgbClr val="D4A017"/>
                </a:solidFill>
                <a:latin typeface="Arial" pitchFamily="34" charset="0"/>
                <a:ea typeface="Arial" pitchFamily="34" charset="-122"/>
                <a:cs typeface="Arial" pitchFamily="34" charset="-120"/>
              </a:rPr>
              <a:t>BIJAK MENGGUNAKAN AI</a:t>
            </a:r>
            <a:endParaRPr lang="en-US" sz="1000" dirty="0"/>
          </a:p>
        </p:txBody>
      </p:sp>
      <p:pic>
        <p:nvPicPr>
          <p:cNvPr id="48" name="Image 10" descr="preencoded.png">    </p:cNvPr>
          <p:cNvPicPr>
            <a:picLocks noChangeAspect="1"/>
          </p:cNvPicPr>
          <p:nvPr/>
        </p:nvPicPr>
        <p:blipFill>
          <a:blip r:embed="rId11"/>
          <a:stretch>
            <a:fillRect/>
          </a:stretch>
        </p:blipFill>
        <p:spPr>
          <a:xfrm>
            <a:off x="3158819" y="2546084"/>
            <a:ext cx="266041" cy="243549"/>
          </a:xfrm>
          <a:prstGeom prst="rect">
            <a:avLst/>
          </a:prstGeom>
        </p:spPr>
      </p:pic>
      <p:sp>
        <p:nvSpPr>
          <p:cNvPr id="49" name="Text 36"/>
          <p:cNvSpPr txBox="1"/>
          <p:nvPr/>
        </p:nvSpPr>
        <p:spPr>
          <a:xfrm>
            <a:off x="2804098" y="2835298"/>
            <a:ext cx="975484" cy="608872"/>
          </a:xfrm>
          <a:prstGeom prst="rect">
            <a:avLst/>
          </a:prstGeom>
          <a:noFill/>
          <a:ln/>
        </p:spPr>
        <p:txBody>
          <a:bodyPr wrap="square" lIns="0" tIns="0" rIns="0" bIns="0" rtlCol="0" anchor="ctr"/>
          <a:lstStyle/>
          <a:p>
            <a:pPr algn="l" indent="0" marL="0">
              <a:buNone/>
            </a:pPr>
            <a:r>
              <a:rPr lang="en-US" sz="600" dirty="0">
                <a:solidFill>
                  <a:srgbClr val="FFFFFF"/>
                </a:solidFill>
                <a:latin typeface="Arial" pitchFamily="34" charset="0"/>
                <a:ea typeface="Arial" pitchFamily="34" charset="-122"/>
                <a:cs typeface="Arial" pitchFamily="34" charset="-120"/>
              </a:rPr>
              <a:t>1. Alat bantu, bukan pengganti berpikir</a:t>
            </a:r>
            <a:endParaRPr lang="en-US" sz="600" dirty="0"/>
          </a:p>
          <a:p>
            <a:pPr algn="l" indent="0" marL="0">
              <a:buNone/>
            </a:pPr>
            <a:r>
              <a:rPr lang="en-US" sz="600" dirty="0">
                <a:solidFill>
                  <a:srgbClr val="FFFFFF"/>
                </a:solidFill>
                <a:latin typeface="Arial" pitchFamily="34" charset="0"/>
                <a:ea typeface="Arial" pitchFamily="34" charset="-122"/>
                <a:cs typeface="Arial" pitchFamily="34" charset="-120"/>
              </a:rPr>
              <a:t>2. Akui bantuan AI</a:t>
            </a:r>
            <a:endParaRPr lang="en-US" sz="600" dirty="0"/>
          </a:p>
          <a:p>
            <a:pPr algn="l" indent="0" marL="0">
              <a:buNone/>
            </a:pPr>
            <a:r>
              <a:rPr lang="en-US" sz="600" dirty="0">
                <a:solidFill>
                  <a:srgbClr val="FFFFFF"/>
                </a:solidFill>
                <a:latin typeface="Arial" pitchFamily="34" charset="0"/>
                <a:ea typeface="Arial" pitchFamily="34" charset="-122"/>
                <a:cs typeface="Arial" pitchFamily="34" charset="-120"/>
              </a:rPr>
              <a:t>3. Pahami hasilnya</a:t>
            </a:r>
            <a:endParaRPr lang="en-US" sz="600" dirty="0"/>
          </a:p>
          <a:p>
            <a:pPr algn="l" indent="0" marL="0">
              <a:buNone/>
            </a:pPr>
            <a:r>
              <a:rPr lang="en-US" sz="600" dirty="0">
                <a:solidFill>
                  <a:srgbClr val="FFFFFF"/>
                </a:solidFill>
                <a:latin typeface="Arial" pitchFamily="34" charset="0"/>
                <a:ea typeface="Arial" pitchFamily="34" charset="-122"/>
                <a:cs typeface="Arial" pitchFamily="34" charset="-120"/>
              </a:rPr>
              <a:t>4. Jaga data pribadi</a:t>
            </a:r>
            <a:endParaRPr lang="en-US" sz="600" dirty="0"/>
          </a:p>
          <a:p>
            <a:pPr algn="l" indent="0" marL="0">
              <a:buNone/>
            </a:pPr>
            <a:r>
              <a:rPr lang="en-US" sz="600" dirty="0">
                <a:solidFill>
                  <a:srgbClr val="FFFFFF"/>
                </a:solidFill>
                <a:latin typeface="Arial" pitchFamily="34" charset="0"/>
                <a:ea typeface="Arial" pitchFamily="34" charset="-122"/>
                <a:cs typeface="Arial" pitchFamily="34" charset="-120"/>
              </a:rPr>
              <a:t>5. Periksa jawaban AI</a:t>
            </a:r>
            <a:endParaRPr lang="en-US" sz="600" dirty="0"/>
          </a:p>
        </p:txBody>
      </p:sp>
      <p:pic>
        <p:nvPicPr>
          <p:cNvPr id="50" name="Image 11" descr="/home/claude/logo.png">    </p:cNvPr>
          <p:cNvPicPr>
            <a:picLocks noChangeAspect="1"/>
          </p:cNvPicPr>
          <p:nvPr/>
        </p:nvPicPr>
        <p:blipFill>
          <a:blip r:embed="rId12"/>
          <a:stretch>
            <a:fillRect/>
          </a:stretch>
        </p:blipFill>
        <p:spPr>
          <a:xfrm>
            <a:off x="3203160" y="3535500"/>
            <a:ext cx="177361" cy="175051"/>
          </a:xfrm>
          <a:prstGeom prst="rect">
            <a:avLst/>
          </a:prstGeom>
        </p:spPr>
      </p:pic>
      <p:sp>
        <p:nvSpPr>
          <p:cNvPr id="51" name="Text 37"/>
          <p:cNvSpPr txBox="1"/>
          <p:nvPr/>
        </p:nvSpPr>
        <p:spPr>
          <a:xfrm>
            <a:off x="2793013" y="3733383"/>
            <a:ext cx="997654" cy="60887"/>
          </a:xfrm>
          <a:prstGeom prst="rect">
            <a:avLst/>
          </a:prstGeom>
          <a:noFill/>
          <a:ln/>
        </p:spPr>
        <p:txBody>
          <a:bodyPr wrap="square" lIns="0" tIns="0" rIns="0" bIns="0" rtlCol="0" anchor="ctr"/>
          <a:lstStyle/>
          <a:p>
            <a:pPr algn="ctr" indent="0" marL="0">
              <a:buNone/>
            </a:pPr>
            <a:r>
              <a:rPr lang="en-US" sz="450" dirty="0">
                <a:solidFill>
                  <a:srgbClr val="BFE3D3"/>
                </a:solidFill>
                <a:latin typeface="Arial" pitchFamily="34" charset="0"/>
                <a:ea typeface="Arial" pitchFamily="34" charset="-122"/>
                <a:cs typeface="Arial" pitchFamily="34" charset="-120"/>
              </a:rPr>
              <a:t>Kelompok 1 · PP Wihdatul Ummah Poso</a:t>
            </a:r>
            <a:endParaRPr lang="en-US" sz="450" dirty="0"/>
          </a:p>
        </p:txBody>
      </p:sp>
      <p:sp>
        <p:nvSpPr>
          <p:cNvPr id="52" name="Shape 38"/>
          <p:cNvSpPr/>
          <p:nvPr/>
        </p:nvSpPr>
        <p:spPr>
          <a:xfrm>
            <a:off x="3252704" y="1988573"/>
            <a:ext cx="2194560" cy="1463040"/>
          </a:xfrm>
          <a:prstGeom prst="roundRect">
            <a:avLst>
              <a:gd name="adj" fmla="val 3750"/>
            </a:avLst>
          </a:prstGeom>
          <a:solidFill>
            <a:srgbClr val="FFFFFF"/>
          </a:solidFill>
          <a:ln w="9525">
            <a:solidFill>
              <a:srgbClr val="BBBBBB"/>
            </a:solidFill>
            <a:prstDash val="solid"/>
          </a:ln>
        </p:spPr>
      </p:sp>
      <p:sp>
        <p:nvSpPr>
          <p:cNvPr id="53" name="Text 39"/>
          <p:cNvSpPr txBox="1"/>
          <p:nvPr/>
        </p:nvSpPr>
        <p:spPr>
          <a:xfrm>
            <a:off x="3362432" y="2043437"/>
            <a:ext cx="18288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  Download</a:t>
            </a:r>
            <a:endParaRPr lang="en-US" sz="850" dirty="0"/>
          </a:p>
        </p:txBody>
      </p:sp>
      <p:sp>
        <p:nvSpPr>
          <p:cNvPr id="54" name="Text 40"/>
          <p:cNvSpPr txBox="1"/>
          <p:nvPr/>
        </p:nvSpPr>
        <p:spPr>
          <a:xfrm>
            <a:off x="3362432" y="2308613"/>
            <a:ext cx="914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type</a:t>
            </a:r>
            <a:endParaRPr lang="en-US" sz="700" dirty="0"/>
          </a:p>
        </p:txBody>
      </p:sp>
      <p:sp>
        <p:nvSpPr>
          <p:cNvPr id="55" name="Shape 41"/>
          <p:cNvSpPr/>
          <p:nvPr/>
        </p:nvSpPr>
        <p:spPr>
          <a:xfrm>
            <a:off x="3362432" y="2491493"/>
            <a:ext cx="1975104" cy="237744"/>
          </a:xfrm>
          <a:prstGeom prst="roundRect">
            <a:avLst>
              <a:gd name="adj" fmla="val 15385"/>
            </a:avLst>
          </a:prstGeom>
          <a:solidFill>
            <a:srgbClr val="FFFFFF"/>
          </a:solidFill>
          <a:ln w="9525">
            <a:solidFill>
              <a:srgbClr val="AAAAAA"/>
            </a:solidFill>
            <a:prstDash val="solid"/>
          </a:ln>
        </p:spPr>
      </p:sp>
      <p:sp>
        <p:nvSpPr>
          <p:cNvPr id="56" name="Text 42"/>
          <p:cNvSpPr txBox="1"/>
          <p:nvPr/>
        </p:nvSpPr>
        <p:spPr>
          <a:xfrm>
            <a:off x="3435584" y="2491493"/>
            <a:ext cx="1975104" cy="23774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PNG   (Suggested)            ▾</a:t>
            </a:r>
            <a:endParaRPr lang="en-US" sz="750" dirty="0"/>
          </a:p>
        </p:txBody>
      </p:sp>
      <p:sp>
        <p:nvSpPr>
          <p:cNvPr id="57" name="Shape 43"/>
          <p:cNvSpPr/>
          <p:nvPr/>
        </p:nvSpPr>
        <p:spPr>
          <a:xfrm>
            <a:off x="3362432" y="3085853"/>
            <a:ext cx="1975104" cy="256032"/>
          </a:xfrm>
          <a:prstGeom prst="roundRect">
            <a:avLst>
              <a:gd name="adj" fmla="val 17857"/>
            </a:avLst>
          </a:prstGeom>
          <a:solidFill>
            <a:srgbClr val="7D2AE8"/>
          </a:solidFill>
          <a:ln w="12700">
            <a:solidFill>
              <a:srgbClr val="7D2AE8"/>
            </a:solidFill>
            <a:prstDash val="solid"/>
          </a:ln>
        </p:spPr>
      </p:sp>
      <p:sp>
        <p:nvSpPr>
          <p:cNvPr id="58" name="Text 44"/>
          <p:cNvSpPr txBox="1"/>
          <p:nvPr/>
        </p:nvSpPr>
        <p:spPr>
          <a:xfrm>
            <a:off x="3362432" y="3085853"/>
            <a:ext cx="1975104"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Download</a:t>
            </a:r>
            <a:endParaRPr lang="en-US" sz="800" dirty="0"/>
          </a:p>
        </p:txBody>
      </p:sp>
      <p:sp>
        <p:nvSpPr>
          <p:cNvPr id="59" name="Shape 45"/>
          <p:cNvSpPr/>
          <p:nvPr/>
        </p:nvSpPr>
        <p:spPr>
          <a:xfrm>
            <a:off x="3175728" y="3508068"/>
            <a:ext cx="232225" cy="229915"/>
          </a:xfrm>
          <a:prstGeom prst="roundRect">
            <a:avLst>
              <a:gd name="adj" fmla="val 19886"/>
            </a:avLst>
          </a:prstGeom>
          <a:solidFill>
            <a:srgbClr val="FFFFFF">
              <a:alpha val="0"/>
            </a:srgbClr>
          </a:solidFill>
          <a:ln w="31750">
            <a:solidFill>
              <a:srgbClr val="E53935"/>
            </a:solidFill>
            <a:prstDash val="solid"/>
          </a:ln>
        </p:spPr>
      </p:sp>
      <p:sp>
        <p:nvSpPr>
          <p:cNvPr id="60" name="Shape 46"/>
          <p:cNvSpPr/>
          <p:nvPr/>
        </p:nvSpPr>
        <p:spPr>
          <a:xfrm>
            <a:off x="3270792" y="3370908"/>
            <a:ext cx="274320" cy="274320"/>
          </a:xfrm>
          <a:prstGeom prst="ellipse">
            <a:avLst/>
          </a:prstGeom>
          <a:solidFill>
            <a:srgbClr val="E53935"/>
          </a:solidFill>
          <a:ln w="12700">
            <a:solidFill>
              <a:srgbClr val="FFFFFF"/>
            </a:solidFill>
            <a:prstDash val="solid"/>
          </a:ln>
        </p:spPr>
      </p:sp>
      <p:sp>
        <p:nvSpPr>
          <p:cNvPr id="61" name="Text 47"/>
          <p:cNvSpPr txBox="1"/>
          <p:nvPr/>
        </p:nvSpPr>
        <p:spPr>
          <a:xfrm>
            <a:off x="3270792" y="33709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2" name="Image 12" descr="preencoded.png">    </p:cNvPr>
          <p:cNvPicPr>
            <a:picLocks noChangeAspect="1"/>
          </p:cNvPicPr>
          <p:nvPr/>
        </p:nvPicPr>
        <p:blipFill>
          <a:blip r:embed="rId13"/>
          <a:stretch>
            <a:fillRect/>
          </a:stretch>
        </p:blipFill>
        <p:spPr>
          <a:xfrm>
            <a:off x="3300708" y="3631778"/>
            <a:ext cx="237744" cy="237744"/>
          </a:xfrm>
          <a:prstGeom prst="rect">
            <a:avLst/>
          </a:prstGeom>
        </p:spPr>
      </p:pic>
      <p:sp>
        <p:nvSpPr>
          <p:cNvPr id="63" name="Shape 48"/>
          <p:cNvSpPr/>
          <p:nvPr/>
        </p:nvSpPr>
        <p:spPr>
          <a:xfrm>
            <a:off x="3344144" y="3067565"/>
            <a:ext cx="2011680" cy="292608"/>
          </a:xfrm>
          <a:prstGeom prst="roundRect">
            <a:avLst>
              <a:gd name="adj" fmla="val 15625"/>
            </a:avLst>
          </a:prstGeom>
          <a:solidFill>
            <a:srgbClr val="FFFFFF">
              <a:alpha val="0"/>
            </a:srgbClr>
          </a:solidFill>
          <a:ln w="31750">
            <a:solidFill>
              <a:srgbClr val="E53935"/>
            </a:solidFill>
            <a:prstDash val="solid"/>
          </a:ln>
        </p:spPr>
      </p:sp>
      <p:sp>
        <p:nvSpPr>
          <p:cNvPr id="64" name="Shape 49"/>
          <p:cNvSpPr/>
          <p:nvPr/>
        </p:nvSpPr>
        <p:spPr>
          <a:xfrm>
            <a:off x="5218664" y="2930405"/>
            <a:ext cx="274320" cy="274320"/>
          </a:xfrm>
          <a:prstGeom prst="ellipse">
            <a:avLst/>
          </a:prstGeom>
          <a:solidFill>
            <a:srgbClr val="E53935"/>
          </a:solidFill>
          <a:ln w="12700">
            <a:solidFill>
              <a:srgbClr val="FFFFFF"/>
            </a:solidFill>
            <a:prstDash val="solid"/>
          </a:ln>
        </p:spPr>
      </p:sp>
      <p:sp>
        <p:nvSpPr>
          <p:cNvPr id="65" name="Text 50"/>
          <p:cNvSpPr txBox="1"/>
          <p:nvPr/>
        </p:nvSpPr>
        <p:spPr>
          <a:xfrm>
            <a:off x="5218664" y="29304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6" name="Image 13" descr="preencoded.png">    </p:cNvPr>
          <p:cNvPicPr>
            <a:picLocks noChangeAspect="1"/>
          </p:cNvPicPr>
          <p:nvPr/>
        </p:nvPicPr>
        <p:blipFill>
          <a:blip r:embed="rId14"/>
          <a:stretch>
            <a:fillRect/>
          </a:stretch>
        </p:blipFill>
        <p:spPr>
          <a:xfrm>
            <a:off x="4448739" y="3226671"/>
            <a:ext cx="237744" cy="237744"/>
          </a:xfrm>
          <a:prstGeom prst="rect">
            <a:avLst/>
          </a:prstGeom>
        </p:spPr>
      </p:pic>
      <p:sp>
        <p:nvSpPr>
          <p:cNvPr id="67" name="Text 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8" name="Text 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Pasang logo pondok, unduh PNG</a:t>
            </a:r>
            <a:endParaRPr lang="en-US" sz="1800" dirty="0"/>
          </a:p>
        </p:txBody>
      </p:sp>
      <p:sp>
        <p:nvSpPr>
          <p:cNvPr id="69" name="Text 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Uploads › klik logo pondok, letakkan di bawah dengan nama kelompok. Share › Download › PNG. Simpan di folder Proyek.</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2057400" y="1188720"/>
            <a:ext cx="2011680" cy="2651760"/>
          </a:xfrm>
          <a:prstGeom prst="rect">
            <a:avLst/>
          </a:prstGeom>
          <a:solidFill>
            <a:srgbClr val="0F4C3A"/>
          </a:solidFill>
          <a:ln w="12700">
            <a:solidFill>
              <a:srgbClr val="0F4C3A"/>
            </a:solidFill>
            <a:prstDash val="solid"/>
          </a:ln>
        </p:spPr>
      </p:sp>
      <p:sp>
        <p:nvSpPr>
          <p:cNvPr id="11" name="Text 7"/>
          <p:cNvSpPr txBox="1"/>
          <p:nvPr/>
        </p:nvSpPr>
        <p:spPr>
          <a:xfrm>
            <a:off x="2057400" y="1280160"/>
            <a:ext cx="2011680" cy="274320"/>
          </a:xfrm>
          <a:prstGeom prst="rect">
            <a:avLst/>
          </a:prstGeom>
          <a:noFill/>
          <a:ln/>
        </p:spPr>
        <p:txBody>
          <a:bodyPr wrap="square" lIns="0" tIns="0" rIns="0" bIns="0" rtlCol="0" anchor="t"/>
          <a:lstStyle/>
          <a:p>
            <a:pPr algn="ctr" indent="0" marL="0">
              <a:buNone/>
            </a:pPr>
            <a:r>
              <a:rPr lang="en-US" sz="1000" b="1" dirty="0">
                <a:solidFill>
                  <a:srgbClr val="D4A017"/>
                </a:solidFill>
                <a:latin typeface="Calibri" pitchFamily="34" charset="0"/>
                <a:ea typeface="Calibri" pitchFamily="34" charset="-122"/>
                <a:cs typeface="Calibri" pitchFamily="34" charset="-120"/>
              </a:rPr>
              <a:t>BIJAK MENGGUNAKAN AI</a:t>
            </a:r>
            <a:endParaRPr lang="en-US" sz="1000" dirty="0"/>
          </a:p>
        </p:txBody>
      </p:sp>
      <p:pic>
        <p:nvPicPr>
          <p:cNvPr id="12" name="Image 2" descr="preencoded.png">    </p:cNvPr>
          <p:cNvPicPr>
            <a:picLocks noChangeAspect="1"/>
          </p:cNvPicPr>
          <p:nvPr/>
        </p:nvPicPr>
        <p:blipFill>
          <a:blip r:embed="rId3"/>
          <a:stretch>
            <a:fillRect/>
          </a:stretch>
        </p:blipFill>
        <p:spPr>
          <a:xfrm>
            <a:off x="2834640" y="1645920"/>
            <a:ext cx="457200" cy="457200"/>
          </a:xfrm>
          <a:prstGeom prst="rect">
            <a:avLst/>
          </a:prstGeom>
        </p:spPr>
      </p:pic>
      <p:sp>
        <p:nvSpPr>
          <p:cNvPr id="13" name="Shape 8"/>
          <p:cNvSpPr/>
          <p:nvPr/>
        </p:nvSpPr>
        <p:spPr>
          <a:xfrm>
            <a:off x="2240280" y="2286000"/>
            <a:ext cx="1645920" cy="54864"/>
          </a:xfrm>
          <a:prstGeom prst="rect">
            <a:avLst/>
          </a:prstGeom>
          <a:solidFill>
            <a:srgbClr val="BFE3D3"/>
          </a:solidFill>
          <a:ln w="12700">
            <a:solidFill>
              <a:srgbClr val="BFE3D3"/>
            </a:solidFill>
            <a:prstDash val="solid"/>
          </a:ln>
        </p:spPr>
      </p:sp>
      <p:sp>
        <p:nvSpPr>
          <p:cNvPr id="14" name="Shape 9"/>
          <p:cNvSpPr/>
          <p:nvPr/>
        </p:nvSpPr>
        <p:spPr>
          <a:xfrm>
            <a:off x="2240280" y="2468880"/>
            <a:ext cx="1280160" cy="54864"/>
          </a:xfrm>
          <a:prstGeom prst="rect">
            <a:avLst/>
          </a:prstGeom>
          <a:solidFill>
            <a:srgbClr val="BFE3D3"/>
          </a:solidFill>
          <a:ln w="12700">
            <a:solidFill>
              <a:srgbClr val="BFE3D3"/>
            </a:solidFill>
            <a:prstDash val="solid"/>
          </a:ln>
        </p:spPr>
      </p:sp>
      <p:sp>
        <p:nvSpPr>
          <p:cNvPr id="15" name="Shape 10"/>
          <p:cNvSpPr/>
          <p:nvPr/>
        </p:nvSpPr>
        <p:spPr>
          <a:xfrm>
            <a:off x="2240280" y="2651760"/>
            <a:ext cx="1645920" cy="54864"/>
          </a:xfrm>
          <a:prstGeom prst="rect">
            <a:avLst/>
          </a:prstGeom>
          <a:solidFill>
            <a:srgbClr val="BFE3D3"/>
          </a:solidFill>
          <a:ln w="12700">
            <a:solidFill>
              <a:srgbClr val="BFE3D3"/>
            </a:solidFill>
            <a:prstDash val="solid"/>
          </a:ln>
        </p:spPr>
      </p:sp>
      <p:sp>
        <p:nvSpPr>
          <p:cNvPr id="16" name="Shape 11"/>
          <p:cNvSpPr/>
          <p:nvPr/>
        </p:nvSpPr>
        <p:spPr>
          <a:xfrm>
            <a:off x="2240280" y="2834640"/>
            <a:ext cx="1280160" cy="54864"/>
          </a:xfrm>
          <a:prstGeom prst="rect">
            <a:avLst/>
          </a:prstGeom>
          <a:solidFill>
            <a:srgbClr val="BFE3D3"/>
          </a:solidFill>
          <a:ln w="12700">
            <a:solidFill>
              <a:srgbClr val="BFE3D3"/>
            </a:solidFill>
            <a:prstDash val="solid"/>
          </a:ln>
        </p:spPr>
      </p:sp>
      <p:sp>
        <p:nvSpPr>
          <p:cNvPr id="17" name="Shape 12"/>
          <p:cNvSpPr/>
          <p:nvPr/>
        </p:nvSpPr>
        <p:spPr>
          <a:xfrm>
            <a:off x="2240280" y="3017520"/>
            <a:ext cx="1645920" cy="54864"/>
          </a:xfrm>
          <a:prstGeom prst="rect">
            <a:avLst/>
          </a:prstGeom>
          <a:solidFill>
            <a:srgbClr val="BFE3D3"/>
          </a:solidFill>
          <a:ln w="12700">
            <a:solidFill>
              <a:srgbClr val="BFE3D3"/>
            </a:solidFill>
            <a:prstDash val="solid"/>
          </a:ln>
        </p:spPr>
      </p:sp>
      <p:sp>
        <p:nvSpPr>
          <p:cNvPr id="18" name="Shape 13"/>
          <p:cNvSpPr/>
          <p:nvPr/>
        </p:nvSpPr>
        <p:spPr>
          <a:xfrm>
            <a:off x="2240280" y="3200400"/>
            <a:ext cx="1280160" cy="54864"/>
          </a:xfrm>
          <a:prstGeom prst="rect">
            <a:avLst/>
          </a:prstGeom>
          <a:solidFill>
            <a:srgbClr val="BFE3D3"/>
          </a:solidFill>
          <a:ln w="12700">
            <a:solidFill>
              <a:srgbClr val="BFE3D3"/>
            </a:solidFill>
            <a:prstDash val="solid"/>
          </a:ln>
        </p:spPr>
      </p:sp>
      <p:pic>
        <p:nvPicPr>
          <p:cNvPr id="19" name="Image 3" descr="/home/claude/logo.png">    </p:cNvPr>
          <p:cNvPicPr>
            <a:picLocks noChangeAspect="1"/>
          </p:cNvPicPr>
          <p:nvPr/>
        </p:nvPicPr>
        <p:blipFill>
          <a:blip r:embed="rId4"/>
          <a:stretch>
            <a:fillRect/>
          </a:stretch>
        </p:blipFill>
        <p:spPr>
          <a:xfrm>
            <a:off x="2880360" y="3383280"/>
            <a:ext cx="365760" cy="365760"/>
          </a:xfrm>
          <a:prstGeom prst="rect">
            <a:avLst/>
          </a:prstGeom>
        </p:spPr>
      </p:pic>
      <p:sp>
        <p:nvSpPr>
          <p:cNvPr id="20" name="Shape 14"/>
          <p:cNvSpPr/>
          <p:nvPr/>
        </p:nvSpPr>
        <p:spPr>
          <a:xfrm>
            <a:off x="1783080" y="3977640"/>
            <a:ext cx="320040" cy="320040"/>
          </a:xfrm>
          <a:prstGeom prst="ellipse">
            <a:avLst/>
          </a:prstGeom>
          <a:solidFill>
            <a:srgbClr val="1F7A5C"/>
          </a:solidFill>
          <a:ln/>
        </p:spPr>
      </p:sp>
      <p:sp>
        <p:nvSpPr>
          <p:cNvPr id="21" name="Shape 15"/>
          <p:cNvSpPr/>
          <p:nvPr/>
        </p:nvSpPr>
        <p:spPr>
          <a:xfrm>
            <a:off x="1709928" y="4325112"/>
            <a:ext cx="457200" cy="292608"/>
          </a:xfrm>
          <a:prstGeom prst="roundRect">
            <a:avLst>
              <a:gd name="adj" fmla="val 31250"/>
            </a:avLst>
          </a:prstGeom>
          <a:solidFill>
            <a:srgbClr val="1F7A5C"/>
          </a:solidFill>
          <a:ln w="12700">
            <a:solidFill>
              <a:srgbClr val="1F7A5C"/>
            </a:solidFill>
            <a:prstDash val="solid"/>
          </a:ln>
        </p:spPr>
      </p:sp>
      <p:sp>
        <p:nvSpPr>
          <p:cNvPr id="22" name="Shape 16"/>
          <p:cNvSpPr/>
          <p:nvPr/>
        </p:nvSpPr>
        <p:spPr>
          <a:xfrm>
            <a:off x="2926080" y="3977640"/>
            <a:ext cx="320040" cy="320040"/>
          </a:xfrm>
          <a:prstGeom prst="ellipse">
            <a:avLst/>
          </a:prstGeom>
          <a:solidFill>
            <a:srgbClr val="1F7A5C"/>
          </a:solidFill>
          <a:ln/>
        </p:spPr>
      </p:sp>
      <p:sp>
        <p:nvSpPr>
          <p:cNvPr id="23" name="Shape 17"/>
          <p:cNvSpPr/>
          <p:nvPr/>
        </p:nvSpPr>
        <p:spPr>
          <a:xfrm>
            <a:off x="2852928" y="4325112"/>
            <a:ext cx="457200" cy="292608"/>
          </a:xfrm>
          <a:prstGeom prst="roundRect">
            <a:avLst>
              <a:gd name="adj" fmla="val 31250"/>
            </a:avLst>
          </a:prstGeom>
          <a:solidFill>
            <a:srgbClr val="1F7A5C"/>
          </a:solidFill>
          <a:ln w="12700">
            <a:solidFill>
              <a:srgbClr val="1F7A5C"/>
            </a:solidFill>
            <a:prstDash val="solid"/>
          </a:ln>
        </p:spPr>
      </p:sp>
      <p:sp>
        <p:nvSpPr>
          <p:cNvPr id="24" name="Shape 18"/>
          <p:cNvSpPr/>
          <p:nvPr/>
        </p:nvSpPr>
        <p:spPr>
          <a:xfrm>
            <a:off x="4069080" y="3977640"/>
            <a:ext cx="320040" cy="320040"/>
          </a:xfrm>
          <a:prstGeom prst="ellipse">
            <a:avLst/>
          </a:prstGeom>
          <a:solidFill>
            <a:srgbClr val="1F7A5C"/>
          </a:solidFill>
          <a:ln/>
        </p:spPr>
      </p:sp>
      <p:sp>
        <p:nvSpPr>
          <p:cNvPr id="25" name="Shape 19"/>
          <p:cNvSpPr/>
          <p:nvPr/>
        </p:nvSpPr>
        <p:spPr>
          <a:xfrm>
            <a:off x="3995928" y="4325112"/>
            <a:ext cx="457200" cy="292608"/>
          </a:xfrm>
          <a:prstGeom prst="roundRect">
            <a:avLst>
              <a:gd name="adj" fmla="val 31250"/>
            </a:avLst>
          </a:prstGeom>
          <a:solidFill>
            <a:srgbClr val="1F7A5C"/>
          </a:solidFill>
          <a:ln w="12700">
            <a:solidFill>
              <a:srgbClr val="1F7A5C"/>
            </a:solidFill>
            <a:prstDash val="solid"/>
          </a:ln>
        </p:spPr>
      </p:sp>
      <p:sp>
        <p:nvSpPr>
          <p:cNvPr id="26" name="Text 2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7" name="Text 2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Presentasikan panduan kelompok</a:t>
            </a:r>
            <a:endParaRPr lang="en-US" sz="1800" dirty="0"/>
          </a:p>
        </p:txBody>
      </p:sp>
      <p:sp>
        <p:nvSpPr>
          <p:cNvPr id="28" name="Text 2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Tampilkan panduan di layar. Jelaskan 3 aturan terpenting dan alasannya dalam 2 menit.</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Panduan Bijak Menggunakan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Panduan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Berisi 10 aturan yang jelas, masing-masing dengan alasan singkat.</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Mencakup rambu Jujur, Paham, Aman, dan Periksa.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Didesain rapi dengan 4 prinsip desain dan logo pondok.</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Tersimpan sebagai PNG di folder Proyek dan sudah dipresentasikan.</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9: AI Dasar · Pertemuan 27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10 aturan yang jelas</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Mencakup jujur, paham, aman, periksa</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Desain rapi dengan logo pondok</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Tersimpan di folder Proyek</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Aturan mana yang paling penting menurutmu?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AI bisa menjadi sumber kebaikan?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Kejujuran adalah akhlak utama penuntut ilmu, termasuk saat menggunakan teknologi.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10: menggunakan AI sebagai teman belajar.</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9 - AI Dasar</dc:title>
  <dc:subject>PptxGenJS Presentation</dc:subject>
  <dc:creator>PptxGenJS</dc:creator>
  <cp:lastModifiedBy>PptxGenJS</cp:lastModifiedBy>
  <cp:revision>1</cp:revision>
  <dcterms:created xsi:type="dcterms:W3CDTF">2026-10-01T05:30:15Z</dcterms:created>
  <dcterms:modified xsi:type="dcterms:W3CDTF">2026-10-01T05:30:15Z</dcterms:modified>
</cp:coreProperties>
</file>