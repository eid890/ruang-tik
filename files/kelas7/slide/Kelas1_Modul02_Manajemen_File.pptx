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2: Manajemen File — Proyek: Sistem Folder Digital Kelas
Terdiri dari 3 pertemuan (Pertemuan 4–6),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Pertemuan 4: pastikan setiap santri sudah memiliki folder Portofolio dari Modul 1.
- Pertemuan 5 dan 6: siapkan akun Google untuk kelas. Disarankan akun milik pesantren (misalnya satu akun per komputer atau per kelompok), bukan akun pribadi santri. Akun Google untuk anak di bawah 13 tahun hanya boleh dibuat dengan pengawasan orang tua, karena itu akun pesantren lebih aman.
- Tuliskan email dan kata sandi akun di kertas kecil untuk setiap komputer.
- Sebelum Pertemuan 5, unggah satu file contoh (misalnya Jadwal_Kelas.pdf atau gambar) ke Google Drive akun kelas, untuk latihan download.
- Sebelum Pertemuan 6, buat folder "Kelas 1 Wustha" di Google Drive guru dan bagikan (Share) ke akun-akun kelas sebagai Editor.
CATATAN
Gambar layar mengikuti Windows 11 dan Google Drive berbahasa Inggris. Pada Windows 11, menu klik kanan menampilkan Cut, Copy, Rename, dan Delete sebagai ikon kecil di bagian atas menu. Jika tidak terlihat, klik "Show more options" untuk menu lengkap.
Terjemahan: Rename = Ganti nama, Copy = Salin, Cut = Potong, Paste = Tempel, Delete = Hapus, Restore = Pulihkan, New folder = Folder baru, File upload = Upload file, Share = Bagikan.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ke-4, dengan judul "Mengolah File dan Folder". Kita akan belajar empat perintah dasar untuk mengolah file: mengganti nama, menyalin, memindahkan, dan menghapus.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sudah membuat proyek pertama, yaitu Digital Folder Santri. Siapa yang masih ingat, ada berapa subfolder di dalam folder portofolio kita? Apa saja namanya?
(Tunggu jawaban: lima, yaitu Dokumen, Desain, Audio, Video, dan Proyek.)
Sekarang pertanyaan hari ini. Coba pikirkan sejenak:
"Apa bedanya memfotokopi buku dengan memindahkan buku ke lemari lain?"
(Beri waktu 1 menit. Minta 2–3 santri menjawab. Hargai semua jawaban.)
Kalau kita memfotokopi, bukunya menjadi dua: yang asli tetap ada, dan kita punya salinannya. Kalau kita memindahkan buku ke lemari lain, bukunya tetap satu, hanya tempatnya yang berubah.
Di komputer juga ada dua perintah seperti itu. Memfotokopi disebut COPY, dan memindahkan disebut MOVE atau CUT. Hari ini kita akan mempelajarinya.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perintah dasar untuk mengolah file dan folder. Keempatnya akan sering sekali kalian pakai selama belajar komputer.
Perintah pertama, RENAME, artinya mengganti nama. Kadang kita salah memberi nama, atau namanya kurang jelas. Dengan Rename, nama file bisa diganti tanpa mengubah isinya. Jalan pintasnya: pilih file, lalu tekan tombol F2 di keyboard bagian atas.
Perintah kedua, COPY, artinya menyalin. Seperti memfotokopi. File yang asli tetap berada di tempatnya, lalu kita mendapat salinannya di tempat lain. Kita pakai Copy jika ingin menyimpan cadangan, atau jika file yang sama dibutuhkan di dua tempat.
Perintah ketiga, CUT, artinya memotong. Cut dipakai untuk MEMINDAHKAN file. Setelah dipindahkan, file tidak ada lagi di tempat lama. Kita pakai Cut jika file salah tempat dan ingin dirapikan.
Setelah Copy atau Cut, file belum pindah. Kita harus pergi ke tempat tujuan, lalu memakai perintah PASTE, artinya menempel. Jadi urutannya: Copy lalu Paste, atau Cut lalu Paste.
Perintah keempat, DELETE, artinya menghapus. File yang dihapus tidak langsung hilang, tetapi masuk ke Recycle Bin, yaitu tempat sampah di komputer. Dari sana file masih bisa dipulihkan.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gambar ini baik-baik agar tidak tertukar antara Copy dan Move.
Di sebelah kiri adalah COPY. Awalnya ada file bernama Surat di Folder A. Setelah kita Copy lalu Paste ke Folder B, file Surat ada di Folder A dan juga di Folder B. Jumlahnya menjadi dua. File aslinya tidak berkurang.
Di sebelah kanan adalah CUT atau MOVE. Awalnya file Surat ada di Folder A. Setelah kita Cut lalu Paste ke Folder B, file Surat pindah ke Folder B, dan Folder A menjadi kosong. Jumlahnya tetap satu.
Ingat kalimat di bagian bawah: setelah Copy atau Cut, kita harus membuka folder tujuan, lalu memilih Paste.
Coba jawab: jika saya ingin menyimpan cadangan tugas di flashdisk, saya memakai Copy atau Cut?
(Tunggu jawaban: Copy, karena file asli tetap harus ada di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Selain dengan klik kanan, semua perintah tadi bisa dilakukan lebih cepat dengan keyboard. Ini disebut jalan pintas atau shortcut.
Caranya: tekan dan tahan tombol Ctrl di pojok kiri bawah keyboard, lalu tekan satu huruf.
Ctrl dan C untuk Copy. Mudah diingat: C untuk Copy.
Ctrl dan X untuk Cut. Huruf X seperti gunting yang memotong.
Ctrl dan V untuk Paste. Huruf V letaknya di sebelah C.
Ctrl dan Z untuk Undo, artinya membatalkan langkah terakhir. Ini penyelamat kita. Jika salah memindahkan atau salah menghapus, langsung tekan Ctrl Z.
Tombol F2 untuk mengganti nama.
Tombol Delete untuk menghapus.
Hari ini kita praktik dengan klik kanan dulu. Setelah lancar, kalian boleh mencoba jalan pintas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Bagaimana jika kita tidak sengaja menghapus file penting? Jangan panik.
Di Windows ada RECYCLE BIN, artinya tempat daur ulang, atau bisa kita sebut tempat sampah komputer. Ikonnya ada di pojok kiri atas Desktop, bergambar tempat sampah.
File yang kita hapus tidak langsung hilang. File itu masuk dulu ke Recycle Bin. Selama masih ada di sana, file itu bisa dikembalikan ke tempat asalnya dengan perintah RESTORE, artinya memulihkan.
Tetapi hati-hati. Jika Recycle Bin dikosongkan dengan perintah Empty Recycle Bin, file di dalamnya akan terhapus untuk selamanya dan tidak bisa kembali.
Pelajarannya: sebelum menghapus, pikirkan baik-baik. Dan jangan pernah mengosongkan Recycle Bin di komputer bersama tanpa izin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praktik di folder portofolio kalian masing-masing. Ada tiga bagian.
Pertama, membuat tiga file latihan.
Kedua, mengganti nama, menyalin, dan memindahkan file.
Ketiga, menghapus lalu memulihkan file.
Buka File Explorer, lalu masuk ke Documents, Portofolio kalian, lalu folder Dokumen. Ikuti gambar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File Explorer, lalu masuk ke Documents, Portofolio kalian, lalu Dokumen. Di sana sudah ada file perkenalan dari pekan lalu.
Klik kanan di area yang kosong. Arahkan kursor ke New, tanda a. Lalu klik Text Document, tanda b. Text Document adalah file tulisan kosong, sama seperti file Notepad.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File baru muncul dengan nama berwarna biru, siap diganti. Ketik Latihan1, lalu tekan Enter.
Ulangi langkah pertama dua kali lagi untuk membuat file Latihan2 dan Latihan3. Hasilnya harus seperti gambar: ada Latihan1, Latihan2, Latihan3, dan file perkenalan kalian.
(Periksa apakah semua santri sudah memiliki tiga file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mengganti nama.
Langkah ketiga. Klik kanan pada file Latihan1. Muncul menu pilihan. Klik Rename, yang ditandai kotak merah.
Di Windows 11, perintah Rename kadang berupa ikon kecil di bagian atas menu. Jika tidak menemukannya, pakai cara cepat: klik file sekali, lalu tekan tombol 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Nama file sekarang berwarna biru. Langsung ketik nama baru: Doa, garis bawah, Belajar. Lalu tekan Enter.
Alhamdulillah, nama file sudah berganti. Isinya tidak berubah, hanya namanya.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menyalin.
Langkah kelima. Klik kanan pada file Latihan2, lalu pilih Copy.
Setelah Copy, sepertinya tidak terjadi apa-apa. Memang begitu. Komputer sudah mengingat file yang akan disalin, tetapi belum menempelkannya. Kita harus pergi ke folder tujuan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nama folder Portofolio di alamat bagian atas untuk kembali, lalu klik ganda folder Proyek untuk membukanya.
Di dalam folder Proyek yang masih kosong, klik kanan di area kosong, lalu pilih Paste, artinya tempel.
Sekarang file Latihan2 ada di folder Proyek. Coba periksa folder Dokumen: file Latihan2 yang asli masih ada di sana. Itulah Copy: jumlahnya menjadi dua.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memindahkan.
Langkah ketujuh. Kembali ke folder Dokumen. Klik kanan pada file Latihan3, lalu pilih Cut. Ikon file akan tampak agak pudar, tanda bahwa file itu siap dipindahkan.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Kembali ke folder Portofolio, lalu buka folder Desain. Klik kanan di area kosong, lalu pilih Paste.
Sekarang file Latihan3 berada di folder Desain. Coba periksa folder Dokumen: Latihan3 sudah tidak ada di sana. Itulah Cut atau Move: file berpindah tempat, jumlahnya tetap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berlatih menghapus lalu memulihkan.
Langkah kesembilan. Di folder Desain, klik kanan pada file Latihan3, lalu pilih Delete. File itu akan hilang dari folder Desain.
Ke mana perginya? Ke Recycle Bin. Mari kita cari.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kesepuluh. Tutup atau kecilkan jendela File Explorer. Di pojok kiri atas Desktop ada ikon tempat sampah bertuliskan Recycle Bin. Klik ganda ikon tersebut.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kesebelas. Jendela Recycle Bin terbuka, dan di dalamnya ada file Latihan3 yang tadi kita hapus.
Klik kanan pada file Latihan3, lalu pilih Restore, yang ditandai kotak merah.
File akan hilang dari Recycle Bin dan kembali ke tempat asalnya, yaitu folder Desain. Coba buka folder Desain untuk memastikan.
Alhamdulillah, kalian sudah menguasai empat perintah dasar: Rename, Copy, Cut, dan Delete, ditambah Restore.
(Periksa hasil setiap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uji kemampuan kalian. Kerjakan lembar kerja ini tanpa melihat slide langkah-langkah.
Satu: buat file baru bernama Tugas_Pekan4 di folder Dokumen.
Dua: ganti namanya menjadi Tugas_IT, garis bawah, nama kalian.
Tiga: salin file itu ke folder Proyek.
Empat: pindahkan file Latihan2 dari folder Dokumen ke folder Audio.
(Beri waktu 10–15 menit.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file Doa_Belajar sudah ada?
- latihan2 ada di Dokumen dan Proyek?
- latihan3 kembali ada di Desain?
- bisa menjelaskan beda copy dan move?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kapan kita memakai copy, dan kapan memakai move?
Pertanyaan kedua: apa akibatnya jika kita menghapus file milik orang lain?
(Minta 2–3 santri menjawab secara bergantian.)
Pesan adab kita hari ini: jangan membuka, memindahkan, atau menghapus file milik orang lain tanpa izin. Mengambil atau merusak milik orang lain, walaupun berupa file digital, tetap termasuk perbuatan yang tidak dibenarkan. Hormatilah hak saudaramu.
Pekan depan: kita mengenal cloud storage, yaitu menyimpan file di internet dengan Google Drive.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ke-5, dengan judul "Cloud Storage &amp; Google Drive". Kita akan belajar menyimpan file di internet agar aman dan bisa dibuka dari mana saja.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empat perintah dasar file. Siapa yang ingat, apa bedanya Copy dan Cut?
(Tunggu jawaban: Copy menyalin sehingga file menjadi dua, Cut memindahkan sehingga file tetap satu.)
Sekarang pertanyaan hari ini. Coba pikirkan sejenak:
"Kalau laptop rusak atau hilang, apa yang terjadi dengan semua file di dalamnya?"
(Beri waktu 1 menit. Minta 2–3 santri menjawab. Hargai semua jawaban.)
Betul, semua file bisa ikut hilang: tugas, foto, dan karya yang sudah dibuat berbulan-bulan. Karena itu kita perlu menyimpan cadangan di tempat lain. Salah satu tempat yang paling praktis adalah cloud storage. Hari ini kita mempelajarinya.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artinya awan. Cloud storage artinya penyimpanan di awan. Tentu saja file kita tidak benar-benar disimpan di awan di langit. Itu hanya perumpamaan.
Sebenarnya, file kita disimpan di komputer-komputer besar milik perusahaan penyedia layanan. Komputer besar itu disebut SERVER. Server-server itu berada di gedung-gedung khusus di berbagai negara, dan menyala terus siang dan malam.
Kita bisa membuka file tersebut melalui internet, menggunakan akun dan kata sandi. Jadi, walaupun laptop kita rusak, file di cloud tetap aman. Kita bisa membukanya dari komputer lain, bahkan dari HP.
Contoh layanan cloud storage adalah Google Drive milik Google, OneDrive milik Microsoft, dan Dropbox. Di pesantren kita akan memakai Google Drive karena gratis dan mudah digunakan.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dua istilah penting dalam cloud storage.
Yang pertama, UPLOAD, dibaca aplod. Upload artinya mengirim file dari komputer kita ke internet. Perumpamaannya seperti menitipkan barang ke gudang penyimpanan.
Yang kedua, DOWNLOAD, dibaca daunlod. Download artinya kebalikannya, yaitu mengambil file dari internet ke komputer kita. Seperti mengambil kembali barang dari gudang.
Mudah diingat: up artinya naik, file naik ke awan. Down artinya turun, file turun dari awan.
Yang ketiga, GOOGLE DRIVE. Ini layanan cloud gratis dari Google. Setiap akun mendapat ruang penyimpanan gratis 15 gigabyte. Itu cukup untuk menyimpan ribuan dokumen tulisan.
Yang keempat, AKUN DAN KATA SANDI. Google Drive dilindungi akun. Hanya pemiliknya, dan orang yang diberi izin, yang bisa membuka isinya. Karena itu kata sandi harus dijaga.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pesantren, kita akan memakai akun Google yang disediakan oleh guru. Karena akun ini dipakai bersama, ada aturan yang harus kita patuhi.
Yang harus dilakukan:
Pertama, pakai hanya akun yang diberikan guru.
Kedua, simpan file di folder milik sendiri.
Ketiga, selalu keluar atau Sign out setelah selesai memakai komputer. Jika lupa, orang berikutnya bisa membuka dan mengubah isi Drive tersebut.
Yang tidak boleh dilakukan:
Pertama, memberitahukan kata sandi kepada orang lain, termasuk teman dekat, kecuali guru.
Kedua, membuka atau menghapus file milik teman.
Ketiga, mengubah pengaturan akun, seperti nama, foto, atau kata sandi.
Aturan ini dibuat untuk melindungi karya kalian semua.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praktik menggunakan Google Drive. Siapkan kertas berisi email dan kata sandi akun yang dibagikan guru.
(Bagikan kertas akun ke setiap komputer.)
Ada tiga bagian: masuk ke Google Drive, membuat folder dan upload file, lalu download file dan keluar dari akun.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dengan mengklik ikonnya di Taskbar, seperti yang sudah kita pelajari di Modul 1.
Klik kolom alamat di bagian atas, ketik drive.google.com, lalu tekan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Muncul halaman masuk Google. Klik kotak Email, tanda a, lalu ketik alamat email yang tertulis di kertas dari guru. Ketik dengan teliti, huruf demi huruf.
Setelah itu klik tombol Next,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ketik kata sandi di kotak yang tersedia. Kata sandi akan tampil sebagai titik-titik agar tidak bisa diintip orang lain.
Hati-hati, huruf besar dan huruf kecil dianggap berbeda. Jika kata sandi ditolak, periksa apakah lampu Caps Lock di keyboard menyala.
Klik Next. Jika berhasil, kalian akan masuk ke halaman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Inilah halaman Google Drive. Di sebelah kiri ada menu My Drive, artinya Drive saya, tempat semua file kita. Di tengah ada daftar file dan folder.
Sekarang klik tombol + New, artinya baru, di pojok kiri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Muncul menu pilihan. Klik New folder, artinya folder baru, yang berada di urutan paling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Muncul kotak kecil bertuliskan New folder. Di dalam kotak ada tulisan Untitled folder. Hapus tulisan itu, lalu ketik nama kalian, garis bawah, Kelas1. Contohnya Ahmad_Kelas1.
Setelah itu klik Create, artinya 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Folder kalian sudah muncul di daftar. Klik ganda folder itu untuk membukanya. Perhatikan judul di atas: My Drive, lalu nama folder kalian.
Di dalam folder, klik lagi tombol + New, lalu pilih File upload, artinya unggah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Muncul jendela Open dari Windows. Cari file perkenalan kalian: masuk ke Documents, Portofolio kalian, lalu Dokumen.
Klik sekali file Perkenalan, tanda a. Lalu klik tombol Open, tanda b.
Tunggu beberapa detik. Di pojok kanan bawah layar akan muncul tulisan "1 upload complete" dengan tanda centang. Artinya file sudah berhasil diunggah ke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download.
Langkah kesembilan. Klik My Drive di sebelah kiri untuk kembali. Di sana ada file contoh yang sudah disiapkan guru.
Klik kanan pada file contoh tersebut, lalu pilih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kesepuluh. File yang di-download akan tersimpan otomatis di folder Downloads di komputer.
Untuk memeriksanya, buka File Explorer, lalu klik Downloads di panel kiri, tanda a. File contoh dari guru ada di sana, tanda b.
Jika file itu ingin disimpan dengan rapi, pindahkan ke folder portofolio dengan Cut dan Paste seperti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kesebelas, langkah yang sangat penting. Kembali ke halaman Google Drive. Klik lingkaran berhuruf di pojok kanan atas, tanda a. Itu adalah ikon akun.
Muncul kotak akun. Klik Sign out, artinya keluar, tanda b.
Ingat, setiap selesai memakai akun di komputer bersama, kita wajib Sign out. Jika tidak, orang lain bisa membuka dan mengubah isi Drive kita.
(Periksa bahwa semua santri sudah Sign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kerjakan lembar kerja ini.
Satu: masuk kembali ke Google Drive dengan akun dari guru.
Dua: upload file Doa_Belajar ke folder milik kalian.
Tiga: tulis di buku tiga kelebihan menyimpan file di cloud.
Empat: Sign out, lalu tunjukkan kepada guru bahwa akun sudah keluar.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folder NamaKamu_Kelas1 sudah dibuat?
- file perkenalan sudah di-upload?
- file contoh sudah di-download?
- sudah Sign out dari akun?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kelebihan menyimpan file di cloud?
Pertanyaan kedua: apa risikonya jika lupa Sign out di komputer bersama?
(Minta 2–3 santri menjawab secara bergantian.)
Pesan adab kita hari ini: kata sandi adalah amanah. Jangan diberikan kepada orang lain, dan jangan mengintip kata sandi milik orang lain. Menjaga amanah adalah tanda orang beriman, dan mengkhianati amanah adalah sifat yang harus kita jauhi.
Pekan depan: kita membuat proyek Sistem Folder Digital Kelas, yaitu folder bersama yang rapi untuk satu kelas.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ke-6, dengan judul "Sistem Folder Digital Kelas". Hari ini kita menyelesaikan proyek Modul 2: membangun sistem folder bersama untuk seluruh kelas.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Google Drive. Siapa yang ingat, apa bedanya upload dan download? Dan apa yang wajib dilakukan setelah selesai memakai akun?
(Tunggu jawaban: upload mengirim ke internet, download mengambil dari internet, dan wajib Sign out.)
Sekarang pertanyaan hari ini. Coba pikirkan sejenak:
"Bagaimana caranya agar tugas satu kelas mudah dikumpulkan dan mudah ditemukan?"
(Beri waktu 1 menit. Minta 2–3 santri menjawab. Hargai semua jawaban.)
Jawabannya: kita butuh satu tempat bersama, dengan susunan folder yang jelas dan aturan nama yang disepakati semua orang. Itulah yang disebut sistem. Hari ini kita membangun Sistem Folder Digital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rancangan sistem folder kelas di sebelah kiri.
Paling atas ada folder utama bernama Kelas 1 Wustha. Folder ini dibuat oleh guru, lalu dibagikan kepada kelas.
Di dalamnya ada folder untuk setiap kelompok: Kelompok_1, Kelompok_2, Kelompok_3, dan seterusnya.
Di dalam setiap folder kelompok, ada folder untuk setiap anggota, misalnya Ahmad, Bilal, dan Fauzan. Dengan susunan seperti ini, guru bisa langsung menemukan tugas siapa pun dengan cepat.
Sekarang lihat kotak kuning di sebelah kanan, aturan nama file. Formatnya: Tanggal, garis bawah, Nama, garis bawah, Judul.
Contohnya: 2026 strip 10 strip 08, garis bawah, Ahmad, garis bawah, Poster.
Mengapa tanggal ditulis tahun dulu, lalu bulan, lalu hari? Karena dengan cara ini, komputer akan mengurutkan file sesuai waktu secara otomatis. File yang lama di atas, file yang baru di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Google Drive, folder bisa dibagikan kepada orang lain. Perintahnya disebut SHARE, artinya berbagi. Saat membagikan, kita menentukan HAK AKSES, yaitu apa saja yang boleh dilakukan oleh orang tersebut.
Ada tiga jenis hak akses.
Yang pertama, VIEWER, artinya pembaca. Viewer hanya bisa melihat dan membaca. Ia tidak bisa mengubah apa pun. Cocok untuk pengumuman atau jadwal yang tidak boleh diubah.
Yang kedua, COMMENTER, artinya pemberi komentar. Ia bisa melihat dan memberi komentar atau saran, tetapi tidak bisa mengubah isi. Cocok untuk guru yang ingin memberi masukan.
Yang ketiga, EDITOR, artinya penyunting. Editor bisa melihat, mengubah, menambah, bahkan menghapus. Hak ini hanya diberikan kepada orang yang benar-benar dipercaya dan perlu bekerja di folder itu.
Dan yang keempat, OWNER atau pemilik, yaitu orang yang membuat folder. Pemilik mengatur siapa saja yang boleh masuk dan hak aksesnya.
Pada folder kelas kita, guru adalah Owner, dan akun-akun kelas diberi hak Editor agar bisa menyimpan tugas.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Membagikan folder ada aturannya, agar data kita aman.
Cara yang AMAN:
Pertama, bagikan hanya ke alamat email tertentu yang kita kenal.
Kedua, pada bagian General access, biarkan pilihan Restricted, artinya terbatas. Hanya orang yang diundang yang bisa membuka.
Ketiga, berikan hak Editor secukupnya, hanya kepada yang memang perlu.
Cara yang BERBAHAYA:
Pertama, memilih "Anyone with the link" untuk data penting. Artinya siapa saja yang mendapat link bisa membukanya, termasuk orang asing.
Kedua, menyebarkan link folder ke grup umum di media sosial.
Ketiga, memberi hak Editor kepada semua orang. Satu orang yang ceroboh bisa menghapus semua isi folder.
Terutama untuk data pribadi santri, seperti nama lengkap, alamat, dan nomor HP, jangan pernah dibagikan secara terbuka.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bangun sistem folder kelas.
(Bagi kelas menjadi kelompok 3–5 santri. Setiap kelompok memakai satu komputer dan satu akun kelas.)
Bagian pertama, setiap kelompok membuat folder kelompok dan folder anggota.
Bagian kedua, setiap anggota mengunggah satu file dengan aturan nama yang benar.
Bagian ketiga, guru memperagakan cara membagikan folder dan mengatur hak akses.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Masuk ke Google Drive dengan akun kelas, seperti pekan lalu.
Di panel sebelah kiri, klik Shared with me, tanda a. Artinya: yang dibagikan kepada saya. Di sini ada folder Kelas 1 Wustha yang sudah dibagikan oleh guru, tanda b.
Klik ganda folder Kelas 1 Wustha untuk membukanya.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Perhatikan judul di atas: Shared with me, lalu Kelas 1 Wustha. Pastikan kalian berada di dalam folder kelas.
Klik tombol + New, tanda a, lalu klik New folder,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Ketik nama folder kelompok sesuai nomor yang diberikan guru, misalnya Kelompok_1. Lalu klik Create.
(Pastikan setiap kelompok memakai nomor yang berbeda agar tidak ada nama ganda.)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ganda folder kelompok kalian untuk membukanya.
Di dalamnya, buat satu folder untuk setiap anggota kelompok, dengan cara yang sama: + New, New folder, ketik nama panggilan anggota, lalu Create.
Bergantianlah: setiap anggota membuat folder namanya sendiri. Hasilnya harus seperti gambar.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Setiap anggota membuka folder namanya sendiri, lalu mengunggah satu file.
Sebelum mengunggah, ganti dulu nama file perkenalan di komputer dengan aturan kelas: tanggal hari ini dengan urutan tahun, bulan, hari, lalu garis bawah, nama, garis bawah, judul. Contohnya 2026-10-08_Ahmad_Perkenalan. Ingat, untuk mengganti nama, klik file lalu tekan F2.
Setelah itu, di Google Drive klik + New, File upload, pilih file tersebut, lalu Open.
(Berkeliling dan periksa penamaan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6 sampai 8 diperagakan oleh guru di layar, dengan akun guru. Santri cukup memperhatikan.)
Sekarang saya tunjukkan bagaimana folder kelas ini dibagikan kepada kalian.
Langkah keenam. Klik kanan pada folder yang ingin dibagikan. Arahkan ke Share, tanda a, lalu klik Share,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Muncul kotak Share. Di kotak paling atas, ketik alamat email yang akan diberi akses, tanda a.
Di bagian People with access, terlihat siapa saja yang sudah punya akses. Di sebelah kanan setiap nama ada pilihan hak akses. Klik pilihan itu, lalu pilih Viewer, Commenter, atau Editor. Untuk akun kelas, saya pilih Editor, tanda b, agar kalian bisa menyimpan tugas di dalamnya.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Lihat bagian General access, tanda a. Pastikan pilihannya Restricted, artinya terbatas. Dengan begitu, hanya orang yang kita undang yang bisa membuka folder ini. Orang asing tidak bisa masuk walaupun mendapatkan linknya.
Terakhir klik Done, tanda b.
Alhamdulillah, Sistem Folder Digital Kelas kita sudah jadi. Semua tugas kalian ke depan akan dikumpulkan di sini.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Sistem Folder Digital Kelas dinyatakan selesai jika empat syarat ini terpenuhi.
Satu, ada folder kelompok di dalam folder Kelas 1 Wustha.
Dua, setiap anggota memiliki folder dengan namanya.
Tiga, setiap anggota sudah mengunggah satu file dengan format tanggal, nama, judul.
Empat, kelompok bisa menjelaskan arti Viewer, Commenter, dan Editor.
(Periksa folder kelas dari komputer guru. Minta satu perwakilan kelompok menjelaskan hak akses.)
Jangan lupa: setelah selesai, Sign out dari akun.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folder kelompok sudah dibuat?
- setiap anggota punya subfolder?
- file diberi nama sesuai aturan?
- bisa menjelaskan Viewer dan Editor?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manfaat aturan bersama dalam sebuah sistem?
Pertanyaan kedua: siapa yang bertanggung jawab menjaga kerapian folder kelas?
(Minta 2–3 santri menjawab secara bergantian.)
Pesan adab kita hari ini: folder bersama adalah milik bersama. Setiap kita bertanggung jawab menjaganya. Jangan mengubah atau menghapus folder milik kelompok lain, dan hormatilah karya teman. Sebagaimana kita menjaga kebersihan masjid bersama-sama, kita juga menjaga kerapian folder kelas bersama-sama.
Pekan depan: kita masuk Modul 3, membuat dokumen digital dengan Google Docs. Alhamdulillah, Modul 2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slideLayout" Target="../slideLayouts/slideLayout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slideLayout" Target="../slideLayouts/slideLayout1.xml"/><Relationship Id="rId1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1.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slideLayout" Target="../slideLayouts/slideLayout1.xml"/><Relationship Id="rId10"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slideLayout" Target="../slideLayouts/slideLayout1.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slideLayout" Target="../slideLayouts/slideLayout1.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1.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slideLayout" Target="../slideLayouts/slideLayout1.xml"/><Relationship Id="rId11"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slideLayout" Target="../slideLayouts/slideLayout1.xml"/><Relationship Id="rId1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11.png"/><Relationship Id="rId12" Type="http://schemas.openxmlformats.org/officeDocument/2006/relationships/image" Target="../media/image-41-12.png"/><Relationship Id="rId13" Type="http://schemas.openxmlformats.org/officeDocument/2006/relationships/slideLayout" Target="../slideLayouts/slideLayout1.xml"/><Relationship Id="rId1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image" Target="../media/image-48-9.png"/><Relationship Id="rId10" Type="http://schemas.openxmlformats.org/officeDocument/2006/relationships/slideLayout" Target="../slideLayouts/slideLayout1.xml"/><Relationship Id="rId1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image" Target="../media/image-52-8.png"/><Relationship Id="rId9" Type="http://schemas.openxmlformats.org/officeDocument/2006/relationships/image" Target="../media/image-52-9.png"/><Relationship Id="rId10" Type="http://schemas.openxmlformats.org/officeDocument/2006/relationships/image" Target="../media/image-52-10.png"/><Relationship Id="rId11" Type="http://schemas.openxmlformats.org/officeDocument/2006/relationships/slideLayout" Target="../slideLayouts/slideLayout1.xml"/><Relationship Id="rId1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image" Target="../media/image-53-8.png"/><Relationship Id="rId9" Type="http://schemas.openxmlformats.org/officeDocument/2006/relationships/slideLayout" Target="../slideLayouts/slideLayout1.xml"/><Relationship Id="rId1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slideLayout" Target="../slideLayouts/slideLayout1.xml"/><Relationship Id="rId10"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image" Target="../media/image-55-7.png"/><Relationship Id="rId8" Type="http://schemas.openxmlformats.org/officeDocument/2006/relationships/image" Target="../media/image-55-8.png"/><Relationship Id="rId9" Type="http://schemas.openxmlformats.org/officeDocument/2006/relationships/image" Target="../media/image-55-9.png"/><Relationship Id="rId10" Type="http://schemas.openxmlformats.org/officeDocument/2006/relationships/image" Target="../media/image-55-10.png"/><Relationship Id="rId11" Type="http://schemas.openxmlformats.org/officeDocument/2006/relationships/image" Target="../media/image-55-11.png"/><Relationship Id="rId12" Type="http://schemas.openxmlformats.org/officeDocument/2006/relationships/slideLayout" Target="../slideLayouts/slideLayout1.xml"/><Relationship Id="rId1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slideLayout" Target="../slideLayouts/slideLayout1.xml"/><Relationship Id="rId11"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image" Target="../media/image-57-8.png"/><Relationship Id="rId9" Type="http://schemas.openxmlformats.org/officeDocument/2006/relationships/image" Target="../media/image-57-9.png"/><Relationship Id="rId10" Type="http://schemas.openxmlformats.org/officeDocument/2006/relationships/image" Target="../media/image-57-10.png"/><Relationship Id="rId11" Type="http://schemas.openxmlformats.org/officeDocument/2006/relationships/image" Target="../media/image-57-11.png"/><Relationship Id="rId12" Type="http://schemas.openxmlformats.org/officeDocument/2006/relationships/slideLayout" Target="../slideLayouts/slideLayout1.xml"/><Relationship Id="rId1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png"/><Relationship Id="rId8" Type="http://schemas.openxmlformats.org/officeDocument/2006/relationships/image" Target="../media/image-58-8.png"/><Relationship Id="rId9" Type="http://schemas.openxmlformats.org/officeDocument/2006/relationships/image" Target="../media/image-58-9.png"/><Relationship Id="rId10" Type="http://schemas.openxmlformats.org/officeDocument/2006/relationships/image" Target="../media/image-58-10.png"/><Relationship Id="rId11" Type="http://schemas.openxmlformats.org/officeDocument/2006/relationships/slideLayout" Target="../slideLayouts/slideLayout1.xml"/><Relationship Id="rId1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image" Target="../media/image-59-7.png"/><Relationship Id="rId8" Type="http://schemas.openxmlformats.org/officeDocument/2006/relationships/image" Target="../media/image-59-8.png"/><Relationship Id="rId9" Type="http://schemas.openxmlformats.org/officeDocument/2006/relationships/image" Target="../media/image-59-9.png"/><Relationship Id="rId10" Type="http://schemas.openxmlformats.org/officeDocument/2006/relationships/image" Target="../media/image-59-10.png"/><Relationship Id="rId11" Type="http://schemas.openxmlformats.org/officeDocument/2006/relationships/slideLayout" Target="../slideLayouts/slideLayout1.xml"/><Relationship Id="rId1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1  ·  MODUL 2</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Manajemen File</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Sistem Folder Digital Kelas</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terampil mengelola file: mengganti nama, menyalin, memindahkan, menghapus, serta menyimpan dan berbagi file di Google Drive.</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04</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Mengolah File dan Folder</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05</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Cloud Storage &amp; Google Drive</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06</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Sistem Folder Digital Kelas</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File Explorer, browser, Google Drive, akun Google milik pesantren/kelas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Mengolah File dan Folder</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Rename, copy, move, delete, dan restore</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Manajemen File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bedanya memfotokopi buku dengan memindahkan buku ke lemari lain?</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Mengganti nama file dan folder (rename)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Menyalin dan memindahkan file (copy &amp; move)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Menghapus dan memulihkan file dari Recycle Bin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Perintah Dasar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Rename</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Mengganti nama file atau folder. Jalan pintas: tombol F2.</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Copy</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Menyalin file. File asli tetap ada, dan muncul salinannya di tempat lain.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Cut (Move)</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Memindahkan file. File hilang dari tempat lama dan pindah ke tempat baru.</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Delete</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Menghapus file. File masuk ke Recycle Bin dan masih bisa dipulihkan.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Copy dan Move: Apa Bedanya?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3840480" cy="320040"/>
          </a:xfrm>
          <a:prstGeom prst="rect">
            <a:avLst/>
          </a:prstGeom>
          <a:noFill/>
          <a:ln/>
        </p:spPr>
        <p:txBody>
          <a:bodyPr wrap="square" lIns="0" tIns="0" rIns="0" bIns="0" rtlCol="0" anchor="t"/>
          <a:lstStyle/>
          <a:p>
            <a:pPr indent="0" marL="0">
              <a:buNone/>
            </a:pPr>
            <a:r>
              <a:rPr lang="en-US" sz="1600" b="1" dirty="0">
                <a:solidFill>
                  <a:srgbClr val="1F7A5C"/>
                </a:solidFill>
                <a:latin typeface="Cambria" pitchFamily="34" charset="0"/>
                <a:ea typeface="Cambria" pitchFamily="34" charset="-122"/>
                <a:cs typeface="Cambria" pitchFamily="34" charset="-120"/>
              </a:rPr>
              <a:t>COPY (menyalin)</a:t>
            </a:r>
            <a:endParaRPr lang="en-US" sz="1600" dirty="0"/>
          </a:p>
        </p:txBody>
      </p:sp>
      <p:sp>
        <p:nvSpPr>
          <p:cNvPr id="10" name="Shape 6"/>
          <p:cNvSpPr/>
          <p:nvPr/>
        </p:nvSpPr>
        <p:spPr>
          <a:xfrm>
            <a:off x="457200" y="1508760"/>
            <a:ext cx="1463040" cy="1508760"/>
          </a:xfrm>
          <a:prstGeom prst="roundRect">
            <a:avLst>
              <a:gd name="adj" fmla="val 6250"/>
            </a:avLst>
          </a:prstGeom>
          <a:solidFill>
            <a:srgbClr val="E6F2EC"/>
          </a:solidFill>
          <a:ln w="12700">
            <a:solidFill>
              <a:srgbClr val="E6F2EC"/>
            </a:solidFill>
            <a:prstDash val="solid"/>
          </a:ln>
        </p:spPr>
      </p:sp>
      <p:pic>
        <p:nvPicPr>
          <p:cNvPr id="11" name="Image 2" descr="preencoded.png">    </p:cNvPr>
          <p:cNvPicPr>
            <a:picLocks noChangeAspect="1"/>
          </p:cNvPicPr>
          <p:nvPr/>
        </p:nvPicPr>
        <p:blipFill>
          <a:blip r:embed="rId3"/>
          <a:stretch>
            <a:fillRect/>
          </a:stretch>
        </p:blipFill>
        <p:spPr>
          <a:xfrm>
            <a:off x="566928" y="1600200"/>
            <a:ext cx="274320" cy="274320"/>
          </a:xfrm>
          <a:prstGeom prst="rect">
            <a:avLst/>
          </a:prstGeom>
        </p:spPr>
      </p:pic>
      <p:sp>
        <p:nvSpPr>
          <p:cNvPr id="12" name="Text 7"/>
          <p:cNvSpPr txBox="1"/>
          <p:nvPr/>
        </p:nvSpPr>
        <p:spPr>
          <a:xfrm>
            <a:off x="896112" y="1600200"/>
            <a:ext cx="1005840" cy="27432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Folder A</a:t>
            </a:r>
            <a:endParaRPr lang="en-US" sz="1200" dirty="0"/>
          </a:p>
        </p:txBody>
      </p:sp>
      <p:pic>
        <p:nvPicPr>
          <p:cNvPr id="13" name="Image 3" descr="preencoded.png">    </p:cNvPr>
          <p:cNvPicPr>
            <a:picLocks noChangeAspect="1"/>
          </p:cNvPicPr>
          <p:nvPr/>
        </p:nvPicPr>
        <p:blipFill>
          <a:blip r:embed="rId4"/>
          <a:stretch>
            <a:fillRect/>
          </a:stretch>
        </p:blipFill>
        <p:spPr>
          <a:xfrm>
            <a:off x="685800" y="2011680"/>
            <a:ext cx="320040" cy="320040"/>
          </a:xfrm>
          <a:prstGeom prst="rect">
            <a:avLst/>
          </a:prstGeom>
        </p:spPr>
      </p:pic>
      <p:sp>
        <p:nvSpPr>
          <p:cNvPr id="14" name="Text 8"/>
          <p:cNvSpPr txBox="1"/>
          <p:nvPr/>
        </p:nvSpPr>
        <p:spPr>
          <a:xfrm>
            <a:off x="1051560" y="2011680"/>
            <a:ext cx="822960" cy="32004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Surat</a:t>
            </a:r>
            <a:endParaRPr lang="en-US" sz="1100" dirty="0"/>
          </a:p>
        </p:txBody>
      </p:sp>
      <p:sp>
        <p:nvSpPr>
          <p:cNvPr id="15" name="Text 9"/>
          <p:cNvSpPr txBox="1"/>
          <p:nvPr/>
        </p:nvSpPr>
        <p:spPr>
          <a:xfrm>
            <a:off x="1965960" y="1965960"/>
            <a:ext cx="548640" cy="457200"/>
          </a:xfrm>
          <a:prstGeom prst="rect">
            <a:avLst/>
          </a:prstGeom>
          <a:noFill/>
          <a:ln/>
        </p:spPr>
        <p:txBody>
          <a:bodyPr wrap="square" lIns="0" tIns="0" rIns="0" bIns="0" rtlCol="0" anchor="t"/>
          <a:lstStyle/>
          <a:p>
            <a:pPr algn="ctr" indent="0" marL="0">
              <a:buNone/>
            </a:pPr>
            <a:r>
              <a:rPr lang="en-US" sz="2400" b="1" dirty="0">
                <a:solidFill>
                  <a:srgbClr val="D4A017"/>
                </a:solidFill>
                <a:latin typeface="Calibri" pitchFamily="34" charset="0"/>
                <a:ea typeface="Calibri" pitchFamily="34" charset="-122"/>
                <a:cs typeface="Calibri" pitchFamily="34" charset="-120"/>
              </a:rPr>
              <a:t>➜</a:t>
            </a:r>
            <a:endParaRPr lang="en-US" sz="2400" dirty="0"/>
          </a:p>
        </p:txBody>
      </p:sp>
      <p:sp>
        <p:nvSpPr>
          <p:cNvPr id="16" name="Shape 10"/>
          <p:cNvSpPr/>
          <p:nvPr/>
        </p:nvSpPr>
        <p:spPr>
          <a:xfrm>
            <a:off x="2560320" y="1508760"/>
            <a:ext cx="1463040" cy="1508760"/>
          </a:xfrm>
          <a:prstGeom prst="roundRect">
            <a:avLst>
              <a:gd name="adj" fmla="val 6250"/>
            </a:avLst>
          </a:prstGeom>
          <a:solidFill>
            <a:srgbClr val="E6F2EC"/>
          </a:solidFill>
          <a:ln w="12700">
            <a:solidFill>
              <a:srgbClr val="E6F2EC"/>
            </a:solidFill>
            <a:prstDash val="solid"/>
          </a:ln>
        </p:spPr>
      </p:sp>
      <p:pic>
        <p:nvPicPr>
          <p:cNvPr id="17" name="Image 4" descr="preencoded.png">    </p:cNvPr>
          <p:cNvPicPr>
            <a:picLocks noChangeAspect="1"/>
          </p:cNvPicPr>
          <p:nvPr/>
        </p:nvPicPr>
        <p:blipFill>
          <a:blip r:embed="rId5"/>
          <a:stretch>
            <a:fillRect/>
          </a:stretch>
        </p:blipFill>
        <p:spPr>
          <a:xfrm>
            <a:off x="2670048" y="1600200"/>
            <a:ext cx="274320" cy="274320"/>
          </a:xfrm>
          <a:prstGeom prst="rect">
            <a:avLst/>
          </a:prstGeom>
        </p:spPr>
      </p:pic>
      <p:sp>
        <p:nvSpPr>
          <p:cNvPr id="18" name="Text 11"/>
          <p:cNvSpPr txBox="1"/>
          <p:nvPr/>
        </p:nvSpPr>
        <p:spPr>
          <a:xfrm>
            <a:off x="2999232" y="1600200"/>
            <a:ext cx="1005840" cy="27432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Folder B</a:t>
            </a:r>
            <a:endParaRPr lang="en-US" sz="1200" dirty="0"/>
          </a:p>
        </p:txBody>
      </p:sp>
      <p:pic>
        <p:nvPicPr>
          <p:cNvPr id="19" name="Image 5" descr="preencoded.png">    </p:cNvPr>
          <p:cNvPicPr>
            <a:picLocks noChangeAspect="1"/>
          </p:cNvPicPr>
          <p:nvPr/>
        </p:nvPicPr>
        <p:blipFill>
          <a:blip r:embed="rId6"/>
          <a:stretch>
            <a:fillRect/>
          </a:stretch>
        </p:blipFill>
        <p:spPr>
          <a:xfrm>
            <a:off x="2788920" y="2011680"/>
            <a:ext cx="320040" cy="320040"/>
          </a:xfrm>
          <a:prstGeom prst="rect">
            <a:avLst/>
          </a:prstGeom>
        </p:spPr>
      </p:pic>
      <p:sp>
        <p:nvSpPr>
          <p:cNvPr id="20" name="Text 12"/>
          <p:cNvSpPr txBox="1"/>
          <p:nvPr/>
        </p:nvSpPr>
        <p:spPr>
          <a:xfrm>
            <a:off x="3154680" y="2011680"/>
            <a:ext cx="822960" cy="32004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Surat</a:t>
            </a:r>
            <a:endParaRPr lang="en-US" sz="1100" dirty="0"/>
          </a:p>
        </p:txBody>
      </p:sp>
      <p:sp>
        <p:nvSpPr>
          <p:cNvPr id="21" name="Text 13"/>
          <p:cNvSpPr txBox="1"/>
          <p:nvPr/>
        </p:nvSpPr>
        <p:spPr>
          <a:xfrm>
            <a:off x="457200" y="3154680"/>
            <a:ext cx="356616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File asli tetap ada, salinannya muncul di Folder B. Jumlahnya menjadi dua.</a:t>
            </a:r>
            <a:endParaRPr lang="en-US" sz="1300" dirty="0"/>
          </a:p>
        </p:txBody>
      </p:sp>
      <p:sp>
        <p:nvSpPr>
          <p:cNvPr id="22" name="Text 14"/>
          <p:cNvSpPr txBox="1"/>
          <p:nvPr/>
        </p:nvSpPr>
        <p:spPr>
          <a:xfrm>
            <a:off x="4663440" y="1097280"/>
            <a:ext cx="4023360" cy="320040"/>
          </a:xfrm>
          <a:prstGeom prst="rect">
            <a:avLst/>
          </a:prstGeom>
          <a:noFill/>
          <a:ln/>
        </p:spPr>
        <p:txBody>
          <a:bodyPr wrap="square" lIns="0" tIns="0" rIns="0" bIns="0" rtlCol="0" anchor="t"/>
          <a:lstStyle/>
          <a:p>
            <a:pPr indent="0" marL="0">
              <a:buNone/>
            </a:pPr>
            <a:r>
              <a:rPr lang="en-US" sz="1600" b="1" dirty="0">
                <a:solidFill>
                  <a:srgbClr val="E53935"/>
                </a:solidFill>
                <a:latin typeface="Cambria" pitchFamily="34" charset="0"/>
                <a:ea typeface="Cambria" pitchFamily="34" charset="-122"/>
                <a:cs typeface="Cambria" pitchFamily="34" charset="-120"/>
              </a:rPr>
              <a:t>CUT / MOVE (memindahkan)</a:t>
            </a:r>
            <a:endParaRPr lang="en-US" sz="1600" dirty="0"/>
          </a:p>
        </p:txBody>
      </p:sp>
      <p:sp>
        <p:nvSpPr>
          <p:cNvPr id="23" name="Shape 15"/>
          <p:cNvSpPr/>
          <p:nvPr/>
        </p:nvSpPr>
        <p:spPr>
          <a:xfrm>
            <a:off x="4663440" y="1508760"/>
            <a:ext cx="1463040" cy="1508760"/>
          </a:xfrm>
          <a:prstGeom prst="roundRect">
            <a:avLst>
              <a:gd name="adj" fmla="val 6250"/>
            </a:avLst>
          </a:prstGeom>
          <a:solidFill>
            <a:srgbClr val="E6F2EC"/>
          </a:solidFill>
          <a:ln w="12700">
            <a:solidFill>
              <a:srgbClr val="E6F2EC"/>
            </a:solidFill>
            <a:prstDash val="solid"/>
          </a:ln>
        </p:spPr>
      </p:sp>
      <p:pic>
        <p:nvPicPr>
          <p:cNvPr id="24" name="Image 6" descr="preencoded.png">    </p:cNvPr>
          <p:cNvPicPr>
            <a:picLocks noChangeAspect="1"/>
          </p:cNvPicPr>
          <p:nvPr/>
        </p:nvPicPr>
        <p:blipFill>
          <a:blip r:embed="rId7"/>
          <a:stretch>
            <a:fillRect/>
          </a:stretch>
        </p:blipFill>
        <p:spPr>
          <a:xfrm>
            <a:off x="4773168" y="1600200"/>
            <a:ext cx="274320" cy="274320"/>
          </a:xfrm>
          <a:prstGeom prst="rect">
            <a:avLst/>
          </a:prstGeom>
        </p:spPr>
      </p:pic>
      <p:sp>
        <p:nvSpPr>
          <p:cNvPr id="25" name="Text 16"/>
          <p:cNvSpPr txBox="1"/>
          <p:nvPr/>
        </p:nvSpPr>
        <p:spPr>
          <a:xfrm>
            <a:off x="5102352" y="1600200"/>
            <a:ext cx="1005840" cy="27432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Folder A</a:t>
            </a:r>
            <a:endParaRPr lang="en-US" sz="1200" dirty="0"/>
          </a:p>
        </p:txBody>
      </p:sp>
      <p:pic>
        <p:nvPicPr>
          <p:cNvPr id="26" name="Image 7" descr="preencoded.png">    </p:cNvPr>
          <p:cNvPicPr>
            <a:picLocks noChangeAspect="1"/>
          </p:cNvPicPr>
          <p:nvPr/>
        </p:nvPicPr>
        <p:blipFill>
          <a:blip r:embed="rId8"/>
          <a:stretch>
            <a:fillRect/>
          </a:stretch>
        </p:blipFill>
        <p:spPr>
          <a:xfrm>
            <a:off x="4892040" y="2011680"/>
            <a:ext cx="320040" cy="320040"/>
          </a:xfrm>
          <a:prstGeom prst="rect">
            <a:avLst/>
          </a:prstGeom>
        </p:spPr>
      </p:pic>
      <p:sp>
        <p:nvSpPr>
          <p:cNvPr id="27" name="Text 17"/>
          <p:cNvSpPr txBox="1"/>
          <p:nvPr/>
        </p:nvSpPr>
        <p:spPr>
          <a:xfrm>
            <a:off x="5257800" y="2011680"/>
            <a:ext cx="822960" cy="320040"/>
          </a:xfrm>
          <a:prstGeom prst="rect">
            <a:avLst/>
          </a:prstGeom>
          <a:noFill/>
          <a:ln/>
        </p:spPr>
        <p:txBody>
          <a:bodyPr wrap="square" lIns="0" tIns="0" rIns="0" bIns="0" rtlCol="0" anchor="ctr"/>
          <a:lstStyle/>
          <a:p>
            <a:pPr indent="0" marL="0">
              <a:buNone/>
            </a:pPr>
            <a:r>
              <a:rPr lang="en-US" sz="1100" dirty="0">
                <a:solidFill>
                  <a:srgbClr val="999999"/>
                </a:solidFill>
                <a:latin typeface="Calibri" pitchFamily="34" charset="0"/>
                <a:ea typeface="Calibri" pitchFamily="34" charset="-122"/>
                <a:cs typeface="Calibri" pitchFamily="34" charset="-120"/>
              </a:rPr>
              <a:t>(kosong)</a:t>
            </a:r>
            <a:endParaRPr lang="en-US" sz="1100" dirty="0"/>
          </a:p>
        </p:txBody>
      </p:sp>
      <p:sp>
        <p:nvSpPr>
          <p:cNvPr id="28" name="Text 18"/>
          <p:cNvSpPr txBox="1"/>
          <p:nvPr/>
        </p:nvSpPr>
        <p:spPr>
          <a:xfrm>
            <a:off x="6172200" y="1965960"/>
            <a:ext cx="548640" cy="457200"/>
          </a:xfrm>
          <a:prstGeom prst="rect">
            <a:avLst/>
          </a:prstGeom>
          <a:noFill/>
          <a:ln/>
        </p:spPr>
        <p:txBody>
          <a:bodyPr wrap="square" lIns="0" tIns="0" rIns="0" bIns="0" rtlCol="0" anchor="t"/>
          <a:lstStyle/>
          <a:p>
            <a:pPr algn="ctr" indent="0" marL="0">
              <a:buNone/>
            </a:pPr>
            <a:r>
              <a:rPr lang="en-US" sz="2400" b="1" dirty="0">
                <a:solidFill>
                  <a:srgbClr val="D4A017"/>
                </a:solidFill>
                <a:latin typeface="Calibri" pitchFamily="34" charset="0"/>
                <a:ea typeface="Calibri" pitchFamily="34" charset="-122"/>
                <a:cs typeface="Calibri" pitchFamily="34" charset="-120"/>
              </a:rPr>
              <a:t>➜</a:t>
            </a:r>
            <a:endParaRPr lang="en-US" sz="2400" dirty="0"/>
          </a:p>
        </p:txBody>
      </p:sp>
      <p:sp>
        <p:nvSpPr>
          <p:cNvPr id="29" name="Shape 19"/>
          <p:cNvSpPr/>
          <p:nvPr/>
        </p:nvSpPr>
        <p:spPr>
          <a:xfrm>
            <a:off x="6766560" y="1508760"/>
            <a:ext cx="1463040" cy="1508760"/>
          </a:xfrm>
          <a:prstGeom prst="roundRect">
            <a:avLst>
              <a:gd name="adj" fmla="val 6250"/>
            </a:avLst>
          </a:prstGeom>
          <a:solidFill>
            <a:srgbClr val="E6F2EC"/>
          </a:solidFill>
          <a:ln w="12700">
            <a:solidFill>
              <a:srgbClr val="E6F2EC"/>
            </a:solidFill>
            <a:prstDash val="solid"/>
          </a:ln>
        </p:spPr>
      </p:sp>
      <p:pic>
        <p:nvPicPr>
          <p:cNvPr id="30" name="Image 8" descr="preencoded.png">    </p:cNvPr>
          <p:cNvPicPr>
            <a:picLocks noChangeAspect="1"/>
          </p:cNvPicPr>
          <p:nvPr/>
        </p:nvPicPr>
        <p:blipFill>
          <a:blip r:embed="rId9"/>
          <a:stretch>
            <a:fillRect/>
          </a:stretch>
        </p:blipFill>
        <p:spPr>
          <a:xfrm>
            <a:off x="6876288" y="1600200"/>
            <a:ext cx="274320" cy="274320"/>
          </a:xfrm>
          <a:prstGeom prst="rect">
            <a:avLst/>
          </a:prstGeom>
        </p:spPr>
      </p:pic>
      <p:sp>
        <p:nvSpPr>
          <p:cNvPr id="31" name="Text 20"/>
          <p:cNvSpPr txBox="1"/>
          <p:nvPr/>
        </p:nvSpPr>
        <p:spPr>
          <a:xfrm>
            <a:off x="7205472" y="1600200"/>
            <a:ext cx="1005840" cy="27432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Folder B</a:t>
            </a:r>
            <a:endParaRPr lang="en-US" sz="1200" dirty="0"/>
          </a:p>
        </p:txBody>
      </p:sp>
      <p:pic>
        <p:nvPicPr>
          <p:cNvPr id="32" name="Image 9" descr="preencoded.png">    </p:cNvPr>
          <p:cNvPicPr>
            <a:picLocks noChangeAspect="1"/>
          </p:cNvPicPr>
          <p:nvPr/>
        </p:nvPicPr>
        <p:blipFill>
          <a:blip r:embed="rId10"/>
          <a:stretch>
            <a:fillRect/>
          </a:stretch>
        </p:blipFill>
        <p:spPr>
          <a:xfrm>
            <a:off x="6995160" y="2011680"/>
            <a:ext cx="320040" cy="320040"/>
          </a:xfrm>
          <a:prstGeom prst="rect">
            <a:avLst/>
          </a:prstGeom>
        </p:spPr>
      </p:pic>
      <p:sp>
        <p:nvSpPr>
          <p:cNvPr id="33" name="Text 21"/>
          <p:cNvSpPr txBox="1"/>
          <p:nvPr/>
        </p:nvSpPr>
        <p:spPr>
          <a:xfrm>
            <a:off x="7360920" y="2011680"/>
            <a:ext cx="822960" cy="32004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Surat</a:t>
            </a:r>
            <a:endParaRPr lang="en-US" sz="1100" dirty="0"/>
          </a:p>
        </p:txBody>
      </p:sp>
      <p:sp>
        <p:nvSpPr>
          <p:cNvPr id="34" name="Text 22"/>
          <p:cNvSpPr txBox="1"/>
          <p:nvPr/>
        </p:nvSpPr>
        <p:spPr>
          <a:xfrm>
            <a:off x="4663440" y="3154680"/>
            <a:ext cx="402336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File pindah ke Folder B. Folder A menjadi kosong. Jumlahnya tetap satu.</a:t>
            </a:r>
            <a:endParaRPr lang="en-US" sz="1300" dirty="0"/>
          </a:p>
        </p:txBody>
      </p:sp>
      <p:sp>
        <p:nvSpPr>
          <p:cNvPr id="35" name="Shape 23"/>
          <p:cNvSpPr/>
          <p:nvPr/>
        </p:nvSpPr>
        <p:spPr>
          <a:xfrm>
            <a:off x="457200" y="3931920"/>
            <a:ext cx="8229600" cy="640080"/>
          </a:xfrm>
          <a:prstGeom prst="roundRect">
            <a:avLst>
              <a:gd name="adj" fmla="val 14286"/>
            </a:avLst>
          </a:prstGeom>
          <a:solidFill>
            <a:srgbClr val="FBF1D3"/>
          </a:solidFill>
          <a:ln w="12700">
            <a:solidFill>
              <a:srgbClr val="FBF1D3"/>
            </a:solidFill>
            <a:prstDash val="solid"/>
          </a:ln>
        </p:spPr>
      </p:sp>
      <p:sp>
        <p:nvSpPr>
          <p:cNvPr id="36" name="Text 24"/>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Setelah Copy atau Cut, buka folder tujuan lalu pilih Paste (tempel).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Jalan Pintas Keyboard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Ctrl + C</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Copy / menyalin</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Ctrl + X</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Cut / memotong untuk dipindahkan</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Ctrl + V</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Paste / menempel</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Ctrl + Z</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Undo / membatalkan langkah terakhir</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F2</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Rename / mengganti nama</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Delete</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Menghapus file yang dipilih</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Recycle Bin: Tempat Sampah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Recycle Bin</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File yang dihapus masuk ke Recycle Bin terlebih dahulu, sehingga masih bisa dipulihkan dengan Restore.</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Ikon Recycle Bin ada di pojok kiri atas Desktop</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Restore = mengembalikan file ke tempat asalnya</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Empty Recycle Bin = menghapus untuk selamanya</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Mengolah File di Folder Portofolio</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3 file latihan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3–8</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Rename, Copy, dan Move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9–11</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Delete dan Restore</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File Latihan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Dokumen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38" name="Shape 28"/>
          <p:cNvSpPr/>
          <p:nvPr/>
        </p:nvSpPr>
        <p:spPr>
          <a:xfrm>
            <a:off x="3686495" y="2315101"/>
            <a:ext cx="1097280" cy="1060704"/>
          </a:xfrm>
          <a:prstGeom prst="rect">
            <a:avLst/>
          </a:prstGeom>
          <a:solidFill>
            <a:srgbClr val="FFFFFF"/>
          </a:solidFill>
          <a:ln w="9525">
            <a:solidFill>
              <a:srgbClr val="AAAAAA"/>
            </a:solidFill>
            <a:prstDash val="solid"/>
          </a:ln>
        </p:spPr>
      </p:sp>
      <p:sp>
        <p:nvSpPr>
          <p:cNvPr id="39" name="Text 29"/>
          <p:cNvSpPr txBox="1"/>
          <p:nvPr/>
        </p:nvSpPr>
        <p:spPr>
          <a:xfrm>
            <a:off x="3796223" y="234253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View</a:t>
            </a:r>
            <a:endParaRPr lang="en-US" sz="800" dirty="0"/>
          </a:p>
        </p:txBody>
      </p:sp>
      <p:sp>
        <p:nvSpPr>
          <p:cNvPr id="40" name="Text 30"/>
          <p:cNvSpPr txBox="1"/>
          <p:nvPr/>
        </p:nvSpPr>
        <p:spPr>
          <a:xfrm>
            <a:off x="3796223" y="254370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by</a:t>
            </a:r>
            <a:endParaRPr lang="en-US" sz="800" dirty="0"/>
          </a:p>
        </p:txBody>
      </p:sp>
      <p:sp>
        <p:nvSpPr>
          <p:cNvPr id="41" name="Text 31"/>
          <p:cNvSpPr txBox="1"/>
          <p:nvPr/>
        </p:nvSpPr>
        <p:spPr>
          <a:xfrm>
            <a:off x="3796223" y="274486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Refresh</a:t>
            </a:r>
            <a:endParaRPr lang="en-US" sz="800" dirty="0"/>
          </a:p>
        </p:txBody>
      </p:sp>
      <p:sp>
        <p:nvSpPr>
          <p:cNvPr id="42" name="Text 32"/>
          <p:cNvSpPr txBox="1"/>
          <p:nvPr/>
        </p:nvSpPr>
        <p:spPr>
          <a:xfrm>
            <a:off x="3796223" y="2946037"/>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a:t>
            </a:r>
            <a:endParaRPr lang="en-US" sz="800" dirty="0"/>
          </a:p>
        </p:txBody>
      </p:sp>
      <p:sp>
        <p:nvSpPr>
          <p:cNvPr id="43" name="Text 33"/>
          <p:cNvSpPr txBox="1"/>
          <p:nvPr/>
        </p:nvSpPr>
        <p:spPr>
          <a:xfrm>
            <a:off x="3796223" y="314720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Properties</a:t>
            </a:r>
            <a:endParaRPr lang="en-US" sz="800" dirty="0"/>
          </a:p>
        </p:txBody>
      </p:sp>
      <p:sp>
        <p:nvSpPr>
          <p:cNvPr id="44" name="Shape 34"/>
          <p:cNvSpPr/>
          <p:nvPr/>
        </p:nvSpPr>
        <p:spPr>
          <a:xfrm>
            <a:off x="4765487" y="2946037"/>
            <a:ext cx="1097280" cy="457200"/>
          </a:xfrm>
          <a:prstGeom prst="rect">
            <a:avLst/>
          </a:prstGeom>
          <a:solidFill>
            <a:srgbClr val="FFFFFF"/>
          </a:solidFill>
          <a:ln w="9525">
            <a:solidFill>
              <a:srgbClr val="AAAAAA"/>
            </a:solidFill>
            <a:prstDash val="solid"/>
          </a:ln>
        </p:spPr>
      </p:sp>
      <p:pic>
        <p:nvPicPr>
          <p:cNvPr id="45" name="Image 8" descr="preencoded.png">    </p:cNvPr>
          <p:cNvPicPr>
            <a:picLocks noChangeAspect="1"/>
          </p:cNvPicPr>
          <p:nvPr/>
        </p:nvPicPr>
        <p:blipFill>
          <a:blip r:embed="rId9"/>
          <a:stretch>
            <a:fillRect/>
          </a:stretch>
        </p:blipFill>
        <p:spPr>
          <a:xfrm>
            <a:off x="4838639" y="2991757"/>
            <a:ext cx="137160" cy="137160"/>
          </a:xfrm>
          <a:prstGeom prst="rect">
            <a:avLst/>
          </a:prstGeom>
        </p:spPr>
      </p:pic>
      <p:sp>
        <p:nvSpPr>
          <p:cNvPr id="46" name="Text 35"/>
          <p:cNvSpPr txBox="1"/>
          <p:nvPr/>
        </p:nvSpPr>
        <p:spPr>
          <a:xfrm>
            <a:off x="5039807" y="2973469"/>
            <a:ext cx="731520"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Folder</a:t>
            </a:r>
            <a:endParaRPr lang="en-US" sz="800" dirty="0"/>
          </a:p>
        </p:txBody>
      </p:sp>
      <p:pic>
        <p:nvPicPr>
          <p:cNvPr id="47" name="Image 9" descr="preencoded.png">    </p:cNvPr>
          <p:cNvPicPr>
            <a:picLocks noChangeAspect="1"/>
          </p:cNvPicPr>
          <p:nvPr/>
        </p:nvPicPr>
        <p:blipFill>
          <a:blip r:embed="rId10"/>
          <a:stretch>
            <a:fillRect/>
          </a:stretch>
        </p:blipFill>
        <p:spPr>
          <a:xfrm>
            <a:off x="4838639" y="3192925"/>
            <a:ext cx="137160" cy="137160"/>
          </a:xfrm>
          <a:prstGeom prst="rect">
            <a:avLst/>
          </a:prstGeom>
        </p:spPr>
      </p:pic>
      <p:sp>
        <p:nvSpPr>
          <p:cNvPr id="48" name="Text 36"/>
          <p:cNvSpPr txBox="1"/>
          <p:nvPr/>
        </p:nvSpPr>
        <p:spPr>
          <a:xfrm>
            <a:off x="5039807" y="3174637"/>
            <a:ext cx="804672"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Text Document</a:t>
            </a:r>
            <a:endParaRPr lang="en-US" sz="800" dirty="0"/>
          </a:p>
        </p:txBody>
      </p:sp>
      <p:sp>
        <p:nvSpPr>
          <p:cNvPr id="49" name="Shape 37"/>
          <p:cNvSpPr/>
          <p:nvPr/>
        </p:nvSpPr>
        <p:spPr>
          <a:xfrm>
            <a:off x="3704783" y="2927749"/>
            <a:ext cx="1060704" cy="228600"/>
          </a:xfrm>
          <a:prstGeom prst="roundRect">
            <a:avLst>
              <a:gd name="adj" fmla="val 20000"/>
            </a:avLst>
          </a:prstGeom>
          <a:solidFill>
            <a:srgbClr val="FFFFFF">
              <a:alpha val="0"/>
            </a:srgbClr>
          </a:solidFill>
          <a:ln w="31750">
            <a:solidFill>
              <a:srgbClr val="E53935"/>
            </a:solidFill>
            <a:prstDash val="solid"/>
          </a:ln>
        </p:spPr>
      </p:sp>
      <p:sp>
        <p:nvSpPr>
          <p:cNvPr id="50" name="Shape 38"/>
          <p:cNvSpPr/>
          <p:nvPr/>
        </p:nvSpPr>
        <p:spPr>
          <a:xfrm>
            <a:off x="4628327" y="2790589"/>
            <a:ext cx="274320" cy="274320"/>
          </a:xfrm>
          <a:prstGeom prst="ellipse">
            <a:avLst/>
          </a:prstGeom>
          <a:solidFill>
            <a:srgbClr val="E53935"/>
          </a:solidFill>
          <a:ln w="12700">
            <a:solidFill>
              <a:srgbClr val="FFFFFF"/>
            </a:solidFill>
            <a:prstDash val="solid"/>
          </a:ln>
        </p:spPr>
      </p:sp>
      <p:sp>
        <p:nvSpPr>
          <p:cNvPr id="51" name="Text 39"/>
          <p:cNvSpPr txBox="1"/>
          <p:nvPr/>
        </p:nvSpPr>
        <p:spPr>
          <a:xfrm>
            <a:off x="4628327" y="27905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2" name="Image 10" descr="preencoded.png">    </p:cNvPr>
          <p:cNvPicPr>
            <a:picLocks noChangeAspect="1"/>
          </p:cNvPicPr>
          <p:nvPr/>
        </p:nvPicPr>
        <p:blipFill>
          <a:blip r:embed="rId11"/>
          <a:stretch>
            <a:fillRect/>
          </a:stretch>
        </p:blipFill>
        <p:spPr>
          <a:xfrm>
            <a:off x="4286341" y="3051650"/>
            <a:ext cx="237744" cy="237744"/>
          </a:xfrm>
          <a:prstGeom prst="rect">
            <a:avLst/>
          </a:prstGeom>
        </p:spPr>
      </p:pic>
      <p:sp>
        <p:nvSpPr>
          <p:cNvPr id="53" name="Shape 40"/>
          <p:cNvSpPr/>
          <p:nvPr/>
        </p:nvSpPr>
        <p:spPr>
          <a:xfrm>
            <a:off x="4783775" y="3156349"/>
            <a:ext cx="1060704" cy="228600"/>
          </a:xfrm>
          <a:prstGeom prst="roundRect">
            <a:avLst>
              <a:gd name="adj" fmla="val 20000"/>
            </a:avLst>
          </a:prstGeom>
          <a:solidFill>
            <a:srgbClr val="FFFFFF">
              <a:alpha val="0"/>
            </a:srgbClr>
          </a:solidFill>
          <a:ln w="31750">
            <a:solidFill>
              <a:srgbClr val="E53935"/>
            </a:solidFill>
            <a:prstDash val="solid"/>
          </a:ln>
        </p:spPr>
      </p:sp>
      <p:sp>
        <p:nvSpPr>
          <p:cNvPr id="54" name="Shape 41"/>
          <p:cNvSpPr/>
          <p:nvPr/>
        </p:nvSpPr>
        <p:spPr>
          <a:xfrm>
            <a:off x="5707319" y="3019189"/>
            <a:ext cx="274320" cy="274320"/>
          </a:xfrm>
          <a:prstGeom prst="ellipse">
            <a:avLst/>
          </a:prstGeom>
          <a:solidFill>
            <a:srgbClr val="E53935"/>
          </a:solidFill>
          <a:ln w="12700">
            <a:solidFill>
              <a:srgbClr val="FFFFFF"/>
            </a:solidFill>
            <a:prstDash val="solid"/>
          </a:ln>
        </p:spPr>
      </p:sp>
      <p:sp>
        <p:nvSpPr>
          <p:cNvPr id="55" name="Text 42"/>
          <p:cNvSpPr txBox="1"/>
          <p:nvPr/>
        </p:nvSpPr>
        <p:spPr>
          <a:xfrm>
            <a:off x="5707319" y="30191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6" name="Image 11" descr="preencoded.png">    </p:cNvPr>
          <p:cNvPicPr>
            <a:picLocks noChangeAspect="1"/>
          </p:cNvPicPr>
          <p:nvPr/>
        </p:nvPicPr>
        <p:blipFill>
          <a:blip r:embed="rId12"/>
          <a:stretch>
            <a:fillRect/>
          </a:stretch>
        </p:blipFill>
        <p:spPr>
          <a:xfrm>
            <a:off x="5365333" y="3280250"/>
            <a:ext cx="237744" cy="237744"/>
          </a:xfrm>
          <a:prstGeom prst="rect">
            <a:avLst/>
          </a:prstGeom>
        </p:spPr>
      </p:pic>
      <p:sp>
        <p:nvSpPr>
          <p:cNvPr id="57"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8"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 New › Text Document</a:t>
            </a:r>
            <a:endParaRPr lang="en-US" sz="1800" dirty="0"/>
          </a:p>
        </p:txBody>
      </p:sp>
      <p:sp>
        <p:nvSpPr>
          <p:cNvPr id="59"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dalam folder Dokumen, klik kanan area kosong, arahkan ke New, lalu klik Text Document.</a:t>
            </a:r>
            <a:endParaRPr lang="en-US" sz="1300" dirty="0"/>
          </a:p>
        </p:txBody>
      </p:sp>
      <p:sp>
        <p:nvSpPr>
          <p:cNvPr id="60" name="Shape 4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1"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62" name="Text 4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Pastikan alamat di atas: Documents › Portofolio › Dokumen.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File Latihan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Dokumen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Latihan1</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Latihan2</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pic>
        <p:nvPicPr>
          <p:cNvPr id="42"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3" name="Text 30"/>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44" name="Shape 31"/>
          <p:cNvSpPr/>
          <p:nvPr/>
        </p:nvSpPr>
        <p:spPr>
          <a:xfrm>
            <a:off x="1854769" y="1803037"/>
            <a:ext cx="2596896" cy="676656"/>
          </a:xfrm>
          <a:prstGeom prst="roundRect">
            <a:avLst>
              <a:gd name="adj" fmla="val 6757"/>
            </a:avLst>
          </a:prstGeom>
          <a:solidFill>
            <a:srgbClr val="FFFFFF">
              <a:alpha val="0"/>
            </a:srgbClr>
          </a:solidFill>
          <a:ln w="31750">
            <a:solidFill>
              <a:srgbClr val="E53935"/>
            </a:solidFill>
            <a:prstDash val="solid"/>
          </a:ln>
        </p:spPr>
      </p:sp>
      <p:sp>
        <p:nvSpPr>
          <p:cNvPr id="45" name="Shape 32"/>
          <p:cNvSpPr/>
          <p:nvPr/>
        </p:nvSpPr>
        <p:spPr>
          <a:xfrm>
            <a:off x="4314505" y="1665877"/>
            <a:ext cx="274320" cy="274320"/>
          </a:xfrm>
          <a:prstGeom prst="ellipse">
            <a:avLst/>
          </a:prstGeom>
          <a:solidFill>
            <a:srgbClr val="E53935"/>
          </a:solidFill>
          <a:ln w="12700">
            <a:solidFill>
              <a:srgbClr val="FFFFFF"/>
            </a:solidFill>
            <a:prstDash val="solid"/>
          </a:ln>
        </p:spPr>
      </p:sp>
      <p:sp>
        <p:nvSpPr>
          <p:cNvPr id="46" name="Text 33"/>
          <p:cNvSpPr txBox="1"/>
          <p:nvPr/>
        </p:nvSpPr>
        <p:spPr>
          <a:xfrm>
            <a:off x="431450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7" name="Image 11" descr="preencoded.png">    </p:cNvPr>
          <p:cNvPicPr>
            <a:picLocks noChangeAspect="1"/>
          </p:cNvPicPr>
          <p:nvPr/>
        </p:nvPicPr>
        <p:blipFill>
          <a:blip r:embed="rId12"/>
          <a:stretch>
            <a:fillRect/>
          </a:stretch>
        </p:blipFill>
        <p:spPr>
          <a:xfrm>
            <a:off x="3279404" y="2171540"/>
            <a:ext cx="237744" cy="237744"/>
          </a:xfrm>
          <a:prstGeom prst="rect">
            <a:avLst/>
          </a:prstGeom>
        </p:spPr>
      </p:pic>
      <p:sp>
        <p:nvSpPr>
          <p:cNvPr id="48"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9"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nama Latihan1, lalu buat Latihan2 dan Latihan3</a:t>
            </a:r>
            <a:endParaRPr lang="en-US" sz="1800" dirty="0"/>
          </a:p>
        </p:txBody>
      </p:sp>
      <p:sp>
        <p:nvSpPr>
          <p:cNvPr id="50"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Latihan1 lalu tekan Enter. Ulangi langkah 1 untuk membuat Latihan2 dan Latihan3.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Rename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Dokumen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1891345" y="1839613"/>
            <a:ext cx="786384" cy="603504"/>
          </a:xfrm>
          <a:prstGeom prst="roundRect">
            <a:avLst>
              <a:gd name="adj" fmla="val 6061"/>
            </a:avLst>
          </a:prstGeom>
          <a:solidFill>
            <a:srgbClr val="CCE4F7"/>
          </a:solidFill>
          <a:ln w="12700">
            <a:solidFill>
              <a:srgbClr val="CCE4F7"/>
            </a:solidFill>
            <a:prstDash val="solid"/>
          </a:ln>
        </p:spPr>
      </p:sp>
      <p:pic>
        <p:nvPicPr>
          <p:cNvPr id="37"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8" name="Text 28"/>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Latihan1</a:t>
            </a:r>
            <a:endParaRPr lang="en-US" sz="700" dirty="0"/>
          </a:p>
        </p:txBody>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Latihan2</a:t>
            </a:r>
            <a:endParaRPr lang="en-US" sz="700" dirty="0"/>
          </a:p>
        </p:txBody>
      </p:sp>
      <p:pic>
        <p:nvPicPr>
          <p:cNvPr id="41"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2" name="Text 30"/>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pic>
        <p:nvPicPr>
          <p:cNvPr id="43"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4" name="Text 31"/>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45" name="Shape 32"/>
          <p:cNvSpPr/>
          <p:nvPr/>
        </p:nvSpPr>
        <p:spPr>
          <a:xfrm>
            <a:off x="2394265" y="2159653"/>
            <a:ext cx="1097280" cy="1865376"/>
          </a:xfrm>
          <a:prstGeom prst="rect">
            <a:avLst/>
          </a:prstGeom>
          <a:solidFill>
            <a:srgbClr val="FFFFFF"/>
          </a:solidFill>
          <a:ln w="9525">
            <a:solidFill>
              <a:srgbClr val="AAAAAA"/>
            </a:solidFill>
            <a:prstDash val="solid"/>
          </a:ln>
        </p:spPr>
      </p:sp>
      <p:sp>
        <p:nvSpPr>
          <p:cNvPr id="46" name="Text 33"/>
          <p:cNvSpPr txBox="1"/>
          <p:nvPr/>
        </p:nvSpPr>
        <p:spPr>
          <a:xfrm>
            <a:off x="2503993" y="218708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47" name="Shape 34"/>
          <p:cNvSpPr/>
          <p:nvPr/>
        </p:nvSpPr>
        <p:spPr>
          <a:xfrm>
            <a:off x="2430841" y="2479693"/>
            <a:ext cx="1024128" cy="0"/>
          </a:xfrm>
          <a:prstGeom prst="line">
            <a:avLst/>
          </a:prstGeom>
          <a:noFill/>
          <a:ln w="6350">
            <a:solidFill>
              <a:srgbClr val="DDDDDD"/>
            </a:solidFill>
            <a:prstDash val="solid"/>
          </a:ln>
        </p:spPr>
      </p:sp>
      <p:sp>
        <p:nvSpPr>
          <p:cNvPr id="48" name="Text 35"/>
          <p:cNvSpPr txBox="1"/>
          <p:nvPr/>
        </p:nvSpPr>
        <p:spPr>
          <a:xfrm>
            <a:off x="2503993" y="258942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Cut</a:t>
            </a:r>
            <a:endParaRPr lang="en-US" sz="800" dirty="0"/>
          </a:p>
        </p:txBody>
      </p:sp>
      <p:sp>
        <p:nvSpPr>
          <p:cNvPr id="49" name="Text 36"/>
          <p:cNvSpPr txBox="1"/>
          <p:nvPr/>
        </p:nvSpPr>
        <p:spPr>
          <a:xfrm>
            <a:off x="2503993" y="279058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Copy</a:t>
            </a:r>
            <a:endParaRPr lang="en-US" sz="800" dirty="0"/>
          </a:p>
        </p:txBody>
      </p:sp>
      <p:sp>
        <p:nvSpPr>
          <p:cNvPr id="50" name="Shape 37"/>
          <p:cNvSpPr/>
          <p:nvPr/>
        </p:nvSpPr>
        <p:spPr>
          <a:xfrm>
            <a:off x="2430841" y="3083197"/>
            <a:ext cx="1024128" cy="0"/>
          </a:xfrm>
          <a:prstGeom prst="line">
            <a:avLst/>
          </a:prstGeom>
          <a:noFill/>
          <a:ln w="6350">
            <a:solidFill>
              <a:srgbClr val="DDDDDD"/>
            </a:solidFill>
            <a:prstDash val="solid"/>
          </a:ln>
        </p:spPr>
      </p:sp>
      <p:sp>
        <p:nvSpPr>
          <p:cNvPr id="51" name="Text 38"/>
          <p:cNvSpPr txBox="1"/>
          <p:nvPr/>
        </p:nvSpPr>
        <p:spPr>
          <a:xfrm>
            <a:off x="2503993" y="319292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Rename</a:t>
            </a:r>
            <a:endParaRPr lang="en-US" sz="800" dirty="0"/>
          </a:p>
        </p:txBody>
      </p:sp>
      <p:sp>
        <p:nvSpPr>
          <p:cNvPr id="52" name="Text 39"/>
          <p:cNvSpPr txBox="1"/>
          <p:nvPr/>
        </p:nvSpPr>
        <p:spPr>
          <a:xfrm>
            <a:off x="2503993" y="339409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Delete</a:t>
            </a:r>
            <a:endParaRPr lang="en-US" sz="800" dirty="0"/>
          </a:p>
        </p:txBody>
      </p:sp>
      <p:sp>
        <p:nvSpPr>
          <p:cNvPr id="53" name="Shape 40"/>
          <p:cNvSpPr/>
          <p:nvPr/>
        </p:nvSpPr>
        <p:spPr>
          <a:xfrm>
            <a:off x="2430841" y="3686701"/>
            <a:ext cx="1024128" cy="0"/>
          </a:xfrm>
          <a:prstGeom prst="line">
            <a:avLst/>
          </a:prstGeom>
          <a:noFill/>
          <a:ln w="6350">
            <a:solidFill>
              <a:srgbClr val="DDDDDD"/>
            </a:solidFill>
            <a:prstDash val="solid"/>
          </a:ln>
        </p:spPr>
      </p:sp>
      <p:sp>
        <p:nvSpPr>
          <p:cNvPr id="54" name="Text 41"/>
          <p:cNvSpPr txBox="1"/>
          <p:nvPr/>
        </p:nvSpPr>
        <p:spPr>
          <a:xfrm>
            <a:off x="2503993" y="379642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Properties</a:t>
            </a:r>
            <a:endParaRPr lang="en-US" sz="800" dirty="0"/>
          </a:p>
        </p:txBody>
      </p:sp>
      <p:sp>
        <p:nvSpPr>
          <p:cNvPr id="55" name="Shape 42"/>
          <p:cNvSpPr/>
          <p:nvPr/>
        </p:nvSpPr>
        <p:spPr>
          <a:xfrm>
            <a:off x="2412553" y="3174637"/>
            <a:ext cx="1060704" cy="228600"/>
          </a:xfrm>
          <a:prstGeom prst="roundRect">
            <a:avLst>
              <a:gd name="adj" fmla="val 20000"/>
            </a:avLst>
          </a:prstGeom>
          <a:solidFill>
            <a:srgbClr val="FFFFFF">
              <a:alpha val="0"/>
            </a:srgbClr>
          </a:solidFill>
          <a:ln w="31750">
            <a:solidFill>
              <a:srgbClr val="E53935"/>
            </a:solidFill>
            <a:prstDash val="solid"/>
          </a:ln>
        </p:spPr>
      </p:sp>
      <p:sp>
        <p:nvSpPr>
          <p:cNvPr id="56" name="Shape 43"/>
          <p:cNvSpPr/>
          <p:nvPr/>
        </p:nvSpPr>
        <p:spPr>
          <a:xfrm>
            <a:off x="3336097" y="3037477"/>
            <a:ext cx="274320" cy="274320"/>
          </a:xfrm>
          <a:prstGeom prst="ellipse">
            <a:avLst/>
          </a:prstGeom>
          <a:solidFill>
            <a:srgbClr val="E53935"/>
          </a:solidFill>
          <a:ln w="12700">
            <a:solidFill>
              <a:srgbClr val="FFFFFF"/>
            </a:solidFill>
            <a:prstDash val="solid"/>
          </a:ln>
        </p:spPr>
      </p:sp>
      <p:sp>
        <p:nvSpPr>
          <p:cNvPr id="57" name="Text 44"/>
          <p:cNvSpPr txBox="1"/>
          <p:nvPr/>
        </p:nvSpPr>
        <p:spPr>
          <a:xfrm>
            <a:off x="3336097" y="30374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8" name="Image 11" descr="preencoded.png">    </p:cNvPr>
          <p:cNvPicPr>
            <a:picLocks noChangeAspect="1"/>
          </p:cNvPicPr>
          <p:nvPr/>
        </p:nvPicPr>
        <p:blipFill>
          <a:blip r:embed="rId12"/>
          <a:stretch>
            <a:fillRect/>
          </a:stretch>
        </p:blipFill>
        <p:spPr>
          <a:xfrm>
            <a:off x="2994111" y="3298538"/>
            <a:ext cx="237744" cy="237744"/>
          </a:xfrm>
          <a:prstGeom prst="rect">
            <a:avLst/>
          </a:prstGeom>
        </p:spPr>
      </p:pic>
      <p:sp>
        <p:nvSpPr>
          <p:cNvPr id="59"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0"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Latihan1 › Rename</a:t>
            </a:r>
            <a:endParaRPr lang="en-US" sz="1800" dirty="0"/>
          </a:p>
        </p:txBody>
      </p:sp>
      <p:sp>
        <p:nvSpPr>
          <p:cNvPr id="61"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kanan pada file Latihan1, lalu pilih Rename.</a:t>
            </a:r>
            <a:endParaRPr lang="en-US" sz="1300" dirty="0"/>
          </a:p>
        </p:txBody>
      </p:sp>
      <p:sp>
        <p:nvSpPr>
          <p:cNvPr id="62" name="Shape 4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3"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64" name="Text 4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Cara cepat: klik file sekali, lalu tekan F2.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Rename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Dokumen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Shape 27"/>
          <p:cNvSpPr/>
          <p:nvPr/>
        </p:nvSpPr>
        <p:spPr>
          <a:xfrm>
            <a:off x="1891345" y="2205373"/>
            <a:ext cx="786384" cy="182880"/>
          </a:xfrm>
          <a:prstGeom prst="rect">
            <a:avLst/>
          </a:prstGeom>
          <a:solidFill>
            <a:srgbClr val="FFFFFF"/>
          </a:solidFill>
          <a:ln w="12700">
            <a:solidFill>
              <a:srgbClr val="0078D4"/>
            </a:solidFill>
            <a:prstDash val="solid"/>
          </a:ln>
        </p:spPr>
      </p:sp>
      <p:sp>
        <p:nvSpPr>
          <p:cNvPr id="38" name="Text 28"/>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Doa_Belajar</a:t>
            </a:r>
            <a:endParaRPr lang="en-US" sz="700" dirty="0"/>
          </a:p>
        </p:txBody>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Latihan2</a:t>
            </a:r>
            <a:endParaRPr lang="en-US" sz="700" dirty="0"/>
          </a:p>
        </p:txBody>
      </p:sp>
      <p:pic>
        <p:nvPicPr>
          <p:cNvPr id="41"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2" name="Text 30"/>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pic>
        <p:nvPicPr>
          <p:cNvPr id="43"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4" name="Text 31"/>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45" name="Shape 32"/>
          <p:cNvSpPr/>
          <p:nvPr/>
        </p:nvSpPr>
        <p:spPr>
          <a:xfrm>
            <a:off x="185476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6" name="Shape 33"/>
          <p:cNvSpPr/>
          <p:nvPr/>
        </p:nvSpPr>
        <p:spPr>
          <a:xfrm>
            <a:off x="2577145" y="1665877"/>
            <a:ext cx="274320" cy="274320"/>
          </a:xfrm>
          <a:prstGeom prst="ellipse">
            <a:avLst/>
          </a:prstGeom>
          <a:solidFill>
            <a:srgbClr val="E53935"/>
          </a:solidFill>
          <a:ln w="12700">
            <a:solidFill>
              <a:srgbClr val="FFFFFF"/>
            </a:solidFill>
            <a:prstDash val="solid"/>
          </a:ln>
        </p:spPr>
      </p:sp>
      <p:sp>
        <p:nvSpPr>
          <p:cNvPr id="47" name="Text 34"/>
          <p:cNvSpPr txBox="1"/>
          <p:nvPr/>
        </p:nvSpPr>
        <p:spPr>
          <a:xfrm>
            <a:off x="257714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8" name="Image 11" descr="preencoded.png">    </p:cNvPr>
          <p:cNvPicPr>
            <a:picLocks noChangeAspect="1"/>
          </p:cNvPicPr>
          <p:nvPr/>
        </p:nvPicPr>
        <p:blipFill>
          <a:blip r:embed="rId12"/>
          <a:stretch>
            <a:fillRect/>
          </a:stretch>
        </p:blipFill>
        <p:spPr>
          <a:xfrm>
            <a:off x="2323856" y="2171540"/>
            <a:ext cx="237744" cy="237744"/>
          </a:xfrm>
          <a:prstGeom prst="rect">
            <a:avLst/>
          </a:prstGeom>
        </p:spPr>
      </p:pic>
      <p:sp>
        <p:nvSpPr>
          <p:cNvPr id="49"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0"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Doa_Belajar, lalu Enter</a:t>
            </a:r>
            <a:endParaRPr lang="en-US" sz="1800" dirty="0"/>
          </a:p>
        </p:txBody>
      </p:sp>
      <p:sp>
        <p:nvSpPr>
          <p:cNvPr id="51"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Nama lama berwarna biru. Langsung ketik nama baru, lalu tekan Enter.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Copy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Dokumen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Doa_Belajar</a:t>
            </a:r>
            <a:endParaRPr lang="en-US" sz="700" dirty="0"/>
          </a:p>
        </p:txBody>
      </p:sp>
      <p:sp>
        <p:nvSpPr>
          <p:cNvPr id="38" name="Shape 28"/>
          <p:cNvSpPr/>
          <p:nvPr/>
        </p:nvSpPr>
        <p:spPr>
          <a:xfrm>
            <a:off x="2760025" y="1839613"/>
            <a:ext cx="786384" cy="603504"/>
          </a:xfrm>
          <a:prstGeom prst="roundRect">
            <a:avLst>
              <a:gd name="adj" fmla="val 6061"/>
            </a:avLst>
          </a:prstGeom>
          <a:solidFill>
            <a:srgbClr val="CCE4F7"/>
          </a:solidFill>
          <a:ln w="12700">
            <a:solidFill>
              <a:srgbClr val="CCE4F7"/>
            </a:solidFill>
            <a:prstDash val="solid"/>
          </a:ln>
        </p:spPr>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Latihan2</a:t>
            </a:r>
            <a:endParaRPr lang="en-US" sz="700" dirty="0"/>
          </a:p>
        </p:txBody>
      </p:sp>
      <p:pic>
        <p:nvPicPr>
          <p:cNvPr id="41"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2" name="Text 30"/>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pic>
        <p:nvPicPr>
          <p:cNvPr id="43"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4" name="Text 31"/>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45" name="Shape 32"/>
          <p:cNvSpPr/>
          <p:nvPr/>
        </p:nvSpPr>
        <p:spPr>
          <a:xfrm>
            <a:off x="3262945" y="2159653"/>
            <a:ext cx="1097280" cy="1865376"/>
          </a:xfrm>
          <a:prstGeom prst="rect">
            <a:avLst/>
          </a:prstGeom>
          <a:solidFill>
            <a:srgbClr val="FFFFFF"/>
          </a:solidFill>
          <a:ln w="9525">
            <a:solidFill>
              <a:srgbClr val="AAAAAA"/>
            </a:solidFill>
            <a:prstDash val="solid"/>
          </a:ln>
        </p:spPr>
      </p:sp>
      <p:sp>
        <p:nvSpPr>
          <p:cNvPr id="46" name="Text 33"/>
          <p:cNvSpPr txBox="1"/>
          <p:nvPr/>
        </p:nvSpPr>
        <p:spPr>
          <a:xfrm>
            <a:off x="3372673" y="218708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47" name="Shape 34"/>
          <p:cNvSpPr/>
          <p:nvPr/>
        </p:nvSpPr>
        <p:spPr>
          <a:xfrm>
            <a:off x="3299521" y="2479693"/>
            <a:ext cx="1024128" cy="0"/>
          </a:xfrm>
          <a:prstGeom prst="line">
            <a:avLst/>
          </a:prstGeom>
          <a:noFill/>
          <a:ln w="6350">
            <a:solidFill>
              <a:srgbClr val="DDDDDD"/>
            </a:solidFill>
            <a:prstDash val="solid"/>
          </a:ln>
        </p:spPr>
      </p:sp>
      <p:sp>
        <p:nvSpPr>
          <p:cNvPr id="48" name="Text 35"/>
          <p:cNvSpPr txBox="1"/>
          <p:nvPr/>
        </p:nvSpPr>
        <p:spPr>
          <a:xfrm>
            <a:off x="3372673" y="258942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Cut</a:t>
            </a:r>
            <a:endParaRPr lang="en-US" sz="800" dirty="0"/>
          </a:p>
        </p:txBody>
      </p:sp>
      <p:sp>
        <p:nvSpPr>
          <p:cNvPr id="49" name="Text 36"/>
          <p:cNvSpPr txBox="1"/>
          <p:nvPr/>
        </p:nvSpPr>
        <p:spPr>
          <a:xfrm>
            <a:off x="3372673" y="279058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Copy</a:t>
            </a:r>
            <a:endParaRPr lang="en-US" sz="800" dirty="0"/>
          </a:p>
        </p:txBody>
      </p:sp>
      <p:sp>
        <p:nvSpPr>
          <p:cNvPr id="50" name="Shape 37"/>
          <p:cNvSpPr/>
          <p:nvPr/>
        </p:nvSpPr>
        <p:spPr>
          <a:xfrm>
            <a:off x="3299521" y="3083197"/>
            <a:ext cx="1024128" cy="0"/>
          </a:xfrm>
          <a:prstGeom prst="line">
            <a:avLst/>
          </a:prstGeom>
          <a:noFill/>
          <a:ln w="6350">
            <a:solidFill>
              <a:srgbClr val="DDDDDD"/>
            </a:solidFill>
            <a:prstDash val="solid"/>
          </a:ln>
        </p:spPr>
      </p:sp>
      <p:sp>
        <p:nvSpPr>
          <p:cNvPr id="51" name="Text 38"/>
          <p:cNvSpPr txBox="1"/>
          <p:nvPr/>
        </p:nvSpPr>
        <p:spPr>
          <a:xfrm>
            <a:off x="3372673" y="319292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Rename</a:t>
            </a:r>
            <a:endParaRPr lang="en-US" sz="800" dirty="0"/>
          </a:p>
        </p:txBody>
      </p:sp>
      <p:sp>
        <p:nvSpPr>
          <p:cNvPr id="52" name="Text 39"/>
          <p:cNvSpPr txBox="1"/>
          <p:nvPr/>
        </p:nvSpPr>
        <p:spPr>
          <a:xfrm>
            <a:off x="3372673" y="339409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Delete</a:t>
            </a:r>
            <a:endParaRPr lang="en-US" sz="800" dirty="0"/>
          </a:p>
        </p:txBody>
      </p:sp>
      <p:sp>
        <p:nvSpPr>
          <p:cNvPr id="53" name="Shape 40"/>
          <p:cNvSpPr/>
          <p:nvPr/>
        </p:nvSpPr>
        <p:spPr>
          <a:xfrm>
            <a:off x="3299521" y="3686701"/>
            <a:ext cx="1024128" cy="0"/>
          </a:xfrm>
          <a:prstGeom prst="line">
            <a:avLst/>
          </a:prstGeom>
          <a:noFill/>
          <a:ln w="6350">
            <a:solidFill>
              <a:srgbClr val="DDDDDD"/>
            </a:solidFill>
            <a:prstDash val="solid"/>
          </a:ln>
        </p:spPr>
      </p:sp>
      <p:sp>
        <p:nvSpPr>
          <p:cNvPr id="54" name="Text 41"/>
          <p:cNvSpPr txBox="1"/>
          <p:nvPr/>
        </p:nvSpPr>
        <p:spPr>
          <a:xfrm>
            <a:off x="3372673" y="379642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Properties</a:t>
            </a:r>
            <a:endParaRPr lang="en-US" sz="800" dirty="0"/>
          </a:p>
        </p:txBody>
      </p:sp>
      <p:sp>
        <p:nvSpPr>
          <p:cNvPr id="55" name="Shape 42"/>
          <p:cNvSpPr/>
          <p:nvPr/>
        </p:nvSpPr>
        <p:spPr>
          <a:xfrm>
            <a:off x="3281233" y="2772301"/>
            <a:ext cx="1060704" cy="228600"/>
          </a:xfrm>
          <a:prstGeom prst="roundRect">
            <a:avLst>
              <a:gd name="adj" fmla="val 20000"/>
            </a:avLst>
          </a:prstGeom>
          <a:solidFill>
            <a:srgbClr val="FFFFFF">
              <a:alpha val="0"/>
            </a:srgbClr>
          </a:solidFill>
          <a:ln w="31750">
            <a:solidFill>
              <a:srgbClr val="E53935"/>
            </a:solidFill>
            <a:prstDash val="solid"/>
          </a:ln>
        </p:spPr>
      </p:sp>
      <p:sp>
        <p:nvSpPr>
          <p:cNvPr id="56" name="Shape 43"/>
          <p:cNvSpPr/>
          <p:nvPr/>
        </p:nvSpPr>
        <p:spPr>
          <a:xfrm>
            <a:off x="4204777" y="2635141"/>
            <a:ext cx="274320" cy="274320"/>
          </a:xfrm>
          <a:prstGeom prst="ellipse">
            <a:avLst/>
          </a:prstGeom>
          <a:solidFill>
            <a:srgbClr val="E53935"/>
          </a:solidFill>
          <a:ln w="12700">
            <a:solidFill>
              <a:srgbClr val="FFFFFF"/>
            </a:solidFill>
            <a:prstDash val="solid"/>
          </a:ln>
        </p:spPr>
      </p:sp>
      <p:sp>
        <p:nvSpPr>
          <p:cNvPr id="57" name="Text 44"/>
          <p:cNvSpPr txBox="1"/>
          <p:nvPr/>
        </p:nvSpPr>
        <p:spPr>
          <a:xfrm>
            <a:off x="4204777" y="26351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8" name="Image 11" descr="preencoded.png">    </p:cNvPr>
          <p:cNvPicPr>
            <a:picLocks noChangeAspect="1"/>
          </p:cNvPicPr>
          <p:nvPr/>
        </p:nvPicPr>
        <p:blipFill>
          <a:blip r:embed="rId12"/>
          <a:stretch>
            <a:fillRect/>
          </a:stretch>
        </p:blipFill>
        <p:spPr>
          <a:xfrm>
            <a:off x="3862791" y="2896202"/>
            <a:ext cx="237744" cy="237744"/>
          </a:xfrm>
          <a:prstGeom prst="rect">
            <a:avLst/>
          </a:prstGeom>
        </p:spPr>
      </p:pic>
      <p:sp>
        <p:nvSpPr>
          <p:cNvPr id="59"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0"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Latihan2 › Copy</a:t>
            </a:r>
            <a:endParaRPr lang="en-US" sz="1800" dirty="0"/>
          </a:p>
        </p:txBody>
      </p:sp>
      <p:sp>
        <p:nvSpPr>
          <p:cNvPr id="61"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kanan pada file Latihan2, lalu pilih Copy. File belum berpindah, baru disalin.</a:t>
            </a:r>
            <a:endParaRPr lang="en-US" sz="1300" dirty="0"/>
          </a:p>
        </p:txBody>
      </p:sp>
      <p:sp>
        <p:nvSpPr>
          <p:cNvPr id="62" name="Shape 4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3"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64" name="Text 4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Cara cepat: pilih file, tekan Ctrl + C.</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Copy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Proyek</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3686495" y="2315101"/>
            <a:ext cx="1097280" cy="1463040"/>
          </a:xfrm>
          <a:prstGeom prst="rect">
            <a:avLst/>
          </a:prstGeom>
          <a:solidFill>
            <a:srgbClr val="FFFFFF"/>
          </a:solidFill>
          <a:ln w="9525">
            <a:solidFill>
              <a:srgbClr val="AAAAAA"/>
            </a:solidFill>
            <a:prstDash val="solid"/>
          </a:ln>
        </p:spPr>
      </p:sp>
      <p:sp>
        <p:nvSpPr>
          <p:cNvPr id="37" name="Text 28"/>
          <p:cNvSpPr txBox="1"/>
          <p:nvPr/>
        </p:nvSpPr>
        <p:spPr>
          <a:xfrm>
            <a:off x="3796223" y="234253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View</a:t>
            </a:r>
            <a:endParaRPr lang="en-US" sz="800" dirty="0"/>
          </a:p>
        </p:txBody>
      </p:sp>
      <p:sp>
        <p:nvSpPr>
          <p:cNvPr id="38" name="Text 29"/>
          <p:cNvSpPr txBox="1"/>
          <p:nvPr/>
        </p:nvSpPr>
        <p:spPr>
          <a:xfrm>
            <a:off x="3796223" y="254370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by</a:t>
            </a:r>
            <a:endParaRPr lang="en-US" sz="800" dirty="0"/>
          </a:p>
        </p:txBody>
      </p:sp>
      <p:sp>
        <p:nvSpPr>
          <p:cNvPr id="39" name="Text 30"/>
          <p:cNvSpPr txBox="1"/>
          <p:nvPr/>
        </p:nvSpPr>
        <p:spPr>
          <a:xfrm>
            <a:off x="3796223" y="274486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Refresh</a:t>
            </a:r>
            <a:endParaRPr lang="en-US" sz="800" dirty="0"/>
          </a:p>
        </p:txBody>
      </p:sp>
      <p:sp>
        <p:nvSpPr>
          <p:cNvPr id="40" name="Shape 31"/>
          <p:cNvSpPr/>
          <p:nvPr/>
        </p:nvSpPr>
        <p:spPr>
          <a:xfrm>
            <a:off x="3723071" y="3037477"/>
            <a:ext cx="1024128" cy="0"/>
          </a:xfrm>
          <a:prstGeom prst="line">
            <a:avLst/>
          </a:prstGeom>
          <a:noFill/>
          <a:ln w="6350">
            <a:solidFill>
              <a:srgbClr val="DDDDDD"/>
            </a:solidFill>
            <a:prstDash val="solid"/>
          </a:ln>
        </p:spPr>
      </p:sp>
      <p:sp>
        <p:nvSpPr>
          <p:cNvPr id="41" name="Text 32"/>
          <p:cNvSpPr txBox="1"/>
          <p:nvPr/>
        </p:nvSpPr>
        <p:spPr>
          <a:xfrm>
            <a:off x="3796223" y="314720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Paste</a:t>
            </a:r>
            <a:endParaRPr lang="en-US" sz="800" dirty="0"/>
          </a:p>
        </p:txBody>
      </p:sp>
      <p:sp>
        <p:nvSpPr>
          <p:cNvPr id="42" name="Shape 33"/>
          <p:cNvSpPr/>
          <p:nvPr/>
        </p:nvSpPr>
        <p:spPr>
          <a:xfrm>
            <a:off x="3723071" y="3439813"/>
            <a:ext cx="1024128" cy="0"/>
          </a:xfrm>
          <a:prstGeom prst="line">
            <a:avLst/>
          </a:prstGeom>
          <a:noFill/>
          <a:ln w="6350">
            <a:solidFill>
              <a:srgbClr val="DDDDDD"/>
            </a:solidFill>
            <a:prstDash val="solid"/>
          </a:ln>
        </p:spPr>
      </p:sp>
      <p:sp>
        <p:nvSpPr>
          <p:cNvPr id="43" name="Text 34"/>
          <p:cNvSpPr txBox="1"/>
          <p:nvPr/>
        </p:nvSpPr>
        <p:spPr>
          <a:xfrm>
            <a:off x="3796223" y="354954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a:t>
            </a:r>
            <a:endParaRPr lang="en-US" sz="800" dirty="0"/>
          </a:p>
        </p:txBody>
      </p:sp>
      <p:sp>
        <p:nvSpPr>
          <p:cNvPr id="44" name="Shape 35"/>
          <p:cNvSpPr/>
          <p:nvPr/>
        </p:nvSpPr>
        <p:spPr>
          <a:xfrm>
            <a:off x="3704783" y="3128917"/>
            <a:ext cx="1060704" cy="228600"/>
          </a:xfrm>
          <a:prstGeom prst="roundRect">
            <a:avLst>
              <a:gd name="adj" fmla="val 20000"/>
            </a:avLst>
          </a:prstGeom>
          <a:solidFill>
            <a:srgbClr val="FFFFFF">
              <a:alpha val="0"/>
            </a:srgbClr>
          </a:solidFill>
          <a:ln w="31750">
            <a:solidFill>
              <a:srgbClr val="E53935"/>
            </a:solidFill>
            <a:prstDash val="solid"/>
          </a:ln>
        </p:spPr>
      </p:sp>
      <p:sp>
        <p:nvSpPr>
          <p:cNvPr id="45" name="Shape 36"/>
          <p:cNvSpPr/>
          <p:nvPr/>
        </p:nvSpPr>
        <p:spPr>
          <a:xfrm>
            <a:off x="4628327" y="2991757"/>
            <a:ext cx="274320" cy="274320"/>
          </a:xfrm>
          <a:prstGeom prst="ellipse">
            <a:avLst/>
          </a:prstGeom>
          <a:solidFill>
            <a:srgbClr val="E53935"/>
          </a:solidFill>
          <a:ln w="12700">
            <a:solidFill>
              <a:srgbClr val="FFFFFF"/>
            </a:solidFill>
            <a:prstDash val="solid"/>
          </a:ln>
        </p:spPr>
      </p:sp>
      <p:sp>
        <p:nvSpPr>
          <p:cNvPr id="46" name="Text 37"/>
          <p:cNvSpPr txBox="1"/>
          <p:nvPr/>
        </p:nvSpPr>
        <p:spPr>
          <a:xfrm>
            <a:off x="4628327" y="29917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7" name="Image 7" descr="preencoded.png">    </p:cNvPr>
          <p:cNvPicPr>
            <a:picLocks noChangeAspect="1"/>
          </p:cNvPicPr>
          <p:nvPr/>
        </p:nvPicPr>
        <p:blipFill>
          <a:blip r:embed="rId8"/>
          <a:stretch>
            <a:fillRect/>
          </a:stretch>
        </p:blipFill>
        <p:spPr>
          <a:xfrm>
            <a:off x="4286341" y="3252818"/>
            <a:ext cx="237744" cy="237744"/>
          </a:xfrm>
          <a:prstGeom prst="rect">
            <a:avLst/>
          </a:prstGeom>
        </p:spPr>
      </p:pic>
      <p:sp>
        <p:nvSpPr>
          <p:cNvPr id="48"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9"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folder Proyek › klik kanan › Paste</a:t>
            </a:r>
            <a:endParaRPr lang="en-US" sz="1800" dirty="0"/>
          </a:p>
        </p:txBody>
      </p:sp>
      <p:sp>
        <p:nvSpPr>
          <p:cNvPr id="50"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Kembali ke folder Portofolio, buka folder Proyek, klik kanan area kosong, lalu pilih Paste.</a:t>
            </a:r>
            <a:endParaRPr lang="en-US" sz="1300" dirty="0"/>
          </a:p>
        </p:txBody>
      </p:sp>
      <p:sp>
        <p:nvSpPr>
          <p:cNvPr id="51" name="Shape 4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2"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53" name="Text 4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Cara cepat: Ctrl + V.</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Move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Dokumen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Doa_Belajar</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Latihan2</a:t>
            </a:r>
            <a:endParaRPr lang="en-US" sz="700" dirty="0"/>
          </a:p>
        </p:txBody>
      </p:sp>
      <p:sp>
        <p:nvSpPr>
          <p:cNvPr id="40" name="Shape 29"/>
          <p:cNvSpPr/>
          <p:nvPr/>
        </p:nvSpPr>
        <p:spPr>
          <a:xfrm>
            <a:off x="3628705" y="1839613"/>
            <a:ext cx="786384" cy="603504"/>
          </a:xfrm>
          <a:prstGeom prst="roundRect">
            <a:avLst>
              <a:gd name="adj" fmla="val 6061"/>
            </a:avLst>
          </a:prstGeom>
          <a:solidFill>
            <a:srgbClr val="CCE4F7"/>
          </a:solidFill>
          <a:ln w="12700">
            <a:solidFill>
              <a:srgbClr val="CCE4F7"/>
            </a:solidFill>
            <a:prstDash val="solid"/>
          </a:ln>
        </p:spPr>
      </p:sp>
      <p:pic>
        <p:nvPicPr>
          <p:cNvPr id="41"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2" name="Text 30"/>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pic>
        <p:nvPicPr>
          <p:cNvPr id="43"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4" name="Text 31"/>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45" name="Shape 32"/>
          <p:cNvSpPr/>
          <p:nvPr/>
        </p:nvSpPr>
        <p:spPr>
          <a:xfrm>
            <a:off x="4131625" y="2159653"/>
            <a:ext cx="1097280" cy="1865376"/>
          </a:xfrm>
          <a:prstGeom prst="rect">
            <a:avLst/>
          </a:prstGeom>
          <a:solidFill>
            <a:srgbClr val="FFFFFF"/>
          </a:solidFill>
          <a:ln w="9525">
            <a:solidFill>
              <a:srgbClr val="AAAAAA"/>
            </a:solidFill>
            <a:prstDash val="solid"/>
          </a:ln>
        </p:spPr>
      </p:sp>
      <p:sp>
        <p:nvSpPr>
          <p:cNvPr id="46" name="Text 33"/>
          <p:cNvSpPr txBox="1"/>
          <p:nvPr/>
        </p:nvSpPr>
        <p:spPr>
          <a:xfrm>
            <a:off x="4241353" y="218708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47" name="Shape 34"/>
          <p:cNvSpPr/>
          <p:nvPr/>
        </p:nvSpPr>
        <p:spPr>
          <a:xfrm>
            <a:off x="4168201" y="2479693"/>
            <a:ext cx="1024128" cy="0"/>
          </a:xfrm>
          <a:prstGeom prst="line">
            <a:avLst/>
          </a:prstGeom>
          <a:noFill/>
          <a:ln w="6350">
            <a:solidFill>
              <a:srgbClr val="DDDDDD"/>
            </a:solidFill>
            <a:prstDash val="solid"/>
          </a:ln>
        </p:spPr>
      </p:sp>
      <p:sp>
        <p:nvSpPr>
          <p:cNvPr id="48" name="Text 35"/>
          <p:cNvSpPr txBox="1"/>
          <p:nvPr/>
        </p:nvSpPr>
        <p:spPr>
          <a:xfrm>
            <a:off x="4241353" y="258942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Cut</a:t>
            </a:r>
            <a:endParaRPr lang="en-US" sz="800" dirty="0"/>
          </a:p>
        </p:txBody>
      </p:sp>
      <p:sp>
        <p:nvSpPr>
          <p:cNvPr id="49" name="Text 36"/>
          <p:cNvSpPr txBox="1"/>
          <p:nvPr/>
        </p:nvSpPr>
        <p:spPr>
          <a:xfrm>
            <a:off x="4241353" y="279058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Copy</a:t>
            </a:r>
            <a:endParaRPr lang="en-US" sz="800" dirty="0"/>
          </a:p>
        </p:txBody>
      </p:sp>
      <p:sp>
        <p:nvSpPr>
          <p:cNvPr id="50" name="Shape 37"/>
          <p:cNvSpPr/>
          <p:nvPr/>
        </p:nvSpPr>
        <p:spPr>
          <a:xfrm>
            <a:off x="4168201" y="3083197"/>
            <a:ext cx="1024128" cy="0"/>
          </a:xfrm>
          <a:prstGeom prst="line">
            <a:avLst/>
          </a:prstGeom>
          <a:noFill/>
          <a:ln w="6350">
            <a:solidFill>
              <a:srgbClr val="DDDDDD"/>
            </a:solidFill>
            <a:prstDash val="solid"/>
          </a:ln>
        </p:spPr>
      </p:sp>
      <p:sp>
        <p:nvSpPr>
          <p:cNvPr id="51" name="Text 38"/>
          <p:cNvSpPr txBox="1"/>
          <p:nvPr/>
        </p:nvSpPr>
        <p:spPr>
          <a:xfrm>
            <a:off x="4241353" y="319292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Rename</a:t>
            </a:r>
            <a:endParaRPr lang="en-US" sz="800" dirty="0"/>
          </a:p>
        </p:txBody>
      </p:sp>
      <p:sp>
        <p:nvSpPr>
          <p:cNvPr id="52" name="Text 39"/>
          <p:cNvSpPr txBox="1"/>
          <p:nvPr/>
        </p:nvSpPr>
        <p:spPr>
          <a:xfrm>
            <a:off x="4241353" y="339409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Delete</a:t>
            </a:r>
            <a:endParaRPr lang="en-US" sz="800" dirty="0"/>
          </a:p>
        </p:txBody>
      </p:sp>
      <p:sp>
        <p:nvSpPr>
          <p:cNvPr id="53" name="Shape 40"/>
          <p:cNvSpPr/>
          <p:nvPr/>
        </p:nvSpPr>
        <p:spPr>
          <a:xfrm>
            <a:off x="4168201" y="3686701"/>
            <a:ext cx="1024128" cy="0"/>
          </a:xfrm>
          <a:prstGeom prst="line">
            <a:avLst/>
          </a:prstGeom>
          <a:noFill/>
          <a:ln w="6350">
            <a:solidFill>
              <a:srgbClr val="DDDDDD"/>
            </a:solidFill>
            <a:prstDash val="solid"/>
          </a:ln>
        </p:spPr>
      </p:sp>
      <p:sp>
        <p:nvSpPr>
          <p:cNvPr id="54" name="Text 41"/>
          <p:cNvSpPr txBox="1"/>
          <p:nvPr/>
        </p:nvSpPr>
        <p:spPr>
          <a:xfrm>
            <a:off x="4241353" y="379642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Properties</a:t>
            </a:r>
            <a:endParaRPr lang="en-US" sz="800" dirty="0"/>
          </a:p>
        </p:txBody>
      </p:sp>
      <p:sp>
        <p:nvSpPr>
          <p:cNvPr id="55" name="Shape 42"/>
          <p:cNvSpPr/>
          <p:nvPr/>
        </p:nvSpPr>
        <p:spPr>
          <a:xfrm>
            <a:off x="4149913" y="2571133"/>
            <a:ext cx="1060704" cy="228600"/>
          </a:xfrm>
          <a:prstGeom prst="roundRect">
            <a:avLst>
              <a:gd name="adj" fmla="val 20000"/>
            </a:avLst>
          </a:prstGeom>
          <a:solidFill>
            <a:srgbClr val="FFFFFF">
              <a:alpha val="0"/>
            </a:srgbClr>
          </a:solidFill>
          <a:ln w="31750">
            <a:solidFill>
              <a:srgbClr val="E53935"/>
            </a:solidFill>
            <a:prstDash val="solid"/>
          </a:ln>
        </p:spPr>
      </p:sp>
      <p:sp>
        <p:nvSpPr>
          <p:cNvPr id="56" name="Shape 43"/>
          <p:cNvSpPr/>
          <p:nvPr/>
        </p:nvSpPr>
        <p:spPr>
          <a:xfrm>
            <a:off x="5073457" y="2433973"/>
            <a:ext cx="274320" cy="274320"/>
          </a:xfrm>
          <a:prstGeom prst="ellipse">
            <a:avLst/>
          </a:prstGeom>
          <a:solidFill>
            <a:srgbClr val="E53935"/>
          </a:solidFill>
          <a:ln w="12700">
            <a:solidFill>
              <a:srgbClr val="FFFFFF"/>
            </a:solidFill>
            <a:prstDash val="solid"/>
          </a:ln>
        </p:spPr>
      </p:sp>
      <p:sp>
        <p:nvSpPr>
          <p:cNvPr id="57" name="Text 44"/>
          <p:cNvSpPr txBox="1"/>
          <p:nvPr/>
        </p:nvSpPr>
        <p:spPr>
          <a:xfrm>
            <a:off x="5073457" y="24339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58" name="Image 11" descr="preencoded.png">    </p:cNvPr>
          <p:cNvPicPr>
            <a:picLocks noChangeAspect="1"/>
          </p:cNvPicPr>
          <p:nvPr/>
        </p:nvPicPr>
        <p:blipFill>
          <a:blip r:embed="rId12"/>
          <a:stretch>
            <a:fillRect/>
          </a:stretch>
        </p:blipFill>
        <p:spPr>
          <a:xfrm>
            <a:off x="4731471" y="2695034"/>
            <a:ext cx="237744" cy="237744"/>
          </a:xfrm>
          <a:prstGeom prst="rect">
            <a:avLst/>
          </a:prstGeom>
        </p:spPr>
      </p:pic>
      <p:sp>
        <p:nvSpPr>
          <p:cNvPr id="59"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60"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Latihan3 › Cut</a:t>
            </a:r>
            <a:endParaRPr lang="en-US" sz="1800" dirty="0"/>
          </a:p>
        </p:txBody>
      </p:sp>
      <p:sp>
        <p:nvSpPr>
          <p:cNvPr id="61"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Kembali ke folder Dokumen. Klik kanan pada Latihan3, lalu pilih Cut.</a:t>
            </a:r>
            <a:endParaRPr lang="en-US" sz="1300" dirty="0"/>
          </a:p>
        </p:txBody>
      </p:sp>
      <p:sp>
        <p:nvSpPr>
          <p:cNvPr id="62" name="Shape 4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3"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64" name="Text 4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Cara cepat: Ctrl + X.</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Move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Desain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3686495" y="2315101"/>
            <a:ext cx="1097280" cy="1463040"/>
          </a:xfrm>
          <a:prstGeom prst="rect">
            <a:avLst/>
          </a:prstGeom>
          <a:solidFill>
            <a:srgbClr val="FFFFFF"/>
          </a:solidFill>
          <a:ln w="9525">
            <a:solidFill>
              <a:srgbClr val="AAAAAA"/>
            </a:solidFill>
            <a:prstDash val="solid"/>
          </a:ln>
        </p:spPr>
      </p:sp>
      <p:sp>
        <p:nvSpPr>
          <p:cNvPr id="37" name="Text 28"/>
          <p:cNvSpPr txBox="1"/>
          <p:nvPr/>
        </p:nvSpPr>
        <p:spPr>
          <a:xfrm>
            <a:off x="3796223" y="234253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View</a:t>
            </a:r>
            <a:endParaRPr lang="en-US" sz="800" dirty="0"/>
          </a:p>
        </p:txBody>
      </p:sp>
      <p:sp>
        <p:nvSpPr>
          <p:cNvPr id="38" name="Text 29"/>
          <p:cNvSpPr txBox="1"/>
          <p:nvPr/>
        </p:nvSpPr>
        <p:spPr>
          <a:xfrm>
            <a:off x="3796223" y="254370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by</a:t>
            </a:r>
            <a:endParaRPr lang="en-US" sz="800" dirty="0"/>
          </a:p>
        </p:txBody>
      </p:sp>
      <p:sp>
        <p:nvSpPr>
          <p:cNvPr id="39" name="Text 30"/>
          <p:cNvSpPr txBox="1"/>
          <p:nvPr/>
        </p:nvSpPr>
        <p:spPr>
          <a:xfrm>
            <a:off x="3796223" y="274486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Refresh</a:t>
            </a:r>
            <a:endParaRPr lang="en-US" sz="800" dirty="0"/>
          </a:p>
        </p:txBody>
      </p:sp>
      <p:sp>
        <p:nvSpPr>
          <p:cNvPr id="40" name="Shape 31"/>
          <p:cNvSpPr/>
          <p:nvPr/>
        </p:nvSpPr>
        <p:spPr>
          <a:xfrm>
            <a:off x="3723071" y="3037477"/>
            <a:ext cx="1024128" cy="0"/>
          </a:xfrm>
          <a:prstGeom prst="line">
            <a:avLst/>
          </a:prstGeom>
          <a:noFill/>
          <a:ln w="6350">
            <a:solidFill>
              <a:srgbClr val="DDDDDD"/>
            </a:solidFill>
            <a:prstDash val="solid"/>
          </a:ln>
        </p:spPr>
      </p:sp>
      <p:sp>
        <p:nvSpPr>
          <p:cNvPr id="41" name="Text 32"/>
          <p:cNvSpPr txBox="1"/>
          <p:nvPr/>
        </p:nvSpPr>
        <p:spPr>
          <a:xfrm>
            <a:off x="3796223" y="314720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Paste</a:t>
            </a:r>
            <a:endParaRPr lang="en-US" sz="800" dirty="0"/>
          </a:p>
        </p:txBody>
      </p:sp>
      <p:sp>
        <p:nvSpPr>
          <p:cNvPr id="42" name="Shape 33"/>
          <p:cNvSpPr/>
          <p:nvPr/>
        </p:nvSpPr>
        <p:spPr>
          <a:xfrm>
            <a:off x="3723071" y="3439813"/>
            <a:ext cx="1024128" cy="0"/>
          </a:xfrm>
          <a:prstGeom prst="line">
            <a:avLst/>
          </a:prstGeom>
          <a:noFill/>
          <a:ln w="6350">
            <a:solidFill>
              <a:srgbClr val="DDDDDD"/>
            </a:solidFill>
            <a:prstDash val="solid"/>
          </a:ln>
        </p:spPr>
      </p:sp>
      <p:sp>
        <p:nvSpPr>
          <p:cNvPr id="43" name="Text 34"/>
          <p:cNvSpPr txBox="1"/>
          <p:nvPr/>
        </p:nvSpPr>
        <p:spPr>
          <a:xfrm>
            <a:off x="3796223" y="354954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a:t>
            </a:r>
            <a:endParaRPr lang="en-US" sz="800" dirty="0"/>
          </a:p>
        </p:txBody>
      </p:sp>
      <p:sp>
        <p:nvSpPr>
          <p:cNvPr id="44" name="Shape 35"/>
          <p:cNvSpPr/>
          <p:nvPr/>
        </p:nvSpPr>
        <p:spPr>
          <a:xfrm>
            <a:off x="3704783" y="3128917"/>
            <a:ext cx="1060704" cy="228600"/>
          </a:xfrm>
          <a:prstGeom prst="roundRect">
            <a:avLst>
              <a:gd name="adj" fmla="val 20000"/>
            </a:avLst>
          </a:prstGeom>
          <a:solidFill>
            <a:srgbClr val="FFFFFF">
              <a:alpha val="0"/>
            </a:srgbClr>
          </a:solidFill>
          <a:ln w="31750">
            <a:solidFill>
              <a:srgbClr val="E53935"/>
            </a:solidFill>
            <a:prstDash val="solid"/>
          </a:ln>
        </p:spPr>
      </p:sp>
      <p:sp>
        <p:nvSpPr>
          <p:cNvPr id="45" name="Shape 36"/>
          <p:cNvSpPr/>
          <p:nvPr/>
        </p:nvSpPr>
        <p:spPr>
          <a:xfrm>
            <a:off x="4628327" y="2991757"/>
            <a:ext cx="274320" cy="274320"/>
          </a:xfrm>
          <a:prstGeom prst="ellipse">
            <a:avLst/>
          </a:prstGeom>
          <a:solidFill>
            <a:srgbClr val="E53935"/>
          </a:solidFill>
          <a:ln w="12700">
            <a:solidFill>
              <a:srgbClr val="FFFFFF"/>
            </a:solidFill>
            <a:prstDash val="solid"/>
          </a:ln>
        </p:spPr>
      </p:sp>
      <p:sp>
        <p:nvSpPr>
          <p:cNvPr id="46" name="Text 37"/>
          <p:cNvSpPr txBox="1"/>
          <p:nvPr/>
        </p:nvSpPr>
        <p:spPr>
          <a:xfrm>
            <a:off x="4628327" y="29917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47" name="Image 7" descr="preencoded.png">    </p:cNvPr>
          <p:cNvPicPr>
            <a:picLocks noChangeAspect="1"/>
          </p:cNvPicPr>
          <p:nvPr/>
        </p:nvPicPr>
        <p:blipFill>
          <a:blip r:embed="rId8"/>
          <a:stretch>
            <a:fillRect/>
          </a:stretch>
        </p:blipFill>
        <p:spPr>
          <a:xfrm>
            <a:off x="4286341" y="3252818"/>
            <a:ext cx="237744" cy="237744"/>
          </a:xfrm>
          <a:prstGeom prst="rect">
            <a:avLst/>
          </a:prstGeom>
        </p:spPr>
      </p:pic>
      <p:sp>
        <p:nvSpPr>
          <p:cNvPr id="48"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49"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folder Desain › klik kanan › Paste</a:t>
            </a:r>
            <a:endParaRPr lang="en-US" sz="1800" dirty="0"/>
          </a:p>
        </p:txBody>
      </p:sp>
      <p:sp>
        <p:nvSpPr>
          <p:cNvPr id="50"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folder Desain, klik kanan area kosong, lalu pilih Paste.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Delete &amp; Restore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Desain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1891345" y="1839613"/>
            <a:ext cx="786384" cy="603504"/>
          </a:xfrm>
          <a:prstGeom prst="roundRect">
            <a:avLst>
              <a:gd name="adj" fmla="val 6061"/>
            </a:avLst>
          </a:prstGeom>
          <a:solidFill>
            <a:srgbClr val="CCE4F7"/>
          </a:solidFill>
          <a:ln w="12700">
            <a:solidFill>
              <a:srgbClr val="CCE4F7"/>
            </a:solidFill>
            <a:prstDash val="solid"/>
          </a:ln>
        </p:spPr>
      </p:sp>
      <p:pic>
        <p:nvPicPr>
          <p:cNvPr id="37"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8" name="Text 28"/>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sp>
        <p:nvSpPr>
          <p:cNvPr id="39" name="Shape 29"/>
          <p:cNvSpPr/>
          <p:nvPr/>
        </p:nvSpPr>
        <p:spPr>
          <a:xfrm>
            <a:off x="2394265" y="2159653"/>
            <a:ext cx="1097280" cy="1865376"/>
          </a:xfrm>
          <a:prstGeom prst="rect">
            <a:avLst/>
          </a:prstGeom>
          <a:solidFill>
            <a:srgbClr val="FFFFFF"/>
          </a:solidFill>
          <a:ln w="9525">
            <a:solidFill>
              <a:srgbClr val="AAAAAA"/>
            </a:solidFill>
            <a:prstDash val="solid"/>
          </a:ln>
        </p:spPr>
      </p:sp>
      <p:sp>
        <p:nvSpPr>
          <p:cNvPr id="40" name="Text 30"/>
          <p:cNvSpPr txBox="1"/>
          <p:nvPr/>
        </p:nvSpPr>
        <p:spPr>
          <a:xfrm>
            <a:off x="2503993" y="218708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41" name="Shape 31"/>
          <p:cNvSpPr/>
          <p:nvPr/>
        </p:nvSpPr>
        <p:spPr>
          <a:xfrm>
            <a:off x="2430841" y="2479693"/>
            <a:ext cx="1024128" cy="0"/>
          </a:xfrm>
          <a:prstGeom prst="line">
            <a:avLst/>
          </a:prstGeom>
          <a:noFill/>
          <a:ln w="6350">
            <a:solidFill>
              <a:srgbClr val="DDDDDD"/>
            </a:solidFill>
            <a:prstDash val="solid"/>
          </a:ln>
        </p:spPr>
      </p:sp>
      <p:sp>
        <p:nvSpPr>
          <p:cNvPr id="42" name="Text 32"/>
          <p:cNvSpPr txBox="1"/>
          <p:nvPr/>
        </p:nvSpPr>
        <p:spPr>
          <a:xfrm>
            <a:off x="2503993" y="258942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Cut</a:t>
            </a:r>
            <a:endParaRPr lang="en-US" sz="800" dirty="0"/>
          </a:p>
        </p:txBody>
      </p:sp>
      <p:sp>
        <p:nvSpPr>
          <p:cNvPr id="43" name="Text 33"/>
          <p:cNvSpPr txBox="1"/>
          <p:nvPr/>
        </p:nvSpPr>
        <p:spPr>
          <a:xfrm>
            <a:off x="2503993" y="279058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Copy</a:t>
            </a:r>
            <a:endParaRPr lang="en-US" sz="800" dirty="0"/>
          </a:p>
        </p:txBody>
      </p:sp>
      <p:sp>
        <p:nvSpPr>
          <p:cNvPr id="44" name="Shape 34"/>
          <p:cNvSpPr/>
          <p:nvPr/>
        </p:nvSpPr>
        <p:spPr>
          <a:xfrm>
            <a:off x="2430841" y="3083197"/>
            <a:ext cx="1024128" cy="0"/>
          </a:xfrm>
          <a:prstGeom prst="line">
            <a:avLst/>
          </a:prstGeom>
          <a:noFill/>
          <a:ln w="6350">
            <a:solidFill>
              <a:srgbClr val="DDDDDD"/>
            </a:solidFill>
            <a:prstDash val="solid"/>
          </a:ln>
        </p:spPr>
      </p:sp>
      <p:sp>
        <p:nvSpPr>
          <p:cNvPr id="45" name="Text 35"/>
          <p:cNvSpPr txBox="1"/>
          <p:nvPr/>
        </p:nvSpPr>
        <p:spPr>
          <a:xfrm>
            <a:off x="2503993" y="319292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Rename</a:t>
            </a:r>
            <a:endParaRPr lang="en-US" sz="800" dirty="0"/>
          </a:p>
        </p:txBody>
      </p:sp>
      <p:sp>
        <p:nvSpPr>
          <p:cNvPr id="46" name="Text 36"/>
          <p:cNvSpPr txBox="1"/>
          <p:nvPr/>
        </p:nvSpPr>
        <p:spPr>
          <a:xfrm>
            <a:off x="2503993" y="339409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Delete</a:t>
            </a:r>
            <a:endParaRPr lang="en-US" sz="800" dirty="0"/>
          </a:p>
        </p:txBody>
      </p:sp>
      <p:sp>
        <p:nvSpPr>
          <p:cNvPr id="47" name="Shape 37"/>
          <p:cNvSpPr/>
          <p:nvPr/>
        </p:nvSpPr>
        <p:spPr>
          <a:xfrm>
            <a:off x="2430841" y="3686701"/>
            <a:ext cx="1024128" cy="0"/>
          </a:xfrm>
          <a:prstGeom prst="line">
            <a:avLst/>
          </a:prstGeom>
          <a:noFill/>
          <a:ln w="6350">
            <a:solidFill>
              <a:srgbClr val="DDDDDD"/>
            </a:solidFill>
            <a:prstDash val="solid"/>
          </a:ln>
        </p:spPr>
      </p:sp>
      <p:sp>
        <p:nvSpPr>
          <p:cNvPr id="48" name="Text 38"/>
          <p:cNvSpPr txBox="1"/>
          <p:nvPr/>
        </p:nvSpPr>
        <p:spPr>
          <a:xfrm>
            <a:off x="2503993" y="379642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Properties</a:t>
            </a:r>
            <a:endParaRPr lang="en-US" sz="800" dirty="0"/>
          </a:p>
        </p:txBody>
      </p:sp>
      <p:sp>
        <p:nvSpPr>
          <p:cNvPr id="49" name="Shape 39"/>
          <p:cNvSpPr/>
          <p:nvPr/>
        </p:nvSpPr>
        <p:spPr>
          <a:xfrm>
            <a:off x="2412553" y="3375805"/>
            <a:ext cx="1060704" cy="228600"/>
          </a:xfrm>
          <a:prstGeom prst="roundRect">
            <a:avLst>
              <a:gd name="adj" fmla="val 20000"/>
            </a:avLst>
          </a:prstGeom>
          <a:solidFill>
            <a:srgbClr val="FFFFFF">
              <a:alpha val="0"/>
            </a:srgbClr>
          </a:solidFill>
          <a:ln w="31750">
            <a:solidFill>
              <a:srgbClr val="E53935"/>
            </a:solidFill>
            <a:prstDash val="solid"/>
          </a:ln>
        </p:spPr>
      </p:sp>
      <p:sp>
        <p:nvSpPr>
          <p:cNvPr id="50" name="Shape 40"/>
          <p:cNvSpPr/>
          <p:nvPr/>
        </p:nvSpPr>
        <p:spPr>
          <a:xfrm>
            <a:off x="3336097" y="3238645"/>
            <a:ext cx="274320" cy="274320"/>
          </a:xfrm>
          <a:prstGeom prst="ellipse">
            <a:avLst/>
          </a:prstGeom>
          <a:solidFill>
            <a:srgbClr val="E53935"/>
          </a:solidFill>
          <a:ln w="12700">
            <a:solidFill>
              <a:srgbClr val="FFFFFF"/>
            </a:solidFill>
            <a:prstDash val="solid"/>
          </a:ln>
        </p:spPr>
      </p:sp>
      <p:sp>
        <p:nvSpPr>
          <p:cNvPr id="51" name="Text 41"/>
          <p:cNvSpPr txBox="1"/>
          <p:nvPr/>
        </p:nvSpPr>
        <p:spPr>
          <a:xfrm>
            <a:off x="3336097" y="32386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pic>
        <p:nvPicPr>
          <p:cNvPr id="52" name="Image 8" descr="preencoded.png">    </p:cNvPr>
          <p:cNvPicPr>
            <a:picLocks noChangeAspect="1"/>
          </p:cNvPicPr>
          <p:nvPr/>
        </p:nvPicPr>
        <p:blipFill>
          <a:blip r:embed="rId9"/>
          <a:stretch>
            <a:fillRect/>
          </a:stretch>
        </p:blipFill>
        <p:spPr>
          <a:xfrm>
            <a:off x="2994111" y="3499706"/>
            <a:ext cx="237744" cy="237744"/>
          </a:xfrm>
          <a:prstGeom prst="rect">
            <a:avLst/>
          </a:prstGeom>
        </p:spPr>
      </p:pic>
      <p:sp>
        <p:nvSpPr>
          <p:cNvPr id="53"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54"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Latihan3 › Delete</a:t>
            </a:r>
            <a:endParaRPr lang="en-US" sz="1800" dirty="0"/>
          </a:p>
        </p:txBody>
      </p:sp>
      <p:sp>
        <p:nvSpPr>
          <p:cNvPr id="55"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folder Desain, klik kanan pada Latihan3, lalu pilih Delete.</a:t>
            </a:r>
            <a:endParaRPr lang="en-US" sz="1300" dirty="0"/>
          </a:p>
        </p:txBody>
      </p:sp>
      <p:sp>
        <p:nvSpPr>
          <p:cNvPr id="56" name="Shape 4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7"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58" name="Text 4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Hanya hapus file milikmu sendiri.</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Delete &amp; Restore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10/11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539496" y="1161288"/>
            <a:ext cx="402336" cy="530352"/>
          </a:xfrm>
          <a:prstGeom prst="roundRect">
            <a:avLst>
              <a:gd name="adj" fmla="val 11364"/>
            </a:avLst>
          </a:prstGeom>
          <a:solidFill>
            <a:srgbClr val="FFFFFF">
              <a:alpha val="0"/>
            </a:srgbClr>
          </a:solidFill>
          <a:ln w="31750">
            <a:solidFill>
              <a:srgbClr val="E53935"/>
            </a:solidFill>
            <a:prstDash val="solid"/>
          </a:ln>
        </p:spPr>
      </p:sp>
      <p:sp>
        <p:nvSpPr>
          <p:cNvPr id="28" name="Shape 20"/>
          <p:cNvSpPr/>
          <p:nvPr/>
        </p:nvSpPr>
        <p:spPr>
          <a:xfrm>
            <a:off x="804672" y="1024128"/>
            <a:ext cx="274320" cy="274320"/>
          </a:xfrm>
          <a:prstGeom prst="ellipse">
            <a:avLst/>
          </a:prstGeom>
          <a:solidFill>
            <a:srgbClr val="E53935"/>
          </a:solidFill>
          <a:ln w="12700">
            <a:solidFill>
              <a:srgbClr val="FFFFFF"/>
            </a:solidFill>
            <a:prstDash val="solid"/>
          </a:ln>
        </p:spPr>
      </p:sp>
      <p:sp>
        <p:nvSpPr>
          <p:cNvPr id="29" name="Text 21"/>
          <p:cNvSpPr txBox="1"/>
          <p:nvPr/>
        </p:nvSpPr>
        <p:spPr>
          <a:xfrm>
            <a:off x="804672" y="1024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pic>
        <p:nvPicPr>
          <p:cNvPr id="30" name="Image 6" descr="preencoded.png">    </p:cNvPr>
          <p:cNvPicPr>
            <a:picLocks noChangeAspect="1"/>
          </p:cNvPicPr>
          <p:nvPr/>
        </p:nvPicPr>
        <p:blipFill>
          <a:blip r:embed="rId7"/>
          <a:stretch>
            <a:fillRect/>
          </a:stretch>
        </p:blipFill>
        <p:spPr>
          <a:xfrm>
            <a:off x="757123" y="1449324"/>
            <a:ext cx="237744" cy="237744"/>
          </a:xfrm>
          <a:prstGeom prst="rect">
            <a:avLst/>
          </a:prstGeom>
        </p:spPr>
      </p:pic>
      <p:sp>
        <p:nvSpPr>
          <p:cNvPr id="31"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10</a:t>
            </a:r>
            <a:endParaRPr lang="en-US" sz="1200" dirty="0"/>
          </a:p>
        </p:txBody>
      </p:sp>
      <p:sp>
        <p:nvSpPr>
          <p:cNvPr id="32"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Recycle Bin</a:t>
            </a:r>
            <a:endParaRPr lang="en-US" sz="1800" dirty="0"/>
          </a:p>
        </p:txBody>
      </p:sp>
      <p:sp>
        <p:nvSpPr>
          <p:cNvPr id="33"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Kecilkan atau tutup File Explorer. Klik ganda ikon Recycle Bin di pojok kiri atas Desktop.</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Delete &amp; Restore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11/11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Recycle Bin</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Recycle Bin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pic>
        <p:nvPicPr>
          <p:cNvPr id="29"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0" name="Text 23"/>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1"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2" name="Text 24"/>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3"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4" name="Text 25"/>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5" name="Shape 26"/>
          <p:cNvSpPr/>
          <p:nvPr/>
        </p:nvSpPr>
        <p:spPr>
          <a:xfrm>
            <a:off x="1891345" y="1839613"/>
            <a:ext cx="786384" cy="603504"/>
          </a:xfrm>
          <a:prstGeom prst="roundRect">
            <a:avLst>
              <a:gd name="adj" fmla="val 6061"/>
            </a:avLst>
          </a:prstGeom>
          <a:solidFill>
            <a:srgbClr val="CCE4F7"/>
          </a:solidFill>
          <a:ln w="12700">
            <a:solidFill>
              <a:srgbClr val="CCE4F7"/>
            </a:solidFill>
            <a:prstDash val="solid"/>
          </a:ln>
        </p:spPr>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sp>
        <p:nvSpPr>
          <p:cNvPr id="38" name="Shape 28"/>
          <p:cNvSpPr/>
          <p:nvPr/>
        </p:nvSpPr>
        <p:spPr>
          <a:xfrm>
            <a:off x="2394265" y="2159653"/>
            <a:ext cx="1097280" cy="1261872"/>
          </a:xfrm>
          <a:prstGeom prst="rect">
            <a:avLst/>
          </a:prstGeom>
          <a:solidFill>
            <a:srgbClr val="FFFFFF"/>
          </a:solidFill>
          <a:ln w="9525">
            <a:solidFill>
              <a:srgbClr val="AAAAAA"/>
            </a:solidFill>
            <a:prstDash val="solid"/>
          </a:ln>
        </p:spPr>
      </p:sp>
      <p:sp>
        <p:nvSpPr>
          <p:cNvPr id="39" name="Text 29"/>
          <p:cNvSpPr txBox="1"/>
          <p:nvPr/>
        </p:nvSpPr>
        <p:spPr>
          <a:xfrm>
            <a:off x="2503993" y="218708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Restore</a:t>
            </a:r>
            <a:endParaRPr lang="en-US" sz="800" dirty="0"/>
          </a:p>
        </p:txBody>
      </p:sp>
      <p:sp>
        <p:nvSpPr>
          <p:cNvPr id="40" name="Text 30"/>
          <p:cNvSpPr txBox="1"/>
          <p:nvPr/>
        </p:nvSpPr>
        <p:spPr>
          <a:xfrm>
            <a:off x="2503993" y="238825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Cut</a:t>
            </a:r>
            <a:endParaRPr lang="en-US" sz="800" dirty="0"/>
          </a:p>
        </p:txBody>
      </p:sp>
      <p:sp>
        <p:nvSpPr>
          <p:cNvPr id="41" name="Shape 31"/>
          <p:cNvSpPr/>
          <p:nvPr/>
        </p:nvSpPr>
        <p:spPr>
          <a:xfrm>
            <a:off x="2430841" y="2680861"/>
            <a:ext cx="1024128" cy="0"/>
          </a:xfrm>
          <a:prstGeom prst="line">
            <a:avLst/>
          </a:prstGeom>
          <a:noFill/>
          <a:ln w="6350">
            <a:solidFill>
              <a:srgbClr val="DDDDDD"/>
            </a:solidFill>
            <a:prstDash val="solid"/>
          </a:ln>
        </p:spPr>
      </p:sp>
      <p:sp>
        <p:nvSpPr>
          <p:cNvPr id="42" name="Text 32"/>
          <p:cNvSpPr txBox="1"/>
          <p:nvPr/>
        </p:nvSpPr>
        <p:spPr>
          <a:xfrm>
            <a:off x="2503993" y="279058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Delete</a:t>
            </a:r>
            <a:endParaRPr lang="en-US" sz="800" dirty="0"/>
          </a:p>
        </p:txBody>
      </p:sp>
      <p:sp>
        <p:nvSpPr>
          <p:cNvPr id="43" name="Shape 33"/>
          <p:cNvSpPr/>
          <p:nvPr/>
        </p:nvSpPr>
        <p:spPr>
          <a:xfrm>
            <a:off x="2430841" y="3083197"/>
            <a:ext cx="1024128" cy="0"/>
          </a:xfrm>
          <a:prstGeom prst="line">
            <a:avLst/>
          </a:prstGeom>
          <a:noFill/>
          <a:ln w="6350">
            <a:solidFill>
              <a:srgbClr val="DDDDDD"/>
            </a:solidFill>
            <a:prstDash val="solid"/>
          </a:ln>
        </p:spPr>
      </p:sp>
      <p:sp>
        <p:nvSpPr>
          <p:cNvPr id="44" name="Text 34"/>
          <p:cNvSpPr txBox="1"/>
          <p:nvPr/>
        </p:nvSpPr>
        <p:spPr>
          <a:xfrm>
            <a:off x="2503993" y="319292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Properties</a:t>
            </a:r>
            <a:endParaRPr lang="en-US" sz="800" dirty="0"/>
          </a:p>
        </p:txBody>
      </p:sp>
      <p:sp>
        <p:nvSpPr>
          <p:cNvPr id="45" name="Shape 35"/>
          <p:cNvSpPr/>
          <p:nvPr/>
        </p:nvSpPr>
        <p:spPr>
          <a:xfrm>
            <a:off x="2412553" y="2168797"/>
            <a:ext cx="1060704" cy="228600"/>
          </a:xfrm>
          <a:prstGeom prst="roundRect">
            <a:avLst>
              <a:gd name="adj" fmla="val 20000"/>
            </a:avLst>
          </a:prstGeom>
          <a:solidFill>
            <a:srgbClr val="FFFFFF">
              <a:alpha val="0"/>
            </a:srgbClr>
          </a:solidFill>
          <a:ln w="31750">
            <a:solidFill>
              <a:srgbClr val="E53935"/>
            </a:solidFill>
            <a:prstDash val="solid"/>
          </a:ln>
        </p:spPr>
      </p:sp>
      <p:sp>
        <p:nvSpPr>
          <p:cNvPr id="46" name="Shape 36"/>
          <p:cNvSpPr/>
          <p:nvPr/>
        </p:nvSpPr>
        <p:spPr>
          <a:xfrm>
            <a:off x="3336097" y="2031637"/>
            <a:ext cx="274320" cy="274320"/>
          </a:xfrm>
          <a:prstGeom prst="ellipse">
            <a:avLst/>
          </a:prstGeom>
          <a:solidFill>
            <a:srgbClr val="E53935"/>
          </a:solidFill>
          <a:ln w="12700">
            <a:solidFill>
              <a:srgbClr val="FFFFFF"/>
            </a:solidFill>
            <a:prstDash val="solid"/>
          </a:ln>
        </p:spPr>
      </p:sp>
      <p:sp>
        <p:nvSpPr>
          <p:cNvPr id="47" name="Text 37"/>
          <p:cNvSpPr txBox="1"/>
          <p:nvPr/>
        </p:nvSpPr>
        <p:spPr>
          <a:xfrm>
            <a:off x="3336097" y="20316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pic>
        <p:nvPicPr>
          <p:cNvPr id="48" name="Image 8" descr="preencoded.png">    </p:cNvPr>
          <p:cNvPicPr>
            <a:picLocks noChangeAspect="1"/>
          </p:cNvPicPr>
          <p:nvPr/>
        </p:nvPicPr>
        <p:blipFill>
          <a:blip r:embed="rId9"/>
          <a:stretch>
            <a:fillRect/>
          </a:stretch>
        </p:blipFill>
        <p:spPr>
          <a:xfrm>
            <a:off x="2994111" y="2292698"/>
            <a:ext cx="237744" cy="237744"/>
          </a:xfrm>
          <a:prstGeom prst="rect">
            <a:avLst/>
          </a:prstGeom>
        </p:spPr>
      </p:pic>
      <p:sp>
        <p:nvSpPr>
          <p:cNvPr id="49"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11</a:t>
            </a:r>
            <a:endParaRPr lang="en-US" sz="1200" dirty="0"/>
          </a:p>
        </p:txBody>
      </p:sp>
      <p:sp>
        <p:nvSpPr>
          <p:cNvPr id="50"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Latihan3 › Restore</a:t>
            </a:r>
            <a:endParaRPr lang="en-US" sz="1800" dirty="0"/>
          </a:p>
        </p:txBody>
      </p:sp>
      <p:sp>
        <p:nvSpPr>
          <p:cNvPr id="51"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File Latihan3 ada di Recycle Bin. Klik kanan, lalu pilih Restore. File kembali ke folder Desain.</a:t>
            </a:r>
            <a:endParaRPr lang="en-US" sz="1300" dirty="0"/>
          </a:p>
        </p:txBody>
      </p:sp>
      <p:sp>
        <p:nvSpPr>
          <p:cNvPr id="52" name="Shape 4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3"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54" name="Text 4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Jangan memilih Empty Recycle Bin di komputer bersama.</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tanpa melihat slide, lalu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Buat file baru bernama Tugas_Pekan4 di folder Dokumen.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Ganti namanya menjadi Tugas_IT_NamaKamu.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Salin (Copy) file itu ke folder Proyek.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Pindahkan (Cut) file Latihan2 dari Dokumen ke folder Audio.</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Doa_Belajar sudah ada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Latihan2 ada di Dokumen dan Proyek</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Latihan3 kembali ada di Desain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beda copy dan move</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Kapan kita memakai copy, dan kapan memakai move?</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akibatnya jika kita menghapus file milik orang lain?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Jangan membuka, memindah, atau menghapus file milik orang lain tanpa izin.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Mengenal cloud storage dan Google Drive.</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Cloud Storage &amp; Google Drive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Upload, download, dan akses dari mana saja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Manajemen File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Kalau laptop rusak atau hilang, apa yang terjadi dengan semua file di dalamnya?</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cloud storage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folder dan melakukan upload di Google Drive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Melakukan download dan keluar (sign out) dengan aman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Cloud Storage?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Cloud = Awan</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Cloud storage adalah tempat menyimpan file di internet, sehingga file aman dan bisa dibuka dari komputer atau HP mana saja.</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File disimpan di komputer besar milik penyedia (server)</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Dibuka melalui internet dengan akun dan kata sandi</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 Google Drive, OneDrive, Dropbox</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Upload dan Download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Upload</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Mengirim file dari komputer KE internet (Google Drive). Seperti menitipkan barang ke gudang.</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Download</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Mengambil file DARI internet ke komputer. Seperti mengambil barang dari gudang.</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Google Drive</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Layanan cloud gratis dari Google. Kapasitas gratis 15 GB, cukup untuk ribuan dokumen.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Akun &amp; Kata Sandi</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Setiap Drive dilindungi akun. Hanya pemilik dan orang yang diberi izin yang bisa membuka.</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Menggunakan Akun Bersama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Lakukan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Pakai akun yang diberikan guru</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Simpan file di folder milikmu sendiri</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Selalu Sign out setelah selesai</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Jangan</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Memberitahukan kata sandi ke orang lain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Membuka atau menghapus file teman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Mengubah pengaturan akun</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Menggunakan Google Drive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Masuk ke Google Drive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4–8</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folder dan upload file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9–11</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Download dan Sign out</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Masuk ke Google Drive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90921" y="1243090"/>
            <a:ext cx="4744639" cy="2426754"/>
          </a:xfrm>
          <a:prstGeom prst="rect">
            <a:avLst/>
          </a:prstGeom>
          <a:solidFill>
            <a:srgbClr val="FFFFFF"/>
          </a:solidFill>
          <a:ln w="9525">
            <a:solidFill>
              <a:srgbClr val="999999"/>
            </a:solidFill>
            <a:prstDash val="solid"/>
          </a:ln>
        </p:spPr>
      </p:sp>
      <p:sp>
        <p:nvSpPr>
          <p:cNvPr id="17" name="Shape 13"/>
          <p:cNvSpPr/>
          <p:nvPr/>
        </p:nvSpPr>
        <p:spPr>
          <a:xfrm>
            <a:off x="690921" y="1243090"/>
            <a:ext cx="4744639" cy="219456"/>
          </a:xfrm>
          <a:prstGeom prst="rect">
            <a:avLst/>
          </a:prstGeom>
          <a:solidFill>
            <a:srgbClr val="DEE1E6"/>
          </a:solidFill>
          <a:ln w="12700">
            <a:solidFill>
              <a:srgbClr val="DEE1E6"/>
            </a:solidFill>
            <a:prstDash val="solid"/>
          </a:ln>
        </p:spPr>
      </p:sp>
      <p:sp>
        <p:nvSpPr>
          <p:cNvPr id="18" name="Text 14"/>
          <p:cNvSpPr txBox="1"/>
          <p:nvPr/>
        </p:nvSpPr>
        <p:spPr>
          <a:xfrm>
            <a:off x="782361" y="1243090"/>
            <a:ext cx="3830239"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New Tab</a:t>
            </a:r>
            <a:endParaRPr lang="en-US" sz="750" dirty="0"/>
          </a:p>
        </p:txBody>
      </p:sp>
      <p:sp>
        <p:nvSpPr>
          <p:cNvPr id="19" name="Text 15"/>
          <p:cNvSpPr txBox="1"/>
          <p:nvPr/>
        </p:nvSpPr>
        <p:spPr>
          <a:xfrm>
            <a:off x="461259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88691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161239" y="1243090"/>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90921" y="1462546"/>
            <a:ext cx="4744639"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782361" y="1535698"/>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983529" y="1535698"/>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184697" y="1535698"/>
            <a:ext cx="128016" cy="128016"/>
          </a:xfrm>
          <a:prstGeom prst="rect">
            <a:avLst/>
          </a:prstGeom>
        </p:spPr>
      </p:pic>
      <p:sp>
        <p:nvSpPr>
          <p:cNvPr id="26" name="Shape 19"/>
          <p:cNvSpPr/>
          <p:nvPr/>
        </p:nvSpPr>
        <p:spPr>
          <a:xfrm>
            <a:off x="1422441" y="1499122"/>
            <a:ext cx="3830239"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532169" y="1499122"/>
            <a:ext cx="3647359"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sp>
        <p:nvSpPr>
          <p:cNvPr id="28" name="Shape 21"/>
          <p:cNvSpPr/>
          <p:nvPr/>
        </p:nvSpPr>
        <p:spPr>
          <a:xfrm>
            <a:off x="1385865" y="1462546"/>
            <a:ext cx="3903391" cy="274320"/>
          </a:xfrm>
          <a:prstGeom prst="roundRect">
            <a:avLst>
              <a:gd name="adj" fmla="val 16667"/>
            </a:avLst>
          </a:prstGeom>
          <a:solidFill>
            <a:srgbClr val="FFFFFF">
              <a:alpha val="0"/>
            </a:srgbClr>
          </a:solidFill>
          <a:ln w="31750">
            <a:solidFill>
              <a:srgbClr val="E53935"/>
            </a:solidFill>
            <a:prstDash val="solid"/>
          </a:ln>
        </p:spPr>
      </p:sp>
      <p:sp>
        <p:nvSpPr>
          <p:cNvPr id="29" name="Shape 22"/>
          <p:cNvSpPr/>
          <p:nvPr/>
        </p:nvSpPr>
        <p:spPr>
          <a:xfrm>
            <a:off x="5152095" y="1325386"/>
            <a:ext cx="274320" cy="274320"/>
          </a:xfrm>
          <a:prstGeom prst="ellipse">
            <a:avLst/>
          </a:prstGeom>
          <a:solidFill>
            <a:srgbClr val="E53935"/>
          </a:solidFill>
          <a:ln w="12700">
            <a:solidFill>
              <a:srgbClr val="FFFFFF"/>
            </a:solidFill>
            <a:prstDash val="solid"/>
          </a:ln>
        </p:spPr>
      </p:sp>
      <p:sp>
        <p:nvSpPr>
          <p:cNvPr id="30" name="Text 23"/>
          <p:cNvSpPr txBox="1"/>
          <p:nvPr/>
        </p:nvSpPr>
        <p:spPr>
          <a:xfrm>
            <a:off x="5152095" y="132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31" name="Image 5" descr="preencoded.png">    </p:cNvPr>
          <p:cNvPicPr>
            <a:picLocks noChangeAspect="1"/>
          </p:cNvPicPr>
          <p:nvPr/>
        </p:nvPicPr>
        <p:blipFill>
          <a:blip r:embed="rId6"/>
          <a:stretch>
            <a:fillRect/>
          </a:stretch>
        </p:blipFill>
        <p:spPr>
          <a:xfrm>
            <a:off x="3529072" y="1609765"/>
            <a:ext cx="237744" cy="237744"/>
          </a:xfrm>
          <a:prstGeom prst="rect">
            <a:avLst/>
          </a:prstGeom>
        </p:spPr>
      </p:pic>
      <p:sp>
        <p:nvSpPr>
          <p:cNvPr id="32" name="Text 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33" name="Text 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browser, ketik drive.google.com</a:t>
            </a:r>
            <a:endParaRPr lang="en-US" sz="1800" dirty="0"/>
          </a:p>
        </p:txBody>
      </p:sp>
      <p:sp>
        <p:nvSpPr>
          <p:cNvPr id="34" name="Text 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ikon browser di Taskbar. Klik kolom alamat, ketik drive.google.com, lalu tekan Enter.</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Masuk ke Google Drive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Sign in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accounts.google.com</a:t>
            </a:r>
            <a:endParaRPr lang="en-US" sz="800" dirty="0"/>
          </a:p>
        </p:txBody>
      </p:sp>
      <p:sp>
        <p:nvSpPr>
          <p:cNvPr id="28" name="Shape 21"/>
          <p:cNvSpPr/>
          <p:nvPr/>
        </p:nvSpPr>
        <p:spPr>
          <a:xfrm>
            <a:off x="587776" y="1677677"/>
            <a:ext cx="4950927" cy="2317707"/>
          </a:xfrm>
          <a:prstGeom prst="rect">
            <a:avLst/>
          </a:prstGeom>
          <a:solidFill>
            <a:srgbClr val="F0F4F9"/>
          </a:solidFill>
          <a:ln w="12700">
            <a:solidFill>
              <a:srgbClr val="F0F4F9"/>
            </a:solidFill>
            <a:prstDash val="solid"/>
          </a:ln>
        </p:spPr>
      </p:sp>
      <p:sp>
        <p:nvSpPr>
          <p:cNvPr id="29" name="Shape 22"/>
          <p:cNvSpPr/>
          <p:nvPr/>
        </p:nvSpPr>
        <p:spPr>
          <a:xfrm>
            <a:off x="1600200" y="1860557"/>
            <a:ext cx="2926080" cy="2011680"/>
          </a:xfrm>
          <a:prstGeom prst="roundRect">
            <a:avLst>
              <a:gd name="adj" fmla="val 4545"/>
            </a:avLst>
          </a:prstGeom>
          <a:solidFill>
            <a:srgbClr val="FFFFFF"/>
          </a:solidFill>
          <a:ln w="12700">
            <a:solidFill>
              <a:srgbClr val="FFFFFF"/>
            </a:solidFill>
            <a:prstDash val="solid"/>
          </a:ln>
        </p:spPr>
      </p:sp>
      <p:sp>
        <p:nvSpPr>
          <p:cNvPr id="30" name="Text 23"/>
          <p:cNvSpPr txBox="1"/>
          <p:nvPr/>
        </p:nvSpPr>
        <p:spPr>
          <a:xfrm>
            <a:off x="1783080" y="1997717"/>
            <a:ext cx="1097280" cy="274320"/>
          </a:xfrm>
          <a:prstGeom prst="rect">
            <a:avLst/>
          </a:prstGeom>
          <a:noFill/>
          <a:ln/>
        </p:spPr>
        <p:txBody>
          <a:bodyPr wrap="square" lIns="0" tIns="0" rIns="0" bIns="0" rtlCol="0" anchor="t"/>
          <a:lstStyle/>
          <a:p>
            <a:pPr indent="0" marL="0">
              <a:buNone/>
            </a:pPr>
            <a:r>
              <a:rPr lang="en-US" sz="1400" b="1" dirty="0">
                <a:solidFill>
                  <a:srgbClr val="4285F4"/>
                </a:solidFill>
                <a:latin typeface="Arial" pitchFamily="34" charset="0"/>
                <a:ea typeface="Arial" pitchFamily="34" charset="-122"/>
                <a:cs typeface="Arial" pitchFamily="34" charset="-120"/>
              </a:rPr>
              <a:t>G</a:t>
            </a:r>
            <a:pPr indent="0" marL="0">
              <a:buNone/>
            </a:pPr>
            <a:r>
              <a:rPr lang="en-US" sz="1400" b="1" dirty="0">
                <a:solidFill>
                  <a:srgbClr val="EA4335"/>
                </a:solidFill>
                <a:latin typeface="Arial" pitchFamily="34" charset="0"/>
                <a:ea typeface="Arial" pitchFamily="34" charset="-122"/>
                <a:cs typeface="Arial" pitchFamily="34" charset="-120"/>
              </a:rPr>
              <a:t>o</a:t>
            </a:r>
            <a:pPr indent="0" marL="0">
              <a:buNone/>
            </a:pPr>
            <a:r>
              <a:rPr lang="en-US" sz="1400" b="1" dirty="0">
                <a:solidFill>
                  <a:srgbClr val="FBBC05"/>
                </a:solidFill>
                <a:latin typeface="Arial" pitchFamily="34" charset="0"/>
                <a:ea typeface="Arial" pitchFamily="34" charset="-122"/>
                <a:cs typeface="Arial" pitchFamily="34" charset="-120"/>
              </a:rPr>
              <a:t>o</a:t>
            </a:r>
            <a:pPr indent="0" marL="0">
              <a:buNone/>
            </a:pPr>
            <a:r>
              <a:rPr lang="en-US" sz="1400" b="1" dirty="0">
                <a:solidFill>
                  <a:srgbClr val="4285F4"/>
                </a:solidFill>
                <a:latin typeface="Arial" pitchFamily="34" charset="0"/>
                <a:ea typeface="Arial" pitchFamily="34" charset="-122"/>
                <a:cs typeface="Arial" pitchFamily="34" charset="-120"/>
              </a:rPr>
              <a:t>g</a:t>
            </a:r>
            <a:pPr indent="0" marL="0">
              <a:buNone/>
            </a:pPr>
            <a:r>
              <a:rPr lang="en-US" sz="1400" b="1" dirty="0">
                <a:solidFill>
                  <a:srgbClr val="34A853"/>
                </a:solidFill>
                <a:latin typeface="Arial" pitchFamily="34" charset="0"/>
                <a:ea typeface="Arial" pitchFamily="34" charset="-122"/>
                <a:cs typeface="Arial" pitchFamily="34" charset="-120"/>
              </a:rPr>
              <a:t>l</a:t>
            </a:r>
            <a:pPr indent="0" marL="0">
              <a:buNone/>
            </a:pPr>
            <a:r>
              <a:rPr lang="en-US" sz="1400" b="1" dirty="0">
                <a:solidFill>
                  <a:srgbClr val="EA4335"/>
                </a:solidFill>
                <a:latin typeface="Arial" pitchFamily="34" charset="0"/>
                <a:ea typeface="Arial" pitchFamily="34" charset="-122"/>
                <a:cs typeface="Arial" pitchFamily="34" charset="-120"/>
              </a:rPr>
              <a:t>e</a:t>
            </a:r>
            <a:endParaRPr lang="en-US" sz="1400" dirty="0"/>
          </a:p>
        </p:txBody>
      </p:sp>
      <p:sp>
        <p:nvSpPr>
          <p:cNvPr id="31" name="Text 24"/>
          <p:cNvSpPr txBox="1"/>
          <p:nvPr/>
        </p:nvSpPr>
        <p:spPr>
          <a:xfrm>
            <a:off x="1783080" y="2317757"/>
            <a:ext cx="2560320" cy="27432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Sign in</a:t>
            </a:r>
            <a:endParaRPr lang="en-US" sz="1400" dirty="0"/>
          </a:p>
        </p:txBody>
      </p:sp>
      <p:sp>
        <p:nvSpPr>
          <p:cNvPr id="32" name="Shape 25"/>
          <p:cNvSpPr/>
          <p:nvPr/>
        </p:nvSpPr>
        <p:spPr>
          <a:xfrm>
            <a:off x="1783080" y="2774957"/>
            <a:ext cx="2560320" cy="292608"/>
          </a:xfrm>
          <a:prstGeom prst="roundRect">
            <a:avLst>
              <a:gd name="adj" fmla="val 12500"/>
            </a:avLst>
          </a:prstGeom>
          <a:solidFill>
            <a:srgbClr val="FFFFFF"/>
          </a:solidFill>
          <a:ln w="15240">
            <a:solidFill>
              <a:srgbClr val="0B57D0"/>
            </a:solidFill>
            <a:prstDash val="solid"/>
          </a:ln>
        </p:spPr>
      </p:sp>
      <p:sp>
        <p:nvSpPr>
          <p:cNvPr id="33" name="Text 26"/>
          <p:cNvSpPr txBox="1"/>
          <p:nvPr/>
        </p:nvSpPr>
        <p:spPr>
          <a:xfrm>
            <a:off x="1874520" y="2774957"/>
            <a:ext cx="2560320" cy="29260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santri.kelas1@gmail.com</a:t>
            </a:r>
            <a:endParaRPr lang="en-US" sz="900" dirty="0"/>
          </a:p>
        </p:txBody>
      </p:sp>
      <p:sp>
        <p:nvSpPr>
          <p:cNvPr id="34" name="Shape 27"/>
          <p:cNvSpPr/>
          <p:nvPr/>
        </p:nvSpPr>
        <p:spPr>
          <a:xfrm>
            <a:off x="3749040" y="3369317"/>
            <a:ext cx="594360" cy="274320"/>
          </a:xfrm>
          <a:prstGeom prst="roundRect">
            <a:avLst>
              <a:gd name="adj" fmla="val 50000"/>
            </a:avLst>
          </a:prstGeom>
          <a:solidFill>
            <a:srgbClr val="0B57D0"/>
          </a:solidFill>
          <a:ln w="12700">
            <a:solidFill>
              <a:srgbClr val="0B57D0"/>
            </a:solidFill>
            <a:prstDash val="solid"/>
          </a:ln>
        </p:spPr>
      </p:sp>
      <p:sp>
        <p:nvSpPr>
          <p:cNvPr id="35" name="Text 28"/>
          <p:cNvSpPr txBox="1"/>
          <p:nvPr/>
        </p:nvSpPr>
        <p:spPr>
          <a:xfrm>
            <a:off x="3749040" y="3369317"/>
            <a:ext cx="594360" cy="2743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Next</a:t>
            </a:r>
            <a:endParaRPr lang="en-US" sz="850" dirty="0"/>
          </a:p>
        </p:txBody>
      </p:sp>
      <p:sp>
        <p:nvSpPr>
          <p:cNvPr id="36" name="Shape 29"/>
          <p:cNvSpPr/>
          <p:nvPr/>
        </p:nvSpPr>
        <p:spPr>
          <a:xfrm>
            <a:off x="1755648" y="2747525"/>
            <a:ext cx="2615184" cy="347472"/>
          </a:xfrm>
          <a:prstGeom prst="roundRect">
            <a:avLst>
              <a:gd name="adj" fmla="val 13158"/>
            </a:avLst>
          </a:prstGeom>
          <a:solidFill>
            <a:srgbClr val="FFFFFF">
              <a:alpha val="0"/>
            </a:srgbClr>
          </a:solidFill>
          <a:ln w="31750">
            <a:solidFill>
              <a:srgbClr val="E53935"/>
            </a:solidFill>
            <a:prstDash val="solid"/>
          </a:ln>
        </p:spPr>
      </p:sp>
      <p:sp>
        <p:nvSpPr>
          <p:cNvPr id="37" name="Shape 30"/>
          <p:cNvSpPr/>
          <p:nvPr/>
        </p:nvSpPr>
        <p:spPr>
          <a:xfrm>
            <a:off x="4233672" y="2610365"/>
            <a:ext cx="274320" cy="274320"/>
          </a:xfrm>
          <a:prstGeom prst="ellipse">
            <a:avLst/>
          </a:prstGeom>
          <a:solidFill>
            <a:srgbClr val="E53935"/>
          </a:solidFill>
          <a:ln w="12700">
            <a:solidFill>
              <a:srgbClr val="FFFFFF"/>
            </a:solidFill>
            <a:prstDash val="solid"/>
          </a:ln>
        </p:spPr>
      </p:sp>
      <p:sp>
        <p:nvSpPr>
          <p:cNvPr id="38" name="Text 31"/>
          <p:cNvSpPr txBox="1"/>
          <p:nvPr/>
        </p:nvSpPr>
        <p:spPr>
          <a:xfrm>
            <a:off x="4233672" y="26103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9" name="Image 5" descr="preencoded.png">    </p:cNvPr>
          <p:cNvPicPr>
            <a:picLocks noChangeAspect="1"/>
          </p:cNvPicPr>
          <p:nvPr/>
        </p:nvPicPr>
        <p:blipFill>
          <a:blip r:embed="rId6"/>
          <a:stretch>
            <a:fillRect/>
          </a:stretch>
        </p:blipFill>
        <p:spPr>
          <a:xfrm>
            <a:off x="3191256" y="2935892"/>
            <a:ext cx="237744" cy="237744"/>
          </a:xfrm>
          <a:prstGeom prst="rect">
            <a:avLst/>
          </a:prstGeom>
        </p:spPr>
      </p:pic>
      <p:sp>
        <p:nvSpPr>
          <p:cNvPr id="40" name="Shape 32"/>
          <p:cNvSpPr/>
          <p:nvPr/>
        </p:nvSpPr>
        <p:spPr>
          <a:xfrm>
            <a:off x="3721608" y="3341885"/>
            <a:ext cx="649224" cy="329184"/>
          </a:xfrm>
          <a:prstGeom prst="roundRect">
            <a:avLst>
              <a:gd name="adj" fmla="val 13889"/>
            </a:avLst>
          </a:prstGeom>
          <a:solidFill>
            <a:srgbClr val="FFFFFF">
              <a:alpha val="0"/>
            </a:srgbClr>
          </a:solidFill>
          <a:ln w="31750">
            <a:solidFill>
              <a:srgbClr val="E53935"/>
            </a:solidFill>
            <a:prstDash val="solid"/>
          </a:ln>
        </p:spPr>
      </p:sp>
      <p:sp>
        <p:nvSpPr>
          <p:cNvPr id="41" name="Shape 33"/>
          <p:cNvSpPr/>
          <p:nvPr/>
        </p:nvSpPr>
        <p:spPr>
          <a:xfrm>
            <a:off x="4233672" y="3204725"/>
            <a:ext cx="274320" cy="274320"/>
          </a:xfrm>
          <a:prstGeom prst="ellipse">
            <a:avLst/>
          </a:prstGeom>
          <a:solidFill>
            <a:srgbClr val="E53935"/>
          </a:solidFill>
          <a:ln w="12700">
            <a:solidFill>
              <a:srgbClr val="FFFFFF"/>
            </a:solidFill>
            <a:prstDash val="solid"/>
          </a:ln>
        </p:spPr>
      </p:sp>
      <p:sp>
        <p:nvSpPr>
          <p:cNvPr id="42" name="Text 34"/>
          <p:cNvSpPr txBox="1"/>
          <p:nvPr/>
        </p:nvSpPr>
        <p:spPr>
          <a:xfrm>
            <a:off x="4233672" y="32047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3" name="Image 6" descr="preencoded.png">    </p:cNvPr>
          <p:cNvPicPr>
            <a:picLocks noChangeAspect="1"/>
          </p:cNvPicPr>
          <p:nvPr/>
        </p:nvPicPr>
        <p:blipFill>
          <a:blip r:embed="rId7"/>
          <a:stretch>
            <a:fillRect/>
          </a:stretch>
        </p:blipFill>
        <p:spPr>
          <a:xfrm>
            <a:off x="4075938" y="3520193"/>
            <a:ext cx="237744" cy="237744"/>
          </a:xfrm>
          <a:prstGeom prst="rect">
            <a:avLst/>
          </a:prstGeom>
        </p:spPr>
      </p:pic>
      <p:sp>
        <p:nvSpPr>
          <p:cNvPr id="44"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email, klik Next</a:t>
            </a:r>
            <a:endParaRPr lang="en-US" sz="1800" dirty="0"/>
          </a:p>
        </p:txBody>
      </p:sp>
      <p:sp>
        <p:nvSpPr>
          <p:cNvPr id="46"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alamat email akun dari guru, lalu klik Next.</a:t>
            </a:r>
            <a:endParaRPr lang="en-US" sz="1300" dirty="0"/>
          </a:p>
        </p:txBody>
      </p:sp>
      <p:sp>
        <p:nvSpPr>
          <p:cNvPr id="47" name="Shape 3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8"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49" name="Text 3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sudah langsung masuk ke Drive, lewati langkah 2 dan 3.</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Masuk ke Google Drive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Sign in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accounts.google.com</a:t>
            </a:r>
            <a:endParaRPr lang="en-US" sz="800" dirty="0"/>
          </a:p>
        </p:txBody>
      </p:sp>
      <p:sp>
        <p:nvSpPr>
          <p:cNvPr id="28" name="Shape 21"/>
          <p:cNvSpPr/>
          <p:nvPr/>
        </p:nvSpPr>
        <p:spPr>
          <a:xfrm>
            <a:off x="587776" y="1677677"/>
            <a:ext cx="4950927" cy="2317707"/>
          </a:xfrm>
          <a:prstGeom prst="rect">
            <a:avLst/>
          </a:prstGeom>
          <a:solidFill>
            <a:srgbClr val="F0F4F9"/>
          </a:solidFill>
          <a:ln w="12700">
            <a:solidFill>
              <a:srgbClr val="F0F4F9"/>
            </a:solidFill>
            <a:prstDash val="solid"/>
          </a:ln>
        </p:spPr>
      </p:sp>
      <p:sp>
        <p:nvSpPr>
          <p:cNvPr id="29" name="Shape 22"/>
          <p:cNvSpPr/>
          <p:nvPr/>
        </p:nvSpPr>
        <p:spPr>
          <a:xfrm>
            <a:off x="1600200" y="1860557"/>
            <a:ext cx="2926080" cy="2011680"/>
          </a:xfrm>
          <a:prstGeom prst="roundRect">
            <a:avLst>
              <a:gd name="adj" fmla="val 4545"/>
            </a:avLst>
          </a:prstGeom>
          <a:solidFill>
            <a:srgbClr val="FFFFFF"/>
          </a:solidFill>
          <a:ln w="12700">
            <a:solidFill>
              <a:srgbClr val="FFFFFF"/>
            </a:solidFill>
            <a:prstDash val="solid"/>
          </a:ln>
        </p:spPr>
      </p:sp>
      <p:sp>
        <p:nvSpPr>
          <p:cNvPr id="30" name="Text 23"/>
          <p:cNvSpPr txBox="1"/>
          <p:nvPr/>
        </p:nvSpPr>
        <p:spPr>
          <a:xfrm>
            <a:off x="1783080" y="1997717"/>
            <a:ext cx="1097280" cy="274320"/>
          </a:xfrm>
          <a:prstGeom prst="rect">
            <a:avLst/>
          </a:prstGeom>
          <a:noFill/>
          <a:ln/>
        </p:spPr>
        <p:txBody>
          <a:bodyPr wrap="square" lIns="0" tIns="0" rIns="0" bIns="0" rtlCol="0" anchor="t"/>
          <a:lstStyle/>
          <a:p>
            <a:pPr indent="0" marL="0">
              <a:buNone/>
            </a:pPr>
            <a:r>
              <a:rPr lang="en-US" sz="1400" b="1" dirty="0">
                <a:solidFill>
                  <a:srgbClr val="4285F4"/>
                </a:solidFill>
                <a:latin typeface="Arial" pitchFamily="34" charset="0"/>
                <a:ea typeface="Arial" pitchFamily="34" charset="-122"/>
                <a:cs typeface="Arial" pitchFamily="34" charset="-120"/>
              </a:rPr>
              <a:t>G</a:t>
            </a:r>
            <a:pPr indent="0" marL="0">
              <a:buNone/>
            </a:pPr>
            <a:r>
              <a:rPr lang="en-US" sz="1400" b="1" dirty="0">
                <a:solidFill>
                  <a:srgbClr val="EA4335"/>
                </a:solidFill>
                <a:latin typeface="Arial" pitchFamily="34" charset="0"/>
                <a:ea typeface="Arial" pitchFamily="34" charset="-122"/>
                <a:cs typeface="Arial" pitchFamily="34" charset="-120"/>
              </a:rPr>
              <a:t>o</a:t>
            </a:r>
            <a:pPr indent="0" marL="0">
              <a:buNone/>
            </a:pPr>
            <a:r>
              <a:rPr lang="en-US" sz="1400" b="1" dirty="0">
                <a:solidFill>
                  <a:srgbClr val="FBBC05"/>
                </a:solidFill>
                <a:latin typeface="Arial" pitchFamily="34" charset="0"/>
                <a:ea typeface="Arial" pitchFamily="34" charset="-122"/>
                <a:cs typeface="Arial" pitchFamily="34" charset="-120"/>
              </a:rPr>
              <a:t>o</a:t>
            </a:r>
            <a:pPr indent="0" marL="0">
              <a:buNone/>
            </a:pPr>
            <a:r>
              <a:rPr lang="en-US" sz="1400" b="1" dirty="0">
                <a:solidFill>
                  <a:srgbClr val="4285F4"/>
                </a:solidFill>
                <a:latin typeface="Arial" pitchFamily="34" charset="0"/>
                <a:ea typeface="Arial" pitchFamily="34" charset="-122"/>
                <a:cs typeface="Arial" pitchFamily="34" charset="-120"/>
              </a:rPr>
              <a:t>g</a:t>
            </a:r>
            <a:pPr indent="0" marL="0">
              <a:buNone/>
            </a:pPr>
            <a:r>
              <a:rPr lang="en-US" sz="1400" b="1" dirty="0">
                <a:solidFill>
                  <a:srgbClr val="34A853"/>
                </a:solidFill>
                <a:latin typeface="Arial" pitchFamily="34" charset="0"/>
                <a:ea typeface="Arial" pitchFamily="34" charset="-122"/>
                <a:cs typeface="Arial" pitchFamily="34" charset="-120"/>
              </a:rPr>
              <a:t>l</a:t>
            </a:r>
            <a:pPr indent="0" marL="0">
              <a:buNone/>
            </a:pPr>
            <a:r>
              <a:rPr lang="en-US" sz="1400" b="1" dirty="0">
                <a:solidFill>
                  <a:srgbClr val="EA4335"/>
                </a:solidFill>
                <a:latin typeface="Arial" pitchFamily="34" charset="0"/>
                <a:ea typeface="Arial" pitchFamily="34" charset="-122"/>
                <a:cs typeface="Arial" pitchFamily="34" charset="-120"/>
              </a:rPr>
              <a:t>e</a:t>
            </a:r>
            <a:endParaRPr lang="en-US" sz="1400" dirty="0"/>
          </a:p>
        </p:txBody>
      </p:sp>
      <p:sp>
        <p:nvSpPr>
          <p:cNvPr id="31" name="Text 24"/>
          <p:cNvSpPr txBox="1"/>
          <p:nvPr/>
        </p:nvSpPr>
        <p:spPr>
          <a:xfrm>
            <a:off x="1783080" y="2317757"/>
            <a:ext cx="2560320" cy="27432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Welcome</a:t>
            </a:r>
            <a:endParaRPr lang="en-US" sz="1400" dirty="0"/>
          </a:p>
        </p:txBody>
      </p:sp>
      <p:sp>
        <p:nvSpPr>
          <p:cNvPr id="32" name="Shape 25"/>
          <p:cNvSpPr/>
          <p:nvPr/>
        </p:nvSpPr>
        <p:spPr>
          <a:xfrm>
            <a:off x="1783080" y="2774957"/>
            <a:ext cx="2560320" cy="292608"/>
          </a:xfrm>
          <a:prstGeom prst="roundRect">
            <a:avLst>
              <a:gd name="adj" fmla="val 12500"/>
            </a:avLst>
          </a:prstGeom>
          <a:solidFill>
            <a:srgbClr val="FFFFFF"/>
          </a:solidFill>
          <a:ln w="15240">
            <a:solidFill>
              <a:srgbClr val="0B57D0"/>
            </a:solidFill>
            <a:prstDash val="solid"/>
          </a:ln>
        </p:spPr>
      </p:sp>
      <p:sp>
        <p:nvSpPr>
          <p:cNvPr id="33" name="Text 26"/>
          <p:cNvSpPr txBox="1"/>
          <p:nvPr/>
        </p:nvSpPr>
        <p:spPr>
          <a:xfrm>
            <a:off x="1874520" y="2774957"/>
            <a:ext cx="2560320" cy="29260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a:t>
            </a:r>
            <a:endParaRPr lang="en-US" sz="900" dirty="0"/>
          </a:p>
        </p:txBody>
      </p:sp>
      <p:sp>
        <p:nvSpPr>
          <p:cNvPr id="34" name="Shape 27"/>
          <p:cNvSpPr/>
          <p:nvPr/>
        </p:nvSpPr>
        <p:spPr>
          <a:xfrm>
            <a:off x="3749040" y="3369317"/>
            <a:ext cx="594360" cy="274320"/>
          </a:xfrm>
          <a:prstGeom prst="roundRect">
            <a:avLst>
              <a:gd name="adj" fmla="val 50000"/>
            </a:avLst>
          </a:prstGeom>
          <a:solidFill>
            <a:srgbClr val="0B57D0"/>
          </a:solidFill>
          <a:ln w="12700">
            <a:solidFill>
              <a:srgbClr val="0B57D0"/>
            </a:solidFill>
            <a:prstDash val="solid"/>
          </a:ln>
        </p:spPr>
      </p:sp>
      <p:sp>
        <p:nvSpPr>
          <p:cNvPr id="35" name="Text 28"/>
          <p:cNvSpPr txBox="1"/>
          <p:nvPr/>
        </p:nvSpPr>
        <p:spPr>
          <a:xfrm>
            <a:off x="3749040" y="3369317"/>
            <a:ext cx="594360" cy="2743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Next</a:t>
            </a:r>
            <a:endParaRPr lang="en-US" sz="850" dirty="0"/>
          </a:p>
        </p:txBody>
      </p:sp>
      <p:sp>
        <p:nvSpPr>
          <p:cNvPr id="36" name="Shape 29"/>
          <p:cNvSpPr/>
          <p:nvPr/>
        </p:nvSpPr>
        <p:spPr>
          <a:xfrm>
            <a:off x="1755648" y="2747525"/>
            <a:ext cx="2615184" cy="347472"/>
          </a:xfrm>
          <a:prstGeom prst="roundRect">
            <a:avLst>
              <a:gd name="adj" fmla="val 13158"/>
            </a:avLst>
          </a:prstGeom>
          <a:solidFill>
            <a:srgbClr val="FFFFFF">
              <a:alpha val="0"/>
            </a:srgbClr>
          </a:solidFill>
          <a:ln w="31750">
            <a:solidFill>
              <a:srgbClr val="E53935"/>
            </a:solidFill>
            <a:prstDash val="solid"/>
          </a:ln>
        </p:spPr>
      </p:sp>
      <p:sp>
        <p:nvSpPr>
          <p:cNvPr id="37" name="Shape 30"/>
          <p:cNvSpPr/>
          <p:nvPr/>
        </p:nvSpPr>
        <p:spPr>
          <a:xfrm>
            <a:off x="4233672" y="2610365"/>
            <a:ext cx="274320" cy="274320"/>
          </a:xfrm>
          <a:prstGeom prst="ellipse">
            <a:avLst/>
          </a:prstGeom>
          <a:solidFill>
            <a:srgbClr val="E53935"/>
          </a:solidFill>
          <a:ln w="12700">
            <a:solidFill>
              <a:srgbClr val="FFFFFF"/>
            </a:solidFill>
            <a:prstDash val="solid"/>
          </a:ln>
        </p:spPr>
      </p:sp>
      <p:sp>
        <p:nvSpPr>
          <p:cNvPr id="38" name="Text 31"/>
          <p:cNvSpPr txBox="1"/>
          <p:nvPr/>
        </p:nvSpPr>
        <p:spPr>
          <a:xfrm>
            <a:off x="4233672" y="26103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9" name="Image 5" descr="preencoded.png">    </p:cNvPr>
          <p:cNvPicPr>
            <a:picLocks noChangeAspect="1"/>
          </p:cNvPicPr>
          <p:nvPr/>
        </p:nvPicPr>
        <p:blipFill>
          <a:blip r:embed="rId6"/>
          <a:stretch>
            <a:fillRect/>
          </a:stretch>
        </p:blipFill>
        <p:spPr>
          <a:xfrm>
            <a:off x="3191256" y="2935892"/>
            <a:ext cx="237744" cy="237744"/>
          </a:xfrm>
          <a:prstGeom prst="rect">
            <a:avLst/>
          </a:prstGeom>
        </p:spPr>
      </p:pic>
      <p:sp>
        <p:nvSpPr>
          <p:cNvPr id="40" name="Shape 32"/>
          <p:cNvSpPr/>
          <p:nvPr/>
        </p:nvSpPr>
        <p:spPr>
          <a:xfrm>
            <a:off x="3721608" y="3341885"/>
            <a:ext cx="649224" cy="329184"/>
          </a:xfrm>
          <a:prstGeom prst="roundRect">
            <a:avLst>
              <a:gd name="adj" fmla="val 13889"/>
            </a:avLst>
          </a:prstGeom>
          <a:solidFill>
            <a:srgbClr val="FFFFFF">
              <a:alpha val="0"/>
            </a:srgbClr>
          </a:solidFill>
          <a:ln w="31750">
            <a:solidFill>
              <a:srgbClr val="E53935"/>
            </a:solidFill>
            <a:prstDash val="solid"/>
          </a:ln>
        </p:spPr>
      </p:sp>
      <p:sp>
        <p:nvSpPr>
          <p:cNvPr id="41" name="Shape 33"/>
          <p:cNvSpPr/>
          <p:nvPr/>
        </p:nvSpPr>
        <p:spPr>
          <a:xfrm>
            <a:off x="4233672" y="3204725"/>
            <a:ext cx="274320" cy="274320"/>
          </a:xfrm>
          <a:prstGeom prst="ellipse">
            <a:avLst/>
          </a:prstGeom>
          <a:solidFill>
            <a:srgbClr val="E53935"/>
          </a:solidFill>
          <a:ln w="12700">
            <a:solidFill>
              <a:srgbClr val="FFFFFF"/>
            </a:solidFill>
            <a:prstDash val="solid"/>
          </a:ln>
        </p:spPr>
      </p:sp>
      <p:sp>
        <p:nvSpPr>
          <p:cNvPr id="42" name="Text 34"/>
          <p:cNvSpPr txBox="1"/>
          <p:nvPr/>
        </p:nvSpPr>
        <p:spPr>
          <a:xfrm>
            <a:off x="4233672" y="32047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3" name="Image 6" descr="preencoded.png">    </p:cNvPr>
          <p:cNvPicPr>
            <a:picLocks noChangeAspect="1"/>
          </p:cNvPicPr>
          <p:nvPr/>
        </p:nvPicPr>
        <p:blipFill>
          <a:blip r:embed="rId7"/>
          <a:stretch>
            <a:fillRect/>
          </a:stretch>
        </p:blipFill>
        <p:spPr>
          <a:xfrm>
            <a:off x="4075938" y="3520193"/>
            <a:ext cx="237744" cy="237744"/>
          </a:xfrm>
          <a:prstGeom prst="rect">
            <a:avLst/>
          </a:prstGeom>
        </p:spPr>
      </p:pic>
      <p:sp>
        <p:nvSpPr>
          <p:cNvPr id="44"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kata sandi, klik Next</a:t>
            </a:r>
            <a:endParaRPr lang="en-US" sz="1800" dirty="0"/>
          </a:p>
        </p:txBody>
      </p:sp>
      <p:sp>
        <p:nvSpPr>
          <p:cNvPr id="46"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kata sandi dengan teliti, lalu klik Next. Kata sandi akan tampil sebagai titik-titik.</a:t>
            </a:r>
            <a:endParaRPr lang="en-US" sz="1300" dirty="0"/>
          </a:p>
        </p:txBody>
      </p:sp>
      <p:sp>
        <p:nvSpPr>
          <p:cNvPr id="47" name="Shape 3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8"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49" name="Text 3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Huruf besar dan kecil dibedakan. Perhatikan tombol Caps Lock.</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Contoh_File_Guru.pdf</a:t>
            </a:r>
            <a:endParaRPr lang="en-US" sz="800" dirty="0"/>
          </a:p>
        </p:txBody>
      </p:sp>
      <p:sp>
        <p:nvSpPr>
          <p:cNvPr id="45" name="Shape 36"/>
          <p:cNvSpPr/>
          <p:nvPr/>
        </p:nvSpPr>
        <p:spPr>
          <a:xfrm>
            <a:off x="660928" y="2025149"/>
            <a:ext cx="758952" cy="365760"/>
          </a:xfrm>
          <a:prstGeom prst="roundRect">
            <a:avLst>
              <a:gd name="adj" fmla="val 12500"/>
            </a:avLst>
          </a:prstGeom>
          <a:solidFill>
            <a:srgbClr val="FFFFFF">
              <a:alpha val="0"/>
            </a:srgbClr>
          </a:solidFill>
          <a:ln w="31750">
            <a:solidFill>
              <a:srgbClr val="E53935"/>
            </a:solidFill>
            <a:prstDash val="solid"/>
          </a:ln>
        </p:spPr>
      </p:sp>
      <p:sp>
        <p:nvSpPr>
          <p:cNvPr id="46" name="Shape 37"/>
          <p:cNvSpPr/>
          <p:nvPr/>
        </p:nvSpPr>
        <p:spPr>
          <a:xfrm>
            <a:off x="1282720" y="1887989"/>
            <a:ext cx="274320" cy="274320"/>
          </a:xfrm>
          <a:prstGeom prst="ellipse">
            <a:avLst/>
          </a:prstGeom>
          <a:solidFill>
            <a:srgbClr val="E53935"/>
          </a:solidFill>
          <a:ln w="12700">
            <a:solidFill>
              <a:srgbClr val="FFFFFF"/>
            </a:solidFill>
            <a:prstDash val="solid"/>
          </a:ln>
        </p:spPr>
      </p:sp>
      <p:sp>
        <p:nvSpPr>
          <p:cNvPr id="47" name="Text 38"/>
          <p:cNvSpPr txBox="1"/>
          <p:nvPr/>
        </p:nvSpPr>
        <p:spPr>
          <a:xfrm>
            <a:off x="1282720"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8" name="Image 7" descr="preencoded.png">    </p:cNvPr>
          <p:cNvPicPr>
            <a:picLocks noChangeAspect="1"/>
          </p:cNvPicPr>
          <p:nvPr/>
        </p:nvPicPr>
        <p:blipFill>
          <a:blip r:embed="rId8"/>
          <a:stretch>
            <a:fillRect/>
          </a:stretch>
        </p:blipFill>
        <p:spPr>
          <a:xfrm>
            <a:off x="1074694" y="2222660"/>
            <a:ext cx="237744" cy="237744"/>
          </a:xfrm>
          <a:prstGeom prst="rect">
            <a:avLst/>
          </a:prstGeom>
        </p:spPr>
      </p:pic>
      <p:sp>
        <p:nvSpPr>
          <p:cNvPr id="49"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0"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tombol + New</a:t>
            </a:r>
            <a:endParaRPr lang="en-US" sz="1800" dirty="0"/>
          </a:p>
        </p:txBody>
      </p:sp>
      <p:sp>
        <p:nvSpPr>
          <p:cNvPr id="51"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pojok kiri atas halaman Drive, klik tombol + New.</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Contoh_File_Guru.pdf</a:t>
            </a:r>
            <a:endParaRPr lang="en-US" sz="800" dirty="0"/>
          </a:p>
        </p:txBody>
      </p:sp>
      <p:sp>
        <p:nvSpPr>
          <p:cNvPr id="45" name="Shape 36"/>
          <p:cNvSpPr/>
          <p:nvPr/>
        </p:nvSpPr>
        <p:spPr>
          <a:xfrm>
            <a:off x="697504" y="2390909"/>
            <a:ext cx="1234440" cy="1463040"/>
          </a:xfrm>
          <a:prstGeom prst="rect">
            <a:avLst/>
          </a:prstGeom>
          <a:solidFill>
            <a:srgbClr val="FFFFFF"/>
          </a:solidFill>
          <a:ln w="9525">
            <a:solidFill>
              <a:srgbClr val="AAAAAA"/>
            </a:solidFill>
            <a:prstDash val="solid"/>
          </a:ln>
        </p:spPr>
      </p:sp>
      <p:sp>
        <p:nvSpPr>
          <p:cNvPr id="46" name="Text 37"/>
          <p:cNvSpPr txBox="1"/>
          <p:nvPr/>
        </p:nvSpPr>
        <p:spPr>
          <a:xfrm>
            <a:off x="807232" y="241834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folder</a:t>
            </a:r>
            <a:endParaRPr lang="en-US" sz="800" dirty="0"/>
          </a:p>
        </p:txBody>
      </p:sp>
      <p:sp>
        <p:nvSpPr>
          <p:cNvPr id="47" name="Shape 38"/>
          <p:cNvSpPr/>
          <p:nvPr/>
        </p:nvSpPr>
        <p:spPr>
          <a:xfrm>
            <a:off x="734080" y="2710949"/>
            <a:ext cx="1161288" cy="0"/>
          </a:xfrm>
          <a:prstGeom prst="line">
            <a:avLst/>
          </a:prstGeom>
          <a:noFill/>
          <a:ln w="6350">
            <a:solidFill>
              <a:srgbClr val="DDDDDD"/>
            </a:solidFill>
            <a:prstDash val="solid"/>
          </a:ln>
        </p:spPr>
      </p:sp>
      <p:sp>
        <p:nvSpPr>
          <p:cNvPr id="48" name="Text 39"/>
          <p:cNvSpPr txBox="1"/>
          <p:nvPr/>
        </p:nvSpPr>
        <p:spPr>
          <a:xfrm>
            <a:off x="807232" y="282067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upload</a:t>
            </a:r>
            <a:endParaRPr lang="en-US" sz="800" dirty="0"/>
          </a:p>
        </p:txBody>
      </p:sp>
      <p:sp>
        <p:nvSpPr>
          <p:cNvPr id="49" name="Text 40"/>
          <p:cNvSpPr txBox="1"/>
          <p:nvPr/>
        </p:nvSpPr>
        <p:spPr>
          <a:xfrm>
            <a:off x="807232" y="302184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Folder upload</a:t>
            </a:r>
            <a:endParaRPr lang="en-US" sz="800" dirty="0"/>
          </a:p>
        </p:txBody>
      </p:sp>
      <p:sp>
        <p:nvSpPr>
          <p:cNvPr id="50" name="Shape 41"/>
          <p:cNvSpPr/>
          <p:nvPr/>
        </p:nvSpPr>
        <p:spPr>
          <a:xfrm>
            <a:off x="734080" y="3314453"/>
            <a:ext cx="1161288" cy="0"/>
          </a:xfrm>
          <a:prstGeom prst="line">
            <a:avLst/>
          </a:prstGeom>
          <a:noFill/>
          <a:ln w="6350">
            <a:solidFill>
              <a:srgbClr val="DDDDDD"/>
            </a:solidFill>
            <a:prstDash val="solid"/>
          </a:ln>
        </p:spPr>
      </p:sp>
      <p:sp>
        <p:nvSpPr>
          <p:cNvPr id="51" name="Text 42"/>
          <p:cNvSpPr txBox="1"/>
          <p:nvPr/>
        </p:nvSpPr>
        <p:spPr>
          <a:xfrm>
            <a:off x="807232" y="342418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Docs</a:t>
            </a:r>
            <a:endParaRPr lang="en-US" sz="800" dirty="0"/>
          </a:p>
        </p:txBody>
      </p:sp>
      <p:sp>
        <p:nvSpPr>
          <p:cNvPr id="52" name="Text 43"/>
          <p:cNvSpPr txBox="1"/>
          <p:nvPr/>
        </p:nvSpPr>
        <p:spPr>
          <a:xfrm>
            <a:off x="807232" y="362534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Sheets</a:t>
            </a:r>
            <a:endParaRPr lang="en-US" sz="800" dirty="0"/>
          </a:p>
        </p:txBody>
      </p:sp>
      <p:sp>
        <p:nvSpPr>
          <p:cNvPr id="53" name="Shape 44"/>
          <p:cNvSpPr/>
          <p:nvPr/>
        </p:nvSpPr>
        <p:spPr>
          <a:xfrm>
            <a:off x="715792" y="2400053"/>
            <a:ext cx="1197864" cy="228600"/>
          </a:xfrm>
          <a:prstGeom prst="roundRect">
            <a:avLst>
              <a:gd name="adj" fmla="val 20000"/>
            </a:avLst>
          </a:prstGeom>
          <a:solidFill>
            <a:srgbClr val="FFFFFF">
              <a:alpha val="0"/>
            </a:srgbClr>
          </a:solidFill>
          <a:ln w="31750">
            <a:solidFill>
              <a:srgbClr val="E53935"/>
            </a:solidFill>
            <a:prstDash val="solid"/>
          </a:ln>
        </p:spPr>
      </p:sp>
      <p:sp>
        <p:nvSpPr>
          <p:cNvPr id="54" name="Shape 45"/>
          <p:cNvSpPr/>
          <p:nvPr/>
        </p:nvSpPr>
        <p:spPr>
          <a:xfrm>
            <a:off x="1776496" y="2262893"/>
            <a:ext cx="274320" cy="274320"/>
          </a:xfrm>
          <a:prstGeom prst="ellipse">
            <a:avLst/>
          </a:prstGeom>
          <a:solidFill>
            <a:srgbClr val="E53935"/>
          </a:solidFill>
          <a:ln w="12700">
            <a:solidFill>
              <a:srgbClr val="FFFFFF"/>
            </a:solidFill>
            <a:prstDash val="solid"/>
          </a:ln>
        </p:spPr>
      </p:sp>
      <p:sp>
        <p:nvSpPr>
          <p:cNvPr id="55" name="Text 46"/>
          <p:cNvSpPr txBox="1"/>
          <p:nvPr/>
        </p:nvSpPr>
        <p:spPr>
          <a:xfrm>
            <a:off x="1776496" y="22628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6" name="Image 7" descr="preencoded.png">    </p:cNvPr>
          <p:cNvPicPr>
            <a:picLocks noChangeAspect="1"/>
          </p:cNvPicPr>
          <p:nvPr/>
        </p:nvPicPr>
        <p:blipFill>
          <a:blip r:embed="rId8"/>
          <a:stretch>
            <a:fillRect/>
          </a:stretch>
        </p:blipFill>
        <p:spPr>
          <a:xfrm>
            <a:off x="1372789" y="2523954"/>
            <a:ext cx="237744" cy="237744"/>
          </a:xfrm>
          <a:prstGeom prst="rect">
            <a:avLst/>
          </a:prstGeom>
        </p:spPr>
      </p:pic>
      <p:sp>
        <p:nvSpPr>
          <p:cNvPr id="57"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8"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New folder</a:t>
            </a:r>
            <a:endParaRPr lang="en-US" sz="1800" dirty="0"/>
          </a:p>
        </p:txBody>
      </p:sp>
      <p:sp>
        <p:nvSpPr>
          <p:cNvPr id="59"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Dari menu yang muncul, klik New folder.</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Contoh_File_Guru.pdf</a:t>
            </a:r>
            <a:endParaRPr lang="en-US" sz="800" dirty="0"/>
          </a:p>
        </p:txBody>
      </p:sp>
      <p:sp>
        <p:nvSpPr>
          <p:cNvPr id="45" name="Shape 36"/>
          <p:cNvSpPr/>
          <p:nvPr/>
        </p:nvSpPr>
        <p:spPr>
          <a:xfrm>
            <a:off x="1783080" y="1926703"/>
            <a:ext cx="2560320" cy="1143000"/>
          </a:xfrm>
          <a:prstGeom prst="roundRect">
            <a:avLst>
              <a:gd name="adj" fmla="val 6400"/>
            </a:avLst>
          </a:prstGeom>
          <a:solidFill>
            <a:srgbClr val="FFFFFF"/>
          </a:solidFill>
          <a:ln w="9525">
            <a:solidFill>
              <a:srgbClr val="BBBBBB"/>
            </a:solidFill>
            <a:prstDash val="solid"/>
          </a:ln>
        </p:spPr>
      </p:sp>
      <p:sp>
        <p:nvSpPr>
          <p:cNvPr id="46" name="Text 37"/>
          <p:cNvSpPr txBox="1"/>
          <p:nvPr/>
        </p:nvSpPr>
        <p:spPr>
          <a:xfrm>
            <a:off x="1965960" y="2036431"/>
            <a:ext cx="2194560" cy="256032"/>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New folder</a:t>
            </a:r>
            <a:endParaRPr lang="en-US" sz="1100" dirty="0"/>
          </a:p>
        </p:txBody>
      </p:sp>
      <p:sp>
        <p:nvSpPr>
          <p:cNvPr id="47" name="Shape 38"/>
          <p:cNvSpPr/>
          <p:nvPr/>
        </p:nvSpPr>
        <p:spPr>
          <a:xfrm>
            <a:off x="1965960" y="2365615"/>
            <a:ext cx="2194560" cy="256032"/>
          </a:xfrm>
          <a:prstGeom prst="roundRect">
            <a:avLst>
              <a:gd name="adj" fmla="val 10714"/>
            </a:avLst>
          </a:prstGeom>
          <a:solidFill>
            <a:srgbClr val="FFFFFF"/>
          </a:solidFill>
          <a:ln w="15240">
            <a:solidFill>
              <a:srgbClr val="0B57D0"/>
            </a:solidFill>
            <a:prstDash val="solid"/>
          </a:ln>
        </p:spPr>
      </p:sp>
      <p:sp>
        <p:nvSpPr>
          <p:cNvPr id="48" name="Text 39"/>
          <p:cNvSpPr txBox="1"/>
          <p:nvPr/>
        </p:nvSpPr>
        <p:spPr>
          <a:xfrm>
            <a:off x="2039112" y="2365615"/>
            <a:ext cx="2194560" cy="256032"/>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Ahmad_Kelas1</a:t>
            </a:r>
            <a:endParaRPr lang="en-US" sz="900" dirty="0"/>
          </a:p>
        </p:txBody>
      </p:sp>
      <p:sp>
        <p:nvSpPr>
          <p:cNvPr id="49" name="Text 40"/>
          <p:cNvSpPr txBox="1"/>
          <p:nvPr/>
        </p:nvSpPr>
        <p:spPr>
          <a:xfrm>
            <a:off x="3611880" y="2749663"/>
            <a:ext cx="548640" cy="219456"/>
          </a:xfrm>
          <a:prstGeom prst="rect">
            <a:avLst/>
          </a:prstGeom>
          <a:noFill/>
          <a:ln/>
        </p:spPr>
        <p:txBody>
          <a:bodyPr wrap="square" lIns="0" tIns="0" rIns="0" bIns="0" rtlCol="0" anchor="ctr"/>
          <a:lstStyle/>
          <a:p>
            <a:pPr algn="ctr" indent="0" marL="0">
              <a:buNone/>
            </a:pPr>
            <a:r>
              <a:rPr lang="en-US" sz="900" b="1" dirty="0">
                <a:solidFill>
                  <a:srgbClr val="0B57D0"/>
                </a:solidFill>
                <a:latin typeface="Calibri" pitchFamily="34" charset="0"/>
                <a:ea typeface="Calibri" pitchFamily="34" charset="-122"/>
                <a:cs typeface="Calibri" pitchFamily="34" charset="-120"/>
              </a:rPr>
              <a:t>Create</a:t>
            </a:r>
            <a:endParaRPr lang="en-US" sz="900" dirty="0"/>
          </a:p>
        </p:txBody>
      </p:sp>
      <p:sp>
        <p:nvSpPr>
          <p:cNvPr id="50" name="Text 41"/>
          <p:cNvSpPr txBox="1"/>
          <p:nvPr/>
        </p:nvSpPr>
        <p:spPr>
          <a:xfrm>
            <a:off x="3017520" y="2749663"/>
            <a:ext cx="548640" cy="219456"/>
          </a:xfrm>
          <a:prstGeom prst="rect">
            <a:avLst/>
          </a:prstGeom>
          <a:noFill/>
          <a:ln/>
        </p:spPr>
        <p:txBody>
          <a:bodyPr wrap="square" lIns="0" tIns="0" rIns="0" bIns="0" rtlCol="0" anchor="ctr"/>
          <a:lstStyle/>
          <a:p>
            <a:pPr algn="ctr" indent="0" marL="0">
              <a:buNone/>
            </a:pPr>
            <a:r>
              <a:rPr lang="en-US" sz="900" dirty="0">
                <a:solidFill>
                  <a:srgbClr val="0B57D0"/>
                </a:solidFill>
                <a:latin typeface="Calibri" pitchFamily="34" charset="0"/>
                <a:ea typeface="Calibri" pitchFamily="34" charset="-122"/>
                <a:cs typeface="Calibri" pitchFamily="34" charset="-120"/>
              </a:rPr>
              <a:t>Cancel</a:t>
            </a:r>
            <a:endParaRPr lang="en-US" sz="900" dirty="0"/>
          </a:p>
        </p:txBody>
      </p:sp>
      <p:sp>
        <p:nvSpPr>
          <p:cNvPr id="51" name="Shape 42"/>
          <p:cNvSpPr/>
          <p:nvPr/>
        </p:nvSpPr>
        <p:spPr>
          <a:xfrm>
            <a:off x="1938528" y="2338183"/>
            <a:ext cx="2249424" cy="310896"/>
          </a:xfrm>
          <a:prstGeom prst="roundRect">
            <a:avLst>
              <a:gd name="adj" fmla="val 14706"/>
            </a:avLst>
          </a:prstGeom>
          <a:solidFill>
            <a:srgbClr val="FFFFFF">
              <a:alpha val="0"/>
            </a:srgbClr>
          </a:solidFill>
          <a:ln w="31750">
            <a:solidFill>
              <a:srgbClr val="E53935"/>
            </a:solidFill>
            <a:prstDash val="solid"/>
          </a:ln>
        </p:spPr>
      </p:sp>
      <p:sp>
        <p:nvSpPr>
          <p:cNvPr id="52" name="Shape 43"/>
          <p:cNvSpPr/>
          <p:nvPr/>
        </p:nvSpPr>
        <p:spPr>
          <a:xfrm>
            <a:off x="4050792" y="2201023"/>
            <a:ext cx="274320" cy="274320"/>
          </a:xfrm>
          <a:prstGeom prst="ellipse">
            <a:avLst/>
          </a:prstGeom>
          <a:solidFill>
            <a:srgbClr val="E53935"/>
          </a:solidFill>
          <a:ln w="12700">
            <a:solidFill>
              <a:srgbClr val="FFFFFF"/>
            </a:solidFill>
            <a:prstDash val="solid"/>
          </a:ln>
        </p:spPr>
      </p:sp>
      <p:sp>
        <p:nvSpPr>
          <p:cNvPr id="53" name="Text 44"/>
          <p:cNvSpPr txBox="1"/>
          <p:nvPr/>
        </p:nvSpPr>
        <p:spPr>
          <a:xfrm>
            <a:off x="4050792" y="220102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4" name="Image 7" descr="preencoded.png">    </p:cNvPr>
          <p:cNvPicPr>
            <a:picLocks noChangeAspect="1"/>
          </p:cNvPicPr>
          <p:nvPr/>
        </p:nvPicPr>
        <p:blipFill>
          <a:blip r:embed="rId8"/>
          <a:stretch>
            <a:fillRect/>
          </a:stretch>
        </p:blipFill>
        <p:spPr>
          <a:xfrm>
            <a:off x="3172968" y="2506432"/>
            <a:ext cx="237744" cy="237744"/>
          </a:xfrm>
          <a:prstGeom prst="rect">
            <a:avLst/>
          </a:prstGeom>
        </p:spPr>
      </p:pic>
      <p:sp>
        <p:nvSpPr>
          <p:cNvPr id="55" name="Shape 45"/>
          <p:cNvSpPr/>
          <p:nvPr/>
        </p:nvSpPr>
        <p:spPr>
          <a:xfrm>
            <a:off x="3584448" y="2722231"/>
            <a:ext cx="603504" cy="274320"/>
          </a:xfrm>
          <a:prstGeom prst="roundRect">
            <a:avLst>
              <a:gd name="adj" fmla="val 16667"/>
            </a:avLst>
          </a:prstGeom>
          <a:solidFill>
            <a:srgbClr val="FFFFFF">
              <a:alpha val="0"/>
            </a:srgbClr>
          </a:solidFill>
          <a:ln w="31750">
            <a:solidFill>
              <a:srgbClr val="E53935"/>
            </a:solidFill>
            <a:prstDash val="solid"/>
          </a:ln>
        </p:spPr>
      </p:sp>
      <p:sp>
        <p:nvSpPr>
          <p:cNvPr id="56" name="Shape 46"/>
          <p:cNvSpPr/>
          <p:nvPr/>
        </p:nvSpPr>
        <p:spPr>
          <a:xfrm>
            <a:off x="4050792" y="2585071"/>
            <a:ext cx="274320" cy="274320"/>
          </a:xfrm>
          <a:prstGeom prst="ellipse">
            <a:avLst/>
          </a:prstGeom>
          <a:solidFill>
            <a:srgbClr val="E53935"/>
          </a:solidFill>
          <a:ln w="12700">
            <a:solidFill>
              <a:srgbClr val="FFFFFF"/>
            </a:solidFill>
            <a:prstDash val="solid"/>
          </a:ln>
        </p:spPr>
      </p:sp>
      <p:sp>
        <p:nvSpPr>
          <p:cNvPr id="57" name="Text 47"/>
          <p:cNvSpPr txBox="1"/>
          <p:nvPr/>
        </p:nvSpPr>
        <p:spPr>
          <a:xfrm>
            <a:off x="4050792" y="258507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8" name="Image 8" descr="preencoded.png">    </p:cNvPr>
          <p:cNvPicPr>
            <a:picLocks noChangeAspect="1"/>
          </p:cNvPicPr>
          <p:nvPr/>
        </p:nvPicPr>
        <p:blipFill>
          <a:blip r:embed="rId9"/>
          <a:stretch>
            <a:fillRect/>
          </a:stretch>
        </p:blipFill>
        <p:spPr>
          <a:xfrm>
            <a:off x="3913632" y="2870363"/>
            <a:ext cx="237744" cy="237744"/>
          </a:xfrm>
          <a:prstGeom prst="rect">
            <a:avLst/>
          </a:prstGeom>
        </p:spPr>
      </p:pic>
      <p:sp>
        <p:nvSpPr>
          <p:cNvPr id="59"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0"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NamaKamu_Kelas1, klik Create</a:t>
            </a:r>
            <a:endParaRPr lang="en-US" sz="1800" dirty="0"/>
          </a:p>
        </p:txBody>
      </p:sp>
      <p:sp>
        <p:nvSpPr>
          <p:cNvPr id="61"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Hapus tulisan Untitled folder, ketik namamu, lalu klik Create.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Upload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  ›  Ahmad_Kelas1</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sp>
        <p:nvSpPr>
          <p:cNvPr id="43" name="Shape 35"/>
          <p:cNvSpPr/>
          <p:nvPr/>
        </p:nvSpPr>
        <p:spPr>
          <a:xfrm>
            <a:off x="697504" y="2390909"/>
            <a:ext cx="1234440" cy="1463040"/>
          </a:xfrm>
          <a:prstGeom prst="rect">
            <a:avLst/>
          </a:prstGeom>
          <a:solidFill>
            <a:srgbClr val="FFFFFF"/>
          </a:solidFill>
          <a:ln w="9525">
            <a:solidFill>
              <a:srgbClr val="AAAAAA"/>
            </a:solidFill>
            <a:prstDash val="solid"/>
          </a:ln>
        </p:spPr>
      </p:sp>
      <p:sp>
        <p:nvSpPr>
          <p:cNvPr id="44" name="Text 36"/>
          <p:cNvSpPr txBox="1"/>
          <p:nvPr/>
        </p:nvSpPr>
        <p:spPr>
          <a:xfrm>
            <a:off x="807232" y="241834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folder</a:t>
            </a:r>
            <a:endParaRPr lang="en-US" sz="800" dirty="0"/>
          </a:p>
        </p:txBody>
      </p:sp>
      <p:sp>
        <p:nvSpPr>
          <p:cNvPr id="45" name="Shape 37"/>
          <p:cNvSpPr/>
          <p:nvPr/>
        </p:nvSpPr>
        <p:spPr>
          <a:xfrm>
            <a:off x="734080" y="2710949"/>
            <a:ext cx="1161288" cy="0"/>
          </a:xfrm>
          <a:prstGeom prst="line">
            <a:avLst/>
          </a:prstGeom>
          <a:noFill/>
          <a:ln w="6350">
            <a:solidFill>
              <a:srgbClr val="DDDDDD"/>
            </a:solidFill>
            <a:prstDash val="solid"/>
          </a:ln>
        </p:spPr>
      </p:sp>
      <p:sp>
        <p:nvSpPr>
          <p:cNvPr id="46" name="Text 38"/>
          <p:cNvSpPr txBox="1"/>
          <p:nvPr/>
        </p:nvSpPr>
        <p:spPr>
          <a:xfrm>
            <a:off x="807232" y="282067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upload</a:t>
            </a:r>
            <a:endParaRPr lang="en-US" sz="800" dirty="0"/>
          </a:p>
        </p:txBody>
      </p:sp>
      <p:sp>
        <p:nvSpPr>
          <p:cNvPr id="47" name="Text 39"/>
          <p:cNvSpPr txBox="1"/>
          <p:nvPr/>
        </p:nvSpPr>
        <p:spPr>
          <a:xfrm>
            <a:off x="807232" y="302184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Folder upload</a:t>
            </a:r>
            <a:endParaRPr lang="en-US" sz="800" dirty="0"/>
          </a:p>
        </p:txBody>
      </p:sp>
      <p:sp>
        <p:nvSpPr>
          <p:cNvPr id="48" name="Shape 40"/>
          <p:cNvSpPr/>
          <p:nvPr/>
        </p:nvSpPr>
        <p:spPr>
          <a:xfrm>
            <a:off x="734080" y="3314453"/>
            <a:ext cx="1161288" cy="0"/>
          </a:xfrm>
          <a:prstGeom prst="line">
            <a:avLst/>
          </a:prstGeom>
          <a:noFill/>
          <a:ln w="6350">
            <a:solidFill>
              <a:srgbClr val="DDDDDD"/>
            </a:solidFill>
            <a:prstDash val="solid"/>
          </a:ln>
        </p:spPr>
      </p:sp>
      <p:sp>
        <p:nvSpPr>
          <p:cNvPr id="49" name="Text 41"/>
          <p:cNvSpPr txBox="1"/>
          <p:nvPr/>
        </p:nvSpPr>
        <p:spPr>
          <a:xfrm>
            <a:off x="807232" y="342418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Docs</a:t>
            </a:r>
            <a:endParaRPr lang="en-US" sz="800" dirty="0"/>
          </a:p>
        </p:txBody>
      </p:sp>
      <p:sp>
        <p:nvSpPr>
          <p:cNvPr id="50" name="Text 42"/>
          <p:cNvSpPr txBox="1"/>
          <p:nvPr/>
        </p:nvSpPr>
        <p:spPr>
          <a:xfrm>
            <a:off x="807232" y="362534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Sheets</a:t>
            </a:r>
            <a:endParaRPr lang="en-US" sz="800" dirty="0"/>
          </a:p>
        </p:txBody>
      </p:sp>
      <p:sp>
        <p:nvSpPr>
          <p:cNvPr id="51" name="Shape 43"/>
          <p:cNvSpPr/>
          <p:nvPr/>
        </p:nvSpPr>
        <p:spPr>
          <a:xfrm>
            <a:off x="715792" y="2802389"/>
            <a:ext cx="1197864" cy="228600"/>
          </a:xfrm>
          <a:prstGeom prst="roundRect">
            <a:avLst>
              <a:gd name="adj" fmla="val 20000"/>
            </a:avLst>
          </a:prstGeom>
          <a:solidFill>
            <a:srgbClr val="FFFFFF">
              <a:alpha val="0"/>
            </a:srgbClr>
          </a:solidFill>
          <a:ln w="31750">
            <a:solidFill>
              <a:srgbClr val="E53935"/>
            </a:solidFill>
            <a:prstDash val="solid"/>
          </a:ln>
        </p:spPr>
      </p:sp>
      <p:sp>
        <p:nvSpPr>
          <p:cNvPr id="52" name="Shape 44"/>
          <p:cNvSpPr/>
          <p:nvPr/>
        </p:nvSpPr>
        <p:spPr>
          <a:xfrm>
            <a:off x="1776496" y="2665229"/>
            <a:ext cx="274320" cy="274320"/>
          </a:xfrm>
          <a:prstGeom prst="ellipse">
            <a:avLst/>
          </a:prstGeom>
          <a:solidFill>
            <a:srgbClr val="E53935"/>
          </a:solidFill>
          <a:ln w="12700">
            <a:solidFill>
              <a:srgbClr val="FFFFFF"/>
            </a:solidFill>
            <a:prstDash val="solid"/>
          </a:ln>
        </p:spPr>
      </p:sp>
      <p:sp>
        <p:nvSpPr>
          <p:cNvPr id="53" name="Text 45"/>
          <p:cNvSpPr txBox="1"/>
          <p:nvPr/>
        </p:nvSpPr>
        <p:spPr>
          <a:xfrm>
            <a:off x="1776496" y="26652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54" name="Image 6" descr="preencoded.png">    </p:cNvPr>
          <p:cNvPicPr>
            <a:picLocks noChangeAspect="1"/>
          </p:cNvPicPr>
          <p:nvPr/>
        </p:nvPicPr>
        <p:blipFill>
          <a:blip r:embed="rId7"/>
          <a:stretch>
            <a:fillRect/>
          </a:stretch>
        </p:blipFill>
        <p:spPr>
          <a:xfrm>
            <a:off x="1372789" y="2926290"/>
            <a:ext cx="237744" cy="237744"/>
          </a:xfrm>
          <a:prstGeom prst="rect">
            <a:avLst/>
          </a:prstGeom>
        </p:spPr>
      </p:pic>
      <p:sp>
        <p:nvSpPr>
          <p:cNvPr id="55"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56"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folder, lalu klik + New › File upload</a:t>
            </a:r>
            <a:endParaRPr lang="en-US" sz="1800" dirty="0"/>
          </a:p>
        </p:txBody>
      </p:sp>
      <p:sp>
        <p:nvSpPr>
          <p:cNvPr id="57"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ganda folder milikmu. Di dalamnya, klik + New, lalu pilih File upload.</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Upload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1000354" y="1272685"/>
            <a:ext cx="4125773" cy="2426754"/>
          </a:xfrm>
          <a:prstGeom prst="rect">
            <a:avLst/>
          </a:prstGeom>
          <a:solidFill>
            <a:srgbClr val="FFFFFF"/>
          </a:solidFill>
          <a:ln w="9525">
            <a:solidFill>
              <a:srgbClr val="999999"/>
            </a:solidFill>
            <a:prstDash val="solid"/>
          </a:ln>
        </p:spPr>
      </p:sp>
      <p:sp>
        <p:nvSpPr>
          <p:cNvPr id="17" name="Shape 13"/>
          <p:cNvSpPr/>
          <p:nvPr/>
        </p:nvSpPr>
        <p:spPr>
          <a:xfrm>
            <a:off x="1000354" y="1272685"/>
            <a:ext cx="4125773" cy="219456"/>
          </a:xfrm>
          <a:prstGeom prst="rect">
            <a:avLst/>
          </a:prstGeom>
          <a:solidFill>
            <a:srgbClr val="F0F0F0"/>
          </a:solidFill>
          <a:ln w="12700">
            <a:solidFill>
              <a:srgbClr val="F0F0F0"/>
            </a:solidFill>
            <a:prstDash val="solid"/>
          </a:ln>
        </p:spPr>
      </p:sp>
      <p:sp>
        <p:nvSpPr>
          <p:cNvPr id="18" name="Text 14"/>
          <p:cNvSpPr txBox="1"/>
          <p:nvPr/>
        </p:nvSpPr>
        <p:spPr>
          <a:xfrm>
            <a:off x="1091794" y="1272685"/>
            <a:ext cx="321137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Open</a:t>
            </a:r>
            <a:endParaRPr lang="en-US" sz="750" dirty="0"/>
          </a:p>
        </p:txBody>
      </p:sp>
      <p:sp>
        <p:nvSpPr>
          <p:cNvPr id="19" name="Text 15"/>
          <p:cNvSpPr txBox="1"/>
          <p:nvPr/>
        </p:nvSpPr>
        <p:spPr>
          <a:xfrm>
            <a:off x="430316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57748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851806"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1091794" y="1547005"/>
            <a:ext cx="3942893" cy="182880"/>
          </a:xfrm>
          <a:prstGeom prst="rect">
            <a:avLst/>
          </a:prstGeom>
          <a:solidFill>
            <a:srgbClr val="FFFFFF"/>
          </a:solidFill>
          <a:ln w="9525">
            <a:solidFill>
              <a:srgbClr val="CCCCCC"/>
            </a:solidFill>
            <a:prstDash val="solid"/>
          </a:ln>
        </p:spPr>
      </p:sp>
      <p:sp>
        <p:nvSpPr>
          <p:cNvPr id="23" name="Text 19"/>
          <p:cNvSpPr txBox="1"/>
          <p:nvPr/>
        </p:nvSpPr>
        <p:spPr>
          <a:xfrm>
            <a:off x="1164946" y="1547005"/>
            <a:ext cx="3942893"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Dokumen</a:t>
            </a:r>
            <a:endParaRPr lang="en-US" sz="750" dirty="0"/>
          </a:p>
        </p:txBody>
      </p:sp>
      <p:pic>
        <p:nvPicPr>
          <p:cNvPr id="24" name="Image 2" descr="preencoded.png">    </p:cNvPr>
          <p:cNvPicPr>
            <a:picLocks noChangeAspect="1"/>
          </p:cNvPicPr>
          <p:nvPr/>
        </p:nvPicPr>
        <p:blipFill>
          <a:blip r:embed="rId3"/>
          <a:stretch>
            <a:fillRect/>
          </a:stretch>
        </p:blipFill>
        <p:spPr>
          <a:xfrm>
            <a:off x="1393546" y="1894477"/>
            <a:ext cx="292608" cy="292608"/>
          </a:xfrm>
          <a:prstGeom prst="rect">
            <a:avLst/>
          </a:prstGeom>
        </p:spPr>
      </p:pic>
      <p:sp>
        <p:nvSpPr>
          <p:cNvPr id="25" name="Text 20"/>
          <p:cNvSpPr txBox="1"/>
          <p:nvPr/>
        </p:nvSpPr>
        <p:spPr>
          <a:xfrm>
            <a:off x="115580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Doa_Belajar.txt</a:t>
            </a:r>
            <a:endParaRPr lang="en-US" sz="650" dirty="0"/>
          </a:p>
        </p:txBody>
      </p:sp>
      <p:pic>
        <p:nvPicPr>
          <p:cNvPr id="26" name="Image 3" descr="preencoded.png">    </p:cNvPr>
          <p:cNvPicPr>
            <a:picLocks noChangeAspect="1"/>
          </p:cNvPicPr>
          <p:nvPr/>
        </p:nvPicPr>
        <p:blipFill>
          <a:blip r:embed="rId4"/>
          <a:stretch>
            <a:fillRect/>
          </a:stretch>
        </p:blipFill>
        <p:spPr>
          <a:xfrm>
            <a:off x="2170786" y="1894477"/>
            <a:ext cx="292608" cy="292608"/>
          </a:xfrm>
          <a:prstGeom prst="rect">
            <a:avLst/>
          </a:prstGeom>
        </p:spPr>
      </p:pic>
      <p:sp>
        <p:nvSpPr>
          <p:cNvPr id="27" name="Text 21"/>
          <p:cNvSpPr txBox="1"/>
          <p:nvPr/>
        </p:nvSpPr>
        <p:spPr>
          <a:xfrm>
            <a:off x="193304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Latihan2.txt</a:t>
            </a:r>
            <a:endParaRPr lang="en-US" sz="650" dirty="0"/>
          </a:p>
        </p:txBody>
      </p:sp>
      <p:pic>
        <p:nvPicPr>
          <p:cNvPr id="28" name="Image 4" descr="preencoded.png">    </p:cNvPr>
          <p:cNvPicPr>
            <a:picLocks noChangeAspect="1"/>
          </p:cNvPicPr>
          <p:nvPr/>
        </p:nvPicPr>
        <p:blipFill>
          <a:blip r:embed="rId5"/>
          <a:stretch>
            <a:fillRect/>
          </a:stretch>
        </p:blipFill>
        <p:spPr>
          <a:xfrm>
            <a:off x="2948026" y="1894477"/>
            <a:ext cx="292608" cy="292608"/>
          </a:xfrm>
          <a:prstGeom prst="rect">
            <a:avLst/>
          </a:prstGeom>
        </p:spPr>
      </p:pic>
      <p:sp>
        <p:nvSpPr>
          <p:cNvPr id="29" name="Text 22"/>
          <p:cNvSpPr txBox="1"/>
          <p:nvPr/>
        </p:nvSpPr>
        <p:spPr>
          <a:xfrm>
            <a:off x="271028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Perkenalan_Ahmad.txt</a:t>
            </a:r>
            <a:endParaRPr lang="en-US" sz="650" dirty="0"/>
          </a:p>
        </p:txBody>
      </p:sp>
      <p:sp>
        <p:nvSpPr>
          <p:cNvPr id="30" name="Text 23"/>
          <p:cNvSpPr txBox="1"/>
          <p:nvPr/>
        </p:nvSpPr>
        <p:spPr>
          <a:xfrm>
            <a:off x="1137514" y="3132510"/>
            <a:ext cx="73152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name:</a:t>
            </a:r>
            <a:endParaRPr lang="en-US" sz="800" dirty="0"/>
          </a:p>
        </p:txBody>
      </p:sp>
      <p:sp>
        <p:nvSpPr>
          <p:cNvPr id="31" name="Shape 24"/>
          <p:cNvSpPr/>
          <p:nvPr/>
        </p:nvSpPr>
        <p:spPr>
          <a:xfrm>
            <a:off x="1869034" y="3132510"/>
            <a:ext cx="3028493" cy="201168"/>
          </a:xfrm>
          <a:prstGeom prst="rect">
            <a:avLst/>
          </a:prstGeom>
          <a:solidFill>
            <a:srgbClr val="FFFFFF"/>
          </a:solidFill>
          <a:ln w="12700">
            <a:solidFill>
              <a:srgbClr val="0078D4"/>
            </a:solidFill>
            <a:prstDash val="solid"/>
          </a:ln>
        </p:spPr>
      </p:sp>
      <p:sp>
        <p:nvSpPr>
          <p:cNvPr id="32" name="Text 25"/>
          <p:cNvSpPr txBox="1"/>
          <p:nvPr/>
        </p:nvSpPr>
        <p:spPr>
          <a:xfrm>
            <a:off x="1923898" y="3132510"/>
            <a:ext cx="3028493"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Perkenalan_Ahmad</a:t>
            </a:r>
            <a:endParaRPr lang="en-US" sz="800" dirty="0"/>
          </a:p>
        </p:txBody>
      </p:sp>
      <p:sp>
        <p:nvSpPr>
          <p:cNvPr id="33" name="Shape 26"/>
          <p:cNvSpPr/>
          <p:nvPr/>
        </p:nvSpPr>
        <p:spPr>
          <a:xfrm>
            <a:off x="3937406" y="3406830"/>
            <a:ext cx="502920" cy="201168"/>
          </a:xfrm>
          <a:prstGeom prst="roundRect">
            <a:avLst>
              <a:gd name="adj" fmla="val 13636"/>
            </a:avLst>
          </a:prstGeom>
          <a:solidFill>
            <a:srgbClr val="0078D4"/>
          </a:solidFill>
          <a:ln w="12700">
            <a:solidFill>
              <a:srgbClr val="0078D4"/>
            </a:solidFill>
            <a:prstDash val="solid"/>
          </a:ln>
        </p:spPr>
      </p:sp>
      <p:sp>
        <p:nvSpPr>
          <p:cNvPr id="34" name="Text 27"/>
          <p:cNvSpPr txBox="1"/>
          <p:nvPr/>
        </p:nvSpPr>
        <p:spPr>
          <a:xfrm>
            <a:off x="3937406" y="3406830"/>
            <a:ext cx="50292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Open</a:t>
            </a:r>
            <a:endParaRPr lang="en-US" sz="800" dirty="0"/>
          </a:p>
        </p:txBody>
      </p:sp>
      <p:sp>
        <p:nvSpPr>
          <p:cNvPr id="35" name="Shape 28"/>
          <p:cNvSpPr/>
          <p:nvPr/>
        </p:nvSpPr>
        <p:spPr>
          <a:xfrm>
            <a:off x="4504334" y="3406830"/>
            <a:ext cx="502920" cy="201168"/>
          </a:xfrm>
          <a:prstGeom prst="roundRect">
            <a:avLst>
              <a:gd name="adj" fmla="val 13636"/>
            </a:avLst>
          </a:prstGeom>
          <a:solidFill>
            <a:srgbClr val="EEEEEE"/>
          </a:solidFill>
          <a:ln w="12700">
            <a:solidFill>
              <a:srgbClr val="EEEEEE"/>
            </a:solidFill>
            <a:prstDash val="solid"/>
          </a:ln>
        </p:spPr>
      </p:sp>
      <p:sp>
        <p:nvSpPr>
          <p:cNvPr id="36" name="Text 29"/>
          <p:cNvSpPr txBox="1"/>
          <p:nvPr/>
        </p:nvSpPr>
        <p:spPr>
          <a:xfrm>
            <a:off x="4504334" y="3406830"/>
            <a:ext cx="502920" cy="201168"/>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Cancel</a:t>
            </a:r>
            <a:endParaRPr lang="en-US" sz="800" dirty="0"/>
          </a:p>
        </p:txBody>
      </p:sp>
      <p:sp>
        <p:nvSpPr>
          <p:cNvPr id="37" name="Shape 30"/>
          <p:cNvSpPr/>
          <p:nvPr/>
        </p:nvSpPr>
        <p:spPr>
          <a:xfrm>
            <a:off x="2701138" y="1830469"/>
            <a:ext cx="786384" cy="621792"/>
          </a:xfrm>
          <a:prstGeom prst="roundRect">
            <a:avLst>
              <a:gd name="adj" fmla="val 7353"/>
            </a:avLst>
          </a:prstGeom>
          <a:solidFill>
            <a:srgbClr val="FFFFFF">
              <a:alpha val="0"/>
            </a:srgbClr>
          </a:solidFill>
          <a:ln w="31750">
            <a:solidFill>
              <a:srgbClr val="E53935"/>
            </a:solidFill>
            <a:prstDash val="solid"/>
          </a:ln>
        </p:spPr>
      </p:sp>
      <p:sp>
        <p:nvSpPr>
          <p:cNvPr id="38" name="Shape 31"/>
          <p:cNvSpPr/>
          <p:nvPr/>
        </p:nvSpPr>
        <p:spPr>
          <a:xfrm>
            <a:off x="3350362" y="1693309"/>
            <a:ext cx="274320" cy="274320"/>
          </a:xfrm>
          <a:prstGeom prst="ellipse">
            <a:avLst/>
          </a:prstGeom>
          <a:solidFill>
            <a:srgbClr val="E53935"/>
          </a:solidFill>
          <a:ln w="12700">
            <a:solidFill>
              <a:srgbClr val="FFFFFF"/>
            </a:solidFill>
            <a:prstDash val="solid"/>
          </a:ln>
        </p:spPr>
      </p:sp>
      <p:sp>
        <p:nvSpPr>
          <p:cNvPr id="39" name="Text 32"/>
          <p:cNvSpPr txBox="1"/>
          <p:nvPr/>
        </p:nvSpPr>
        <p:spPr>
          <a:xfrm>
            <a:off x="3350362" y="16933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0" name="Image 5" descr="preencoded.png">    </p:cNvPr>
          <p:cNvPicPr>
            <a:picLocks noChangeAspect="1"/>
          </p:cNvPicPr>
          <p:nvPr/>
        </p:nvPicPr>
        <p:blipFill>
          <a:blip r:embed="rId6"/>
          <a:stretch>
            <a:fillRect/>
          </a:stretch>
        </p:blipFill>
        <p:spPr>
          <a:xfrm>
            <a:off x="3129991" y="2168797"/>
            <a:ext cx="237744" cy="237744"/>
          </a:xfrm>
          <a:prstGeom prst="rect">
            <a:avLst/>
          </a:prstGeom>
        </p:spPr>
      </p:pic>
      <p:sp>
        <p:nvSpPr>
          <p:cNvPr id="41" name="Shape 33"/>
          <p:cNvSpPr/>
          <p:nvPr/>
        </p:nvSpPr>
        <p:spPr>
          <a:xfrm>
            <a:off x="3919118" y="3388542"/>
            <a:ext cx="539496" cy="237744"/>
          </a:xfrm>
          <a:prstGeom prst="roundRect">
            <a:avLst>
              <a:gd name="adj" fmla="val 19231"/>
            </a:avLst>
          </a:prstGeom>
          <a:solidFill>
            <a:srgbClr val="FFFFFF">
              <a:alpha val="0"/>
            </a:srgbClr>
          </a:solidFill>
          <a:ln w="31750">
            <a:solidFill>
              <a:srgbClr val="E53935"/>
            </a:solidFill>
            <a:prstDash val="solid"/>
          </a:ln>
        </p:spPr>
      </p:sp>
      <p:sp>
        <p:nvSpPr>
          <p:cNvPr id="42" name="Shape 34"/>
          <p:cNvSpPr/>
          <p:nvPr/>
        </p:nvSpPr>
        <p:spPr>
          <a:xfrm>
            <a:off x="4321454" y="3251382"/>
            <a:ext cx="274320" cy="274320"/>
          </a:xfrm>
          <a:prstGeom prst="ellipse">
            <a:avLst/>
          </a:prstGeom>
          <a:solidFill>
            <a:srgbClr val="E53935"/>
          </a:solidFill>
          <a:ln w="12700">
            <a:solidFill>
              <a:srgbClr val="FFFFFF"/>
            </a:solidFill>
            <a:prstDash val="solid"/>
          </a:ln>
        </p:spPr>
      </p:sp>
      <p:sp>
        <p:nvSpPr>
          <p:cNvPr id="43" name="Text 35"/>
          <p:cNvSpPr txBox="1"/>
          <p:nvPr/>
        </p:nvSpPr>
        <p:spPr>
          <a:xfrm>
            <a:off x="4321454" y="32513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4" name="Image 6" descr="preencoded.png">    </p:cNvPr>
          <p:cNvPicPr>
            <a:picLocks noChangeAspect="1"/>
          </p:cNvPicPr>
          <p:nvPr/>
        </p:nvPicPr>
        <p:blipFill>
          <a:blip r:embed="rId7"/>
          <a:stretch>
            <a:fillRect/>
          </a:stretch>
        </p:blipFill>
        <p:spPr>
          <a:xfrm>
            <a:off x="4214012" y="3517473"/>
            <a:ext cx="237744" cy="237744"/>
          </a:xfrm>
          <a:prstGeom prst="rect">
            <a:avLst/>
          </a:prstGeom>
        </p:spPr>
      </p:pic>
      <p:sp>
        <p:nvSpPr>
          <p:cNvPr id="45"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46"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file perkenalan, klik Open</a:t>
            </a:r>
            <a:endParaRPr lang="en-US" sz="1800" dirty="0"/>
          </a:p>
        </p:txBody>
      </p:sp>
      <p:sp>
        <p:nvSpPr>
          <p:cNvPr id="47"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Muncul jendela Open. Buka Documents › Portofolio › Dokumen, klik file Perkenalan, lalu klik Open.</a:t>
            </a:r>
            <a:endParaRPr lang="en-US" sz="1300" dirty="0"/>
          </a:p>
        </p:txBody>
      </p:sp>
      <p:sp>
        <p:nvSpPr>
          <p:cNvPr id="48" name="Shape 3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9"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50" name="Text 4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Tunggu sampai muncul tanda centang "1 upload complete".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Download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Ahmad_Kelas1</a:t>
            </a:r>
            <a:endParaRPr lang="en-US" sz="800" dirty="0"/>
          </a:p>
        </p:txBody>
      </p:sp>
      <p:sp>
        <p:nvSpPr>
          <p:cNvPr id="45" name="Shape 36"/>
          <p:cNvSpPr/>
          <p:nvPr/>
        </p:nvSpPr>
        <p:spPr>
          <a:xfrm>
            <a:off x="1730776" y="2875541"/>
            <a:ext cx="3670767" cy="228600"/>
          </a:xfrm>
          <a:prstGeom prst="roundRect">
            <a:avLst>
              <a:gd name="adj" fmla="val 16000"/>
            </a:avLst>
          </a:prstGeom>
          <a:solidFill>
            <a:srgbClr val="C2E7FF"/>
          </a:solidFill>
          <a:ln w="12700">
            <a:solidFill>
              <a:srgbClr val="C2E7FF"/>
            </a:solidFill>
            <a:prstDash val="solid"/>
          </a:ln>
        </p:spPr>
      </p:sp>
      <p:pic>
        <p:nvPicPr>
          <p:cNvPr id="46"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7" name="Text 37"/>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Contoh_File_Guru.pdf</a:t>
            </a:r>
            <a:endParaRPr lang="en-US" sz="800" dirty="0"/>
          </a:p>
        </p:txBody>
      </p:sp>
      <p:sp>
        <p:nvSpPr>
          <p:cNvPr id="48" name="Shape 38"/>
          <p:cNvSpPr/>
          <p:nvPr/>
        </p:nvSpPr>
        <p:spPr>
          <a:xfrm>
            <a:off x="3193816" y="3012701"/>
            <a:ext cx="1234440" cy="1664208"/>
          </a:xfrm>
          <a:prstGeom prst="rect">
            <a:avLst/>
          </a:prstGeom>
          <a:solidFill>
            <a:srgbClr val="FFFFFF"/>
          </a:solidFill>
          <a:ln w="9525">
            <a:solidFill>
              <a:srgbClr val="AAAAAA"/>
            </a:solidFill>
            <a:prstDash val="solid"/>
          </a:ln>
        </p:spPr>
      </p:sp>
      <p:sp>
        <p:nvSpPr>
          <p:cNvPr id="49" name="Text 39"/>
          <p:cNvSpPr txBox="1"/>
          <p:nvPr/>
        </p:nvSpPr>
        <p:spPr>
          <a:xfrm>
            <a:off x="3303544" y="3040133"/>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 with   ›</a:t>
            </a:r>
            <a:endParaRPr lang="en-US" sz="800" dirty="0"/>
          </a:p>
        </p:txBody>
      </p:sp>
      <p:sp>
        <p:nvSpPr>
          <p:cNvPr id="50" name="Text 40"/>
          <p:cNvSpPr txBox="1"/>
          <p:nvPr/>
        </p:nvSpPr>
        <p:spPr>
          <a:xfrm>
            <a:off x="3303544" y="324130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Download</a:t>
            </a:r>
            <a:endParaRPr lang="en-US" sz="800" dirty="0"/>
          </a:p>
        </p:txBody>
      </p:sp>
      <p:sp>
        <p:nvSpPr>
          <p:cNvPr id="51" name="Text 41"/>
          <p:cNvSpPr txBox="1"/>
          <p:nvPr/>
        </p:nvSpPr>
        <p:spPr>
          <a:xfrm>
            <a:off x="3303544" y="344246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Rename</a:t>
            </a:r>
            <a:endParaRPr lang="en-US" sz="800" dirty="0"/>
          </a:p>
        </p:txBody>
      </p:sp>
      <p:sp>
        <p:nvSpPr>
          <p:cNvPr id="52" name="Shape 42"/>
          <p:cNvSpPr/>
          <p:nvPr/>
        </p:nvSpPr>
        <p:spPr>
          <a:xfrm>
            <a:off x="3230392" y="3735077"/>
            <a:ext cx="1161288" cy="0"/>
          </a:xfrm>
          <a:prstGeom prst="line">
            <a:avLst/>
          </a:prstGeom>
          <a:noFill/>
          <a:ln w="6350">
            <a:solidFill>
              <a:srgbClr val="DDDDDD"/>
            </a:solidFill>
            <a:prstDash val="solid"/>
          </a:ln>
        </p:spPr>
      </p:sp>
      <p:sp>
        <p:nvSpPr>
          <p:cNvPr id="53" name="Text 43"/>
          <p:cNvSpPr txBox="1"/>
          <p:nvPr/>
        </p:nvSpPr>
        <p:spPr>
          <a:xfrm>
            <a:off x="3303544" y="384480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Share          ›</a:t>
            </a:r>
            <a:endParaRPr lang="en-US" sz="800" dirty="0"/>
          </a:p>
        </p:txBody>
      </p:sp>
      <p:sp>
        <p:nvSpPr>
          <p:cNvPr id="54" name="Text 44"/>
          <p:cNvSpPr txBox="1"/>
          <p:nvPr/>
        </p:nvSpPr>
        <p:spPr>
          <a:xfrm>
            <a:off x="3303544" y="4045973"/>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Organize    ›</a:t>
            </a:r>
            <a:endParaRPr lang="en-US" sz="800" dirty="0"/>
          </a:p>
        </p:txBody>
      </p:sp>
      <p:sp>
        <p:nvSpPr>
          <p:cNvPr id="55" name="Shape 45"/>
          <p:cNvSpPr/>
          <p:nvPr/>
        </p:nvSpPr>
        <p:spPr>
          <a:xfrm>
            <a:off x="3230392" y="4338581"/>
            <a:ext cx="1161288" cy="0"/>
          </a:xfrm>
          <a:prstGeom prst="line">
            <a:avLst/>
          </a:prstGeom>
          <a:noFill/>
          <a:ln w="6350">
            <a:solidFill>
              <a:srgbClr val="DDDDDD"/>
            </a:solidFill>
            <a:prstDash val="solid"/>
          </a:ln>
        </p:spPr>
      </p:sp>
      <p:sp>
        <p:nvSpPr>
          <p:cNvPr id="56" name="Text 46"/>
          <p:cNvSpPr txBox="1"/>
          <p:nvPr/>
        </p:nvSpPr>
        <p:spPr>
          <a:xfrm>
            <a:off x="3303544" y="444830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Move to trash</a:t>
            </a:r>
            <a:endParaRPr lang="en-US" sz="800" dirty="0"/>
          </a:p>
        </p:txBody>
      </p:sp>
      <p:sp>
        <p:nvSpPr>
          <p:cNvPr id="57" name="Shape 47"/>
          <p:cNvSpPr/>
          <p:nvPr/>
        </p:nvSpPr>
        <p:spPr>
          <a:xfrm>
            <a:off x="3212104" y="3223013"/>
            <a:ext cx="1197864" cy="228600"/>
          </a:xfrm>
          <a:prstGeom prst="roundRect">
            <a:avLst>
              <a:gd name="adj" fmla="val 20000"/>
            </a:avLst>
          </a:prstGeom>
          <a:solidFill>
            <a:srgbClr val="FFFFFF">
              <a:alpha val="0"/>
            </a:srgbClr>
          </a:solidFill>
          <a:ln w="31750">
            <a:solidFill>
              <a:srgbClr val="E53935"/>
            </a:solidFill>
            <a:prstDash val="solid"/>
          </a:ln>
        </p:spPr>
      </p:sp>
      <p:sp>
        <p:nvSpPr>
          <p:cNvPr id="58" name="Shape 48"/>
          <p:cNvSpPr/>
          <p:nvPr/>
        </p:nvSpPr>
        <p:spPr>
          <a:xfrm>
            <a:off x="4272808" y="3085853"/>
            <a:ext cx="274320" cy="274320"/>
          </a:xfrm>
          <a:prstGeom prst="ellipse">
            <a:avLst/>
          </a:prstGeom>
          <a:solidFill>
            <a:srgbClr val="E53935"/>
          </a:solidFill>
          <a:ln w="12700">
            <a:solidFill>
              <a:srgbClr val="FFFFFF"/>
            </a:solidFill>
            <a:prstDash val="solid"/>
          </a:ln>
        </p:spPr>
      </p:sp>
      <p:sp>
        <p:nvSpPr>
          <p:cNvPr id="59" name="Text 49"/>
          <p:cNvSpPr txBox="1"/>
          <p:nvPr/>
        </p:nvSpPr>
        <p:spPr>
          <a:xfrm>
            <a:off x="4272808" y="3085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pic>
        <p:nvPicPr>
          <p:cNvPr id="60" name="Image 8" descr="preencoded.png">    </p:cNvPr>
          <p:cNvPicPr>
            <a:picLocks noChangeAspect="1"/>
          </p:cNvPicPr>
          <p:nvPr/>
        </p:nvPicPr>
        <p:blipFill>
          <a:blip r:embed="rId9"/>
          <a:stretch>
            <a:fillRect/>
          </a:stretch>
        </p:blipFill>
        <p:spPr>
          <a:xfrm>
            <a:off x="3869101" y="3346914"/>
            <a:ext cx="237744" cy="237744"/>
          </a:xfrm>
          <a:prstGeom prst="rect">
            <a:avLst/>
          </a:prstGeom>
        </p:spPr>
      </p:pic>
      <p:sp>
        <p:nvSpPr>
          <p:cNvPr id="61"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62"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file contoh › Download</a:t>
            </a:r>
            <a:endParaRPr lang="en-US" sz="1800" dirty="0"/>
          </a:p>
        </p:txBody>
      </p:sp>
      <p:sp>
        <p:nvSpPr>
          <p:cNvPr id="63"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Kembali ke My Drive. Klik kanan file contoh dari guru, lalu pilih Download.</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Download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10/11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pic>
        <p:nvPicPr>
          <p:cNvPr id="29"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0" name="Text 23"/>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sp>
        <p:nvSpPr>
          <p:cNvPr id="31" name="Shape 24"/>
          <p:cNvSpPr/>
          <p:nvPr/>
        </p:nvSpPr>
        <p:spPr>
          <a:xfrm>
            <a:off x="867217" y="2497981"/>
            <a:ext cx="822960" cy="201168"/>
          </a:xfrm>
          <a:prstGeom prst="roundRect">
            <a:avLst>
              <a:gd name="adj" fmla="val 13636"/>
            </a:avLst>
          </a:prstGeom>
          <a:solidFill>
            <a:srgbClr val="CCE4F7"/>
          </a:solidFill>
          <a:ln w="12700">
            <a:solidFill>
              <a:srgbClr val="CCE4F7"/>
            </a:solidFill>
            <a:prstDash val="solid"/>
          </a:ln>
        </p:spPr>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1891345" y="1839613"/>
            <a:ext cx="786384" cy="603504"/>
          </a:xfrm>
          <a:prstGeom prst="roundRect">
            <a:avLst>
              <a:gd name="adj" fmla="val 6061"/>
            </a:avLst>
          </a:prstGeom>
          <a:solidFill>
            <a:srgbClr val="CCE4F7"/>
          </a:solidFill>
          <a:ln w="12700">
            <a:solidFill>
              <a:srgbClr val="CCE4F7"/>
            </a:solidFill>
            <a:prstDash val="solid"/>
          </a:ln>
        </p:spPr>
      </p:sp>
      <p:pic>
        <p:nvPicPr>
          <p:cNvPr id="37"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8" name="Text 28"/>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Contoh_File_Guru</a:t>
            </a:r>
            <a:endParaRPr lang="en-US" sz="700" dirty="0"/>
          </a:p>
        </p:txBody>
      </p:sp>
      <p:sp>
        <p:nvSpPr>
          <p:cNvPr id="39" name="Shape 29"/>
          <p:cNvSpPr/>
          <p:nvPr/>
        </p:nvSpPr>
        <p:spPr>
          <a:xfrm>
            <a:off x="830641" y="2461405"/>
            <a:ext cx="896112" cy="274320"/>
          </a:xfrm>
          <a:prstGeom prst="roundRect">
            <a:avLst>
              <a:gd name="adj" fmla="val 16667"/>
            </a:avLst>
          </a:prstGeom>
          <a:solidFill>
            <a:srgbClr val="FFFFFF">
              <a:alpha val="0"/>
            </a:srgbClr>
          </a:solidFill>
          <a:ln w="31750">
            <a:solidFill>
              <a:srgbClr val="E53935"/>
            </a:solidFill>
            <a:prstDash val="solid"/>
          </a:ln>
        </p:spPr>
      </p:sp>
      <p:sp>
        <p:nvSpPr>
          <p:cNvPr id="40" name="Shape 30"/>
          <p:cNvSpPr/>
          <p:nvPr/>
        </p:nvSpPr>
        <p:spPr>
          <a:xfrm>
            <a:off x="1589593" y="2324245"/>
            <a:ext cx="274320" cy="274320"/>
          </a:xfrm>
          <a:prstGeom prst="ellipse">
            <a:avLst/>
          </a:prstGeom>
          <a:solidFill>
            <a:srgbClr val="E53935"/>
          </a:solidFill>
          <a:ln w="12700">
            <a:solidFill>
              <a:srgbClr val="FFFFFF"/>
            </a:solidFill>
            <a:prstDash val="solid"/>
          </a:ln>
        </p:spPr>
      </p:sp>
      <p:sp>
        <p:nvSpPr>
          <p:cNvPr id="41" name="Text 31"/>
          <p:cNvSpPr txBox="1"/>
          <p:nvPr/>
        </p:nvSpPr>
        <p:spPr>
          <a:xfrm>
            <a:off x="1589593" y="23242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2" name="Image 8" descr="preencoded.png">    </p:cNvPr>
          <p:cNvPicPr>
            <a:picLocks noChangeAspect="1"/>
          </p:cNvPicPr>
          <p:nvPr/>
        </p:nvPicPr>
        <p:blipFill>
          <a:blip r:embed="rId9"/>
          <a:stretch>
            <a:fillRect/>
          </a:stretch>
        </p:blipFill>
        <p:spPr>
          <a:xfrm>
            <a:off x="1319845" y="2608623"/>
            <a:ext cx="237744" cy="237744"/>
          </a:xfrm>
          <a:prstGeom prst="rect">
            <a:avLst/>
          </a:prstGeom>
        </p:spPr>
      </p:pic>
      <p:sp>
        <p:nvSpPr>
          <p:cNvPr id="43" name="Shape 32"/>
          <p:cNvSpPr/>
          <p:nvPr/>
        </p:nvSpPr>
        <p:spPr>
          <a:xfrm>
            <a:off x="185476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4" name="Shape 33"/>
          <p:cNvSpPr/>
          <p:nvPr/>
        </p:nvSpPr>
        <p:spPr>
          <a:xfrm>
            <a:off x="2577145" y="1665877"/>
            <a:ext cx="274320" cy="274320"/>
          </a:xfrm>
          <a:prstGeom prst="ellipse">
            <a:avLst/>
          </a:prstGeom>
          <a:solidFill>
            <a:srgbClr val="E53935"/>
          </a:solidFill>
          <a:ln w="12700">
            <a:solidFill>
              <a:srgbClr val="FFFFFF"/>
            </a:solidFill>
            <a:prstDash val="solid"/>
          </a:ln>
        </p:spPr>
      </p:sp>
      <p:sp>
        <p:nvSpPr>
          <p:cNvPr id="45" name="Text 34"/>
          <p:cNvSpPr txBox="1"/>
          <p:nvPr/>
        </p:nvSpPr>
        <p:spPr>
          <a:xfrm>
            <a:off x="257714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6" name="Image 9" descr="preencoded.png">    </p:cNvPr>
          <p:cNvPicPr>
            <a:picLocks noChangeAspect="1"/>
          </p:cNvPicPr>
          <p:nvPr/>
        </p:nvPicPr>
        <p:blipFill>
          <a:blip r:embed="rId10"/>
          <a:stretch>
            <a:fillRect/>
          </a:stretch>
        </p:blipFill>
        <p:spPr>
          <a:xfrm>
            <a:off x="2323856" y="2171540"/>
            <a:ext cx="237744" cy="237744"/>
          </a:xfrm>
          <a:prstGeom prst="rect">
            <a:avLst/>
          </a:prstGeom>
        </p:spPr>
      </p:pic>
      <p:sp>
        <p:nvSpPr>
          <p:cNvPr id="47"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10</a:t>
            </a:r>
            <a:endParaRPr lang="en-US" sz="1200" dirty="0"/>
          </a:p>
        </p:txBody>
      </p:sp>
      <p:sp>
        <p:nvSpPr>
          <p:cNvPr id="48"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Temukan file di folder Downloads</a:t>
            </a:r>
            <a:endParaRPr lang="en-US" sz="1800" dirty="0"/>
          </a:p>
        </p:txBody>
      </p:sp>
      <p:sp>
        <p:nvSpPr>
          <p:cNvPr id="49"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File tersimpan otomatis di folder Downloads. Buka File Explorer, klik Downloads.</a:t>
            </a:r>
            <a:endParaRPr lang="en-US" sz="1300" dirty="0"/>
          </a:p>
        </p:txBody>
      </p:sp>
      <p:sp>
        <p:nvSpPr>
          <p:cNvPr id="50" name="Shape 3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1"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52" name="Text 3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Pindahkan (Cut) file itu ke folder portofoliomu jika ingin disimpan.</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Keluar dari Akun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11/11</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Ahmad_Kelas1</a:t>
            </a:r>
            <a:endParaRPr lang="en-US" sz="800" dirty="0"/>
          </a:p>
        </p:txBody>
      </p:sp>
      <p:pic>
        <p:nvPicPr>
          <p:cNvPr id="45"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6" name="Text 36"/>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Contoh_File_Guru.pdf</a:t>
            </a:r>
            <a:endParaRPr lang="en-US" sz="800" dirty="0"/>
          </a:p>
        </p:txBody>
      </p:sp>
      <p:sp>
        <p:nvSpPr>
          <p:cNvPr id="47" name="Shape 37"/>
          <p:cNvSpPr/>
          <p:nvPr/>
        </p:nvSpPr>
        <p:spPr>
          <a:xfrm>
            <a:off x="3700760" y="2006861"/>
            <a:ext cx="1737360" cy="1188720"/>
          </a:xfrm>
          <a:prstGeom prst="roundRect">
            <a:avLst>
              <a:gd name="adj" fmla="val 6154"/>
            </a:avLst>
          </a:prstGeom>
          <a:solidFill>
            <a:srgbClr val="FFFFFF"/>
          </a:solidFill>
          <a:ln w="9525">
            <a:solidFill>
              <a:srgbClr val="BBBBBB"/>
            </a:solidFill>
            <a:prstDash val="solid"/>
          </a:ln>
        </p:spPr>
      </p:sp>
      <p:sp>
        <p:nvSpPr>
          <p:cNvPr id="48" name="Text 38"/>
          <p:cNvSpPr txBox="1"/>
          <p:nvPr/>
        </p:nvSpPr>
        <p:spPr>
          <a:xfrm>
            <a:off x="3700760" y="2098301"/>
            <a:ext cx="1737360" cy="182880"/>
          </a:xfrm>
          <a:prstGeom prst="rect">
            <a:avLst/>
          </a:prstGeom>
          <a:noFill/>
          <a:ln/>
        </p:spPr>
        <p:txBody>
          <a:bodyPr wrap="square" lIns="0" tIns="0" rIns="0" bIns="0" rtlCol="0" anchor="t"/>
          <a:lstStyle/>
          <a:p>
            <a:pPr algn="ctr" indent="0" marL="0">
              <a:buNone/>
            </a:pPr>
            <a:r>
              <a:rPr lang="en-US" sz="750" dirty="0">
                <a:solidFill>
                  <a:srgbClr val="1E2A26"/>
                </a:solidFill>
                <a:latin typeface="Calibri" pitchFamily="34" charset="0"/>
                <a:ea typeface="Calibri" pitchFamily="34" charset="-122"/>
                <a:cs typeface="Calibri" pitchFamily="34" charset="-120"/>
              </a:rPr>
              <a:t>santri.kelas1@...</a:t>
            </a:r>
            <a:endParaRPr lang="en-US" sz="750" dirty="0"/>
          </a:p>
        </p:txBody>
      </p:sp>
      <p:sp>
        <p:nvSpPr>
          <p:cNvPr id="49" name="Shape 39"/>
          <p:cNvSpPr/>
          <p:nvPr/>
        </p:nvSpPr>
        <p:spPr>
          <a:xfrm>
            <a:off x="4368272" y="2326901"/>
            <a:ext cx="402336" cy="402336"/>
          </a:xfrm>
          <a:prstGeom prst="ellipse">
            <a:avLst/>
          </a:prstGeom>
          <a:solidFill>
            <a:srgbClr val="1F7A5C"/>
          </a:solidFill>
          <a:ln/>
        </p:spPr>
      </p:sp>
      <p:sp>
        <p:nvSpPr>
          <p:cNvPr id="50" name="Text 40"/>
          <p:cNvSpPr txBox="1"/>
          <p:nvPr/>
        </p:nvSpPr>
        <p:spPr>
          <a:xfrm>
            <a:off x="4368272" y="232690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51" name="Shape 41"/>
          <p:cNvSpPr/>
          <p:nvPr/>
        </p:nvSpPr>
        <p:spPr>
          <a:xfrm>
            <a:off x="3975080" y="2848109"/>
            <a:ext cx="1188720" cy="237744"/>
          </a:xfrm>
          <a:prstGeom prst="roundRect">
            <a:avLst>
              <a:gd name="adj" fmla="val 50000"/>
            </a:avLst>
          </a:prstGeom>
          <a:solidFill>
            <a:srgbClr val="F1F3F4"/>
          </a:solidFill>
          <a:ln w="12700">
            <a:solidFill>
              <a:srgbClr val="F1F3F4"/>
            </a:solidFill>
            <a:prstDash val="solid"/>
          </a:ln>
        </p:spPr>
      </p:sp>
      <p:pic>
        <p:nvPicPr>
          <p:cNvPr id="52" name="Image 8" descr="preencoded.png">    </p:cNvPr>
          <p:cNvPicPr>
            <a:picLocks noChangeAspect="1"/>
          </p:cNvPicPr>
          <p:nvPr/>
        </p:nvPicPr>
        <p:blipFill>
          <a:blip r:embed="rId9"/>
          <a:stretch>
            <a:fillRect/>
          </a:stretch>
        </p:blipFill>
        <p:spPr>
          <a:xfrm>
            <a:off x="4066520" y="2902973"/>
            <a:ext cx="128016" cy="128016"/>
          </a:xfrm>
          <a:prstGeom prst="rect">
            <a:avLst/>
          </a:prstGeom>
        </p:spPr>
      </p:pic>
      <p:sp>
        <p:nvSpPr>
          <p:cNvPr id="53" name="Text 42"/>
          <p:cNvSpPr txBox="1"/>
          <p:nvPr/>
        </p:nvSpPr>
        <p:spPr>
          <a:xfrm>
            <a:off x="4249400" y="2848109"/>
            <a:ext cx="822960" cy="23774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Sign out</a:t>
            </a:r>
            <a:endParaRPr lang="en-US" sz="800" dirty="0"/>
          </a:p>
        </p:txBody>
      </p:sp>
      <p:sp>
        <p:nvSpPr>
          <p:cNvPr id="54" name="Shape 43"/>
          <p:cNvSpPr/>
          <p:nvPr/>
        </p:nvSpPr>
        <p:spPr>
          <a:xfrm>
            <a:off x="5191232" y="1705109"/>
            <a:ext cx="274320" cy="274320"/>
          </a:xfrm>
          <a:prstGeom prst="roundRect">
            <a:avLst>
              <a:gd name="adj" fmla="val 16667"/>
            </a:avLst>
          </a:prstGeom>
          <a:solidFill>
            <a:srgbClr val="FFFFFF">
              <a:alpha val="0"/>
            </a:srgbClr>
          </a:solidFill>
          <a:ln w="31750">
            <a:solidFill>
              <a:srgbClr val="E53935"/>
            </a:solidFill>
            <a:prstDash val="solid"/>
          </a:ln>
        </p:spPr>
      </p:sp>
      <p:sp>
        <p:nvSpPr>
          <p:cNvPr id="55" name="Shape 44"/>
          <p:cNvSpPr/>
          <p:nvPr/>
        </p:nvSpPr>
        <p:spPr>
          <a:xfrm>
            <a:off x="5328392" y="1567949"/>
            <a:ext cx="274320" cy="274320"/>
          </a:xfrm>
          <a:prstGeom prst="ellipse">
            <a:avLst/>
          </a:prstGeom>
          <a:solidFill>
            <a:srgbClr val="E53935"/>
          </a:solidFill>
          <a:ln w="12700">
            <a:solidFill>
              <a:srgbClr val="FFFFFF"/>
            </a:solidFill>
            <a:prstDash val="solid"/>
          </a:ln>
        </p:spPr>
      </p:sp>
      <p:sp>
        <p:nvSpPr>
          <p:cNvPr id="56" name="Text 45"/>
          <p:cNvSpPr txBox="1"/>
          <p:nvPr/>
        </p:nvSpPr>
        <p:spPr>
          <a:xfrm>
            <a:off x="5328392" y="15679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7" name="Image 9" descr="preencoded.png">    </p:cNvPr>
          <p:cNvPicPr>
            <a:picLocks noChangeAspect="1"/>
          </p:cNvPicPr>
          <p:nvPr/>
        </p:nvPicPr>
        <p:blipFill>
          <a:blip r:embed="rId10"/>
          <a:stretch>
            <a:fillRect/>
          </a:stretch>
        </p:blipFill>
        <p:spPr>
          <a:xfrm>
            <a:off x="5339364" y="1853242"/>
            <a:ext cx="237744" cy="237744"/>
          </a:xfrm>
          <a:prstGeom prst="rect">
            <a:avLst/>
          </a:prstGeom>
        </p:spPr>
      </p:pic>
      <p:sp>
        <p:nvSpPr>
          <p:cNvPr id="58" name="Shape 46"/>
          <p:cNvSpPr/>
          <p:nvPr/>
        </p:nvSpPr>
        <p:spPr>
          <a:xfrm>
            <a:off x="3947648" y="2820677"/>
            <a:ext cx="1243584" cy="292608"/>
          </a:xfrm>
          <a:prstGeom prst="roundRect">
            <a:avLst>
              <a:gd name="adj" fmla="val 15625"/>
            </a:avLst>
          </a:prstGeom>
          <a:solidFill>
            <a:srgbClr val="FFFFFF">
              <a:alpha val="0"/>
            </a:srgbClr>
          </a:solidFill>
          <a:ln w="31750">
            <a:solidFill>
              <a:srgbClr val="E53935"/>
            </a:solidFill>
            <a:prstDash val="solid"/>
          </a:ln>
        </p:spPr>
      </p:sp>
      <p:sp>
        <p:nvSpPr>
          <p:cNvPr id="59" name="Shape 47"/>
          <p:cNvSpPr/>
          <p:nvPr/>
        </p:nvSpPr>
        <p:spPr>
          <a:xfrm>
            <a:off x="5054072" y="2683517"/>
            <a:ext cx="274320" cy="274320"/>
          </a:xfrm>
          <a:prstGeom prst="ellipse">
            <a:avLst/>
          </a:prstGeom>
          <a:solidFill>
            <a:srgbClr val="E53935"/>
          </a:solidFill>
          <a:ln w="12700">
            <a:solidFill>
              <a:srgbClr val="FFFFFF"/>
            </a:solidFill>
            <a:prstDash val="solid"/>
          </a:ln>
        </p:spPr>
      </p:sp>
      <p:sp>
        <p:nvSpPr>
          <p:cNvPr id="60" name="Text 48"/>
          <p:cNvSpPr txBox="1"/>
          <p:nvPr/>
        </p:nvSpPr>
        <p:spPr>
          <a:xfrm>
            <a:off x="5054072" y="2683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1" name="Image 10" descr="preencoded.png">    </p:cNvPr>
          <p:cNvPicPr>
            <a:picLocks noChangeAspect="1"/>
          </p:cNvPicPr>
          <p:nvPr/>
        </p:nvPicPr>
        <p:blipFill>
          <a:blip r:embed="rId11"/>
          <a:stretch>
            <a:fillRect/>
          </a:stretch>
        </p:blipFill>
        <p:spPr>
          <a:xfrm>
            <a:off x="4628876" y="2978868"/>
            <a:ext cx="237744" cy="237744"/>
          </a:xfrm>
          <a:prstGeom prst="rect">
            <a:avLst/>
          </a:prstGeom>
        </p:spPr>
      </p:pic>
      <p:sp>
        <p:nvSpPr>
          <p:cNvPr id="62"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11</a:t>
            </a:r>
            <a:endParaRPr lang="en-US" sz="1200" dirty="0"/>
          </a:p>
        </p:txBody>
      </p:sp>
      <p:sp>
        <p:nvSpPr>
          <p:cNvPr id="63"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ikon akun › Sign out</a:t>
            </a:r>
            <a:endParaRPr lang="en-US" sz="1800" dirty="0"/>
          </a:p>
        </p:txBody>
      </p:sp>
      <p:sp>
        <p:nvSpPr>
          <p:cNvPr id="64"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Kembali ke Google Drive. Klik lingkaran akun di pojok kanan atas, lalu klik Sign out.</a:t>
            </a:r>
            <a:endParaRPr lang="en-US" sz="1300" dirty="0"/>
          </a:p>
        </p:txBody>
      </p:sp>
      <p:sp>
        <p:nvSpPr>
          <p:cNvPr id="65" name="Shape 5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6"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67" name="Text 5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Wajib dilakukan setiap selesai memakai komputer bersama.</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dan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Masuk ke Google Drive dengan akun dari guru.</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Upload file Doa_Belajar ke folder NamaKamu_Kelas1.</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di buku: 3 kelebihan menyimpan file di cloud.</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Sign out, lalu tunjukkan kepada guru bahwa akun sudah keluar.</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Folder NamaKamu_Kelas1 sudah dibuat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perkenalan sudah di-upload</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contoh sudah di-download</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Sudah Sign out dari akun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kelebihan menyimpan file di cloud?</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risikonya jika lupa Sign out di komputer bersama?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Kata sandi adalah amanah. Jangan diberikan kepada orang lain dan jangan mengintip milik orang lain.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Sistem Folder Digital Kelas: folder bersama yang rapi.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Sistem Folder Digital Kelas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folder bersama yang rapi dan tertata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Manajemen File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caranya agar tugas satu kelas mudah dikumpulkan dan mudah ditemukan?</a:t>
            </a:r>
            <a:endParaRPr lang="en-US" sz="2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Merancang struktur folder kelas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Menerapkan aturan penamaan file bersama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Memahami hak akses: Viewer, Commenter, dan Editor</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Rancangan Sistem Folder Kelas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377440" cy="384048"/>
          </a:xfrm>
          <a:prstGeom prst="roundRect">
            <a:avLst>
              <a:gd name="adj" fmla="val 1904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548640" y="1170432"/>
            <a:ext cx="237744" cy="237744"/>
          </a:xfrm>
          <a:prstGeom prst="rect">
            <a:avLst/>
          </a:prstGeom>
        </p:spPr>
      </p:pic>
      <p:sp>
        <p:nvSpPr>
          <p:cNvPr id="11" name="Text 6"/>
          <p:cNvSpPr txBox="1"/>
          <p:nvPr/>
        </p:nvSpPr>
        <p:spPr>
          <a:xfrm>
            <a:off x="868680" y="1097280"/>
            <a:ext cx="1920240" cy="384048"/>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Kelas 1 Wustha</a:t>
            </a:r>
            <a:endParaRPr lang="en-US" sz="1150" dirty="0"/>
          </a:p>
        </p:txBody>
      </p:sp>
      <p:sp>
        <p:nvSpPr>
          <p:cNvPr id="12" name="Shape 7"/>
          <p:cNvSpPr/>
          <p:nvPr/>
        </p:nvSpPr>
        <p:spPr>
          <a:xfrm>
            <a:off x="731520" y="1481328"/>
            <a:ext cx="0" cy="347472"/>
          </a:xfrm>
          <a:prstGeom prst="line">
            <a:avLst/>
          </a:prstGeom>
          <a:noFill/>
          <a:ln w="19050">
            <a:solidFill>
              <a:srgbClr val="1F7A5C"/>
            </a:solidFill>
            <a:prstDash val="solid"/>
          </a:ln>
        </p:spPr>
      </p:sp>
      <p:sp>
        <p:nvSpPr>
          <p:cNvPr id="13" name="Shape 8"/>
          <p:cNvSpPr/>
          <p:nvPr/>
        </p:nvSpPr>
        <p:spPr>
          <a:xfrm>
            <a:off x="731520" y="1828800"/>
            <a:ext cx="228600" cy="0"/>
          </a:xfrm>
          <a:prstGeom prst="line">
            <a:avLst/>
          </a:prstGeom>
          <a:noFill/>
          <a:ln w="19050">
            <a:solidFill>
              <a:srgbClr val="1F7A5C"/>
            </a:solidFill>
            <a:prstDash val="solid"/>
          </a:ln>
        </p:spPr>
      </p:sp>
      <p:sp>
        <p:nvSpPr>
          <p:cNvPr id="14" name="Shape 9"/>
          <p:cNvSpPr/>
          <p:nvPr/>
        </p:nvSpPr>
        <p:spPr>
          <a:xfrm>
            <a:off x="960120" y="1636776"/>
            <a:ext cx="2194560" cy="384048"/>
          </a:xfrm>
          <a:prstGeom prst="roundRect">
            <a:avLst>
              <a:gd name="adj" fmla="val 19048"/>
            </a:avLst>
          </a:prstGeom>
          <a:solidFill>
            <a:srgbClr val="0F4C3A"/>
          </a:solidFill>
          <a:ln w="12700">
            <a:solidFill>
              <a:srgbClr val="0F4C3A"/>
            </a:solidFill>
            <a:prstDash val="solid"/>
          </a:ln>
        </p:spPr>
      </p:sp>
      <p:pic>
        <p:nvPicPr>
          <p:cNvPr id="15" name="Image 3" descr="preencoded.png">    </p:cNvPr>
          <p:cNvPicPr>
            <a:picLocks noChangeAspect="1"/>
          </p:cNvPicPr>
          <p:nvPr/>
        </p:nvPicPr>
        <p:blipFill>
          <a:blip r:embed="rId4"/>
          <a:stretch>
            <a:fillRect/>
          </a:stretch>
        </p:blipFill>
        <p:spPr>
          <a:xfrm>
            <a:off x="1051560" y="1709928"/>
            <a:ext cx="237744" cy="237744"/>
          </a:xfrm>
          <a:prstGeom prst="rect">
            <a:avLst/>
          </a:prstGeom>
        </p:spPr>
      </p:pic>
      <p:sp>
        <p:nvSpPr>
          <p:cNvPr id="16" name="Text 10"/>
          <p:cNvSpPr txBox="1"/>
          <p:nvPr/>
        </p:nvSpPr>
        <p:spPr>
          <a:xfrm>
            <a:off x="1371600" y="1636776"/>
            <a:ext cx="1737360" cy="384048"/>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Kelompok_1</a:t>
            </a:r>
            <a:endParaRPr lang="en-US" sz="1150" dirty="0"/>
          </a:p>
        </p:txBody>
      </p:sp>
      <p:sp>
        <p:nvSpPr>
          <p:cNvPr id="17" name="Shape 11"/>
          <p:cNvSpPr/>
          <p:nvPr/>
        </p:nvSpPr>
        <p:spPr>
          <a:xfrm>
            <a:off x="731520" y="1481328"/>
            <a:ext cx="0" cy="2185416"/>
          </a:xfrm>
          <a:prstGeom prst="line">
            <a:avLst/>
          </a:prstGeom>
          <a:noFill/>
          <a:ln w="19050">
            <a:solidFill>
              <a:srgbClr val="1F7A5C"/>
            </a:solidFill>
            <a:prstDash val="solid"/>
          </a:ln>
        </p:spPr>
      </p:sp>
      <p:sp>
        <p:nvSpPr>
          <p:cNvPr id="18" name="Shape 12"/>
          <p:cNvSpPr/>
          <p:nvPr/>
        </p:nvSpPr>
        <p:spPr>
          <a:xfrm>
            <a:off x="731520" y="3666744"/>
            <a:ext cx="228600" cy="0"/>
          </a:xfrm>
          <a:prstGeom prst="line">
            <a:avLst/>
          </a:prstGeom>
          <a:noFill/>
          <a:ln w="19050">
            <a:solidFill>
              <a:srgbClr val="1F7A5C"/>
            </a:solidFill>
            <a:prstDash val="solid"/>
          </a:ln>
        </p:spPr>
      </p:sp>
      <p:sp>
        <p:nvSpPr>
          <p:cNvPr id="19" name="Shape 13"/>
          <p:cNvSpPr/>
          <p:nvPr/>
        </p:nvSpPr>
        <p:spPr>
          <a:xfrm>
            <a:off x="960120" y="3474720"/>
            <a:ext cx="2194560" cy="384048"/>
          </a:xfrm>
          <a:prstGeom prst="roundRect">
            <a:avLst>
              <a:gd name="adj" fmla="val 19048"/>
            </a:avLst>
          </a:prstGeom>
          <a:solidFill>
            <a:srgbClr val="E6F2EC"/>
          </a:solidFill>
          <a:ln w="12700">
            <a:solidFill>
              <a:srgbClr val="E6F2EC"/>
            </a:solidFill>
            <a:prstDash val="solid"/>
          </a:ln>
        </p:spPr>
      </p:sp>
      <p:pic>
        <p:nvPicPr>
          <p:cNvPr id="20" name="Image 4" descr="preencoded.png">    </p:cNvPr>
          <p:cNvPicPr>
            <a:picLocks noChangeAspect="1"/>
          </p:cNvPicPr>
          <p:nvPr/>
        </p:nvPicPr>
        <p:blipFill>
          <a:blip r:embed="rId5"/>
          <a:stretch>
            <a:fillRect/>
          </a:stretch>
        </p:blipFill>
        <p:spPr>
          <a:xfrm>
            <a:off x="1051560" y="3547872"/>
            <a:ext cx="237744" cy="237744"/>
          </a:xfrm>
          <a:prstGeom prst="rect">
            <a:avLst/>
          </a:prstGeom>
        </p:spPr>
      </p:pic>
      <p:sp>
        <p:nvSpPr>
          <p:cNvPr id="21" name="Text 14"/>
          <p:cNvSpPr txBox="1"/>
          <p:nvPr/>
        </p:nvSpPr>
        <p:spPr>
          <a:xfrm>
            <a:off x="1371600" y="3474720"/>
            <a:ext cx="1737360" cy="384048"/>
          </a:xfrm>
          <a:prstGeom prst="rect">
            <a:avLst/>
          </a:prstGeom>
          <a:noFill/>
          <a:ln/>
        </p:spPr>
        <p:txBody>
          <a:bodyPr wrap="square" lIns="0" tIns="0" rIns="0" bIns="0" rtlCol="0" anchor="ctr"/>
          <a:lstStyle/>
          <a:p>
            <a:pPr indent="0" marL="0">
              <a:buNone/>
            </a:pPr>
            <a:r>
              <a:rPr lang="en-US" sz="1150" b="1" dirty="0">
                <a:solidFill>
                  <a:srgbClr val="1E2A26"/>
                </a:solidFill>
                <a:latin typeface="Courier New" pitchFamily="34" charset="0"/>
                <a:ea typeface="Courier New" pitchFamily="34" charset="-122"/>
                <a:cs typeface="Courier New" pitchFamily="34" charset="-120"/>
              </a:rPr>
              <a:t>Kelompok_2</a:t>
            </a:r>
            <a:endParaRPr lang="en-US" sz="1150" dirty="0"/>
          </a:p>
        </p:txBody>
      </p:sp>
      <p:sp>
        <p:nvSpPr>
          <p:cNvPr id="22" name="Shape 15"/>
          <p:cNvSpPr/>
          <p:nvPr/>
        </p:nvSpPr>
        <p:spPr>
          <a:xfrm>
            <a:off x="731520" y="1481328"/>
            <a:ext cx="0" cy="2688336"/>
          </a:xfrm>
          <a:prstGeom prst="line">
            <a:avLst/>
          </a:prstGeom>
          <a:noFill/>
          <a:ln w="19050">
            <a:solidFill>
              <a:srgbClr val="1F7A5C"/>
            </a:solidFill>
            <a:prstDash val="solid"/>
          </a:ln>
        </p:spPr>
      </p:sp>
      <p:sp>
        <p:nvSpPr>
          <p:cNvPr id="23" name="Shape 16"/>
          <p:cNvSpPr/>
          <p:nvPr/>
        </p:nvSpPr>
        <p:spPr>
          <a:xfrm>
            <a:off x="731520" y="4169664"/>
            <a:ext cx="228600" cy="0"/>
          </a:xfrm>
          <a:prstGeom prst="line">
            <a:avLst/>
          </a:prstGeom>
          <a:noFill/>
          <a:ln w="19050">
            <a:solidFill>
              <a:srgbClr val="1F7A5C"/>
            </a:solidFill>
            <a:prstDash val="solid"/>
          </a:ln>
        </p:spPr>
      </p:sp>
      <p:sp>
        <p:nvSpPr>
          <p:cNvPr id="24" name="Shape 17"/>
          <p:cNvSpPr/>
          <p:nvPr/>
        </p:nvSpPr>
        <p:spPr>
          <a:xfrm>
            <a:off x="960120" y="3977640"/>
            <a:ext cx="2194560" cy="384048"/>
          </a:xfrm>
          <a:prstGeom prst="roundRect">
            <a:avLst>
              <a:gd name="adj" fmla="val 19048"/>
            </a:avLst>
          </a:prstGeom>
          <a:solidFill>
            <a:srgbClr val="E6F2EC"/>
          </a:solidFill>
          <a:ln w="12700">
            <a:solidFill>
              <a:srgbClr val="E6F2EC"/>
            </a:solidFill>
            <a:prstDash val="solid"/>
          </a:ln>
        </p:spPr>
      </p:sp>
      <p:pic>
        <p:nvPicPr>
          <p:cNvPr id="25" name="Image 5" descr="preencoded.png">    </p:cNvPr>
          <p:cNvPicPr>
            <a:picLocks noChangeAspect="1"/>
          </p:cNvPicPr>
          <p:nvPr/>
        </p:nvPicPr>
        <p:blipFill>
          <a:blip r:embed="rId6"/>
          <a:stretch>
            <a:fillRect/>
          </a:stretch>
        </p:blipFill>
        <p:spPr>
          <a:xfrm>
            <a:off x="1051560" y="4050792"/>
            <a:ext cx="237744" cy="237744"/>
          </a:xfrm>
          <a:prstGeom prst="rect">
            <a:avLst/>
          </a:prstGeom>
        </p:spPr>
      </p:pic>
      <p:sp>
        <p:nvSpPr>
          <p:cNvPr id="26" name="Text 18"/>
          <p:cNvSpPr txBox="1"/>
          <p:nvPr/>
        </p:nvSpPr>
        <p:spPr>
          <a:xfrm>
            <a:off x="1371600" y="3977640"/>
            <a:ext cx="1737360" cy="384048"/>
          </a:xfrm>
          <a:prstGeom prst="rect">
            <a:avLst/>
          </a:prstGeom>
          <a:noFill/>
          <a:ln/>
        </p:spPr>
        <p:txBody>
          <a:bodyPr wrap="square" lIns="0" tIns="0" rIns="0" bIns="0" rtlCol="0" anchor="ctr"/>
          <a:lstStyle/>
          <a:p>
            <a:pPr indent="0" marL="0">
              <a:buNone/>
            </a:pPr>
            <a:r>
              <a:rPr lang="en-US" sz="1150" b="1" dirty="0">
                <a:solidFill>
                  <a:srgbClr val="1E2A26"/>
                </a:solidFill>
                <a:latin typeface="Courier New" pitchFamily="34" charset="0"/>
                <a:ea typeface="Courier New" pitchFamily="34" charset="-122"/>
                <a:cs typeface="Courier New" pitchFamily="34" charset="-120"/>
              </a:rPr>
              <a:t>Kelompok_3</a:t>
            </a:r>
            <a:endParaRPr lang="en-US" sz="1150" dirty="0"/>
          </a:p>
        </p:txBody>
      </p:sp>
      <p:sp>
        <p:nvSpPr>
          <p:cNvPr id="27" name="Shape 19"/>
          <p:cNvSpPr/>
          <p:nvPr/>
        </p:nvSpPr>
        <p:spPr>
          <a:xfrm>
            <a:off x="1234440" y="2020824"/>
            <a:ext cx="0" cy="301752"/>
          </a:xfrm>
          <a:prstGeom prst="line">
            <a:avLst/>
          </a:prstGeom>
          <a:noFill/>
          <a:ln w="19050">
            <a:solidFill>
              <a:srgbClr val="D4A017"/>
            </a:solidFill>
            <a:prstDash val="solid"/>
          </a:ln>
        </p:spPr>
      </p:sp>
      <p:sp>
        <p:nvSpPr>
          <p:cNvPr id="28" name="Shape 20"/>
          <p:cNvSpPr/>
          <p:nvPr/>
        </p:nvSpPr>
        <p:spPr>
          <a:xfrm>
            <a:off x="1234440" y="2322576"/>
            <a:ext cx="228600" cy="0"/>
          </a:xfrm>
          <a:prstGeom prst="line">
            <a:avLst/>
          </a:prstGeom>
          <a:noFill/>
          <a:ln w="19050">
            <a:solidFill>
              <a:srgbClr val="D4A017"/>
            </a:solidFill>
            <a:prstDash val="solid"/>
          </a:ln>
        </p:spPr>
      </p:sp>
      <p:sp>
        <p:nvSpPr>
          <p:cNvPr id="29" name="Shape 21"/>
          <p:cNvSpPr/>
          <p:nvPr/>
        </p:nvSpPr>
        <p:spPr>
          <a:xfrm>
            <a:off x="1463040" y="2130552"/>
            <a:ext cx="1645920" cy="384048"/>
          </a:xfrm>
          <a:prstGeom prst="roundRect">
            <a:avLst>
              <a:gd name="adj" fmla="val 19048"/>
            </a:avLst>
          </a:prstGeom>
          <a:solidFill>
            <a:srgbClr val="E6F2EC"/>
          </a:solidFill>
          <a:ln w="12700">
            <a:solidFill>
              <a:srgbClr val="E6F2EC"/>
            </a:solidFill>
            <a:prstDash val="solid"/>
          </a:ln>
        </p:spPr>
      </p:sp>
      <p:pic>
        <p:nvPicPr>
          <p:cNvPr id="30" name="Image 6" descr="preencoded.png">    </p:cNvPr>
          <p:cNvPicPr>
            <a:picLocks noChangeAspect="1"/>
          </p:cNvPicPr>
          <p:nvPr/>
        </p:nvPicPr>
        <p:blipFill>
          <a:blip r:embed="rId7"/>
          <a:stretch>
            <a:fillRect/>
          </a:stretch>
        </p:blipFill>
        <p:spPr>
          <a:xfrm>
            <a:off x="1554480" y="2203704"/>
            <a:ext cx="237744" cy="237744"/>
          </a:xfrm>
          <a:prstGeom prst="rect">
            <a:avLst/>
          </a:prstGeom>
        </p:spPr>
      </p:pic>
      <p:sp>
        <p:nvSpPr>
          <p:cNvPr id="31" name="Text 22"/>
          <p:cNvSpPr txBox="1"/>
          <p:nvPr/>
        </p:nvSpPr>
        <p:spPr>
          <a:xfrm>
            <a:off x="1874520" y="2130552"/>
            <a:ext cx="1188720" cy="384048"/>
          </a:xfrm>
          <a:prstGeom prst="rect">
            <a:avLst/>
          </a:prstGeom>
          <a:noFill/>
          <a:ln/>
        </p:spPr>
        <p:txBody>
          <a:bodyPr wrap="square" lIns="0" tIns="0" rIns="0" bIns="0" rtlCol="0" anchor="ctr"/>
          <a:lstStyle/>
          <a:p>
            <a:pPr indent="0" marL="0">
              <a:buNone/>
            </a:pPr>
            <a:r>
              <a:rPr lang="en-US" sz="1150" b="1" dirty="0">
                <a:solidFill>
                  <a:srgbClr val="1E2A26"/>
                </a:solidFill>
                <a:latin typeface="Courier New" pitchFamily="34" charset="0"/>
                <a:ea typeface="Courier New" pitchFamily="34" charset="-122"/>
                <a:cs typeface="Courier New" pitchFamily="34" charset="-120"/>
              </a:rPr>
              <a:t>Ahmad</a:t>
            </a:r>
            <a:endParaRPr lang="en-US" sz="1150" dirty="0"/>
          </a:p>
        </p:txBody>
      </p:sp>
      <p:sp>
        <p:nvSpPr>
          <p:cNvPr id="32" name="Shape 23"/>
          <p:cNvSpPr/>
          <p:nvPr/>
        </p:nvSpPr>
        <p:spPr>
          <a:xfrm>
            <a:off x="1234440" y="2020824"/>
            <a:ext cx="0" cy="731520"/>
          </a:xfrm>
          <a:prstGeom prst="line">
            <a:avLst/>
          </a:prstGeom>
          <a:noFill/>
          <a:ln w="19050">
            <a:solidFill>
              <a:srgbClr val="D4A017"/>
            </a:solidFill>
            <a:prstDash val="solid"/>
          </a:ln>
        </p:spPr>
      </p:sp>
      <p:sp>
        <p:nvSpPr>
          <p:cNvPr id="33" name="Shape 24"/>
          <p:cNvSpPr/>
          <p:nvPr/>
        </p:nvSpPr>
        <p:spPr>
          <a:xfrm>
            <a:off x="1234440" y="2752344"/>
            <a:ext cx="228600" cy="0"/>
          </a:xfrm>
          <a:prstGeom prst="line">
            <a:avLst/>
          </a:prstGeom>
          <a:noFill/>
          <a:ln w="19050">
            <a:solidFill>
              <a:srgbClr val="D4A017"/>
            </a:solidFill>
            <a:prstDash val="solid"/>
          </a:ln>
        </p:spPr>
      </p:sp>
      <p:sp>
        <p:nvSpPr>
          <p:cNvPr id="34" name="Shape 25"/>
          <p:cNvSpPr/>
          <p:nvPr/>
        </p:nvSpPr>
        <p:spPr>
          <a:xfrm>
            <a:off x="1463040" y="2560320"/>
            <a:ext cx="1645920" cy="384048"/>
          </a:xfrm>
          <a:prstGeom prst="roundRect">
            <a:avLst>
              <a:gd name="adj" fmla="val 19048"/>
            </a:avLst>
          </a:prstGeom>
          <a:solidFill>
            <a:srgbClr val="E6F2EC"/>
          </a:solidFill>
          <a:ln w="12700">
            <a:solidFill>
              <a:srgbClr val="E6F2EC"/>
            </a:solidFill>
            <a:prstDash val="solid"/>
          </a:ln>
        </p:spPr>
      </p:sp>
      <p:pic>
        <p:nvPicPr>
          <p:cNvPr id="35" name="Image 7" descr="preencoded.png">    </p:cNvPr>
          <p:cNvPicPr>
            <a:picLocks noChangeAspect="1"/>
          </p:cNvPicPr>
          <p:nvPr/>
        </p:nvPicPr>
        <p:blipFill>
          <a:blip r:embed="rId8"/>
          <a:stretch>
            <a:fillRect/>
          </a:stretch>
        </p:blipFill>
        <p:spPr>
          <a:xfrm>
            <a:off x="1554480" y="2633472"/>
            <a:ext cx="237744" cy="237744"/>
          </a:xfrm>
          <a:prstGeom prst="rect">
            <a:avLst/>
          </a:prstGeom>
        </p:spPr>
      </p:pic>
      <p:sp>
        <p:nvSpPr>
          <p:cNvPr id="36" name="Text 26"/>
          <p:cNvSpPr txBox="1"/>
          <p:nvPr/>
        </p:nvSpPr>
        <p:spPr>
          <a:xfrm>
            <a:off x="1874520" y="2560320"/>
            <a:ext cx="1188720" cy="384048"/>
          </a:xfrm>
          <a:prstGeom prst="rect">
            <a:avLst/>
          </a:prstGeom>
          <a:noFill/>
          <a:ln/>
        </p:spPr>
        <p:txBody>
          <a:bodyPr wrap="square" lIns="0" tIns="0" rIns="0" bIns="0" rtlCol="0" anchor="ctr"/>
          <a:lstStyle/>
          <a:p>
            <a:pPr indent="0" marL="0">
              <a:buNone/>
            </a:pPr>
            <a:r>
              <a:rPr lang="en-US" sz="1150" b="1" dirty="0">
                <a:solidFill>
                  <a:srgbClr val="1E2A26"/>
                </a:solidFill>
                <a:latin typeface="Courier New" pitchFamily="34" charset="0"/>
                <a:ea typeface="Courier New" pitchFamily="34" charset="-122"/>
                <a:cs typeface="Courier New" pitchFamily="34" charset="-120"/>
              </a:rPr>
              <a:t>Bilal</a:t>
            </a:r>
            <a:endParaRPr lang="en-US" sz="1150" dirty="0"/>
          </a:p>
        </p:txBody>
      </p:sp>
      <p:sp>
        <p:nvSpPr>
          <p:cNvPr id="37" name="Shape 27"/>
          <p:cNvSpPr/>
          <p:nvPr/>
        </p:nvSpPr>
        <p:spPr>
          <a:xfrm>
            <a:off x="1234440" y="2020824"/>
            <a:ext cx="0" cy="1161288"/>
          </a:xfrm>
          <a:prstGeom prst="line">
            <a:avLst/>
          </a:prstGeom>
          <a:noFill/>
          <a:ln w="19050">
            <a:solidFill>
              <a:srgbClr val="D4A017"/>
            </a:solidFill>
            <a:prstDash val="solid"/>
          </a:ln>
        </p:spPr>
      </p:sp>
      <p:sp>
        <p:nvSpPr>
          <p:cNvPr id="38" name="Shape 28"/>
          <p:cNvSpPr/>
          <p:nvPr/>
        </p:nvSpPr>
        <p:spPr>
          <a:xfrm>
            <a:off x="1234440" y="3182112"/>
            <a:ext cx="228600" cy="0"/>
          </a:xfrm>
          <a:prstGeom prst="line">
            <a:avLst/>
          </a:prstGeom>
          <a:noFill/>
          <a:ln w="19050">
            <a:solidFill>
              <a:srgbClr val="D4A017"/>
            </a:solidFill>
            <a:prstDash val="solid"/>
          </a:ln>
        </p:spPr>
      </p:sp>
      <p:sp>
        <p:nvSpPr>
          <p:cNvPr id="39" name="Shape 29"/>
          <p:cNvSpPr/>
          <p:nvPr/>
        </p:nvSpPr>
        <p:spPr>
          <a:xfrm>
            <a:off x="1463040" y="2990088"/>
            <a:ext cx="1645920" cy="384048"/>
          </a:xfrm>
          <a:prstGeom prst="roundRect">
            <a:avLst>
              <a:gd name="adj" fmla="val 19048"/>
            </a:avLst>
          </a:prstGeom>
          <a:solidFill>
            <a:srgbClr val="E6F2EC"/>
          </a:solidFill>
          <a:ln w="12700">
            <a:solidFill>
              <a:srgbClr val="E6F2EC"/>
            </a:solidFill>
            <a:prstDash val="solid"/>
          </a:ln>
        </p:spPr>
      </p:sp>
      <p:pic>
        <p:nvPicPr>
          <p:cNvPr id="40" name="Image 8" descr="preencoded.png">    </p:cNvPr>
          <p:cNvPicPr>
            <a:picLocks noChangeAspect="1"/>
          </p:cNvPicPr>
          <p:nvPr/>
        </p:nvPicPr>
        <p:blipFill>
          <a:blip r:embed="rId9"/>
          <a:stretch>
            <a:fillRect/>
          </a:stretch>
        </p:blipFill>
        <p:spPr>
          <a:xfrm>
            <a:off x="1554480" y="3063240"/>
            <a:ext cx="237744" cy="237744"/>
          </a:xfrm>
          <a:prstGeom prst="rect">
            <a:avLst/>
          </a:prstGeom>
        </p:spPr>
      </p:pic>
      <p:sp>
        <p:nvSpPr>
          <p:cNvPr id="41" name="Text 30"/>
          <p:cNvSpPr txBox="1"/>
          <p:nvPr/>
        </p:nvSpPr>
        <p:spPr>
          <a:xfrm>
            <a:off x="1874520" y="2990088"/>
            <a:ext cx="1188720" cy="384048"/>
          </a:xfrm>
          <a:prstGeom prst="rect">
            <a:avLst/>
          </a:prstGeom>
          <a:noFill/>
          <a:ln/>
        </p:spPr>
        <p:txBody>
          <a:bodyPr wrap="square" lIns="0" tIns="0" rIns="0" bIns="0" rtlCol="0" anchor="ctr"/>
          <a:lstStyle/>
          <a:p>
            <a:pPr indent="0" marL="0">
              <a:buNone/>
            </a:pPr>
            <a:r>
              <a:rPr lang="en-US" sz="1150" b="1" dirty="0">
                <a:solidFill>
                  <a:srgbClr val="1E2A26"/>
                </a:solidFill>
                <a:latin typeface="Courier New" pitchFamily="34" charset="0"/>
                <a:ea typeface="Courier New" pitchFamily="34" charset="-122"/>
                <a:cs typeface="Courier New" pitchFamily="34" charset="-120"/>
              </a:rPr>
              <a:t>Fauzan</a:t>
            </a:r>
            <a:endParaRPr lang="en-US" sz="1150" dirty="0"/>
          </a:p>
        </p:txBody>
      </p:sp>
      <p:sp>
        <p:nvSpPr>
          <p:cNvPr id="42" name="Shape 31"/>
          <p:cNvSpPr/>
          <p:nvPr/>
        </p:nvSpPr>
        <p:spPr>
          <a:xfrm>
            <a:off x="4023360" y="1097280"/>
            <a:ext cx="4663440" cy="3520440"/>
          </a:xfrm>
          <a:prstGeom prst="roundRect">
            <a:avLst>
              <a:gd name="adj" fmla="val 3117"/>
            </a:avLst>
          </a:prstGeom>
          <a:solidFill>
            <a:srgbClr val="FBF1D3"/>
          </a:solidFill>
          <a:ln w="12700">
            <a:solidFill>
              <a:srgbClr val="FBF1D3"/>
            </a:solidFill>
            <a:prstDash val="solid"/>
          </a:ln>
        </p:spPr>
      </p:sp>
      <p:sp>
        <p:nvSpPr>
          <p:cNvPr id="43" name="Text 32"/>
          <p:cNvSpPr txBox="1"/>
          <p:nvPr/>
        </p:nvSpPr>
        <p:spPr>
          <a:xfrm>
            <a:off x="4251960" y="1234440"/>
            <a:ext cx="4206240" cy="365760"/>
          </a:xfrm>
          <a:prstGeom prst="rect">
            <a:avLst/>
          </a:prstGeom>
          <a:noFill/>
          <a:ln/>
        </p:spPr>
        <p:txBody>
          <a:bodyPr wrap="square" lIns="0" tIns="0" rIns="0" bIns="0" rtlCol="0" anchor="t"/>
          <a:lstStyle/>
          <a:p>
            <a:pPr indent="0" marL="0">
              <a:buNone/>
            </a:pPr>
            <a:r>
              <a:rPr lang="en-US" sz="1700" b="1" dirty="0">
                <a:solidFill>
                  <a:srgbClr val="0F4C3A"/>
                </a:solidFill>
                <a:latin typeface="Cambria" pitchFamily="34" charset="0"/>
                <a:ea typeface="Cambria" pitchFamily="34" charset="-122"/>
                <a:cs typeface="Cambria" pitchFamily="34" charset="-120"/>
              </a:rPr>
              <a:t>Aturan nama file</a:t>
            </a:r>
            <a:endParaRPr lang="en-US" sz="1700" dirty="0"/>
          </a:p>
        </p:txBody>
      </p:sp>
      <p:sp>
        <p:nvSpPr>
          <p:cNvPr id="44" name="Text 33"/>
          <p:cNvSpPr txBox="1"/>
          <p:nvPr/>
        </p:nvSpPr>
        <p:spPr>
          <a:xfrm>
            <a:off x="4251960" y="1691640"/>
            <a:ext cx="4206240" cy="365760"/>
          </a:xfrm>
          <a:prstGeom prst="rect">
            <a:avLst/>
          </a:prstGeom>
          <a:noFill/>
          <a:ln/>
        </p:spPr>
        <p:txBody>
          <a:bodyPr wrap="square" lIns="0" tIns="0" rIns="0" bIns="0" rtlCol="0" anchor="t"/>
          <a:lstStyle/>
          <a:p>
            <a:pPr indent="0" marL="0">
              <a:buNone/>
            </a:pPr>
            <a:r>
              <a:rPr lang="en-US" sz="1500" b="1" dirty="0">
                <a:solidFill>
                  <a:srgbClr val="E53935"/>
                </a:solidFill>
                <a:latin typeface="Courier New" pitchFamily="34" charset="0"/>
                <a:ea typeface="Courier New" pitchFamily="34" charset="-122"/>
                <a:cs typeface="Courier New" pitchFamily="34" charset="-120"/>
              </a:rPr>
              <a:t>Tanggal_Nama_Judul</a:t>
            </a:r>
            <a:endParaRPr lang="en-US" sz="1500" dirty="0"/>
          </a:p>
        </p:txBody>
      </p:sp>
      <p:sp>
        <p:nvSpPr>
          <p:cNvPr id="45" name="Text 34"/>
          <p:cNvSpPr txBox="1"/>
          <p:nvPr/>
        </p:nvSpPr>
        <p:spPr>
          <a:xfrm>
            <a:off x="4251960" y="2194560"/>
            <a:ext cx="4206240" cy="27432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Contoh:</a:t>
            </a:r>
            <a:endParaRPr lang="en-US" sz="1300" dirty="0"/>
          </a:p>
        </p:txBody>
      </p:sp>
      <p:sp>
        <p:nvSpPr>
          <p:cNvPr id="46" name="Text 35"/>
          <p:cNvSpPr txBox="1"/>
          <p:nvPr/>
        </p:nvSpPr>
        <p:spPr>
          <a:xfrm>
            <a:off x="4251960" y="2514600"/>
            <a:ext cx="4297680" cy="347472"/>
          </a:xfrm>
          <a:prstGeom prst="rect">
            <a:avLst/>
          </a:prstGeom>
          <a:noFill/>
          <a:ln/>
        </p:spPr>
        <p:txBody>
          <a:bodyPr wrap="square" lIns="0" tIns="0" rIns="0" bIns="0" rtlCol="0" anchor="t"/>
          <a:lstStyle/>
          <a:p>
            <a:pPr indent="0" marL="0">
              <a:buNone/>
            </a:pPr>
            <a:r>
              <a:rPr lang="en-US" sz="1300" dirty="0">
                <a:solidFill>
                  <a:srgbClr val="1E2A26"/>
                </a:solidFill>
                <a:latin typeface="Courier New" pitchFamily="34" charset="0"/>
                <a:ea typeface="Courier New" pitchFamily="34" charset="-122"/>
                <a:cs typeface="Courier New" pitchFamily="34" charset="-120"/>
              </a:rPr>
              <a:t>2026-10-08_Ahmad_Poster</a:t>
            </a:r>
            <a:endParaRPr lang="en-US" sz="1300" dirty="0"/>
          </a:p>
        </p:txBody>
      </p:sp>
      <p:sp>
        <p:nvSpPr>
          <p:cNvPr id="47" name="Text 36"/>
          <p:cNvSpPr txBox="1"/>
          <p:nvPr/>
        </p:nvSpPr>
        <p:spPr>
          <a:xfrm>
            <a:off x="4251960" y="2898648"/>
            <a:ext cx="4297680" cy="347472"/>
          </a:xfrm>
          <a:prstGeom prst="rect">
            <a:avLst/>
          </a:prstGeom>
          <a:noFill/>
          <a:ln/>
        </p:spPr>
        <p:txBody>
          <a:bodyPr wrap="square" lIns="0" tIns="0" rIns="0" bIns="0" rtlCol="0" anchor="t"/>
          <a:lstStyle/>
          <a:p>
            <a:pPr indent="0" marL="0">
              <a:buNone/>
            </a:pPr>
            <a:r>
              <a:rPr lang="en-US" sz="1300" dirty="0">
                <a:solidFill>
                  <a:srgbClr val="1E2A26"/>
                </a:solidFill>
                <a:latin typeface="Courier New" pitchFamily="34" charset="0"/>
                <a:ea typeface="Courier New" pitchFamily="34" charset="-122"/>
                <a:cs typeface="Courier New" pitchFamily="34" charset="-120"/>
              </a:rPr>
              <a:t>2026-10-15_Bilal_Artikel</a:t>
            </a:r>
            <a:endParaRPr lang="en-US" sz="1300" dirty="0"/>
          </a:p>
        </p:txBody>
      </p:sp>
      <p:sp>
        <p:nvSpPr>
          <p:cNvPr id="48" name="Text 37"/>
          <p:cNvSpPr txBox="1"/>
          <p:nvPr/>
        </p:nvSpPr>
        <p:spPr>
          <a:xfrm>
            <a:off x="4251960" y="3282696"/>
            <a:ext cx="4297680" cy="347472"/>
          </a:xfrm>
          <a:prstGeom prst="rect">
            <a:avLst/>
          </a:prstGeom>
          <a:noFill/>
          <a:ln/>
        </p:spPr>
        <p:txBody>
          <a:bodyPr wrap="square" lIns="0" tIns="0" rIns="0" bIns="0" rtlCol="0" anchor="t"/>
          <a:lstStyle/>
          <a:p>
            <a:pPr indent="0" marL="0">
              <a:buNone/>
            </a:pPr>
            <a:r>
              <a:rPr lang="en-US" sz="1300" dirty="0">
                <a:solidFill>
                  <a:srgbClr val="1E2A26"/>
                </a:solidFill>
                <a:latin typeface="Courier New" pitchFamily="34" charset="0"/>
                <a:ea typeface="Courier New" pitchFamily="34" charset="-122"/>
                <a:cs typeface="Courier New" pitchFamily="34" charset="-120"/>
              </a:rPr>
              <a:t>2026-10-22_Fauzan_Laporan</a:t>
            </a:r>
            <a:endParaRPr lang="en-US" sz="1300" dirty="0"/>
          </a:p>
        </p:txBody>
      </p:sp>
      <p:sp>
        <p:nvSpPr>
          <p:cNvPr id="49" name="Text 38"/>
          <p:cNvSpPr txBox="1"/>
          <p:nvPr/>
        </p:nvSpPr>
        <p:spPr>
          <a:xfrm>
            <a:off x="4251960" y="3749040"/>
            <a:ext cx="4206240" cy="7315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Tanggal ditulis tahun-bulan-hari agar urut otomatis.</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Hak Akses: Siapa Boleh Apa?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Viewer</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Hanya bisa melihat dan membaca. Tidak bisa mengubah apa pun.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Commenter</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Bisa melihat dan memberi komentar, tetapi tidak bisa mengubah isi.</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Editor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Bisa melihat, mengubah, menambah, dan menghapus isi folder.</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Owner (Pemilik)</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Pembuat folder. Mengatur siapa saja yang boleh masuk dan hak aksesnya.</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Berbagi dengan 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Aman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Bagikan ke email tertentu saja</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General access: Restricted</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Beri hak Editor secukupnya</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Berbahaya</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Anyone with the link untuk data penting</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Membagikan link ke grup umum</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Semua orang diberi hak Editor</a:t>
            </a:r>
            <a:endParaRPr lang="en-US" sz="14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Membangun Sistem Folder Kelas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2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1–4</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folder kelompok dan anggota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Upload tugas dengan aturan nama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Membagikan folder (diperagakan guru)</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 Kelompok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Text 26"/>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5" name="Shape 27"/>
          <p:cNvSpPr/>
          <p:nvPr/>
        </p:nvSpPr>
        <p:spPr>
          <a:xfrm>
            <a:off x="660928" y="2692661"/>
            <a:ext cx="960120" cy="201168"/>
          </a:xfrm>
          <a:prstGeom prst="roundRect">
            <a:avLst>
              <a:gd name="adj" fmla="val 45455"/>
            </a:avLst>
          </a:prstGeom>
          <a:solidFill>
            <a:srgbClr val="C2E7FF"/>
          </a:solidFill>
          <a:ln w="12700">
            <a:solidFill>
              <a:srgbClr val="C2E7FF"/>
            </a:solidFill>
            <a:prstDash val="solid"/>
          </a:ln>
        </p:spPr>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Shared with me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Kelas 1 Wustha</a:t>
            </a:r>
            <a:endParaRPr lang="en-US" sz="800" dirty="0"/>
          </a:p>
        </p:txBody>
      </p:sp>
      <p:sp>
        <p:nvSpPr>
          <p:cNvPr id="45" name="Shape 36"/>
          <p:cNvSpPr/>
          <p:nvPr/>
        </p:nvSpPr>
        <p:spPr>
          <a:xfrm>
            <a:off x="642640" y="2674373"/>
            <a:ext cx="996696" cy="237744"/>
          </a:xfrm>
          <a:prstGeom prst="roundRect">
            <a:avLst>
              <a:gd name="adj" fmla="val 19231"/>
            </a:avLst>
          </a:prstGeom>
          <a:solidFill>
            <a:srgbClr val="FFFFFF">
              <a:alpha val="0"/>
            </a:srgbClr>
          </a:solidFill>
          <a:ln w="31750">
            <a:solidFill>
              <a:srgbClr val="E53935"/>
            </a:solidFill>
            <a:prstDash val="solid"/>
          </a:ln>
        </p:spPr>
      </p:sp>
      <p:sp>
        <p:nvSpPr>
          <p:cNvPr id="46" name="Shape 37"/>
          <p:cNvSpPr/>
          <p:nvPr/>
        </p:nvSpPr>
        <p:spPr>
          <a:xfrm>
            <a:off x="1502176" y="2537213"/>
            <a:ext cx="274320" cy="274320"/>
          </a:xfrm>
          <a:prstGeom prst="ellipse">
            <a:avLst/>
          </a:prstGeom>
          <a:solidFill>
            <a:srgbClr val="E53935"/>
          </a:solidFill>
          <a:ln w="12700">
            <a:solidFill>
              <a:srgbClr val="FFFFFF"/>
            </a:solidFill>
            <a:prstDash val="solid"/>
          </a:ln>
        </p:spPr>
      </p:sp>
      <p:sp>
        <p:nvSpPr>
          <p:cNvPr id="47" name="Text 38"/>
          <p:cNvSpPr txBox="1"/>
          <p:nvPr/>
        </p:nvSpPr>
        <p:spPr>
          <a:xfrm>
            <a:off x="1502176" y="25372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8" name="Image 7" descr="preencoded.png">    </p:cNvPr>
          <p:cNvPicPr>
            <a:picLocks noChangeAspect="1"/>
          </p:cNvPicPr>
          <p:nvPr/>
        </p:nvPicPr>
        <p:blipFill>
          <a:blip r:embed="rId8"/>
          <a:stretch>
            <a:fillRect/>
          </a:stretch>
        </p:blipFill>
        <p:spPr>
          <a:xfrm>
            <a:off x="1188994" y="2803304"/>
            <a:ext cx="237744" cy="237744"/>
          </a:xfrm>
          <a:prstGeom prst="rect">
            <a:avLst/>
          </a:prstGeom>
        </p:spPr>
      </p:pic>
      <p:sp>
        <p:nvSpPr>
          <p:cNvPr id="49" name="Shape 39"/>
          <p:cNvSpPr/>
          <p:nvPr/>
        </p:nvSpPr>
        <p:spPr>
          <a:xfrm>
            <a:off x="1712488" y="2610365"/>
            <a:ext cx="3707343" cy="265176"/>
          </a:xfrm>
          <a:prstGeom prst="roundRect">
            <a:avLst>
              <a:gd name="adj" fmla="val 17241"/>
            </a:avLst>
          </a:prstGeom>
          <a:solidFill>
            <a:srgbClr val="FFFFFF">
              <a:alpha val="0"/>
            </a:srgbClr>
          </a:solidFill>
          <a:ln w="31750">
            <a:solidFill>
              <a:srgbClr val="E53935"/>
            </a:solidFill>
            <a:prstDash val="solid"/>
          </a:ln>
        </p:spPr>
      </p:sp>
      <p:sp>
        <p:nvSpPr>
          <p:cNvPr id="50" name="Shape 40"/>
          <p:cNvSpPr/>
          <p:nvPr/>
        </p:nvSpPr>
        <p:spPr>
          <a:xfrm>
            <a:off x="5282672" y="2473205"/>
            <a:ext cx="274320" cy="274320"/>
          </a:xfrm>
          <a:prstGeom prst="ellipse">
            <a:avLst/>
          </a:prstGeom>
          <a:solidFill>
            <a:srgbClr val="E53935"/>
          </a:solidFill>
          <a:ln w="12700">
            <a:solidFill>
              <a:srgbClr val="FFFFFF"/>
            </a:solidFill>
            <a:prstDash val="solid"/>
          </a:ln>
        </p:spPr>
      </p:sp>
      <p:sp>
        <p:nvSpPr>
          <p:cNvPr id="51" name="Text 41"/>
          <p:cNvSpPr txBox="1"/>
          <p:nvPr/>
        </p:nvSpPr>
        <p:spPr>
          <a:xfrm>
            <a:off x="5282672" y="24732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2" name="Image 8" descr="preencoded.png">    </p:cNvPr>
          <p:cNvPicPr>
            <a:picLocks noChangeAspect="1"/>
          </p:cNvPicPr>
          <p:nvPr/>
        </p:nvPicPr>
        <p:blipFill>
          <a:blip r:embed="rId9"/>
          <a:stretch>
            <a:fillRect/>
          </a:stretch>
        </p:blipFill>
        <p:spPr>
          <a:xfrm>
            <a:off x="3749698" y="2754383"/>
            <a:ext cx="237744" cy="237744"/>
          </a:xfrm>
          <a:prstGeom prst="rect">
            <a:avLst/>
          </a:prstGeom>
        </p:spPr>
      </p:pic>
      <p:sp>
        <p:nvSpPr>
          <p:cNvPr id="53"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4"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Shared with me</a:t>
            </a:r>
            <a:endParaRPr lang="en-US" sz="1800" dirty="0"/>
          </a:p>
        </p:txBody>
      </p:sp>
      <p:sp>
        <p:nvSpPr>
          <p:cNvPr id="55"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Masuk ke Google Drive. Di panel kiri, klik Shared with me untuk melihat folder yang dibagikan guru.</a:t>
            </a:r>
            <a:endParaRPr lang="en-US" sz="1300" dirty="0"/>
          </a:p>
        </p:txBody>
      </p:sp>
      <p:sp>
        <p:nvSpPr>
          <p:cNvPr id="56" name="Shape 4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7"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58" name="Text 4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Shared with me = dibagikan kepada saya.</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 Kelompok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Text 26"/>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5" name="Shape 27"/>
          <p:cNvSpPr/>
          <p:nvPr/>
        </p:nvSpPr>
        <p:spPr>
          <a:xfrm>
            <a:off x="660928" y="2692661"/>
            <a:ext cx="960120" cy="201168"/>
          </a:xfrm>
          <a:prstGeom prst="roundRect">
            <a:avLst>
              <a:gd name="adj" fmla="val 45455"/>
            </a:avLst>
          </a:prstGeom>
          <a:solidFill>
            <a:srgbClr val="C2E7FF"/>
          </a:solidFill>
          <a:ln w="12700">
            <a:solidFill>
              <a:srgbClr val="C2E7FF"/>
            </a:solidFill>
            <a:prstDash val="solid"/>
          </a:ln>
        </p:spPr>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Shared with me  ›  Kelas 1 Wustha</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sp>
        <p:nvSpPr>
          <p:cNvPr id="43" name="Shape 35"/>
          <p:cNvSpPr/>
          <p:nvPr/>
        </p:nvSpPr>
        <p:spPr>
          <a:xfrm>
            <a:off x="697504" y="2390909"/>
            <a:ext cx="1234440" cy="1463040"/>
          </a:xfrm>
          <a:prstGeom prst="rect">
            <a:avLst/>
          </a:prstGeom>
          <a:solidFill>
            <a:srgbClr val="FFFFFF"/>
          </a:solidFill>
          <a:ln w="9525">
            <a:solidFill>
              <a:srgbClr val="AAAAAA"/>
            </a:solidFill>
            <a:prstDash val="solid"/>
          </a:ln>
        </p:spPr>
      </p:sp>
      <p:sp>
        <p:nvSpPr>
          <p:cNvPr id="44" name="Text 36"/>
          <p:cNvSpPr txBox="1"/>
          <p:nvPr/>
        </p:nvSpPr>
        <p:spPr>
          <a:xfrm>
            <a:off x="807232" y="241834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folder</a:t>
            </a:r>
            <a:endParaRPr lang="en-US" sz="800" dirty="0"/>
          </a:p>
        </p:txBody>
      </p:sp>
      <p:sp>
        <p:nvSpPr>
          <p:cNvPr id="45" name="Shape 37"/>
          <p:cNvSpPr/>
          <p:nvPr/>
        </p:nvSpPr>
        <p:spPr>
          <a:xfrm>
            <a:off x="734080" y="2710949"/>
            <a:ext cx="1161288" cy="0"/>
          </a:xfrm>
          <a:prstGeom prst="line">
            <a:avLst/>
          </a:prstGeom>
          <a:noFill/>
          <a:ln w="6350">
            <a:solidFill>
              <a:srgbClr val="DDDDDD"/>
            </a:solidFill>
            <a:prstDash val="solid"/>
          </a:ln>
        </p:spPr>
      </p:sp>
      <p:sp>
        <p:nvSpPr>
          <p:cNvPr id="46" name="Text 38"/>
          <p:cNvSpPr txBox="1"/>
          <p:nvPr/>
        </p:nvSpPr>
        <p:spPr>
          <a:xfrm>
            <a:off x="807232" y="282067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upload</a:t>
            </a:r>
            <a:endParaRPr lang="en-US" sz="800" dirty="0"/>
          </a:p>
        </p:txBody>
      </p:sp>
      <p:sp>
        <p:nvSpPr>
          <p:cNvPr id="47" name="Text 39"/>
          <p:cNvSpPr txBox="1"/>
          <p:nvPr/>
        </p:nvSpPr>
        <p:spPr>
          <a:xfrm>
            <a:off x="807232" y="302184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Folder upload</a:t>
            </a:r>
            <a:endParaRPr lang="en-US" sz="800" dirty="0"/>
          </a:p>
        </p:txBody>
      </p:sp>
      <p:sp>
        <p:nvSpPr>
          <p:cNvPr id="48" name="Shape 40"/>
          <p:cNvSpPr/>
          <p:nvPr/>
        </p:nvSpPr>
        <p:spPr>
          <a:xfrm>
            <a:off x="734080" y="3314453"/>
            <a:ext cx="1161288" cy="0"/>
          </a:xfrm>
          <a:prstGeom prst="line">
            <a:avLst/>
          </a:prstGeom>
          <a:noFill/>
          <a:ln w="6350">
            <a:solidFill>
              <a:srgbClr val="DDDDDD"/>
            </a:solidFill>
            <a:prstDash val="solid"/>
          </a:ln>
        </p:spPr>
      </p:sp>
      <p:sp>
        <p:nvSpPr>
          <p:cNvPr id="49" name="Text 41"/>
          <p:cNvSpPr txBox="1"/>
          <p:nvPr/>
        </p:nvSpPr>
        <p:spPr>
          <a:xfrm>
            <a:off x="807232" y="342418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Docs</a:t>
            </a:r>
            <a:endParaRPr lang="en-US" sz="800" dirty="0"/>
          </a:p>
        </p:txBody>
      </p:sp>
      <p:sp>
        <p:nvSpPr>
          <p:cNvPr id="50" name="Text 42"/>
          <p:cNvSpPr txBox="1"/>
          <p:nvPr/>
        </p:nvSpPr>
        <p:spPr>
          <a:xfrm>
            <a:off x="807232" y="362534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Sheets</a:t>
            </a:r>
            <a:endParaRPr lang="en-US" sz="800" dirty="0"/>
          </a:p>
        </p:txBody>
      </p:sp>
      <p:sp>
        <p:nvSpPr>
          <p:cNvPr id="51" name="Shape 43"/>
          <p:cNvSpPr/>
          <p:nvPr/>
        </p:nvSpPr>
        <p:spPr>
          <a:xfrm>
            <a:off x="679216" y="2043437"/>
            <a:ext cx="722376" cy="329184"/>
          </a:xfrm>
          <a:prstGeom prst="roundRect">
            <a:avLst>
              <a:gd name="adj" fmla="val 13889"/>
            </a:avLst>
          </a:prstGeom>
          <a:solidFill>
            <a:srgbClr val="FFFFFF">
              <a:alpha val="0"/>
            </a:srgbClr>
          </a:solidFill>
          <a:ln w="31750">
            <a:solidFill>
              <a:srgbClr val="E53935"/>
            </a:solidFill>
            <a:prstDash val="solid"/>
          </a:ln>
        </p:spPr>
      </p:sp>
      <p:sp>
        <p:nvSpPr>
          <p:cNvPr id="52" name="Shape 44"/>
          <p:cNvSpPr/>
          <p:nvPr/>
        </p:nvSpPr>
        <p:spPr>
          <a:xfrm>
            <a:off x="1264432" y="1906277"/>
            <a:ext cx="274320" cy="274320"/>
          </a:xfrm>
          <a:prstGeom prst="ellipse">
            <a:avLst/>
          </a:prstGeom>
          <a:solidFill>
            <a:srgbClr val="E53935"/>
          </a:solidFill>
          <a:ln w="12700">
            <a:solidFill>
              <a:srgbClr val="FFFFFF"/>
            </a:solidFill>
            <a:prstDash val="solid"/>
          </a:ln>
        </p:spPr>
      </p:sp>
      <p:sp>
        <p:nvSpPr>
          <p:cNvPr id="53" name="Text 45"/>
          <p:cNvSpPr txBox="1"/>
          <p:nvPr/>
        </p:nvSpPr>
        <p:spPr>
          <a:xfrm>
            <a:off x="1264432" y="19062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4" name="Image 6" descr="preencoded.png">    </p:cNvPr>
          <p:cNvPicPr>
            <a:picLocks noChangeAspect="1"/>
          </p:cNvPicPr>
          <p:nvPr/>
        </p:nvPicPr>
        <p:blipFill>
          <a:blip r:embed="rId7"/>
          <a:stretch>
            <a:fillRect/>
          </a:stretch>
        </p:blipFill>
        <p:spPr>
          <a:xfrm>
            <a:off x="1074694" y="2222660"/>
            <a:ext cx="237744" cy="237744"/>
          </a:xfrm>
          <a:prstGeom prst="rect">
            <a:avLst/>
          </a:prstGeom>
        </p:spPr>
      </p:pic>
      <p:sp>
        <p:nvSpPr>
          <p:cNvPr id="55" name="Shape 46"/>
          <p:cNvSpPr/>
          <p:nvPr/>
        </p:nvSpPr>
        <p:spPr>
          <a:xfrm>
            <a:off x="715792" y="2400053"/>
            <a:ext cx="1197864" cy="228600"/>
          </a:xfrm>
          <a:prstGeom prst="roundRect">
            <a:avLst>
              <a:gd name="adj" fmla="val 20000"/>
            </a:avLst>
          </a:prstGeom>
          <a:solidFill>
            <a:srgbClr val="FFFFFF">
              <a:alpha val="0"/>
            </a:srgbClr>
          </a:solidFill>
          <a:ln w="31750">
            <a:solidFill>
              <a:srgbClr val="E53935"/>
            </a:solidFill>
            <a:prstDash val="solid"/>
          </a:ln>
        </p:spPr>
      </p:sp>
      <p:sp>
        <p:nvSpPr>
          <p:cNvPr id="56" name="Shape 47"/>
          <p:cNvSpPr/>
          <p:nvPr/>
        </p:nvSpPr>
        <p:spPr>
          <a:xfrm>
            <a:off x="1776496" y="2262893"/>
            <a:ext cx="274320" cy="274320"/>
          </a:xfrm>
          <a:prstGeom prst="ellipse">
            <a:avLst/>
          </a:prstGeom>
          <a:solidFill>
            <a:srgbClr val="E53935"/>
          </a:solidFill>
          <a:ln w="12700">
            <a:solidFill>
              <a:srgbClr val="FFFFFF"/>
            </a:solidFill>
            <a:prstDash val="solid"/>
          </a:ln>
        </p:spPr>
      </p:sp>
      <p:sp>
        <p:nvSpPr>
          <p:cNvPr id="57" name="Text 48"/>
          <p:cNvSpPr txBox="1"/>
          <p:nvPr/>
        </p:nvSpPr>
        <p:spPr>
          <a:xfrm>
            <a:off x="1776496" y="22628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8" name="Image 7" descr="preencoded.png">    </p:cNvPr>
          <p:cNvPicPr>
            <a:picLocks noChangeAspect="1"/>
          </p:cNvPicPr>
          <p:nvPr/>
        </p:nvPicPr>
        <p:blipFill>
          <a:blip r:embed="rId8"/>
          <a:stretch>
            <a:fillRect/>
          </a:stretch>
        </p:blipFill>
        <p:spPr>
          <a:xfrm>
            <a:off x="1372789" y="2523954"/>
            <a:ext cx="237744" cy="237744"/>
          </a:xfrm>
          <a:prstGeom prst="rect">
            <a:avLst/>
          </a:prstGeom>
        </p:spPr>
      </p:pic>
      <p:sp>
        <p:nvSpPr>
          <p:cNvPr id="59"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0"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 New › New folder</a:t>
            </a:r>
            <a:endParaRPr lang="en-US" sz="1800" dirty="0"/>
          </a:p>
        </p:txBody>
      </p:sp>
      <p:sp>
        <p:nvSpPr>
          <p:cNvPr id="61"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dalam folder Kelas 1 Wustha, klik + New lalu New folder.</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 Kelompok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Text 26"/>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5" name="Shape 27"/>
          <p:cNvSpPr/>
          <p:nvPr/>
        </p:nvSpPr>
        <p:spPr>
          <a:xfrm>
            <a:off x="660928" y="2692661"/>
            <a:ext cx="960120" cy="201168"/>
          </a:xfrm>
          <a:prstGeom prst="roundRect">
            <a:avLst>
              <a:gd name="adj" fmla="val 45455"/>
            </a:avLst>
          </a:prstGeom>
          <a:solidFill>
            <a:srgbClr val="C2E7FF"/>
          </a:solidFill>
          <a:ln w="12700">
            <a:solidFill>
              <a:srgbClr val="C2E7FF"/>
            </a:solidFill>
            <a:prstDash val="solid"/>
          </a:ln>
        </p:spPr>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Shared with me  ›  Kelas 1 Wustha</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sp>
        <p:nvSpPr>
          <p:cNvPr id="43" name="Shape 35"/>
          <p:cNvSpPr/>
          <p:nvPr/>
        </p:nvSpPr>
        <p:spPr>
          <a:xfrm>
            <a:off x="1783080" y="1926703"/>
            <a:ext cx="2560320" cy="1143000"/>
          </a:xfrm>
          <a:prstGeom prst="roundRect">
            <a:avLst>
              <a:gd name="adj" fmla="val 6400"/>
            </a:avLst>
          </a:prstGeom>
          <a:solidFill>
            <a:srgbClr val="FFFFFF"/>
          </a:solidFill>
          <a:ln w="9525">
            <a:solidFill>
              <a:srgbClr val="BBBBBB"/>
            </a:solidFill>
            <a:prstDash val="solid"/>
          </a:ln>
        </p:spPr>
      </p:sp>
      <p:sp>
        <p:nvSpPr>
          <p:cNvPr id="44" name="Text 36"/>
          <p:cNvSpPr txBox="1"/>
          <p:nvPr/>
        </p:nvSpPr>
        <p:spPr>
          <a:xfrm>
            <a:off x="1965960" y="2036431"/>
            <a:ext cx="2194560" cy="256032"/>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New folder</a:t>
            </a:r>
            <a:endParaRPr lang="en-US" sz="1100" dirty="0"/>
          </a:p>
        </p:txBody>
      </p:sp>
      <p:sp>
        <p:nvSpPr>
          <p:cNvPr id="45" name="Shape 37"/>
          <p:cNvSpPr/>
          <p:nvPr/>
        </p:nvSpPr>
        <p:spPr>
          <a:xfrm>
            <a:off x="1965960" y="2365615"/>
            <a:ext cx="2194560" cy="256032"/>
          </a:xfrm>
          <a:prstGeom prst="roundRect">
            <a:avLst>
              <a:gd name="adj" fmla="val 10714"/>
            </a:avLst>
          </a:prstGeom>
          <a:solidFill>
            <a:srgbClr val="FFFFFF"/>
          </a:solidFill>
          <a:ln w="15240">
            <a:solidFill>
              <a:srgbClr val="0B57D0"/>
            </a:solidFill>
            <a:prstDash val="solid"/>
          </a:ln>
        </p:spPr>
      </p:sp>
      <p:sp>
        <p:nvSpPr>
          <p:cNvPr id="46" name="Text 38"/>
          <p:cNvSpPr txBox="1"/>
          <p:nvPr/>
        </p:nvSpPr>
        <p:spPr>
          <a:xfrm>
            <a:off x="2039112" y="2365615"/>
            <a:ext cx="2194560" cy="256032"/>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Kelompok_1</a:t>
            </a:r>
            <a:endParaRPr lang="en-US" sz="900" dirty="0"/>
          </a:p>
        </p:txBody>
      </p:sp>
      <p:sp>
        <p:nvSpPr>
          <p:cNvPr id="47" name="Text 39"/>
          <p:cNvSpPr txBox="1"/>
          <p:nvPr/>
        </p:nvSpPr>
        <p:spPr>
          <a:xfrm>
            <a:off x="3611880" y="2749663"/>
            <a:ext cx="548640" cy="219456"/>
          </a:xfrm>
          <a:prstGeom prst="rect">
            <a:avLst/>
          </a:prstGeom>
          <a:noFill/>
          <a:ln/>
        </p:spPr>
        <p:txBody>
          <a:bodyPr wrap="square" lIns="0" tIns="0" rIns="0" bIns="0" rtlCol="0" anchor="ctr"/>
          <a:lstStyle/>
          <a:p>
            <a:pPr algn="ctr" indent="0" marL="0">
              <a:buNone/>
            </a:pPr>
            <a:r>
              <a:rPr lang="en-US" sz="900" b="1" dirty="0">
                <a:solidFill>
                  <a:srgbClr val="0B57D0"/>
                </a:solidFill>
                <a:latin typeface="Calibri" pitchFamily="34" charset="0"/>
                <a:ea typeface="Calibri" pitchFamily="34" charset="-122"/>
                <a:cs typeface="Calibri" pitchFamily="34" charset="-120"/>
              </a:rPr>
              <a:t>Create</a:t>
            </a:r>
            <a:endParaRPr lang="en-US" sz="900" dirty="0"/>
          </a:p>
        </p:txBody>
      </p:sp>
      <p:sp>
        <p:nvSpPr>
          <p:cNvPr id="48" name="Text 40"/>
          <p:cNvSpPr txBox="1"/>
          <p:nvPr/>
        </p:nvSpPr>
        <p:spPr>
          <a:xfrm>
            <a:off x="3017520" y="2749663"/>
            <a:ext cx="548640" cy="219456"/>
          </a:xfrm>
          <a:prstGeom prst="rect">
            <a:avLst/>
          </a:prstGeom>
          <a:noFill/>
          <a:ln/>
        </p:spPr>
        <p:txBody>
          <a:bodyPr wrap="square" lIns="0" tIns="0" rIns="0" bIns="0" rtlCol="0" anchor="ctr"/>
          <a:lstStyle/>
          <a:p>
            <a:pPr algn="ctr" indent="0" marL="0">
              <a:buNone/>
            </a:pPr>
            <a:r>
              <a:rPr lang="en-US" sz="900" dirty="0">
                <a:solidFill>
                  <a:srgbClr val="0B57D0"/>
                </a:solidFill>
                <a:latin typeface="Calibri" pitchFamily="34" charset="0"/>
                <a:ea typeface="Calibri" pitchFamily="34" charset="-122"/>
                <a:cs typeface="Calibri" pitchFamily="34" charset="-120"/>
              </a:rPr>
              <a:t>Cancel</a:t>
            </a:r>
            <a:endParaRPr lang="en-US" sz="900" dirty="0"/>
          </a:p>
        </p:txBody>
      </p:sp>
      <p:sp>
        <p:nvSpPr>
          <p:cNvPr id="49" name="Shape 41"/>
          <p:cNvSpPr/>
          <p:nvPr/>
        </p:nvSpPr>
        <p:spPr>
          <a:xfrm>
            <a:off x="1938528" y="2338183"/>
            <a:ext cx="2249424" cy="310896"/>
          </a:xfrm>
          <a:prstGeom prst="roundRect">
            <a:avLst>
              <a:gd name="adj" fmla="val 14706"/>
            </a:avLst>
          </a:prstGeom>
          <a:solidFill>
            <a:srgbClr val="FFFFFF">
              <a:alpha val="0"/>
            </a:srgbClr>
          </a:solidFill>
          <a:ln w="31750">
            <a:solidFill>
              <a:srgbClr val="E53935"/>
            </a:solidFill>
            <a:prstDash val="solid"/>
          </a:ln>
        </p:spPr>
      </p:sp>
      <p:sp>
        <p:nvSpPr>
          <p:cNvPr id="50" name="Shape 42"/>
          <p:cNvSpPr/>
          <p:nvPr/>
        </p:nvSpPr>
        <p:spPr>
          <a:xfrm>
            <a:off x="4050792" y="2201023"/>
            <a:ext cx="274320" cy="274320"/>
          </a:xfrm>
          <a:prstGeom prst="ellipse">
            <a:avLst/>
          </a:prstGeom>
          <a:solidFill>
            <a:srgbClr val="E53935"/>
          </a:solidFill>
          <a:ln w="12700">
            <a:solidFill>
              <a:srgbClr val="FFFFFF"/>
            </a:solidFill>
            <a:prstDash val="solid"/>
          </a:ln>
        </p:spPr>
      </p:sp>
      <p:sp>
        <p:nvSpPr>
          <p:cNvPr id="51" name="Text 43"/>
          <p:cNvSpPr txBox="1"/>
          <p:nvPr/>
        </p:nvSpPr>
        <p:spPr>
          <a:xfrm>
            <a:off x="4050792" y="220102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2" name="Image 6" descr="preencoded.png">    </p:cNvPr>
          <p:cNvPicPr>
            <a:picLocks noChangeAspect="1"/>
          </p:cNvPicPr>
          <p:nvPr/>
        </p:nvPicPr>
        <p:blipFill>
          <a:blip r:embed="rId7"/>
          <a:stretch>
            <a:fillRect/>
          </a:stretch>
        </p:blipFill>
        <p:spPr>
          <a:xfrm>
            <a:off x="3172968" y="2506432"/>
            <a:ext cx="237744" cy="237744"/>
          </a:xfrm>
          <a:prstGeom prst="rect">
            <a:avLst/>
          </a:prstGeom>
        </p:spPr>
      </p:pic>
      <p:sp>
        <p:nvSpPr>
          <p:cNvPr id="53" name="Shape 44"/>
          <p:cNvSpPr/>
          <p:nvPr/>
        </p:nvSpPr>
        <p:spPr>
          <a:xfrm>
            <a:off x="3584448" y="2722231"/>
            <a:ext cx="603504" cy="274320"/>
          </a:xfrm>
          <a:prstGeom prst="roundRect">
            <a:avLst>
              <a:gd name="adj" fmla="val 16667"/>
            </a:avLst>
          </a:prstGeom>
          <a:solidFill>
            <a:srgbClr val="FFFFFF">
              <a:alpha val="0"/>
            </a:srgbClr>
          </a:solidFill>
          <a:ln w="31750">
            <a:solidFill>
              <a:srgbClr val="E53935"/>
            </a:solidFill>
            <a:prstDash val="solid"/>
          </a:ln>
        </p:spPr>
      </p:sp>
      <p:sp>
        <p:nvSpPr>
          <p:cNvPr id="54" name="Shape 45"/>
          <p:cNvSpPr/>
          <p:nvPr/>
        </p:nvSpPr>
        <p:spPr>
          <a:xfrm>
            <a:off x="4050792" y="2585071"/>
            <a:ext cx="274320" cy="274320"/>
          </a:xfrm>
          <a:prstGeom prst="ellipse">
            <a:avLst/>
          </a:prstGeom>
          <a:solidFill>
            <a:srgbClr val="E53935"/>
          </a:solidFill>
          <a:ln w="12700">
            <a:solidFill>
              <a:srgbClr val="FFFFFF"/>
            </a:solidFill>
            <a:prstDash val="solid"/>
          </a:ln>
        </p:spPr>
      </p:sp>
      <p:sp>
        <p:nvSpPr>
          <p:cNvPr id="55" name="Text 46"/>
          <p:cNvSpPr txBox="1"/>
          <p:nvPr/>
        </p:nvSpPr>
        <p:spPr>
          <a:xfrm>
            <a:off x="4050792" y="258507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6" name="Image 7" descr="preencoded.png">    </p:cNvPr>
          <p:cNvPicPr>
            <a:picLocks noChangeAspect="1"/>
          </p:cNvPicPr>
          <p:nvPr/>
        </p:nvPicPr>
        <p:blipFill>
          <a:blip r:embed="rId8"/>
          <a:stretch>
            <a:fillRect/>
          </a:stretch>
        </p:blipFill>
        <p:spPr>
          <a:xfrm>
            <a:off x="3913632" y="2870363"/>
            <a:ext cx="237744" cy="237744"/>
          </a:xfrm>
          <a:prstGeom prst="rect">
            <a:avLst/>
          </a:prstGeom>
        </p:spPr>
      </p:pic>
      <p:sp>
        <p:nvSpPr>
          <p:cNvPr id="57"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8"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nama Kelompok_1, klik Create</a:t>
            </a:r>
            <a:endParaRPr lang="en-US" sz="1800" dirty="0"/>
          </a:p>
        </p:txBody>
      </p:sp>
      <p:sp>
        <p:nvSpPr>
          <p:cNvPr id="59"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nama kelompokmu sesuai nomor dari guru, lalu klik Create.</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 Anggota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Text 26"/>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5" name="Shape 27"/>
          <p:cNvSpPr/>
          <p:nvPr/>
        </p:nvSpPr>
        <p:spPr>
          <a:xfrm>
            <a:off x="660928" y="2692661"/>
            <a:ext cx="960120" cy="201168"/>
          </a:xfrm>
          <a:prstGeom prst="roundRect">
            <a:avLst>
              <a:gd name="adj" fmla="val 45455"/>
            </a:avLst>
          </a:prstGeom>
          <a:solidFill>
            <a:srgbClr val="C2E7FF"/>
          </a:solidFill>
          <a:ln w="12700">
            <a:solidFill>
              <a:srgbClr val="C2E7FF"/>
            </a:solidFill>
            <a:prstDash val="solid"/>
          </a:ln>
        </p:spPr>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Kelas 1 Wustha  ›  Kelompok_1</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Ahmad</a:t>
            </a:r>
            <a:endParaRPr lang="en-US" sz="800" dirty="0"/>
          </a:p>
        </p:txBody>
      </p:sp>
      <p:pic>
        <p:nvPicPr>
          <p:cNvPr id="45"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6" name="Text 36"/>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Bilal</a:t>
            </a:r>
            <a:endParaRPr lang="en-US" sz="800" dirty="0"/>
          </a:p>
        </p:txBody>
      </p:sp>
      <p:pic>
        <p:nvPicPr>
          <p:cNvPr id="47" name="Image 8" descr="preencoded.png">    </p:cNvPr>
          <p:cNvPicPr>
            <a:picLocks noChangeAspect="1"/>
          </p:cNvPicPr>
          <p:nvPr/>
        </p:nvPicPr>
        <p:blipFill>
          <a:blip r:embed="rId9"/>
          <a:stretch>
            <a:fillRect/>
          </a:stretch>
        </p:blipFill>
        <p:spPr>
          <a:xfrm>
            <a:off x="1776496" y="3168149"/>
            <a:ext cx="137160" cy="137160"/>
          </a:xfrm>
          <a:prstGeom prst="rect">
            <a:avLst/>
          </a:prstGeom>
        </p:spPr>
      </p:pic>
      <p:sp>
        <p:nvSpPr>
          <p:cNvPr id="48" name="Text 37"/>
          <p:cNvSpPr txBox="1"/>
          <p:nvPr/>
        </p:nvSpPr>
        <p:spPr>
          <a:xfrm>
            <a:off x="2005096" y="3122429"/>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Fauzan</a:t>
            </a:r>
            <a:endParaRPr lang="en-US" sz="800" dirty="0"/>
          </a:p>
        </p:txBody>
      </p:sp>
      <p:pic>
        <p:nvPicPr>
          <p:cNvPr id="49" name="Image 9" descr="preencoded.png">    </p:cNvPr>
          <p:cNvPicPr>
            <a:picLocks noChangeAspect="1"/>
          </p:cNvPicPr>
          <p:nvPr/>
        </p:nvPicPr>
        <p:blipFill>
          <a:blip r:embed="rId10"/>
          <a:stretch>
            <a:fillRect/>
          </a:stretch>
        </p:blipFill>
        <p:spPr>
          <a:xfrm>
            <a:off x="1776496" y="3415037"/>
            <a:ext cx="137160" cy="137160"/>
          </a:xfrm>
          <a:prstGeom prst="rect">
            <a:avLst/>
          </a:prstGeom>
        </p:spPr>
      </p:pic>
      <p:sp>
        <p:nvSpPr>
          <p:cNvPr id="50" name="Text 38"/>
          <p:cNvSpPr txBox="1"/>
          <p:nvPr/>
        </p:nvSpPr>
        <p:spPr>
          <a:xfrm>
            <a:off x="2005096" y="3369317"/>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Hasan</a:t>
            </a:r>
            <a:endParaRPr lang="en-US" sz="800" dirty="0"/>
          </a:p>
        </p:txBody>
      </p:sp>
      <p:sp>
        <p:nvSpPr>
          <p:cNvPr id="51" name="Shape 39"/>
          <p:cNvSpPr/>
          <p:nvPr/>
        </p:nvSpPr>
        <p:spPr>
          <a:xfrm>
            <a:off x="1712488" y="2610365"/>
            <a:ext cx="3707343" cy="1005840"/>
          </a:xfrm>
          <a:prstGeom prst="roundRect">
            <a:avLst>
              <a:gd name="adj" fmla="val 4545"/>
            </a:avLst>
          </a:prstGeom>
          <a:solidFill>
            <a:srgbClr val="FFFFFF">
              <a:alpha val="0"/>
            </a:srgbClr>
          </a:solidFill>
          <a:ln w="31750">
            <a:solidFill>
              <a:srgbClr val="E53935"/>
            </a:solidFill>
            <a:prstDash val="solid"/>
          </a:ln>
        </p:spPr>
      </p:sp>
      <p:sp>
        <p:nvSpPr>
          <p:cNvPr id="52" name="Shape 40"/>
          <p:cNvSpPr/>
          <p:nvPr/>
        </p:nvSpPr>
        <p:spPr>
          <a:xfrm>
            <a:off x="5282672" y="2473205"/>
            <a:ext cx="274320" cy="274320"/>
          </a:xfrm>
          <a:prstGeom prst="ellipse">
            <a:avLst/>
          </a:prstGeom>
          <a:solidFill>
            <a:srgbClr val="E53935"/>
          </a:solidFill>
          <a:ln w="12700">
            <a:solidFill>
              <a:srgbClr val="FFFFFF"/>
            </a:solidFill>
            <a:prstDash val="solid"/>
          </a:ln>
        </p:spPr>
      </p:sp>
      <p:sp>
        <p:nvSpPr>
          <p:cNvPr id="53" name="Text 41"/>
          <p:cNvSpPr txBox="1"/>
          <p:nvPr/>
        </p:nvSpPr>
        <p:spPr>
          <a:xfrm>
            <a:off x="5282672" y="24732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4" name="Image 10" descr="preencoded.png">    </p:cNvPr>
          <p:cNvPicPr>
            <a:picLocks noChangeAspect="1"/>
          </p:cNvPicPr>
          <p:nvPr/>
        </p:nvPicPr>
        <p:blipFill>
          <a:blip r:embed="rId11"/>
          <a:stretch>
            <a:fillRect/>
          </a:stretch>
        </p:blipFill>
        <p:spPr>
          <a:xfrm>
            <a:off x="3749698" y="3161748"/>
            <a:ext cx="237744" cy="237744"/>
          </a:xfrm>
          <a:prstGeom prst="rect">
            <a:avLst/>
          </a:prstGeom>
        </p:spPr>
      </p:pic>
      <p:sp>
        <p:nvSpPr>
          <p:cNvPr id="55"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6"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folder untuk setiap anggota</a:t>
            </a:r>
            <a:endParaRPr lang="en-US" sz="1800" dirty="0"/>
          </a:p>
        </p:txBody>
      </p:sp>
      <p:sp>
        <p:nvSpPr>
          <p:cNvPr id="57"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folder kelompok. Buat folder dengan nama setiap anggota: + New › New folder › ketik nama › Create.</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Upload Tugas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Text 26"/>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5" name="Shape 27"/>
          <p:cNvSpPr/>
          <p:nvPr/>
        </p:nvSpPr>
        <p:spPr>
          <a:xfrm>
            <a:off x="660928" y="2692661"/>
            <a:ext cx="960120" cy="201168"/>
          </a:xfrm>
          <a:prstGeom prst="roundRect">
            <a:avLst>
              <a:gd name="adj" fmla="val 45455"/>
            </a:avLst>
          </a:prstGeom>
          <a:solidFill>
            <a:srgbClr val="C2E7FF"/>
          </a:solidFill>
          <a:ln w="12700">
            <a:solidFill>
              <a:srgbClr val="C2E7FF"/>
            </a:solidFill>
            <a:prstDash val="solid"/>
          </a:ln>
        </p:spPr>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Kelompok_1  ›  Ahmad</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sp>
        <p:nvSpPr>
          <p:cNvPr id="43" name="Shape 35"/>
          <p:cNvSpPr/>
          <p:nvPr/>
        </p:nvSpPr>
        <p:spPr>
          <a:xfrm>
            <a:off x="1730776" y="2628653"/>
            <a:ext cx="3670767" cy="228600"/>
          </a:xfrm>
          <a:prstGeom prst="roundRect">
            <a:avLst>
              <a:gd name="adj" fmla="val 16000"/>
            </a:avLst>
          </a:prstGeom>
          <a:solidFill>
            <a:srgbClr val="C2E7FF"/>
          </a:solidFill>
          <a:ln w="12700">
            <a:solidFill>
              <a:srgbClr val="C2E7FF"/>
            </a:solidFill>
            <a:prstDash val="solid"/>
          </a:ln>
        </p:spPr>
      </p:sp>
      <p:pic>
        <p:nvPicPr>
          <p:cNvPr id="44"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5" name="Text 36"/>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2026-10-08_Ahmad_Perkenalan.txt</a:t>
            </a:r>
            <a:endParaRPr lang="en-US" sz="800" dirty="0"/>
          </a:p>
        </p:txBody>
      </p:sp>
      <p:sp>
        <p:nvSpPr>
          <p:cNvPr id="46" name="Shape 37"/>
          <p:cNvSpPr/>
          <p:nvPr/>
        </p:nvSpPr>
        <p:spPr>
          <a:xfrm>
            <a:off x="1712488" y="2610365"/>
            <a:ext cx="3707343" cy="265176"/>
          </a:xfrm>
          <a:prstGeom prst="roundRect">
            <a:avLst>
              <a:gd name="adj" fmla="val 17241"/>
            </a:avLst>
          </a:prstGeom>
          <a:solidFill>
            <a:srgbClr val="FFFFFF">
              <a:alpha val="0"/>
            </a:srgbClr>
          </a:solidFill>
          <a:ln w="31750">
            <a:solidFill>
              <a:srgbClr val="E53935"/>
            </a:solidFill>
            <a:prstDash val="solid"/>
          </a:ln>
        </p:spPr>
      </p:sp>
      <p:sp>
        <p:nvSpPr>
          <p:cNvPr id="47" name="Shape 38"/>
          <p:cNvSpPr/>
          <p:nvPr/>
        </p:nvSpPr>
        <p:spPr>
          <a:xfrm>
            <a:off x="5282672" y="2473205"/>
            <a:ext cx="274320" cy="274320"/>
          </a:xfrm>
          <a:prstGeom prst="ellipse">
            <a:avLst/>
          </a:prstGeom>
          <a:solidFill>
            <a:srgbClr val="E53935"/>
          </a:solidFill>
          <a:ln w="12700">
            <a:solidFill>
              <a:srgbClr val="FFFFFF"/>
            </a:solidFill>
            <a:prstDash val="solid"/>
          </a:ln>
        </p:spPr>
      </p:sp>
      <p:sp>
        <p:nvSpPr>
          <p:cNvPr id="48" name="Text 39"/>
          <p:cNvSpPr txBox="1"/>
          <p:nvPr/>
        </p:nvSpPr>
        <p:spPr>
          <a:xfrm>
            <a:off x="5282672" y="24732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9" name="Image 7" descr="preencoded.png">    </p:cNvPr>
          <p:cNvPicPr>
            <a:picLocks noChangeAspect="1"/>
          </p:cNvPicPr>
          <p:nvPr/>
        </p:nvPicPr>
        <p:blipFill>
          <a:blip r:embed="rId8"/>
          <a:stretch>
            <a:fillRect/>
          </a:stretch>
        </p:blipFill>
        <p:spPr>
          <a:xfrm>
            <a:off x="3749698" y="2754383"/>
            <a:ext cx="237744" cy="237744"/>
          </a:xfrm>
          <a:prstGeom prst="rect">
            <a:avLst/>
          </a:prstGeom>
        </p:spPr>
      </p:pic>
      <p:sp>
        <p:nvSpPr>
          <p:cNvPr id="50"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1"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Upload file dengan aturan nama</a:t>
            </a:r>
            <a:endParaRPr lang="en-US" sz="1800" dirty="0"/>
          </a:p>
        </p:txBody>
      </p:sp>
      <p:sp>
        <p:nvSpPr>
          <p:cNvPr id="52"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folder namamu. + New › File upload. Pilih file yang sudah diberi nama: Tanggal_Nama_Judul.</a:t>
            </a:r>
            <a:endParaRPr lang="en-US" sz="1300" dirty="0"/>
          </a:p>
        </p:txBody>
      </p:sp>
      <p:sp>
        <p:nvSpPr>
          <p:cNvPr id="53" name="Shape 4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4"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55" name="Text 4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Ganti dulu nama file di komputer (F2) sebelum di-upload.</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Membagikan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sp>
        <p:nvSpPr>
          <p:cNvPr id="43" name="Shape 35"/>
          <p:cNvSpPr/>
          <p:nvPr/>
        </p:nvSpPr>
        <p:spPr>
          <a:xfrm>
            <a:off x="1730776" y="2628653"/>
            <a:ext cx="3670767" cy="228600"/>
          </a:xfrm>
          <a:prstGeom prst="roundRect">
            <a:avLst>
              <a:gd name="adj" fmla="val 16000"/>
            </a:avLst>
          </a:prstGeom>
          <a:solidFill>
            <a:srgbClr val="C2E7FF"/>
          </a:solidFill>
          <a:ln w="12700">
            <a:solidFill>
              <a:srgbClr val="C2E7FF"/>
            </a:solidFill>
            <a:prstDash val="solid"/>
          </a:ln>
        </p:spPr>
      </p:sp>
      <p:pic>
        <p:nvPicPr>
          <p:cNvPr id="44"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5" name="Text 36"/>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Kelas 1 Wustha</a:t>
            </a:r>
            <a:endParaRPr lang="en-US" sz="800" dirty="0"/>
          </a:p>
        </p:txBody>
      </p:sp>
      <p:pic>
        <p:nvPicPr>
          <p:cNvPr id="46"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7" name="Text 37"/>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Jadwal_Pelajaran.pdf</a:t>
            </a:r>
            <a:endParaRPr lang="en-US" sz="800" dirty="0"/>
          </a:p>
        </p:txBody>
      </p:sp>
      <p:sp>
        <p:nvSpPr>
          <p:cNvPr id="48" name="Shape 38"/>
          <p:cNvSpPr/>
          <p:nvPr/>
        </p:nvSpPr>
        <p:spPr>
          <a:xfrm>
            <a:off x="3193816" y="2765813"/>
            <a:ext cx="1234440" cy="1664208"/>
          </a:xfrm>
          <a:prstGeom prst="rect">
            <a:avLst/>
          </a:prstGeom>
          <a:solidFill>
            <a:srgbClr val="FFFFFF"/>
          </a:solidFill>
          <a:ln w="9525">
            <a:solidFill>
              <a:srgbClr val="AAAAAA"/>
            </a:solidFill>
            <a:prstDash val="solid"/>
          </a:ln>
        </p:spPr>
      </p:sp>
      <p:sp>
        <p:nvSpPr>
          <p:cNvPr id="49" name="Text 39"/>
          <p:cNvSpPr txBox="1"/>
          <p:nvPr/>
        </p:nvSpPr>
        <p:spPr>
          <a:xfrm>
            <a:off x="3303544" y="279324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 with   ›</a:t>
            </a:r>
            <a:endParaRPr lang="en-US" sz="800" dirty="0"/>
          </a:p>
        </p:txBody>
      </p:sp>
      <p:sp>
        <p:nvSpPr>
          <p:cNvPr id="50" name="Text 40"/>
          <p:cNvSpPr txBox="1"/>
          <p:nvPr/>
        </p:nvSpPr>
        <p:spPr>
          <a:xfrm>
            <a:off x="3303544" y="2994413"/>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Download</a:t>
            </a:r>
            <a:endParaRPr lang="en-US" sz="800" dirty="0"/>
          </a:p>
        </p:txBody>
      </p:sp>
      <p:sp>
        <p:nvSpPr>
          <p:cNvPr id="51" name="Text 41"/>
          <p:cNvSpPr txBox="1"/>
          <p:nvPr/>
        </p:nvSpPr>
        <p:spPr>
          <a:xfrm>
            <a:off x="3303544" y="319558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Rename</a:t>
            </a:r>
            <a:endParaRPr lang="en-US" sz="800" dirty="0"/>
          </a:p>
        </p:txBody>
      </p:sp>
      <p:sp>
        <p:nvSpPr>
          <p:cNvPr id="52" name="Shape 42"/>
          <p:cNvSpPr/>
          <p:nvPr/>
        </p:nvSpPr>
        <p:spPr>
          <a:xfrm>
            <a:off x="3230392" y="3488189"/>
            <a:ext cx="1161288" cy="0"/>
          </a:xfrm>
          <a:prstGeom prst="line">
            <a:avLst/>
          </a:prstGeom>
          <a:noFill/>
          <a:ln w="6350">
            <a:solidFill>
              <a:srgbClr val="DDDDDD"/>
            </a:solidFill>
            <a:prstDash val="solid"/>
          </a:ln>
        </p:spPr>
      </p:sp>
      <p:sp>
        <p:nvSpPr>
          <p:cNvPr id="53" name="Text 43"/>
          <p:cNvSpPr txBox="1"/>
          <p:nvPr/>
        </p:nvSpPr>
        <p:spPr>
          <a:xfrm>
            <a:off x="3303544" y="359791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Share          ›</a:t>
            </a:r>
            <a:endParaRPr lang="en-US" sz="800" dirty="0"/>
          </a:p>
        </p:txBody>
      </p:sp>
      <p:sp>
        <p:nvSpPr>
          <p:cNvPr id="54" name="Text 44"/>
          <p:cNvSpPr txBox="1"/>
          <p:nvPr/>
        </p:nvSpPr>
        <p:spPr>
          <a:xfrm>
            <a:off x="3303544" y="379908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Organize    ›</a:t>
            </a:r>
            <a:endParaRPr lang="en-US" sz="800" dirty="0"/>
          </a:p>
        </p:txBody>
      </p:sp>
      <p:sp>
        <p:nvSpPr>
          <p:cNvPr id="55" name="Shape 45"/>
          <p:cNvSpPr/>
          <p:nvPr/>
        </p:nvSpPr>
        <p:spPr>
          <a:xfrm>
            <a:off x="3230392" y="4091693"/>
            <a:ext cx="1161288" cy="0"/>
          </a:xfrm>
          <a:prstGeom prst="line">
            <a:avLst/>
          </a:prstGeom>
          <a:noFill/>
          <a:ln w="6350">
            <a:solidFill>
              <a:srgbClr val="DDDDDD"/>
            </a:solidFill>
            <a:prstDash val="solid"/>
          </a:ln>
        </p:spPr>
      </p:sp>
      <p:sp>
        <p:nvSpPr>
          <p:cNvPr id="56" name="Text 46"/>
          <p:cNvSpPr txBox="1"/>
          <p:nvPr/>
        </p:nvSpPr>
        <p:spPr>
          <a:xfrm>
            <a:off x="3303544" y="420142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Move to trash</a:t>
            </a:r>
            <a:endParaRPr lang="en-US" sz="800" dirty="0"/>
          </a:p>
        </p:txBody>
      </p:sp>
      <p:sp>
        <p:nvSpPr>
          <p:cNvPr id="57" name="Shape 47"/>
          <p:cNvSpPr/>
          <p:nvPr/>
        </p:nvSpPr>
        <p:spPr>
          <a:xfrm>
            <a:off x="4428256" y="3597917"/>
            <a:ext cx="822960" cy="457200"/>
          </a:xfrm>
          <a:prstGeom prst="rect">
            <a:avLst/>
          </a:prstGeom>
          <a:solidFill>
            <a:srgbClr val="FFFFFF"/>
          </a:solidFill>
          <a:ln w="9525">
            <a:solidFill>
              <a:srgbClr val="AAAAAA"/>
            </a:solidFill>
            <a:prstDash val="solid"/>
          </a:ln>
        </p:spPr>
      </p:sp>
      <p:sp>
        <p:nvSpPr>
          <p:cNvPr id="58" name="Text 48"/>
          <p:cNvSpPr txBox="1"/>
          <p:nvPr/>
        </p:nvSpPr>
        <p:spPr>
          <a:xfrm>
            <a:off x="4537984" y="3625349"/>
            <a:ext cx="6583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Share</a:t>
            </a:r>
            <a:endParaRPr lang="en-US" sz="800" dirty="0"/>
          </a:p>
        </p:txBody>
      </p:sp>
      <p:sp>
        <p:nvSpPr>
          <p:cNvPr id="59" name="Text 49"/>
          <p:cNvSpPr txBox="1"/>
          <p:nvPr/>
        </p:nvSpPr>
        <p:spPr>
          <a:xfrm>
            <a:off x="4537984" y="3826517"/>
            <a:ext cx="6583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Copy link</a:t>
            </a:r>
            <a:endParaRPr lang="en-US" sz="800" dirty="0"/>
          </a:p>
        </p:txBody>
      </p:sp>
      <p:sp>
        <p:nvSpPr>
          <p:cNvPr id="60" name="Shape 50"/>
          <p:cNvSpPr/>
          <p:nvPr/>
        </p:nvSpPr>
        <p:spPr>
          <a:xfrm>
            <a:off x="3212104" y="3579629"/>
            <a:ext cx="1197864" cy="228600"/>
          </a:xfrm>
          <a:prstGeom prst="roundRect">
            <a:avLst>
              <a:gd name="adj" fmla="val 20000"/>
            </a:avLst>
          </a:prstGeom>
          <a:solidFill>
            <a:srgbClr val="FFFFFF">
              <a:alpha val="0"/>
            </a:srgbClr>
          </a:solidFill>
          <a:ln w="31750">
            <a:solidFill>
              <a:srgbClr val="E53935"/>
            </a:solidFill>
            <a:prstDash val="solid"/>
          </a:ln>
        </p:spPr>
      </p:sp>
      <p:sp>
        <p:nvSpPr>
          <p:cNvPr id="61" name="Shape 51"/>
          <p:cNvSpPr/>
          <p:nvPr/>
        </p:nvSpPr>
        <p:spPr>
          <a:xfrm>
            <a:off x="4272808" y="3442469"/>
            <a:ext cx="274320" cy="274320"/>
          </a:xfrm>
          <a:prstGeom prst="ellipse">
            <a:avLst/>
          </a:prstGeom>
          <a:solidFill>
            <a:srgbClr val="E53935"/>
          </a:solidFill>
          <a:ln w="12700">
            <a:solidFill>
              <a:srgbClr val="FFFFFF"/>
            </a:solidFill>
            <a:prstDash val="solid"/>
          </a:ln>
        </p:spPr>
      </p:sp>
      <p:sp>
        <p:nvSpPr>
          <p:cNvPr id="62" name="Text 52"/>
          <p:cNvSpPr txBox="1"/>
          <p:nvPr/>
        </p:nvSpPr>
        <p:spPr>
          <a:xfrm>
            <a:off x="4272808" y="34424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3" name="Image 8" descr="preencoded.png">    </p:cNvPr>
          <p:cNvPicPr>
            <a:picLocks noChangeAspect="1"/>
          </p:cNvPicPr>
          <p:nvPr/>
        </p:nvPicPr>
        <p:blipFill>
          <a:blip r:embed="rId9"/>
          <a:stretch>
            <a:fillRect/>
          </a:stretch>
        </p:blipFill>
        <p:spPr>
          <a:xfrm>
            <a:off x="3869101" y="3703530"/>
            <a:ext cx="237744" cy="237744"/>
          </a:xfrm>
          <a:prstGeom prst="rect">
            <a:avLst/>
          </a:prstGeom>
        </p:spPr>
      </p:pic>
      <p:sp>
        <p:nvSpPr>
          <p:cNvPr id="64" name="Shape 53"/>
          <p:cNvSpPr/>
          <p:nvPr/>
        </p:nvSpPr>
        <p:spPr>
          <a:xfrm>
            <a:off x="4446544" y="3607061"/>
            <a:ext cx="786384" cy="228600"/>
          </a:xfrm>
          <a:prstGeom prst="roundRect">
            <a:avLst>
              <a:gd name="adj" fmla="val 20000"/>
            </a:avLst>
          </a:prstGeom>
          <a:solidFill>
            <a:srgbClr val="FFFFFF">
              <a:alpha val="0"/>
            </a:srgbClr>
          </a:solidFill>
          <a:ln w="31750">
            <a:solidFill>
              <a:srgbClr val="E53935"/>
            </a:solidFill>
            <a:prstDash val="solid"/>
          </a:ln>
        </p:spPr>
      </p:sp>
      <p:sp>
        <p:nvSpPr>
          <p:cNvPr id="65" name="Shape 54"/>
          <p:cNvSpPr/>
          <p:nvPr/>
        </p:nvSpPr>
        <p:spPr>
          <a:xfrm>
            <a:off x="5095768" y="3469901"/>
            <a:ext cx="274320" cy="274320"/>
          </a:xfrm>
          <a:prstGeom prst="ellipse">
            <a:avLst/>
          </a:prstGeom>
          <a:solidFill>
            <a:srgbClr val="E53935"/>
          </a:solidFill>
          <a:ln w="12700">
            <a:solidFill>
              <a:srgbClr val="FFFFFF"/>
            </a:solidFill>
            <a:prstDash val="solid"/>
          </a:ln>
        </p:spPr>
      </p:sp>
      <p:sp>
        <p:nvSpPr>
          <p:cNvPr id="66" name="Text 55"/>
          <p:cNvSpPr txBox="1"/>
          <p:nvPr/>
        </p:nvSpPr>
        <p:spPr>
          <a:xfrm>
            <a:off x="5095768" y="34699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7" name="Image 9" descr="preencoded.png">    </p:cNvPr>
          <p:cNvPicPr>
            <a:picLocks noChangeAspect="1"/>
          </p:cNvPicPr>
          <p:nvPr/>
        </p:nvPicPr>
        <p:blipFill>
          <a:blip r:embed="rId10"/>
          <a:stretch>
            <a:fillRect/>
          </a:stretch>
        </p:blipFill>
        <p:spPr>
          <a:xfrm>
            <a:off x="4877227" y="3730962"/>
            <a:ext cx="237744" cy="237744"/>
          </a:xfrm>
          <a:prstGeom prst="rect">
            <a:avLst/>
          </a:prstGeom>
        </p:spPr>
      </p:pic>
      <p:sp>
        <p:nvSpPr>
          <p:cNvPr id="68" name="Text 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9" name="Text 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folder › Share › Share</a:t>
            </a:r>
            <a:endParaRPr lang="en-US" sz="1800" dirty="0"/>
          </a:p>
        </p:txBody>
      </p:sp>
      <p:sp>
        <p:nvSpPr>
          <p:cNvPr id="70" name="Text 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memperagakan: klik kanan folder, arahkan ke Share, lalu klik Share.</a:t>
            </a:r>
            <a:endParaRPr lang="en-US" sz="1300" dirty="0"/>
          </a:p>
        </p:txBody>
      </p:sp>
      <p:sp>
        <p:nvSpPr>
          <p:cNvPr id="71" name="Shape 5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2"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73" name="Text 6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Langkah 6–8 diperagakan guru di layar. Santri memperhatikan.</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Membagikan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Kelas 1 Wustha</a:t>
            </a:r>
            <a:endParaRPr lang="en-US" sz="800" dirty="0"/>
          </a:p>
        </p:txBody>
      </p:sp>
      <p:sp>
        <p:nvSpPr>
          <p:cNvPr id="45" name="Shape 36"/>
          <p:cNvSpPr/>
          <p:nvPr/>
        </p:nvSpPr>
        <p:spPr>
          <a:xfrm>
            <a:off x="1280160" y="1293629"/>
            <a:ext cx="3566160" cy="2514600"/>
          </a:xfrm>
          <a:prstGeom prst="roundRect">
            <a:avLst>
              <a:gd name="adj" fmla="val 2909"/>
            </a:avLst>
          </a:prstGeom>
          <a:solidFill>
            <a:srgbClr val="FFFFFF"/>
          </a:solidFill>
          <a:ln w="9525">
            <a:solidFill>
              <a:srgbClr val="BBBBBB"/>
            </a:solidFill>
            <a:prstDash val="solid"/>
          </a:ln>
        </p:spPr>
      </p:sp>
      <p:sp>
        <p:nvSpPr>
          <p:cNvPr id="46" name="Text 37"/>
          <p:cNvSpPr txBox="1"/>
          <p:nvPr/>
        </p:nvSpPr>
        <p:spPr>
          <a:xfrm>
            <a:off x="1463040" y="1385069"/>
            <a:ext cx="3200400" cy="27432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Share "Kelas 1 Wustha"</a:t>
            </a:r>
            <a:endParaRPr lang="en-US" sz="1200" dirty="0"/>
          </a:p>
        </p:txBody>
      </p:sp>
      <p:sp>
        <p:nvSpPr>
          <p:cNvPr id="47" name="Shape 38"/>
          <p:cNvSpPr/>
          <p:nvPr/>
        </p:nvSpPr>
        <p:spPr>
          <a:xfrm>
            <a:off x="1463040" y="1732541"/>
            <a:ext cx="3200400" cy="274320"/>
          </a:xfrm>
          <a:prstGeom prst="roundRect">
            <a:avLst>
              <a:gd name="adj" fmla="val 13333"/>
            </a:avLst>
          </a:prstGeom>
          <a:solidFill>
            <a:srgbClr val="FFFFFF"/>
          </a:solidFill>
          <a:ln w="12700">
            <a:solidFill>
              <a:srgbClr val="0B57D0"/>
            </a:solidFill>
            <a:prstDash val="solid"/>
          </a:ln>
        </p:spPr>
      </p:sp>
      <p:sp>
        <p:nvSpPr>
          <p:cNvPr id="48" name="Text 39"/>
          <p:cNvSpPr txBox="1"/>
          <p:nvPr/>
        </p:nvSpPr>
        <p:spPr>
          <a:xfrm>
            <a:off x="1554480" y="1732541"/>
            <a:ext cx="3200400" cy="274320"/>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santri.kelas1@gmail.com</a:t>
            </a:r>
            <a:endParaRPr lang="en-US" sz="850" dirty="0"/>
          </a:p>
        </p:txBody>
      </p:sp>
      <p:sp>
        <p:nvSpPr>
          <p:cNvPr id="49" name="Text 40"/>
          <p:cNvSpPr txBox="1"/>
          <p:nvPr/>
        </p:nvSpPr>
        <p:spPr>
          <a:xfrm>
            <a:off x="1463040" y="2098301"/>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People with access</a:t>
            </a:r>
            <a:endParaRPr lang="en-US" sz="800" dirty="0"/>
          </a:p>
        </p:txBody>
      </p:sp>
      <p:sp>
        <p:nvSpPr>
          <p:cNvPr id="50" name="Shape 41"/>
          <p:cNvSpPr/>
          <p:nvPr/>
        </p:nvSpPr>
        <p:spPr>
          <a:xfrm>
            <a:off x="1463040" y="2326901"/>
            <a:ext cx="201168" cy="201168"/>
          </a:xfrm>
          <a:prstGeom prst="ellipse">
            <a:avLst/>
          </a:prstGeom>
          <a:solidFill>
            <a:srgbClr val="1F7A5C"/>
          </a:solidFill>
          <a:ln/>
        </p:spPr>
      </p:sp>
      <p:sp>
        <p:nvSpPr>
          <p:cNvPr id="51" name="Text 42"/>
          <p:cNvSpPr txBox="1"/>
          <p:nvPr/>
        </p:nvSpPr>
        <p:spPr>
          <a:xfrm>
            <a:off x="1737360" y="229946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Guru IT (you)</a:t>
            </a:r>
            <a:endParaRPr lang="en-US" sz="800" dirty="0"/>
          </a:p>
        </p:txBody>
      </p:sp>
      <p:sp>
        <p:nvSpPr>
          <p:cNvPr id="52" name="Text 43"/>
          <p:cNvSpPr txBox="1"/>
          <p:nvPr/>
        </p:nvSpPr>
        <p:spPr>
          <a:xfrm>
            <a:off x="3977640" y="231775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Owner</a:t>
            </a:r>
            <a:endParaRPr lang="en-US" sz="800" dirty="0"/>
          </a:p>
        </p:txBody>
      </p:sp>
      <p:sp>
        <p:nvSpPr>
          <p:cNvPr id="53" name="Shape 44"/>
          <p:cNvSpPr/>
          <p:nvPr/>
        </p:nvSpPr>
        <p:spPr>
          <a:xfrm>
            <a:off x="1463040" y="2601221"/>
            <a:ext cx="201168" cy="201168"/>
          </a:xfrm>
          <a:prstGeom prst="ellipse">
            <a:avLst/>
          </a:prstGeom>
          <a:solidFill>
            <a:srgbClr val="4285F4"/>
          </a:solidFill>
          <a:ln/>
        </p:spPr>
      </p:sp>
      <p:sp>
        <p:nvSpPr>
          <p:cNvPr id="54" name="Text 45"/>
          <p:cNvSpPr txBox="1"/>
          <p:nvPr/>
        </p:nvSpPr>
        <p:spPr>
          <a:xfrm>
            <a:off x="1737360" y="257378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santri.kelas1@...</a:t>
            </a:r>
            <a:endParaRPr lang="en-US" sz="800" dirty="0"/>
          </a:p>
        </p:txBody>
      </p:sp>
      <p:sp>
        <p:nvSpPr>
          <p:cNvPr id="55" name="Text 46"/>
          <p:cNvSpPr txBox="1"/>
          <p:nvPr/>
        </p:nvSpPr>
        <p:spPr>
          <a:xfrm>
            <a:off x="3977640" y="259207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Editor  ▾</a:t>
            </a:r>
            <a:endParaRPr lang="en-US" sz="800" dirty="0"/>
          </a:p>
        </p:txBody>
      </p:sp>
      <p:sp>
        <p:nvSpPr>
          <p:cNvPr id="56" name="Text 47"/>
          <p:cNvSpPr txBox="1"/>
          <p:nvPr/>
        </p:nvSpPr>
        <p:spPr>
          <a:xfrm>
            <a:off x="1463040" y="2939549"/>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General access</a:t>
            </a:r>
            <a:endParaRPr lang="en-US" sz="800" dirty="0"/>
          </a:p>
        </p:txBody>
      </p:sp>
      <p:pic>
        <p:nvPicPr>
          <p:cNvPr id="57" name="Image 7" descr="preencoded.png">    </p:cNvPr>
          <p:cNvPicPr>
            <a:picLocks noChangeAspect="1"/>
          </p:cNvPicPr>
          <p:nvPr/>
        </p:nvPicPr>
        <p:blipFill>
          <a:blip r:embed="rId8"/>
          <a:stretch>
            <a:fillRect/>
          </a:stretch>
        </p:blipFill>
        <p:spPr>
          <a:xfrm>
            <a:off x="1481328" y="3186437"/>
            <a:ext cx="137160" cy="137160"/>
          </a:xfrm>
          <a:prstGeom prst="rect">
            <a:avLst/>
          </a:prstGeom>
        </p:spPr>
      </p:pic>
      <p:sp>
        <p:nvSpPr>
          <p:cNvPr id="58" name="Text 48"/>
          <p:cNvSpPr txBox="1"/>
          <p:nvPr/>
        </p:nvSpPr>
        <p:spPr>
          <a:xfrm>
            <a:off x="1691640" y="3140717"/>
            <a:ext cx="1280160" cy="237744"/>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Restricted  ▾</a:t>
            </a:r>
            <a:endParaRPr lang="en-US" sz="850" dirty="0"/>
          </a:p>
        </p:txBody>
      </p:sp>
      <p:sp>
        <p:nvSpPr>
          <p:cNvPr id="59" name="Shape 49"/>
          <p:cNvSpPr/>
          <p:nvPr/>
        </p:nvSpPr>
        <p:spPr>
          <a:xfrm>
            <a:off x="4069080" y="3460757"/>
            <a:ext cx="594360" cy="256032"/>
          </a:xfrm>
          <a:prstGeom prst="roundRect">
            <a:avLst>
              <a:gd name="adj" fmla="val 50000"/>
            </a:avLst>
          </a:prstGeom>
          <a:solidFill>
            <a:srgbClr val="0B57D0"/>
          </a:solidFill>
          <a:ln w="12700">
            <a:solidFill>
              <a:srgbClr val="0B57D0"/>
            </a:solidFill>
            <a:prstDash val="solid"/>
          </a:ln>
        </p:spPr>
      </p:sp>
      <p:sp>
        <p:nvSpPr>
          <p:cNvPr id="60" name="Text 50"/>
          <p:cNvSpPr txBox="1"/>
          <p:nvPr/>
        </p:nvSpPr>
        <p:spPr>
          <a:xfrm>
            <a:off x="4069080" y="3460757"/>
            <a:ext cx="594360"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Done</a:t>
            </a:r>
            <a:endParaRPr lang="en-US" sz="850" dirty="0"/>
          </a:p>
        </p:txBody>
      </p:sp>
      <p:sp>
        <p:nvSpPr>
          <p:cNvPr id="61" name="Shape 51"/>
          <p:cNvSpPr/>
          <p:nvPr/>
        </p:nvSpPr>
        <p:spPr>
          <a:xfrm>
            <a:off x="3703320" y="2829821"/>
            <a:ext cx="914400" cy="658368"/>
          </a:xfrm>
          <a:prstGeom prst="rect">
            <a:avLst/>
          </a:prstGeom>
          <a:solidFill>
            <a:srgbClr val="FFFFFF"/>
          </a:solidFill>
          <a:ln w="9525">
            <a:solidFill>
              <a:srgbClr val="AAAAAA"/>
            </a:solidFill>
            <a:prstDash val="solid"/>
          </a:ln>
        </p:spPr>
      </p:sp>
      <p:sp>
        <p:nvSpPr>
          <p:cNvPr id="62" name="Text 52"/>
          <p:cNvSpPr txBox="1"/>
          <p:nvPr/>
        </p:nvSpPr>
        <p:spPr>
          <a:xfrm>
            <a:off x="3813048" y="2857253"/>
            <a:ext cx="7498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Viewer</a:t>
            </a:r>
            <a:endParaRPr lang="en-US" sz="800" dirty="0"/>
          </a:p>
        </p:txBody>
      </p:sp>
      <p:sp>
        <p:nvSpPr>
          <p:cNvPr id="63" name="Text 53"/>
          <p:cNvSpPr txBox="1"/>
          <p:nvPr/>
        </p:nvSpPr>
        <p:spPr>
          <a:xfrm>
            <a:off x="3813048" y="3058421"/>
            <a:ext cx="7498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Commenter</a:t>
            </a:r>
            <a:endParaRPr lang="en-US" sz="800" dirty="0"/>
          </a:p>
        </p:txBody>
      </p:sp>
      <p:sp>
        <p:nvSpPr>
          <p:cNvPr id="64" name="Text 54"/>
          <p:cNvSpPr txBox="1"/>
          <p:nvPr/>
        </p:nvSpPr>
        <p:spPr>
          <a:xfrm>
            <a:off x="3813048" y="3259589"/>
            <a:ext cx="7498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Editor</a:t>
            </a:r>
            <a:endParaRPr lang="en-US" sz="800" dirty="0"/>
          </a:p>
        </p:txBody>
      </p:sp>
      <p:sp>
        <p:nvSpPr>
          <p:cNvPr id="65" name="Shape 55"/>
          <p:cNvSpPr/>
          <p:nvPr/>
        </p:nvSpPr>
        <p:spPr>
          <a:xfrm>
            <a:off x="1444752" y="1714253"/>
            <a:ext cx="3236976" cy="310896"/>
          </a:xfrm>
          <a:prstGeom prst="roundRect">
            <a:avLst>
              <a:gd name="adj" fmla="val 14706"/>
            </a:avLst>
          </a:prstGeom>
          <a:solidFill>
            <a:srgbClr val="FFFFFF">
              <a:alpha val="0"/>
            </a:srgbClr>
          </a:solidFill>
          <a:ln w="31750">
            <a:solidFill>
              <a:srgbClr val="E53935"/>
            </a:solidFill>
            <a:prstDash val="solid"/>
          </a:ln>
        </p:spPr>
      </p:sp>
      <p:sp>
        <p:nvSpPr>
          <p:cNvPr id="66" name="Shape 56"/>
          <p:cNvSpPr/>
          <p:nvPr/>
        </p:nvSpPr>
        <p:spPr>
          <a:xfrm>
            <a:off x="4544568" y="1577093"/>
            <a:ext cx="274320" cy="274320"/>
          </a:xfrm>
          <a:prstGeom prst="ellipse">
            <a:avLst/>
          </a:prstGeom>
          <a:solidFill>
            <a:srgbClr val="E53935"/>
          </a:solidFill>
          <a:ln w="12700">
            <a:solidFill>
              <a:srgbClr val="FFFFFF"/>
            </a:solidFill>
            <a:prstDash val="solid"/>
          </a:ln>
        </p:spPr>
      </p:sp>
      <p:sp>
        <p:nvSpPr>
          <p:cNvPr id="67" name="Text 57"/>
          <p:cNvSpPr txBox="1"/>
          <p:nvPr/>
        </p:nvSpPr>
        <p:spPr>
          <a:xfrm>
            <a:off x="4544568" y="15770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8" name="Image 8" descr="preencoded.png">    </p:cNvPr>
          <p:cNvPicPr>
            <a:picLocks noChangeAspect="1"/>
          </p:cNvPicPr>
          <p:nvPr/>
        </p:nvPicPr>
        <p:blipFill>
          <a:blip r:embed="rId9"/>
          <a:stretch>
            <a:fillRect/>
          </a:stretch>
        </p:blipFill>
        <p:spPr>
          <a:xfrm>
            <a:off x="3223260" y="1883417"/>
            <a:ext cx="237744" cy="237744"/>
          </a:xfrm>
          <a:prstGeom prst="rect">
            <a:avLst/>
          </a:prstGeom>
        </p:spPr>
      </p:pic>
      <p:sp>
        <p:nvSpPr>
          <p:cNvPr id="69" name="Shape 58"/>
          <p:cNvSpPr/>
          <p:nvPr/>
        </p:nvSpPr>
        <p:spPr>
          <a:xfrm>
            <a:off x="3721608" y="3241301"/>
            <a:ext cx="877824" cy="228600"/>
          </a:xfrm>
          <a:prstGeom prst="roundRect">
            <a:avLst>
              <a:gd name="adj" fmla="val 20000"/>
            </a:avLst>
          </a:prstGeom>
          <a:solidFill>
            <a:srgbClr val="FFFFFF">
              <a:alpha val="0"/>
            </a:srgbClr>
          </a:solidFill>
          <a:ln w="31750">
            <a:solidFill>
              <a:srgbClr val="E53935"/>
            </a:solidFill>
            <a:prstDash val="solid"/>
          </a:ln>
        </p:spPr>
      </p:sp>
      <p:sp>
        <p:nvSpPr>
          <p:cNvPr id="70" name="Shape 59"/>
          <p:cNvSpPr/>
          <p:nvPr/>
        </p:nvSpPr>
        <p:spPr>
          <a:xfrm>
            <a:off x="4462272" y="3104141"/>
            <a:ext cx="274320" cy="274320"/>
          </a:xfrm>
          <a:prstGeom prst="ellipse">
            <a:avLst/>
          </a:prstGeom>
          <a:solidFill>
            <a:srgbClr val="E53935"/>
          </a:solidFill>
          <a:ln w="12700">
            <a:solidFill>
              <a:srgbClr val="FFFFFF"/>
            </a:solidFill>
            <a:prstDash val="solid"/>
          </a:ln>
        </p:spPr>
      </p:sp>
      <p:sp>
        <p:nvSpPr>
          <p:cNvPr id="71" name="Text 60"/>
          <p:cNvSpPr txBox="1"/>
          <p:nvPr/>
        </p:nvSpPr>
        <p:spPr>
          <a:xfrm>
            <a:off x="4462272" y="31041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2" name="Image 9" descr="preencoded.png">    </p:cNvPr>
          <p:cNvPicPr>
            <a:picLocks noChangeAspect="1"/>
          </p:cNvPicPr>
          <p:nvPr/>
        </p:nvPicPr>
        <p:blipFill>
          <a:blip r:embed="rId10"/>
          <a:stretch>
            <a:fillRect/>
          </a:stretch>
        </p:blipFill>
        <p:spPr>
          <a:xfrm>
            <a:off x="4202582" y="3365202"/>
            <a:ext cx="237744" cy="237744"/>
          </a:xfrm>
          <a:prstGeom prst="rect">
            <a:avLst/>
          </a:prstGeom>
        </p:spPr>
      </p:pic>
      <p:sp>
        <p:nvSpPr>
          <p:cNvPr id="73" name="Text 6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74" name="Text 6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email, pilih hak akses</a:t>
            </a:r>
            <a:endParaRPr lang="en-US" sz="1800" dirty="0"/>
          </a:p>
        </p:txBody>
      </p:sp>
      <p:sp>
        <p:nvSpPr>
          <p:cNvPr id="75" name="Text 6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alamat email yang akan diberi akses. Klik pilihan di sebelah kanan untuk memilih Viewer, Commenter, atau Editor.</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Membagikan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Kelas 1 Wustha</a:t>
            </a:r>
            <a:endParaRPr lang="en-US" sz="800" dirty="0"/>
          </a:p>
        </p:txBody>
      </p:sp>
      <p:sp>
        <p:nvSpPr>
          <p:cNvPr id="45" name="Shape 36"/>
          <p:cNvSpPr/>
          <p:nvPr/>
        </p:nvSpPr>
        <p:spPr>
          <a:xfrm>
            <a:off x="1280160" y="1293629"/>
            <a:ext cx="3566160" cy="2514600"/>
          </a:xfrm>
          <a:prstGeom prst="roundRect">
            <a:avLst>
              <a:gd name="adj" fmla="val 2909"/>
            </a:avLst>
          </a:prstGeom>
          <a:solidFill>
            <a:srgbClr val="FFFFFF"/>
          </a:solidFill>
          <a:ln w="9525">
            <a:solidFill>
              <a:srgbClr val="BBBBBB"/>
            </a:solidFill>
            <a:prstDash val="solid"/>
          </a:ln>
        </p:spPr>
      </p:sp>
      <p:sp>
        <p:nvSpPr>
          <p:cNvPr id="46" name="Text 37"/>
          <p:cNvSpPr txBox="1"/>
          <p:nvPr/>
        </p:nvSpPr>
        <p:spPr>
          <a:xfrm>
            <a:off x="1463040" y="1385069"/>
            <a:ext cx="3200400" cy="27432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Share "Kelas 1 Wustha"</a:t>
            </a:r>
            <a:endParaRPr lang="en-US" sz="1200" dirty="0"/>
          </a:p>
        </p:txBody>
      </p:sp>
      <p:sp>
        <p:nvSpPr>
          <p:cNvPr id="47" name="Shape 38"/>
          <p:cNvSpPr/>
          <p:nvPr/>
        </p:nvSpPr>
        <p:spPr>
          <a:xfrm>
            <a:off x="1463040" y="1732541"/>
            <a:ext cx="3200400" cy="274320"/>
          </a:xfrm>
          <a:prstGeom prst="roundRect">
            <a:avLst>
              <a:gd name="adj" fmla="val 13333"/>
            </a:avLst>
          </a:prstGeom>
          <a:solidFill>
            <a:srgbClr val="FFFFFF"/>
          </a:solidFill>
          <a:ln w="12700">
            <a:solidFill>
              <a:srgbClr val="AAAAAA"/>
            </a:solidFill>
            <a:prstDash val="solid"/>
          </a:ln>
        </p:spPr>
      </p:sp>
      <p:sp>
        <p:nvSpPr>
          <p:cNvPr id="48" name="Text 39"/>
          <p:cNvSpPr txBox="1"/>
          <p:nvPr/>
        </p:nvSpPr>
        <p:spPr>
          <a:xfrm>
            <a:off x="1554480" y="1732541"/>
            <a:ext cx="3200400" cy="274320"/>
          </a:xfrm>
          <a:prstGeom prst="rect">
            <a:avLst/>
          </a:prstGeom>
          <a:noFill/>
          <a:ln/>
        </p:spPr>
        <p:txBody>
          <a:bodyPr wrap="square" lIns="0" tIns="0" rIns="0" bIns="0" rtlCol="0" anchor="ctr"/>
          <a:lstStyle/>
          <a:p>
            <a:pPr indent="0" marL="0">
              <a:buNone/>
            </a:pPr>
            <a:r>
              <a:rPr lang="en-US" sz="850" dirty="0">
                <a:solidFill>
                  <a:srgbClr val="777777"/>
                </a:solidFill>
                <a:latin typeface="Calibri" pitchFamily="34" charset="0"/>
                <a:ea typeface="Calibri" pitchFamily="34" charset="-122"/>
                <a:cs typeface="Calibri" pitchFamily="34" charset="-120"/>
              </a:rPr>
              <a:t>Add people, groups, and emails</a:t>
            </a:r>
            <a:endParaRPr lang="en-US" sz="850" dirty="0"/>
          </a:p>
        </p:txBody>
      </p:sp>
      <p:sp>
        <p:nvSpPr>
          <p:cNvPr id="49" name="Text 40"/>
          <p:cNvSpPr txBox="1"/>
          <p:nvPr/>
        </p:nvSpPr>
        <p:spPr>
          <a:xfrm>
            <a:off x="1463040" y="2098301"/>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People with access</a:t>
            </a:r>
            <a:endParaRPr lang="en-US" sz="800" dirty="0"/>
          </a:p>
        </p:txBody>
      </p:sp>
      <p:sp>
        <p:nvSpPr>
          <p:cNvPr id="50" name="Shape 41"/>
          <p:cNvSpPr/>
          <p:nvPr/>
        </p:nvSpPr>
        <p:spPr>
          <a:xfrm>
            <a:off x="1463040" y="2326901"/>
            <a:ext cx="201168" cy="201168"/>
          </a:xfrm>
          <a:prstGeom prst="ellipse">
            <a:avLst/>
          </a:prstGeom>
          <a:solidFill>
            <a:srgbClr val="1F7A5C"/>
          </a:solidFill>
          <a:ln/>
        </p:spPr>
      </p:sp>
      <p:sp>
        <p:nvSpPr>
          <p:cNvPr id="51" name="Text 42"/>
          <p:cNvSpPr txBox="1"/>
          <p:nvPr/>
        </p:nvSpPr>
        <p:spPr>
          <a:xfrm>
            <a:off x="1737360" y="229946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Guru IT (you)</a:t>
            </a:r>
            <a:endParaRPr lang="en-US" sz="800" dirty="0"/>
          </a:p>
        </p:txBody>
      </p:sp>
      <p:sp>
        <p:nvSpPr>
          <p:cNvPr id="52" name="Text 43"/>
          <p:cNvSpPr txBox="1"/>
          <p:nvPr/>
        </p:nvSpPr>
        <p:spPr>
          <a:xfrm>
            <a:off x="3977640" y="231775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Owner</a:t>
            </a:r>
            <a:endParaRPr lang="en-US" sz="800" dirty="0"/>
          </a:p>
        </p:txBody>
      </p:sp>
      <p:sp>
        <p:nvSpPr>
          <p:cNvPr id="53" name="Shape 44"/>
          <p:cNvSpPr/>
          <p:nvPr/>
        </p:nvSpPr>
        <p:spPr>
          <a:xfrm>
            <a:off x="1463040" y="2601221"/>
            <a:ext cx="201168" cy="201168"/>
          </a:xfrm>
          <a:prstGeom prst="ellipse">
            <a:avLst/>
          </a:prstGeom>
          <a:solidFill>
            <a:srgbClr val="4285F4"/>
          </a:solidFill>
          <a:ln/>
        </p:spPr>
      </p:sp>
      <p:sp>
        <p:nvSpPr>
          <p:cNvPr id="54" name="Text 45"/>
          <p:cNvSpPr txBox="1"/>
          <p:nvPr/>
        </p:nvSpPr>
        <p:spPr>
          <a:xfrm>
            <a:off x="1737360" y="257378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santri.kelas1@...</a:t>
            </a:r>
            <a:endParaRPr lang="en-US" sz="800" dirty="0"/>
          </a:p>
        </p:txBody>
      </p:sp>
      <p:sp>
        <p:nvSpPr>
          <p:cNvPr id="55" name="Text 46"/>
          <p:cNvSpPr txBox="1"/>
          <p:nvPr/>
        </p:nvSpPr>
        <p:spPr>
          <a:xfrm>
            <a:off x="3977640" y="259207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Editor  ▾</a:t>
            </a:r>
            <a:endParaRPr lang="en-US" sz="800" dirty="0"/>
          </a:p>
        </p:txBody>
      </p:sp>
      <p:sp>
        <p:nvSpPr>
          <p:cNvPr id="56" name="Text 47"/>
          <p:cNvSpPr txBox="1"/>
          <p:nvPr/>
        </p:nvSpPr>
        <p:spPr>
          <a:xfrm>
            <a:off x="1463040" y="2939549"/>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General access</a:t>
            </a:r>
            <a:endParaRPr lang="en-US" sz="800" dirty="0"/>
          </a:p>
        </p:txBody>
      </p:sp>
      <p:pic>
        <p:nvPicPr>
          <p:cNvPr id="57" name="Image 7" descr="preencoded.png">    </p:cNvPr>
          <p:cNvPicPr>
            <a:picLocks noChangeAspect="1"/>
          </p:cNvPicPr>
          <p:nvPr/>
        </p:nvPicPr>
        <p:blipFill>
          <a:blip r:embed="rId8"/>
          <a:stretch>
            <a:fillRect/>
          </a:stretch>
        </p:blipFill>
        <p:spPr>
          <a:xfrm>
            <a:off x="1481328" y="3186437"/>
            <a:ext cx="137160" cy="137160"/>
          </a:xfrm>
          <a:prstGeom prst="rect">
            <a:avLst/>
          </a:prstGeom>
        </p:spPr>
      </p:pic>
      <p:sp>
        <p:nvSpPr>
          <p:cNvPr id="58" name="Text 48"/>
          <p:cNvSpPr txBox="1"/>
          <p:nvPr/>
        </p:nvSpPr>
        <p:spPr>
          <a:xfrm>
            <a:off x="1691640" y="3140717"/>
            <a:ext cx="1280160" cy="237744"/>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Restricted  ▾</a:t>
            </a:r>
            <a:endParaRPr lang="en-US" sz="850" dirty="0"/>
          </a:p>
        </p:txBody>
      </p:sp>
      <p:sp>
        <p:nvSpPr>
          <p:cNvPr id="59" name="Shape 49"/>
          <p:cNvSpPr/>
          <p:nvPr/>
        </p:nvSpPr>
        <p:spPr>
          <a:xfrm>
            <a:off x="4069080" y="3460757"/>
            <a:ext cx="594360" cy="256032"/>
          </a:xfrm>
          <a:prstGeom prst="roundRect">
            <a:avLst>
              <a:gd name="adj" fmla="val 50000"/>
            </a:avLst>
          </a:prstGeom>
          <a:solidFill>
            <a:srgbClr val="0B57D0"/>
          </a:solidFill>
          <a:ln w="12700">
            <a:solidFill>
              <a:srgbClr val="0B57D0"/>
            </a:solidFill>
            <a:prstDash val="solid"/>
          </a:ln>
        </p:spPr>
      </p:sp>
      <p:sp>
        <p:nvSpPr>
          <p:cNvPr id="60" name="Text 50"/>
          <p:cNvSpPr txBox="1"/>
          <p:nvPr/>
        </p:nvSpPr>
        <p:spPr>
          <a:xfrm>
            <a:off x="4069080" y="3460757"/>
            <a:ext cx="594360"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Done</a:t>
            </a:r>
            <a:endParaRPr lang="en-US" sz="850" dirty="0"/>
          </a:p>
        </p:txBody>
      </p:sp>
      <p:sp>
        <p:nvSpPr>
          <p:cNvPr id="61" name="Shape 51"/>
          <p:cNvSpPr/>
          <p:nvPr/>
        </p:nvSpPr>
        <p:spPr>
          <a:xfrm>
            <a:off x="1444752" y="3122429"/>
            <a:ext cx="1591056" cy="274320"/>
          </a:xfrm>
          <a:prstGeom prst="roundRect">
            <a:avLst>
              <a:gd name="adj" fmla="val 16667"/>
            </a:avLst>
          </a:prstGeom>
          <a:solidFill>
            <a:srgbClr val="FFFFFF">
              <a:alpha val="0"/>
            </a:srgbClr>
          </a:solidFill>
          <a:ln w="31750">
            <a:solidFill>
              <a:srgbClr val="E53935"/>
            </a:solidFill>
            <a:prstDash val="solid"/>
          </a:ln>
        </p:spPr>
      </p:sp>
      <p:sp>
        <p:nvSpPr>
          <p:cNvPr id="62" name="Shape 52"/>
          <p:cNvSpPr/>
          <p:nvPr/>
        </p:nvSpPr>
        <p:spPr>
          <a:xfrm>
            <a:off x="2898648" y="2985269"/>
            <a:ext cx="274320" cy="274320"/>
          </a:xfrm>
          <a:prstGeom prst="ellipse">
            <a:avLst/>
          </a:prstGeom>
          <a:solidFill>
            <a:srgbClr val="E53935"/>
          </a:solidFill>
          <a:ln w="12700">
            <a:solidFill>
              <a:srgbClr val="FFFFFF"/>
            </a:solidFill>
            <a:prstDash val="solid"/>
          </a:ln>
        </p:spPr>
      </p:sp>
      <p:sp>
        <p:nvSpPr>
          <p:cNvPr id="63" name="Text 53"/>
          <p:cNvSpPr txBox="1"/>
          <p:nvPr/>
        </p:nvSpPr>
        <p:spPr>
          <a:xfrm>
            <a:off x="2898648" y="29852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4" name="Image 8" descr="preencoded.png">    </p:cNvPr>
          <p:cNvPicPr>
            <a:picLocks noChangeAspect="1"/>
          </p:cNvPicPr>
          <p:nvPr/>
        </p:nvPicPr>
        <p:blipFill>
          <a:blip r:embed="rId9"/>
          <a:stretch>
            <a:fillRect/>
          </a:stretch>
        </p:blipFill>
        <p:spPr>
          <a:xfrm>
            <a:off x="2318004" y="3271476"/>
            <a:ext cx="237744" cy="237744"/>
          </a:xfrm>
          <a:prstGeom prst="rect">
            <a:avLst/>
          </a:prstGeom>
        </p:spPr>
      </p:pic>
      <p:sp>
        <p:nvSpPr>
          <p:cNvPr id="65" name="Shape 54"/>
          <p:cNvSpPr/>
          <p:nvPr/>
        </p:nvSpPr>
        <p:spPr>
          <a:xfrm>
            <a:off x="4050792" y="3442469"/>
            <a:ext cx="630936" cy="292608"/>
          </a:xfrm>
          <a:prstGeom prst="roundRect">
            <a:avLst>
              <a:gd name="adj" fmla="val 15625"/>
            </a:avLst>
          </a:prstGeom>
          <a:solidFill>
            <a:srgbClr val="FFFFFF">
              <a:alpha val="0"/>
            </a:srgbClr>
          </a:solidFill>
          <a:ln w="31750">
            <a:solidFill>
              <a:srgbClr val="E53935"/>
            </a:solidFill>
            <a:prstDash val="solid"/>
          </a:ln>
        </p:spPr>
      </p:sp>
      <p:sp>
        <p:nvSpPr>
          <p:cNvPr id="66" name="Shape 55"/>
          <p:cNvSpPr/>
          <p:nvPr/>
        </p:nvSpPr>
        <p:spPr>
          <a:xfrm>
            <a:off x="4544568" y="3305309"/>
            <a:ext cx="274320" cy="274320"/>
          </a:xfrm>
          <a:prstGeom prst="ellipse">
            <a:avLst/>
          </a:prstGeom>
          <a:solidFill>
            <a:srgbClr val="E53935"/>
          </a:solidFill>
          <a:ln w="12700">
            <a:solidFill>
              <a:srgbClr val="FFFFFF"/>
            </a:solidFill>
            <a:prstDash val="solid"/>
          </a:ln>
        </p:spPr>
      </p:sp>
      <p:sp>
        <p:nvSpPr>
          <p:cNvPr id="67" name="Text 56"/>
          <p:cNvSpPr txBox="1"/>
          <p:nvPr/>
        </p:nvSpPr>
        <p:spPr>
          <a:xfrm>
            <a:off x="4544568" y="33053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8" name="Image 9" descr="preencoded.png">    </p:cNvPr>
          <p:cNvPicPr>
            <a:picLocks noChangeAspect="1"/>
          </p:cNvPicPr>
          <p:nvPr/>
        </p:nvPicPr>
        <p:blipFill>
          <a:blip r:embed="rId10"/>
          <a:stretch>
            <a:fillRect/>
          </a:stretch>
        </p:blipFill>
        <p:spPr>
          <a:xfrm>
            <a:off x="4395978" y="3601575"/>
            <a:ext cx="237744" cy="237744"/>
          </a:xfrm>
          <a:prstGeom prst="rect">
            <a:avLst/>
          </a:prstGeom>
        </p:spPr>
      </p:pic>
      <p:sp>
        <p:nvSpPr>
          <p:cNvPr id="69"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70"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Pastikan Restricted, lalu klik Done</a:t>
            </a:r>
            <a:endParaRPr lang="en-US" sz="1800" dirty="0"/>
          </a:p>
        </p:txBody>
      </p:sp>
      <p:sp>
        <p:nvSpPr>
          <p:cNvPr id="71"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General access, biarkan Restricted agar hanya orang yang diundang yang bisa membuka. Klik Done.</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Sistem Folder Digital Kelas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folder Kelompok_N di dalam folder Kelas 1 Wustha.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anggota memiliki folder dengan namanya.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anggota sudah upload 1 file dengan format Tanggal_Nama_Judul.</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Kelompok bisa menjelaskan arti Viewer, Commenter, dan Editor.</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2: Manajemen File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Folder kelompok sudah dibuat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anggota punya subfolder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diberi nama sesuai aturan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Viewer dan Editor</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manfaat aturan bersama dalam sebuah sistem?</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Siapa yang bertanggung jawab menjaga kerapian folder kelas?</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Folder bersama adalah milik bersama. Jaga kerapiannya dan hormati karya teman.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3: membuat dokumen digital dengan Google Docs.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2 - Manajemen File</dc:title>
  <dc:subject>PptxGenJS Presentation</dc:subject>
  <dc:creator>PptxGenJS</dc:creator>
  <cp:lastModifiedBy>PptxGenJS</cp:lastModifiedBy>
  <cp:revision>1</cp:revision>
  <dcterms:created xsi:type="dcterms:W3CDTF">2026-10-01T00:29:31Z</dcterms:created>
  <dcterms:modified xsi:type="dcterms:W3CDTF">2026-10-01T00:29:31Z</dcterms:modified>
</cp:coreProperties>
</file>