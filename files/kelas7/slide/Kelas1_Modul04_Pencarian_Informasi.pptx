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4: Pencarian Informasi — Proyek: Ensiklopedia Digital Mini
Terdiri dari 3 pertemuan (Pertemuan 10–12),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Aktifkan SafeSearch di browser setiap komputer (buka google.com → Settings → SafeSearch → Filter). Ini menyaring konten tidak pantas.
- Pertemuan 11: siapkan 3 contoh informasi untuk setiap kelompok, misalnya 1 berita benar dari situs resmi, 1 hoaks yang sudah dibantah (cari di turnbackhoax.id atau cekfakta.com), dan 1 informasi yang belum jelas. Cetak atau tampilkan di layar.
- Pertemuan 12: siapkan daftar tema kelompok, misalnya tokoh Islam, masjid bersejarah, dan alam Sulawesi Tengah.
CATATAN
Tampilan Google mengikuti bahasa Inggris (All = Semua, Images = Gambar, News = Berita). Jumlah hasil pencarian pada gambar hanyalah contoh; angka di komputer bisa berbeda.
Situs cek fakta di Indonesia: turnbackhoax.id dan cekfakta.com.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ke-10, dengan judul "Mesin Pencari &amp; Kata Kunci". Kita akan belajar mencari informasi di internet dengan cara yang cepat dan tepat.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Modul 3 sudah selesai dan Buku Digital Adab Santri sudah jadi. Hari ini kita masuk Modul 4. Di Modul 1 kita sudah pernah mencari "Kota Poso" di Google. Siapa yang ingat, kata yang kita ketik untuk mencari itu disebut apa?
(Tunggu jawaban: kata kunci.)
Sekarang pertanyaan hari ini. Coba pikirkan sejenak:
"Jika ingin tahu sejarah Masjid Nabawi, kata apa yang akan kalian ketik di Google?"
(Beri waktu 1 menit. Minta 2–3 santri menjawab. Hargai semua jawaban.)
Ada yang mengetik "masjid", ada yang mengetik "sejarah Masjid Nabawi". Mana yang lebih baik? Hari ini kita akan membuktikannya bersama.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Mesin pencari adalah situs yang membantu kita menemukan halaman di internet. Yang paling terkenal adalah Google. Ada juga Bing dan lainnya.
Bagaimana cara kerjanya? Perhatikan tiga tahap di layar.
Tahap pertama, KITA MENGETIK kata kunci, yaitu kata-kata penting tentang hal yang ingin kita cari.
Tahap kedua, GOOGLE MENCARI. Google memiliki program yang setiap hari menjelajahi dan mencatat miliaran halaman di internet, seperti pustakawan yang mencatat semua buku di perpustakaan raksasa. Ketika kita mengetik kata kunci, Google mencocokkannya dengan catatan tersebut.
Tahap ketiga, HASIL DIURUTKAN. Halaman yang dianggap paling cocok dan paling dipercaya ditampilkan paling atas.
Ingat: Google hanya mencocokkan kata. Google tidak tahu maksud hati kita. Karena itu, kata kunci yang kita pilih sangat menentukan hasil yang kita dapat.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jurus agar pencarian kita tepat sasaran.
Jurus pertama, KATA KUNCI SPESIFIK. Spesifik artinya khusus dan jelas. Kata "masjid" terlalu umum, hasilnya bisa tentang masjid mana saja di seluruh dunia. Kata "sejarah Masjid Nabawi" jauh lebih jelas. Pakai dua sampai empat kata yang paling penting. Tidak perlu mengetik kalimat panjang seperti bertanya kepada orang.
Jurus kedua, TANDA KUTIP. Jika kata kunci diapit tanda kutip, Google akan mencari susunan kata yang persis sama dan berurutan. Contohnya "adab menuntut ilmu" dengan tanda kutip.
Jurus ketiga, TANDA MINUS. Tanda minus dipakai untuk membuang kata yang tidak kita inginkan. Contohnya: kurma, spasi, minus resep. Artinya kita mencari tentang kurma, tetapi tidak mau hasil yang berisi resep. Tanda minus ditulis menempel dengan katanya, tanpa spasi.
Jurus keempat, TAB PENCARIAN. Di bawah kotak pencarian ada pilihan All untuk semua, Images untuk gambar, News untuk berita, dan Videos untuk video. Pilih sesuai kebutuhan.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menemukan informasi, kita perlu mencatatnya dengan benar.
Yang BENAR:
Pertama, tulis ulang dengan bahasa sendiri. Baca dulu, pahami, lalu tulis dengan kalimat kita. Ini tanda bahwa kita benar-benar memahami.
Kedua, catat alamat situs sumbernya. Ini bentuk kejujuran ilmiah, dan memudahkan kita jika ingin membacanya lagi.
Ketiga, ambil informasi dari situs yang jelas pemiliknya, misalnya situs lembaga resmi, kampus, atau media yang terpercaya.
Yang SALAH:
Pertama, menyalin seluruh tulisan mentah-mentah lalu mengakuinya sebagai tulisan sendiri. Ini disebut plagiarisme dan termasuk perbuatan tidak jujur.
Kedua, tidak mencatat sumber.
Ketiga, mempercayai situs yang tidak jelas siapa pembuatnya.
Para ulama hadits sangat teliti mencatat sanad, yaitu dari siapa sebuah hadits diterima. Kita meneladani mereka dengan selalu mencatat sumber.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praktik mencari informasi. Buka browser dan ikuti gambar langkah demi langkah.
Siapkan juga satu dokumen Google Docs baru bernama Catatan_Pencarian, garis bawah, nama kalian, untuk mencatat hasil pencarian.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google.com. Ketik kata masjid saja, lalu tekan Enter.
Perhatikan tulisan kecil di bawah kotak pencarian, yang ditandai kotak merah. Di sana tertulis jumlah hasil: ratusan juta halaman! Lihat juga judul-judul hasilnya: ada tentang masjid terindah, desain masjid, masjid terdekat. Semuanya tentang masjid, tetapi belum tentu yang kita cari.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kotak pencarian di bagian atas, tanda a. Hapus kata masjid, lalu ketik: sejarah Masjid Nabawi. Tekan Enter.
Bandingkan hasilnya, tanda b. Sekarang semua judul langsung membahas sejarah Masjid Nabawi. Jumlah hasilnya jauh lebih sedikit, tetapi jauh lebih tepat.
Inilah kekuatan kata kunci yang spesifik.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salah satu judul berwarna biru, tanda a, untuk membuka halamannya. Baca isinya dengan teliti dan cari satu fakta menarik tentang sejarah Masjid Nabawi.
Setelah selesai, klik tombol Kembali, yaitu panah ke kiri di pojok kiri atas, tanda b, untuk kembali ke daftar hasil pencarian.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Kita coba jurus tanda kutip. Ketik di kotak pencarian: tanda kutip, adab menuntut ilmu, tanda kutip. Tekan Enter.
Untuk mengetik tanda kutip, tahan tombol Shift, lalu tekan tombol petik yang ada di sebelah kiri tombol Enter.
Perhatikan hasilnya: semua judul memuat susunan kata "adab menuntut ilmu" persis seperti yang kita ketik.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coba jurus tanda minus. Ketik: kurma, spasi, tanda minus menempel dengan kata resep. Tekan Enter.
Hasilnya membahas jenis kurma, manfaat kurma, dan sejarah kurma, tetapi tidak ada resep masakan. Tanda minus telah membuang hasil yang tidak kita inginkan.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Cari Masjid Nabawi, lalu klik tab Images di bawah kotak pencarian, yang ditandai kotak merah.
Hasil berubah menjadi kumpulan gambar. Untuk kembali ke hasil tulisan, klik tab All.
Ingat, SafeSearch sudah diaktifkan oleh guru untuk menyaring gambar yang tidak pantas. Jika tetap muncul sesuatu yang tidak pantas, segera tutup dan beristighfar, lalu laporkan kepada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mencatat sumber.
Langkah ketujuh. Buka halaman tempat kalian menemukan fakta. Klik sekali di kolom alamat. Seluruh alamat akan terblok berwarna biru, seperti pada gambar.
Tekan Ctrl dan C untuk menyalin alamat tersebut.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Pindah ke tab Google Docs, buka dokumen Catatan Pencarian kalian.
Tulis fakta yang kalian temukan dengan bahasa sendiri, tanda a. Contohnya: Masjid Nabawi dibangun oleh Rasulullah shallallahu 'alaihi wasallam setelah hijrah ke Madinah.
Di baris berikutnya, ketik Sumber, titik dua, lalu tekan Ctrl dan V untuk menempelkan alamat situs, tanda b.
Lakukan hal yang sama untuk fakta-fakta berikutnya.
(Berkeliling dan periksa apakah santri menulis dengan bahasa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kerjakan lembar kerja ini di dokumen Catatan Pencarian.
Satu: cari tiga fakta tentang Kota Poso atau Danau Poso, masing-masing dengan sumbernya.
Dua: cari tiga fakta tentang Masjid Al-Aqsa, masing-masing dengan sumbernya.
Tiga: tulis kata kunci yang kalian pakai untuk setiap fakta.
Empat: semua fakta harus ditulis dengan bahasa sendiri.
(Periksa dan beri paraf. Jangan lupa Sign out setelah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6 fakta beserta sumbernya?
- kata kunci sudah spesifik?
- sudah mencoba tanda kutip?
- fakta ditulis dengan bahasa sendiri?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kata kunci mana yang paling berhasil hari ini?
Pertanyaan kedua: mengapa kita perlu mencatat sumber informasi?
(Minta 2–3 santri menjawab secara bergantian.)
Pesan adab kita hari ini: mencari ilmu di internet tetap memerlukan adab. Awali dengan niat yang baik, cari yang bermanfaat, dan jauhi konten yang tidak pantas. Internet adalah alat; yang menentukan baik dan buruknya adalah cara kita menggunakannya.
Pekan depan: kita belajar menilai kebenaran informasi dan mengenali hoaks.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ke-11, dengan judul "Sumber Terpercaya &amp; Hoaks". Kita akan belajar menjadi santri yang teliti: memeriksa kebenaran informasi sebelum mempercayai dan menyebarkannya.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empat jurus mencari. Siapa yang ingat, apa fungsi tanda minus dalam pencarian?
(Tunggu jawaban: membuang hasil yang tidak diinginkan.)
Sekarang pertanyaan hari ini. Coba pikirkan sejenak:
"Pernahkah kalian menerima pesan berantai yang ternyata tidak benar?"
(Beri waktu 1 menit. Minta 2–3 santri menjawab. Hargai semua jawaban.)
Banyak di antara kita, atau keluarga kita, pernah menerima pesan seperti itu. Informasi palsu yang sengaja disebarkan disebut HOAKS. Islam sejak lama telah mengajarkan cara menghadapinya, yaitu TABAYYUN, artinya memeriksa kebenaran berita sebelum mempercayai dan menyebarkannya.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Allah subhanahu wa ta'ala berfirman dalam Surah Al-Hujurat ayat 6. Maknanya: wahai orang-orang yang beriman, jika datang kepada kalian orang fasik membawa suatu berita, maka periksalah dengan teliti, agar kalian tidak menimpakan suatu musibah kepada suatu kaum karena ketidaktahuan, yang akhirnya membuat kalian menyesal atas perbuatan kalian.
(Jika memungkinkan, minta seorang santri membacakan ayatnya dari mushaf.)
Perintah memeriksa berita ini disebut TABAYYUN.
Ayat ini turun lebih dari 1.400 tahun yang lalu, tetapi sangat cocok untuk zaman sekarang. Hari ini berita menyebar sangat cepat melalui HP dan internet. Satu pesan bisa diteruskan ke ribuan orang dalam hitungan menit. Jika berita itu bohong, maka fitnah menyebar ke mana-mana, dan orang yang ikut menyebarkannya ikut menanggung dosanya.
Karena itu, santri yang baik selalu bertabayyun sebelum percaya dan sebelum menyebarkan.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Bagaimana cara bertabayyun di internet? Ajukan empat pertanyaan ini setiap kali menerima informasi.
Pertanyaan pertama, SIAPA PENULISNYA? Apakah dari lembaga resmi seperti kementerian, dari media yang terpercaya, atau dari akun yang tidak jelas identitasnya? Kalimat seperti "kata teman saya orang dalam" adalah tanda bahaya.
Pertanyaan kedua, KAPAN DITULIS? Periksa tanggalnya. Banyak berita lama yang disebar ulang seolah-olah baru terjadi.
Pertanyaan ketiga, ADA SUMBER LAIN? Berita yang benar biasanya diberitakan oleh banyak media terpercaya. Jika hanya ada di satu pesan berantai, kita patut curiga. Bandingkan dengan minimal dua sumber.
Pertanyaan keempat, ADA CIRI HOAKS? Ciri-cirinya: judul sangat heboh, banyak huruf kapital dan tanda seru, meminta segera disebarkan, mengancam, dan memancing emosi seperti marah atau takut.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menjawab empat pertanyaan, kita bisa mengambil salah satu dari tiga kesimpulan.
Kesimpulan pertama, FAKTA. Artinya informasi itu benar: sumbernya jelas, sesuai dengan sumber terpercaya lainnya, dan tidak ada ciri hoaks.
Kesimpulan kedua, HOAKS. Artinya informasi itu bohong: sudah dibantah oleh sumber resmi atau situs cek fakta, atau jelas tidak masuk akal.
Kesimpulan ketiga, BELUM JELAS. Kadang kita belum bisa memastikan. Dalam keadaan seperti ini, sikap terbaik adalah tidak menyebarkannya sampai jelas kebenarannya. Rasulullah shallallahu 'alaihi wasallam bersabda, maknanya: cukuplah seseorang dianggap berdusta apabila ia menceritakan semua yang ia dengar. Hadits ini diriwayatkan oleh Imam Muslim.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kalian menjadi detektif informasi. Kita latihan dulu bersama dengan satu contoh pesan berantai, lalu setiap kelompok memeriksa tiga informasi dari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Perhatikan contoh pesan berantai di layar. Ini bukan pesan sungguhan, tetapi dibuat mirip dengan pesan hoaks yang sering beredar.
Bacalah dengan tenang. Pesan ini mengatakan bahwa HP yang tidak meneruskan pesan ke 10 orang akan diblokir oleh pemerintah.
Apa yang kalian rasakan saat membacanya? Mungkin takut atau panik. Itulah tujuan pembuat hoaks: membuat kita panik agar langsung menyebarkannya tanpa berpikir. Jadi langkah pertama adalah: tenang, jangan langsung percaya, jangan langsung diteruskan.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Ajukan pertanyaan pertama: siapa penulisnya?
Lihat tanda a. Sumbernya hanya "teman saya orang dalam". Siapa namanya? Dari lembaga mana? Tidak jelas sama sekali.
Lihat juga tanda b: "Diteruskan berkali-kali". Artinya pesan ini sudah berpindah dari banyak tangan, dan tidak ada yang tahu siapa pembuat pertamanya.
Kesimpulan sementara: sumbernya tidak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Ajukan pertanyaan keempat: ada ciri hoaks?
Lihat tanda a: "PENTING!! SEBARKAN SEGERA" ditulis dengan huruf kapital dan banyak tanda seru. Ini ciri hoaks.
Lihat tanda b: "Kirim ke 10 grup sekarang". Meminta segera disebarkan. Ini juga ciri hoaks.
Isinya juga mengancam: HP akan diblokir. Mengancam dan menakut-nakuti adalah ciri hoaks yang ketiga.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Ajukan pertanyaan ketiga: ada sumber lain?
Buka Google, lalu ketik inti beritanya ditambah kata hoaks. Contohnya: hp diblokir pesan berantai hoaks, tanda a.
Perhatikan hasilnya, tanda b. Ada situs cek fakta dan situs pemerintah berakhiran .go.id yang membahasnya. Kata SALAH dan Klarifikasi sudah memberi petunjuk.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hasil dari situs cek fakta. Situs cek fakta adalah situs yang khusus memeriksa kebenaran berita yang beredar.
Lihat tanda a: label SALAH berwarna merah. Artinya berita itu terbukti hoaks.
Baca penjelasannya, tanda b: tidak ada aturan pemerintah seperti itu, dan pesan serupa sudah beredar bertahun-tahun lalu.
Alhamdulillah, dengan tabayyun kita tidak ikut menyebarkan kebohongan.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Sekarang tuliskan hasilnya.
Buka Google Docs, buat dokumen Cek Fakta Kelompok. Sisipkan tabel 3 kolom: Informasi, Kesimpulan, dan Alasan, seperti yang kita pelajari di Modul 3.
Isi baris pertama dengan contoh tadi: informasi HP diblokir, kesimpulan HOAKS, alasan sumber tidak jelas dan sudah dibantah situs cek fakta.
(Bagikan 3 informasi untuk setiap kelompok. Minta kelompok memeriksa dengan langkah 1 sampai 5, lalu mengisi tabel.)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bersama kelompok.
Satu: periksa tiga informasi dari guru dengan empat pertanyaan tabayyun.
Dua: tentukan kesimpulannya: fakta, hoaks, atau belum jelas.
Tiga: tulis alasan dan sumber pembanding untuk setiap kesimpulan.
Empat: perwakilan kelompok menjelaskan satu temuan di depan kelas.
(Beri waktu sekitar 20 menit, lalu 1 menit presentasi per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keempat pertanyaan sudah dijawab?
- keputusan disertai alasan?
- ada sumber pembanding?
- hasil ditulis dalam tabel?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yang akan kamu lakukan jika menerima pesan berantai?
Pertanyaan kedua: mengapa menyebarkan hoaks itu berdosa?
(Minta 2–3 santri menjawab secara bergantian.)
Pesan adab kita hari ini: saring sebelum sharing. Sebelum meneruskan pesan, tanyakan: apakah ini benar, apakah ini bermanfaat, dan apakah perlu disebarkan? Jika ragu, diam lebih baik. Rasulullah mengajarkan: barang siapa beriman kepada Allah dan hari akhir, hendaklah ia berkata baik atau diam.
Pekan depan: kita menyusun proyek Ensiklopedia Digital Mini.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ke-12, dengan judul "Ensiklopedia Digital Mini". Hari ini kita menyelesaikan proyek Modul 4: setiap kelompok menyusun ensiklopedia mini dari sumber terpercaya.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tabayyun. Siapa yang ingat empat pertanyaan tabayyun?
(Tunggu jawaban: siapa penulisnya, kapan ditulis, ada sumber lain, ada ciri hoaks.)
Sekarang pertanyaan hari ini. Coba pikirkan sejenak:
"Apa itu ensiklopedia, dan pernahkah kalian membacanya?"
(Beri waktu 1 menit. Minta 2–3 santri menjawab. Hargai semua jawaban.)
Ensiklopedia adalah buku kumpulan pengetahuan tentang berbagai hal yang disusun rapi, biasanya berurutan. Setiap topik di dalamnya disebut ENTRI. Hari ini setiap kelompok membuat ensiklopedia versi mini, dengan memadukan semua yang sudah kita pelajari: mencari informasi, tabayyun, dan Google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satu entri ensiklopedia di layar, tentang Danau Poso. Setiap entri memiliki empat bagian.
Nomor 1, JUDUL ENTRI, yaitu nama topiknya, ditulis dengan gaya Heading 1.
Nomor 2, PENJELASAN SINGKAT, tiga sampai lima kalimat dengan bahasa sendiri, ditambah satu gambar.
Nomor 3, FAKTA MENARIK, dua sampai tiga fakta penting yang sudah kita periksa kebenarannya dengan tabayyun.
Nomor 4, SUMBER, ditulis berupa link atau tautan yang bisa diklik. Minimal dua sumber untuk setiap entri, agar kita bisa membandingkan kebenarannya.
Catatan: contoh fakta di layar adalah ilustrasi. Fakta yang kalian tulis harus benar-benar kalian cari dan periksa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Menulis ulang informasi dengan kalimat sendiri disebut PARAFRASE. Sedangkan menyalin tulisan orang lain lalu mengakuinya sebagai tulisan sendiri disebut PLAGIAT.
Cara parafrase yang benar ada tiga langkah.
Pertama, baca sumbernya sampai benar-benar paham, lalu tutup atau kecilkan jendela sumbernya.
Kedua, tulis ulang dengan kalimat kalian sendiri, seolah-olah sedang menjelaskan kepada adik kelas.
Ketiga, tetap cantumkan sumbernya.
Yang termasuk plagiat:
Pertama, copy-paste seluruh paragraf.
Kedua, menyalin lalu hanya mengganti satu atau dua kata.
Ketiga, tidak mencantumkan sumber.
Plagiat adalah ketidakjujuran. Seorang penuntut ilmu harus jujur, karena ilmu adalah amanah.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Berikan tema: tokoh Islam, masjid bersejarah, atau alam Sulawesi Tengah. Setiap anggota memilih satu topik dalam tema itu.)
Sekarang setiap kelompok menyusun ensiklopedia mini. Setiap anggota menulis satu entri.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Ketua kelompok membuat dokumen Google Docs baru dengan nama Ensiklopedia, garis bawah, Kelompok, garis bawah, nomor kelompok, tanda a.
Ketik judul Ensiklopedia Mini dengan gaya Title, dan di bawahnya tema kelompok.
Lalu klik tombol Share di pojok kanan atas, tanda b, dan undang akun anggota sebagai Editor, seperti yang kita pelajari di Modul 2. Jika kelompok hanya memakai satu komputer dan satu akun, anggota cukup bergantian menulis.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Setiap anggota mencari informasi tentang topiknya dengan kata kunci yang spesifik. Contohnya: Danau Poso Sulawesi Tengah.
Pilih minimal dua sumber yang terpercaya, tanda a dan tanda b. Situs pemerintah berakhiran .go.id dan ensiklopedia biasanya bisa dipercaya.
Perhatikan hasil ketiga yang dicoret merah: judulnya heboh dengan huruf kapital dan kata "bikin merinding". Itu tanda situs yang kurang terpercaya. Hindari.
Tipsnya: klik kanan pada judul hasil, lalu pilih Open link in new tab, agar halaman terbuka di tab baru dan hasil pencarian tidak hilang.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dokumen kelompok, tekan Ctrl dan Enter untuk membuat halaman baru bagi entri kalian.
Ketik judul entri lalu jadikan Heading 1. Di bawahnya, tulis penjelasan singkat tiga sampai lima kalimat dengan bahasa sendiri. Lalu tulis dua sampai tiga fakta menarik dengan daftar berbutir.
Ingat cara parafrase: baca sumber sampai paham, kecilkan jendelanya, lalu tulis dengan kalimat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Sisipkan satu gambar yang sesuai dengan topik melalui Insert, Image. Atur ukurannya dari titik pojok dan pilih posisi yang rapi, seperti di Modul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membuat link sumber agar pembaca bisa langsung mengklik dan membuka sumbernya.
Di bagian akhir entri, ketik Sumber, titik dua. Di baris berikutnya, ketik nama sumber, misalnya Situs Pemerintah Kabupaten Poso. Blok tulisan itu.
Tekan Ctrl dan K bersamaan, atau klik menu Insert lalu Link. Muncul kotak kecil. Tempel alamat situs yang sudah disalin dengan Ctrl V, tanda a. Lalu klik Apply, tanda b.
Tulisan akan berubah menjadi biru dan bergaris bawah. Itulah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Lakukan hal yang sama untuk sumber kedua.
Setelah itu, uji link kalian: klik link, maka muncul kotak kecil berisi alamatnya. Klik alamat itu untuk memastikan situs yang terbuka sudah benar.
Alhamdulillah, entri kalian sudah lengkap dengan empat bagian.
(Periksa setiap entri. Pastikan tidak ada paragraf hasil copy-paste.)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Ensiklopedia kelompok dinyatakan selesai jika empat syarat ini terpenuhi.
Satu, setiap anggota menulis satu entri dengan judul Heading 1.
Dua, setiap entri memiliki penjelasan, gambar, dan fakta menarik.
Tiga, setiap entri memiliki minimal dua sumber berupa link.
Empat, tidak ada paragraf yang disalin mentah-mentah.
(Minta setiap kelompok menampilkan ensiklopedianya di layar dan membacakan satu entri.)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setiap entri memiliki 4 bagian?
- tulisan memakai bahasa sendiri?
- minimal 2 sumber per entri?
- sumber sudah berupa link?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pengetahuan baru yang kamu dapat dari proyek ini?
Pertanyaan kedua: mengapa menulis dengan bahasa sendiri itu penting?
(Minta 2–3 santri menjawab secara bergantian.)
Pesan adab kita hari ini: jujurlah dalam ilmu. Sebutkan sumber, dan jangan mengakui karya orang lain sebagai karya sendiri. Imam Malik rahimahullah berkata, maknanya: ilmu ini adalah agama, maka perhatikanlah dari siapa kalian mengambil agama kalian. Kita pun harus teliti dari mana kita mengambil ilmu.
Pekan depan: kita masuk Modul 5, belajar desain digital dan membuat poster dakwah. Alhamdulillah, Modul 4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slideLayout" Target="../slideLayouts/slideLayout1.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image" Target="../media/image-42-11.png"/><Relationship Id="rId12" Type="http://schemas.openxmlformats.org/officeDocument/2006/relationships/image" Target="../media/image-42-12.png"/><Relationship Id="rId13" Type="http://schemas.openxmlformats.org/officeDocument/2006/relationships/slideLayout" Target="../slideLayouts/slideLayout1.xml"/><Relationship Id="rId1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slideLayout" Target="../slideLayouts/slideLayout1.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slideLayout" Target="../slideLayouts/slideLayout1.xml"/><Relationship Id="rId1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image" Target="../media/image-46-8.png"/><Relationship Id="rId9" Type="http://schemas.openxmlformats.org/officeDocument/2006/relationships/image" Target="../media/image-46-9.png"/><Relationship Id="rId10" Type="http://schemas.openxmlformats.org/officeDocument/2006/relationships/image" Target="../media/image-46-10.png"/><Relationship Id="rId11" Type="http://schemas.openxmlformats.org/officeDocument/2006/relationships/image" Target="../media/image-46-11.png"/><Relationship Id="rId12" Type="http://schemas.openxmlformats.org/officeDocument/2006/relationships/slideLayout" Target="../slideLayouts/slideLayout1.xml"/><Relationship Id="rId1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image" Target="../media/image-47-9.png"/><Relationship Id="rId10" Type="http://schemas.openxmlformats.org/officeDocument/2006/relationships/image" Target="../media/image-47-10.png"/><Relationship Id="rId11" Type="http://schemas.openxmlformats.org/officeDocument/2006/relationships/slideLayout" Target="../slideLayouts/slideLayout1.xml"/><Relationship Id="rId1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1  ·  MODUL 4</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Pencarian Informasi</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Ensiklopedia Digital Mini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mencari informasi dengan kata kunci yang tepat, menilai kebenaran sumber, mengenali hoaks dengan sikap tabayyun, lalu menyusun ensiklopedia mini.</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10</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Mesin Pencari &amp; Kata Kunci</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11</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Sumber Terpercaya &amp; Hoaks</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12</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Ensiklopedia Digital Mini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Browser, Google Search, Google Docs, akun Google kelas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Mesin Pencari &amp; Kata Kunci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Mencari informasi dengan tepat dan cepat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Pencarian Informasi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ingin tahu sejarah Masjid Nabawi, kata apa yang akan kalian ketik di Google?</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cara kerja mesin pencari</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kata kunci yang spesifik</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Memakai tanda kutip, tanda minus, dan tab pencarian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Cara Kerja Mesin Pencari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Kita Mengetik</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Kita menulis kata kunci di kotak pencarian</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Google Mencari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Google mencocokkan dengan miliaran halaman yang sudah dicatatnya</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Hasil Diurutkan</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Halaman yang paling cocok ditampilkan paling atas</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Kata kunci "sejarah Masjid Nabawi" → Google mencari halaman yang memuat kata-kata itu → hasil terbaik muncul di urutan teratas.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Jurus Mencari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Kata Kunci Spesifik</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"sejarah Masjid Nabawi" lebih baik daripada "masjid". Pakai 2–4 kata penting.</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Tanda Kutip " "</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"adab menuntut ilmu" mencari susunan kata yang persis sama.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Tanda Minus –</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kurma -resep: mencari tentang kurma tetapi tanpa hasil resep.</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Tab Pencarian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Pilih Images untuk gambar, News untuk berita, Videos untuk video.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Mencatat Hasil Pencarian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Benar</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Tulis ulang dengan bahasa sendiri</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Catat alamat situs sumbernya</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Ambil dari situs yang jelas pemiliknya</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Salah</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Menyalin seluruh tulisan mentah-mentah</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Tidak mencatat sumber</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Percaya pada situs tanpa identitas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Berlatih Mencari Informasi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Membandingkan kata kunci</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Tanda kutip, minus, dan tab Images</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Mencatat fakta dan sumber</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Kata Kunci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masjid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google.com/search?q=masjid</a:t>
            </a:r>
            <a:endParaRPr lang="en-US" sz="800" dirty="0"/>
          </a:p>
        </p:txBody>
      </p:sp>
      <p:sp>
        <p:nvSpPr>
          <p:cNvPr id="28" name="Text 21"/>
          <p:cNvSpPr txBox="1"/>
          <p:nvPr/>
        </p:nvSpPr>
        <p:spPr>
          <a:xfrm>
            <a:off x="724936" y="1732541"/>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456456" y="1732541"/>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593616" y="1732541"/>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masjid</a:t>
            </a:r>
            <a:endParaRPr lang="en-US" sz="800" dirty="0"/>
          </a:p>
        </p:txBody>
      </p:sp>
      <p:sp>
        <p:nvSpPr>
          <p:cNvPr id="31" name="Text 24"/>
          <p:cNvSpPr txBox="1"/>
          <p:nvPr/>
        </p:nvSpPr>
        <p:spPr>
          <a:xfrm>
            <a:off x="1456456" y="2006861"/>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All</a:t>
            </a:r>
            <a:endParaRPr lang="en-US" sz="700" dirty="0"/>
          </a:p>
        </p:txBody>
      </p:sp>
      <p:sp>
        <p:nvSpPr>
          <p:cNvPr id="32" name="Shape 25"/>
          <p:cNvSpPr/>
          <p:nvPr/>
        </p:nvSpPr>
        <p:spPr>
          <a:xfrm>
            <a:off x="1502176" y="2171453"/>
            <a:ext cx="365760" cy="22860"/>
          </a:xfrm>
          <a:prstGeom prst="rect">
            <a:avLst/>
          </a:prstGeom>
          <a:solidFill>
            <a:srgbClr val="1A73E8"/>
          </a:solidFill>
          <a:ln w="12700">
            <a:solidFill>
              <a:srgbClr val="1A73E8"/>
            </a:solidFill>
            <a:prstDash val="solid"/>
          </a:ln>
        </p:spPr>
      </p:sp>
      <p:sp>
        <p:nvSpPr>
          <p:cNvPr id="33" name="Text 26"/>
          <p:cNvSpPr txBox="1"/>
          <p:nvPr/>
        </p:nvSpPr>
        <p:spPr>
          <a:xfrm>
            <a:off x="195937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Images</a:t>
            </a:r>
            <a:endParaRPr lang="en-US" sz="700" dirty="0"/>
          </a:p>
        </p:txBody>
      </p:sp>
      <p:sp>
        <p:nvSpPr>
          <p:cNvPr id="34" name="Text 27"/>
          <p:cNvSpPr txBox="1"/>
          <p:nvPr/>
        </p:nvSpPr>
        <p:spPr>
          <a:xfrm>
            <a:off x="246229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296521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456456" y="2208029"/>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450.000.000 hasil (0,38 detik)</a:t>
            </a:r>
            <a:endParaRPr lang="en-US" sz="600" dirty="0"/>
          </a:p>
        </p:txBody>
      </p:sp>
      <p:sp>
        <p:nvSpPr>
          <p:cNvPr id="37" name="Text 30"/>
          <p:cNvSpPr txBox="1"/>
          <p:nvPr/>
        </p:nvSpPr>
        <p:spPr>
          <a:xfrm>
            <a:off x="1456456" y="2418341"/>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https://contoh-wisata.id</a:t>
            </a:r>
            <a:endParaRPr lang="en-US" sz="600" dirty="0"/>
          </a:p>
        </p:txBody>
      </p:sp>
      <p:sp>
        <p:nvSpPr>
          <p:cNvPr id="38" name="Text 31"/>
          <p:cNvSpPr txBox="1"/>
          <p:nvPr/>
        </p:nvSpPr>
        <p:spPr>
          <a:xfrm>
            <a:off x="1456456" y="2537213"/>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Masjid Terindah di Dunia</a:t>
            </a:r>
            <a:endParaRPr lang="en-US" sz="900" dirty="0"/>
          </a:p>
        </p:txBody>
      </p:sp>
      <p:sp>
        <p:nvSpPr>
          <p:cNvPr id="39" name="Shape 32"/>
          <p:cNvSpPr/>
          <p:nvPr/>
        </p:nvSpPr>
        <p:spPr>
          <a:xfrm>
            <a:off x="1456456" y="2747525"/>
            <a:ext cx="2926080" cy="36576"/>
          </a:xfrm>
          <a:prstGeom prst="rect">
            <a:avLst/>
          </a:prstGeom>
          <a:solidFill>
            <a:srgbClr val="DDDDDD"/>
          </a:solidFill>
          <a:ln w="12700">
            <a:solidFill>
              <a:srgbClr val="DDDDDD"/>
            </a:solidFill>
            <a:prstDash val="solid"/>
          </a:ln>
        </p:spPr>
      </p:sp>
      <p:sp>
        <p:nvSpPr>
          <p:cNvPr id="40" name="Shape 33"/>
          <p:cNvSpPr/>
          <p:nvPr/>
        </p:nvSpPr>
        <p:spPr>
          <a:xfrm>
            <a:off x="1456456" y="2811533"/>
            <a:ext cx="2194560" cy="36576"/>
          </a:xfrm>
          <a:prstGeom prst="rect">
            <a:avLst/>
          </a:prstGeom>
          <a:solidFill>
            <a:srgbClr val="DDDDDD"/>
          </a:solidFill>
          <a:ln w="12700">
            <a:solidFill>
              <a:srgbClr val="DDDDDD"/>
            </a:solidFill>
            <a:prstDash val="solid"/>
          </a:ln>
        </p:spPr>
      </p:sp>
      <p:sp>
        <p:nvSpPr>
          <p:cNvPr id="41" name="Text 34"/>
          <p:cNvSpPr txBox="1"/>
          <p:nvPr/>
        </p:nvSpPr>
        <p:spPr>
          <a:xfrm>
            <a:off x="1456456" y="2893829"/>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https://contoh-arsitek.id</a:t>
            </a:r>
            <a:endParaRPr lang="en-US" sz="600" dirty="0"/>
          </a:p>
        </p:txBody>
      </p:sp>
      <p:sp>
        <p:nvSpPr>
          <p:cNvPr id="42" name="Text 35"/>
          <p:cNvSpPr txBox="1"/>
          <p:nvPr/>
        </p:nvSpPr>
        <p:spPr>
          <a:xfrm>
            <a:off x="1456456" y="3012701"/>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Desain Masjid Minimalis Modern</a:t>
            </a:r>
            <a:endParaRPr lang="en-US" sz="900" dirty="0"/>
          </a:p>
        </p:txBody>
      </p:sp>
      <p:sp>
        <p:nvSpPr>
          <p:cNvPr id="43" name="Shape 36"/>
          <p:cNvSpPr/>
          <p:nvPr/>
        </p:nvSpPr>
        <p:spPr>
          <a:xfrm>
            <a:off x="1456456" y="3223013"/>
            <a:ext cx="2926080" cy="36576"/>
          </a:xfrm>
          <a:prstGeom prst="rect">
            <a:avLst/>
          </a:prstGeom>
          <a:solidFill>
            <a:srgbClr val="DDDDDD"/>
          </a:solidFill>
          <a:ln w="12700">
            <a:solidFill>
              <a:srgbClr val="DDDDDD"/>
            </a:solidFill>
            <a:prstDash val="solid"/>
          </a:ln>
        </p:spPr>
      </p:sp>
      <p:sp>
        <p:nvSpPr>
          <p:cNvPr id="44" name="Shape 37"/>
          <p:cNvSpPr/>
          <p:nvPr/>
        </p:nvSpPr>
        <p:spPr>
          <a:xfrm>
            <a:off x="1456456" y="3287021"/>
            <a:ext cx="2194560" cy="36576"/>
          </a:xfrm>
          <a:prstGeom prst="rect">
            <a:avLst/>
          </a:prstGeom>
          <a:solidFill>
            <a:srgbClr val="DDDDDD"/>
          </a:solidFill>
          <a:ln w="12700">
            <a:solidFill>
              <a:srgbClr val="DDDDDD"/>
            </a:solidFill>
            <a:prstDash val="solid"/>
          </a:ln>
        </p:spPr>
      </p:sp>
      <p:sp>
        <p:nvSpPr>
          <p:cNvPr id="45" name="Text 38"/>
          <p:cNvSpPr txBox="1"/>
          <p:nvPr/>
        </p:nvSpPr>
        <p:spPr>
          <a:xfrm>
            <a:off x="1456456" y="3369317"/>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https://contoh-peta.id</a:t>
            </a:r>
            <a:endParaRPr lang="en-US" sz="600" dirty="0"/>
          </a:p>
        </p:txBody>
      </p:sp>
      <p:sp>
        <p:nvSpPr>
          <p:cNvPr id="46" name="Text 39"/>
          <p:cNvSpPr txBox="1"/>
          <p:nvPr/>
        </p:nvSpPr>
        <p:spPr>
          <a:xfrm>
            <a:off x="1456456" y="3488189"/>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Masjid Terdekat dari Lokasi Anda</a:t>
            </a:r>
            <a:endParaRPr lang="en-US" sz="900" dirty="0"/>
          </a:p>
        </p:txBody>
      </p:sp>
      <p:sp>
        <p:nvSpPr>
          <p:cNvPr id="47" name="Shape 40"/>
          <p:cNvSpPr/>
          <p:nvPr/>
        </p:nvSpPr>
        <p:spPr>
          <a:xfrm>
            <a:off x="1456456" y="3698501"/>
            <a:ext cx="2926080" cy="36576"/>
          </a:xfrm>
          <a:prstGeom prst="rect">
            <a:avLst/>
          </a:prstGeom>
          <a:solidFill>
            <a:srgbClr val="DDDDDD"/>
          </a:solidFill>
          <a:ln w="12700">
            <a:solidFill>
              <a:srgbClr val="DDDDDD"/>
            </a:solidFill>
            <a:prstDash val="solid"/>
          </a:ln>
        </p:spPr>
      </p:sp>
      <p:sp>
        <p:nvSpPr>
          <p:cNvPr id="48" name="Shape 41"/>
          <p:cNvSpPr/>
          <p:nvPr/>
        </p:nvSpPr>
        <p:spPr>
          <a:xfrm>
            <a:off x="1456456" y="3762509"/>
            <a:ext cx="2194560" cy="36576"/>
          </a:xfrm>
          <a:prstGeom prst="rect">
            <a:avLst/>
          </a:prstGeom>
          <a:solidFill>
            <a:srgbClr val="DDDDDD"/>
          </a:solidFill>
          <a:ln w="12700">
            <a:solidFill>
              <a:srgbClr val="DDDDDD"/>
            </a:solidFill>
            <a:prstDash val="solid"/>
          </a:ln>
        </p:spPr>
      </p:sp>
      <p:sp>
        <p:nvSpPr>
          <p:cNvPr id="49" name="Shape 42"/>
          <p:cNvSpPr/>
          <p:nvPr/>
        </p:nvSpPr>
        <p:spPr>
          <a:xfrm>
            <a:off x="5428976" y="1823981"/>
            <a:ext cx="54864" cy="2079963"/>
          </a:xfrm>
          <a:prstGeom prst="rect">
            <a:avLst/>
          </a:prstGeom>
          <a:solidFill>
            <a:srgbClr val="EEEEEE"/>
          </a:solidFill>
          <a:ln w="12700">
            <a:solidFill>
              <a:srgbClr val="EEEEEE"/>
            </a:solidFill>
            <a:prstDash val="solid"/>
          </a:ln>
        </p:spPr>
      </p:sp>
      <p:sp>
        <p:nvSpPr>
          <p:cNvPr id="50" name="Shape 43"/>
          <p:cNvSpPr/>
          <p:nvPr/>
        </p:nvSpPr>
        <p:spPr>
          <a:xfrm>
            <a:off x="5428976" y="1915421"/>
            <a:ext cx="54864" cy="457200"/>
          </a:xfrm>
          <a:prstGeom prst="roundRect">
            <a:avLst>
              <a:gd name="adj" fmla="val 50000"/>
            </a:avLst>
          </a:prstGeom>
          <a:solidFill>
            <a:srgbClr val="AAAAAA"/>
          </a:solidFill>
          <a:ln w="12700">
            <a:solidFill>
              <a:srgbClr val="AAAAAA"/>
            </a:solidFill>
            <a:prstDash val="solid"/>
          </a:ln>
        </p:spPr>
      </p:sp>
      <p:sp>
        <p:nvSpPr>
          <p:cNvPr id="51" name="Shape 44"/>
          <p:cNvSpPr/>
          <p:nvPr/>
        </p:nvSpPr>
        <p:spPr>
          <a:xfrm>
            <a:off x="1429024" y="2180597"/>
            <a:ext cx="2340864" cy="192024"/>
          </a:xfrm>
          <a:prstGeom prst="roundRect">
            <a:avLst>
              <a:gd name="adj" fmla="val 23810"/>
            </a:avLst>
          </a:prstGeom>
          <a:solidFill>
            <a:srgbClr val="FFFFFF">
              <a:alpha val="0"/>
            </a:srgbClr>
          </a:solidFill>
          <a:ln w="31750">
            <a:solidFill>
              <a:srgbClr val="E53935"/>
            </a:solidFill>
            <a:prstDash val="solid"/>
          </a:ln>
        </p:spPr>
      </p:sp>
      <p:sp>
        <p:nvSpPr>
          <p:cNvPr id="52" name="Shape 45"/>
          <p:cNvSpPr/>
          <p:nvPr/>
        </p:nvSpPr>
        <p:spPr>
          <a:xfrm>
            <a:off x="3632728" y="2043437"/>
            <a:ext cx="274320" cy="274320"/>
          </a:xfrm>
          <a:prstGeom prst="ellipse">
            <a:avLst/>
          </a:prstGeom>
          <a:solidFill>
            <a:srgbClr val="E53935"/>
          </a:solidFill>
          <a:ln w="12700">
            <a:solidFill>
              <a:srgbClr val="FFFFFF"/>
            </a:solidFill>
            <a:prstDash val="solid"/>
          </a:ln>
        </p:spPr>
      </p:sp>
      <p:sp>
        <p:nvSpPr>
          <p:cNvPr id="53" name="Text 46"/>
          <p:cNvSpPr txBox="1"/>
          <p:nvPr/>
        </p:nvSpPr>
        <p:spPr>
          <a:xfrm>
            <a:off x="3632728" y="20434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4" name="Image 5" descr="preencoded.png">    </p:cNvPr>
          <p:cNvPicPr>
            <a:picLocks noChangeAspect="1"/>
          </p:cNvPicPr>
          <p:nvPr/>
        </p:nvPicPr>
        <p:blipFill>
          <a:blip r:embed="rId6"/>
          <a:stretch>
            <a:fillRect/>
          </a:stretch>
        </p:blipFill>
        <p:spPr>
          <a:xfrm>
            <a:off x="2713756" y="2283467"/>
            <a:ext cx="237744" cy="237744"/>
          </a:xfrm>
          <a:prstGeom prst="rect">
            <a:avLst/>
          </a:prstGeom>
        </p:spPr>
      </p:pic>
      <p:sp>
        <p:nvSpPr>
          <p:cNvPr id="55"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6"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masjid</a:t>
            </a:r>
            <a:endParaRPr lang="en-US" sz="1800" dirty="0"/>
          </a:p>
        </p:txBody>
      </p:sp>
      <p:sp>
        <p:nvSpPr>
          <p:cNvPr id="57"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google.com, ketik masjid, tekan Enter. Perhatikan jumlah hasil di bawah kotak pencarian.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Kata Kunci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sejarah Masjid Nabawi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google.com/search?q=sejarah+Masjid+Nabawi</a:t>
            </a:r>
            <a:endParaRPr lang="en-US" sz="800" dirty="0"/>
          </a:p>
        </p:txBody>
      </p:sp>
      <p:sp>
        <p:nvSpPr>
          <p:cNvPr id="28" name="Text 21"/>
          <p:cNvSpPr txBox="1"/>
          <p:nvPr/>
        </p:nvSpPr>
        <p:spPr>
          <a:xfrm>
            <a:off x="724936" y="1732541"/>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456456" y="1732541"/>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593616" y="1732541"/>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sejarah Masjid Nabawi</a:t>
            </a:r>
            <a:endParaRPr lang="en-US" sz="800" dirty="0"/>
          </a:p>
        </p:txBody>
      </p:sp>
      <p:sp>
        <p:nvSpPr>
          <p:cNvPr id="31" name="Text 24"/>
          <p:cNvSpPr txBox="1"/>
          <p:nvPr/>
        </p:nvSpPr>
        <p:spPr>
          <a:xfrm>
            <a:off x="1456456" y="2006861"/>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All</a:t>
            </a:r>
            <a:endParaRPr lang="en-US" sz="700" dirty="0"/>
          </a:p>
        </p:txBody>
      </p:sp>
      <p:sp>
        <p:nvSpPr>
          <p:cNvPr id="32" name="Shape 25"/>
          <p:cNvSpPr/>
          <p:nvPr/>
        </p:nvSpPr>
        <p:spPr>
          <a:xfrm>
            <a:off x="1502176" y="2171453"/>
            <a:ext cx="365760" cy="22860"/>
          </a:xfrm>
          <a:prstGeom prst="rect">
            <a:avLst/>
          </a:prstGeom>
          <a:solidFill>
            <a:srgbClr val="1A73E8"/>
          </a:solidFill>
          <a:ln w="12700">
            <a:solidFill>
              <a:srgbClr val="1A73E8"/>
            </a:solidFill>
            <a:prstDash val="solid"/>
          </a:ln>
        </p:spPr>
      </p:sp>
      <p:sp>
        <p:nvSpPr>
          <p:cNvPr id="33" name="Text 26"/>
          <p:cNvSpPr txBox="1"/>
          <p:nvPr/>
        </p:nvSpPr>
        <p:spPr>
          <a:xfrm>
            <a:off x="195937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Images</a:t>
            </a:r>
            <a:endParaRPr lang="en-US" sz="700" dirty="0"/>
          </a:p>
        </p:txBody>
      </p:sp>
      <p:sp>
        <p:nvSpPr>
          <p:cNvPr id="34" name="Text 27"/>
          <p:cNvSpPr txBox="1"/>
          <p:nvPr/>
        </p:nvSpPr>
        <p:spPr>
          <a:xfrm>
            <a:off x="246229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296521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456456" y="2208029"/>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1.200.000 hasil (0,35 detik)</a:t>
            </a:r>
            <a:endParaRPr lang="en-US" sz="600" dirty="0"/>
          </a:p>
        </p:txBody>
      </p:sp>
      <p:sp>
        <p:nvSpPr>
          <p:cNvPr id="37" name="Text 30"/>
          <p:cNvSpPr txBox="1"/>
          <p:nvPr/>
        </p:nvSpPr>
        <p:spPr>
          <a:xfrm>
            <a:off x="1456456" y="2418341"/>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https://contoh-sejarah.id</a:t>
            </a:r>
            <a:endParaRPr lang="en-US" sz="600" dirty="0"/>
          </a:p>
        </p:txBody>
      </p:sp>
      <p:sp>
        <p:nvSpPr>
          <p:cNvPr id="38" name="Text 31"/>
          <p:cNvSpPr txBox="1"/>
          <p:nvPr/>
        </p:nvSpPr>
        <p:spPr>
          <a:xfrm>
            <a:off x="1456456" y="2537213"/>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Sejarah Pembangunan Masjid Nabawi</a:t>
            </a:r>
            <a:endParaRPr lang="en-US" sz="900" dirty="0"/>
          </a:p>
        </p:txBody>
      </p:sp>
      <p:sp>
        <p:nvSpPr>
          <p:cNvPr id="39" name="Shape 32"/>
          <p:cNvSpPr/>
          <p:nvPr/>
        </p:nvSpPr>
        <p:spPr>
          <a:xfrm>
            <a:off x="1456456" y="2747525"/>
            <a:ext cx="2926080" cy="36576"/>
          </a:xfrm>
          <a:prstGeom prst="rect">
            <a:avLst/>
          </a:prstGeom>
          <a:solidFill>
            <a:srgbClr val="DDDDDD"/>
          </a:solidFill>
          <a:ln w="12700">
            <a:solidFill>
              <a:srgbClr val="DDDDDD"/>
            </a:solidFill>
            <a:prstDash val="solid"/>
          </a:ln>
        </p:spPr>
      </p:sp>
      <p:sp>
        <p:nvSpPr>
          <p:cNvPr id="40" name="Shape 33"/>
          <p:cNvSpPr/>
          <p:nvPr/>
        </p:nvSpPr>
        <p:spPr>
          <a:xfrm>
            <a:off x="1456456" y="2811533"/>
            <a:ext cx="2194560" cy="36576"/>
          </a:xfrm>
          <a:prstGeom prst="rect">
            <a:avLst/>
          </a:prstGeom>
          <a:solidFill>
            <a:srgbClr val="DDDDDD"/>
          </a:solidFill>
          <a:ln w="12700">
            <a:solidFill>
              <a:srgbClr val="DDDDDD"/>
            </a:solidFill>
            <a:prstDash val="solid"/>
          </a:ln>
        </p:spPr>
      </p:sp>
      <p:sp>
        <p:nvSpPr>
          <p:cNvPr id="41" name="Text 34"/>
          <p:cNvSpPr txBox="1"/>
          <p:nvPr/>
        </p:nvSpPr>
        <p:spPr>
          <a:xfrm>
            <a:off x="1456456" y="2893829"/>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https://contoh-islam.id</a:t>
            </a:r>
            <a:endParaRPr lang="en-US" sz="600" dirty="0"/>
          </a:p>
        </p:txBody>
      </p:sp>
      <p:sp>
        <p:nvSpPr>
          <p:cNvPr id="42" name="Text 35"/>
          <p:cNvSpPr txBox="1"/>
          <p:nvPr/>
        </p:nvSpPr>
        <p:spPr>
          <a:xfrm>
            <a:off x="1456456" y="3012701"/>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Masjid Nabawi dari Masa ke Masa</a:t>
            </a:r>
            <a:endParaRPr lang="en-US" sz="900" dirty="0"/>
          </a:p>
        </p:txBody>
      </p:sp>
      <p:sp>
        <p:nvSpPr>
          <p:cNvPr id="43" name="Shape 36"/>
          <p:cNvSpPr/>
          <p:nvPr/>
        </p:nvSpPr>
        <p:spPr>
          <a:xfrm>
            <a:off x="1456456" y="3223013"/>
            <a:ext cx="2926080" cy="36576"/>
          </a:xfrm>
          <a:prstGeom prst="rect">
            <a:avLst/>
          </a:prstGeom>
          <a:solidFill>
            <a:srgbClr val="DDDDDD"/>
          </a:solidFill>
          <a:ln w="12700">
            <a:solidFill>
              <a:srgbClr val="DDDDDD"/>
            </a:solidFill>
            <a:prstDash val="solid"/>
          </a:ln>
        </p:spPr>
      </p:sp>
      <p:sp>
        <p:nvSpPr>
          <p:cNvPr id="44" name="Shape 37"/>
          <p:cNvSpPr/>
          <p:nvPr/>
        </p:nvSpPr>
        <p:spPr>
          <a:xfrm>
            <a:off x="1456456" y="3287021"/>
            <a:ext cx="2194560" cy="36576"/>
          </a:xfrm>
          <a:prstGeom prst="rect">
            <a:avLst/>
          </a:prstGeom>
          <a:solidFill>
            <a:srgbClr val="DDDDDD"/>
          </a:solidFill>
          <a:ln w="12700">
            <a:solidFill>
              <a:srgbClr val="DDDDDD"/>
            </a:solidFill>
            <a:prstDash val="solid"/>
          </a:ln>
        </p:spPr>
      </p:sp>
      <p:sp>
        <p:nvSpPr>
          <p:cNvPr id="45" name="Text 38"/>
          <p:cNvSpPr txBox="1"/>
          <p:nvPr/>
        </p:nvSpPr>
        <p:spPr>
          <a:xfrm>
            <a:off x="1456456" y="3369317"/>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https://contoh-ensiklopedia.id</a:t>
            </a:r>
            <a:endParaRPr lang="en-US" sz="600" dirty="0"/>
          </a:p>
        </p:txBody>
      </p:sp>
      <p:sp>
        <p:nvSpPr>
          <p:cNvPr id="46" name="Text 39"/>
          <p:cNvSpPr txBox="1"/>
          <p:nvPr/>
        </p:nvSpPr>
        <p:spPr>
          <a:xfrm>
            <a:off x="1456456" y="3488189"/>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Masjid Nabawi - Ensiklopedia</a:t>
            </a:r>
            <a:endParaRPr lang="en-US" sz="900" dirty="0"/>
          </a:p>
        </p:txBody>
      </p:sp>
      <p:sp>
        <p:nvSpPr>
          <p:cNvPr id="47" name="Shape 40"/>
          <p:cNvSpPr/>
          <p:nvPr/>
        </p:nvSpPr>
        <p:spPr>
          <a:xfrm>
            <a:off x="1456456" y="3698501"/>
            <a:ext cx="2926080" cy="36576"/>
          </a:xfrm>
          <a:prstGeom prst="rect">
            <a:avLst/>
          </a:prstGeom>
          <a:solidFill>
            <a:srgbClr val="DDDDDD"/>
          </a:solidFill>
          <a:ln w="12700">
            <a:solidFill>
              <a:srgbClr val="DDDDDD"/>
            </a:solidFill>
            <a:prstDash val="solid"/>
          </a:ln>
        </p:spPr>
      </p:sp>
      <p:sp>
        <p:nvSpPr>
          <p:cNvPr id="48" name="Shape 41"/>
          <p:cNvSpPr/>
          <p:nvPr/>
        </p:nvSpPr>
        <p:spPr>
          <a:xfrm>
            <a:off x="1456456" y="3762509"/>
            <a:ext cx="2194560" cy="36576"/>
          </a:xfrm>
          <a:prstGeom prst="rect">
            <a:avLst/>
          </a:prstGeom>
          <a:solidFill>
            <a:srgbClr val="DDDDDD"/>
          </a:solidFill>
          <a:ln w="12700">
            <a:solidFill>
              <a:srgbClr val="DDDDDD"/>
            </a:solidFill>
            <a:prstDash val="solid"/>
          </a:ln>
        </p:spPr>
      </p:sp>
      <p:sp>
        <p:nvSpPr>
          <p:cNvPr id="49" name="Shape 42"/>
          <p:cNvSpPr/>
          <p:nvPr/>
        </p:nvSpPr>
        <p:spPr>
          <a:xfrm>
            <a:off x="5428976" y="1823981"/>
            <a:ext cx="54864" cy="2079963"/>
          </a:xfrm>
          <a:prstGeom prst="rect">
            <a:avLst/>
          </a:prstGeom>
          <a:solidFill>
            <a:srgbClr val="EEEEEE"/>
          </a:solidFill>
          <a:ln w="12700">
            <a:solidFill>
              <a:srgbClr val="EEEEEE"/>
            </a:solidFill>
            <a:prstDash val="solid"/>
          </a:ln>
        </p:spPr>
      </p:sp>
      <p:sp>
        <p:nvSpPr>
          <p:cNvPr id="50" name="Shape 43"/>
          <p:cNvSpPr/>
          <p:nvPr/>
        </p:nvSpPr>
        <p:spPr>
          <a:xfrm>
            <a:off x="5428976" y="1915421"/>
            <a:ext cx="54864" cy="457200"/>
          </a:xfrm>
          <a:prstGeom prst="roundRect">
            <a:avLst>
              <a:gd name="adj" fmla="val 50000"/>
            </a:avLst>
          </a:prstGeom>
          <a:solidFill>
            <a:srgbClr val="AAAAAA"/>
          </a:solidFill>
          <a:ln w="12700">
            <a:solidFill>
              <a:srgbClr val="AAAAAA"/>
            </a:solidFill>
            <a:prstDash val="solid"/>
          </a:ln>
        </p:spPr>
      </p:sp>
      <p:sp>
        <p:nvSpPr>
          <p:cNvPr id="51" name="Shape 44"/>
          <p:cNvSpPr/>
          <p:nvPr/>
        </p:nvSpPr>
        <p:spPr>
          <a:xfrm>
            <a:off x="1429024" y="1705109"/>
            <a:ext cx="2432304" cy="283464"/>
          </a:xfrm>
          <a:prstGeom prst="roundRect">
            <a:avLst>
              <a:gd name="adj" fmla="val 16129"/>
            </a:avLst>
          </a:prstGeom>
          <a:solidFill>
            <a:srgbClr val="FFFFFF">
              <a:alpha val="0"/>
            </a:srgbClr>
          </a:solidFill>
          <a:ln w="31750">
            <a:solidFill>
              <a:srgbClr val="E53935"/>
            </a:solidFill>
            <a:prstDash val="solid"/>
          </a:ln>
        </p:spPr>
      </p:sp>
      <p:sp>
        <p:nvSpPr>
          <p:cNvPr id="52" name="Shape 45"/>
          <p:cNvSpPr/>
          <p:nvPr/>
        </p:nvSpPr>
        <p:spPr>
          <a:xfrm>
            <a:off x="3724168" y="1567949"/>
            <a:ext cx="274320" cy="274320"/>
          </a:xfrm>
          <a:prstGeom prst="ellipse">
            <a:avLst/>
          </a:prstGeom>
          <a:solidFill>
            <a:srgbClr val="E53935"/>
          </a:solidFill>
          <a:ln w="12700">
            <a:solidFill>
              <a:srgbClr val="FFFFFF"/>
            </a:solidFill>
            <a:prstDash val="solid"/>
          </a:ln>
        </p:spPr>
      </p:sp>
      <p:sp>
        <p:nvSpPr>
          <p:cNvPr id="53" name="Text 46"/>
          <p:cNvSpPr txBox="1"/>
          <p:nvPr/>
        </p:nvSpPr>
        <p:spPr>
          <a:xfrm>
            <a:off x="3724168" y="15679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4" name="Image 5" descr="preencoded.png">    </p:cNvPr>
          <p:cNvPicPr>
            <a:picLocks noChangeAspect="1"/>
          </p:cNvPicPr>
          <p:nvPr/>
        </p:nvPicPr>
        <p:blipFill>
          <a:blip r:embed="rId6"/>
          <a:stretch>
            <a:fillRect/>
          </a:stretch>
        </p:blipFill>
        <p:spPr>
          <a:xfrm>
            <a:off x="2764048" y="1858271"/>
            <a:ext cx="237744" cy="237744"/>
          </a:xfrm>
          <a:prstGeom prst="rect">
            <a:avLst/>
          </a:prstGeom>
        </p:spPr>
      </p:pic>
      <p:sp>
        <p:nvSpPr>
          <p:cNvPr id="55" name="Shape 47"/>
          <p:cNvSpPr/>
          <p:nvPr/>
        </p:nvSpPr>
        <p:spPr>
          <a:xfrm>
            <a:off x="1429024" y="2390909"/>
            <a:ext cx="3346704" cy="1307592"/>
          </a:xfrm>
          <a:prstGeom prst="roundRect">
            <a:avLst>
              <a:gd name="adj" fmla="val 3497"/>
            </a:avLst>
          </a:prstGeom>
          <a:solidFill>
            <a:srgbClr val="FFFFFF">
              <a:alpha val="0"/>
            </a:srgbClr>
          </a:solidFill>
          <a:ln w="31750">
            <a:solidFill>
              <a:srgbClr val="E53935"/>
            </a:solidFill>
            <a:prstDash val="solid"/>
          </a:ln>
        </p:spPr>
      </p:sp>
      <p:sp>
        <p:nvSpPr>
          <p:cNvPr id="56" name="Shape 48"/>
          <p:cNvSpPr/>
          <p:nvPr/>
        </p:nvSpPr>
        <p:spPr>
          <a:xfrm>
            <a:off x="4638568" y="2253749"/>
            <a:ext cx="274320" cy="274320"/>
          </a:xfrm>
          <a:prstGeom prst="ellipse">
            <a:avLst/>
          </a:prstGeom>
          <a:solidFill>
            <a:srgbClr val="E53935"/>
          </a:solidFill>
          <a:ln w="12700">
            <a:solidFill>
              <a:srgbClr val="FFFFFF"/>
            </a:solidFill>
            <a:prstDash val="solid"/>
          </a:ln>
        </p:spPr>
      </p:sp>
      <p:sp>
        <p:nvSpPr>
          <p:cNvPr id="57" name="Text 49"/>
          <p:cNvSpPr txBox="1"/>
          <p:nvPr/>
        </p:nvSpPr>
        <p:spPr>
          <a:xfrm>
            <a:off x="4638568" y="22537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8" name="Image 6" descr="preencoded.png">    </p:cNvPr>
          <p:cNvPicPr>
            <a:picLocks noChangeAspect="1"/>
          </p:cNvPicPr>
          <p:nvPr/>
        </p:nvPicPr>
        <p:blipFill>
          <a:blip r:embed="rId7"/>
          <a:stretch>
            <a:fillRect/>
          </a:stretch>
        </p:blipFill>
        <p:spPr>
          <a:xfrm>
            <a:off x="3266968" y="3107342"/>
            <a:ext cx="237744" cy="237744"/>
          </a:xfrm>
          <a:prstGeom prst="rect">
            <a:avLst/>
          </a:prstGeom>
        </p:spPr>
      </p:pic>
      <p:sp>
        <p:nvSpPr>
          <p:cNvPr id="59"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0"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sejarah Masjid Nabawi</a:t>
            </a:r>
            <a:endParaRPr lang="en-US" sz="1800" dirty="0"/>
          </a:p>
        </p:txBody>
      </p:sp>
      <p:sp>
        <p:nvSpPr>
          <p:cNvPr id="61"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Ganti kata kunci menjadi sejarah Masjid Nabawi, lalu Enter. Bandingkan hasilnya.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Kata Kunci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sejarah Masjid Nabawi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google.com/search?q=sejarah+Masjid+Nabawi</a:t>
            </a:r>
            <a:endParaRPr lang="en-US" sz="800" dirty="0"/>
          </a:p>
        </p:txBody>
      </p:sp>
      <p:sp>
        <p:nvSpPr>
          <p:cNvPr id="28" name="Text 21"/>
          <p:cNvSpPr txBox="1"/>
          <p:nvPr/>
        </p:nvSpPr>
        <p:spPr>
          <a:xfrm>
            <a:off x="724936" y="1732541"/>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456456" y="1732541"/>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593616" y="1732541"/>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sejarah Masjid Nabawi</a:t>
            </a:r>
            <a:endParaRPr lang="en-US" sz="800" dirty="0"/>
          </a:p>
        </p:txBody>
      </p:sp>
      <p:sp>
        <p:nvSpPr>
          <p:cNvPr id="31" name="Text 24"/>
          <p:cNvSpPr txBox="1"/>
          <p:nvPr/>
        </p:nvSpPr>
        <p:spPr>
          <a:xfrm>
            <a:off x="1456456" y="2006861"/>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All</a:t>
            </a:r>
            <a:endParaRPr lang="en-US" sz="700" dirty="0"/>
          </a:p>
        </p:txBody>
      </p:sp>
      <p:sp>
        <p:nvSpPr>
          <p:cNvPr id="32" name="Shape 25"/>
          <p:cNvSpPr/>
          <p:nvPr/>
        </p:nvSpPr>
        <p:spPr>
          <a:xfrm>
            <a:off x="1502176" y="2171453"/>
            <a:ext cx="365760" cy="22860"/>
          </a:xfrm>
          <a:prstGeom prst="rect">
            <a:avLst/>
          </a:prstGeom>
          <a:solidFill>
            <a:srgbClr val="1A73E8"/>
          </a:solidFill>
          <a:ln w="12700">
            <a:solidFill>
              <a:srgbClr val="1A73E8"/>
            </a:solidFill>
            <a:prstDash val="solid"/>
          </a:ln>
        </p:spPr>
      </p:sp>
      <p:sp>
        <p:nvSpPr>
          <p:cNvPr id="33" name="Text 26"/>
          <p:cNvSpPr txBox="1"/>
          <p:nvPr/>
        </p:nvSpPr>
        <p:spPr>
          <a:xfrm>
            <a:off x="195937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Images</a:t>
            </a:r>
            <a:endParaRPr lang="en-US" sz="700" dirty="0"/>
          </a:p>
        </p:txBody>
      </p:sp>
      <p:sp>
        <p:nvSpPr>
          <p:cNvPr id="34" name="Text 27"/>
          <p:cNvSpPr txBox="1"/>
          <p:nvPr/>
        </p:nvSpPr>
        <p:spPr>
          <a:xfrm>
            <a:off x="246229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296521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456456" y="2208029"/>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1.200.000 hasil (0,35 detik)</a:t>
            </a:r>
            <a:endParaRPr lang="en-US" sz="600" dirty="0"/>
          </a:p>
        </p:txBody>
      </p:sp>
      <p:sp>
        <p:nvSpPr>
          <p:cNvPr id="37" name="Text 30"/>
          <p:cNvSpPr txBox="1"/>
          <p:nvPr/>
        </p:nvSpPr>
        <p:spPr>
          <a:xfrm>
            <a:off x="1456456" y="2418341"/>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https://contoh-sejarah.id</a:t>
            </a:r>
            <a:endParaRPr lang="en-US" sz="600" dirty="0"/>
          </a:p>
        </p:txBody>
      </p:sp>
      <p:sp>
        <p:nvSpPr>
          <p:cNvPr id="38" name="Text 31"/>
          <p:cNvSpPr txBox="1"/>
          <p:nvPr/>
        </p:nvSpPr>
        <p:spPr>
          <a:xfrm>
            <a:off x="1456456" y="2537213"/>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Sejarah Pembangunan Masjid Nabawi</a:t>
            </a:r>
            <a:endParaRPr lang="en-US" sz="900" dirty="0"/>
          </a:p>
        </p:txBody>
      </p:sp>
      <p:sp>
        <p:nvSpPr>
          <p:cNvPr id="39" name="Shape 32"/>
          <p:cNvSpPr/>
          <p:nvPr/>
        </p:nvSpPr>
        <p:spPr>
          <a:xfrm>
            <a:off x="1456456" y="2747525"/>
            <a:ext cx="2926080" cy="36576"/>
          </a:xfrm>
          <a:prstGeom prst="rect">
            <a:avLst/>
          </a:prstGeom>
          <a:solidFill>
            <a:srgbClr val="DDDDDD"/>
          </a:solidFill>
          <a:ln w="12700">
            <a:solidFill>
              <a:srgbClr val="DDDDDD"/>
            </a:solidFill>
            <a:prstDash val="solid"/>
          </a:ln>
        </p:spPr>
      </p:sp>
      <p:sp>
        <p:nvSpPr>
          <p:cNvPr id="40" name="Shape 33"/>
          <p:cNvSpPr/>
          <p:nvPr/>
        </p:nvSpPr>
        <p:spPr>
          <a:xfrm>
            <a:off x="1456456" y="2811533"/>
            <a:ext cx="2194560" cy="36576"/>
          </a:xfrm>
          <a:prstGeom prst="rect">
            <a:avLst/>
          </a:prstGeom>
          <a:solidFill>
            <a:srgbClr val="DDDDDD"/>
          </a:solidFill>
          <a:ln w="12700">
            <a:solidFill>
              <a:srgbClr val="DDDDDD"/>
            </a:solidFill>
            <a:prstDash val="solid"/>
          </a:ln>
        </p:spPr>
      </p:sp>
      <p:sp>
        <p:nvSpPr>
          <p:cNvPr id="41" name="Text 34"/>
          <p:cNvSpPr txBox="1"/>
          <p:nvPr/>
        </p:nvSpPr>
        <p:spPr>
          <a:xfrm>
            <a:off x="1456456" y="2893829"/>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https://contoh-islam.id</a:t>
            </a:r>
            <a:endParaRPr lang="en-US" sz="600" dirty="0"/>
          </a:p>
        </p:txBody>
      </p:sp>
      <p:sp>
        <p:nvSpPr>
          <p:cNvPr id="42" name="Text 35"/>
          <p:cNvSpPr txBox="1"/>
          <p:nvPr/>
        </p:nvSpPr>
        <p:spPr>
          <a:xfrm>
            <a:off x="1456456" y="3012701"/>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Masjid Nabawi dari Masa ke Masa</a:t>
            </a:r>
            <a:endParaRPr lang="en-US" sz="900" dirty="0"/>
          </a:p>
        </p:txBody>
      </p:sp>
      <p:sp>
        <p:nvSpPr>
          <p:cNvPr id="43" name="Shape 36"/>
          <p:cNvSpPr/>
          <p:nvPr/>
        </p:nvSpPr>
        <p:spPr>
          <a:xfrm>
            <a:off x="1456456" y="3223013"/>
            <a:ext cx="2926080" cy="36576"/>
          </a:xfrm>
          <a:prstGeom prst="rect">
            <a:avLst/>
          </a:prstGeom>
          <a:solidFill>
            <a:srgbClr val="DDDDDD"/>
          </a:solidFill>
          <a:ln w="12700">
            <a:solidFill>
              <a:srgbClr val="DDDDDD"/>
            </a:solidFill>
            <a:prstDash val="solid"/>
          </a:ln>
        </p:spPr>
      </p:sp>
      <p:sp>
        <p:nvSpPr>
          <p:cNvPr id="44" name="Shape 37"/>
          <p:cNvSpPr/>
          <p:nvPr/>
        </p:nvSpPr>
        <p:spPr>
          <a:xfrm>
            <a:off x="1456456" y="3287021"/>
            <a:ext cx="2194560" cy="36576"/>
          </a:xfrm>
          <a:prstGeom prst="rect">
            <a:avLst/>
          </a:prstGeom>
          <a:solidFill>
            <a:srgbClr val="DDDDDD"/>
          </a:solidFill>
          <a:ln w="12700">
            <a:solidFill>
              <a:srgbClr val="DDDDDD"/>
            </a:solidFill>
            <a:prstDash val="solid"/>
          </a:ln>
        </p:spPr>
      </p:sp>
      <p:sp>
        <p:nvSpPr>
          <p:cNvPr id="45" name="Text 38"/>
          <p:cNvSpPr txBox="1"/>
          <p:nvPr/>
        </p:nvSpPr>
        <p:spPr>
          <a:xfrm>
            <a:off x="1456456" y="3369317"/>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https://contoh-ensiklopedia.id</a:t>
            </a:r>
            <a:endParaRPr lang="en-US" sz="600" dirty="0"/>
          </a:p>
        </p:txBody>
      </p:sp>
      <p:sp>
        <p:nvSpPr>
          <p:cNvPr id="46" name="Text 39"/>
          <p:cNvSpPr txBox="1"/>
          <p:nvPr/>
        </p:nvSpPr>
        <p:spPr>
          <a:xfrm>
            <a:off x="1456456" y="3488189"/>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Masjid Nabawi - Ensiklopedia</a:t>
            </a:r>
            <a:endParaRPr lang="en-US" sz="900" dirty="0"/>
          </a:p>
        </p:txBody>
      </p:sp>
      <p:sp>
        <p:nvSpPr>
          <p:cNvPr id="47" name="Shape 40"/>
          <p:cNvSpPr/>
          <p:nvPr/>
        </p:nvSpPr>
        <p:spPr>
          <a:xfrm>
            <a:off x="1456456" y="3698501"/>
            <a:ext cx="2926080" cy="36576"/>
          </a:xfrm>
          <a:prstGeom prst="rect">
            <a:avLst/>
          </a:prstGeom>
          <a:solidFill>
            <a:srgbClr val="DDDDDD"/>
          </a:solidFill>
          <a:ln w="12700">
            <a:solidFill>
              <a:srgbClr val="DDDDDD"/>
            </a:solidFill>
            <a:prstDash val="solid"/>
          </a:ln>
        </p:spPr>
      </p:sp>
      <p:sp>
        <p:nvSpPr>
          <p:cNvPr id="48" name="Shape 41"/>
          <p:cNvSpPr/>
          <p:nvPr/>
        </p:nvSpPr>
        <p:spPr>
          <a:xfrm>
            <a:off x="1456456" y="3762509"/>
            <a:ext cx="2194560" cy="36576"/>
          </a:xfrm>
          <a:prstGeom prst="rect">
            <a:avLst/>
          </a:prstGeom>
          <a:solidFill>
            <a:srgbClr val="DDDDDD"/>
          </a:solidFill>
          <a:ln w="12700">
            <a:solidFill>
              <a:srgbClr val="DDDDDD"/>
            </a:solidFill>
            <a:prstDash val="solid"/>
          </a:ln>
        </p:spPr>
      </p:sp>
      <p:sp>
        <p:nvSpPr>
          <p:cNvPr id="49" name="Shape 42"/>
          <p:cNvSpPr/>
          <p:nvPr/>
        </p:nvSpPr>
        <p:spPr>
          <a:xfrm>
            <a:off x="5428976" y="1823981"/>
            <a:ext cx="54864" cy="2079963"/>
          </a:xfrm>
          <a:prstGeom prst="rect">
            <a:avLst/>
          </a:prstGeom>
          <a:solidFill>
            <a:srgbClr val="EEEEEE"/>
          </a:solidFill>
          <a:ln w="12700">
            <a:solidFill>
              <a:srgbClr val="EEEEEE"/>
            </a:solidFill>
            <a:prstDash val="solid"/>
          </a:ln>
        </p:spPr>
      </p:sp>
      <p:sp>
        <p:nvSpPr>
          <p:cNvPr id="50" name="Shape 43"/>
          <p:cNvSpPr/>
          <p:nvPr/>
        </p:nvSpPr>
        <p:spPr>
          <a:xfrm>
            <a:off x="5428976" y="1915421"/>
            <a:ext cx="54864" cy="457200"/>
          </a:xfrm>
          <a:prstGeom prst="roundRect">
            <a:avLst>
              <a:gd name="adj" fmla="val 50000"/>
            </a:avLst>
          </a:prstGeom>
          <a:solidFill>
            <a:srgbClr val="AAAAAA"/>
          </a:solidFill>
          <a:ln w="12700">
            <a:solidFill>
              <a:srgbClr val="AAAAAA"/>
            </a:solidFill>
            <a:prstDash val="solid"/>
          </a:ln>
        </p:spPr>
      </p:sp>
      <p:sp>
        <p:nvSpPr>
          <p:cNvPr id="51" name="Shape 44"/>
          <p:cNvSpPr/>
          <p:nvPr/>
        </p:nvSpPr>
        <p:spPr>
          <a:xfrm>
            <a:off x="1429024" y="2390909"/>
            <a:ext cx="3346704" cy="356616"/>
          </a:xfrm>
          <a:prstGeom prst="roundRect">
            <a:avLst>
              <a:gd name="adj" fmla="val 12821"/>
            </a:avLst>
          </a:prstGeom>
          <a:solidFill>
            <a:srgbClr val="FFFFFF">
              <a:alpha val="0"/>
            </a:srgbClr>
          </a:solidFill>
          <a:ln w="31750">
            <a:solidFill>
              <a:srgbClr val="E53935"/>
            </a:solidFill>
            <a:prstDash val="solid"/>
          </a:ln>
        </p:spPr>
      </p:sp>
      <p:sp>
        <p:nvSpPr>
          <p:cNvPr id="52" name="Shape 45"/>
          <p:cNvSpPr/>
          <p:nvPr/>
        </p:nvSpPr>
        <p:spPr>
          <a:xfrm>
            <a:off x="4638568" y="2253749"/>
            <a:ext cx="274320" cy="274320"/>
          </a:xfrm>
          <a:prstGeom prst="ellipse">
            <a:avLst/>
          </a:prstGeom>
          <a:solidFill>
            <a:srgbClr val="E53935"/>
          </a:solidFill>
          <a:ln w="12700">
            <a:solidFill>
              <a:srgbClr val="FFFFFF"/>
            </a:solidFill>
            <a:prstDash val="solid"/>
          </a:ln>
        </p:spPr>
      </p:sp>
      <p:sp>
        <p:nvSpPr>
          <p:cNvPr id="53" name="Text 46"/>
          <p:cNvSpPr txBox="1"/>
          <p:nvPr/>
        </p:nvSpPr>
        <p:spPr>
          <a:xfrm>
            <a:off x="4638568" y="22537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4" name="Image 5" descr="preencoded.png">    </p:cNvPr>
          <p:cNvPicPr>
            <a:picLocks noChangeAspect="1"/>
          </p:cNvPicPr>
          <p:nvPr/>
        </p:nvPicPr>
        <p:blipFill>
          <a:blip r:embed="rId6"/>
          <a:stretch>
            <a:fillRect/>
          </a:stretch>
        </p:blipFill>
        <p:spPr>
          <a:xfrm>
            <a:off x="3266968" y="2584305"/>
            <a:ext cx="237744" cy="237744"/>
          </a:xfrm>
          <a:prstGeom prst="rect">
            <a:avLst/>
          </a:prstGeom>
        </p:spPr>
      </p:pic>
      <p:sp>
        <p:nvSpPr>
          <p:cNvPr id="55" name="Shape 47"/>
          <p:cNvSpPr/>
          <p:nvPr/>
        </p:nvSpPr>
        <p:spPr>
          <a:xfrm>
            <a:off x="633496" y="1430789"/>
            <a:ext cx="219456" cy="219456"/>
          </a:xfrm>
          <a:prstGeom prst="roundRect">
            <a:avLst>
              <a:gd name="adj" fmla="val 20833"/>
            </a:avLst>
          </a:prstGeom>
          <a:solidFill>
            <a:srgbClr val="FFFFFF">
              <a:alpha val="0"/>
            </a:srgbClr>
          </a:solidFill>
          <a:ln w="31750">
            <a:solidFill>
              <a:srgbClr val="E53935"/>
            </a:solidFill>
            <a:prstDash val="solid"/>
          </a:ln>
        </p:spPr>
      </p:sp>
      <p:sp>
        <p:nvSpPr>
          <p:cNvPr id="56" name="Shape 48"/>
          <p:cNvSpPr/>
          <p:nvPr/>
        </p:nvSpPr>
        <p:spPr>
          <a:xfrm>
            <a:off x="715792" y="1293629"/>
            <a:ext cx="274320" cy="274320"/>
          </a:xfrm>
          <a:prstGeom prst="ellipse">
            <a:avLst/>
          </a:prstGeom>
          <a:solidFill>
            <a:srgbClr val="E53935"/>
          </a:solidFill>
          <a:ln w="12700">
            <a:solidFill>
              <a:srgbClr val="FFFFFF"/>
            </a:solidFill>
            <a:prstDash val="solid"/>
          </a:ln>
        </p:spPr>
      </p:sp>
      <p:sp>
        <p:nvSpPr>
          <p:cNvPr id="57" name="Text 49"/>
          <p:cNvSpPr txBox="1"/>
          <p:nvPr/>
        </p:nvSpPr>
        <p:spPr>
          <a:xfrm>
            <a:off x="715792" y="12936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8" name="Image 6" descr="preencoded.png">    </p:cNvPr>
          <p:cNvPicPr>
            <a:picLocks noChangeAspect="1"/>
          </p:cNvPicPr>
          <p:nvPr/>
        </p:nvPicPr>
        <p:blipFill>
          <a:blip r:embed="rId7"/>
          <a:stretch>
            <a:fillRect/>
          </a:stretch>
        </p:blipFill>
        <p:spPr>
          <a:xfrm>
            <a:off x="751454" y="1548747"/>
            <a:ext cx="237744" cy="237744"/>
          </a:xfrm>
          <a:prstGeom prst="rect">
            <a:avLst/>
          </a:prstGeom>
        </p:spPr>
      </p:pic>
      <p:sp>
        <p:nvSpPr>
          <p:cNvPr id="59"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0"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satu hasil, baca, lalu kembali</a:t>
            </a:r>
            <a:endParaRPr lang="en-US" sz="1800" dirty="0"/>
          </a:p>
        </p:txBody>
      </p:sp>
      <p:sp>
        <p:nvSpPr>
          <p:cNvPr id="61"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judul berwarna biru. Baca isinya. Klik tombol Kembali (panah kiri) untuk kembali ke hasil.</a:t>
            </a:r>
            <a:endParaRPr lang="en-US" sz="1300" dirty="0"/>
          </a:p>
        </p:txBody>
      </p:sp>
      <p:sp>
        <p:nvSpPr>
          <p:cNvPr id="62" name="Shape 5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3"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64" name="Text 5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Pilih situs yang jelas pemiliknya.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Jurus Pencarian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 menuntut ilmu"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google.com/search?q="adab+menuntut+ilmu"</a:t>
            </a:r>
            <a:endParaRPr lang="en-US" sz="800" dirty="0"/>
          </a:p>
        </p:txBody>
      </p:sp>
      <p:sp>
        <p:nvSpPr>
          <p:cNvPr id="28" name="Text 21"/>
          <p:cNvSpPr txBox="1"/>
          <p:nvPr/>
        </p:nvSpPr>
        <p:spPr>
          <a:xfrm>
            <a:off x="724936" y="1732541"/>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456456" y="1732541"/>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593616" y="1732541"/>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"adab menuntut ilmu"</a:t>
            </a:r>
            <a:endParaRPr lang="en-US" sz="800" dirty="0"/>
          </a:p>
        </p:txBody>
      </p:sp>
      <p:sp>
        <p:nvSpPr>
          <p:cNvPr id="31" name="Text 24"/>
          <p:cNvSpPr txBox="1"/>
          <p:nvPr/>
        </p:nvSpPr>
        <p:spPr>
          <a:xfrm>
            <a:off x="1456456" y="2006861"/>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All</a:t>
            </a:r>
            <a:endParaRPr lang="en-US" sz="700" dirty="0"/>
          </a:p>
        </p:txBody>
      </p:sp>
      <p:sp>
        <p:nvSpPr>
          <p:cNvPr id="32" name="Shape 25"/>
          <p:cNvSpPr/>
          <p:nvPr/>
        </p:nvSpPr>
        <p:spPr>
          <a:xfrm>
            <a:off x="1502176" y="2171453"/>
            <a:ext cx="365760" cy="22860"/>
          </a:xfrm>
          <a:prstGeom prst="rect">
            <a:avLst/>
          </a:prstGeom>
          <a:solidFill>
            <a:srgbClr val="1A73E8"/>
          </a:solidFill>
          <a:ln w="12700">
            <a:solidFill>
              <a:srgbClr val="1A73E8"/>
            </a:solidFill>
            <a:prstDash val="solid"/>
          </a:ln>
        </p:spPr>
      </p:sp>
      <p:sp>
        <p:nvSpPr>
          <p:cNvPr id="33" name="Text 26"/>
          <p:cNvSpPr txBox="1"/>
          <p:nvPr/>
        </p:nvSpPr>
        <p:spPr>
          <a:xfrm>
            <a:off x="195937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Images</a:t>
            </a:r>
            <a:endParaRPr lang="en-US" sz="700" dirty="0"/>
          </a:p>
        </p:txBody>
      </p:sp>
      <p:sp>
        <p:nvSpPr>
          <p:cNvPr id="34" name="Text 27"/>
          <p:cNvSpPr txBox="1"/>
          <p:nvPr/>
        </p:nvSpPr>
        <p:spPr>
          <a:xfrm>
            <a:off x="246229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296521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456456" y="2208029"/>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98.000 hasil (0,31 detik)</a:t>
            </a:r>
            <a:endParaRPr lang="en-US" sz="600" dirty="0"/>
          </a:p>
        </p:txBody>
      </p:sp>
      <p:sp>
        <p:nvSpPr>
          <p:cNvPr id="37" name="Text 30"/>
          <p:cNvSpPr txBox="1"/>
          <p:nvPr/>
        </p:nvSpPr>
        <p:spPr>
          <a:xfrm>
            <a:off x="1456456" y="2418341"/>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https://contoh-pesantren.id</a:t>
            </a:r>
            <a:endParaRPr lang="en-US" sz="600" dirty="0"/>
          </a:p>
        </p:txBody>
      </p:sp>
      <p:sp>
        <p:nvSpPr>
          <p:cNvPr id="38" name="Text 31"/>
          <p:cNvSpPr txBox="1"/>
          <p:nvPr/>
        </p:nvSpPr>
        <p:spPr>
          <a:xfrm>
            <a:off x="1456456" y="2537213"/>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Adab Menuntut Ilmu Menurut Para Ulama</a:t>
            </a:r>
            <a:endParaRPr lang="en-US" sz="900" dirty="0"/>
          </a:p>
        </p:txBody>
      </p:sp>
      <p:sp>
        <p:nvSpPr>
          <p:cNvPr id="39" name="Shape 32"/>
          <p:cNvSpPr/>
          <p:nvPr/>
        </p:nvSpPr>
        <p:spPr>
          <a:xfrm>
            <a:off x="1456456" y="2747525"/>
            <a:ext cx="2926080" cy="36576"/>
          </a:xfrm>
          <a:prstGeom prst="rect">
            <a:avLst/>
          </a:prstGeom>
          <a:solidFill>
            <a:srgbClr val="DDDDDD"/>
          </a:solidFill>
          <a:ln w="12700">
            <a:solidFill>
              <a:srgbClr val="DDDDDD"/>
            </a:solidFill>
            <a:prstDash val="solid"/>
          </a:ln>
        </p:spPr>
      </p:sp>
      <p:sp>
        <p:nvSpPr>
          <p:cNvPr id="40" name="Shape 33"/>
          <p:cNvSpPr/>
          <p:nvPr/>
        </p:nvSpPr>
        <p:spPr>
          <a:xfrm>
            <a:off x="1456456" y="2811533"/>
            <a:ext cx="2194560" cy="36576"/>
          </a:xfrm>
          <a:prstGeom prst="rect">
            <a:avLst/>
          </a:prstGeom>
          <a:solidFill>
            <a:srgbClr val="DDDDDD"/>
          </a:solidFill>
          <a:ln w="12700">
            <a:solidFill>
              <a:srgbClr val="DDDDDD"/>
            </a:solidFill>
            <a:prstDash val="solid"/>
          </a:ln>
        </p:spPr>
      </p:sp>
      <p:sp>
        <p:nvSpPr>
          <p:cNvPr id="41" name="Text 34"/>
          <p:cNvSpPr txBox="1"/>
          <p:nvPr/>
        </p:nvSpPr>
        <p:spPr>
          <a:xfrm>
            <a:off x="1456456" y="2893829"/>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https://contoh-kajian.id</a:t>
            </a:r>
            <a:endParaRPr lang="en-US" sz="600" dirty="0"/>
          </a:p>
        </p:txBody>
      </p:sp>
      <p:sp>
        <p:nvSpPr>
          <p:cNvPr id="42" name="Text 35"/>
          <p:cNvSpPr txBox="1"/>
          <p:nvPr/>
        </p:nvSpPr>
        <p:spPr>
          <a:xfrm>
            <a:off x="1456456" y="3012701"/>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10 Adab Menuntut Ilmu bagi Santri</a:t>
            </a:r>
            <a:endParaRPr lang="en-US" sz="900" dirty="0"/>
          </a:p>
        </p:txBody>
      </p:sp>
      <p:sp>
        <p:nvSpPr>
          <p:cNvPr id="43" name="Shape 36"/>
          <p:cNvSpPr/>
          <p:nvPr/>
        </p:nvSpPr>
        <p:spPr>
          <a:xfrm>
            <a:off x="1456456" y="3223013"/>
            <a:ext cx="2926080" cy="36576"/>
          </a:xfrm>
          <a:prstGeom prst="rect">
            <a:avLst/>
          </a:prstGeom>
          <a:solidFill>
            <a:srgbClr val="DDDDDD"/>
          </a:solidFill>
          <a:ln w="12700">
            <a:solidFill>
              <a:srgbClr val="DDDDDD"/>
            </a:solidFill>
            <a:prstDash val="solid"/>
          </a:ln>
        </p:spPr>
      </p:sp>
      <p:sp>
        <p:nvSpPr>
          <p:cNvPr id="44" name="Shape 37"/>
          <p:cNvSpPr/>
          <p:nvPr/>
        </p:nvSpPr>
        <p:spPr>
          <a:xfrm>
            <a:off x="1456456" y="3287021"/>
            <a:ext cx="2194560" cy="36576"/>
          </a:xfrm>
          <a:prstGeom prst="rect">
            <a:avLst/>
          </a:prstGeom>
          <a:solidFill>
            <a:srgbClr val="DDDDDD"/>
          </a:solidFill>
          <a:ln w="12700">
            <a:solidFill>
              <a:srgbClr val="DDDDDD"/>
            </a:solidFill>
            <a:prstDash val="solid"/>
          </a:ln>
        </p:spPr>
      </p:sp>
      <p:sp>
        <p:nvSpPr>
          <p:cNvPr id="45" name="Text 38"/>
          <p:cNvSpPr txBox="1"/>
          <p:nvPr/>
        </p:nvSpPr>
        <p:spPr>
          <a:xfrm>
            <a:off x="1456456" y="3369317"/>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https://contoh-artikel.id</a:t>
            </a:r>
            <a:endParaRPr lang="en-US" sz="600" dirty="0"/>
          </a:p>
        </p:txBody>
      </p:sp>
      <p:sp>
        <p:nvSpPr>
          <p:cNvPr id="46" name="Text 39"/>
          <p:cNvSpPr txBox="1"/>
          <p:nvPr/>
        </p:nvSpPr>
        <p:spPr>
          <a:xfrm>
            <a:off x="1456456" y="3488189"/>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Pentingnya Adab Menuntut Ilmu</a:t>
            </a:r>
            <a:endParaRPr lang="en-US" sz="900" dirty="0"/>
          </a:p>
        </p:txBody>
      </p:sp>
      <p:sp>
        <p:nvSpPr>
          <p:cNvPr id="47" name="Shape 40"/>
          <p:cNvSpPr/>
          <p:nvPr/>
        </p:nvSpPr>
        <p:spPr>
          <a:xfrm>
            <a:off x="1456456" y="3698501"/>
            <a:ext cx="2926080" cy="36576"/>
          </a:xfrm>
          <a:prstGeom prst="rect">
            <a:avLst/>
          </a:prstGeom>
          <a:solidFill>
            <a:srgbClr val="DDDDDD"/>
          </a:solidFill>
          <a:ln w="12700">
            <a:solidFill>
              <a:srgbClr val="DDDDDD"/>
            </a:solidFill>
            <a:prstDash val="solid"/>
          </a:ln>
        </p:spPr>
      </p:sp>
      <p:sp>
        <p:nvSpPr>
          <p:cNvPr id="48" name="Shape 41"/>
          <p:cNvSpPr/>
          <p:nvPr/>
        </p:nvSpPr>
        <p:spPr>
          <a:xfrm>
            <a:off x="1456456" y="3762509"/>
            <a:ext cx="2194560" cy="36576"/>
          </a:xfrm>
          <a:prstGeom prst="rect">
            <a:avLst/>
          </a:prstGeom>
          <a:solidFill>
            <a:srgbClr val="DDDDDD"/>
          </a:solidFill>
          <a:ln w="12700">
            <a:solidFill>
              <a:srgbClr val="DDDDDD"/>
            </a:solidFill>
            <a:prstDash val="solid"/>
          </a:ln>
        </p:spPr>
      </p:sp>
      <p:sp>
        <p:nvSpPr>
          <p:cNvPr id="49" name="Shape 42"/>
          <p:cNvSpPr/>
          <p:nvPr/>
        </p:nvSpPr>
        <p:spPr>
          <a:xfrm>
            <a:off x="5428976" y="1823981"/>
            <a:ext cx="54864" cy="2079963"/>
          </a:xfrm>
          <a:prstGeom prst="rect">
            <a:avLst/>
          </a:prstGeom>
          <a:solidFill>
            <a:srgbClr val="EEEEEE"/>
          </a:solidFill>
          <a:ln w="12700">
            <a:solidFill>
              <a:srgbClr val="EEEEEE"/>
            </a:solidFill>
            <a:prstDash val="solid"/>
          </a:ln>
        </p:spPr>
      </p:sp>
      <p:sp>
        <p:nvSpPr>
          <p:cNvPr id="50" name="Shape 43"/>
          <p:cNvSpPr/>
          <p:nvPr/>
        </p:nvSpPr>
        <p:spPr>
          <a:xfrm>
            <a:off x="5428976" y="1915421"/>
            <a:ext cx="54864" cy="457200"/>
          </a:xfrm>
          <a:prstGeom prst="roundRect">
            <a:avLst>
              <a:gd name="adj" fmla="val 50000"/>
            </a:avLst>
          </a:prstGeom>
          <a:solidFill>
            <a:srgbClr val="AAAAAA"/>
          </a:solidFill>
          <a:ln w="12700">
            <a:solidFill>
              <a:srgbClr val="AAAAAA"/>
            </a:solidFill>
            <a:prstDash val="solid"/>
          </a:ln>
        </p:spPr>
      </p:sp>
      <p:sp>
        <p:nvSpPr>
          <p:cNvPr id="51" name="Shape 44"/>
          <p:cNvSpPr/>
          <p:nvPr/>
        </p:nvSpPr>
        <p:spPr>
          <a:xfrm>
            <a:off x="1429024" y="1705109"/>
            <a:ext cx="2432304" cy="283464"/>
          </a:xfrm>
          <a:prstGeom prst="roundRect">
            <a:avLst>
              <a:gd name="adj" fmla="val 16129"/>
            </a:avLst>
          </a:prstGeom>
          <a:solidFill>
            <a:srgbClr val="FFFFFF">
              <a:alpha val="0"/>
            </a:srgbClr>
          </a:solidFill>
          <a:ln w="31750">
            <a:solidFill>
              <a:srgbClr val="E53935"/>
            </a:solidFill>
            <a:prstDash val="solid"/>
          </a:ln>
        </p:spPr>
      </p:sp>
      <p:sp>
        <p:nvSpPr>
          <p:cNvPr id="52" name="Shape 45"/>
          <p:cNvSpPr/>
          <p:nvPr/>
        </p:nvSpPr>
        <p:spPr>
          <a:xfrm>
            <a:off x="3724168" y="1567949"/>
            <a:ext cx="274320" cy="274320"/>
          </a:xfrm>
          <a:prstGeom prst="ellipse">
            <a:avLst/>
          </a:prstGeom>
          <a:solidFill>
            <a:srgbClr val="E53935"/>
          </a:solidFill>
          <a:ln w="12700">
            <a:solidFill>
              <a:srgbClr val="FFFFFF"/>
            </a:solidFill>
            <a:prstDash val="solid"/>
          </a:ln>
        </p:spPr>
      </p:sp>
      <p:sp>
        <p:nvSpPr>
          <p:cNvPr id="53" name="Text 46"/>
          <p:cNvSpPr txBox="1"/>
          <p:nvPr/>
        </p:nvSpPr>
        <p:spPr>
          <a:xfrm>
            <a:off x="3724168" y="15679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4" name="Image 5" descr="preencoded.png">    </p:cNvPr>
          <p:cNvPicPr>
            <a:picLocks noChangeAspect="1"/>
          </p:cNvPicPr>
          <p:nvPr/>
        </p:nvPicPr>
        <p:blipFill>
          <a:blip r:embed="rId6"/>
          <a:stretch>
            <a:fillRect/>
          </a:stretch>
        </p:blipFill>
        <p:spPr>
          <a:xfrm>
            <a:off x="2764048" y="1858271"/>
            <a:ext cx="237744" cy="237744"/>
          </a:xfrm>
          <a:prstGeom prst="rect">
            <a:avLst/>
          </a:prstGeom>
        </p:spPr>
      </p:pic>
      <p:sp>
        <p:nvSpPr>
          <p:cNvPr id="55"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6"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Coba tanda kutip</a:t>
            </a:r>
            <a:endParaRPr lang="en-US" sz="1800" dirty="0"/>
          </a:p>
        </p:txBody>
      </p:sp>
      <p:sp>
        <p:nvSpPr>
          <p:cNvPr id="57"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"adab menuntut ilmu" lengkap dengan tanda kutipnya, lalu Enter.</a:t>
            </a:r>
            <a:endParaRPr lang="en-US" sz="1300" dirty="0"/>
          </a:p>
        </p:txBody>
      </p:sp>
      <p:sp>
        <p:nvSpPr>
          <p:cNvPr id="58" name="Shape 5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9" name="Image 6" descr="preencoded.png">    </p:cNvPr>
          <p:cNvPicPr>
            <a:picLocks noChangeAspect="1"/>
          </p:cNvPicPr>
          <p:nvPr/>
        </p:nvPicPr>
        <p:blipFill>
          <a:blip r:embed="rId7"/>
          <a:stretch>
            <a:fillRect/>
          </a:stretch>
        </p:blipFill>
        <p:spPr>
          <a:xfrm>
            <a:off x="6108192" y="3721608"/>
            <a:ext cx="201168" cy="201168"/>
          </a:xfrm>
          <a:prstGeom prst="rect">
            <a:avLst/>
          </a:prstGeom>
        </p:spPr>
      </p:pic>
      <p:sp>
        <p:nvSpPr>
          <p:cNvPr id="60" name="Text 5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Tanda kutip: tahan Shift lalu tekan tombol ' di sebelah Enter.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Jurus Pencarian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kurma -resep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google.com/search?q=kurma+-resep</a:t>
            </a:r>
            <a:endParaRPr lang="en-US" sz="800" dirty="0"/>
          </a:p>
        </p:txBody>
      </p:sp>
      <p:sp>
        <p:nvSpPr>
          <p:cNvPr id="28" name="Text 21"/>
          <p:cNvSpPr txBox="1"/>
          <p:nvPr/>
        </p:nvSpPr>
        <p:spPr>
          <a:xfrm>
            <a:off x="724936" y="1732541"/>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456456" y="1732541"/>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593616" y="1732541"/>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kurma -resep</a:t>
            </a:r>
            <a:endParaRPr lang="en-US" sz="800" dirty="0"/>
          </a:p>
        </p:txBody>
      </p:sp>
      <p:sp>
        <p:nvSpPr>
          <p:cNvPr id="31" name="Text 24"/>
          <p:cNvSpPr txBox="1"/>
          <p:nvPr/>
        </p:nvSpPr>
        <p:spPr>
          <a:xfrm>
            <a:off x="1456456" y="2006861"/>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All</a:t>
            </a:r>
            <a:endParaRPr lang="en-US" sz="700" dirty="0"/>
          </a:p>
        </p:txBody>
      </p:sp>
      <p:sp>
        <p:nvSpPr>
          <p:cNvPr id="32" name="Shape 25"/>
          <p:cNvSpPr/>
          <p:nvPr/>
        </p:nvSpPr>
        <p:spPr>
          <a:xfrm>
            <a:off x="1502176" y="2171453"/>
            <a:ext cx="365760" cy="22860"/>
          </a:xfrm>
          <a:prstGeom prst="rect">
            <a:avLst/>
          </a:prstGeom>
          <a:solidFill>
            <a:srgbClr val="1A73E8"/>
          </a:solidFill>
          <a:ln w="12700">
            <a:solidFill>
              <a:srgbClr val="1A73E8"/>
            </a:solidFill>
            <a:prstDash val="solid"/>
          </a:ln>
        </p:spPr>
      </p:sp>
      <p:sp>
        <p:nvSpPr>
          <p:cNvPr id="33" name="Text 26"/>
          <p:cNvSpPr txBox="1"/>
          <p:nvPr/>
        </p:nvSpPr>
        <p:spPr>
          <a:xfrm>
            <a:off x="195937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Images</a:t>
            </a:r>
            <a:endParaRPr lang="en-US" sz="700" dirty="0"/>
          </a:p>
        </p:txBody>
      </p:sp>
      <p:sp>
        <p:nvSpPr>
          <p:cNvPr id="34" name="Text 27"/>
          <p:cNvSpPr txBox="1"/>
          <p:nvPr/>
        </p:nvSpPr>
        <p:spPr>
          <a:xfrm>
            <a:off x="246229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296521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456456" y="2208029"/>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3.100.000 hasil (0,29 detik)</a:t>
            </a:r>
            <a:endParaRPr lang="en-US" sz="600" dirty="0"/>
          </a:p>
        </p:txBody>
      </p:sp>
      <p:sp>
        <p:nvSpPr>
          <p:cNvPr id="37" name="Text 30"/>
          <p:cNvSpPr txBox="1"/>
          <p:nvPr/>
        </p:nvSpPr>
        <p:spPr>
          <a:xfrm>
            <a:off x="1456456" y="2418341"/>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https://contoh-pertanian.id</a:t>
            </a:r>
            <a:endParaRPr lang="en-US" sz="600" dirty="0"/>
          </a:p>
        </p:txBody>
      </p:sp>
      <p:sp>
        <p:nvSpPr>
          <p:cNvPr id="38" name="Text 31"/>
          <p:cNvSpPr txBox="1"/>
          <p:nvPr/>
        </p:nvSpPr>
        <p:spPr>
          <a:xfrm>
            <a:off x="1456456" y="2537213"/>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Mengenal Jenis-jenis Kurma</a:t>
            </a:r>
            <a:endParaRPr lang="en-US" sz="900" dirty="0"/>
          </a:p>
        </p:txBody>
      </p:sp>
      <p:sp>
        <p:nvSpPr>
          <p:cNvPr id="39" name="Shape 32"/>
          <p:cNvSpPr/>
          <p:nvPr/>
        </p:nvSpPr>
        <p:spPr>
          <a:xfrm>
            <a:off x="1456456" y="2747525"/>
            <a:ext cx="2926080" cy="36576"/>
          </a:xfrm>
          <a:prstGeom prst="rect">
            <a:avLst/>
          </a:prstGeom>
          <a:solidFill>
            <a:srgbClr val="DDDDDD"/>
          </a:solidFill>
          <a:ln w="12700">
            <a:solidFill>
              <a:srgbClr val="DDDDDD"/>
            </a:solidFill>
            <a:prstDash val="solid"/>
          </a:ln>
        </p:spPr>
      </p:sp>
      <p:sp>
        <p:nvSpPr>
          <p:cNvPr id="40" name="Shape 33"/>
          <p:cNvSpPr/>
          <p:nvPr/>
        </p:nvSpPr>
        <p:spPr>
          <a:xfrm>
            <a:off x="1456456" y="2811533"/>
            <a:ext cx="2194560" cy="36576"/>
          </a:xfrm>
          <a:prstGeom prst="rect">
            <a:avLst/>
          </a:prstGeom>
          <a:solidFill>
            <a:srgbClr val="DDDDDD"/>
          </a:solidFill>
          <a:ln w="12700">
            <a:solidFill>
              <a:srgbClr val="DDDDDD"/>
            </a:solidFill>
            <a:prstDash val="solid"/>
          </a:ln>
        </p:spPr>
      </p:sp>
      <p:sp>
        <p:nvSpPr>
          <p:cNvPr id="41" name="Text 34"/>
          <p:cNvSpPr txBox="1"/>
          <p:nvPr/>
        </p:nvSpPr>
        <p:spPr>
          <a:xfrm>
            <a:off x="1456456" y="2893829"/>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https://contoh-kesehatan.id</a:t>
            </a:r>
            <a:endParaRPr lang="en-US" sz="600" dirty="0"/>
          </a:p>
        </p:txBody>
      </p:sp>
      <p:sp>
        <p:nvSpPr>
          <p:cNvPr id="42" name="Text 35"/>
          <p:cNvSpPr txBox="1"/>
          <p:nvPr/>
        </p:nvSpPr>
        <p:spPr>
          <a:xfrm>
            <a:off x="1456456" y="3012701"/>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Manfaat Kurma bagi Tubuh</a:t>
            </a:r>
            <a:endParaRPr lang="en-US" sz="900" dirty="0"/>
          </a:p>
        </p:txBody>
      </p:sp>
      <p:sp>
        <p:nvSpPr>
          <p:cNvPr id="43" name="Shape 36"/>
          <p:cNvSpPr/>
          <p:nvPr/>
        </p:nvSpPr>
        <p:spPr>
          <a:xfrm>
            <a:off x="1456456" y="3223013"/>
            <a:ext cx="2926080" cy="36576"/>
          </a:xfrm>
          <a:prstGeom prst="rect">
            <a:avLst/>
          </a:prstGeom>
          <a:solidFill>
            <a:srgbClr val="DDDDDD"/>
          </a:solidFill>
          <a:ln w="12700">
            <a:solidFill>
              <a:srgbClr val="DDDDDD"/>
            </a:solidFill>
            <a:prstDash val="solid"/>
          </a:ln>
        </p:spPr>
      </p:sp>
      <p:sp>
        <p:nvSpPr>
          <p:cNvPr id="44" name="Shape 37"/>
          <p:cNvSpPr/>
          <p:nvPr/>
        </p:nvSpPr>
        <p:spPr>
          <a:xfrm>
            <a:off x="1456456" y="3287021"/>
            <a:ext cx="2194560" cy="36576"/>
          </a:xfrm>
          <a:prstGeom prst="rect">
            <a:avLst/>
          </a:prstGeom>
          <a:solidFill>
            <a:srgbClr val="DDDDDD"/>
          </a:solidFill>
          <a:ln w="12700">
            <a:solidFill>
              <a:srgbClr val="DDDDDD"/>
            </a:solidFill>
            <a:prstDash val="solid"/>
          </a:ln>
        </p:spPr>
      </p:sp>
      <p:sp>
        <p:nvSpPr>
          <p:cNvPr id="45" name="Text 38"/>
          <p:cNvSpPr txBox="1"/>
          <p:nvPr/>
        </p:nvSpPr>
        <p:spPr>
          <a:xfrm>
            <a:off x="1456456" y="3369317"/>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https://contoh-sejarah.id</a:t>
            </a:r>
            <a:endParaRPr lang="en-US" sz="600" dirty="0"/>
          </a:p>
        </p:txBody>
      </p:sp>
      <p:sp>
        <p:nvSpPr>
          <p:cNvPr id="46" name="Text 39"/>
          <p:cNvSpPr txBox="1"/>
          <p:nvPr/>
        </p:nvSpPr>
        <p:spPr>
          <a:xfrm>
            <a:off x="1456456" y="3488189"/>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Kurma dalam Sejarah Islam</a:t>
            </a:r>
            <a:endParaRPr lang="en-US" sz="900" dirty="0"/>
          </a:p>
        </p:txBody>
      </p:sp>
      <p:sp>
        <p:nvSpPr>
          <p:cNvPr id="47" name="Shape 40"/>
          <p:cNvSpPr/>
          <p:nvPr/>
        </p:nvSpPr>
        <p:spPr>
          <a:xfrm>
            <a:off x="1456456" y="3698501"/>
            <a:ext cx="2926080" cy="36576"/>
          </a:xfrm>
          <a:prstGeom prst="rect">
            <a:avLst/>
          </a:prstGeom>
          <a:solidFill>
            <a:srgbClr val="DDDDDD"/>
          </a:solidFill>
          <a:ln w="12700">
            <a:solidFill>
              <a:srgbClr val="DDDDDD"/>
            </a:solidFill>
            <a:prstDash val="solid"/>
          </a:ln>
        </p:spPr>
      </p:sp>
      <p:sp>
        <p:nvSpPr>
          <p:cNvPr id="48" name="Shape 41"/>
          <p:cNvSpPr/>
          <p:nvPr/>
        </p:nvSpPr>
        <p:spPr>
          <a:xfrm>
            <a:off x="1456456" y="3762509"/>
            <a:ext cx="2194560" cy="36576"/>
          </a:xfrm>
          <a:prstGeom prst="rect">
            <a:avLst/>
          </a:prstGeom>
          <a:solidFill>
            <a:srgbClr val="DDDDDD"/>
          </a:solidFill>
          <a:ln w="12700">
            <a:solidFill>
              <a:srgbClr val="DDDDDD"/>
            </a:solidFill>
            <a:prstDash val="solid"/>
          </a:ln>
        </p:spPr>
      </p:sp>
      <p:sp>
        <p:nvSpPr>
          <p:cNvPr id="49" name="Shape 42"/>
          <p:cNvSpPr/>
          <p:nvPr/>
        </p:nvSpPr>
        <p:spPr>
          <a:xfrm>
            <a:off x="5428976" y="1823981"/>
            <a:ext cx="54864" cy="2079963"/>
          </a:xfrm>
          <a:prstGeom prst="rect">
            <a:avLst/>
          </a:prstGeom>
          <a:solidFill>
            <a:srgbClr val="EEEEEE"/>
          </a:solidFill>
          <a:ln w="12700">
            <a:solidFill>
              <a:srgbClr val="EEEEEE"/>
            </a:solidFill>
            <a:prstDash val="solid"/>
          </a:ln>
        </p:spPr>
      </p:sp>
      <p:sp>
        <p:nvSpPr>
          <p:cNvPr id="50" name="Shape 43"/>
          <p:cNvSpPr/>
          <p:nvPr/>
        </p:nvSpPr>
        <p:spPr>
          <a:xfrm>
            <a:off x="5428976" y="1915421"/>
            <a:ext cx="54864" cy="457200"/>
          </a:xfrm>
          <a:prstGeom prst="roundRect">
            <a:avLst>
              <a:gd name="adj" fmla="val 50000"/>
            </a:avLst>
          </a:prstGeom>
          <a:solidFill>
            <a:srgbClr val="AAAAAA"/>
          </a:solidFill>
          <a:ln w="12700">
            <a:solidFill>
              <a:srgbClr val="AAAAAA"/>
            </a:solidFill>
            <a:prstDash val="solid"/>
          </a:ln>
        </p:spPr>
      </p:sp>
      <p:sp>
        <p:nvSpPr>
          <p:cNvPr id="51" name="Shape 44"/>
          <p:cNvSpPr/>
          <p:nvPr/>
        </p:nvSpPr>
        <p:spPr>
          <a:xfrm>
            <a:off x="1429024" y="1705109"/>
            <a:ext cx="2432304" cy="283464"/>
          </a:xfrm>
          <a:prstGeom prst="roundRect">
            <a:avLst>
              <a:gd name="adj" fmla="val 16129"/>
            </a:avLst>
          </a:prstGeom>
          <a:solidFill>
            <a:srgbClr val="FFFFFF">
              <a:alpha val="0"/>
            </a:srgbClr>
          </a:solidFill>
          <a:ln w="31750">
            <a:solidFill>
              <a:srgbClr val="E53935"/>
            </a:solidFill>
            <a:prstDash val="solid"/>
          </a:ln>
        </p:spPr>
      </p:sp>
      <p:sp>
        <p:nvSpPr>
          <p:cNvPr id="52" name="Shape 45"/>
          <p:cNvSpPr/>
          <p:nvPr/>
        </p:nvSpPr>
        <p:spPr>
          <a:xfrm>
            <a:off x="3724168" y="1567949"/>
            <a:ext cx="274320" cy="274320"/>
          </a:xfrm>
          <a:prstGeom prst="ellipse">
            <a:avLst/>
          </a:prstGeom>
          <a:solidFill>
            <a:srgbClr val="E53935"/>
          </a:solidFill>
          <a:ln w="12700">
            <a:solidFill>
              <a:srgbClr val="FFFFFF"/>
            </a:solidFill>
            <a:prstDash val="solid"/>
          </a:ln>
        </p:spPr>
      </p:sp>
      <p:sp>
        <p:nvSpPr>
          <p:cNvPr id="53" name="Text 46"/>
          <p:cNvSpPr txBox="1"/>
          <p:nvPr/>
        </p:nvSpPr>
        <p:spPr>
          <a:xfrm>
            <a:off x="3724168" y="15679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4" name="Image 5" descr="preencoded.png">    </p:cNvPr>
          <p:cNvPicPr>
            <a:picLocks noChangeAspect="1"/>
          </p:cNvPicPr>
          <p:nvPr/>
        </p:nvPicPr>
        <p:blipFill>
          <a:blip r:embed="rId6"/>
          <a:stretch>
            <a:fillRect/>
          </a:stretch>
        </p:blipFill>
        <p:spPr>
          <a:xfrm>
            <a:off x="2764048" y="1858271"/>
            <a:ext cx="237744" cy="237744"/>
          </a:xfrm>
          <a:prstGeom prst="rect">
            <a:avLst/>
          </a:prstGeom>
        </p:spPr>
      </p:pic>
      <p:sp>
        <p:nvSpPr>
          <p:cNvPr id="55"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6"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Coba tanda minus</a:t>
            </a:r>
            <a:endParaRPr lang="en-US" sz="1800" dirty="0"/>
          </a:p>
        </p:txBody>
      </p:sp>
      <p:sp>
        <p:nvSpPr>
          <p:cNvPr id="57"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kurma -resep lalu Enter. Hasil yang berisi resep akan dibuang.</a:t>
            </a:r>
            <a:endParaRPr lang="en-US" sz="1300" dirty="0"/>
          </a:p>
        </p:txBody>
      </p:sp>
      <p:sp>
        <p:nvSpPr>
          <p:cNvPr id="58" name="Shape 5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9" name="Image 6" descr="preencoded.png">    </p:cNvPr>
          <p:cNvPicPr>
            <a:picLocks noChangeAspect="1"/>
          </p:cNvPicPr>
          <p:nvPr/>
        </p:nvPicPr>
        <p:blipFill>
          <a:blip r:embed="rId7"/>
          <a:stretch>
            <a:fillRect/>
          </a:stretch>
        </p:blipFill>
        <p:spPr>
          <a:xfrm>
            <a:off x="6108192" y="3721608"/>
            <a:ext cx="201168" cy="201168"/>
          </a:xfrm>
          <a:prstGeom prst="rect">
            <a:avLst/>
          </a:prstGeom>
        </p:spPr>
      </p:pic>
      <p:sp>
        <p:nvSpPr>
          <p:cNvPr id="60" name="Text 5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Tanda minus ditulis menempel dengan kata, tanpa spasi.</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Jurus Pencarian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Masjid Nabawi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google.com/search?q=Masjid+Nabawi</a:t>
            </a:r>
            <a:endParaRPr lang="en-US" sz="800" dirty="0"/>
          </a:p>
        </p:txBody>
      </p:sp>
      <p:sp>
        <p:nvSpPr>
          <p:cNvPr id="28" name="Text 21"/>
          <p:cNvSpPr txBox="1"/>
          <p:nvPr/>
        </p:nvSpPr>
        <p:spPr>
          <a:xfrm>
            <a:off x="724936" y="1732541"/>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456456" y="1732541"/>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593616" y="1732541"/>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Masjid Nabawi</a:t>
            </a:r>
            <a:endParaRPr lang="en-US" sz="800" dirty="0"/>
          </a:p>
        </p:txBody>
      </p:sp>
      <p:sp>
        <p:nvSpPr>
          <p:cNvPr id="31" name="Text 24"/>
          <p:cNvSpPr txBox="1"/>
          <p:nvPr/>
        </p:nvSpPr>
        <p:spPr>
          <a:xfrm>
            <a:off x="145645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All</a:t>
            </a:r>
            <a:endParaRPr lang="en-US" sz="700" dirty="0"/>
          </a:p>
        </p:txBody>
      </p:sp>
      <p:sp>
        <p:nvSpPr>
          <p:cNvPr id="32" name="Text 25"/>
          <p:cNvSpPr txBox="1"/>
          <p:nvPr/>
        </p:nvSpPr>
        <p:spPr>
          <a:xfrm>
            <a:off x="1959376" y="2006861"/>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Images</a:t>
            </a:r>
            <a:endParaRPr lang="en-US" sz="700" dirty="0"/>
          </a:p>
        </p:txBody>
      </p:sp>
      <p:sp>
        <p:nvSpPr>
          <p:cNvPr id="33" name="Shape 26"/>
          <p:cNvSpPr/>
          <p:nvPr/>
        </p:nvSpPr>
        <p:spPr>
          <a:xfrm>
            <a:off x="2005096" y="2171453"/>
            <a:ext cx="365760" cy="22860"/>
          </a:xfrm>
          <a:prstGeom prst="rect">
            <a:avLst/>
          </a:prstGeom>
          <a:solidFill>
            <a:srgbClr val="1A73E8"/>
          </a:solidFill>
          <a:ln w="12700">
            <a:solidFill>
              <a:srgbClr val="1A73E8"/>
            </a:solidFill>
            <a:prstDash val="solid"/>
          </a:ln>
        </p:spPr>
      </p:sp>
      <p:sp>
        <p:nvSpPr>
          <p:cNvPr id="34" name="Text 27"/>
          <p:cNvSpPr txBox="1"/>
          <p:nvPr/>
        </p:nvSpPr>
        <p:spPr>
          <a:xfrm>
            <a:off x="246229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296521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456456" y="2208029"/>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2.340.000 hasil (0,41 detik)</a:t>
            </a:r>
            <a:endParaRPr lang="en-US" sz="600" dirty="0"/>
          </a:p>
        </p:txBody>
      </p:sp>
      <p:sp>
        <p:nvSpPr>
          <p:cNvPr id="37" name="Shape 30"/>
          <p:cNvSpPr/>
          <p:nvPr/>
        </p:nvSpPr>
        <p:spPr>
          <a:xfrm>
            <a:off x="1456456" y="2418341"/>
            <a:ext cx="777240" cy="594360"/>
          </a:xfrm>
          <a:prstGeom prst="rect">
            <a:avLst/>
          </a:prstGeom>
          <a:solidFill>
            <a:srgbClr val="A7CBEE"/>
          </a:solidFill>
          <a:ln w="12700">
            <a:solidFill>
              <a:srgbClr val="A7CBEE"/>
            </a:solidFill>
            <a:prstDash val="solid"/>
          </a:ln>
        </p:spPr>
      </p:sp>
      <p:sp>
        <p:nvSpPr>
          <p:cNvPr id="38" name="Shape 31"/>
          <p:cNvSpPr/>
          <p:nvPr/>
        </p:nvSpPr>
        <p:spPr>
          <a:xfrm>
            <a:off x="1547896" y="2692661"/>
            <a:ext cx="457200" cy="320040"/>
          </a:xfrm>
          <a:prstGeom prst="triangle">
            <a:avLst/>
          </a:prstGeom>
          <a:solidFill>
            <a:srgbClr val="34A853"/>
          </a:solidFill>
          <a:ln/>
        </p:spPr>
      </p:sp>
      <p:sp>
        <p:nvSpPr>
          <p:cNvPr id="39" name="Shape 32"/>
          <p:cNvSpPr/>
          <p:nvPr/>
        </p:nvSpPr>
        <p:spPr>
          <a:xfrm>
            <a:off x="2325136" y="2418341"/>
            <a:ext cx="777240" cy="594360"/>
          </a:xfrm>
          <a:prstGeom prst="rect">
            <a:avLst/>
          </a:prstGeom>
          <a:solidFill>
            <a:srgbClr val="D9EAD3"/>
          </a:solidFill>
          <a:ln w="12700">
            <a:solidFill>
              <a:srgbClr val="D9EAD3"/>
            </a:solidFill>
            <a:prstDash val="solid"/>
          </a:ln>
        </p:spPr>
      </p:sp>
      <p:sp>
        <p:nvSpPr>
          <p:cNvPr id="40" name="Shape 33"/>
          <p:cNvSpPr/>
          <p:nvPr/>
        </p:nvSpPr>
        <p:spPr>
          <a:xfrm>
            <a:off x="2416576" y="2692661"/>
            <a:ext cx="457200" cy="320040"/>
          </a:xfrm>
          <a:prstGeom prst="triangle">
            <a:avLst/>
          </a:prstGeom>
          <a:solidFill>
            <a:srgbClr val="34A853"/>
          </a:solidFill>
          <a:ln/>
        </p:spPr>
      </p:sp>
      <p:sp>
        <p:nvSpPr>
          <p:cNvPr id="41" name="Shape 34"/>
          <p:cNvSpPr/>
          <p:nvPr/>
        </p:nvSpPr>
        <p:spPr>
          <a:xfrm>
            <a:off x="3193816" y="2418341"/>
            <a:ext cx="777240" cy="594360"/>
          </a:xfrm>
          <a:prstGeom prst="rect">
            <a:avLst/>
          </a:prstGeom>
          <a:solidFill>
            <a:srgbClr val="FBF1D3"/>
          </a:solidFill>
          <a:ln w="12700">
            <a:solidFill>
              <a:srgbClr val="FBF1D3"/>
            </a:solidFill>
            <a:prstDash val="solid"/>
          </a:ln>
        </p:spPr>
      </p:sp>
      <p:sp>
        <p:nvSpPr>
          <p:cNvPr id="42" name="Shape 35"/>
          <p:cNvSpPr/>
          <p:nvPr/>
        </p:nvSpPr>
        <p:spPr>
          <a:xfrm>
            <a:off x="3285256" y="2692661"/>
            <a:ext cx="457200" cy="320040"/>
          </a:xfrm>
          <a:prstGeom prst="triangle">
            <a:avLst/>
          </a:prstGeom>
          <a:solidFill>
            <a:srgbClr val="34A853"/>
          </a:solidFill>
          <a:ln/>
        </p:spPr>
      </p:sp>
      <p:sp>
        <p:nvSpPr>
          <p:cNvPr id="43" name="Shape 36"/>
          <p:cNvSpPr/>
          <p:nvPr/>
        </p:nvSpPr>
        <p:spPr>
          <a:xfrm>
            <a:off x="4062496" y="2418341"/>
            <a:ext cx="777240" cy="594360"/>
          </a:xfrm>
          <a:prstGeom prst="rect">
            <a:avLst/>
          </a:prstGeom>
          <a:solidFill>
            <a:srgbClr val="E6F2EC"/>
          </a:solidFill>
          <a:ln w="12700">
            <a:solidFill>
              <a:srgbClr val="E6F2EC"/>
            </a:solidFill>
            <a:prstDash val="solid"/>
          </a:ln>
        </p:spPr>
      </p:sp>
      <p:sp>
        <p:nvSpPr>
          <p:cNvPr id="44" name="Shape 37"/>
          <p:cNvSpPr/>
          <p:nvPr/>
        </p:nvSpPr>
        <p:spPr>
          <a:xfrm>
            <a:off x="4153936" y="2692661"/>
            <a:ext cx="457200" cy="320040"/>
          </a:xfrm>
          <a:prstGeom prst="triangle">
            <a:avLst/>
          </a:prstGeom>
          <a:solidFill>
            <a:srgbClr val="34A853"/>
          </a:solidFill>
          <a:ln/>
        </p:spPr>
      </p:sp>
      <p:sp>
        <p:nvSpPr>
          <p:cNvPr id="45" name="Shape 38"/>
          <p:cNvSpPr/>
          <p:nvPr/>
        </p:nvSpPr>
        <p:spPr>
          <a:xfrm>
            <a:off x="1456456" y="3104141"/>
            <a:ext cx="777240" cy="594360"/>
          </a:xfrm>
          <a:prstGeom prst="rect">
            <a:avLst/>
          </a:prstGeom>
          <a:solidFill>
            <a:srgbClr val="A7CBEE"/>
          </a:solidFill>
          <a:ln w="12700">
            <a:solidFill>
              <a:srgbClr val="A7CBEE"/>
            </a:solidFill>
            <a:prstDash val="solid"/>
          </a:ln>
        </p:spPr>
      </p:sp>
      <p:sp>
        <p:nvSpPr>
          <p:cNvPr id="46" name="Shape 39"/>
          <p:cNvSpPr/>
          <p:nvPr/>
        </p:nvSpPr>
        <p:spPr>
          <a:xfrm>
            <a:off x="1547896" y="3378461"/>
            <a:ext cx="457200" cy="320040"/>
          </a:xfrm>
          <a:prstGeom prst="triangle">
            <a:avLst/>
          </a:prstGeom>
          <a:solidFill>
            <a:srgbClr val="34A853"/>
          </a:solidFill>
          <a:ln/>
        </p:spPr>
      </p:sp>
      <p:sp>
        <p:nvSpPr>
          <p:cNvPr id="47" name="Shape 40"/>
          <p:cNvSpPr/>
          <p:nvPr/>
        </p:nvSpPr>
        <p:spPr>
          <a:xfrm>
            <a:off x="2325136" y="3104141"/>
            <a:ext cx="777240" cy="594360"/>
          </a:xfrm>
          <a:prstGeom prst="rect">
            <a:avLst/>
          </a:prstGeom>
          <a:solidFill>
            <a:srgbClr val="D9EAD3"/>
          </a:solidFill>
          <a:ln w="12700">
            <a:solidFill>
              <a:srgbClr val="D9EAD3"/>
            </a:solidFill>
            <a:prstDash val="solid"/>
          </a:ln>
        </p:spPr>
      </p:sp>
      <p:sp>
        <p:nvSpPr>
          <p:cNvPr id="48" name="Shape 41"/>
          <p:cNvSpPr/>
          <p:nvPr/>
        </p:nvSpPr>
        <p:spPr>
          <a:xfrm>
            <a:off x="2416576" y="3378461"/>
            <a:ext cx="457200" cy="320040"/>
          </a:xfrm>
          <a:prstGeom prst="triangle">
            <a:avLst/>
          </a:prstGeom>
          <a:solidFill>
            <a:srgbClr val="34A853"/>
          </a:solidFill>
          <a:ln/>
        </p:spPr>
      </p:sp>
      <p:sp>
        <p:nvSpPr>
          <p:cNvPr id="49" name="Shape 42"/>
          <p:cNvSpPr/>
          <p:nvPr/>
        </p:nvSpPr>
        <p:spPr>
          <a:xfrm>
            <a:off x="3193816" y="3104141"/>
            <a:ext cx="777240" cy="594360"/>
          </a:xfrm>
          <a:prstGeom prst="rect">
            <a:avLst/>
          </a:prstGeom>
          <a:solidFill>
            <a:srgbClr val="FBF1D3"/>
          </a:solidFill>
          <a:ln w="12700">
            <a:solidFill>
              <a:srgbClr val="FBF1D3"/>
            </a:solidFill>
            <a:prstDash val="solid"/>
          </a:ln>
        </p:spPr>
      </p:sp>
      <p:sp>
        <p:nvSpPr>
          <p:cNvPr id="50" name="Shape 43"/>
          <p:cNvSpPr/>
          <p:nvPr/>
        </p:nvSpPr>
        <p:spPr>
          <a:xfrm>
            <a:off x="3285256" y="3378461"/>
            <a:ext cx="457200" cy="320040"/>
          </a:xfrm>
          <a:prstGeom prst="triangle">
            <a:avLst/>
          </a:prstGeom>
          <a:solidFill>
            <a:srgbClr val="34A853"/>
          </a:solidFill>
          <a:ln/>
        </p:spPr>
      </p:sp>
      <p:sp>
        <p:nvSpPr>
          <p:cNvPr id="51" name="Shape 44"/>
          <p:cNvSpPr/>
          <p:nvPr/>
        </p:nvSpPr>
        <p:spPr>
          <a:xfrm>
            <a:off x="4062496" y="3104141"/>
            <a:ext cx="777240" cy="594360"/>
          </a:xfrm>
          <a:prstGeom prst="rect">
            <a:avLst/>
          </a:prstGeom>
          <a:solidFill>
            <a:srgbClr val="E6F2EC"/>
          </a:solidFill>
          <a:ln w="12700">
            <a:solidFill>
              <a:srgbClr val="E6F2EC"/>
            </a:solidFill>
            <a:prstDash val="solid"/>
          </a:ln>
        </p:spPr>
      </p:sp>
      <p:sp>
        <p:nvSpPr>
          <p:cNvPr id="52" name="Shape 45"/>
          <p:cNvSpPr/>
          <p:nvPr/>
        </p:nvSpPr>
        <p:spPr>
          <a:xfrm>
            <a:off x="4153936" y="3378461"/>
            <a:ext cx="457200" cy="320040"/>
          </a:xfrm>
          <a:prstGeom prst="triangle">
            <a:avLst/>
          </a:prstGeom>
          <a:solidFill>
            <a:srgbClr val="34A853"/>
          </a:solidFill>
          <a:ln/>
        </p:spPr>
      </p:sp>
      <p:sp>
        <p:nvSpPr>
          <p:cNvPr id="53" name="Shape 46"/>
          <p:cNvSpPr/>
          <p:nvPr/>
        </p:nvSpPr>
        <p:spPr>
          <a:xfrm>
            <a:off x="5428976" y="1823981"/>
            <a:ext cx="54864" cy="2079963"/>
          </a:xfrm>
          <a:prstGeom prst="rect">
            <a:avLst/>
          </a:prstGeom>
          <a:solidFill>
            <a:srgbClr val="EEEEEE"/>
          </a:solidFill>
          <a:ln w="12700">
            <a:solidFill>
              <a:srgbClr val="EEEEEE"/>
            </a:solidFill>
            <a:prstDash val="solid"/>
          </a:ln>
        </p:spPr>
      </p:sp>
      <p:sp>
        <p:nvSpPr>
          <p:cNvPr id="54" name="Shape 47"/>
          <p:cNvSpPr/>
          <p:nvPr/>
        </p:nvSpPr>
        <p:spPr>
          <a:xfrm>
            <a:off x="5428976" y="1915421"/>
            <a:ext cx="54864" cy="457200"/>
          </a:xfrm>
          <a:prstGeom prst="roundRect">
            <a:avLst>
              <a:gd name="adj" fmla="val 50000"/>
            </a:avLst>
          </a:prstGeom>
          <a:solidFill>
            <a:srgbClr val="AAAAAA"/>
          </a:solidFill>
          <a:ln w="12700">
            <a:solidFill>
              <a:srgbClr val="AAAAAA"/>
            </a:solidFill>
            <a:prstDash val="solid"/>
          </a:ln>
        </p:spPr>
      </p:sp>
      <p:sp>
        <p:nvSpPr>
          <p:cNvPr id="55" name="Shape 48"/>
          <p:cNvSpPr/>
          <p:nvPr/>
        </p:nvSpPr>
        <p:spPr>
          <a:xfrm>
            <a:off x="1931944" y="1979429"/>
            <a:ext cx="512064" cy="219456"/>
          </a:xfrm>
          <a:prstGeom prst="roundRect">
            <a:avLst>
              <a:gd name="adj" fmla="val 20833"/>
            </a:avLst>
          </a:prstGeom>
          <a:solidFill>
            <a:srgbClr val="FFFFFF">
              <a:alpha val="0"/>
            </a:srgbClr>
          </a:solidFill>
          <a:ln w="31750">
            <a:solidFill>
              <a:srgbClr val="E53935"/>
            </a:solidFill>
            <a:prstDash val="solid"/>
          </a:ln>
        </p:spPr>
      </p:sp>
      <p:sp>
        <p:nvSpPr>
          <p:cNvPr id="56" name="Shape 49"/>
          <p:cNvSpPr/>
          <p:nvPr/>
        </p:nvSpPr>
        <p:spPr>
          <a:xfrm>
            <a:off x="2306848" y="1842269"/>
            <a:ext cx="274320" cy="274320"/>
          </a:xfrm>
          <a:prstGeom prst="ellipse">
            <a:avLst/>
          </a:prstGeom>
          <a:solidFill>
            <a:srgbClr val="E53935"/>
          </a:solidFill>
          <a:ln w="12700">
            <a:solidFill>
              <a:srgbClr val="FFFFFF"/>
            </a:solidFill>
            <a:prstDash val="solid"/>
          </a:ln>
        </p:spPr>
      </p:sp>
      <p:sp>
        <p:nvSpPr>
          <p:cNvPr id="57" name="Text 50"/>
          <p:cNvSpPr txBox="1"/>
          <p:nvPr/>
        </p:nvSpPr>
        <p:spPr>
          <a:xfrm>
            <a:off x="2306848" y="18422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8" name="Image 5" descr="preencoded.png">    </p:cNvPr>
          <p:cNvPicPr>
            <a:picLocks noChangeAspect="1"/>
          </p:cNvPicPr>
          <p:nvPr/>
        </p:nvPicPr>
        <p:blipFill>
          <a:blip r:embed="rId6"/>
          <a:stretch>
            <a:fillRect/>
          </a:stretch>
        </p:blipFill>
        <p:spPr>
          <a:xfrm>
            <a:off x="2210836" y="2097387"/>
            <a:ext cx="237744" cy="237744"/>
          </a:xfrm>
          <a:prstGeom prst="rect">
            <a:avLst/>
          </a:prstGeom>
        </p:spPr>
      </p:pic>
      <p:sp>
        <p:nvSpPr>
          <p:cNvPr id="59"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0"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tab Images</a:t>
            </a:r>
            <a:endParaRPr lang="en-US" sz="1800" dirty="0"/>
          </a:p>
        </p:txBody>
      </p:sp>
      <p:sp>
        <p:nvSpPr>
          <p:cNvPr id="61"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Cari Masjid Nabawi, lalu klik tab Images di bawah kotak pencarian untuk melihat gambar.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Mencatat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Sejarah Pembangunan Masjid Nabawi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https://contoh-sejarah.id/masjid-nabawi</a:t>
            </a:r>
            <a:endParaRPr lang="en-US" sz="800" dirty="0"/>
          </a:p>
        </p:txBody>
      </p:sp>
      <p:sp>
        <p:nvSpPr>
          <p:cNvPr id="28" name="Text 21"/>
          <p:cNvSpPr txBox="1"/>
          <p:nvPr/>
        </p:nvSpPr>
        <p:spPr>
          <a:xfrm>
            <a:off x="953536" y="1860557"/>
            <a:ext cx="3657600" cy="274320"/>
          </a:xfrm>
          <a:prstGeom prst="rect">
            <a:avLst/>
          </a:prstGeom>
          <a:noFill/>
          <a:ln/>
        </p:spPr>
        <p:txBody>
          <a:bodyPr wrap="square" lIns="0" tIns="0" rIns="0" bIns="0" rtlCol="0" anchor="t"/>
          <a:lstStyle/>
          <a:p>
            <a:pPr indent="0" marL="0">
              <a:buNone/>
            </a:pPr>
            <a:r>
              <a:rPr lang="en-US" sz="1300" b="1" dirty="0">
                <a:solidFill>
                  <a:srgbClr val="1E2A26"/>
                </a:solidFill>
                <a:latin typeface="Calibri" pitchFamily="34" charset="0"/>
                <a:ea typeface="Calibri" pitchFamily="34" charset="-122"/>
                <a:cs typeface="Calibri" pitchFamily="34" charset="-120"/>
              </a:rPr>
              <a:t>Sejarah Pembangunan Masjid Nabawi</a:t>
            </a:r>
            <a:endParaRPr lang="en-US" sz="1300" dirty="0"/>
          </a:p>
        </p:txBody>
      </p:sp>
      <p:sp>
        <p:nvSpPr>
          <p:cNvPr id="29" name="Shape 22"/>
          <p:cNvSpPr/>
          <p:nvPr/>
        </p:nvSpPr>
        <p:spPr>
          <a:xfrm>
            <a:off x="953536" y="2272037"/>
            <a:ext cx="3474720" cy="54864"/>
          </a:xfrm>
          <a:prstGeom prst="rect">
            <a:avLst/>
          </a:prstGeom>
          <a:solidFill>
            <a:srgbClr val="DDDDDD"/>
          </a:solidFill>
          <a:ln w="12700">
            <a:solidFill>
              <a:srgbClr val="DDDDDD"/>
            </a:solidFill>
            <a:prstDash val="solid"/>
          </a:ln>
        </p:spPr>
      </p:sp>
      <p:sp>
        <p:nvSpPr>
          <p:cNvPr id="30" name="Shape 23"/>
          <p:cNvSpPr/>
          <p:nvPr/>
        </p:nvSpPr>
        <p:spPr>
          <a:xfrm>
            <a:off x="953536" y="2436629"/>
            <a:ext cx="2926080" cy="54864"/>
          </a:xfrm>
          <a:prstGeom prst="rect">
            <a:avLst/>
          </a:prstGeom>
          <a:solidFill>
            <a:srgbClr val="DDDDDD"/>
          </a:solidFill>
          <a:ln w="12700">
            <a:solidFill>
              <a:srgbClr val="DDDDDD"/>
            </a:solidFill>
            <a:prstDash val="solid"/>
          </a:ln>
        </p:spPr>
      </p:sp>
      <p:sp>
        <p:nvSpPr>
          <p:cNvPr id="31" name="Shape 24"/>
          <p:cNvSpPr/>
          <p:nvPr/>
        </p:nvSpPr>
        <p:spPr>
          <a:xfrm>
            <a:off x="953536" y="2601221"/>
            <a:ext cx="3474720" cy="54864"/>
          </a:xfrm>
          <a:prstGeom prst="rect">
            <a:avLst/>
          </a:prstGeom>
          <a:solidFill>
            <a:srgbClr val="DDDDDD"/>
          </a:solidFill>
          <a:ln w="12700">
            <a:solidFill>
              <a:srgbClr val="DDDDDD"/>
            </a:solidFill>
            <a:prstDash val="solid"/>
          </a:ln>
        </p:spPr>
      </p:sp>
      <p:sp>
        <p:nvSpPr>
          <p:cNvPr id="32" name="Shape 25"/>
          <p:cNvSpPr/>
          <p:nvPr/>
        </p:nvSpPr>
        <p:spPr>
          <a:xfrm>
            <a:off x="953536" y="2765813"/>
            <a:ext cx="2926080" cy="54864"/>
          </a:xfrm>
          <a:prstGeom prst="rect">
            <a:avLst/>
          </a:prstGeom>
          <a:solidFill>
            <a:srgbClr val="DDDDDD"/>
          </a:solidFill>
          <a:ln w="12700">
            <a:solidFill>
              <a:srgbClr val="DDDDDD"/>
            </a:solidFill>
            <a:prstDash val="solid"/>
          </a:ln>
        </p:spPr>
      </p:sp>
      <p:sp>
        <p:nvSpPr>
          <p:cNvPr id="33" name="Shape 26"/>
          <p:cNvSpPr/>
          <p:nvPr/>
        </p:nvSpPr>
        <p:spPr>
          <a:xfrm>
            <a:off x="953536" y="2930405"/>
            <a:ext cx="3474720" cy="54864"/>
          </a:xfrm>
          <a:prstGeom prst="rect">
            <a:avLst/>
          </a:prstGeom>
          <a:solidFill>
            <a:srgbClr val="DDDDDD"/>
          </a:solidFill>
          <a:ln w="12700">
            <a:solidFill>
              <a:srgbClr val="DDDDDD"/>
            </a:solidFill>
            <a:prstDash val="solid"/>
          </a:ln>
        </p:spPr>
      </p:sp>
      <p:sp>
        <p:nvSpPr>
          <p:cNvPr id="34" name="Shape 27"/>
          <p:cNvSpPr/>
          <p:nvPr/>
        </p:nvSpPr>
        <p:spPr>
          <a:xfrm>
            <a:off x="953536" y="3094997"/>
            <a:ext cx="2926080" cy="54864"/>
          </a:xfrm>
          <a:prstGeom prst="rect">
            <a:avLst/>
          </a:prstGeom>
          <a:solidFill>
            <a:srgbClr val="DDDDDD"/>
          </a:solidFill>
          <a:ln w="12700">
            <a:solidFill>
              <a:srgbClr val="DDDDDD"/>
            </a:solidFill>
            <a:prstDash val="solid"/>
          </a:ln>
        </p:spPr>
      </p:sp>
      <p:sp>
        <p:nvSpPr>
          <p:cNvPr id="35" name="Shape 28"/>
          <p:cNvSpPr/>
          <p:nvPr/>
        </p:nvSpPr>
        <p:spPr>
          <a:xfrm>
            <a:off x="1319296" y="1439933"/>
            <a:ext cx="4036527" cy="201168"/>
          </a:xfrm>
          <a:prstGeom prst="roundRect">
            <a:avLst>
              <a:gd name="adj" fmla="val 50000"/>
            </a:avLst>
          </a:prstGeom>
          <a:solidFill>
            <a:srgbClr val="C2E7FF"/>
          </a:solidFill>
          <a:ln w="12700">
            <a:solidFill>
              <a:srgbClr val="C2E7FF"/>
            </a:solidFill>
            <a:prstDash val="solid"/>
          </a:ln>
        </p:spPr>
      </p:sp>
      <p:sp>
        <p:nvSpPr>
          <p:cNvPr id="36" name="Text 29"/>
          <p:cNvSpPr txBox="1"/>
          <p:nvPr/>
        </p:nvSpPr>
        <p:spPr>
          <a:xfrm>
            <a:off x="1429024" y="1439933"/>
            <a:ext cx="403652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https://contoh-sejarah.id/masjid-nabawi</a:t>
            </a:r>
            <a:endParaRPr lang="en-US" sz="800" dirty="0"/>
          </a:p>
        </p:txBody>
      </p:sp>
      <p:sp>
        <p:nvSpPr>
          <p:cNvPr id="37" name="Shape 30"/>
          <p:cNvSpPr/>
          <p:nvPr/>
        </p:nvSpPr>
        <p:spPr>
          <a:xfrm>
            <a:off x="1291864" y="1412501"/>
            <a:ext cx="4091391" cy="256032"/>
          </a:xfrm>
          <a:prstGeom prst="roundRect">
            <a:avLst>
              <a:gd name="adj" fmla="val 17857"/>
            </a:avLst>
          </a:prstGeom>
          <a:solidFill>
            <a:srgbClr val="FFFFFF">
              <a:alpha val="0"/>
            </a:srgbClr>
          </a:solidFill>
          <a:ln w="31750">
            <a:solidFill>
              <a:srgbClr val="E53935"/>
            </a:solidFill>
            <a:prstDash val="solid"/>
          </a:ln>
        </p:spPr>
      </p:sp>
      <p:sp>
        <p:nvSpPr>
          <p:cNvPr id="38" name="Shape 31"/>
          <p:cNvSpPr/>
          <p:nvPr/>
        </p:nvSpPr>
        <p:spPr>
          <a:xfrm>
            <a:off x="5246096" y="1275341"/>
            <a:ext cx="274320" cy="274320"/>
          </a:xfrm>
          <a:prstGeom prst="ellipse">
            <a:avLst/>
          </a:prstGeom>
          <a:solidFill>
            <a:srgbClr val="E53935"/>
          </a:solidFill>
          <a:ln w="12700">
            <a:solidFill>
              <a:srgbClr val="FFFFFF"/>
            </a:solidFill>
            <a:prstDash val="solid"/>
          </a:ln>
        </p:spPr>
      </p:sp>
      <p:sp>
        <p:nvSpPr>
          <p:cNvPr id="39" name="Text 32"/>
          <p:cNvSpPr txBox="1"/>
          <p:nvPr/>
        </p:nvSpPr>
        <p:spPr>
          <a:xfrm>
            <a:off x="5246096" y="12753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40" name="Image 5" descr="preencoded.png">    </p:cNvPr>
          <p:cNvPicPr>
            <a:picLocks noChangeAspect="1"/>
          </p:cNvPicPr>
          <p:nvPr/>
        </p:nvPicPr>
        <p:blipFill>
          <a:blip r:embed="rId6"/>
          <a:stretch>
            <a:fillRect/>
          </a:stretch>
        </p:blipFill>
        <p:spPr>
          <a:xfrm>
            <a:off x="3539386" y="1550576"/>
            <a:ext cx="237744" cy="237744"/>
          </a:xfrm>
          <a:prstGeom prst="rect">
            <a:avLst/>
          </a:prstGeom>
        </p:spPr>
      </p:pic>
      <p:sp>
        <p:nvSpPr>
          <p:cNvPr id="41"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42"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Salin alamat situs</a:t>
            </a:r>
            <a:endParaRPr lang="en-US" sz="1800" dirty="0"/>
          </a:p>
        </p:txBody>
      </p:sp>
      <p:sp>
        <p:nvSpPr>
          <p:cNvPr id="43"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halaman sumber. Klik kolom alamat sekali (alamat terblok biru), lalu tekan Ctrl + C.</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Mencatat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Catatan_Pencarian_Ahmad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Catatan_Pencarian_Ahmad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Catatan Pencarian</a:t>
            </a:r>
            <a:endParaRPr lang="en-US" sz="1400" dirty="0"/>
          </a:p>
        </p:txBody>
      </p:sp>
      <p:sp>
        <p:nvSpPr>
          <p:cNvPr id="70" name="Text 59"/>
          <p:cNvSpPr txBox="1"/>
          <p:nvPr/>
        </p:nvSpPr>
        <p:spPr>
          <a:xfrm>
            <a:off x="1554480" y="293218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Fakta 1: Masjid Nabawi dibangun oleh Rasulullah</a:t>
            </a:r>
            <a:endParaRPr lang="en-US" sz="800" dirty="0"/>
          </a:p>
        </p:txBody>
      </p:sp>
      <p:sp>
        <p:nvSpPr>
          <p:cNvPr id="71" name="Text 60"/>
          <p:cNvSpPr txBox="1"/>
          <p:nvPr/>
        </p:nvSpPr>
        <p:spPr>
          <a:xfrm>
            <a:off x="1554480" y="312522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setelah hijrah ke Madinah.</a:t>
            </a:r>
            <a:endParaRPr lang="en-US" sz="800" dirty="0"/>
          </a:p>
        </p:txBody>
      </p:sp>
      <p:sp>
        <p:nvSpPr>
          <p:cNvPr id="72" name="Text 61"/>
          <p:cNvSpPr txBox="1"/>
          <p:nvPr/>
        </p:nvSpPr>
        <p:spPr>
          <a:xfrm>
            <a:off x="1554480" y="331826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Sumber: https://contoh-sejarah.id/masjid-nabawi</a:t>
            </a:r>
            <a:endParaRPr lang="en-US" sz="800" dirty="0"/>
          </a:p>
        </p:txBody>
      </p:sp>
      <p:sp>
        <p:nvSpPr>
          <p:cNvPr id="73" name="Shape 62"/>
          <p:cNvSpPr/>
          <p:nvPr/>
        </p:nvSpPr>
        <p:spPr>
          <a:xfrm>
            <a:off x="1527048" y="2904751"/>
            <a:ext cx="3072384" cy="395224"/>
          </a:xfrm>
          <a:prstGeom prst="roundRect">
            <a:avLst>
              <a:gd name="adj" fmla="val 11568"/>
            </a:avLst>
          </a:prstGeom>
          <a:solidFill>
            <a:srgbClr val="FFFFFF">
              <a:alpha val="0"/>
            </a:srgbClr>
          </a:solidFill>
          <a:ln w="31750">
            <a:solidFill>
              <a:srgbClr val="E53935"/>
            </a:solidFill>
            <a:prstDash val="solid"/>
          </a:ln>
        </p:spPr>
      </p:sp>
      <p:sp>
        <p:nvSpPr>
          <p:cNvPr id="74" name="Shape 63"/>
          <p:cNvSpPr/>
          <p:nvPr/>
        </p:nvSpPr>
        <p:spPr>
          <a:xfrm>
            <a:off x="4462272" y="2767591"/>
            <a:ext cx="274320" cy="274320"/>
          </a:xfrm>
          <a:prstGeom prst="ellipse">
            <a:avLst/>
          </a:prstGeom>
          <a:solidFill>
            <a:srgbClr val="E53935"/>
          </a:solidFill>
          <a:ln w="12700">
            <a:solidFill>
              <a:srgbClr val="FFFFFF"/>
            </a:solidFill>
            <a:prstDash val="solid"/>
          </a:ln>
        </p:spPr>
      </p:sp>
      <p:sp>
        <p:nvSpPr>
          <p:cNvPr id="75" name="Text 64"/>
          <p:cNvSpPr txBox="1"/>
          <p:nvPr/>
        </p:nvSpPr>
        <p:spPr>
          <a:xfrm>
            <a:off x="4462272" y="276759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6" name="Image 9" descr="preencoded.png">    </p:cNvPr>
          <p:cNvPicPr>
            <a:picLocks noChangeAspect="1"/>
          </p:cNvPicPr>
          <p:nvPr/>
        </p:nvPicPr>
        <p:blipFill>
          <a:blip r:embed="rId10"/>
          <a:stretch>
            <a:fillRect/>
          </a:stretch>
        </p:blipFill>
        <p:spPr>
          <a:xfrm>
            <a:off x="3214116" y="3119381"/>
            <a:ext cx="237744" cy="237744"/>
          </a:xfrm>
          <a:prstGeom prst="rect">
            <a:avLst/>
          </a:prstGeom>
        </p:spPr>
      </p:pic>
      <p:sp>
        <p:nvSpPr>
          <p:cNvPr id="77" name="Shape 65"/>
          <p:cNvSpPr/>
          <p:nvPr/>
        </p:nvSpPr>
        <p:spPr>
          <a:xfrm>
            <a:off x="1527048" y="3290831"/>
            <a:ext cx="3072384" cy="202184"/>
          </a:xfrm>
          <a:prstGeom prst="roundRect">
            <a:avLst>
              <a:gd name="adj" fmla="val 22613"/>
            </a:avLst>
          </a:prstGeom>
          <a:solidFill>
            <a:srgbClr val="FFFFFF">
              <a:alpha val="0"/>
            </a:srgbClr>
          </a:solidFill>
          <a:ln w="31750">
            <a:solidFill>
              <a:srgbClr val="E53935"/>
            </a:solidFill>
            <a:prstDash val="solid"/>
          </a:ln>
        </p:spPr>
      </p:sp>
      <p:sp>
        <p:nvSpPr>
          <p:cNvPr id="78" name="Shape 66"/>
          <p:cNvSpPr/>
          <p:nvPr/>
        </p:nvSpPr>
        <p:spPr>
          <a:xfrm>
            <a:off x="4462272" y="3153671"/>
            <a:ext cx="274320" cy="274320"/>
          </a:xfrm>
          <a:prstGeom prst="ellipse">
            <a:avLst/>
          </a:prstGeom>
          <a:solidFill>
            <a:srgbClr val="E53935"/>
          </a:solidFill>
          <a:ln w="12700">
            <a:solidFill>
              <a:srgbClr val="FFFFFF"/>
            </a:solidFill>
            <a:prstDash val="solid"/>
          </a:ln>
        </p:spPr>
      </p:sp>
      <p:sp>
        <p:nvSpPr>
          <p:cNvPr id="79" name="Text 67"/>
          <p:cNvSpPr txBox="1"/>
          <p:nvPr/>
        </p:nvSpPr>
        <p:spPr>
          <a:xfrm>
            <a:off x="4462272" y="315367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0" name="Image 10" descr="preencoded.png">    </p:cNvPr>
          <p:cNvPicPr>
            <a:picLocks noChangeAspect="1"/>
          </p:cNvPicPr>
          <p:nvPr/>
        </p:nvPicPr>
        <p:blipFill>
          <a:blip r:embed="rId11"/>
          <a:stretch>
            <a:fillRect/>
          </a:stretch>
        </p:blipFill>
        <p:spPr>
          <a:xfrm>
            <a:off x="3214116" y="3399289"/>
            <a:ext cx="237744" cy="237744"/>
          </a:xfrm>
          <a:prstGeom prst="rect">
            <a:avLst/>
          </a:prstGeom>
        </p:spPr>
      </p:pic>
      <p:sp>
        <p:nvSpPr>
          <p:cNvPr id="81"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82"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fakta dan tempel sumber di Docs</a:t>
            </a:r>
            <a:endParaRPr lang="en-US" sz="1800" dirty="0"/>
          </a:p>
        </p:txBody>
      </p:sp>
      <p:sp>
        <p:nvSpPr>
          <p:cNvPr id="83"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Catatan_Pencarian di Google Docs. Tulis fakta dengan bahasamu, lalu ketik Sumber: dan tekan Ctrl + V.</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10</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Catat di Google Docs Catatan_Pencarian milikmu: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 fakta tentang Kota Poso atau Danau Poso, masing-masing dengan sumbernya.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 fakta tentang Masjid Al-Aqsa, masing-masing dengan sumbernya.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kata kunci yang kamu pakai untuk setiap fakta.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fakta ditulis dengan bahasamu sendiri.</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6 fakta beserta sumbernya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Kata kunci sudah spesifik</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Sudah mencoba tanda kutip</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Fakta ditulis dengan bahasa sendiri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Kata kunci mana yang paling berhasil hari ini?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kita perlu mencatat sumber informasi?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Mencari ilmu di internet tetap butuh adab: niat baik dan menjauhi konten yang tidak pantas.</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Menilai kebenaran informasi dan mengenali hoaks.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Sumber Terpercaya &amp; Hoaks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Tabayyun di era digital</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Pencarian Informasi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Pernahkah kalian menerima pesan berantai yang ternyata tidak benar?</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hoaks dan cirinya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Menilai sebuah informasi dengan 4 pertanyaan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Melakukan cek fakta sederhana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Tabayyun: Perintah Al-Qur'an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QS. Al-Hujurat: 6</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Allah memerintahkan orang beriman untuk memeriksa dengan teliti setiap berita yang dibawa orang fasik, agar tidak menimpakan musibah kepada orang lain karena ketidaktahuan.</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Tabayyun = memeriksa kebenaran berita</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Berlaku untuk berita lisan maupun di internet</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Akibat tidak tabayyun: fitnah dan penyesalan</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Pertanyaan Tabayyun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Siapa Penulisnya?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Lembaga resmi, media terpercaya, atau akun tanpa identitas?</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Kapan Ditulis?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Periksa tanggalnya. Berita lama sering disebar ulang seolah baru.</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Ada Sumber Lain?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Bandingkan dengan minimal dua sumber berbeda yang terpercaya.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Ada Ciri Hoaks?</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heboh, huruf kapital, minta segera disebar, memancing emosi.</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Kesimpulan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Fakta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Sumber jelas, sesuai dengan sumber terpercaya lain, tidak ada ciri hoaks.</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E53935"/>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Hoaks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Sudah dibantah sumber resmi atau situs cek fakta, atau jelas tidak masuk akal.</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D4A017"/>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Belum Jelas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Belum bisa dipastikan. Sikap terbaik: tidak disebarkan sampai jelas.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Menjadi Detektif Informasi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Memeriksa pesan dengan 4 pertanyaan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Mencari di Google dan situs cek fakta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Menulis kesimpulan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Memeriksa Pesan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ECE5DD"/>
          </a:solidFill>
          <a:ln w="12700">
            <a:solidFill>
              <a:srgbClr val="ECE5DD"/>
            </a:solidFill>
            <a:prstDash val="solid"/>
          </a:ln>
        </p:spPr>
      </p:sp>
      <p:sp>
        <p:nvSpPr>
          <p:cNvPr id="14" name="Shape 10"/>
          <p:cNvSpPr/>
          <p:nvPr/>
        </p:nvSpPr>
        <p:spPr>
          <a:xfrm>
            <a:off x="484632" y="1124712"/>
            <a:ext cx="5157216" cy="292608"/>
          </a:xfrm>
          <a:prstGeom prst="rect">
            <a:avLst/>
          </a:prstGeom>
          <a:solidFill>
            <a:srgbClr val="075E54"/>
          </a:solidFill>
          <a:ln w="12700">
            <a:solidFill>
              <a:srgbClr val="075E54"/>
            </a:solidFill>
            <a:prstDash val="solid"/>
          </a:ln>
        </p:spPr>
      </p:sp>
      <p:sp>
        <p:nvSpPr>
          <p:cNvPr id="15" name="Text 11"/>
          <p:cNvSpPr txBox="1"/>
          <p:nvPr/>
        </p:nvSpPr>
        <p:spPr>
          <a:xfrm>
            <a:off x="667512" y="1124712"/>
            <a:ext cx="1828800"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Grup Keluarga</a:t>
            </a:r>
            <a:endParaRPr lang="en-US" sz="900" dirty="0"/>
          </a:p>
        </p:txBody>
      </p:sp>
      <p:sp>
        <p:nvSpPr>
          <p:cNvPr id="16" name="Shape 12"/>
          <p:cNvSpPr/>
          <p:nvPr/>
        </p:nvSpPr>
        <p:spPr>
          <a:xfrm>
            <a:off x="713232" y="1581912"/>
            <a:ext cx="3713196" cy="2011680"/>
          </a:xfrm>
          <a:prstGeom prst="roundRect">
            <a:avLst>
              <a:gd name="adj" fmla="val 2727"/>
            </a:avLst>
          </a:prstGeom>
          <a:solidFill>
            <a:srgbClr val="FFFFFF"/>
          </a:solidFill>
          <a:ln w="12700">
            <a:solidFill>
              <a:srgbClr val="FFFFFF"/>
            </a:solidFill>
            <a:prstDash val="solid"/>
          </a:ln>
        </p:spPr>
      </p:sp>
      <p:sp>
        <p:nvSpPr>
          <p:cNvPr id="17" name="Text 13"/>
          <p:cNvSpPr txBox="1"/>
          <p:nvPr/>
        </p:nvSpPr>
        <p:spPr>
          <a:xfrm>
            <a:off x="804672" y="1627632"/>
            <a:ext cx="1828800" cy="164592"/>
          </a:xfrm>
          <a:prstGeom prst="rect">
            <a:avLst/>
          </a:prstGeom>
          <a:noFill/>
          <a:ln/>
        </p:spPr>
        <p:txBody>
          <a:bodyPr wrap="square" lIns="0" tIns="0" rIns="0" bIns="0" rtlCol="0" anchor="t"/>
          <a:lstStyle/>
          <a:p>
            <a:pPr indent="0" marL="0">
              <a:buNone/>
            </a:pPr>
            <a:r>
              <a:rPr lang="en-US" sz="650" i="1" dirty="0">
                <a:solidFill>
                  <a:srgbClr val="888888"/>
                </a:solidFill>
                <a:latin typeface="Calibri" pitchFamily="34" charset="0"/>
                <a:ea typeface="Calibri" pitchFamily="34" charset="-122"/>
                <a:cs typeface="Calibri" pitchFamily="34" charset="-120"/>
              </a:rPr>
              <a:t>Diteruskan berkali-kali</a:t>
            </a:r>
            <a:endParaRPr lang="en-US" sz="650" dirty="0"/>
          </a:p>
        </p:txBody>
      </p:sp>
      <p:sp>
        <p:nvSpPr>
          <p:cNvPr id="18" name="Text 14"/>
          <p:cNvSpPr txBox="1"/>
          <p:nvPr/>
        </p:nvSpPr>
        <p:spPr>
          <a:xfrm>
            <a:off x="804672" y="1810512"/>
            <a:ext cx="3530316" cy="22860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PENTING!!! SEBARKAN SEGERA!!!</a:t>
            </a:r>
            <a:endParaRPr lang="en-US" sz="900" dirty="0"/>
          </a:p>
        </p:txBody>
      </p:sp>
      <p:sp>
        <p:nvSpPr>
          <p:cNvPr id="19" name="Text 15"/>
          <p:cNvSpPr txBox="1"/>
          <p:nvPr/>
        </p:nvSpPr>
        <p:spPr>
          <a:xfrm>
            <a:off x="804672" y="2130552"/>
            <a:ext cx="3530316" cy="822960"/>
          </a:xfrm>
          <a:prstGeom prst="rect">
            <a:avLst/>
          </a:prstGeom>
          <a:noFill/>
          <a:ln/>
        </p:spPr>
        <p:txBody>
          <a:bodyPr wrap="square" lIns="0" tIns="0" rIns="0" bIns="0" rtlCol="0" anchor="t"/>
          <a:lstStyle/>
          <a:p>
            <a:pPr indent="0" marL="0">
              <a:buNone/>
            </a:pPr>
            <a:r>
              <a:rPr lang="en-US" sz="900" dirty="0">
                <a:solidFill>
                  <a:srgbClr val="1E2A26"/>
                </a:solidFill>
                <a:latin typeface="Calibri" pitchFamily="34" charset="0"/>
                <a:ea typeface="Calibri" pitchFamily="34" charset="-122"/>
                <a:cs typeface="Calibri" pitchFamily="34" charset="-120"/>
              </a:rPr>
              <a:t>Mulai besok semua HP yang tidak mengirim pesan ini ke 10 orang akan DIBLOKIR otomatis oleh pemerintah. Jangan sampai HP kalian mati! Info dari teman saya orang dalam.</a:t>
            </a:r>
            <a:endParaRPr lang="en-US" sz="900" dirty="0"/>
          </a:p>
        </p:txBody>
      </p:sp>
      <p:sp>
        <p:nvSpPr>
          <p:cNvPr id="20" name="Text 16"/>
          <p:cNvSpPr txBox="1"/>
          <p:nvPr/>
        </p:nvSpPr>
        <p:spPr>
          <a:xfrm>
            <a:off x="804672" y="3044952"/>
            <a:ext cx="3530316" cy="22860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Kirim ke 10 grup sekarang!!!</a:t>
            </a:r>
            <a:endParaRPr lang="en-US" sz="850" dirty="0"/>
          </a:p>
        </p:txBody>
      </p:sp>
      <p:sp>
        <p:nvSpPr>
          <p:cNvPr id="21" name="Text 17"/>
          <p:cNvSpPr txBox="1"/>
          <p:nvPr/>
        </p:nvSpPr>
        <p:spPr>
          <a:xfrm>
            <a:off x="3969228" y="3392424"/>
            <a:ext cx="365760" cy="164592"/>
          </a:xfrm>
          <a:prstGeom prst="rect">
            <a:avLst/>
          </a:prstGeom>
          <a:noFill/>
          <a:ln/>
        </p:spPr>
        <p:txBody>
          <a:bodyPr wrap="square" lIns="0" tIns="0" rIns="0" bIns="0" rtlCol="0" anchor="t"/>
          <a:lstStyle/>
          <a:p>
            <a:pPr algn="r" indent="0" marL="0">
              <a:buNone/>
            </a:pPr>
            <a:r>
              <a:rPr lang="en-US" sz="600" dirty="0">
                <a:solidFill>
                  <a:srgbClr val="888888"/>
                </a:solidFill>
                <a:latin typeface="Calibri" pitchFamily="34" charset="0"/>
                <a:ea typeface="Calibri" pitchFamily="34" charset="-122"/>
                <a:cs typeface="Calibri" pitchFamily="34" charset="-120"/>
              </a:rPr>
              <a:t>21.04</a:t>
            </a:r>
            <a:endParaRPr lang="en-US" sz="600" dirty="0"/>
          </a:p>
        </p:txBody>
      </p:sp>
      <p:sp>
        <p:nvSpPr>
          <p:cNvPr id="22" name="Shape 18"/>
          <p:cNvSpPr/>
          <p:nvPr/>
        </p:nvSpPr>
        <p:spPr>
          <a:xfrm>
            <a:off x="676656" y="1545336"/>
            <a:ext cx="3786348" cy="2084832"/>
          </a:xfrm>
          <a:prstGeom prst="roundRect">
            <a:avLst>
              <a:gd name="adj" fmla="val 2193"/>
            </a:avLst>
          </a:prstGeom>
          <a:solidFill>
            <a:srgbClr val="FFFFFF">
              <a:alpha val="0"/>
            </a:srgbClr>
          </a:solidFill>
          <a:ln w="31750">
            <a:solidFill>
              <a:srgbClr val="E53935"/>
            </a:solidFill>
            <a:prstDash val="solid"/>
          </a:ln>
        </p:spPr>
      </p:sp>
      <p:sp>
        <p:nvSpPr>
          <p:cNvPr id="23" name="Shape 19"/>
          <p:cNvSpPr/>
          <p:nvPr/>
        </p:nvSpPr>
        <p:spPr>
          <a:xfrm>
            <a:off x="4325844" y="1408176"/>
            <a:ext cx="274320" cy="274320"/>
          </a:xfrm>
          <a:prstGeom prst="ellipse">
            <a:avLst/>
          </a:prstGeom>
          <a:solidFill>
            <a:srgbClr val="E53935"/>
          </a:solidFill>
          <a:ln w="12700">
            <a:solidFill>
              <a:srgbClr val="FFFFFF"/>
            </a:solidFill>
            <a:prstDash val="solid"/>
          </a:ln>
        </p:spPr>
      </p:sp>
      <p:sp>
        <p:nvSpPr>
          <p:cNvPr id="24" name="Text 20"/>
          <p:cNvSpPr txBox="1"/>
          <p:nvPr/>
        </p:nvSpPr>
        <p:spPr>
          <a:xfrm>
            <a:off x="4325844" y="14081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5" name="Text 2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6" name="Text 2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pesan dengan tenang</a:t>
            </a:r>
            <a:endParaRPr lang="en-US" sz="1800" dirty="0"/>
          </a:p>
        </p:txBody>
      </p:sp>
      <p:sp>
        <p:nvSpPr>
          <p:cNvPr id="27" name="Text 2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Perhatikan contoh pesan berantai ini. Jangan langsung percaya, jangan langsung diteruskan.</a:t>
            </a:r>
            <a:endParaRPr lang="en-US" sz="1300" dirty="0"/>
          </a:p>
        </p:txBody>
      </p:sp>
      <p:sp>
        <p:nvSpPr>
          <p:cNvPr id="28" name="Shape 2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9" name="Image 2" descr="preencoded.png">    </p:cNvPr>
          <p:cNvPicPr>
            <a:picLocks noChangeAspect="1"/>
          </p:cNvPicPr>
          <p:nvPr/>
        </p:nvPicPr>
        <p:blipFill>
          <a:blip r:embed="rId3"/>
          <a:stretch>
            <a:fillRect/>
          </a:stretch>
        </p:blipFill>
        <p:spPr>
          <a:xfrm>
            <a:off x="6108192" y="3721608"/>
            <a:ext cx="201168" cy="201168"/>
          </a:xfrm>
          <a:prstGeom prst="rect">
            <a:avLst/>
          </a:prstGeom>
        </p:spPr>
      </p:pic>
      <p:sp>
        <p:nvSpPr>
          <p:cNvPr id="30" name="Text 2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Pesan yang membuat panik adalah tanda pertama untuk berhati-hati.</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Memeriksa Pesan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ECE5DD"/>
          </a:solidFill>
          <a:ln w="12700">
            <a:solidFill>
              <a:srgbClr val="ECE5DD"/>
            </a:solidFill>
            <a:prstDash val="solid"/>
          </a:ln>
        </p:spPr>
      </p:sp>
      <p:sp>
        <p:nvSpPr>
          <p:cNvPr id="14" name="Shape 10"/>
          <p:cNvSpPr/>
          <p:nvPr/>
        </p:nvSpPr>
        <p:spPr>
          <a:xfrm>
            <a:off x="484632" y="1124712"/>
            <a:ext cx="5157216" cy="292608"/>
          </a:xfrm>
          <a:prstGeom prst="rect">
            <a:avLst/>
          </a:prstGeom>
          <a:solidFill>
            <a:srgbClr val="075E54"/>
          </a:solidFill>
          <a:ln w="12700">
            <a:solidFill>
              <a:srgbClr val="075E54"/>
            </a:solidFill>
            <a:prstDash val="solid"/>
          </a:ln>
        </p:spPr>
      </p:sp>
      <p:sp>
        <p:nvSpPr>
          <p:cNvPr id="15" name="Text 11"/>
          <p:cNvSpPr txBox="1"/>
          <p:nvPr/>
        </p:nvSpPr>
        <p:spPr>
          <a:xfrm>
            <a:off x="667512" y="1124712"/>
            <a:ext cx="1828800"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Grup Keluarga</a:t>
            </a:r>
            <a:endParaRPr lang="en-US" sz="900" dirty="0"/>
          </a:p>
        </p:txBody>
      </p:sp>
      <p:sp>
        <p:nvSpPr>
          <p:cNvPr id="16" name="Shape 12"/>
          <p:cNvSpPr/>
          <p:nvPr/>
        </p:nvSpPr>
        <p:spPr>
          <a:xfrm>
            <a:off x="713232" y="1581912"/>
            <a:ext cx="3713196" cy="2011680"/>
          </a:xfrm>
          <a:prstGeom prst="roundRect">
            <a:avLst>
              <a:gd name="adj" fmla="val 2727"/>
            </a:avLst>
          </a:prstGeom>
          <a:solidFill>
            <a:srgbClr val="FFFFFF"/>
          </a:solidFill>
          <a:ln w="12700">
            <a:solidFill>
              <a:srgbClr val="FFFFFF"/>
            </a:solidFill>
            <a:prstDash val="solid"/>
          </a:ln>
        </p:spPr>
      </p:sp>
      <p:sp>
        <p:nvSpPr>
          <p:cNvPr id="17" name="Text 13"/>
          <p:cNvSpPr txBox="1"/>
          <p:nvPr/>
        </p:nvSpPr>
        <p:spPr>
          <a:xfrm>
            <a:off x="804672" y="1627632"/>
            <a:ext cx="1828800" cy="164592"/>
          </a:xfrm>
          <a:prstGeom prst="rect">
            <a:avLst/>
          </a:prstGeom>
          <a:noFill/>
          <a:ln/>
        </p:spPr>
        <p:txBody>
          <a:bodyPr wrap="square" lIns="0" tIns="0" rIns="0" bIns="0" rtlCol="0" anchor="t"/>
          <a:lstStyle/>
          <a:p>
            <a:pPr indent="0" marL="0">
              <a:buNone/>
            </a:pPr>
            <a:r>
              <a:rPr lang="en-US" sz="650" i="1" dirty="0">
                <a:solidFill>
                  <a:srgbClr val="888888"/>
                </a:solidFill>
                <a:latin typeface="Calibri" pitchFamily="34" charset="0"/>
                <a:ea typeface="Calibri" pitchFamily="34" charset="-122"/>
                <a:cs typeface="Calibri" pitchFamily="34" charset="-120"/>
              </a:rPr>
              <a:t>Diteruskan berkali-kali</a:t>
            </a:r>
            <a:endParaRPr lang="en-US" sz="650" dirty="0"/>
          </a:p>
        </p:txBody>
      </p:sp>
      <p:sp>
        <p:nvSpPr>
          <p:cNvPr id="18" name="Text 14"/>
          <p:cNvSpPr txBox="1"/>
          <p:nvPr/>
        </p:nvSpPr>
        <p:spPr>
          <a:xfrm>
            <a:off x="804672" y="1810512"/>
            <a:ext cx="3530316" cy="22860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PENTING!!! SEBARKAN SEGERA!!!</a:t>
            </a:r>
            <a:endParaRPr lang="en-US" sz="900" dirty="0"/>
          </a:p>
        </p:txBody>
      </p:sp>
      <p:sp>
        <p:nvSpPr>
          <p:cNvPr id="19" name="Text 15"/>
          <p:cNvSpPr txBox="1"/>
          <p:nvPr/>
        </p:nvSpPr>
        <p:spPr>
          <a:xfrm>
            <a:off x="804672" y="2130552"/>
            <a:ext cx="3530316" cy="822960"/>
          </a:xfrm>
          <a:prstGeom prst="rect">
            <a:avLst/>
          </a:prstGeom>
          <a:noFill/>
          <a:ln/>
        </p:spPr>
        <p:txBody>
          <a:bodyPr wrap="square" lIns="0" tIns="0" rIns="0" bIns="0" rtlCol="0" anchor="t"/>
          <a:lstStyle/>
          <a:p>
            <a:pPr indent="0" marL="0">
              <a:buNone/>
            </a:pPr>
            <a:r>
              <a:rPr lang="en-US" sz="900" dirty="0">
                <a:solidFill>
                  <a:srgbClr val="1E2A26"/>
                </a:solidFill>
                <a:latin typeface="Calibri" pitchFamily="34" charset="0"/>
                <a:ea typeface="Calibri" pitchFamily="34" charset="-122"/>
                <a:cs typeface="Calibri" pitchFamily="34" charset="-120"/>
              </a:rPr>
              <a:t>Mulai besok semua HP yang tidak mengirim pesan ini ke 10 orang akan DIBLOKIR otomatis oleh pemerintah. Jangan sampai HP kalian mati! Info dari teman saya orang dalam.</a:t>
            </a:r>
            <a:endParaRPr lang="en-US" sz="900" dirty="0"/>
          </a:p>
        </p:txBody>
      </p:sp>
      <p:sp>
        <p:nvSpPr>
          <p:cNvPr id="20" name="Text 16"/>
          <p:cNvSpPr txBox="1"/>
          <p:nvPr/>
        </p:nvSpPr>
        <p:spPr>
          <a:xfrm>
            <a:off x="804672" y="3044952"/>
            <a:ext cx="3530316" cy="22860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Kirim ke 10 grup sekarang!!!</a:t>
            </a:r>
            <a:endParaRPr lang="en-US" sz="850" dirty="0"/>
          </a:p>
        </p:txBody>
      </p:sp>
      <p:sp>
        <p:nvSpPr>
          <p:cNvPr id="21" name="Text 17"/>
          <p:cNvSpPr txBox="1"/>
          <p:nvPr/>
        </p:nvSpPr>
        <p:spPr>
          <a:xfrm>
            <a:off x="3969228" y="3392424"/>
            <a:ext cx="365760" cy="164592"/>
          </a:xfrm>
          <a:prstGeom prst="rect">
            <a:avLst/>
          </a:prstGeom>
          <a:noFill/>
          <a:ln/>
        </p:spPr>
        <p:txBody>
          <a:bodyPr wrap="square" lIns="0" tIns="0" rIns="0" bIns="0" rtlCol="0" anchor="t"/>
          <a:lstStyle/>
          <a:p>
            <a:pPr algn="r" indent="0" marL="0">
              <a:buNone/>
            </a:pPr>
            <a:r>
              <a:rPr lang="en-US" sz="600" dirty="0">
                <a:solidFill>
                  <a:srgbClr val="888888"/>
                </a:solidFill>
                <a:latin typeface="Calibri" pitchFamily="34" charset="0"/>
                <a:ea typeface="Calibri" pitchFamily="34" charset="-122"/>
                <a:cs typeface="Calibri" pitchFamily="34" charset="-120"/>
              </a:rPr>
              <a:t>21.04</a:t>
            </a:r>
            <a:endParaRPr lang="en-US" sz="600" dirty="0"/>
          </a:p>
        </p:txBody>
      </p:sp>
      <p:sp>
        <p:nvSpPr>
          <p:cNvPr id="22" name="Shape 18"/>
          <p:cNvSpPr/>
          <p:nvPr/>
        </p:nvSpPr>
        <p:spPr>
          <a:xfrm>
            <a:off x="758952" y="2606040"/>
            <a:ext cx="3621756" cy="420624"/>
          </a:xfrm>
          <a:prstGeom prst="roundRect">
            <a:avLst>
              <a:gd name="adj" fmla="val 10870"/>
            </a:avLst>
          </a:prstGeom>
          <a:solidFill>
            <a:srgbClr val="FFFFFF">
              <a:alpha val="0"/>
            </a:srgbClr>
          </a:solidFill>
          <a:ln w="31750">
            <a:solidFill>
              <a:srgbClr val="E53935"/>
            </a:solidFill>
            <a:prstDash val="solid"/>
          </a:ln>
        </p:spPr>
      </p:sp>
      <p:sp>
        <p:nvSpPr>
          <p:cNvPr id="23" name="Shape 19"/>
          <p:cNvSpPr/>
          <p:nvPr/>
        </p:nvSpPr>
        <p:spPr>
          <a:xfrm>
            <a:off x="4243548" y="2468880"/>
            <a:ext cx="274320" cy="274320"/>
          </a:xfrm>
          <a:prstGeom prst="ellipse">
            <a:avLst/>
          </a:prstGeom>
          <a:solidFill>
            <a:srgbClr val="E53935"/>
          </a:solidFill>
          <a:ln w="12700">
            <a:solidFill>
              <a:srgbClr val="FFFFFF"/>
            </a:solidFill>
            <a:prstDash val="solid"/>
          </a:ln>
        </p:spPr>
      </p:sp>
      <p:sp>
        <p:nvSpPr>
          <p:cNvPr id="24" name="Text 20"/>
          <p:cNvSpPr txBox="1"/>
          <p:nvPr/>
        </p:nvSpPr>
        <p:spPr>
          <a:xfrm>
            <a:off x="4243548" y="24688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5" name="Image 2" descr="preencoded.png">    </p:cNvPr>
          <p:cNvPicPr>
            <a:picLocks noChangeAspect="1"/>
          </p:cNvPicPr>
          <p:nvPr/>
        </p:nvPicPr>
        <p:blipFill>
          <a:blip r:embed="rId3"/>
          <a:stretch>
            <a:fillRect/>
          </a:stretch>
        </p:blipFill>
        <p:spPr>
          <a:xfrm>
            <a:off x="2748174" y="2834640"/>
            <a:ext cx="237744" cy="237744"/>
          </a:xfrm>
          <a:prstGeom prst="rect">
            <a:avLst/>
          </a:prstGeom>
        </p:spPr>
      </p:pic>
      <p:sp>
        <p:nvSpPr>
          <p:cNvPr id="26" name="Shape 21"/>
          <p:cNvSpPr/>
          <p:nvPr/>
        </p:nvSpPr>
        <p:spPr>
          <a:xfrm>
            <a:off x="758952" y="1581912"/>
            <a:ext cx="1517904" cy="237744"/>
          </a:xfrm>
          <a:prstGeom prst="roundRect">
            <a:avLst>
              <a:gd name="adj" fmla="val 19231"/>
            </a:avLst>
          </a:prstGeom>
          <a:solidFill>
            <a:srgbClr val="FFFFFF">
              <a:alpha val="0"/>
            </a:srgbClr>
          </a:solidFill>
          <a:ln w="31750">
            <a:solidFill>
              <a:srgbClr val="E53935"/>
            </a:solidFill>
            <a:prstDash val="solid"/>
          </a:ln>
        </p:spPr>
      </p:sp>
      <p:sp>
        <p:nvSpPr>
          <p:cNvPr id="27" name="Shape 22"/>
          <p:cNvSpPr/>
          <p:nvPr/>
        </p:nvSpPr>
        <p:spPr>
          <a:xfrm>
            <a:off x="2139696" y="1444752"/>
            <a:ext cx="274320" cy="274320"/>
          </a:xfrm>
          <a:prstGeom prst="ellipse">
            <a:avLst/>
          </a:prstGeom>
          <a:solidFill>
            <a:srgbClr val="E53935"/>
          </a:solidFill>
          <a:ln w="12700">
            <a:solidFill>
              <a:srgbClr val="FFFFFF"/>
            </a:solidFill>
            <a:prstDash val="solid"/>
          </a:ln>
        </p:spPr>
      </p:sp>
      <p:sp>
        <p:nvSpPr>
          <p:cNvPr id="28" name="Text 23"/>
          <p:cNvSpPr txBox="1"/>
          <p:nvPr/>
        </p:nvSpPr>
        <p:spPr>
          <a:xfrm>
            <a:off x="2139696" y="14447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9" name="Image 3" descr="preencoded.png">    </p:cNvPr>
          <p:cNvPicPr>
            <a:picLocks noChangeAspect="1"/>
          </p:cNvPicPr>
          <p:nvPr/>
        </p:nvPicPr>
        <p:blipFill>
          <a:blip r:embed="rId4"/>
          <a:stretch>
            <a:fillRect/>
          </a:stretch>
        </p:blipFill>
        <p:spPr>
          <a:xfrm>
            <a:off x="1591056" y="1709928"/>
            <a:ext cx="237744" cy="237744"/>
          </a:xfrm>
          <a:prstGeom prst="rect">
            <a:avLst/>
          </a:prstGeom>
        </p:spPr>
      </p:pic>
      <p:sp>
        <p:nvSpPr>
          <p:cNvPr id="30" name="Text 2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31" name="Text 2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Tanya: siapa penulisnya?</a:t>
            </a:r>
            <a:endParaRPr lang="en-US" sz="1800" dirty="0"/>
          </a:p>
        </p:txBody>
      </p:sp>
      <p:sp>
        <p:nvSpPr>
          <p:cNvPr id="32" name="Text 2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Cari nama penulis atau lembaga resmi. Di sini hanya tertulis "teman saya orang dalam". Tidak jelas!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Memeriksa Pesan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ECE5DD"/>
          </a:solidFill>
          <a:ln w="12700">
            <a:solidFill>
              <a:srgbClr val="ECE5DD"/>
            </a:solidFill>
            <a:prstDash val="solid"/>
          </a:ln>
        </p:spPr>
      </p:sp>
      <p:sp>
        <p:nvSpPr>
          <p:cNvPr id="14" name="Shape 10"/>
          <p:cNvSpPr/>
          <p:nvPr/>
        </p:nvSpPr>
        <p:spPr>
          <a:xfrm>
            <a:off x="484632" y="1124712"/>
            <a:ext cx="5157216" cy="292608"/>
          </a:xfrm>
          <a:prstGeom prst="rect">
            <a:avLst/>
          </a:prstGeom>
          <a:solidFill>
            <a:srgbClr val="075E54"/>
          </a:solidFill>
          <a:ln w="12700">
            <a:solidFill>
              <a:srgbClr val="075E54"/>
            </a:solidFill>
            <a:prstDash val="solid"/>
          </a:ln>
        </p:spPr>
      </p:sp>
      <p:sp>
        <p:nvSpPr>
          <p:cNvPr id="15" name="Text 11"/>
          <p:cNvSpPr txBox="1"/>
          <p:nvPr/>
        </p:nvSpPr>
        <p:spPr>
          <a:xfrm>
            <a:off x="667512" y="1124712"/>
            <a:ext cx="1828800"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Grup Keluarga</a:t>
            </a:r>
            <a:endParaRPr lang="en-US" sz="900" dirty="0"/>
          </a:p>
        </p:txBody>
      </p:sp>
      <p:sp>
        <p:nvSpPr>
          <p:cNvPr id="16" name="Shape 12"/>
          <p:cNvSpPr/>
          <p:nvPr/>
        </p:nvSpPr>
        <p:spPr>
          <a:xfrm>
            <a:off x="713232" y="1581912"/>
            <a:ext cx="3713196" cy="2011680"/>
          </a:xfrm>
          <a:prstGeom prst="roundRect">
            <a:avLst>
              <a:gd name="adj" fmla="val 2727"/>
            </a:avLst>
          </a:prstGeom>
          <a:solidFill>
            <a:srgbClr val="FFFFFF"/>
          </a:solidFill>
          <a:ln w="12700">
            <a:solidFill>
              <a:srgbClr val="FFFFFF"/>
            </a:solidFill>
            <a:prstDash val="solid"/>
          </a:ln>
        </p:spPr>
      </p:sp>
      <p:sp>
        <p:nvSpPr>
          <p:cNvPr id="17" name="Text 13"/>
          <p:cNvSpPr txBox="1"/>
          <p:nvPr/>
        </p:nvSpPr>
        <p:spPr>
          <a:xfrm>
            <a:off x="804672" y="1627632"/>
            <a:ext cx="1828800" cy="164592"/>
          </a:xfrm>
          <a:prstGeom prst="rect">
            <a:avLst/>
          </a:prstGeom>
          <a:noFill/>
          <a:ln/>
        </p:spPr>
        <p:txBody>
          <a:bodyPr wrap="square" lIns="0" tIns="0" rIns="0" bIns="0" rtlCol="0" anchor="t"/>
          <a:lstStyle/>
          <a:p>
            <a:pPr indent="0" marL="0">
              <a:buNone/>
            </a:pPr>
            <a:r>
              <a:rPr lang="en-US" sz="650" i="1" dirty="0">
                <a:solidFill>
                  <a:srgbClr val="888888"/>
                </a:solidFill>
                <a:latin typeface="Calibri" pitchFamily="34" charset="0"/>
                <a:ea typeface="Calibri" pitchFamily="34" charset="-122"/>
                <a:cs typeface="Calibri" pitchFamily="34" charset="-120"/>
              </a:rPr>
              <a:t>Diteruskan berkali-kali</a:t>
            </a:r>
            <a:endParaRPr lang="en-US" sz="650" dirty="0"/>
          </a:p>
        </p:txBody>
      </p:sp>
      <p:sp>
        <p:nvSpPr>
          <p:cNvPr id="18" name="Text 14"/>
          <p:cNvSpPr txBox="1"/>
          <p:nvPr/>
        </p:nvSpPr>
        <p:spPr>
          <a:xfrm>
            <a:off x="804672" y="1810512"/>
            <a:ext cx="3530316" cy="22860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PENTING!!! SEBARKAN SEGERA!!!</a:t>
            </a:r>
            <a:endParaRPr lang="en-US" sz="900" dirty="0"/>
          </a:p>
        </p:txBody>
      </p:sp>
      <p:sp>
        <p:nvSpPr>
          <p:cNvPr id="19" name="Text 15"/>
          <p:cNvSpPr txBox="1"/>
          <p:nvPr/>
        </p:nvSpPr>
        <p:spPr>
          <a:xfrm>
            <a:off x="804672" y="2130552"/>
            <a:ext cx="3530316" cy="822960"/>
          </a:xfrm>
          <a:prstGeom prst="rect">
            <a:avLst/>
          </a:prstGeom>
          <a:noFill/>
          <a:ln/>
        </p:spPr>
        <p:txBody>
          <a:bodyPr wrap="square" lIns="0" tIns="0" rIns="0" bIns="0" rtlCol="0" anchor="t"/>
          <a:lstStyle/>
          <a:p>
            <a:pPr indent="0" marL="0">
              <a:buNone/>
            </a:pPr>
            <a:r>
              <a:rPr lang="en-US" sz="900" dirty="0">
                <a:solidFill>
                  <a:srgbClr val="1E2A26"/>
                </a:solidFill>
                <a:latin typeface="Calibri" pitchFamily="34" charset="0"/>
                <a:ea typeface="Calibri" pitchFamily="34" charset="-122"/>
                <a:cs typeface="Calibri" pitchFamily="34" charset="-120"/>
              </a:rPr>
              <a:t>Mulai besok semua HP yang tidak mengirim pesan ini ke 10 orang akan DIBLOKIR otomatis oleh pemerintah. Jangan sampai HP kalian mati! Info dari teman saya orang dalam.</a:t>
            </a:r>
            <a:endParaRPr lang="en-US" sz="900" dirty="0"/>
          </a:p>
        </p:txBody>
      </p:sp>
      <p:sp>
        <p:nvSpPr>
          <p:cNvPr id="20" name="Text 16"/>
          <p:cNvSpPr txBox="1"/>
          <p:nvPr/>
        </p:nvSpPr>
        <p:spPr>
          <a:xfrm>
            <a:off x="804672" y="3044952"/>
            <a:ext cx="3530316" cy="22860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Kirim ke 10 grup sekarang!!!</a:t>
            </a:r>
            <a:endParaRPr lang="en-US" sz="850" dirty="0"/>
          </a:p>
        </p:txBody>
      </p:sp>
      <p:sp>
        <p:nvSpPr>
          <p:cNvPr id="21" name="Text 17"/>
          <p:cNvSpPr txBox="1"/>
          <p:nvPr/>
        </p:nvSpPr>
        <p:spPr>
          <a:xfrm>
            <a:off x="3969228" y="3392424"/>
            <a:ext cx="365760" cy="164592"/>
          </a:xfrm>
          <a:prstGeom prst="rect">
            <a:avLst/>
          </a:prstGeom>
          <a:noFill/>
          <a:ln/>
        </p:spPr>
        <p:txBody>
          <a:bodyPr wrap="square" lIns="0" tIns="0" rIns="0" bIns="0" rtlCol="0" anchor="t"/>
          <a:lstStyle/>
          <a:p>
            <a:pPr algn="r" indent="0" marL="0">
              <a:buNone/>
            </a:pPr>
            <a:r>
              <a:rPr lang="en-US" sz="600" dirty="0">
                <a:solidFill>
                  <a:srgbClr val="888888"/>
                </a:solidFill>
                <a:latin typeface="Calibri" pitchFamily="34" charset="0"/>
                <a:ea typeface="Calibri" pitchFamily="34" charset="-122"/>
                <a:cs typeface="Calibri" pitchFamily="34" charset="-120"/>
              </a:rPr>
              <a:t>21.04</a:t>
            </a:r>
            <a:endParaRPr lang="en-US" sz="600" dirty="0"/>
          </a:p>
        </p:txBody>
      </p:sp>
      <p:sp>
        <p:nvSpPr>
          <p:cNvPr id="22" name="Shape 18"/>
          <p:cNvSpPr/>
          <p:nvPr/>
        </p:nvSpPr>
        <p:spPr>
          <a:xfrm>
            <a:off x="758952" y="1755648"/>
            <a:ext cx="3621756" cy="329184"/>
          </a:xfrm>
          <a:prstGeom prst="roundRect">
            <a:avLst>
              <a:gd name="adj" fmla="val 13889"/>
            </a:avLst>
          </a:prstGeom>
          <a:solidFill>
            <a:srgbClr val="FFFFFF">
              <a:alpha val="0"/>
            </a:srgbClr>
          </a:solidFill>
          <a:ln w="31750">
            <a:solidFill>
              <a:srgbClr val="E53935"/>
            </a:solidFill>
            <a:prstDash val="solid"/>
          </a:ln>
        </p:spPr>
      </p:sp>
      <p:sp>
        <p:nvSpPr>
          <p:cNvPr id="23" name="Shape 19"/>
          <p:cNvSpPr/>
          <p:nvPr/>
        </p:nvSpPr>
        <p:spPr>
          <a:xfrm>
            <a:off x="4243548" y="1618488"/>
            <a:ext cx="274320" cy="274320"/>
          </a:xfrm>
          <a:prstGeom prst="ellipse">
            <a:avLst/>
          </a:prstGeom>
          <a:solidFill>
            <a:srgbClr val="E53935"/>
          </a:solidFill>
          <a:ln w="12700">
            <a:solidFill>
              <a:srgbClr val="FFFFFF"/>
            </a:solidFill>
            <a:prstDash val="solid"/>
          </a:ln>
        </p:spPr>
      </p:sp>
      <p:sp>
        <p:nvSpPr>
          <p:cNvPr id="24" name="Text 20"/>
          <p:cNvSpPr txBox="1"/>
          <p:nvPr/>
        </p:nvSpPr>
        <p:spPr>
          <a:xfrm>
            <a:off x="4243548" y="16184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5" name="Image 2" descr="preencoded.png">    </p:cNvPr>
          <p:cNvPicPr>
            <a:picLocks noChangeAspect="1"/>
          </p:cNvPicPr>
          <p:nvPr/>
        </p:nvPicPr>
        <p:blipFill>
          <a:blip r:embed="rId3"/>
          <a:stretch>
            <a:fillRect/>
          </a:stretch>
        </p:blipFill>
        <p:spPr>
          <a:xfrm>
            <a:off x="2748174" y="1933956"/>
            <a:ext cx="237744" cy="237744"/>
          </a:xfrm>
          <a:prstGeom prst="rect">
            <a:avLst/>
          </a:prstGeom>
        </p:spPr>
      </p:pic>
      <p:sp>
        <p:nvSpPr>
          <p:cNvPr id="26" name="Shape 21"/>
          <p:cNvSpPr/>
          <p:nvPr/>
        </p:nvSpPr>
        <p:spPr>
          <a:xfrm>
            <a:off x="758952" y="2999232"/>
            <a:ext cx="3621756" cy="329184"/>
          </a:xfrm>
          <a:prstGeom prst="roundRect">
            <a:avLst>
              <a:gd name="adj" fmla="val 13889"/>
            </a:avLst>
          </a:prstGeom>
          <a:solidFill>
            <a:srgbClr val="FFFFFF">
              <a:alpha val="0"/>
            </a:srgbClr>
          </a:solidFill>
          <a:ln w="31750">
            <a:solidFill>
              <a:srgbClr val="E53935"/>
            </a:solidFill>
            <a:prstDash val="solid"/>
          </a:ln>
        </p:spPr>
      </p:sp>
      <p:sp>
        <p:nvSpPr>
          <p:cNvPr id="27" name="Shape 22"/>
          <p:cNvSpPr/>
          <p:nvPr/>
        </p:nvSpPr>
        <p:spPr>
          <a:xfrm>
            <a:off x="4243548" y="2862072"/>
            <a:ext cx="274320" cy="274320"/>
          </a:xfrm>
          <a:prstGeom prst="ellipse">
            <a:avLst/>
          </a:prstGeom>
          <a:solidFill>
            <a:srgbClr val="E53935"/>
          </a:solidFill>
          <a:ln w="12700">
            <a:solidFill>
              <a:srgbClr val="FFFFFF"/>
            </a:solidFill>
            <a:prstDash val="solid"/>
          </a:ln>
        </p:spPr>
      </p:sp>
      <p:sp>
        <p:nvSpPr>
          <p:cNvPr id="28" name="Text 23"/>
          <p:cNvSpPr txBox="1"/>
          <p:nvPr/>
        </p:nvSpPr>
        <p:spPr>
          <a:xfrm>
            <a:off x="4243548" y="28620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9" name="Image 3" descr="preencoded.png">    </p:cNvPr>
          <p:cNvPicPr>
            <a:picLocks noChangeAspect="1"/>
          </p:cNvPicPr>
          <p:nvPr/>
        </p:nvPicPr>
        <p:blipFill>
          <a:blip r:embed="rId4"/>
          <a:stretch>
            <a:fillRect/>
          </a:stretch>
        </p:blipFill>
        <p:spPr>
          <a:xfrm>
            <a:off x="2748174" y="3177540"/>
            <a:ext cx="237744" cy="237744"/>
          </a:xfrm>
          <a:prstGeom prst="rect">
            <a:avLst/>
          </a:prstGeom>
        </p:spPr>
      </p:pic>
      <p:sp>
        <p:nvSpPr>
          <p:cNvPr id="30" name="Text 2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31" name="Text 2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ciri-ciri hoaks</a:t>
            </a:r>
            <a:endParaRPr lang="en-US" sz="1800" dirty="0"/>
          </a:p>
        </p:txBody>
      </p:sp>
      <p:sp>
        <p:nvSpPr>
          <p:cNvPr id="32" name="Text 2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Huruf kapital, banyak tanda seru, mengancam, dan meminta segera disebar. Semua ciri hoaks ada di sini.</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Cek Fakta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hp diblokir pesan berantai hoaks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google.com/search?q=hp+diblokir+pesan+berantai+hoaks</a:t>
            </a:r>
            <a:endParaRPr lang="en-US" sz="800" dirty="0"/>
          </a:p>
        </p:txBody>
      </p:sp>
      <p:sp>
        <p:nvSpPr>
          <p:cNvPr id="28" name="Text 21"/>
          <p:cNvSpPr txBox="1"/>
          <p:nvPr/>
        </p:nvSpPr>
        <p:spPr>
          <a:xfrm>
            <a:off x="724936" y="1732541"/>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456456" y="1732541"/>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593616" y="1732541"/>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hp diblokir pesan berantai hoaks</a:t>
            </a:r>
            <a:endParaRPr lang="en-US" sz="800" dirty="0"/>
          </a:p>
        </p:txBody>
      </p:sp>
      <p:sp>
        <p:nvSpPr>
          <p:cNvPr id="31" name="Text 24"/>
          <p:cNvSpPr txBox="1"/>
          <p:nvPr/>
        </p:nvSpPr>
        <p:spPr>
          <a:xfrm>
            <a:off x="1456456" y="2006861"/>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All</a:t>
            </a:r>
            <a:endParaRPr lang="en-US" sz="700" dirty="0"/>
          </a:p>
        </p:txBody>
      </p:sp>
      <p:sp>
        <p:nvSpPr>
          <p:cNvPr id="32" name="Shape 25"/>
          <p:cNvSpPr/>
          <p:nvPr/>
        </p:nvSpPr>
        <p:spPr>
          <a:xfrm>
            <a:off x="1502176" y="2171453"/>
            <a:ext cx="365760" cy="22860"/>
          </a:xfrm>
          <a:prstGeom prst="rect">
            <a:avLst/>
          </a:prstGeom>
          <a:solidFill>
            <a:srgbClr val="1A73E8"/>
          </a:solidFill>
          <a:ln w="12700">
            <a:solidFill>
              <a:srgbClr val="1A73E8"/>
            </a:solidFill>
            <a:prstDash val="solid"/>
          </a:ln>
        </p:spPr>
      </p:sp>
      <p:sp>
        <p:nvSpPr>
          <p:cNvPr id="33" name="Text 26"/>
          <p:cNvSpPr txBox="1"/>
          <p:nvPr/>
        </p:nvSpPr>
        <p:spPr>
          <a:xfrm>
            <a:off x="195937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Images</a:t>
            </a:r>
            <a:endParaRPr lang="en-US" sz="700" dirty="0"/>
          </a:p>
        </p:txBody>
      </p:sp>
      <p:sp>
        <p:nvSpPr>
          <p:cNvPr id="34" name="Text 27"/>
          <p:cNvSpPr txBox="1"/>
          <p:nvPr/>
        </p:nvSpPr>
        <p:spPr>
          <a:xfrm>
            <a:off x="246229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296521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456456" y="2208029"/>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85.000 hasil (0,33 detik)</a:t>
            </a:r>
            <a:endParaRPr lang="en-US" sz="600" dirty="0"/>
          </a:p>
        </p:txBody>
      </p:sp>
      <p:sp>
        <p:nvSpPr>
          <p:cNvPr id="37" name="Text 30"/>
          <p:cNvSpPr txBox="1"/>
          <p:nvPr/>
        </p:nvSpPr>
        <p:spPr>
          <a:xfrm>
            <a:off x="1456456" y="2418341"/>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https://turnbackhoax.id</a:t>
            </a:r>
            <a:endParaRPr lang="en-US" sz="600" dirty="0"/>
          </a:p>
        </p:txBody>
      </p:sp>
      <p:sp>
        <p:nvSpPr>
          <p:cNvPr id="38" name="Text 31"/>
          <p:cNvSpPr txBox="1"/>
          <p:nvPr/>
        </p:nvSpPr>
        <p:spPr>
          <a:xfrm>
            <a:off x="1456456" y="2537213"/>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[SALAH] HP Diblokir Jika Tidak Meneruskan Pesan</a:t>
            </a:r>
            <a:endParaRPr lang="en-US" sz="900" dirty="0"/>
          </a:p>
        </p:txBody>
      </p:sp>
      <p:sp>
        <p:nvSpPr>
          <p:cNvPr id="39" name="Shape 32"/>
          <p:cNvSpPr/>
          <p:nvPr/>
        </p:nvSpPr>
        <p:spPr>
          <a:xfrm>
            <a:off x="1456456" y="2747525"/>
            <a:ext cx="2926080" cy="36576"/>
          </a:xfrm>
          <a:prstGeom prst="rect">
            <a:avLst/>
          </a:prstGeom>
          <a:solidFill>
            <a:srgbClr val="DDDDDD"/>
          </a:solidFill>
          <a:ln w="12700">
            <a:solidFill>
              <a:srgbClr val="DDDDDD"/>
            </a:solidFill>
            <a:prstDash val="solid"/>
          </a:ln>
        </p:spPr>
      </p:sp>
      <p:sp>
        <p:nvSpPr>
          <p:cNvPr id="40" name="Shape 33"/>
          <p:cNvSpPr/>
          <p:nvPr/>
        </p:nvSpPr>
        <p:spPr>
          <a:xfrm>
            <a:off x="1456456" y="2811533"/>
            <a:ext cx="2194560" cy="36576"/>
          </a:xfrm>
          <a:prstGeom prst="rect">
            <a:avLst/>
          </a:prstGeom>
          <a:solidFill>
            <a:srgbClr val="DDDDDD"/>
          </a:solidFill>
          <a:ln w="12700">
            <a:solidFill>
              <a:srgbClr val="DDDDDD"/>
            </a:solidFill>
            <a:prstDash val="solid"/>
          </a:ln>
        </p:spPr>
      </p:sp>
      <p:sp>
        <p:nvSpPr>
          <p:cNvPr id="41" name="Text 34"/>
          <p:cNvSpPr txBox="1"/>
          <p:nvPr/>
        </p:nvSpPr>
        <p:spPr>
          <a:xfrm>
            <a:off x="1456456" y="2893829"/>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https://contoh-kominfo.go.id</a:t>
            </a:r>
            <a:endParaRPr lang="en-US" sz="600" dirty="0"/>
          </a:p>
        </p:txBody>
      </p:sp>
      <p:sp>
        <p:nvSpPr>
          <p:cNvPr id="42" name="Text 35"/>
          <p:cNvSpPr txBox="1"/>
          <p:nvPr/>
        </p:nvSpPr>
        <p:spPr>
          <a:xfrm>
            <a:off x="1456456" y="3012701"/>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Klarifikasi: Tidak Ada Pemblokiran HP Massal</a:t>
            </a:r>
            <a:endParaRPr lang="en-US" sz="900" dirty="0"/>
          </a:p>
        </p:txBody>
      </p:sp>
      <p:sp>
        <p:nvSpPr>
          <p:cNvPr id="43" name="Shape 36"/>
          <p:cNvSpPr/>
          <p:nvPr/>
        </p:nvSpPr>
        <p:spPr>
          <a:xfrm>
            <a:off x="1456456" y="3223013"/>
            <a:ext cx="2926080" cy="36576"/>
          </a:xfrm>
          <a:prstGeom prst="rect">
            <a:avLst/>
          </a:prstGeom>
          <a:solidFill>
            <a:srgbClr val="DDDDDD"/>
          </a:solidFill>
          <a:ln w="12700">
            <a:solidFill>
              <a:srgbClr val="DDDDDD"/>
            </a:solidFill>
            <a:prstDash val="solid"/>
          </a:ln>
        </p:spPr>
      </p:sp>
      <p:sp>
        <p:nvSpPr>
          <p:cNvPr id="44" name="Shape 37"/>
          <p:cNvSpPr/>
          <p:nvPr/>
        </p:nvSpPr>
        <p:spPr>
          <a:xfrm>
            <a:off x="1456456" y="3287021"/>
            <a:ext cx="2194560" cy="36576"/>
          </a:xfrm>
          <a:prstGeom prst="rect">
            <a:avLst/>
          </a:prstGeom>
          <a:solidFill>
            <a:srgbClr val="DDDDDD"/>
          </a:solidFill>
          <a:ln w="12700">
            <a:solidFill>
              <a:srgbClr val="DDDDDD"/>
            </a:solidFill>
            <a:prstDash val="solid"/>
          </a:ln>
        </p:spPr>
      </p:sp>
      <p:sp>
        <p:nvSpPr>
          <p:cNvPr id="45" name="Text 38"/>
          <p:cNvSpPr txBox="1"/>
          <p:nvPr/>
        </p:nvSpPr>
        <p:spPr>
          <a:xfrm>
            <a:off x="1456456" y="3369317"/>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https://cekfakta.com</a:t>
            </a:r>
            <a:endParaRPr lang="en-US" sz="600" dirty="0"/>
          </a:p>
        </p:txBody>
      </p:sp>
      <p:sp>
        <p:nvSpPr>
          <p:cNvPr id="46" name="Text 39"/>
          <p:cNvSpPr txBox="1"/>
          <p:nvPr/>
        </p:nvSpPr>
        <p:spPr>
          <a:xfrm>
            <a:off x="1456456" y="3488189"/>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Cek Fakta: Pesan Berantai Pemblokiran HP</a:t>
            </a:r>
            <a:endParaRPr lang="en-US" sz="900" dirty="0"/>
          </a:p>
        </p:txBody>
      </p:sp>
      <p:sp>
        <p:nvSpPr>
          <p:cNvPr id="47" name="Shape 40"/>
          <p:cNvSpPr/>
          <p:nvPr/>
        </p:nvSpPr>
        <p:spPr>
          <a:xfrm>
            <a:off x="1456456" y="3698501"/>
            <a:ext cx="2926080" cy="36576"/>
          </a:xfrm>
          <a:prstGeom prst="rect">
            <a:avLst/>
          </a:prstGeom>
          <a:solidFill>
            <a:srgbClr val="DDDDDD"/>
          </a:solidFill>
          <a:ln w="12700">
            <a:solidFill>
              <a:srgbClr val="DDDDDD"/>
            </a:solidFill>
            <a:prstDash val="solid"/>
          </a:ln>
        </p:spPr>
      </p:sp>
      <p:sp>
        <p:nvSpPr>
          <p:cNvPr id="48" name="Shape 41"/>
          <p:cNvSpPr/>
          <p:nvPr/>
        </p:nvSpPr>
        <p:spPr>
          <a:xfrm>
            <a:off x="1456456" y="3762509"/>
            <a:ext cx="2194560" cy="36576"/>
          </a:xfrm>
          <a:prstGeom prst="rect">
            <a:avLst/>
          </a:prstGeom>
          <a:solidFill>
            <a:srgbClr val="DDDDDD"/>
          </a:solidFill>
          <a:ln w="12700">
            <a:solidFill>
              <a:srgbClr val="DDDDDD"/>
            </a:solidFill>
            <a:prstDash val="solid"/>
          </a:ln>
        </p:spPr>
      </p:sp>
      <p:sp>
        <p:nvSpPr>
          <p:cNvPr id="49" name="Shape 42"/>
          <p:cNvSpPr/>
          <p:nvPr/>
        </p:nvSpPr>
        <p:spPr>
          <a:xfrm>
            <a:off x="5428976" y="1823981"/>
            <a:ext cx="54864" cy="2079963"/>
          </a:xfrm>
          <a:prstGeom prst="rect">
            <a:avLst/>
          </a:prstGeom>
          <a:solidFill>
            <a:srgbClr val="EEEEEE"/>
          </a:solidFill>
          <a:ln w="12700">
            <a:solidFill>
              <a:srgbClr val="EEEEEE"/>
            </a:solidFill>
            <a:prstDash val="solid"/>
          </a:ln>
        </p:spPr>
      </p:sp>
      <p:sp>
        <p:nvSpPr>
          <p:cNvPr id="50" name="Shape 43"/>
          <p:cNvSpPr/>
          <p:nvPr/>
        </p:nvSpPr>
        <p:spPr>
          <a:xfrm>
            <a:off x="5428976" y="1915421"/>
            <a:ext cx="54864" cy="457200"/>
          </a:xfrm>
          <a:prstGeom prst="roundRect">
            <a:avLst>
              <a:gd name="adj" fmla="val 50000"/>
            </a:avLst>
          </a:prstGeom>
          <a:solidFill>
            <a:srgbClr val="AAAAAA"/>
          </a:solidFill>
          <a:ln w="12700">
            <a:solidFill>
              <a:srgbClr val="AAAAAA"/>
            </a:solidFill>
            <a:prstDash val="solid"/>
          </a:ln>
        </p:spPr>
      </p:sp>
      <p:sp>
        <p:nvSpPr>
          <p:cNvPr id="51" name="Shape 44"/>
          <p:cNvSpPr/>
          <p:nvPr/>
        </p:nvSpPr>
        <p:spPr>
          <a:xfrm>
            <a:off x="1429024" y="1705109"/>
            <a:ext cx="2432304" cy="283464"/>
          </a:xfrm>
          <a:prstGeom prst="roundRect">
            <a:avLst>
              <a:gd name="adj" fmla="val 16129"/>
            </a:avLst>
          </a:prstGeom>
          <a:solidFill>
            <a:srgbClr val="FFFFFF">
              <a:alpha val="0"/>
            </a:srgbClr>
          </a:solidFill>
          <a:ln w="31750">
            <a:solidFill>
              <a:srgbClr val="E53935"/>
            </a:solidFill>
            <a:prstDash val="solid"/>
          </a:ln>
        </p:spPr>
      </p:sp>
      <p:sp>
        <p:nvSpPr>
          <p:cNvPr id="52" name="Shape 45"/>
          <p:cNvSpPr/>
          <p:nvPr/>
        </p:nvSpPr>
        <p:spPr>
          <a:xfrm>
            <a:off x="3724168" y="1567949"/>
            <a:ext cx="274320" cy="274320"/>
          </a:xfrm>
          <a:prstGeom prst="ellipse">
            <a:avLst/>
          </a:prstGeom>
          <a:solidFill>
            <a:srgbClr val="E53935"/>
          </a:solidFill>
          <a:ln w="12700">
            <a:solidFill>
              <a:srgbClr val="FFFFFF"/>
            </a:solidFill>
            <a:prstDash val="solid"/>
          </a:ln>
        </p:spPr>
      </p:sp>
      <p:sp>
        <p:nvSpPr>
          <p:cNvPr id="53" name="Text 46"/>
          <p:cNvSpPr txBox="1"/>
          <p:nvPr/>
        </p:nvSpPr>
        <p:spPr>
          <a:xfrm>
            <a:off x="3724168" y="15679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4" name="Image 5" descr="preencoded.png">    </p:cNvPr>
          <p:cNvPicPr>
            <a:picLocks noChangeAspect="1"/>
          </p:cNvPicPr>
          <p:nvPr/>
        </p:nvPicPr>
        <p:blipFill>
          <a:blip r:embed="rId6"/>
          <a:stretch>
            <a:fillRect/>
          </a:stretch>
        </p:blipFill>
        <p:spPr>
          <a:xfrm>
            <a:off x="2764048" y="1858271"/>
            <a:ext cx="237744" cy="237744"/>
          </a:xfrm>
          <a:prstGeom prst="rect">
            <a:avLst/>
          </a:prstGeom>
        </p:spPr>
      </p:pic>
      <p:sp>
        <p:nvSpPr>
          <p:cNvPr id="55" name="Shape 47"/>
          <p:cNvSpPr/>
          <p:nvPr/>
        </p:nvSpPr>
        <p:spPr>
          <a:xfrm>
            <a:off x="1429024" y="2390909"/>
            <a:ext cx="3346704" cy="1307592"/>
          </a:xfrm>
          <a:prstGeom prst="roundRect">
            <a:avLst>
              <a:gd name="adj" fmla="val 3497"/>
            </a:avLst>
          </a:prstGeom>
          <a:solidFill>
            <a:srgbClr val="FFFFFF">
              <a:alpha val="0"/>
            </a:srgbClr>
          </a:solidFill>
          <a:ln w="31750">
            <a:solidFill>
              <a:srgbClr val="E53935"/>
            </a:solidFill>
            <a:prstDash val="solid"/>
          </a:ln>
        </p:spPr>
      </p:sp>
      <p:sp>
        <p:nvSpPr>
          <p:cNvPr id="56" name="Shape 48"/>
          <p:cNvSpPr/>
          <p:nvPr/>
        </p:nvSpPr>
        <p:spPr>
          <a:xfrm>
            <a:off x="4638568" y="2253749"/>
            <a:ext cx="274320" cy="274320"/>
          </a:xfrm>
          <a:prstGeom prst="ellipse">
            <a:avLst/>
          </a:prstGeom>
          <a:solidFill>
            <a:srgbClr val="E53935"/>
          </a:solidFill>
          <a:ln w="12700">
            <a:solidFill>
              <a:srgbClr val="FFFFFF"/>
            </a:solidFill>
            <a:prstDash val="solid"/>
          </a:ln>
        </p:spPr>
      </p:sp>
      <p:sp>
        <p:nvSpPr>
          <p:cNvPr id="57" name="Text 49"/>
          <p:cNvSpPr txBox="1"/>
          <p:nvPr/>
        </p:nvSpPr>
        <p:spPr>
          <a:xfrm>
            <a:off x="4638568" y="22537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8" name="Image 6" descr="preencoded.png">    </p:cNvPr>
          <p:cNvPicPr>
            <a:picLocks noChangeAspect="1"/>
          </p:cNvPicPr>
          <p:nvPr/>
        </p:nvPicPr>
        <p:blipFill>
          <a:blip r:embed="rId7"/>
          <a:stretch>
            <a:fillRect/>
          </a:stretch>
        </p:blipFill>
        <p:spPr>
          <a:xfrm>
            <a:off x="3266968" y="3107342"/>
            <a:ext cx="237744" cy="237744"/>
          </a:xfrm>
          <a:prstGeom prst="rect">
            <a:avLst/>
          </a:prstGeom>
        </p:spPr>
      </p:pic>
      <p:sp>
        <p:nvSpPr>
          <p:cNvPr id="59"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0"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di Google: kata kunci + hoaks</a:t>
            </a:r>
            <a:endParaRPr lang="en-US" sz="1800" dirty="0"/>
          </a:p>
        </p:txBody>
      </p:sp>
      <p:sp>
        <p:nvSpPr>
          <p:cNvPr id="61"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inti beritanya ditambah kata hoaks, misalnya: hp diblokir pesan berantai hoaks.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Cek Fakta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Cek Fakta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turnbackhoax.id/?s=hp+diblokir</a:t>
            </a:r>
            <a:endParaRPr lang="en-US" sz="800" dirty="0"/>
          </a:p>
        </p:txBody>
      </p:sp>
      <p:sp>
        <p:nvSpPr>
          <p:cNvPr id="28" name="Shape 21"/>
          <p:cNvSpPr/>
          <p:nvPr/>
        </p:nvSpPr>
        <p:spPr>
          <a:xfrm>
            <a:off x="587776" y="1714253"/>
            <a:ext cx="4950927" cy="320040"/>
          </a:xfrm>
          <a:prstGeom prst="rect">
            <a:avLst/>
          </a:prstGeom>
          <a:solidFill>
            <a:srgbClr val="1E3A5F"/>
          </a:solidFill>
          <a:ln w="12700">
            <a:solidFill>
              <a:srgbClr val="1E3A5F"/>
            </a:solidFill>
            <a:prstDash val="solid"/>
          </a:ln>
        </p:spPr>
      </p:sp>
      <p:sp>
        <p:nvSpPr>
          <p:cNvPr id="29" name="Text 22"/>
          <p:cNvSpPr txBox="1"/>
          <p:nvPr/>
        </p:nvSpPr>
        <p:spPr>
          <a:xfrm>
            <a:off x="724936" y="1714253"/>
            <a:ext cx="2743200" cy="32004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TurnBackHoax · Cek Fakta</a:t>
            </a:r>
            <a:endParaRPr lang="en-US" sz="1000" dirty="0"/>
          </a:p>
        </p:txBody>
      </p:sp>
      <p:sp>
        <p:nvSpPr>
          <p:cNvPr id="30" name="Shape 23"/>
          <p:cNvSpPr/>
          <p:nvPr/>
        </p:nvSpPr>
        <p:spPr>
          <a:xfrm>
            <a:off x="3801344" y="1769117"/>
            <a:ext cx="1600200" cy="210312"/>
          </a:xfrm>
          <a:prstGeom prst="roundRect">
            <a:avLst>
              <a:gd name="adj" fmla="val 17391"/>
            </a:avLst>
          </a:prstGeom>
          <a:solidFill>
            <a:srgbClr val="FFFFFF"/>
          </a:solidFill>
          <a:ln w="12700">
            <a:solidFill>
              <a:srgbClr val="FFFFFF"/>
            </a:solidFill>
            <a:prstDash val="solid"/>
          </a:ln>
        </p:spPr>
      </p:sp>
      <p:sp>
        <p:nvSpPr>
          <p:cNvPr id="31" name="Text 24"/>
          <p:cNvSpPr txBox="1"/>
          <p:nvPr/>
        </p:nvSpPr>
        <p:spPr>
          <a:xfrm>
            <a:off x="3874496" y="1769117"/>
            <a:ext cx="1600200" cy="210312"/>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hp diblokir</a:t>
            </a:r>
            <a:endParaRPr lang="en-US" sz="750" dirty="0"/>
          </a:p>
        </p:txBody>
      </p:sp>
      <p:sp>
        <p:nvSpPr>
          <p:cNvPr id="32" name="Shape 25"/>
          <p:cNvSpPr/>
          <p:nvPr/>
        </p:nvSpPr>
        <p:spPr>
          <a:xfrm>
            <a:off x="862096" y="2171453"/>
            <a:ext cx="4402287" cy="1188720"/>
          </a:xfrm>
          <a:prstGeom prst="rect">
            <a:avLst/>
          </a:prstGeom>
          <a:solidFill>
            <a:srgbClr val="FFFFFF"/>
          </a:solidFill>
          <a:ln w="9525">
            <a:solidFill>
              <a:srgbClr val="DDDDDD"/>
            </a:solidFill>
            <a:prstDash val="solid"/>
          </a:ln>
        </p:spPr>
      </p:sp>
      <p:sp>
        <p:nvSpPr>
          <p:cNvPr id="33" name="Shape 26"/>
          <p:cNvSpPr/>
          <p:nvPr/>
        </p:nvSpPr>
        <p:spPr>
          <a:xfrm>
            <a:off x="999256" y="2308613"/>
            <a:ext cx="822960" cy="256032"/>
          </a:xfrm>
          <a:prstGeom prst="roundRect">
            <a:avLst>
              <a:gd name="adj" fmla="val 14286"/>
            </a:avLst>
          </a:prstGeom>
          <a:solidFill>
            <a:srgbClr val="C62828"/>
          </a:solidFill>
          <a:ln w="12700">
            <a:solidFill>
              <a:srgbClr val="C62828"/>
            </a:solidFill>
            <a:prstDash val="solid"/>
          </a:ln>
        </p:spPr>
      </p:sp>
      <p:sp>
        <p:nvSpPr>
          <p:cNvPr id="34" name="Text 27"/>
          <p:cNvSpPr txBox="1"/>
          <p:nvPr/>
        </p:nvSpPr>
        <p:spPr>
          <a:xfrm>
            <a:off x="999256" y="2308613"/>
            <a:ext cx="8229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[SALAH]</a:t>
            </a:r>
            <a:endParaRPr lang="en-US" sz="900" dirty="0"/>
          </a:p>
        </p:txBody>
      </p:sp>
      <p:sp>
        <p:nvSpPr>
          <p:cNvPr id="35" name="Text 28"/>
          <p:cNvSpPr txBox="1"/>
          <p:nvPr/>
        </p:nvSpPr>
        <p:spPr>
          <a:xfrm>
            <a:off x="1913656" y="2281181"/>
            <a:ext cx="3213567" cy="320040"/>
          </a:xfrm>
          <a:prstGeom prst="rect">
            <a:avLst/>
          </a:prstGeom>
          <a:noFill/>
          <a:ln/>
        </p:spPr>
        <p:txBody>
          <a:bodyPr wrap="square" lIns="0" tIns="0" rIns="0" bIns="0" rtlCol="0" anchor="t"/>
          <a:lstStyle/>
          <a:p>
            <a:pPr indent="0" marL="0">
              <a:buNone/>
            </a:pPr>
            <a:r>
              <a:rPr lang="en-US" sz="900" b="1" dirty="0">
                <a:solidFill>
                  <a:srgbClr val="1E2A26"/>
                </a:solidFill>
                <a:latin typeface="Calibri" pitchFamily="34" charset="0"/>
                <a:ea typeface="Calibri" pitchFamily="34" charset="-122"/>
                <a:cs typeface="Calibri" pitchFamily="34" charset="-120"/>
              </a:rPr>
              <a:t>HP akan diblokir jika tidak meneruskan pesan berantai</a:t>
            </a:r>
            <a:endParaRPr lang="en-US" sz="900" dirty="0"/>
          </a:p>
        </p:txBody>
      </p:sp>
      <p:sp>
        <p:nvSpPr>
          <p:cNvPr id="36" name="Text 29"/>
          <p:cNvSpPr txBox="1"/>
          <p:nvPr/>
        </p:nvSpPr>
        <p:spPr>
          <a:xfrm>
            <a:off x="999256" y="2674373"/>
            <a:ext cx="4127967" cy="640080"/>
          </a:xfrm>
          <a:prstGeom prst="rect">
            <a:avLst/>
          </a:prstGeom>
          <a:noFill/>
          <a:ln/>
        </p:spPr>
        <p:txBody>
          <a:bodyPr wrap="square" lIns="0" tIns="0" rIns="0" bIns="0" rtlCol="0" anchor="t"/>
          <a:lstStyle/>
          <a:p>
            <a:pPr indent="0" marL="0">
              <a:buNone/>
            </a:pPr>
            <a:r>
              <a:rPr lang="en-US" sz="800" dirty="0">
                <a:solidFill>
                  <a:srgbClr val="1E2A26"/>
                </a:solidFill>
                <a:latin typeface="Calibri" pitchFamily="34" charset="0"/>
                <a:ea typeface="Calibri" pitchFamily="34" charset="-122"/>
                <a:cs typeface="Calibri" pitchFamily="34" charset="-120"/>
              </a:rPr>
              <a:t>Penjelasan: tidak ada aturan pemerintah seperti itu. Pesan serupa sudah beredar sejak bertahun-tahun lalu dan telah dibantah oleh lembaga resmi.</a:t>
            </a:r>
            <a:endParaRPr lang="en-US" sz="800" dirty="0"/>
          </a:p>
        </p:txBody>
      </p:sp>
      <p:sp>
        <p:nvSpPr>
          <p:cNvPr id="37" name="Shape 30"/>
          <p:cNvSpPr/>
          <p:nvPr/>
        </p:nvSpPr>
        <p:spPr>
          <a:xfrm>
            <a:off x="971824" y="2281181"/>
            <a:ext cx="877824" cy="310896"/>
          </a:xfrm>
          <a:prstGeom prst="roundRect">
            <a:avLst>
              <a:gd name="adj" fmla="val 14706"/>
            </a:avLst>
          </a:prstGeom>
          <a:solidFill>
            <a:srgbClr val="FFFFFF">
              <a:alpha val="0"/>
            </a:srgbClr>
          </a:solidFill>
          <a:ln w="31750">
            <a:solidFill>
              <a:srgbClr val="E53935"/>
            </a:solidFill>
            <a:prstDash val="solid"/>
          </a:ln>
        </p:spPr>
      </p:sp>
      <p:sp>
        <p:nvSpPr>
          <p:cNvPr id="38" name="Shape 31"/>
          <p:cNvSpPr/>
          <p:nvPr/>
        </p:nvSpPr>
        <p:spPr>
          <a:xfrm>
            <a:off x="1712488" y="2144021"/>
            <a:ext cx="274320" cy="274320"/>
          </a:xfrm>
          <a:prstGeom prst="ellipse">
            <a:avLst/>
          </a:prstGeom>
          <a:solidFill>
            <a:srgbClr val="E53935"/>
          </a:solidFill>
          <a:ln w="12700">
            <a:solidFill>
              <a:srgbClr val="FFFFFF"/>
            </a:solidFill>
            <a:prstDash val="solid"/>
          </a:ln>
        </p:spPr>
      </p:sp>
      <p:sp>
        <p:nvSpPr>
          <p:cNvPr id="39" name="Text 32"/>
          <p:cNvSpPr txBox="1"/>
          <p:nvPr/>
        </p:nvSpPr>
        <p:spPr>
          <a:xfrm>
            <a:off x="1712488" y="2144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0" name="Image 5" descr="preencoded.png">    </p:cNvPr>
          <p:cNvPicPr>
            <a:picLocks noChangeAspect="1"/>
          </p:cNvPicPr>
          <p:nvPr/>
        </p:nvPicPr>
        <p:blipFill>
          <a:blip r:embed="rId6"/>
          <a:stretch>
            <a:fillRect/>
          </a:stretch>
        </p:blipFill>
        <p:spPr>
          <a:xfrm>
            <a:off x="1451884" y="2449431"/>
            <a:ext cx="237744" cy="237744"/>
          </a:xfrm>
          <a:prstGeom prst="rect">
            <a:avLst/>
          </a:prstGeom>
        </p:spPr>
      </p:pic>
      <p:sp>
        <p:nvSpPr>
          <p:cNvPr id="41" name="Shape 33"/>
          <p:cNvSpPr/>
          <p:nvPr/>
        </p:nvSpPr>
        <p:spPr>
          <a:xfrm>
            <a:off x="926104" y="2601221"/>
            <a:ext cx="4274271" cy="694944"/>
          </a:xfrm>
          <a:prstGeom prst="roundRect">
            <a:avLst>
              <a:gd name="adj" fmla="val 6579"/>
            </a:avLst>
          </a:prstGeom>
          <a:solidFill>
            <a:srgbClr val="FFFFFF">
              <a:alpha val="0"/>
            </a:srgbClr>
          </a:solidFill>
          <a:ln w="31750">
            <a:solidFill>
              <a:srgbClr val="E53935"/>
            </a:solidFill>
            <a:prstDash val="solid"/>
          </a:ln>
        </p:spPr>
      </p:sp>
      <p:sp>
        <p:nvSpPr>
          <p:cNvPr id="42" name="Shape 34"/>
          <p:cNvSpPr/>
          <p:nvPr/>
        </p:nvSpPr>
        <p:spPr>
          <a:xfrm>
            <a:off x="5063216" y="2464061"/>
            <a:ext cx="274320" cy="274320"/>
          </a:xfrm>
          <a:prstGeom prst="ellipse">
            <a:avLst/>
          </a:prstGeom>
          <a:solidFill>
            <a:srgbClr val="E53935"/>
          </a:solidFill>
          <a:ln w="12700">
            <a:solidFill>
              <a:srgbClr val="FFFFFF"/>
            </a:solidFill>
            <a:prstDash val="solid"/>
          </a:ln>
        </p:spPr>
      </p:sp>
      <p:sp>
        <p:nvSpPr>
          <p:cNvPr id="43" name="Text 35"/>
          <p:cNvSpPr txBox="1"/>
          <p:nvPr/>
        </p:nvSpPr>
        <p:spPr>
          <a:xfrm>
            <a:off x="5063216" y="24640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4" name="Image 6" descr="preencoded.png">    </p:cNvPr>
          <p:cNvPicPr>
            <a:picLocks noChangeAspect="1"/>
          </p:cNvPicPr>
          <p:nvPr/>
        </p:nvPicPr>
        <p:blipFill>
          <a:blip r:embed="rId7"/>
          <a:stretch>
            <a:fillRect/>
          </a:stretch>
        </p:blipFill>
        <p:spPr>
          <a:xfrm>
            <a:off x="3274210" y="2980697"/>
            <a:ext cx="237744" cy="237744"/>
          </a:xfrm>
          <a:prstGeom prst="rect">
            <a:avLst/>
          </a:prstGeom>
        </p:spPr>
      </p:pic>
      <p:sp>
        <p:nvSpPr>
          <p:cNvPr id="45"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6"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situs cek fakta</a:t>
            </a:r>
            <a:endParaRPr lang="en-US" sz="1800" dirty="0"/>
          </a:p>
        </p:txBody>
      </p:sp>
      <p:sp>
        <p:nvSpPr>
          <p:cNvPr id="47"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hasil dari turnbackhoax.id atau cekfakta.com. Lihat labelnya: SALAH berarti hoaks.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Kesimpulan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Cek_Fakta_Kelompok_1 -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Cek_Fakta_Kelompok_1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Lembar Cek Fakta</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Informasi</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Kesimpulan</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Alasan</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HP diblokir</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HOAKS</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Sumber tidak jelas, dibantah</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Info 2</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 Info 3</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endParaRPr lang="en-US" sz="650" dirty="0"/>
          </a:p>
        </p:txBody>
      </p:sp>
      <p:sp>
        <p:nvSpPr>
          <p:cNvPr id="94" name="Shape 83"/>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95" name="Shape 84"/>
          <p:cNvSpPr/>
          <p:nvPr/>
        </p:nvSpPr>
        <p:spPr>
          <a:xfrm>
            <a:off x="4462272" y="2712346"/>
            <a:ext cx="274320" cy="274320"/>
          </a:xfrm>
          <a:prstGeom prst="ellipse">
            <a:avLst/>
          </a:prstGeom>
          <a:solidFill>
            <a:srgbClr val="E53935"/>
          </a:solidFill>
          <a:ln w="12700">
            <a:solidFill>
              <a:srgbClr val="FFFFFF"/>
            </a:solidFill>
            <a:prstDash val="solid"/>
          </a:ln>
        </p:spPr>
      </p:sp>
      <p:sp>
        <p:nvSpPr>
          <p:cNvPr id="96" name="Text 8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97"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98"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99"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kesimpulan dalam tabel</a:t>
            </a:r>
            <a:endParaRPr lang="en-US" sz="1800" dirty="0"/>
          </a:p>
        </p:txBody>
      </p:sp>
      <p:sp>
        <p:nvSpPr>
          <p:cNvPr id="100"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Docs, buat tabel 3 kolom: Informasi, Kesimpulan, Alasan. Isi untuk setiap informasi.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bersama kelompok di tabel Cek Fakta: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Periksa 3 informasi dari guru dengan 4 pertanyaan tabayyun.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Tentukan kesimpulan: Fakta, Hoaks, atau Belum Jelas.</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alasan dan sumber pembanding untuk setiap kesimpulan.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Perwakilan kelompok menjelaskan satu temuan di depan kelas.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Keempat pertanyaan sudah dijawab</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Keputusan disertai alasan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sumber pembanding</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Hasil ditulis dalam tabel</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akan kamu lakukan jika menerima pesan berantai?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menyebarkan hoaks itu berdosa?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Saring sebelum sharing. Diam lebih baik daripada menyebarkan berita yang belum jelas.</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menyusun Ensiklopedia Digital Mini.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Ensiklopedia Digital Mini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kumpulan pengetahuan dari sumber terpercaya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4: Pencarian Informasi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itu ensiklopedia, dan pernahkah kalian membacanya?</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Mencari informasi dari minimal dua sumber terpercaya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entri ensiklopedia dengan bahasa sendiri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Menautkan sumber dengan link di Google Docs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Anatomi Satu Entri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3931920" cy="3520440"/>
          </a:xfrm>
          <a:prstGeom prst="rect">
            <a:avLst/>
          </a:prstGeom>
          <a:solidFill>
            <a:srgbClr val="FFFFFF"/>
          </a:solidFill>
          <a:ln w="12700">
            <a:solidFill>
              <a:srgbClr val="BBBBBB"/>
            </a:solidFill>
            <a:prstDash val="solid"/>
          </a:ln>
        </p:spPr>
      </p:sp>
      <p:sp>
        <p:nvSpPr>
          <p:cNvPr id="10" name="Text 6"/>
          <p:cNvSpPr txBox="1"/>
          <p:nvPr/>
        </p:nvSpPr>
        <p:spPr>
          <a:xfrm>
            <a:off x="685800" y="1207008"/>
            <a:ext cx="3474720" cy="365760"/>
          </a:xfrm>
          <a:prstGeom prst="rect">
            <a:avLst/>
          </a:prstGeom>
          <a:noFill/>
          <a:ln/>
        </p:spPr>
        <p:txBody>
          <a:bodyPr wrap="square" lIns="0" tIns="0" rIns="0" bIns="0" rtlCol="0" anchor="t"/>
          <a:lstStyle/>
          <a:p>
            <a:pPr indent="0" marL="0">
              <a:buNone/>
            </a:pPr>
            <a:r>
              <a:rPr lang="en-US" sz="1600" b="1" dirty="0">
                <a:solidFill>
                  <a:srgbClr val="0F4C3A"/>
                </a:solidFill>
                <a:latin typeface="Arial" pitchFamily="34" charset="0"/>
                <a:ea typeface="Arial" pitchFamily="34" charset="-122"/>
                <a:cs typeface="Arial" pitchFamily="34" charset="-120"/>
              </a:rPr>
              <a:t>Danau Poso</a:t>
            </a:r>
            <a:endParaRPr lang="en-US" sz="1600" dirty="0"/>
          </a:p>
        </p:txBody>
      </p:sp>
      <p:sp>
        <p:nvSpPr>
          <p:cNvPr id="11" name="Text 7"/>
          <p:cNvSpPr txBox="1"/>
          <p:nvPr/>
        </p:nvSpPr>
        <p:spPr>
          <a:xfrm>
            <a:off x="685800" y="1600200"/>
            <a:ext cx="2743200" cy="777240"/>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Danau Poso adalah danau besar di Kabupaten Poso, Sulawesi Tengah. Airnya jernih dan menjadi sumber kehidupan masyarakat sekitar.</a:t>
            </a:r>
            <a:endParaRPr lang="en-US" sz="950" dirty="0"/>
          </a:p>
        </p:txBody>
      </p:sp>
      <p:sp>
        <p:nvSpPr>
          <p:cNvPr id="12" name="Shape 8"/>
          <p:cNvSpPr/>
          <p:nvPr/>
        </p:nvSpPr>
        <p:spPr>
          <a:xfrm>
            <a:off x="3520440" y="1645920"/>
            <a:ext cx="731520" cy="594360"/>
          </a:xfrm>
          <a:prstGeom prst="rect">
            <a:avLst/>
          </a:prstGeom>
          <a:solidFill>
            <a:srgbClr val="A7CBEE"/>
          </a:solidFill>
          <a:ln w="12700">
            <a:solidFill>
              <a:srgbClr val="A7CBEE"/>
            </a:solidFill>
            <a:prstDash val="solid"/>
          </a:ln>
        </p:spPr>
      </p:sp>
      <p:sp>
        <p:nvSpPr>
          <p:cNvPr id="13" name="Shape 9"/>
          <p:cNvSpPr/>
          <p:nvPr/>
        </p:nvSpPr>
        <p:spPr>
          <a:xfrm>
            <a:off x="3566160" y="1920240"/>
            <a:ext cx="457200" cy="320040"/>
          </a:xfrm>
          <a:prstGeom prst="triangle">
            <a:avLst/>
          </a:prstGeom>
          <a:solidFill>
            <a:srgbClr val="34A853"/>
          </a:solidFill>
          <a:ln/>
        </p:spPr>
      </p:sp>
      <p:sp>
        <p:nvSpPr>
          <p:cNvPr id="14" name="Text 10"/>
          <p:cNvSpPr txBox="1"/>
          <p:nvPr/>
        </p:nvSpPr>
        <p:spPr>
          <a:xfrm>
            <a:off x="685800" y="2468880"/>
            <a:ext cx="3566160" cy="237744"/>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 Termasuk danau terdalam di Indonesia</a:t>
            </a:r>
            <a:endParaRPr lang="en-US" sz="950" dirty="0"/>
          </a:p>
        </p:txBody>
      </p:sp>
      <p:sp>
        <p:nvSpPr>
          <p:cNvPr id="15" name="Text 11"/>
          <p:cNvSpPr txBox="1"/>
          <p:nvPr/>
        </p:nvSpPr>
        <p:spPr>
          <a:xfrm>
            <a:off x="685800" y="2715768"/>
            <a:ext cx="3566160" cy="237744"/>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 Hulu Sungai Poso yang mengalir ke Teluk Tomini</a:t>
            </a:r>
            <a:endParaRPr lang="en-US" sz="950" dirty="0"/>
          </a:p>
        </p:txBody>
      </p:sp>
      <p:sp>
        <p:nvSpPr>
          <p:cNvPr id="16" name="Text 12"/>
          <p:cNvSpPr txBox="1"/>
          <p:nvPr/>
        </p:nvSpPr>
        <p:spPr>
          <a:xfrm>
            <a:off x="685800" y="2962656"/>
            <a:ext cx="3566160" cy="237744"/>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 Tempat Festival Danau Poso</a:t>
            </a:r>
            <a:endParaRPr lang="en-US" sz="950" dirty="0"/>
          </a:p>
        </p:txBody>
      </p:sp>
      <p:sp>
        <p:nvSpPr>
          <p:cNvPr id="17" name="Text 13"/>
          <p:cNvSpPr txBox="1"/>
          <p:nvPr/>
        </p:nvSpPr>
        <p:spPr>
          <a:xfrm>
            <a:off x="685800" y="3337560"/>
            <a:ext cx="914400" cy="201168"/>
          </a:xfrm>
          <a:prstGeom prst="rect">
            <a:avLst/>
          </a:prstGeom>
          <a:noFill/>
          <a:ln/>
        </p:spPr>
        <p:txBody>
          <a:bodyPr wrap="square" lIns="0" tIns="0" rIns="0" bIns="0" rtlCol="0" anchor="t"/>
          <a:lstStyle/>
          <a:p>
            <a:pPr indent="0" marL="0">
              <a:buNone/>
            </a:pPr>
            <a:r>
              <a:rPr lang="en-US" sz="900" b="1" dirty="0">
                <a:solidFill>
                  <a:srgbClr val="1E2A26"/>
                </a:solidFill>
                <a:latin typeface="Arial" pitchFamily="34" charset="0"/>
                <a:ea typeface="Arial" pitchFamily="34" charset="-122"/>
                <a:cs typeface="Arial" pitchFamily="34" charset="-120"/>
              </a:rPr>
              <a:t>Sumber:</a:t>
            </a:r>
            <a:endParaRPr lang="en-US" sz="900" dirty="0"/>
          </a:p>
        </p:txBody>
      </p:sp>
      <p:sp>
        <p:nvSpPr>
          <p:cNvPr id="18" name="Text 14"/>
          <p:cNvSpPr txBox="1"/>
          <p:nvPr/>
        </p:nvSpPr>
        <p:spPr>
          <a:xfrm>
            <a:off x="685800" y="3547872"/>
            <a:ext cx="3566160" cy="201168"/>
          </a:xfrm>
          <a:prstGeom prst="rect">
            <a:avLst/>
          </a:prstGeom>
          <a:noFill/>
          <a:ln/>
        </p:spPr>
        <p:txBody>
          <a:bodyPr wrap="square" lIns="0" tIns="0" rIns="0" bIns="0" rtlCol="0" anchor="t"/>
          <a:lstStyle/>
          <a:p>
            <a:pPr indent="0" marL="0">
              <a:buNone/>
            </a:pPr>
            <a:r>
              <a:rPr lang="en-US" sz="900" u="sng" dirty="0">
                <a:solidFill>
                  <a:srgbClr val="1155CC"/>
                </a:solidFill>
                <a:latin typeface="Arial" pitchFamily="34" charset="0"/>
                <a:ea typeface="Arial" pitchFamily="34" charset="-122"/>
                <a:cs typeface="Arial" pitchFamily="34" charset="-120"/>
              </a:rPr>
              <a:t>contoh-pemkab.go.id/danau-poso</a:t>
            </a:r>
            <a:endParaRPr lang="en-US" sz="900" dirty="0"/>
          </a:p>
        </p:txBody>
      </p:sp>
      <p:sp>
        <p:nvSpPr>
          <p:cNvPr id="19" name="Text 15"/>
          <p:cNvSpPr txBox="1"/>
          <p:nvPr/>
        </p:nvSpPr>
        <p:spPr>
          <a:xfrm>
            <a:off x="685800" y="3767328"/>
            <a:ext cx="3566160" cy="201168"/>
          </a:xfrm>
          <a:prstGeom prst="rect">
            <a:avLst/>
          </a:prstGeom>
          <a:noFill/>
          <a:ln/>
        </p:spPr>
        <p:txBody>
          <a:bodyPr wrap="square" lIns="0" tIns="0" rIns="0" bIns="0" rtlCol="0" anchor="t"/>
          <a:lstStyle/>
          <a:p>
            <a:pPr indent="0" marL="0">
              <a:buNone/>
            </a:pPr>
            <a:r>
              <a:rPr lang="en-US" sz="900" u="sng" dirty="0">
                <a:solidFill>
                  <a:srgbClr val="1155CC"/>
                </a:solidFill>
                <a:latin typeface="Arial" pitchFamily="34" charset="0"/>
                <a:ea typeface="Arial" pitchFamily="34" charset="-122"/>
                <a:cs typeface="Arial" pitchFamily="34" charset="-120"/>
              </a:rPr>
              <a:t>contoh-ensiklopedia.id/danau-poso</a:t>
            </a:r>
            <a:endParaRPr lang="en-US" sz="900" dirty="0"/>
          </a:p>
        </p:txBody>
      </p:sp>
      <p:sp>
        <p:nvSpPr>
          <p:cNvPr id="20" name="Shape 16"/>
          <p:cNvSpPr/>
          <p:nvPr/>
        </p:nvSpPr>
        <p:spPr>
          <a:xfrm>
            <a:off x="4617720" y="1207008"/>
            <a:ext cx="329184" cy="329184"/>
          </a:xfrm>
          <a:prstGeom prst="ellipse">
            <a:avLst/>
          </a:prstGeom>
          <a:solidFill>
            <a:srgbClr val="E53935"/>
          </a:solidFill>
          <a:ln/>
        </p:spPr>
      </p:sp>
      <p:sp>
        <p:nvSpPr>
          <p:cNvPr id="21" name="Text 17"/>
          <p:cNvSpPr txBox="1"/>
          <p:nvPr/>
        </p:nvSpPr>
        <p:spPr>
          <a:xfrm>
            <a:off x="4617720" y="1207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Text 18"/>
          <p:cNvSpPr txBox="1"/>
          <p:nvPr/>
        </p:nvSpPr>
        <p:spPr>
          <a:xfrm>
            <a:off x="5074920" y="1143000"/>
            <a:ext cx="3566160" cy="457200"/>
          </a:xfrm>
          <a:prstGeom prst="rect">
            <a:avLst/>
          </a:prstGeom>
          <a:noFill/>
          <a:ln/>
        </p:spPr>
        <p:txBody>
          <a:bodyPr wrap="square" lIns="0" tIns="0" rIns="0" bIns="0" rtlCol="0" anchor="ctr"/>
          <a:lstStyle/>
          <a:p>
            <a:pPr indent="0" marL="0">
              <a:buNone/>
            </a:pPr>
            <a:r>
              <a:rPr lang="en-US" sz="1500" b="1" dirty="0">
                <a:solidFill>
                  <a:srgbClr val="0F4C3A"/>
                </a:solidFill>
                <a:latin typeface="Calibri" pitchFamily="34" charset="0"/>
                <a:ea typeface="Calibri" pitchFamily="34" charset="-122"/>
                <a:cs typeface="Calibri" pitchFamily="34" charset="-120"/>
              </a:rPr>
              <a:t>Judul entri (Heading 1)</a:t>
            </a:r>
            <a:endParaRPr lang="en-US" sz="1500" dirty="0"/>
          </a:p>
        </p:txBody>
      </p:sp>
      <p:sp>
        <p:nvSpPr>
          <p:cNvPr id="23" name="Shape 19"/>
          <p:cNvSpPr/>
          <p:nvPr/>
        </p:nvSpPr>
        <p:spPr>
          <a:xfrm>
            <a:off x="4617720" y="1801368"/>
            <a:ext cx="329184" cy="329184"/>
          </a:xfrm>
          <a:prstGeom prst="ellipse">
            <a:avLst/>
          </a:prstGeom>
          <a:solidFill>
            <a:srgbClr val="E53935"/>
          </a:solidFill>
          <a:ln/>
        </p:spPr>
      </p:sp>
      <p:sp>
        <p:nvSpPr>
          <p:cNvPr id="24" name="Text 20"/>
          <p:cNvSpPr txBox="1"/>
          <p:nvPr/>
        </p:nvSpPr>
        <p:spPr>
          <a:xfrm>
            <a:off x="4617720" y="1801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1"/>
          <p:cNvSpPr txBox="1"/>
          <p:nvPr/>
        </p:nvSpPr>
        <p:spPr>
          <a:xfrm>
            <a:off x="5074920" y="1737360"/>
            <a:ext cx="3566160" cy="457200"/>
          </a:xfrm>
          <a:prstGeom prst="rect">
            <a:avLst/>
          </a:prstGeom>
          <a:noFill/>
          <a:ln/>
        </p:spPr>
        <p:txBody>
          <a:bodyPr wrap="square" lIns="0" tIns="0" rIns="0" bIns="0" rtlCol="0" anchor="ctr"/>
          <a:lstStyle/>
          <a:p>
            <a:pPr indent="0" marL="0">
              <a:buNone/>
            </a:pPr>
            <a:r>
              <a:rPr lang="en-US" sz="1500" b="1" dirty="0">
                <a:solidFill>
                  <a:srgbClr val="0F4C3A"/>
                </a:solidFill>
                <a:latin typeface="Calibri" pitchFamily="34" charset="0"/>
                <a:ea typeface="Calibri" pitchFamily="34" charset="-122"/>
                <a:cs typeface="Calibri" pitchFamily="34" charset="-120"/>
              </a:rPr>
              <a:t>Penjelasan singkat + gambar</a:t>
            </a:r>
            <a:endParaRPr lang="en-US" sz="1500" dirty="0"/>
          </a:p>
        </p:txBody>
      </p:sp>
      <p:sp>
        <p:nvSpPr>
          <p:cNvPr id="26" name="Shape 22"/>
          <p:cNvSpPr/>
          <p:nvPr/>
        </p:nvSpPr>
        <p:spPr>
          <a:xfrm>
            <a:off x="4617720" y="2578608"/>
            <a:ext cx="329184" cy="329184"/>
          </a:xfrm>
          <a:prstGeom prst="ellipse">
            <a:avLst/>
          </a:prstGeom>
          <a:solidFill>
            <a:srgbClr val="E53935"/>
          </a:solidFill>
          <a:ln/>
        </p:spPr>
      </p:sp>
      <p:sp>
        <p:nvSpPr>
          <p:cNvPr id="27" name="Text 23"/>
          <p:cNvSpPr txBox="1"/>
          <p:nvPr/>
        </p:nvSpPr>
        <p:spPr>
          <a:xfrm>
            <a:off x="4617720" y="2578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Text 24"/>
          <p:cNvSpPr txBox="1"/>
          <p:nvPr/>
        </p:nvSpPr>
        <p:spPr>
          <a:xfrm>
            <a:off x="5074920" y="2514600"/>
            <a:ext cx="3566160" cy="457200"/>
          </a:xfrm>
          <a:prstGeom prst="rect">
            <a:avLst/>
          </a:prstGeom>
          <a:noFill/>
          <a:ln/>
        </p:spPr>
        <p:txBody>
          <a:bodyPr wrap="square" lIns="0" tIns="0" rIns="0" bIns="0" rtlCol="0" anchor="ctr"/>
          <a:lstStyle/>
          <a:p>
            <a:pPr indent="0" marL="0">
              <a:buNone/>
            </a:pPr>
            <a:r>
              <a:rPr lang="en-US" sz="1500" b="1" dirty="0">
                <a:solidFill>
                  <a:srgbClr val="0F4C3A"/>
                </a:solidFill>
                <a:latin typeface="Calibri" pitchFamily="34" charset="0"/>
                <a:ea typeface="Calibri" pitchFamily="34" charset="-122"/>
                <a:cs typeface="Calibri" pitchFamily="34" charset="-120"/>
              </a:rPr>
              <a:t>Fakta menarik (sudah dicek)</a:t>
            </a:r>
            <a:endParaRPr lang="en-US" sz="1500" dirty="0"/>
          </a:p>
        </p:txBody>
      </p:sp>
      <p:sp>
        <p:nvSpPr>
          <p:cNvPr id="29" name="Shape 25"/>
          <p:cNvSpPr/>
          <p:nvPr/>
        </p:nvSpPr>
        <p:spPr>
          <a:xfrm>
            <a:off x="4617720" y="3447288"/>
            <a:ext cx="329184" cy="329184"/>
          </a:xfrm>
          <a:prstGeom prst="ellipse">
            <a:avLst/>
          </a:prstGeom>
          <a:solidFill>
            <a:srgbClr val="E53935"/>
          </a:solidFill>
          <a:ln/>
        </p:spPr>
      </p:sp>
      <p:sp>
        <p:nvSpPr>
          <p:cNvPr id="30" name="Text 26"/>
          <p:cNvSpPr txBox="1"/>
          <p:nvPr/>
        </p:nvSpPr>
        <p:spPr>
          <a:xfrm>
            <a:off x="4617720" y="34472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7"/>
          <p:cNvSpPr txBox="1"/>
          <p:nvPr/>
        </p:nvSpPr>
        <p:spPr>
          <a:xfrm>
            <a:off x="5074920" y="3383280"/>
            <a:ext cx="3566160" cy="457200"/>
          </a:xfrm>
          <a:prstGeom prst="rect">
            <a:avLst/>
          </a:prstGeom>
          <a:noFill/>
          <a:ln/>
        </p:spPr>
        <p:txBody>
          <a:bodyPr wrap="square" lIns="0" tIns="0" rIns="0" bIns="0" rtlCol="0" anchor="ctr"/>
          <a:lstStyle/>
          <a:p>
            <a:pPr indent="0" marL="0">
              <a:buNone/>
            </a:pPr>
            <a:r>
              <a:rPr lang="en-US" sz="1500" b="1" dirty="0">
                <a:solidFill>
                  <a:srgbClr val="0F4C3A"/>
                </a:solidFill>
                <a:latin typeface="Calibri" pitchFamily="34" charset="0"/>
                <a:ea typeface="Calibri" pitchFamily="34" charset="-122"/>
                <a:cs typeface="Calibri" pitchFamily="34" charset="-120"/>
              </a:rPr>
              <a:t>Sumber berupa link</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Menulis dengan Bahasa Sendiri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Parafrase (benar)</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Baca sampai paham, lalu tutup sumbernya</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Tulis ulang dengan kalimatmu</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Cantumkan sumbernya</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Plagiat (salah)</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Copy-paste seluruh paragraf</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Mengganti satu-dua kata saja</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Tidak mencantumkan sumber</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Menyusun Ensiklopedia Digital Mini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4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Dokumen bersama dan riset</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Menulis entri dan gambar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link sumber</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Dokumen Bersama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Ensiklopedia_Kelompok_1 -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Ensiklopedia_Kelompok_1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Ensiklopedia Mini</a:t>
            </a:r>
            <a:endParaRPr lang="en-US" sz="1400" dirty="0"/>
          </a:p>
        </p:txBody>
      </p:sp>
      <p:sp>
        <p:nvSpPr>
          <p:cNvPr id="70" name="Text 59"/>
          <p:cNvSpPr txBox="1"/>
          <p:nvPr/>
        </p:nvSpPr>
        <p:spPr>
          <a:xfrm>
            <a:off x="1554480" y="2932183"/>
            <a:ext cx="3017520" cy="147320"/>
          </a:xfrm>
          <a:prstGeom prst="rect">
            <a:avLst/>
          </a:prstGeom>
          <a:noFill/>
          <a:ln/>
        </p:spPr>
        <p:txBody>
          <a:bodyPr wrap="square" lIns="0" tIns="0" rIns="0" bIns="0" rtlCol="0" anchor="ctr"/>
          <a:lstStyle/>
          <a:p>
            <a:pPr algn="ctr" indent="0" marL="0">
              <a:buNone/>
            </a:pPr>
            <a:r>
              <a:rPr lang="en-US" sz="800" dirty="0">
                <a:solidFill>
                  <a:srgbClr val="1E2A26"/>
                </a:solidFill>
                <a:latin typeface="Arial" pitchFamily="34" charset="0"/>
                <a:ea typeface="Arial" pitchFamily="34" charset="-122"/>
                <a:cs typeface="Arial" pitchFamily="34" charset="-120"/>
              </a:rPr>
              <a:t>Tema: Alam Sulawesi Tengah</a:t>
            </a:r>
            <a:endParaRPr lang="en-US" sz="800" dirty="0"/>
          </a:p>
        </p:txBody>
      </p:sp>
      <p:sp>
        <p:nvSpPr>
          <p:cNvPr id="71" name="Shape 60"/>
          <p:cNvSpPr/>
          <p:nvPr/>
        </p:nvSpPr>
        <p:spPr>
          <a:xfrm>
            <a:off x="944392" y="1668533"/>
            <a:ext cx="1792224" cy="237744"/>
          </a:xfrm>
          <a:prstGeom prst="roundRect">
            <a:avLst>
              <a:gd name="adj" fmla="val 19231"/>
            </a:avLst>
          </a:prstGeom>
          <a:solidFill>
            <a:srgbClr val="FFFFFF">
              <a:alpha val="0"/>
            </a:srgbClr>
          </a:solidFill>
          <a:ln w="31750">
            <a:solidFill>
              <a:srgbClr val="E53935"/>
            </a:solidFill>
            <a:prstDash val="solid"/>
          </a:ln>
        </p:spPr>
      </p:sp>
      <p:sp>
        <p:nvSpPr>
          <p:cNvPr id="72" name="Shape 61"/>
          <p:cNvSpPr/>
          <p:nvPr/>
        </p:nvSpPr>
        <p:spPr>
          <a:xfrm>
            <a:off x="2599456" y="1531373"/>
            <a:ext cx="274320" cy="274320"/>
          </a:xfrm>
          <a:prstGeom prst="ellipse">
            <a:avLst/>
          </a:prstGeom>
          <a:solidFill>
            <a:srgbClr val="E53935"/>
          </a:solidFill>
          <a:ln w="12700">
            <a:solidFill>
              <a:srgbClr val="FFFFFF"/>
            </a:solidFill>
            <a:prstDash val="solid"/>
          </a:ln>
        </p:spPr>
      </p:sp>
      <p:sp>
        <p:nvSpPr>
          <p:cNvPr id="73" name="Text 62"/>
          <p:cNvSpPr txBox="1"/>
          <p:nvPr/>
        </p:nvSpPr>
        <p:spPr>
          <a:xfrm>
            <a:off x="2599456" y="15313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4" name="Image 9" descr="preencoded.png">    </p:cNvPr>
          <p:cNvPicPr>
            <a:picLocks noChangeAspect="1"/>
          </p:cNvPicPr>
          <p:nvPr/>
        </p:nvPicPr>
        <p:blipFill>
          <a:blip r:embed="rId10"/>
          <a:stretch>
            <a:fillRect/>
          </a:stretch>
        </p:blipFill>
        <p:spPr>
          <a:xfrm>
            <a:off x="1927372" y="1796549"/>
            <a:ext cx="237744" cy="237744"/>
          </a:xfrm>
          <a:prstGeom prst="rect">
            <a:avLst/>
          </a:prstGeom>
        </p:spPr>
      </p:pic>
      <p:sp>
        <p:nvSpPr>
          <p:cNvPr id="75" name="Shape 63"/>
          <p:cNvSpPr/>
          <p:nvPr/>
        </p:nvSpPr>
        <p:spPr>
          <a:xfrm>
            <a:off x="4779752" y="1686821"/>
            <a:ext cx="649224" cy="292608"/>
          </a:xfrm>
          <a:prstGeom prst="roundRect">
            <a:avLst>
              <a:gd name="adj" fmla="val 15625"/>
            </a:avLst>
          </a:prstGeom>
          <a:solidFill>
            <a:srgbClr val="FFFFFF">
              <a:alpha val="0"/>
            </a:srgbClr>
          </a:solidFill>
          <a:ln w="31750">
            <a:solidFill>
              <a:srgbClr val="E53935"/>
            </a:solidFill>
            <a:prstDash val="solid"/>
          </a:ln>
        </p:spPr>
      </p:sp>
      <p:sp>
        <p:nvSpPr>
          <p:cNvPr id="76" name="Shape 64"/>
          <p:cNvSpPr/>
          <p:nvPr/>
        </p:nvSpPr>
        <p:spPr>
          <a:xfrm>
            <a:off x="5291816" y="1549661"/>
            <a:ext cx="274320" cy="274320"/>
          </a:xfrm>
          <a:prstGeom prst="ellipse">
            <a:avLst/>
          </a:prstGeom>
          <a:solidFill>
            <a:srgbClr val="E53935"/>
          </a:solidFill>
          <a:ln w="12700">
            <a:solidFill>
              <a:srgbClr val="FFFFFF"/>
            </a:solidFill>
            <a:prstDash val="solid"/>
          </a:ln>
        </p:spPr>
      </p:sp>
      <p:sp>
        <p:nvSpPr>
          <p:cNvPr id="77" name="Text 65"/>
          <p:cNvSpPr txBox="1"/>
          <p:nvPr/>
        </p:nvSpPr>
        <p:spPr>
          <a:xfrm>
            <a:off x="5291816" y="1549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8" name="Image 10" descr="preencoded.png">    </p:cNvPr>
          <p:cNvPicPr>
            <a:picLocks noChangeAspect="1"/>
          </p:cNvPicPr>
          <p:nvPr/>
        </p:nvPicPr>
        <p:blipFill>
          <a:blip r:embed="rId11"/>
          <a:stretch>
            <a:fillRect/>
          </a:stretch>
        </p:blipFill>
        <p:spPr>
          <a:xfrm>
            <a:off x="5134082" y="1845012"/>
            <a:ext cx="237744" cy="237744"/>
          </a:xfrm>
          <a:prstGeom prst="rect">
            <a:avLst/>
          </a:prstGeom>
        </p:spPr>
      </p:pic>
      <p:sp>
        <p:nvSpPr>
          <p:cNvPr id="79"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0"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Ketua membuat dokumen dan membagikannya</a:t>
            </a:r>
            <a:endParaRPr lang="en-US" sz="1800" dirty="0"/>
          </a:p>
        </p:txBody>
      </p:sp>
      <p:sp>
        <p:nvSpPr>
          <p:cNvPr id="81"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Ketua kelompok membuat Google Docs "Ensiklopedia_Kelompok_N", lalu klik Share dan undang akun anggota sebagai Editor.</a:t>
            </a:r>
            <a:endParaRPr lang="en-US" sz="1300" dirty="0"/>
          </a:p>
        </p:txBody>
      </p:sp>
      <p:sp>
        <p:nvSpPr>
          <p:cNvPr id="82" name="Shape 6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3"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84" name="Text 7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semua anggota memakai satu akun, cukup bergantian menulis.</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Riset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Danau Poso Sulawesi Tengah - Google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google.com/search?q=Danau+Poso+Sulawesi+Tengah</a:t>
            </a:r>
            <a:endParaRPr lang="en-US" sz="800" dirty="0"/>
          </a:p>
        </p:txBody>
      </p:sp>
      <p:sp>
        <p:nvSpPr>
          <p:cNvPr id="28" name="Text 21"/>
          <p:cNvSpPr txBox="1"/>
          <p:nvPr/>
        </p:nvSpPr>
        <p:spPr>
          <a:xfrm>
            <a:off x="724936" y="1732541"/>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456456" y="1732541"/>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593616" y="1732541"/>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Danau Poso Sulawesi Tengah</a:t>
            </a:r>
            <a:endParaRPr lang="en-US" sz="800" dirty="0"/>
          </a:p>
        </p:txBody>
      </p:sp>
      <p:sp>
        <p:nvSpPr>
          <p:cNvPr id="31" name="Text 24"/>
          <p:cNvSpPr txBox="1"/>
          <p:nvPr/>
        </p:nvSpPr>
        <p:spPr>
          <a:xfrm>
            <a:off x="1456456" y="2006861"/>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All</a:t>
            </a:r>
            <a:endParaRPr lang="en-US" sz="700" dirty="0"/>
          </a:p>
        </p:txBody>
      </p:sp>
      <p:sp>
        <p:nvSpPr>
          <p:cNvPr id="32" name="Shape 25"/>
          <p:cNvSpPr/>
          <p:nvPr/>
        </p:nvSpPr>
        <p:spPr>
          <a:xfrm>
            <a:off x="1502176" y="2171453"/>
            <a:ext cx="365760" cy="22860"/>
          </a:xfrm>
          <a:prstGeom prst="rect">
            <a:avLst/>
          </a:prstGeom>
          <a:solidFill>
            <a:srgbClr val="1A73E8"/>
          </a:solidFill>
          <a:ln w="12700">
            <a:solidFill>
              <a:srgbClr val="1A73E8"/>
            </a:solidFill>
            <a:prstDash val="solid"/>
          </a:ln>
        </p:spPr>
      </p:sp>
      <p:sp>
        <p:nvSpPr>
          <p:cNvPr id="33" name="Text 26"/>
          <p:cNvSpPr txBox="1"/>
          <p:nvPr/>
        </p:nvSpPr>
        <p:spPr>
          <a:xfrm>
            <a:off x="195937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Images</a:t>
            </a:r>
            <a:endParaRPr lang="en-US" sz="700" dirty="0"/>
          </a:p>
        </p:txBody>
      </p:sp>
      <p:sp>
        <p:nvSpPr>
          <p:cNvPr id="34" name="Text 27"/>
          <p:cNvSpPr txBox="1"/>
          <p:nvPr/>
        </p:nvSpPr>
        <p:spPr>
          <a:xfrm>
            <a:off x="246229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2965216" y="2006861"/>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456456" y="2208029"/>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410.000 hasil (0,36 detik)</a:t>
            </a:r>
            <a:endParaRPr lang="en-US" sz="600" dirty="0"/>
          </a:p>
        </p:txBody>
      </p:sp>
      <p:sp>
        <p:nvSpPr>
          <p:cNvPr id="37" name="Text 30"/>
          <p:cNvSpPr txBox="1"/>
          <p:nvPr/>
        </p:nvSpPr>
        <p:spPr>
          <a:xfrm>
            <a:off x="1456456" y="2418341"/>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https://contoh-pemkab.go.id</a:t>
            </a:r>
            <a:endParaRPr lang="en-US" sz="600" dirty="0"/>
          </a:p>
        </p:txBody>
      </p:sp>
      <p:sp>
        <p:nvSpPr>
          <p:cNvPr id="38" name="Text 31"/>
          <p:cNvSpPr txBox="1"/>
          <p:nvPr/>
        </p:nvSpPr>
        <p:spPr>
          <a:xfrm>
            <a:off x="1456456" y="2537213"/>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Danau Poso - Pemerintah Kabupaten Poso</a:t>
            </a:r>
            <a:endParaRPr lang="en-US" sz="900" dirty="0"/>
          </a:p>
        </p:txBody>
      </p:sp>
      <p:sp>
        <p:nvSpPr>
          <p:cNvPr id="39" name="Shape 32"/>
          <p:cNvSpPr/>
          <p:nvPr/>
        </p:nvSpPr>
        <p:spPr>
          <a:xfrm>
            <a:off x="1456456" y="2747525"/>
            <a:ext cx="2926080" cy="36576"/>
          </a:xfrm>
          <a:prstGeom prst="rect">
            <a:avLst/>
          </a:prstGeom>
          <a:solidFill>
            <a:srgbClr val="DDDDDD"/>
          </a:solidFill>
          <a:ln w="12700">
            <a:solidFill>
              <a:srgbClr val="DDDDDD"/>
            </a:solidFill>
            <a:prstDash val="solid"/>
          </a:ln>
        </p:spPr>
      </p:sp>
      <p:sp>
        <p:nvSpPr>
          <p:cNvPr id="40" name="Shape 33"/>
          <p:cNvSpPr/>
          <p:nvPr/>
        </p:nvSpPr>
        <p:spPr>
          <a:xfrm>
            <a:off x="1456456" y="2811533"/>
            <a:ext cx="2194560" cy="36576"/>
          </a:xfrm>
          <a:prstGeom prst="rect">
            <a:avLst/>
          </a:prstGeom>
          <a:solidFill>
            <a:srgbClr val="DDDDDD"/>
          </a:solidFill>
          <a:ln w="12700">
            <a:solidFill>
              <a:srgbClr val="DDDDDD"/>
            </a:solidFill>
            <a:prstDash val="solid"/>
          </a:ln>
        </p:spPr>
      </p:sp>
      <p:sp>
        <p:nvSpPr>
          <p:cNvPr id="41" name="Text 34"/>
          <p:cNvSpPr txBox="1"/>
          <p:nvPr/>
        </p:nvSpPr>
        <p:spPr>
          <a:xfrm>
            <a:off x="1456456" y="2893829"/>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https://contoh-ensiklopedia.id</a:t>
            </a:r>
            <a:endParaRPr lang="en-US" sz="600" dirty="0"/>
          </a:p>
        </p:txBody>
      </p:sp>
      <p:sp>
        <p:nvSpPr>
          <p:cNvPr id="42" name="Text 35"/>
          <p:cNvSpPr txBox="1"/>
          <p:nvPr/>
        </p:nvSpPr>
        <p:spPr>
          <a:xfrm>
            <a:off x="1456456" y="3012701"/>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Danau Poso - Ensiklopedia Bebas</a:t>
            </a:r>
            <a:endParaRPr lang="en-US" sz="900" dirty="0"/>
          </a:p>
        </p:txBody>
      </p:sp>
      <p:sp>
        <p:nvSpPr>
          <p:cNvPr id="43" name="Shape 36"/>
          <p:cNvSpPr/>
          <p:nvPr/>
        </p:nvSpPr>
        <p:spPr>
          <a:xfrm>
            <a:off x="1456456" y="3223013"/>
            <a:ext cx="2926080" cy="36576"/>
          </a:xfrm>
          <a:prstGeom prst="rect">
            <a:avLst/>
          </a:prstGeom>
          <a:solidFill>
            <a:srgbClr val="DDDDDD"/>
          </a:solidFill>
          <a:ln w="12700">
            <a:solidFill>
              <a:srgbClr val="DDDDDD"/>
            </a:solidFill>
            <a:prstDash val="solid"/>
          </a:ln>
        </p:spPr>
      </p:sp>
      <p:sp>
        <p:nvSpPr>
          <p:cNvPr id="44" name="Shape 37"/>
          <p:cNvSpPr/>
          <p:nvPr/>
        </p:nvSpPr>
        <p:spPr>
          <a:xfrm>
            <a:off x="1456456" y="3287021"/>
            <a:ext cx="2194560" cy="36576"/>
          </a:xfrm>
          <a:prstGeom prst="rect">
            <a:avLst/>
          </a:prstGeom>
          <a:solidFill>
            <a:srgbClr val="DDDDDD"/>
          </a:solidFill>
          <a:ln w="12700">
            <a:solidFill>
              <a:srgbClr val="DDDDDD"/>
            </a:solidFill>
            <a:prstDash val="solid"/>
          </a:ln>
        </p:spPr>
      </p:sp>
      <p:sp>
        <p:nvSpPr>
          <p:cNvPr id="45" name="Text 38"/>
          <p:cNvSpPr txBox="1"/>
          <p:nvPr/>
        </p:nvSpPr>
        <p:spPr>
          <a:xfrm>
            <a:off x="1456456" y="3369317"/>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https://contoh-blog-pribadi.blogspot.com</a:t>
            </a:r>
            <a:endParaRPr lang="en-US" sz="600" dirty="0"/>
          </a:p>
        </p:txBody>
      </p:sp>
      <p:sp>
        <p:nvSpPr>
          <p:cNvPr id="46" name="Text 39"/>
          <p:cNvSpPr txBox="1"/>
          <p:nvPr/>
        </p:nvSpPr>
        <p:spPr>
          <a:xfrm>
            <a:off x="1456456" y="3488189"/>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WOW!! Rahasia Danau Poso Bikin Merinding</a:t>
            </a:r>
            <a:endParaRPr lang="en-US" sz="900" dirty="0"/>
          </a:p>
        </p:txBody>
      </p:sp>
      <p:sp>
        <p:nvSpPr>
          <p:cNvPr id="47" name="Shape 40"/>
          <p:cNvSpPr/>
          <p:nvPr/>
        </p:nvSpPr>
        <p:spPr>
          <a:xfrm>
            <a:off x="1456456" y="3698501"/>
            <a:ext cx="2926080" cy="36576"/>
          </a:xfrm>
          <a:prstGeom prst="rect">
            <a:avLst/>
          </a:prstGeom>
          <a:solidFill>
            <a:srgbClr val="DDDDDD"/>
          </a:solidFill>
          <a:ln w="12700">
            <a:solidFill>
              <a:srgbClr val="DDDDDD"/>
            </a:solidFill>
            <a:prstDash val="solid"/>
          </a:ln>
        </p:spPr>
      </p:sp>
      <p:sp>
        <p:nvSpPr>
          <p:cNvPr id="48" name="Shape 41"/>
          <p:cNvSpPr/>
          <p:nvPr/>
        </p:nvSpPr>
        <p:spPr>
          <a:xfrm>
            <a:off x="1456456" y="3762509"/>
            <a:ext cx="2194560" cy="36576"/>
          </a:xfrm>
          <a:prstGeom prst="rect">
            <a:avLst/>
          </a:prstGeom>
          <a:solidFill>
            <a:srgbClr val="DDDDDD"/>
          </a:solidFill>
          <a:ln w="12700">
            <a:solidFill>
              <a:srgbClr val="DDDDDD"/>
            </a:solidFill>
            <a:prstDash val="solid"/>
          </a:ln>
        </p:spPr>
      </p:sp>
      <p:sp>
        <p:nvSpPr>
          <p:cNvPr id="49" name="Shape 42"/>
          <p:cNvSpPr/>
          <p:nvPr/>
        </p:nvSpPr>
        <p:spPr>
          <a:xfrm>
            <a:off x="5428976" y="1823981"/>
            <a:ext cx="54864" cy="2079963"/>
          </a:xfrm>
          <a:prstGeom prst="rect">
            <a:avLst/>
          </a:prstGeom>
          <a:solidFill>
            <a:srgbClr val="EEEEEE"/>
          </a:solidFill>
          <a:ln w="12700">
            <a:solidFill>
              <a:srgbClr val="EEEEEE"/>
            </a:solidFill>
            <a:prstDash val="solid"/>
          </a:ln>
        </p:spPr>
      </p:sp>
      <p:sp>
        <p:nvSpPr>
          <p:cNvPr id="50" name="Shape 43"/>
          <p:cNvSpPr/>
          <p:nvPr/>
        </p:nvSpPr>
        <p:spPr>
          <a:xfrm>
            <a:off x="5428976" y="1915421"/>
            <a:ext cx="54864" cy="457200"/>
          </a:xfrm>
          <a:prstGeom prst="roundRect">
            <a:avLst>
              <a:gd name="adj" fmla="val 50000"/>
            </a:avLst>
          </a:prstGeom>
          <a:solidFill>
            <a:srgbClr val="AAAAAA"/>
          </a:solidFill>
          <a:ln w="12700">
            <a:solidFill>
              <a:srgbClr val="AAAAAA"/>
            </a:solidFill>
            <a:prstDash val="solid"/>
          </a:ln>
        </p:spPr>
      </p:sp>
      <p:sp>
        <p:nvSpPr>
          <p:cNvPr id="51" name="Shape 44"/>
          <p:cNvSpPr/>
          <p:nvPr/>
        </p:nvSpPr>
        <p:spPr>
          <a:xfrm>
            <a:off x="1429024" y="2390909"/>
            <a:ext cx="3346704" cy="356616"/>
          </a:xfrm>
          <a:prstGeom prst="roundRect">
            <a:avLst>
              <a:gd name="adj" fmla="val 12821"/>
            </a:avLst>
          </a:prstGeom>
          <a:solidFill>
            <a:srgbClr val="FFFFFF">
              <a:alpha val="0"/>
            </a:srgbClr>
          </a:solidFill>
          <a:ln w="31750">
            <a:solidFill>
              <a:srgbClr val="E53935"/>
            </a:solidFill>
            <a:prstDash val="solid"/>
          </a:ln>
        </p:spPr>
      </p:sp>
      <p:sp>
        <p:nvSpPr>
          <p:cNvPr id="52" name="Shape 45"/>
          <p:cNvSpPr/>
          <p:nvPr/>
        </p:nvSpPr>
        <p:spPr>
          <a:xfrm>
            <a:off x="4638568" y="2253749"/>
            <a:ext cx="274320" cy="274320"/>
          </a:xfrm>
          <a:prstGeom prst="ellipse">
            <a:avLst/>
          </a:prstGeom>
          <a:solidFill>
            <a:srgbClr val="E53935"/>
          </a:solidFill>
          <a:ln w="12700">
            <a:solidFill>
              <a:srgbClr val="FFFFFF"/>
            </a:solidFill>
            <a:prstDash val="solid"/>
          </a:ln>
        </p:spPr>
      </p:sp>
      <p:sp>
        <p:nvSpPr>
          <p:cNvPr id="53" name="Text 46"/>
          <p:cNvSpPr txBox="1"/>
          <p:nvPr/>
        </p:nvSpPr>
        <p:spPr>
          <a:xfrm>
            <a:off x="4638568" y="22537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4" name="Image 5" descr="preencoded.png">    </p:cNvPr>
          <p:cNvPicPr>
            <a:picLocks noChangeAspect="1"/>
          </p:cNvPicPr>
          <p:nvPr/>
        </p:nvPicPr>
        <p:blipFill>
          <a:blip r:embed="rId6"/>
          <a:stretch>
            <a:fillRect/>
          </a:stretch>
        </p:blipFill>
        <p:spPr>
          <a:xfrm>
            <a:off x="3266968" y="2584305"/>
            <a:ext cx="237744" cy="237744"/>
          </a:xfrm>
          <a:prstGeom prst="rect">
            <a:avLst/>
          </a:prstGeom>
        </p:spPr>
      </p:pic>
      <p:sp>
        <p:nvSpPr>
          <p:cNvPr id="55" name="Shape 47"/>
          <p:cNvSpPr/>
          <p:nvPr/>
        </p:nvSpPr>
        <p:spPr>
          <a:xfrm>
            <a:off x="1429024" y="2866397"/>
            <a:ext cx="3346704" cy="356616"/>
          </a:xfrm>
          <a:prstGeom prst="roundRect">
            <a:avLst>
              <a:gd name="adj" fmla="val 12821"/>
            </a:avLst>
          </a:prstGeom>
          <a:solidFill>
            <a:srgbClr val="FFFFFF">
              <a:alpha val="0"/>
            </a:srgbClr>
          </a:solidFill>
          <a:ln w="31750">
            <a:solidFill>
              <a:srgbClr val="E53935"/>
            </a:solidFill>
            <a:prstDash val="solid"/>
          </a:ln>
        </p:spPr>
      </p:sp>
      <p:sp>
        <p:nvSpPr>
          <p:cNvPr id="56" name="Shape 48"/>
          <p:cNvSpPr/>
          <p:nvPr/>
        </p:nvSpPr>
        <p:spPr>
          <a:xfrm>
            <a:off x="4638568" y="2729237"/>
            <a:ext cx="274320" cy="274320"/>
          </a:xfrm>
          <a:prstGeom prst="ellipse">
            <a:avLst/>
          </a:prstGeom>
          <a:solidFill>
            <a:srgbClr val="E53935"/>
          </a:solidFill>
          <a:ln w="12700">
            <a:solidFill>
              <a:srgbClr val="FFFFFF"/>
            </a:solidFill>
            <a:prstDash val="solid"/>
          </a:ln>
        </p:spPr>
      </p:sp>
      <p:sp>
        <p:nvSpPr>
          <p:cNvPr id="57" name="Text 49"/>
          <p:cNvSpPr txBox="1"/>
          <p:nvPr/>
        </p:nvSpPr>
        <p:spPr>
          <a:xfrm>
            <a:off x="4638568" y="2729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8" name="Image 6" descr="preencoded.png">    </p:cNvPr>
          <p:cNvPicPr>
            <a:picLocks noChangeAspect="1"/>
          </p:cNvPicPr>
          <p:nvPr/>
        </p:nvPicPr>
        <p:blipFill>
          <a:blip r:embed="rId7"/>
          <a:stretch>
            <a:fillRect/>
          </a:stretch>
        </p:blipFill>
        <p:spPr>
          <a:xfrm>
            <a:off x="3266968" y="3059793"/>
            <a:ext cx="237744" cy="237744"/>
          </a:xfrm>
          <a:prstGeom prst="rect">
            <a:avLst/>
          </a:prstGeom>
        </p:spPr>
      </p:pic>
      <p:sp>
        <p:nvSpPr>
          <p:cNvPr id="59" name="Shape 50"/>
          <p:cNvSpPr/>
          <p:nvPr/>
        </p:nvSpPr>
        <p:spPr>
          <a:xfrm>
            <a:off x="1456456" y="3570485"/>
            <a:ext cx="2926080" cy="0"/>
          </a:xfrm>
          <a:prstGeom prst="line">
            <a:avLst/>
          </a:prstGeom>
          <a:noFill/>
          <a:ln w="25400">
            <a:solidFill>
              <a:srgbClr val="E53935"/>
            </a:solidFill>
            <a:prstDash val="solid"/>
          </a:ln>
        </p:spPr>
      </p:sp>
      <p:sp>
        <p:nvSpPr>
          <p:cNvPr id="60"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1"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di minimal 2 sumber</a:t>
            </a:r>
            <a:endParaRPr lang="en-US" sz="1800" dirty="0"/>
          </a:p>
        </p:txBody>
      </p:sp>
      <p:sp>
        <p:nvSpPr>
          <p:cNvPr id="62"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dua tab: cari topikmu dengan kata kunci spesifik, lalu buka dua situs terpercaya yang berbeda.</a:t>
            </a:r>
            <a:endParaRPr lang="en-US" sz="1300" dirty="0"/>
          </a:p>
        </p:txBody>
      </p:sp>
      <p:sp>
        <p:nvSpPr>
          <p:cNvPr id="63" name="Shape 5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4"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65" name="Text 5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Klik kanan judul hasil › Open link in new tab.</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Entri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Ensiklopedia_Kelompok_1 -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Ensiklopedia_Kelompok_1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Danau Poso</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Danau Poso adalah danau besar di Poso.</a:t>
            </a:r>
            <a:endParaRPr lang="en-US" sz="800" dirty="0"/>
          </a:p>
        </p:txBody>
      </p:sp>
      <p:sp>
        <p:nvSpPr>
          <p:cNvPr id="71" name="Text 60"/>
          <p:cNvSpPr txBox="1"/>
          <p:nvPr/>
        </p:nvSpPr>
        <p:spPr>
          <a:xfrm>
            <a:off x="1645920" y="306997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 Termasuk danau terdalam di Indonesia</a:t>
            </a:r>
            <a:endParaRPr lang="en-US" sz="750" dirty="0"/>
          </a:p>
        </p:txBody>
      </p:sp>
      <p:sp>
        <p:nvSpPr>
          <p:cNvPr id="72" name="Text 61"/>
          <p:cNvSpPr txBox="1"/>
          <p:nvPr/>
        </p:nvSpPr>
        <p:spPr>
          <a:xfrm>
            <a:off x="1645920" y="321723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 Hulu Sungai Poso</a:t>
            </a:r>
            <a:endParaRPr lang="en-US" sz="750" dirty="0"/>
          </a:p>
        </p:txBody>
      </p:sp>
      <p:sp>
        <p:nvSpPr>
          <p:cNvPr id="73" name="Text 62"/>
          <p:cNvSpPr txBox="1"/>
          <p:nvPr/>
        </p:nvSpPr>
        <p:spPr>
          <a:xfrm>
            <a:off x="1645920" y="336449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 Tempat Festival Danau Poso</a:t>
            </a:r>
            <a:endParaRPr lang="en-US" sz="750" dirty="0"/>
          </a:p>
        </p:txBody>
      </p:sp>
      <p:sp>
        <p:nvSpPr>
          <p:cNvPr id="74" name="Shape 63"/>
          <p:cNvSpPr/>
          <p:nvPr/>
        </p:nvSpPr>
        <p:spPr>
          <a:xfrm>
            <a:off x="1527048" y="2601221"/>
            <a:ext cx="3072384" cy="928815"/>
          </a:xfrm>
          <a:prstGeom prst="roundRect">
            <a:avLst>
              <a:gd name="adj" fmla="val 4922"/>
            </a:avLst>
          </a:prstGeom>
          <a:solidFill>
            <a:srgbClr val="FFFFFF">
              <a:alpha val="0"/>
            </a:srgbClr>
          </a:solidFill>
          <a:ln w="31750">
            <a:solidFill>
              <a:srgbClr val="E53935"/>
            </a:solidFill>
            <a:prstDash val="solid"/>
          </a:ln>
        </p:spPr>
      </p:sp>
      <p:sp>
        <p:nvSpPr>
          <p:cNvPr id="75" name="Shape 64"/>
          <p:cNvSpPr/>
          <p:nvPr/>
        </p:nvSpPr>
        <p:spPr>
          <a:xfrm>
            <a:off x="4462272" y="2464061"/>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4640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7" name="Image 9" descr="preencoded.png">    </p:cNvPr>
          <p:cNvPicPr>
            <a:picLocks noChangeAspect="1"/>
          </p:cNvPicPr>
          <p:nvPr/>
        </p:nvPicPr>
        <p:blipFill>
          <a:blip r:embed="rId10"/>
          <a:stretch>
            <a:fillRect/>
          </a:stretch>
        </p:blipFill>
        <p:spPr>
          <a:xfrm>
            <a:off x="3214116" y="3109326"/>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entri dengan 4 bagian</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Tekan Ctrl + Enter untuk halaman baru. Tulis judul (Heading 1), penjelasan, dan fakta menarik dengan bahasamu sendiri.</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Entri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Ensiklopedia_Kelompok_1 -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Ensiklopedia_Kelompok_1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Danau Poso</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Danau Poso adalah danau besar di Poso.</a:t>
            </a:r>
            <a:endParaRPr lang="en-US" sz="800" dirty="0"/>
          </a:p>
        </p:txBody>
      </p:sp>
      <p:sp>
        <p:nvSpPr>
          <p:cNvPr id="71" name="Shape 60"/>
          <p:cNvSpPr/>
          <p:nvPr/>
        </p:nvSpPr>
        <p:spPr>
          <a:xfrm>
            <a:off x="2514600" y="3069978"/>
            <a:ext cx="1097280" cy="731520"/>
          </a:xfrm>
          <a:prstGeom prst="rect">
            <a:avLst/>
          </a:prstGeom>
          <a:solidFill>
            <a:srgbClr val="A7CBEE"/>
          </a:solidFill>
          <a:ln w="12700">
            <a:solidFill>
              <a:srgbClr val="A7CBEE"/>
            </a:solidFill>
            <a:prstDash val="solid"/>
          </a:ln>
        </p:spPr>
      </p:sp>
      <p:sp>
        <p:nvSpPr>
          <p:cNvPr id="72" name="Shape 61"/>
          <p:cNvSpPr/>
          <p:nvPr/>
        </p:nvSpPr>
        <p:spPr>
          <a:xfrm>
            <a:off x="3246120" y="3179706"/>
            <a:ext cx="182880" cy="182880"/>
          </a:xfrm>
          <a:prstGeom prst="ellipse">
            <a:avLst/>
          </a:prstGeom>
          <a:solidFill>
            <a:srgbClr val="FBBC05"/>
          </a:solidFill>
          <a:ln/>
        </p:spPr>
      </p:sp>
      <p:sp>
        <p:nvSpPr>
          <p:cNvPr id="73" name="Shape 62"/>
          <p:cNvSpPr/>
          <p:nvPr/>
        </p:nvSpPr>
        <p:spPr>
          <a:xfrm>
            <a:off x="2606040" y="3390018"/>
            <a:ext cx="640080" cy="411480"/>
          </a:xfrm>
          <a:prstGeom prst="triangle">
            <a:avLst/>
          </a:prstGeom>
          <a:solidFill>
            <a:srgbClr val="34A853"/>
          </a:solidFill>
          <a:ln/>
        </p:spPr>
      </p:sp>
      <p:sp>
        <p:nvSpPr>
          <p:cNvPr id="74" name="Shape 63"/>
          <p:cNvSpPr/>
          <p:nvPr/>
        </p:nvSpPr>
        <p:spPr>
          <a:xfrm>
            <a:off x="2478024" y="3033402"/>
            <a:ext cx="1170432" cy="804672"/>
          </a:xfrm>
          <a:prstGeom prst="roundRect">
            <a:avLst>
              <a:gd name="adj" fmla="val 5682"/>
            </a:avLst>
          </a:prstGeom>
          <a:solidFill>
            <a:srgbClr val="FFFFFF">
              <a:alpha val="0"/>
            </a:srgbClr>
          </a:solidFill>
          <a:ln w="31750">
            <a:solidFill>
              <a:srgbClr val="E53935"/>
            </a:solidFill>
            <a:prstDash val="solid"/>
          </a:ln>
        </p:spPr>
      </p:sp>
      <p:sp>
        <p:nvSpPr>
          <p:cNvPr id="75" name="Shape 64"/>
          <p:cNvSpPr/>
          <p:nvPr/>
        </p:nvSpPr>
        <p:spPr>
          <a:xfrm>
            <a:off x="3511296" y="2896242"/>
            <a:ext cx="274320" cy="274320"/>
          </a:xfrm>
          <a:prstGeom prst="ellipse">
            <a:avLst/>
          </a:prstGeom>
          <a:solidFill>
            <a:srgbClr val="E53935"/>
          </a:solidFill>
          <a:ln w="12700">
            <a:solidFill>
              <a:srgbClr val="FFFFFF"/>
            </a:solidFill>
            <a:prstDash val="solid"/>
          </a:ln>
        </p:spPr>
      </p:sp>
      <p:sp>
        <p:nvSpPr>
          <p:cNvPr id="76" name="Text 65"/>
          <p:cNvSpPr txBox="1"/>
          <p:nvPr/>
        </p:nvSpPr>
        <p:spPr>
          <a:xfrm>
            <a:off x="3511296" y="289624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7" name="Image 9" descr="preencoded.png">    </p:cNvPr>
          <p:cNvPicPr>
            <a:picLocks noChangeAspect="1"/>
          </p:cNvPicPr>
          <p:nvPr/>
        </p:nvPicPr>
        <p:blipFill>
          <a:blip r:embed="rId10"/>
          <a:stretch>
            <a:fillRect/>
          </a:stretch>
        </p:blipFill>
        <p:spPr>
          <a:xfrm>
            <a:off x="3118104" y="3472314"/>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Sisipkan satu gambar</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Insert › Image › Search the web atau Drive. Atur ukuran dan posisinya.</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Link Sumber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Ensiklopedia_Kelompok_1 -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Ensiklopedia_Kelompok_1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Danau Poso</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Sumber:</a:t>
            </a:r>
            <a:endParaRPr lang="en-US" sz="800" dirty="0"/>
          </a:p>
        </p:txBody>
      </p:sp>
      <p:sp>
        <p:nvSpPr>
          <p:cNvPr id="71" name="Shape 60"/>
          <p:cNvSpPr/>
          <p:nvPr/>
        </p:nvSpPr>
        <p:spPr>
          <a:xfrm>
            <a:off x="1554480" y="3069978"/>
            <a:ext cx="1810512" cy="147320"/>
          </a:xfrm>
          <a:prstGeom prst="rect">
            <a:avLst/>
          </a:prstGeom>
          <a:solidFill>
            <a:srgbClr val="C2E7FF"/>
          </a:solidFill>
          <a:ln w="12700">
            <a:solidFill>
              <a:srgbClr val="C2E7FF"/>
            </a:solidFill>
            <a:prstDash val="solid"/>
          </a:ln>
        </p:spPr>
      </p:sp>
      <p:sp>
        <p:nvSpPr>
          <p:cNvPr id="72" name="Text 61"/>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Situs Pemerintah Kabupaten Poso</a:t>
            </a:r>
            <a:endParaRPr lang="en-US" sz="800" dirty="0"/>
          </a:p>
        </p:txBody>
      </p:sp>
      <p:sp>
        <p:nvSpPr>
          <p:cNvPr id="73" name="Shape 62"/>
          <p:cNvSpPr/>
          <p:nvPr/>
        </p:nvSpPr>
        <p:spPr>
          <a:xfrm>
            <a:off x="1554480" y="3344298"/>
            <a:ext cx="2377440" cy="566928"/>
          </a:xfrm>
          <a:prstGeom prst="roundRect">
            <a:avLst>
              <a:gd name="adj" fmla="val 9677"/>
            </a:avLst>
          </a:prstGeom>
          <a:solidFill>
            <a:srgbClr val="FFFFFF"/>
          </a:solidFill>
          <a:ln w="9525">
            <a:solidFill>
              <a:srgbClr val="BBBBBB"/>
            </a:solidFill>
            <a:prstDash val="solid"/>
          </a:ln>
        </p:spPr>
      </p:sp>
      <p:sp>
        <p:nvSpPr>
          <p:cNvPr id="74" name="Shape 63"/>
          <p:cNvSpPr/>
          <p:nvPr/>
        </p:nvSpPr>
        <p:spPr>
          <a:xfrm>
            <a:off x="1645920" y="3435738"/>
            <a:ext cx="1737360" cy="201168"/>
          </a:xfrm>
          <a:prstGeom prst="rect">
            <a:avLst/>
          </a:prstGeom>
          <a:solidFill>
            <a:srgbClr val="FFFFFF"/>
          </a:solidFill>
          <a:ln w="12700">
            <a:solidFill>
              <a:srgbClr val="0B57D0"/>
            </a:solidFill>
            <a:prstDash val="solid"/>
          </a:ln>
        </p:spPr>
      </p:sp>
      <p:sp>
        <p:nvSpPr>
          <p:cNvPr id="75" name="Text 64"/>
          <p:cNvSpPr txBox="1"/>
          <p:nvPr/>
        </p:nvSpPr>
        <p:spPr>
          <a:xfrm>
            <a:off x="1691640" y="3435738"/>
            <a:ext cx="173736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https://contoh-pemkab.go.id/danau</a:t>
            </a:r>
            <a:endParaRPr lang="en-US" sz="700" dirty="0"/>
          </a:p>
        </p:txBody>
      </p:sp>
      <p:sp>
        <p:nvSpPr>
          <p:cNvPr id="76" name="Text 65"/>
          <p:cNvSpPr txBox="1"/>
          <p:nvPr/>
        </p:nvSpPr>
        <p:spPr>
          <a:xfrm>
            <a:off x="3429000" y="3435738"/>
            <a:ext cx="411480" cy="201168"/>
          </a:xfrm>
          <a:prstGeom prst="rect">
            <a:avLst/>
          </a:prstGeom>
          <a:noFill/>
          <a:ln/>
        </p:spPr>
        <p:txBody>
          <a:bodyPr wrap="square" lIns="0" tIns="0" rIns="0" bIns="0" rtlCol="0" anchor="ctr"/>
          <a:lstStyle/>
          <a:p>
            <a:pPr algn="ctr" indent="0" marL="0">
              <a:buNone/>
            </a:pPr>
            <a:r>
              <a:rPr lang="en-US" sz="750" b="1" dirty="0">
                <a:solidFill>
                  <a:srgbClr val="0B57D0"/>
                </a:solidFill>
                <a:latin typeface="Calibri" pitchFamily="34" charset="0"/>
                <a:ea typeface="Calibri" pitchFamily="34" charset="-122"/>
                <a:cs typeface="Calibri" pitchFamily="34" charset="-120"/>
              </a:rPr>
              <a:t>Apply</a:t>
            </a:r>
            <a:endParaRPr lang="en-US" sz="750" dirty="0"/>
          </a:p>
        </p:txBody>
      </p:sp>
      <p:sp>
        <p:nvSpPr>
          <p:cNvPr id="77" name="Shape 66"/>
          <p:cNvSpPr/>
          <p:nvPr/>
        </p:nvSpPr>
        <p:spPr>
          <a:xfrm>
            <a:off x="1618488" y="3408306"/>
            <a:ext cx="1792224" cy="256032"/>
          </a:xfrm>
          <a:prstGeom prst="roundRect">
            <a:avLst>
              <a:gd name="adj" fmla="val 17857"/>
            </a:avLst>
          </a:prstGeom>
          <a:solidFill>
            <a:srgbClr val="FFFFFF">
              <a:alpha val="0"/>
            </a:srgbClr>
          </a:solidFill>
          <a:ln w="31750">
            <a:solidFill>
              <a:srgbClr val="E53935"/>
            </a:solidFill>
            <a:prstDash val="solid"/>
          </a:ln>
        </p:spPr>
      </p:sp>
      <p:sp>
        <p:nvSpPr>
          <p:cNvPr id="78" name="Shape 67"/>
          <p:cNvSpPr/>
          <p:nvPr/>
        </p:nvSpPr>
        <p:spPr>
          <a:xfrm>
            <a:off x="3273552" y="3271146"/>
            <a:ext cx="274320" cy="274320"/>
          </a:xfrm>
          <a:prstGeom prst="ellipse">
            <a:avLst/>
          </a:prstGeom>
          <a:solidFill>
            <a:srgbClr val="E53935"/>
          </a:solidFill>
          <a:ln w="12700">
            <a:solidFill>
              <a:srgbClr val="FFFFFF"/>
            </a:solidFill>
            <a:prstDash val="solid"/>
          </a:ln>
        </p:spPr>
      </p:sp>
      <p:sp>
        <p:nvSpPr>
          <p:cNvPr id="79" name="Text 68"/>
          <p:cNvSpPr txBox="1"/>
          <p:nvPr/>
        </p:nvSpPr>
        <p:spPr>
          <a:xfrm>
            <a:off x="3273552" y="32711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0" name="Image 9" descr="preencoded.png">    </p:cNvPr>
          <p:cNvPicPr>
            <a:picLocks noChangeAspect="1"/>
          </p:cNvPicPr>
          <p:nvPr/>
        </p:nvPicPr>
        <p:blipFill>
          <a:blip r:embed="rId10"/>
          <a:stretch>
            <a:fillRect/>
          </a:stretch>
        </p:blipFill>
        <p:spPr>
          <a:xfrm>
            <a:off x="2601468" y="3546381"/>
            <a:ext cx="237744" cy="237744"/>
          </a:xfrm>
          <a:prstGeom prst="rect">
            <a:avLst/>
          </a:prstGeom>
        </p:spPr>
      </p:pic>
      <p:sp>
        <p:nvSpPr>
          <p:cNvPr id="81" name="Shape 69"/>
          <p:cNvSpPr/>
          <p:nvPr/>
        </p:nvSpPr>
        <p:spPr>
          <a:xfrm>
            <a:off x="3401568" y="3408306"/>
            <a:ext cx="466344" cy="256032"/>
          </a:xfrm>
          <a:prstGeom prst="roundRect">
            <a:avLst>
              <a:gd name="adj" fmla="val 17857"/>
            </a:avLst>
          </a:prstGeom>
          <a:solidFill>
            <a:srgbClr val="FFFFFF">
              <a:alpha val="0"/>
            </a:srgbClr>
          </a:solidFill>
          <a:ln w="31750">
            <a:solidFill>
              <a:srgbClr val="E53935"/>
            </a:solidFill>
            <a:prstDash val="solid"/>
          </a:ln>
        </p:spPr>
      </p:sp>
      <p:sp>
        <p:nvSpPr>
          <p:cNvPr id="82" name="Shape 70"/>
          <p:cNvSpPr/>
          <p:nvPr/>
        </p:nvSpPr>
        <p:spPr>
          <a:xfrm>
            <a:off x="3730752" y="3271146"/>
            <a:ext cx="274320" cy="274320"/>
          </a:xfrm>
          <a:prstGeom prst="ellipse">
            <a:avLst/>
          </a:prstGeom>
          <a:solidFill>
            <a:srgbClr val="E53935"/>
          </a:solidFill>
          <a:ln w="12700">
            <a:solidFill>
              <a:srgbClr val="FFFFFF"/>
            </a:solidFill>
            <a:prstDash val="solid"/>
          </a:ln>
        </p:spPr>
      </p:sp>
      <p:sp>
        <p:nvSpPr>
          <p:cNvPr id="83" name="Text 71"/>
          <p:cNvSpPr txBox="1"/>
          <p:nvPr/>
        </p:nvSpPr>
        <p:spPr>
          <a:xfrm>
            <a:off x="3730752" y="32711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4" name="Image 10" descr="preencoded.png">    </p:cNvPr>
          <p:cNvPicPr>
            <a:picLocks noChangeAspect="1"/>
          </p:cNvPicPr>
          <p:nvPr/>
        </p:nvPicPr>
        <p:blipFill>
          <a:blip r:embed="rId11"/>
          <a:stretch>
            <a:fillRect/>
          </a:stretch>
        </p:blipFill>
        <p:spPr>
          <a:xfrm>
            <a:off x="3655314" y="3546381"/>
            <a:ext cx="237744" cy="237744"/>
          </a:xfrm>
          <a:prstGeom prst="rect">
            <a:avLst/>
          </a:prstGeom>
        </p:spPr>
      </p:pic>
      <p:sp>
        <p:nvSpPr>
          <p:cNvPr id="85" name="Text 7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86" name="Text 7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Blok teks sumber › Insert › Link</a:t>
            </a:r>
            <a:endParaRPr lang="en-US" sz="1800" dirty="0"/>
          </a:p>
        </p:txBody>
      </p:sp>
      <p:sp>
        <p:nvSpPr>
          <p:cNvPr id="87" name="Text 7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nama sumber, blok, lalu tekan Ctrl + K (atau Insert › Link). Tempel alamat situs, klik Apply.</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Link Sumber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Ensiklopedia_Kelompok_1 -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Ensiklopedia_Kelompok_1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Danau Poso</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Sumber:</a:t>
            </a:r>
            <a:endParaRPr lang="en-US" sz="800" dirty="0"/>
          </a:p>
        </p:txBody>
      </p:sp>
      <p:sp>
        <p:nvSpPr>
          <p:cNvPr id="71" name="Shape 60"/>
          <p:cNvSpPr/>
          <p:nvPr/>
        </p:nvSpPr>
        <p:spPr>
          <a:xfrm>
            <a:off x="1554480" y="3069978"/>
            <a:ext cx="3017520" cy="685800"/>
          </a:xfrm>
          <a:prstGeom prst="rect">
            <a:avLst/>
          </a:prstGeom>
          <a:solidFill>
            <a:srgbClr val="FFFFFF">
              <a:alpha val="0"/>
            </a:srgbClr>
          </a:solidFill>
          <a:ln w="6350">
            <a:solidFill>
              <a:srgbClr val="999999"/>
            </a:solidFill>
            <a:prstDash val="dash"/>
          </a:ln>
        </p:spPr>
      </p:sp>
      <p:sp>
        <p:nvSpPr>
          <p:cNvPr id="72" name="Text 61"/>
          <p:cNvSpPr txBox="1"/>
          <p:nvPr/>
        </p:nvSpPr>
        <p:spPr>
          <a:xfrm>
            <a:off x="1627632" y="3115698"/>
            <a:ext cx="2926080" cy="146304"/>
          </a:xfrm>
          <a:prstGeom prst="rect">
            <a:avLst/>
          </a:prstGeom>
          <a:noFill/>
          <a:ln/>
        </p:spPr>
        <p:txBody>
          <a:bodyPr wrap="square" lIns="0" tIns="0" rIns="0" bIns="0" rtlCol="0" anchor="t"/>
          <a:lstStyle/>
          <a:p>
            <a:pPr indent="0" marL="0">
              <a:buNone/>
            </a:pPr>
            <a:r>
              <a:rPr lang="en-US" sz="700" u="sng" dirty="0">
                <a:solidFill>
                  <a:srgbClr val="1155CC"/>
                </a:solidFill>
                <a:latin typeface="Arial" pitchFamily="34" charset="0"/>
                <a:ea typeface="Arial" pitchFamily="34" charset="-122"/>
                <a:cs typeface="Arial" pitchFamily="34" charset="-120"/>
              </a:rPr>
              <a:t>Situs Pemerintah Kabupaten Poso</a:t>
            </a:r>
            <a:endParaRPr lang="en-US" sz="700" dirty="0"/>
          </a:p>
        </p:txBody>
      </p:sp>
      <p:sp>
        <p:nvSpPr>
          <p:cNvPr id="73" name="Text 62"/>
          <p:cNvSpPr txBox="1"/>
          <p:nvPr/>
        </p:nvSpPr>
        <p:spPr>
          <a:xfrm>
            <a:off x="1627632" y="3271146"/>
            <a:ext cx="2926080" cy="146304"/>
          </a:xfrm>
          <a:prstGeom prst="rect">
            <a:avLst/>
          </a:prstGeom>
          <a:noFill/>
          <a:ln/>
        </p:spPr>
        <p:txBody>
          <a:bodyPr wrap="square" lIns="0" tIns="0" rIns="0" bIns="0" rtlCol="0" anchor="t"/>
          <a:lstStyle/>
          <a:p>
            <a:pPr indent="0" marL="0">
              <a:buNone/>
            </a:pPr>
            <a:r>
              <a:rPr lang="en-US" sz="700" u="sng" dirty="0">
                <a:solidFill>
                  <a:srgbClr val="1155CC"/>
                </a:solidFill>
                <a:latin typeface="Arial" pitchFamily="34" charset="0"/>
                <a:ea typeface="Arial" pitchFamily="34" charset="-122"/>
                <a:cs typeface="Arial" pitchFamily="34" charset="-120"/>
              </a:rPr>
              <a:t>Ensiklopedia Danau Poso</a:t>
            </a:r>
            <a:endParaRPr lang="en-US" sz="700" dirty="0"/>
          </a:p>
        </p:txBody>
      </p:sp>
      <p:sp>
        <p:nvSpPr>
          <p:cNvPr id="74" name="Shape 63"/>
          <p:cNvSpPr/>
          <p:nvPr/>
        </p:nvSpPr>
        <p:spPr>
          <a:xfrm>
            <a:off x="1527048" y="3042546"/>
            <a:ext cx="3072384" cy="740664"/>
          </a:xfrm>
          <a:prstGeom prst="roundRect">
            <a:avLst>
              <a:gd name="adj" fmla="val 6173"/>
            </a:avLst>
          </a:prstGeom>
          <a:solidFill>
            <a:srgbClr val="FFFFFF">
              <a:alpha val="0"/>
            </a:srgbClr>
          </a:solidFill>
          <a:ln w="31750">
            <a:solidFill>
              <a:srgbClr val="E53935"/>
            </a:solidFill>
            <a:prstDash val="solid"/>
          </a:ln>
        </p:spPr>
      </p:sp>
      <p:sp>
        <p:nvSpPr>
          <p:cNvPr id="75" name="Shape 64"/>
          <p:cNvSpPr/>
          <p:nvPr/>
        </p:nvSpPr>
        <p:spPr>
          <a:xfrm>
            <a:off x="4462272" y="290538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90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7" name="Image 9" descr="preencoded.png">    </p:cNvPr>
          <p:cNvPicPr>
            <a:picLocks noChangeAspect="1"/>
          </p:cNvPicPr>
          <p:nvPr/>
        </p:nvPicPr>
        <p:blipFill>
          <a:blip r:embed="rId10"/>
          <a:stretch>
            <a:fillRect/>
          </a:stretch>
        </p:blipFill>
        <p:spPr>
          <a:xfrm>
            <a:off x="3214116" y="3447168"/>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Ulangi untuk sumber kedua, lalu periksa</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link untuk sumber kedua. Klik link untuk menguji: apakah membuka situs yang benar?</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Ensiklopedia Digital Mini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Ensiklopedia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anggota menulis 1 entri dengan judul Heading 1.</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entri memiliki penjelasan, gambar, dan fakta menarik.</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entri memiliki minimal 2 sumber berupa link.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Tidak ada paragraf yang disalin mentah-mentah dari internet.</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4: Pencarian Informasi · Pertemuan 12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entri memiliki 4 bagian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Tulisan memakai bahasa sendiri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2 sumber per entri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Sumber sudah berupa link</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pengetahuan baru yang kamu dapat dari proyek ini?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menulis dengan bahasa sendiri itu penting?</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Jujur dalam ilmu: sebutkan sumber dan jangan mengakui karya orang lain.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5: desain digital dan membuat poster dakwah.</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4 - Pencarian Informasi</dc:title>
  <dc:subject>PptxGenJS Presentation</dc:subject>
  <dc:creator>PptxGenJS</dc:creator>
  <cp:lastModifiedBy>PptxGenJS</cp:lastModifiedBy>
  <cp:revision>1</cp:revision>
  <dcterms:created xsi:type="dcterms:W3CDTF">2026-10-01T00:29:41Z</dcterms:created>
  <dcterms:modified xsi:type="dcterms:W3CDTF">2026-10-01T00:29:41Z</dcterms:modified>
</cp:coreProperties>
</file>